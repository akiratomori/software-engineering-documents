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siLD3SdZSeo2EtQXG86lAO/Lw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CS423/CSC15003 · SOFTWARE TESTING · WEEK 01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128016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In-class Activities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W01 · Testing Intro &amp; STLC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40080" y="4206240"/>
            <a:ext cx="548640" cy="54864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Apply what you watched at home — to the EShop SUT, with your team.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6400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400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180 min · 4 periods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33832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3832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students · 10-12 groups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264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1264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5 hands-on activities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8869680" y="5212080"/>
            <a:ext cx="260604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869680" y="52120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demos · group work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Blended Learning · pre-class video watched · in-class = application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Dr. Lâm Quang Vũ · FIT@HCMUS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BEFORE WE START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What you should have done at home (honesty check)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5800" y="1874520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8580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508760" y="18288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Video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3429000" y="1856232"/>
            <a:ext cx="8046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Watched videos (~75 min total).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48640" y="2852928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85800" y="3035808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85800" y="30358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508760" y="299008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Reading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429000" y="3017520"/>
            <a:ext cx="8046720" cy="2576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Skimmed ISTQB Foundation syllabus C1, C2.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4014216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685800" y="4197096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85800" y="419709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08760" y="415137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EShop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429000" y="4178808"/>
            <a:ext cx="8046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Cloned &amp; set up gh</a:t>
            </a:r>
            <a:r>
              <a:rPr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ub.com/ttbhanh/eshop-sut. Opened it once. Knows where login, cart, checkout live.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48640" y="5175504"/>
            <a:ext cx="11064240" cy="100584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85800" y="5358384"/>
            <a:ext cx="640080" cy="640080"/>
          </a:xfrm>
          <a:prstGeom prst="roundRect">
            <a:avLst>
              <a:gd fmla="val 18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85800" y="535838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1508760" y="531266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429000" y="5340096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Brought one written question OR one unclear concept to today's class.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548640" y="6035040"/>
            <a:ext cx="1106424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If you missed any of the above — pair with a teammate who didn't. Catch up during Activity 1.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 / 33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WARMUP · QUESTIONS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Answer in your head — instructor reveals after each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85800" y="1764792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85800" y="176479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463040" y="173736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Which is NOT a goal of software testing?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1463040" y="2057400"/>
            <a:ext cx="9966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Find defects · B. Prove software has zero bugs · C. Build confidence · D. Provide info for decisions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48640" y="2578608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85800" y="2697480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85800" y="26974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463040" y="2670048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An EShop user can checkout with an empty cart. What level catches this?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463040" y="2990088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Unit · B. Integration · C. System · D. Acceptance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548640" y="3511296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85800" y="3630168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85800" y="363016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1463040" y="3602736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The 7-principle 'Pesticide Paradox' means…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463040" y="3922776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data is toxic · B. Same tests stop finding new bugs over time · C. QA poisons developers · D. Production data must be cleaned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548640" y="4443984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85800" y="4562856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685800" y="456285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463040" y="4535424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STLC starts with which phase?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Execution · B. Test Closure · C. Test Analysis (or Requirement Analysis) · D. Test Reporting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548640" y="5376672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85800" y="5495544"/>
            <a:ext cx="640080" cy="365760"/>
          </a:xfrm>
          <a:prstGeom prst="roundRect">
            <a:avLst>
              <a:gd fmla="val 50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685800" y="549554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1463040" y="54681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Big-bang integration means…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463040" y="57881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A. Test the riskiest unit first · B. Integrate all units at once and test together · C. Mock everything · D. Test in production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(Answers revealed by instructor verbally. Don't peek at the speaker notes.)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/ 33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01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 Type &amp; Level Sorter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822960" y="4297680"/>
            <a:ext cx="10058400" cy="33675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Map 12 EShop test situations onto a 4×4 taxonomy grid · 15 min · groups of 3-4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1 · 25 MIN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Where does each test situation belong?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48640" y="16916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task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548640" y="2103120"/>
            <a:ext cx="7132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Your group receives 12 cards. Each card describes a real testing situation on EShop.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For each card, decide: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(a) Which TEST LEVEL is this? (Unit / Integration / System / Acceptance)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(b) Which TEST TYPE is this? (Functional / Non-functional / Structural / Change-related)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Place the card on the 4×4 grid. Defend your placement to the next group when called.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8092440" y="2331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0-3 min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9509760" y="2331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Skim all 12 cards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809244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3-15 min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509760" y="2834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Sort within group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8092440" y="33375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15-20 min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9509760" y="3337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Two groups exchange + critique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8092440" y="3840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20-25 min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9509760" y="3840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 debrief — 3 trickiest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8001000" y="5029200"/>
            <a:ext cx="3474720" cy="914400"/>
          </a:xfrm>
          <a:prstGeom prst="roundRect">
            <a:avLst>
              <a:gd fmla="val 18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8092440" y="5120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One grid photo per group, posted to Slack #w01-class.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/ 33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ESHOP REFRESHER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The SUT you'll see all semester — the 60-second tour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86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772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772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Web · React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7772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Customer storefront, admin panel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4348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6634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0369A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6634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46634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Mobile · React Native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46634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iOS + Android customer apps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8321040" y="1691640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549640" y="1874520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8549640" y="1874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8549640" y="2468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Backend · Node + Express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8549640" y="29718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REST API, auth, business logic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486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772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7772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7772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Database · SQLite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7772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Products, users, orders, sessions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4348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6634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46634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46634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3rd-party · Stripe sandbox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46634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Payment, refunds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8321040" y="3977639"/>
            <a:ext cx="3611880" cy="21031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8549640" y="4160519"/>
            <a:ext cx="914400" cy="457200"/>
          </a:xfrm>
          <a:prstGeom prst="roundRect">
            <a:avLst>
              <a:gd fmla="val 4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8549640" y="4160519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8549640" y="475487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Search · Built-in indexer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549640" y="5257799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 search, filters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548640" y="6309360"/>
            <a:ext cx="11064240" cy="320040"/>
          </a:xfrm>
          <a:prstGeom prst="roundRect">
            <a:avLst>
              <a:gd fmla="val 18000" name="adj"/>
            </a:avLst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868680" y="630936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Repo: github.com/ttbhanh/eshop-sut · 22 FRs · 7 SEC requirements · live demo URL in Slack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8 / 33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12 CARDS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12 cards — where does each land?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48640" y="1691640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" y="1828800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685800" y="18288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C01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85800" y="22860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Check that addToCart(productId, qty) inserts a row into cart table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456432" y="1691640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593592" y="1828800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3593592" y="18288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C02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3593592" y="22860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Verify the Stripe webhook endpoint correctly updates order status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364224" y="1691640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501384" y="1828800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6501384" y="18288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6501384" y="22860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 QA tester clicks 'Buy now' to confirm checkout flow end-to-end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9272016" y="1691640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409176" y="1828800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9409176" y="18288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C04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9409176" y="22860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User reports the Search page feels slow under 50 concurrent users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548640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85800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85800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C05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685800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Confirm Auth API and Cart API talk correctly after JWT refresh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3456432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593592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3593592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3593592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Validate that the discount-code function rejects expired codes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364224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501384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6501384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6501384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Product Owner walks through the new wishlist feature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9272016" y="3172968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9409176" y="3310128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9409176" y="3310128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C08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9409176" y="376732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After fixing bug #427 in checkout, retest the same scenario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548640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85800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685800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C09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685800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 security scan finds SQL injection on /search?q=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456432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3593592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3593592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3593592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Mobile QA checks Add-to-Cart works across iOS 16/17/18</a:t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6364224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501384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501384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6501384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Visual regression — homepage hero image moved 4px after CSS bump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272016" y="4654296"/>
            <a:ext cx="2743200" cy="1325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9409176" y="4791456"/>
            <a:ext cx="594360" cy="36576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9409176" y="4791456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9409176" y="524865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Stakeholder demo before go-live to sign off the release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 / 33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TAXONOMY GRID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Place each card in exactly one cell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48640" y="1691640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468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2468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4754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754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9326880" y="169164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9326880" y="1691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Change-related</a:t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48640" y="219456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548640" y="21945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2468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754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040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9326880" y="219456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8640" y="301752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548640" y="30175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2468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754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7040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9326880" y="301752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8640" y="384048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54864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2468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754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040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9326880" y="384048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Acceptance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2468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754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7040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9326880" y="4663440"/>
            <a:ext cx="2286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sticky-notes (provided) for each card. Some cards belong in 'Functional' across multiple levels — choose ONE primary level.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868680" y="594360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Trap card alert · C07, C08, C11 — these are easy to mis-place. Discuss before committing.</a:t>
            </a:r>
            <a:endParaRPr/>
          </a:p>
        </p:txBody>
      </p:sp>
      <p:sp>
        <p:nvSpPr>
          <p:cNvPr id="340" name="Google Shape;340;p8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02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 Principles in Action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Find ONE concrete EShop example for each ISTQB principle · 25 min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2 · 25 MIN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Give each ISTQB principle a face on EShop</a:t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548640" y="16916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task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548640" y="2103120"/>
            <a:ext cx="7132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Each group is assigned ONE of the 7 principles.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Find a CONCRETE example from EShop that proves your principle: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The example must reference a real EShop module or feature.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Must include WHO suffers (developer / tester / user / PO) and WHEN.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• Worked-example slide shown next — use as a template.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Galleria walk at minute 18 — every group reads its example aloud.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 ASSIGNMENT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1-2: #1 Testing shows defects</a:t>
            </a:r>
            <a:endParaRPr/>
          </a:p>
        </p:txBody>
      </p:sp>
      <p:sp>
        <p:nvSpPr>
          <p:cNvPr id="363" name="Google Shape;363;p10"/>
          <p:cNvSpPr txBox="1"/>
          <p:nvPr/>
        </p:nvSpPr>
        <p:spPr>
          <a:xfrm>
            <a:off x="8092440" y="26243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3-4: #2 Exhaustive impossible</a:t>
            </a:r>
            <a:endParaRPr/>
          </a:p>
        </p:txBody>
      </p:sp>
      <p:sp>
        <p:nvSpPr>
          <p:cNvPr id="364" name="Google Shape;364;p10"/>
          <p:cNvSpPr txBox="1"/>
          <p:nvPr/>
        </p:nvSpPr>
        <p:spPr>
          <a:xfrm>
            <a:off x="8092440" y="291693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5-6: #3 Early testing</a:t>
            </a:r>
            <a:endParaRPr/>
          </a:p>
        </p:txBody>
      </p:sp>
      <p:sp>
        <p:nvSpPr>
          <p:cNvPr id="365" name="Google Shape;365;p10"/>
          <p:cNvSpPr txBox="1"/>
          <p:nvPr/>
        </p:nvSpPr>
        <p:spPr>
          <a:xfrm>
            <a:off x="8092440" y="320954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7-8: #4 Defect clustering</a:t>
            </a:r>
            <a:endParaRPr/>
          </a:p>
        </p:txBody>
      </p:sp>
      <p:sp>
        <p:nvSpPr>
          <p:cNvPr id="366" name="Google Shape;366;p10"/>
          <p:cNvSpPr txBox="1"/>
          <p:nvPr/>
        </p:nvSpPr>
        <p:spPr>
          <a:xfrm>
            <a:off x="8092440" y="35021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9-10: #5 Pesticide paradox</a:t>
            </a:r>
            <a:endParaRPr/>
          </a:p>
        </p:txBody>
      </p:sp>
      <p:sp>
        <p:nvSpPr>
          <p:cNvPr id="367" name="Google Shape;367;p10"/>
          <p:cNvSpPr txBox="1"/>
          <p:nvPr/>
        </p:nvSpPr>
        <p:spPr>
          <a:xfrm>
            <a:off x="8092440" y="3794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11-12: #6 Context dependent</a:t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8092440" y="40873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Groups 13-14: #7 Absence-of-errors fallacy</a:t>
            </a:r>
            <a:endParaRPr/>
          </a:p>
        </p:txBody>
      </p:sp>
      <p:sp>
        <p:nvSpPr>
          <p:cNvPr id="369" name="Google Shape;369;p10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13 / 33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Principle #1 — Testing shows defects (not absence)</a:t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11064240" cy="201168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 STATEMENT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868680" y="219456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F1F5F9"/>
                </a:solidFill>
                <a:latin typeface="Georgia"/>
                <a:ea typeface="Georgia"/>
                <a:cs typeface="Georgia"/>
                <a:sym typeface="Georgia"/>
              </a:rPr>
              <a:t>"Testing can show defects are present but cannot prove there are no defects. Testing reduces probability of undiscovered defects but is no proof of correctness."</a:t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548640" y="3840480"/>
            <a:ext cx="11064240" cy="24688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777240" y="395020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ESHOP EXAMPLE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777240" y="4279392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We ran 142 test cases on EShop checkout. 138 passed. The 4 failures revealed: invalid coupon allowed, currency mismatch in JPY, double-charge on retry, and timeout when Stripe is slow.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WHO: testers Hằng &amp; Lộc found these in W04.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WHEN: 2 days before staging release.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WHAT WE LEARNED: we can list 4 known defects with confidence, but the 138 'pass' tells us nothing about defects we didn't write tests for.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14 / 33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WORKSHEET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Fill these four lines for your assigned principle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77240" y="182880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777240" y="18288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PRINCIPLE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777240" y="2286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3246120" y="182880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3383280" y="192024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#X · principle title (copy from your card)</a:t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777240" y="288036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ESHOP CONTEXT</a:t>
            </a:r>
            <a:endParaRPr/>
          </a:p>
        </p:txBody>
      </p:sp>
      <p:sp>
        <p:nvSpPr>
          <p:cNvPr id="401" name="Google Shape;401;p12"/>
          <p:cNvSpPr txBox="1"/>
          <p:nvPr/>
        </p:nvSpPr>
        <p:spPr>
          <a:xfrm>
            <a:off x="777240" y="3337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3246120" y="288036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3383280" y="297180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Which EShop module + feature is your example about?</a:t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777240" y="393192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WHO + WHEN</a:t>
            </a:r>
            <a:endParaRPr/>
          </a:p>
        </p:txBody>
      </p:sp>
      <p:sp>
        <p:nvSpPr>
          <p:cNvPr id="406" name="Google Shape;406;p12"/>
          <p:cNvSpPr txBox="1"/>
          <p:nvPr/>
        </p:nvSpPr>
        <p:spPr>
          <a:xfrm>
            <a:off x="777240" y="4389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3246120" y="393192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3383280" y="402336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Who experiences this? What week of dev? What pain or aha-moment?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777240" y="4983480"/>
            <a:ext cx="2286000" cy="96012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4983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PROOF / EVIDENCE</a:t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777240" y="5440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(label)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3246120" y="4983480"/>
            <a:ext cx="8229600" cy="96012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3383280" y="5074920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concrete data, log, or scenario shows the principle in action?</a:t>
            </a:r>
            <a:endParaRPr/>
          </a:p>
        </p:txBody>
      </p:sp>
      <p:sp>
        <p:nvSpPr>
          <p:cNvPr id="414" name="Google Shape;414;p12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15 / 33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04</a:t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Integration Strategy Decision</a:t>
            </a:r>
            <a:endParaRPr/>
          </a:p>
        </p:txBody>
      </p:sp>
      <p:sp>
        <p:nvSpPr>
          <p:cNvPr id="424" name="Google Shape;424;p13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Pick a strategy for the EShop checkout chain · 25 min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4 · 25 MIN</a:t>
            </a:r>
            <a:endParaRPr/>
          </a:p>
        </p:txBody>
      </p:sp>
      <p:sp>
        <p:nvSpPr>
          <p:cNvPr id="430" name="Google Shape;430;p1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Which strategy fits EShop checkout?</a:t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548640" y="16916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dependency graph</a:t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2743200" y="2194560"/>
            <a:ext cx="2011680" cy="548640"/>
          </a:xfrm>
          <a:prstGeom prst="roundRect">
            <a:avLst>
              <a:gd fmla="val 18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Checkout (root)</a:t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64008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 txBox="1"/>
          <p:nvPr/>
        </p:nvSpPr>
        <p:spPr>
          <a:xfrm>
            <a:off x="64008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301752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301752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5394960" y="3108960"/>
            <a:ext cx="1554480" cy="45720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539496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91440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 txBox="1"/>
          <p:nvPr/>
        </p:nvSpPr>
        <p:spPr>
          <a:xfrm>
            <a:off x="91440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246888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246888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402336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402336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Stripe</a:t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557784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557784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</a:t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7132320" y="4114800"/>
            <a:ext cx="1280160" cy="411480"/>
          </a:xfrm>
          <a:prstGeom prst="roundRect">
            <a:avLst>
              <a:gd fmla="val 18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7132320" y="41148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8046720" y="182880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046720" y="1828800"/>
            <a:ext cx="137160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 txBox="1"/>
          <p:nvPr/>
        </p:nvSpPr>
        <p:spPr>
          <a:xfrm>
            <a:off x="8275320" y="1920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BIG-BANG</a:t>
            </a:r>
            <a:endParaRPr/>
          </a:p>
        </p:txBody>
      </p:sp>
      <p:sp>
        <p:nvSpPr>
          <p:cNvPr id="454" name="Google Shape;454;p14"/>
          <p:cNvSpPr txBox="1"/>
          <p:nvPr/>
        </p:nvSpPr>
        <p:spPr>
          <a:xfrm>
            <a:off x="8275320" y="226771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Integrate all 8 modules at once. Test together.</a:t>
            </a:r>
            <a:endParaRPr/>
          </a:p>
        </p:txBody>
      </p:sp>
      <p:sp>
        <p:nvSpPr>
          <p:cNvPr id="455" name="Google Shape;455;p14"/>
          <p:cNvSpPr txBox="1"/>
          <p:nvPr/>
        </p:nvSpPr>
        <p:spPr>
          <a:xfrm>
            <a:off x="8275320" y="27432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 · risky · hard to localize defects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8046720" y="333756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8046720" y="3337560"/>
            <a:ext cx="13716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8275320" y="34290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/>
          </a:p>
        </p:txBody>
      </p:sp>
      <p:sp>
        <p:nvSpPr>
          <p:cNvPr id="459" name="Google Shape;459;p14"/>
          <p:cNvSpPr txBox="1"/>
          <p:nvPr/>
        </p:nvSpPr>
        <p:spPr>
          <a:xfrm>
            <a:off x="8275320" y="377647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Start from Checkout, stub the mid-layer.</a:t>
            </a:r>
            <a:endParaRPr/>
          </a:p>
        </p:txBody>
      </p:sp>
      <p:sp>
        <p:nvSpPr>
          <p:cNvPr id="460" name="Google Shape;460;p14"/>
          <p:cNvSpPr txBox="1"/>
          <p:nvPr/>
        </p:nvSpPr>
        <p:spPr>
          <a:xfrm>
            <a:off x="8275320" y="42519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Defects caught early · stubs cost time</a:t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8046720" y="4846320"/>
            <a:ext cx="3611880" cy="141732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8046720" y="4846320"/>
            <a:ext cx="13716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8275320" y="4937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/>
          </a:p>
        </p:txBody>
      </p:sp>
      <p:sp>
        <p:nvSpPr>
          <p:cNvPr id="464" name="Google Shape;464;p14"/>
          <p:cNvSpPr txBox="1"/>
          <p:nvPr/>
        </p:nvSpPr>
        <p:spPr>
          <a:xfrm>
            <a:off x="8275320" y="528523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Start with Auth, Product, Stripe, Stock, Notify.</a:t>
            </a:r>
            <a:endParaRPr/>
          </a:p>
        </p:txBody>
      </p:sp>
      <p:sp>
        <p:nvSpPr>
          <p:cNvPr id="465" name="Google Shape;465;p14"/>
          <p:cNvSpPr txBox="1"/>
          <p:nvPr/>
        </p:nvSpPr>
        <p:spPr>
          <a:xfrm>
            <a:off x="8275320" y="5760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Reusable drivers · UI bugs found late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467" name="Google Shape;467;p14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26 / 33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548640" y="2468880"/>
            <a:ext cx="137160" cy="2011680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ACTIVITY 05</a:t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822960" y="27889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Tester for a Day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Triage 5 items from the EShop bug queue · 25 min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ACTIVITY 5 · 25 MIN</a:t>
            </a:r>
            <a:endParaRPr/>
          </a:p>
        </p:txBody>
      </p:sp>
      <p:sp>
        <p:nvSpPr>
          <p:cNvPr id="482" name="Google Shape;482;p16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You just joined EShop QA. It is 9:00 AM Monday.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548640" y="16916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548640" y="2103120"/>
            <a:ext cx="7132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 start your first day. The standup ends. Your manager hands you 5 items from yesterday's bug queue.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You have 25 minutes to: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(a) Classify each item — is it a Defect / Feature Request / Question / Duplicate?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(b) Set a priority (P0 / P1 / P2 / P3).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  (c) Pick the first 2 items you'll work on TODAY — defend the choice.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1B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The other 3 items go to your colleagues with a one-line handoff each.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7863840" y="1691640"/>
            <a:ext cx="3749039" cy="4480560"/>
          </a:xfrm>
          <a:prstGeom prst="roundRect">
            <a:avLst>
              <a:gd fmla="val 18000" name="adj"/>
            </a:avLst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YOU LEARN</a:t>
            </a:r>
            <a:endParaRPr/>
          </a:p>
        </p:txBody>
      </p:sp>
      <p:sp>
        <p:nvSpPr>
          <p:cNvPr id="488" name="Google Shape;488;p16"/>
          <p:cNvSpPr txBox="1"/>
          <p:nvPr/>
        </p:nvSpPr>
        <p:spPr>
          <a:xfrm>
            <a:off x="8092440" y="22860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Triage skills</a:t>
            </a:r>
            <a:endParaRPr/>
          </a:p>
        </p:txBody>
      </p:sp>
      <p:sp>
        <p:nvSpPr>
          <p:cNvPr id="489" name="Google Shape;489;p16"/>
          <p:cNvSpPr txBox="1"/>
          <p:nvPr/>
        </p:nvSpPr>
        <p:spPr>
          <a:xfrm>
            <a:off x="8092440" y="25786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Reading bug reports critically</a:t>
            </a: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8092440" y="29718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Prioritization</a:t>
            </a:r>
            <a:endParaRPr/>
          </a:p>
        </p:txBody>
      </p:sp>
      <p:sp>
        <p:nvSpPr>
          <p:cNvPr id="491" name="Google Shape;491;p16"/>
          <p:cNvSpPr txBox="1"/>
          <p:nvPr/>
        </p:nvSpPr>
        <p:spPr>
          <a:xfrm>
            <a:off x="8092440" y="32644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P0 vs P1 vs P2 trade-offs</a:t>
            </a:r>
            <a:endParaRPr/>
          </a:p>
        </p:txBody>
      </p:sp>
      <p:sp>
        <p:nvSpPr>
          <p:cNvPr id="492" name="Google Shape;492;p16"/>
          <p:cNvSpPr txBox="1"/>
          <p:nvPr/>
        </p:nvSpPr>
        <p:spPr>
          <a:xfrm>
            <a:off x="8092440" y="36576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/>
          </a:p>
        </p:txBody>
      </p:sp>
      <p:sp>
        <p:nvSpPr>
          <p:cNvPr id="493" name="Google Shape;493;p16"/>
          <p:cNvSpPr txBox="1"/>
          <p:nvPr/>
        </p:nvSpPr>
        <p:spPr>
          <a:xfrm>
            <a:off x="8092440" y="39502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Writing crisp handoff messages</a:t>
            </a:r>
            <a:endParaRPr/>
          </a:p>
        </p:txBody>
      </p:sp>
      <p:sp>
        <p:nvSpPr>
          <p:cNvPr id="494" name="Google Shape;494;p16"/>
          <p:cNvSpPr txBox="1"/>
          <p:nvPr/>
        </p:nvSpPr>
        <p:spPr>
          <a:xfrm>
            <a:off x="8092440" y="43434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Career reality</a:t>
            </a:r>
            <a:endParaRPr/>
          </a:p>
        </p:txBody>
      </p:sp>
      <p:sp>
        <p:nvSpPr>
          <p:cNvPr id="495" name="Google Shape;495;p16"/>
          <p:cNvSpPr txBox="1"/>
          <p:nvPr/>
        </p:nvSpPr>
        <p:spPr>
          <a:xfrm>
            <a:off x="8092440" y="46360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What a junior tester does day-1</a:t>
            </a:r>
            <a:endParaRPr/>
          </a:p>
        </p:txBody>
      </p:sp>
      <p:sp>
        <p:nvSpPr>
          <p:cNvPr id="496" name="Google Shape;496;p16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497" name="Google Shape;497;p16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29 / 33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YOUR INBOX</a:t>
            </a:r>
            <a:endParaRPr/>
          </a:p>
        </p:txBody>
      </p:sp>
      <p:sp>
        <p:nvSpPr>
          <p:cNvPr id="503" name="Google Shape;503;p17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Five items waiting at 9:00 AM Monday</a:t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685800" y="19202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685800" y="19202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ITEM-01</a:t>
            </a:r>
            <a:endParaRPr/>
          </a:p>
        </p:txBody>
      </p:sp>
      <p:sp>
        <p:nvSpPr>
          <p:cNvPr id="508" name="Google Shape;508;p17"/>
          <p:cNvSpPr txBox="1"/>
          <p:nvPr/>
        </p:nvSpPr>
        <p:spPr>
          <a:xfrm>
            <a:off x="1691640" y="18928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User says: 'I can buy items even when stock is 0!' — sent at 22:14 last night, includes screenshot</a:t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685800" y="28346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 txBox="1"/>
          <p:nvPr/>
        </p:nvSpPr>
        <p:spPr>
          <a:xfrm>
            <a:off x="685800" y="28346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ITEM-02</a:t>
            </a:r>
            <a:endParaRPr/>
          </a:p>
        </p:txBody>
      </p:sp>
      <p:sp>
        <p:nvSpPr>
          <p:cNvPr id="512" name="Google Shape;512;p17"/>
          <p:cNvSpPr txBox="1"/>
          <p:nvPr/>
        </p:nvSpPr>
        <p:spPr>
          <a:xfrm>
            <a:off x="1691640" y="28072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Designer asks: 'Can we make the cart icon pulse when items are added?' — Slack DM, 8:45 AM</a:t>
            </a: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685800" y="37490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 txBox="1"/>
          <p:nvPr/>
        </p:nvSpPr>
        <p:spPr>
          <a:xfrm>
            <a:off x="685800" y="37490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ITEM-03</a:t>
            </a:r>
            <a:endParaRPr/>
          </a:p>
        </p:txBody>
      </p:sp>
      <p:sp>
        <p:nvSpPr>
          <p:cNvPr id="516" name="Google Shape;516;p17"/>
          <p:cNvSpPr txBox="1"/>
          <p:nvPr/>
        </p:nvSpPr>
        <p:spPr>
          <a:xfrm>
            <a:off x="1691640" y="37216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PM forwards: 'Stripe webhook failed 12 times in 3 hours last night. Orders stuck in PENDING'</a:t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685800" y="46634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685800" y="46634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ITEM-04</a:t>
            </a:r>
            <a:endParaRPr/>
          </a:p>
        </p:txBody>
      </p:sp>
      <p:sp>
        <p:nvSpPr>
          <p:cNvPr id="520" name="Google Shape;520;p17"/>
          <p:cNvSpPr txBox="1"/>
          <p:nvPr/>
        </p:nvSpPr>
        <p:spPr>
          <a:xfrm>
            <a:off x="1691640" y="46360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Junior dev: 'Hey, is this the same bug as #237? Cart shows 2 items but checkout shows 1.'</a:t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fmla="val 18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685800" y="5577840"/>
            <a:ext cx="868680" cy="41148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685800" y="5577840"/>
            <a:ext cx="86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ITEM-05</a:t>
            </a:r>
            <a:endParaRPr/>
          </a:p>
        </p:txBody>
      </p:sp>
      <p:sp>
        <p:nvSpPr>
          <p:cNvPr id="524" name="Google Shape;524;p17"/>
          <p:cNvSpPr txBox="1"/>
          <p:nvPr/>
        </p:nvSpPr>
        <p:spPr>
          <a:xfrm>
            <a:off x="1691640" y="5550408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Translator: 'In Vietnamese, the price should be 100.000đ, not 100,000đ. Please confirm format'</a:t>
            </a:r>
            <a:endParaRPr/>
          </a:p>
        </p:txBody>
      </p:sp>
      <p:sp>
        <p:nvSpPr>
          <p:cNvPr id="525" name="Google Shape;525;p1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526" name="Google Shape;526;p17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30 / 33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A5 · WORKSHEET</a:t>
            </a: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Fill this for each of the 5 items</a:t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548640" y="1371600"/>
            <a:ext cx="731520" cy="73152"/>
          </a:xfrm>
          <a:prstGeom prst="rect">
            <a:avLst/>
          </a:prstGeom>
          <a:solidFill>
            <a:srgbClr val="C6F4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548640" y="1783080"/>
            <a:ext cx="73152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 txBox="1"/>
          <p:nvPr/>
        </p:nvSpPr>
        <p:spPr>
          <a:xfrm>
            <a:off x="594360" y="178308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/>
          </a:p>
        </p:txBody>
      </p:sp>
      <p:sp>
        <p:nvSpPr>
          <p:cNvPr id="536" name="Google Shape;536;p18"/>
          <p:cNvSpPr/>
          <p:nvPr/>
        </p:nvSpPr>
        <p:spPr>
          <a:xfrm>
            <a:off x="1280160" y="1783080"/>
            <a:ext cx="210312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 txBox="1"/>
          <p:nvPr/>
        </p:nvSpPr>
        <p:spPr>
          <a:xfrm>
            <a:off x="1325880" y="17830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3383280" y="1783080"/>
            <a:ext cx="201168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 txBox="1"/>
          <p:nvPr/>
        </p:nvSpPr>
        <p:spPr>
          <a:xfrm>
            <a:off x="3429000" y="17830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/>
          </a:p>
        </p:txBody>
      </p:sp>
      <p:sp>
        <p:nvSpPr>
          <p:cNvPr id="540" name="Google Shape;540;p18"/>
          <p:cNvSpPr/>
          <p:nvPr/>
        </p:nvSpPr>
        <p:spPr>
          <a:xfrm>
            <a:off x="5394960" y="1783080"/>
            <a:ext cx="155448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5440680" y="17830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6949440" y="1783080"/>
            <a:ext cx="1737360" cy="548640"/>
          </a:xfrm>
          <a:prstGeom prst="rect">
            <a:avLst/>
          </a:prstGeom>
          <a:solidFill>
            <a:srgbClr val="0F1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 txBox="1"/>
          <p:nvPr/>
        </p:nvSpPr>
        <p:spPr>
          <a:xfrm>
            <a:off x="6995160" y="17830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6F432"/>
                </a:solidFill>
                <a:latin typeface="Calibri"/>
                <a:ea typeface="Calibri"/>
                <a:cs typeface="Calibri"/>
                <a:sym typeface="Calibri"/>
              </a:rPr>
              <a:t>First action (8 words max)</a:t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548640" y="233172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1280160" y="233172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3383280" y="233172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5394960" y="233172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949440" y="233172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8686800" y="233172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ITEM-01</a:t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548640" y="288036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1280160" y="288036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3383280" y="288036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5394960" y="288036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6949440" y="288036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8686800" y="288036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ITEM-02</a:t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548640" y="342900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1280160" y="342900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3383280" y="342900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5394960" y="342900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6949440" y="342900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8686800" y="342900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 txBox="1"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ITEM-03</a:t>
            </a: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548640" y="397764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1280160" y="397764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3383280" y="397764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5394960" y="397764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6949440" y="397764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8686800" y="397764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ITEM-04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48640" y="4526280"/>
            <a:ext cx="731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1280160" y="452628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3383280" y="4526280"/>
            <a:ext cx="20116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5394960" y="4526280"/>
            <a:ext cx="15544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6949440" y="4526280"/>
            <a:ext cx="173736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8686800" y="4526280"/>
            <a:ext cx="2926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 txBox="1"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ITEM-05</a:t>
            </a:r>
            <a:endParaRPr/>
          </a:p>
        </p:txBody>
      </p:sp>
      <p:sp>
        <p:nvSpPr>
          <p:cNvPr id="579" name="Google Shape;579;p18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After the worksheet — defend your TODAY-list (top 2 items)</a:t>
            </a: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fmla="val 18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 txBox="1"/>
          <p:nvPr/>
        </p:nvSpPr>
        <p:spPr>
          <a:xfrm>
            <a:off x="868680" y="580644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Today I'll work on ITEM-___ and ITEM-___ because: ___________________________________________________</a:t>
            </a:r>
            <a:endParaRPr/>
          </a:p>
        </p:txBody>
      </p:sp>
      <p:sp>
        <p:nvSpPr>
          <p:cNvPr id="582" name="Google Shape;582;p18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CS423/CSC15003 · W01 In-class Activities · Testing Intro &amp; STLC · EShop SUT</a:t>
            </a:r>
            <a:endParaRPr/>
          </a:p>
        </p:txBody>
      </p:sp>
      <p:sp>
        <p:nvSpPr>
          <p:cNvPr id="583" name="Google Shape;583;p18"/>
          <p:cNvSpPr txBox="1"/>
          <p:nvPr/>
        </p:nvSpPr>
        <p:spPr>
          <a:xfrm>
            <a:off x="1097280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31 / 33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Vu Lam</dc:creator>
</cp:coreProperties>
</file>