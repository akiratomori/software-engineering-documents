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178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9144000" cy="1371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FIT @ HCMUS · Department of Software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Arial"/>
              </a:rPr>
              <a:t>CS423 / CSC15003 — SOFTWARE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1">
                <a:solidFill>
                  <a:srgbClr val="FCE4D6"/>
                </a:solidFill>
                <a:latin typeface="Arial"/>
              </a:rPr>
              <a:t>AI-augmented · 2026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00400"/>
            <a:ext cx="8412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Course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2920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FCE4D6"/>
                </a:solidFill>
                <a:latin typeface="Arial"/>
              </a:rPr>
              <a:t>Lecturer: Dr. Lâm Quang Vũ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lqvu@fit.hcmus.edu.vn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CS423/CSC15003 – Software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8412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 i="0">
                <a:solidFill>
                  <a:srgbClr val="1F4E79"/>
                </a:solidFill>
                <a:latin typeface="Arial"/>
              </a:rPr>
              <a:t>About This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C00000"/>
                </a:solidFill>
                <a:latin typeface="Arial"/>
              </a:rPr>
              <a:t>Position in curriculum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8229600" cy="28623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•  Major Selective course of the Software Engineering specialization (KTPM).</a:t>
            </a: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•  4 credits = 45 lecture hours + 30 lab hours, taught across 11 weeks.</a:t>
            </a: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•  Prerequisites: OOP, Databases, Intro to Software Engineering, Web Development.</a:t>
            </a: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•  Suitable for students aiming at QA / Test Engineer / DevOps / SDET roles.</a:t>
            </a:r>
          </a:p>
          <a:p>
            <a:r>
              <a:rPr sz="2000" b="1" i="0" dirty="0">
                <a:solidFill>
                  <a:srgbClr val="C00000"/>
                </a:solidFill>
                <a:latin typeface="Arial"/>
              </a:rPr>
              <a:t>•  2026 edition: AI-augmented — every learning outcome includes AI collaboration.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846320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C00000"/>
                </a:solidFill>
                <a:latin typeface="Arial"/>
              </a:rP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57800"/>
            <a:ext cx="8229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•  ISTQB Foundation Level Syllabus (latest).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Pressman &amp; Maxim (2014) — Software Engineering: A Practitioner's Approach.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Myers et al. (2011) — The Art of Software Testing.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Hardman (2025) — Post-AI Bloom Taxonomy.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Kharbach (2026) — AI Use Policy Templates for Higher Education.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01968"/>
            <a:ext cx="85953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Arial"/>
              </a:rPr>
              <a:t>2 · About this course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CS423/CSC15003 – Software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8412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 i="0">
                <a:solidFill>
                  <a:srgbClr val="1F4E79"/>
                </a:solidFill>
                <a:latin typeface="Arial"/>
              </a:rPr>
              <a:t>Course Objectives — 2026 AI-first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420624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Traditional Outcomes (G1–G8)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4206240" cy="30469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G1. Concepts + STLC + V-model.</a:t>
            </a:r>
          </a:p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G2. Black-box design (domain, decision table, state, use case).</a:t>
            </a:r>
          </a:p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G3. White-box design (</a:t>
            </a:r>
            <a:r>
              <a:rPr sz="1600" b="0" i="0" dirty="0" err="1">
                <a:solidFill>
                  <a:srgbClr val="202020"/>
                </a:solidFill>
                <a:latin typeface="Arial"/>
              </a:rPr>
              <a:t>stmt</a:t>
            </a:r>
            <a:r>
              <a:rPr sz="1600" b="0" i="0" dirty="0">
                <a:solidFill>
                  <a:srgbClr val="202020"/>
                </a:solidFill>
                <a:latin typeface="Arial"/>
              </a:rPr>
              <a:t>, branch, MC/DC).</a:t>
            </a:r>
          </a:p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G4. Test plan / case / bug report per IEEE 829.</a:t>
            </a:r>
          </a:p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G5. UI automation (Selenium / Playwright).</a:t>
            </a:r>
          </a:p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G6. Performance testing (Load/Stress/Spike).</a:t>
            </a:r>
          </a:p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G7. API testing (Postman + Newman).</a:t>
            </a:r>
          </a:p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G8. GUI + Usability + a11y testing.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508760"/>
            <a:ext cx="402336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1508760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NEW: AI-Applied Outcomes (G9.1–G9.6)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4023360" cy="3785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G9.1 UNDERSTAND — critique AI testing explanations.</a:t>
            </a:r>
          </a:p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G9.2 APPLY — collaborate with AI to draft test cases.</a:t>
            </a:r>
          </a:p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G9.3 ANALYSE — audit AI artifacts (V/I/IC).</a:t>
            </a:r>
          </a:p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G9.4 COLLABORATE — pair AI + human in a team workflow.</a:t>
            </a:r>
          </a:p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G9.5 CREATE — design AI tools / plugins / harnesses.</a:t>
            </a:r>
          </a:p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G9.6 DISRUPT — propose Continuous-AI testing workflows.</a:t>
            </a:r>
          </a:p>
          <a:p>
            <a:endParaRPr sz="1600" b="0" i="0" dirty="0">
              <a:solidFill>
                <a:srgbClr val="202020"/>
              </a:solidFill>
              <a:latin typeface="Arial"/>
            </a:endParaRPr>
          </a:p>
          <a:p>
            <a:r>
              <a:rPr sz="1600" b="0" i="1" dirty="0">
                <a:solidFill>
                  <a:srgbClr val="C00000"/>
                </a:solidFill>
                <a:latin typeface="Arial"/>
              </a:rPr>
              <a:t>Ref: Post-AI Bloom Taxonomy (Hardman 2025).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126480"/>
            <a:ext cx="8412480" cy="365760"/>
          </a:xfrm>
          <a:prstGeom prst="rect">
            <a:avLst/>
          </a:prstGeom>
          <a:solidFill>
            <a:srgbClr val="FFE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126480"/>
            <a:ext cx="8412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1">
                <a:solidFill>
                  <a:srgbClr val="202020"/>
                </a:solidFill>
                <a:latin typeface="Arial"/>
              </a:rPr>
              <a:t>Every HW + Project carries BOTH traditional and AI CLOs. Exams test both.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6601968"/>
            <a:ext cx="85953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Arial"/>
              </a:rPr>
              <a:t>3 · Course 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CS423/CSC15003 – Software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8412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 i="0">
                <a:solidFill>
                  <a:srgbClr val="1F4E79"/>
                </a:solidFill>
                <a:latin typeface="Arial"/>
              </a:rPr>
              <a:t>Grading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2194560" cy="74980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83108"/>
            <a:ext cx="2194560" cy="892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Arial"/>
              </a:rPr>
              <a:t>HW</a:t>
            </a:r>
            <a:r>
              <a:rPr lang="en-US" sz="1600" b="1" i="0" dirty="0">
                <a:solidFill>
                  <a:srgbClr val="FFFFFF"/>
                </a:solidFill>
                <a:latin typeface="Arial"/>
              </a:rPr>
              <a:t> (6) + Quiz (3) + Class Activities</a:t>
            </a:r>
            <a:endParaRPr sz="1600" b="1" i="0" dirty="0">
              <a:solidFill>
                <a:srgbClr val="FFFFFF"/>
              </a:solidFill>
              <a:latin typeface="Arial"/>
            </a:endParaRPr>
          </a:p>
          <a:p>
            <a:pPr algn="ctr"/>
            <a:r>
              <a:rPr lang="en-US" sz="2000" b="1" i="0" dirty="0">
                <a:solidFill>
                  <a:srgbClr val="FFFFFF"/>
                </a:solidFill>
                <a:latin typeface="Arial"/>
              </a:rPr>
              <a:t>3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0%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554480"/>
            <a:ext cx="6126480" cy="749808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1554480"/>
            <a:ext cx="5943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Individual · Every HW has AI Critique 200–300 words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58367"/>
            <a:ext cx="2194560" cy="749808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358367"/>
            <a:ext cx="21945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Seminar (PRJ-SM)</a:t>
            </a:r>
          </a:p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20%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358367"/>
            <a:ext cx="6126480" cy="749808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88920" y="2358367"/>
            <a:ext cx="5943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Group · AI for research · Defended in front of a panel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81327"/>
            <a:ext cx="2194560" cy="7498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181327"/>
            <a:ext cx="21945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Midterm</a:t>
            </a:r>
          </a:p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3181327"/>
            <a:ext cx="6126480" cy="749808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88920" y="3181327"/>
            <a:ext cx="5943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Closed-book on paper · NO 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04287"/>
            <a:ext cx="2194560" cy="7498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4004287"/>
            <a:ext cx="21945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Final</a:t>
            </a:r>
          </a:p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40%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4004287"/>
            <a:ext cx="6126480" cy="749808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88920" y="4004287"/>
            <a:ext cx="5943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Closed-book cumulative · Includes LLM testing scenario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6601968"/>
            <a:ext cx="85953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Arial"/>
              </a:rPr>
              <a:t>4 · Grading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CS423/CSC15003 – Software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8412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 i="0">
                <a:solidFill>
                  <a:srgbClr val="1F4E79"/>
                </a:solidFill>
                <a:latin typeface="Arial"/>
              </a:rPr>
              <a:t>Apply AI in This Course — What's New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8412480" cy="7772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8412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Arial"/>
              </a:rPr>
              <a:t>AI is part of every learning outcome</a:t>
            </a:r>
          </a:p>
          <a:p>
            <a:pPr algn="ctr"/>
            <a:r>
              <a:rPr sz="1500" b="0" i="1">
                <a:solidFill>
                  <a:srgbClr val="FFFFFF"/>
                </a:solidFill>
                <a:latin typeface="Arial"/>
              </a:rPr>
              <a:t>Students may use ANY AI tool; the Faculty does NOT provide paid accounts.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68880"/>
            <a:ext cx="8412480" cy="34778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•  6 </a:t>
            </a:r>
            <a:r>
              <a:rPr sz="2000" b="0" i="0" dirty="0" err="1">
                <a:solidFill>
                  <a:srgbClr val="202020"/>
                </a:solidFill>
                <a:latin typeface="Arial"/>
              </a:rPr>
              <a:t>Homeworks</a:t>
            </a:r>
            <a:r>
              <a:rPr sz="2000" b="0" i="0" dirty="0">
                <a:solidFill>
                  <a:srgbClr val="202020"/>
                </a:solidFill>
                <a:latin typeface="Arial"/>
              </a:rPr>
              <a:t> (HW01–HW06) released across the term; every HW is AI-augmented.</a:t>
            </a: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•  Use ANY AI Tool — e.g., ChatGPT, Claude, Gemini, Copilot, Cursor. Declare what you used.</a:t>
            </a: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•  6 new Bloom-AI CLOs (G9.1–G9.6) sit alongside the traditional CLOs (G1–G8).</a:t>
            </a:r>
          </a:p>
          <a:p>
            <a:r>
              <a:rPr sz="2000" b="1" i="0" dirty="0">
                <a:solidFill>
                  <a:srgbClr val="C00000"/>
                </a:solidFill>
                <a:latin typeface="Arial"/>
              </a:rPr>
              <a:t>•  Every AI-assisted submission attaches:  [AI-02] Audit Report  +  [AI-03] Disclosure  +  [AI-05] Checklist.</a:t>
            </a: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•  Closed-book exams (Midterm + Final) — NO AI of any kind.</a:t>
            </a: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•  Random 10–30% of students invited to a 5–7-min oral defense the week after each HW.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85953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Arial"/>
              </a:rPr>
              <a:t>5 · Apply AI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CS423/CSC15003 – Software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8412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 i="0">
                <a:solidFill>
                  <a:srgbClr val="1F4E79"/>
                </a:solidFill>
                <a:latin typeface="Arial"/>
              </a:rPr>
              <a:t>AI Use Categories — 5 tiers (which applies?)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2560320" cy="79552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365760" y="1782967"/>
            <a:ext cx="2560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Cat. 1 – No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554480"/>
            <a:ext cx="5760720" cy="795528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3154680" y="1782967"/>
            <a:ext cx="55778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Midterm · Final · Week-4 Domain Testing paper workshop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23160"/>
            <a:ext cx="2560320" cy="795528"/>
          </a:xfrm>
          <a:prstGeom prst="rect">
            <a:avLst/>
          </a:prstGeom>
          <a:solidFill>
            <a:srgbClr val="C6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365760" y="2528536"/>
            <a:ext cx="25603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Cat. 2 – AI for Preparation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423160"/>
            <a:ext cx="5760720" cy="795528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3154680" y="2651647"/>
            <a:ext cx="55778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Brainstorm, study questions — NOT generating final 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91840"/>
            <a:ext cx="2560320" cy="79552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365760" y="3397216"/>
            <a:ext cx="25603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Cat. 3 – AI Feedback/Revision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3291840"/>
            <a:ext cx="5760720" cy="795528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3154680" y="3520327"/>
            <a:ext cx="55778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Critique / polish AFTER you have a complete draft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60520"/>
            <a:ext cx="2560320" cy="7955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365760" y="4265896"/>
            <a:ext cx="25603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Cat. 4 – AI-Assisted Production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4160520"/>
            <a:ext cx="5760720" cy="795528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3154680" y="4389007"/>
            <a:ext cx="55778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AI generates parts; YOU audit + integrate (most HWs)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29200"/>
            <a:ext cx="2560320" cy="795528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365760" y="5134576"/>
            <a:ext cx="25603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Cat. 5 – AI-Integrated Work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5029200"/>
            <a:ext cx="5760720" cy="795528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3154680" y="5257687"/>
            <a:ext cx="55778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AI as core methodology (Project · Seminar · Capstone)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6601968"/>
            <a:ext cx="85953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Arial"/>
              </a:rPr>
              <a:t>6 · AI Use Categories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CS423/CSC15003 – Software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8412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 i="0">
                <a:solidFill>
                  <a:srgbClr val="1F4E79"/>
                </a:solidFill>
                <a:latin typeface="Arial"/>
              </a:rPr>
              <a:t>Bloom-AI Application Levels (1/2) — G9.1, G9.2, G9.3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1280160" cy="14630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12801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Arial"/>
              </a:rPr>
              <a:t>G9.1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UNDERSTAND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1554480"/>
            <a:ext cx="4937760" cy="14630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475488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Ask AI to explain a concept; identify ≥ 3 errors using the spec/ISTQB.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554480"/>
            <a:ext cx="2011680" cy="146304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6766560" y="2009001"/>
            <a:ext cx="201168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Arial"/>
              </a:rPr>
              <a:t>Applied in:</a:t>
            </a:r>
          </a:p>
          <a:p>
            <a:pPr algn="ctr"/>
            <a:r>
              <a:rPr sz="1600" b="0" i="0">
                <a:solidFill>
                  <a:srgbClr val="202020"/>
                </a:solidFill>
                <a:latin typeface="Arial"/>
              </a:rPr>
              <a:t>HW01 · all HW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280160" cy="146304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108960"/>
            <a:ext cx="12801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Arial"/>
              </a:rPr>
              <a:t>G9.2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APPLY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3108960"/>
            <a:ext cx="4937760" cy="14630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0" y="3246120"/>
            <a:ext cx="475488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Use AI to draft test cases / scripts / code. Then run + refine yourself.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3108960"/>
            <a:ext cx="2011680" cy="146304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6766560" y="3440371"/>
            <a:ext cx="2011680" cy="800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Arial"/>
              </a:rPr>
              <a:t>Applied in:</a:t>
            </a:r>
          </a:p>
          <a:p>
            <a:pPr algn="ctr"/>
            <a:r>
              <a:rPr sz="1600" b="0" i="0">
                <a:solidFill>
                  <a:srgbClr val="202020"/>
                </a:solidFill>
                <a:latin typeface="Arial"/>
              </a:rPr>
              <a:t>HW02 · HW04 · HW06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63440"/>
            <a:ext cx="1280160" cy="14630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4663440"/>
            <a:ext cx="12801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Arial"/>
              </a:rPr>
              <a:t>G9.3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ANALYSE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4663440"/>
            <a:ext cx="4937760" cy="14630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28800" y="4800600"/>
            <a:ext cx="475488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Audit AI artifacts: V/I/IC. Find missed boundaries.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663440"/>
            <a:ext cx="2011680" cy="146304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6766560" y="4994851"/>
            <a:ext cx="2011680" cy="800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Arial"/>
              </a:rPr>
              <a:t>Applied in:</a:t>
            </a:r>
          </a:p>
          <a:p>
            <a:pPr algn="ctr"/>
            <a:r>
              <a:rPr sz="1600" b="0" i="0">
                <a:solidFill>
                  <a:srgbClr val="202020"/>
                </a:solidFill>
                <a:latin typeface="Arial"/>
              </a:rPr>
              <a:t>HW02 · HW04 · HW05 · HW06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6601968"/>
            <a:ext cx="85953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Arial"/>
              </a:rPr>
              <a:t>7 · Bloom-AI Levels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CS423/CSC15003 – Software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8412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 i="0">
                <a:solidFill>
                  <a:srgbClr val="1F4E79"/>
                </a:solidFill>
                <a:latin typeface="Arial"/>
              </a:rPr>
              <a:t>Bloom-AI Application Levels (2/2) — G9.4, G9.5, G9.6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1280160" cy="14630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12801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Arial"/>
              </a:rPr>
              <a:t>G9.4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COLLABORATE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1554480"/>
            <a:ext cx="4937760" cy="14630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475488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Pair AI + human in a team workflow. Document who did what.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554480"/>
            <a:ext cx="2011680" cy="146304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6766560" y="1793559"/>
            <a:ext cx="2011680" cy="9848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i="0">
                <a:solidFill>
                  <a:srgbClr val="C00000"/>
                </a:solidFill>
                <a:latin typeface="Arial"/>
              </a:rPr>
              <a:t>Applied in:</a:t>
            </a:r>
          </a:p>
          <a:p>
            <a:pPr algn="ctr"/>
            <a:r>
              <a:rPr sz="2000" b="0" i="0">
                <a:solidFill>
                  <a:srgbClr val="202020"/>
                </a:solidFill>
                <a:latin typeface="Arial"/>
              </a:rPr>
              <a:t>HW04 · HW05 · HW06 · Project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280160" cy="146304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108960"/>
            <a:ext cx="12801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Arial"/>
              </a:rPr>
              <a:t>G9.5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CREATE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3108960"/>
            <a:ext cx="4937760" cy="14630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1828800" y="3246120"/>
            <a:ext cx="475488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Design a NEW AI tool / plugin / evaluation harness for testing.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3108960"/>
            <a:ext cx="2011680" cy="146304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6766560" y="3348039"/>
            <a:ext cx="2011680" cy="9848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i="0">
                <a:solidFill>
                  <a:srgbClr val="C00000"/>
                </a:solidFill>
                <a:latin typeface="Arial"/>
              </a:rPr>
              <a:t>Applied in:</a:t>
            </a:r>
          </a:p>
          <a:p>
            <a:pPr algn="ctr"/>
            <a:r>
              <a:rPr sz="2000" b="0" i="0">
                <a:solidFill>
                  <a:srgbClr val="202020"/>
                </a:solidFill>
                <a:latin typeface="Arial"/>
              </a:rPr>
              <a:t>HW06 · Project · Capstone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63440"/>
            <a:ext cx="1280160" cy="14630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4663440"/>
            <a:ext cx="12801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Arial"/>
              </a:rPr>
              <a:t>G9.6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DISRUPT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4663440"/>
            <a:ext cx="4937760" cy="14630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1828800" y="4800600"/>
            <a:ext cx="475488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Propose a Continuous-AI workflow that changes the testing process.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663440"/>
            <a:ext cx="2011680" cy="146304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6766560" y="4748630"/>
            <a:ext cx="2011680" cy="129266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i="0">
                <a:solidFill>
                  <a:srgbClr val="C00000"/>
                </a:solidFill>
                <a:latin typeface="Arial"/>
              </a:rPr>
              <a:t>Applied in:</a:t>
            </a:r>
          </a:p>
          <a:p>
            <a:pPr algn="ctr"/>
            <a:r>
              <a:rPr sz="2000" b="0" i="0">
                <a:solidFill>
                  <a:srgbClr val="202020"/>
                </a:solidFill>
                <a:latin typeface="Arial"/>
              </a:rPr>
              <a:t>HW05 · Capstone · Final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6601968"/>
            <a:ext cx="85953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Arial"/>
              </a:rPr>
              <a:t>8 · Bloom-AI Levels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CS423/CSC15003 – Software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8412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 i="0">
                <a:solidFill>
                  <a:srgbClr val="1F4E79"/>
                </a:solidFill>
                <a:latin typeface="Arial"/>
              </a:rPr>
              <a:t>AI Templates — required submissions (/AI Templates folder)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1188720" cy="640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365760" y="1689854"/>
            <a:ext cx="11887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Arial"/>
              </a:rPr>
              <a:t>[AI-01]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554480"/>
            <a:ext cx="2286000" cy="64008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1691640" y="1705243"/>
            <a:ext cx="22402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C00000"/>
                </a:solidFill>
                <a:latin typeface="Arial"/>
              </a:rPr>
              <a:t>AI Agreement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582132"/>
            <a:ext cx="48463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Read at start of term — defines 5 categories + policy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67712"/>
            <a:ext cx="1188720" cy="640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365760" y="2403086"/>
            <a:ext cx="11887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Arial"/>
              </a:rPr>
              <a:t>[AI-02]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2267712"/>
            <a:ext cx="2286000" cy="64008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1691640" y="2418475"/>
            <a:ext cx="22402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C00000"/>
                </a:solidFill>
                <a:latin typeface="Arial"/>
              </a:rPr>
              <a:t>AI Audit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295364"/>
            <a:ext cx="48463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5-section template per artifact — REQUIRED with every HW + Project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80944"/>
            <a:ext cx="1188720" cy="640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365760" y="3116318"/>
            <a:ext cx="11887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Arial"/>
              </a:rPr>
              <a:t>[AI-03]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2980944"/>
            <a:ext cx="2286000" cy="64008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1691640" y="3131707"/>
            <a:ext cx="22402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C00000"/>
                </a:solidFill>
                <a:latin typeface="Arial"/>
              </a:rPr>
              <a:t>AI Disclosure 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008596"/>
            <a:ext cx="48463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Per-assignment — sign + attach to every AI-assisted HW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94176"/>
            <a:ext cx="1188720" cy="640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365760" y="3829550"/>
            <a:ext cx="11887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Arial"/>
              </a:rPr>
              <a:t>[AI-04]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3694176"/>
            <a:ext cx="2286000" cy="64008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1691640" y="3844939"/>
            <a:ext cx="22402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C00000"/>
                </a:solidFill>
                <a:latin typeface="Arial"/>
              </a:rPr>
              <a:t>Reflective Statement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844939"/>
            <a:ext cx="4846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Required for Projects · Seminar · Capstone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07408"/>
            <a:ext cx="1188720" cy="640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365760" y="4542782"/>
            <a:ext cx="11887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Arial"/>
              </a:rPr>
              <a:t>[AI-05]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0" y="4407408"/>
            <a:ext cx="2286000" cy="64008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1691640" y="4558171"/>
            <a:ext cx="22402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C00000"/>
                </a:solidFill>
                <a:latin typeface="Arial"/>
              </a:rPr>
              <a:t>Privacy Checklist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4435060"/>
            <a:ext cx="48463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Self-check before submission · required with every HW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120640"/>
            <a:ext cx="1188720" cy="640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365760" y="5256014"/>
            <a:ext cx="11887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Arial"/>
              </a:rPr>
              <a:t>[AI-06]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0" y="5120640"/>
            <a:ext cx="2286000" cy="64008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TextBox 32"/>
          <p:cNvSpPr txBox="1"/>
          <p:nvPr/>
        </p:nvSpPr>
        <p:spPr>
          <a:xfrm>
            <a:off x="1691640" y="5148292"/>
            <a:ext cx="224028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C00000"/>
                </a:solidFill>
                <a:latin typeface="Arial"/>
              </a:rPr>
              <a:t>Student Acknowledgement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5148292"/>
            <a:ext cx="48463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Sign in Week 1 · required before AI-assisted HW is graded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03504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i="1">
                <a:solidFill>
                  <a:srgbClr val="202020"/>
                </a:solidFill>
                <a:latin typeface="Arial"/>
              </a:rPr>
              <a:t>Both English (_En) and Vietnamese (_Vn) versions in the AI Templates folder.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4320" y="6601968"/>
            <a:ext cx="85953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Arial"/>
              </a:rPr>
              <a:t>9 · AI Templates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CS423/CSC15003 – Software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8412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 i="0">
                <a:solidFill>
                  <a:srgbClr val="1F4E79"/>
                </a:solidFill>
                <a:latin typeface="Arial"/>
              </a:rPr>
              <a:t>SUT — EShop (for HW02–HW06 + Project)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8412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1">
                <a:solidFill>
                  <a:srgbClr val="202020"/>
                </a:solidFill>
                <a:latin typeface="Arial"/>
              </a:rPr>
              <a:t>Course-wide SUT: EShop — a Vietnamese e-commerce demo built for software-testing education.</a:t>
            </a:r>
          </a:p>
          <a:p>
            <a:r>
              <a:rPr sz="1500" b="1" i="0">
                <a:solidFill>
                  <a:srgbClr val="C00000"/>
                </a:solidFill>
                <a:latin typeface="Arial"/>
              </a:rPr>
              <a:t>Repository:  https://github.com/ttbhanh/eshop-sut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331720"/>
            <a:ext cx="8412480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2331720"/>
            <a:ext cx="8412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Architecture (4 sub-systems)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97480"/>
            <a:ext cx="2011680" cy="36576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69748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Arial"/>
              </a:rPr>
              <a:t>Backend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97480"/>
            <a:ext cx="3566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202020"/>
                </a:solidFill>
                <a:latin typeface="Arial"/>
              </a:rPr>
              <a:t>Node.js + Express + SQLite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697480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1">
                <a:solidFill>
                  <a:srgbClr val="C00000"/>
                </a:solidFill>
                <a:latin typeface="Arial"/>
              </a:rPr>
              <a:t>http://localhost:3000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2011680" cy="36576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310896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Arial"/>
              </a:rPr>
              <a:t>Frontend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108960"/>
            <a:ext cx="3566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202020"/>
                </a:solidFill>
                <a:latin typeface="Arial"/>
              </a:rPr>
              <a:t>React + Vite + Tailwind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108960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1">
                <a:solidFill>
                  <a:srgbClr val="C00000"/>
                </a:solidFill>
                <a:latin typeface="Arial"/>
              </a:rPr>
              <a:t>http://localhost:5173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20440"/>
            <a:ext cx="2011680" cy="36576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52044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Arial"/>
              </a:rPr>
              <a:t>Web 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520440"/>
            <a:ext cx="3566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202020"/>
                </a:solidFill>
                <a:latin typeface="Arial"/>
              </a:rPr>
              <a:t>React + Vite + Tailwind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520440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1">
                <a:solidFill>
                  <a:srgbClr val="C00000"/>
                </a:solidFill>
                <a:latin typeface="Arial"/>
              </a:rPr>
              <a:t>http://localhost:5174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31920"/>
            <a:ext cx="2011680" cy="36576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93192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Arial"/>
              </a:rPr>
              <a:t>Mobile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931920"/>
            <a:ext cx="3566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202020"/>
                </a:solidFill>
                <a:latin typeface="Arial"/>
              </a:rPr>
              <a:t>React Native + Expo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931920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1">
                <a:solidFill>
                  <a:srgbClr val="C00000"/>
                </a:solidFill>
                <a:latin typeface="Arial"/>
              </a:rPr>
              <a:t>LAN IP of server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22 Functional Requirements + 7 Security Requirements (full spec in README.md)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029200"/>
            <a:ext cx="8412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202020"/>
                </a:solidFill>
                <a:latin typeface="Arial"/>
              </a:rPr>
              <a:t>•  FR-01..04 Authentication (Register, Login + 3-fail lockout, Forgot password OTP, Profile)</a:t>
            </a:r>
          </a:p>
          <a:p>
            <a:r>
              <a:rPr sz="1300" b="0" i="0">
                <a:solidFill>
                  <a:srgbClr val="202020"/>
                </a:solidFill>
                <a:latin typeface="Arial"/>
              </a:rPr>
              <a:t>•  FR-05..09 Products + Cart + Checkout + Coupon (5 conditions)</a:t>
            </a:r>
          </a:p>
          <a:p>
            <a:r>
              <a:rPr sz="1300" b="0" i="0">
                <a:solidFill>
                  <a:srgbClr val="202020"/>
                </a:solidFill>
                <a:latin typeface="Arial"/>
              </a:rPr>
              <a:t>•  FR-10..11 Order State Machine (pending → confirmed → shipping → delivered)</a:t>
            </a:r>
          </a:p>
          <a:p>
            <a:r>
              <a:rPr sz="1300" b="0" i="0">
                <a:solidFill>
                  <a:srgbClr val="202020"/>
                </a:solidFill>
                <a:latin typeface="Arial"/>
              </a:rPr>
              <a:t>•  FR-12..19 Admin (Dashboard, CRUD, CSV Import RFC 4180, User mgmt)</a:t>
            </a:r>
          </a:p>
          <a:p>
            <a:r>
              <a:rPr sz="1300" b="0" i="0">
                <a:solidFill>
                  <a:srgbClr val="202020"/>
                </a:solidFill>
                <a:latin typeface="Arial"/>
              </a:rPr>
              <a:t>•  FR-20..24 Mobile + GUI standards + Form + Navigation + Feedback</a:t>
            </a:r>
          </a:p>
          <a:p>
            <a:r>
              <a:rPr sz="1300" b="0" i="0">
                <a:solidFill>
                  <a:srgbClr val="202020"/>
                </a:solidFill>
                <a:latin typeface="Arial"/>
              </a:rPr>
              <a:t>•  SEC-01..07 Security (no plaintext password, JWT, role check, escape, parameterised SQL)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00800"/>
            <a:ext cx="8412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202020"/>
                </a:solidFill>
                <a:latin typeface="Arial"/>
              </a:rPr>
              <a:t>Default test accounts: admin@eshop.com / Admin123!  ·  test@eshop.com / Test1234!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4320" y="6601968"/>
            <a:ext cx="85953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Arial"/>
              </a:rPr>
              <a:t>10 · SUT EShop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CS423/CSC15003 – Software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8412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 i="0">
                <a:solidFill>
                  <a:srgbClr val="1F4E79"/>
                </a:solidFill>
                <a:latin typeface="Arial"/>
              </a:rPr>
              <a:t>Homework Schedule — 6 HW across Weeks 1 / 3 / 5 / 7 / 9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1097280" cy="6400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1097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Week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1554480"/>
            <a:ext cx="914400" cy="640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1554480"/>
            <a:ext cx="914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HW01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554480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202020"/>
                </a:solidFill>
                <a:latin typeface="Arial"/>
              </a:rPr>
              <a:t>QA/QC Jobs · 20 Defects · Test a Physical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554480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1">
                <a:solidFill>
                  <a:srgbClr val="1F4E79"/>
                </a:solidFill>
                <a:latin typeface="Arial"/>
              </a:rPr>
              <a:t>5h · G9.1 · G9.3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67712"/>
            <a:ext cx="1097280" cy="6400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267712"/>
            <a:ext cx="1097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Week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267712"/>
            <a:ext cx="914400" cy="640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54480" y="2267712"/>
            <a:ext cx="914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HW02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267712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202020"/>
                </a:solidFill>
                <a:latin typeface="Arial"/>
              </a:rPr>
              <a:t>EShop: Domain Testing (Personal Seed)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267712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1">
                <a:solidFill>
                  <a:srgbClr val="1F4E79"/>
                </a:solidFill>
                <a:latin typeface="Arial"/>
              </a:rPr>
              <a:t>10h · G9.2 · G9.3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80944"/>
            <a:ext cx="1097280" cy="6400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2980944"/>
            <a:ext cx="1097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Week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2980944"/>
            <a:ext cx="914400" cy="640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54480" y="2980944"/>
            <a:ext cx="914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HW03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2980944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202020"/>
                </a:solidFill>
                <a:latin typeface="Arial"/>
              </a:rPr>
              <a:t>EShop: GUI &amp; Usability (Real Users)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980944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1">
                <a:solidFill>
                  <a:srgbClr val="1F4E79"/>
                </a:solidFill>
                <a:latin typeface="Arial"/>
              </a:rPr>
              <a:t>10h · G9.3 · G9.4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94176"/>
            <a:ext cx="1097280" cy="6400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3694176"/>
            <a:ext cx="1097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Week 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3694176"/>
            <a:ext cx="914400" cy="640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54480" y="3694176"/>
            <a:ext cx="914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HW04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3694176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202020"/>
                </a:solidFill>
                <a:latin typeface="Arial"/>
              </a:rPr>
              <a:t>EShop: Automation (Hand vs AI)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694176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1">
                <a:solidFill>
                  <a:srgbClr val="1F4E79"/>
                </a:solidFill>
                <a:latin typeface="Arial"/>
              </a:rPr>
              <a:t>12h · G9.2 · G9.3 · G9.4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407408"/>
            <a:ext cx="1097280" cy="6400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4407408"/>
            <a:ext cx="1097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Week 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54480" y="4407408"/>
            <a:ext cx="914400" cy="640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54480" y="4407408"/>
            <a:ext cx="914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HW05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4407408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202020"/>
                </a:solidFill>
                <a:latin typeface="Arial"/>
              </a:rPr>
              <a:t>EShop: Performance (AI Misinterpretation Hunt)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4407408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1">
                <a:solidFill>
                  <a:srgbClr val="1F4E79"/>
                </a:solidFill>
                <a:latin typeface="Arial"/>
              </a:rPr>
              <a:t>12h · G9.2 · G9.3 · G9.4 · G9.6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120640"/>
            <a:ext cx="1097280" cy="6400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5120640"/>
            <a:ext cx="1097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Week 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5120640"/>
            <a:ext cx="914400" cy="640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554480" y="5120640"/>
            <a:ext cx="914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HW06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06040" y="5120640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202020"/>
                </a:solidFill>
                <a:latin typeface="Arial"/>
              </a:rPr>
              <a:t>EShop: API Testing (AI-spec-to-tests)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5120640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1">
                <a:solidFill>
                  <a:srgbClr val="1F4E79"/>
                </a:solidFill>
                <a:latin typeface="Arial"/>
              </a:rPr>
              <a:t>12h · G9.2 · G9.3 · G9.4 · G9.5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03504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i="1">
                <a:solidFill>
                  <a:srgbClr val="202020"/>
                </a:solidFill>
                <a:latin typeface="Arial"/>
              </a:rPr>
              <a:t>Every HW = Open AI Mode (Cat. 4). Attach [AI-02] + [AI-03] + [AI-05]. Total = 10% of course grade.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4320" y="6601968"/>
            <a:ext cx="85953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Arial"/>
              </a:rPr>
              <a:t>11 · HW Schedule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100" b="1" i="0">
                <a:solidFill>
                  <a:srgbClr val="1F4E79"/>
                </a:solidFill>
                <a:latin typeface="Arial"/>
              </a:rPr>
              <a:t>2026 AI-first · CS423/CSC15003 – Software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2200" b="1" i="0">
                <a:solidFill>
                  <a:srgbClr val="1F4E79"/>
                </a:solidFill>
                <a:latin typeface="Arial"/>
              </a:rPr>
              <a:t>Seminar Topics — 10 Tools-Focused Tracks (Teams of 3–4)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100" b="0" i="1">
                <a:solidFill>
                  <a:srgbClr val="202020"/>
                </a:solidFill>
                <a:latin typeface="Arial"/>
              </a:rPr>
              <a:t>Each team surveys 1 traditional tool + at least 1 AI-augmented tool. Workflow: propose → instructor approves → deep study → user-guide + demo → share with class ≥ 3 days before seminar.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4297680" cy="9875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640080" cy="9875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417320"/>
            <a:ext cx="640080" cy="9875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1463040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300" b="1" i="0">
                <a:solidFill>
                  <a:srgbClr val="1F4E79"/>
                </a:solidFill>
                <a:latin typeface="Arial"/>
              </a:rPr>
              <a:t>GUI &amp; Usability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1783080"/>
            <a:ext cx="35661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100" b="0" i="0">
                <a:solidFill>
                  <a:srgbClr val="202020"/>
                </a:solidFill>
                <a:latin typeface="Arial"/>
              </a:rPr>
              <a:t>Maze · Hotjar · BrowserStack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075688"/>
            <a:ext cx="35661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100" b="1" i="1">
                <a:solidFill>
                  <a:srgbClr val="C00000"/>
                </a:solidFill>
                <a:latin typeface="Arial"/>
              </a:rPr>
              <a:t>AI: heuristic review, screenshot diff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1417320"/>
            <a:ext cx="4297680" cy="9875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09160" y="1417320"/>
            <a:ext cx="640080" cy="9875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1417320"/>
            <a:ext cx="640080" cy="9875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1463040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300" b="1" i="0">
                <a:solidFill>
                  <a:srgbClr val="1F4E79"/>
                </a:solidFill>
                <a:latin typeface="Arial"/>
              </a:rPr>
              <a:t>Web Automation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2392" y="1783080"/>
            <a:ext cx="35661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100" b="0" i="0">
                <a:solidFill>
                  <a:srgbClr val="202020"/>
                </a:solidFill>
                <a:latin typeface="Arial"/>
              </a:rPr>
              <a:t>Playwright · Selenium · Cypress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2392" y="2075688"/>
            <a:ext cx="35661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100" b="1" i="1">
                <a:solidFill>
                  <a:srgbClr val="C00000"/>
                </a:solidFill>
                <a:latin typeface="Arial"/>
              </a:rPr>
              <a:t>AI: Mabl/Testim auto-heal, AI test gen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468880"/>
            <a:ext cx="4297680" cy="9875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2468880"/>
            <a:ext cx="640080" cy="9875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2468880"/>
            <a:ext cx="640080" cy="9875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" y="2514600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300" b="1" i="0">
                <a:solidFill>
                  <a:srgbClr val="1F4E79"/>
                </a:solidFill>
                <a:latin typeface="Arial"/>
              </a:rPr>
              <a:t>Mobile Automation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" y="2834640"/>
            <a:ext cx="35661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100" b="0" i="0">
                <a:solidFill>
                  <a:srgbClr val="202020"/>
                </a:solidFill>
                <a:latin typeface="Arial"/>
              </a:rPr>
              <a:t>Appium · Espresso · Detox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" y="3127248"/>
            <a:ext cx="35661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100" b="1" i="1">
                <a:solidFill>
                  <a:srgbClr val="C00000"/>
                </a:solidFill>
                <a:latin typeface="Arial"/>
              </a:rPr>
              <a:t>AI: visual diff (Applitools), AI locators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2468880"/>
            <a:ext cx="4297680" cy="9875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709160" y="2468880"/>
            <a:ext cx="640080" cy="9875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09160" y="2468880"/>
            <a:ext cx="640080" cy="9875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2392" y="2514600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300" b="1" i="0">
                <a:solidFill>
                  <a:srgbClr val="1F4E79"/>
                </a:solidFill>
                <a:latin typeface="Arial"/>
              </a:rPr>
              <a:t>Desktop Automation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2392" y="2834640"/>
            <a:ext cx="35661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100" b="0" i="0">
                <a:solidFill>
                  <a:srgbClr val="202020"/>
                </a:solidFill>
                <a:latin typeface="Arial"/>
              </a:rPr>
              <a:t>WinAppDriver · Pywinauto · TestComplete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22392" y="3127248"/>
            <a:ext cx="35661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100" b="1" i="1">
                <a:solidFill>
                  <a:srgbClr val="C00000"/>
                </a:solidFill>
                <a:latin typeface="Arial"/>
              </a:rPr>
              <a:t>AI: image-based recognition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520440"/>
            <a:ext cx="4297680" cy="9875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3520440"/>
            <a:ext cx="640080" cy="9875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3520440"/>
            <a:ext cx="640080" cy="9875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T5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" y="3566160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300" b="1" i="0">
                <a:solidFill>
                  <a:srgbClr val="1F4E79"/>
                </a:solidFill>
                <a:latin typeface="Arial"/>
              </a:rPr>
              <a:t>Performance Testing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" y="3886200"/>
            <a:ext cx="35661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100" b="0" i="0">
                <a:solidFill>
                  <a:srgbClr val="202020"/>
                </a:solidFill>
                <a:latin typeface="Arial"/>
              </a:rPr>
              <a:t>JMeter · k6 · Locust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" y="4178808"/>
            <a:ext cx="35661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100" b="1" i="1">
                <a:solidFill>
                  <a:srgbClr val="C00000"/>
                </a:solidFill>
                <a:latin typeface="Arial"/>
              </a:rPr>
              <a:t>AI: scenario synthesis from logs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09160" y="3520440"/>
            <a:ext cx="4297680" cy="9875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709160" y="3520440"/>
            <a:ext cx="640080" cy="9875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09160" y="3520440"/>
            <a:ext cx="640080" cy="9875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T6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22392" y="3566160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300" b="1" i="0">
                <a:solidFill>
                  <a:srgbClr val="1F4E79"/>
                </a:solidFill>
                <a:latin typeface="Arial"/>
              </a:rPr>
              <a:t>API &amp; Contract Testing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22392" y="3886200"/>
            <a:ext cx="35661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100" b="0" i="0">
                <a:solidFill>
                  <a:srgbClr val="202020"/>
                </a:solidFill>
                <a:latin typeface="Arial"/>
              </a:rPr>
              <a:t>Postman · RestAssured · Karate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22392" y="4178808"/>
            <a:ext cx="35661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100" b="1" i="1">
                <a:solidFill>
                  <a:srgbClr val="C00000"/>
                </a:solidFill>
                <a:latin typeface="Arial"/>
              </a:rPr>
              <a:t>AI: tests from OpenAPI; Pact AI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572000"/>
            <a:ext cx="4297680" cy="9875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0040" y="4572000"/>
            <a:ext cx="640080" cy="9875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0040" y="4572000"/>
            <a:ext cx="640080" cy="9875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T7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272" y="4617720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300" b="1" i="0">
                <a:solidFill>
                  <a:srgbClr val="1F4E79"/>
                </a:solidFill>
                <a:latin typeface="Arial"/>
              </a:rPr>
              <a:t>CI/CD &amp; Test-Harness Engineering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2" y="4937760"/>
            <a:ext cx="35661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100" b="0" i="0">
                <a:solidFill>
                  <a:srgbClr val="202020"/>
                </a:solidFill>
                <a:latin typeface="Arial"/>
              </a:rPr>
              <a:t>GitHub Actions · Jenkins · GitLab CI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2" y="5230368"/>
            <a:ext cx="35661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100" b="1" i="1">
                <a:solidFill>
                  <a:srgbClr val="C00000"/>
                </a:solidFill>
                <a:latin typeface="Arial"/>
              </a:rPr>
              <a:t>AI: flaky-test triage, log summarisation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09160" y="4572000"/>
            <a:ext cx="4297680" cy="9875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709160" y="4572000"/>
            <a:ext cx="640080" cy="9875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709160" y="4572000"/>
            <a:ext cx="640080" cy="9875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T8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22392" y="4617720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300" b="1" i="0">
                <a:solidFill>
                  <a:srgbClr val="1F4E79"/>
                </a:solidFill>
                <a:latin typeface="Arial"/>
              </a:rPr>
              <a:t>Database Testing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22392" y="4937760"/>
            <a:ext cx="35661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100" b="0" i="0">
                <a:solidFill>
                  <a:srgbClr val="202020"/>
                </a:solidFill>
                <a:latin typeface="Arial"/>
              </a:rPr>
              <a:t>DbUnit · Liquibase · tSQLt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22392" y="5230368"/>
            <a:ext cx="35661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100" b="1" i="1">
                <a:solidFill>
                  <a:srgbClr val="C00000"/>
                </a:solidFill>
                <a:latin typeface="Arial"/>
              </a:rPr>
              <a:t>AI: data masking, schema-drift detection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5623560"/>
            <a:ext cx="4297680" cy="9875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20040" y="5623560"/>
            <a:ext cx="640080" cy="9875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20040" y="5623560"/>
            <a:ext cx="640080" cy="9875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T9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3272" y="5669280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300" b="1" i="0">
                <a:solidFill>
                  <a:srgbClr val="1F4E79"/>
                </a:solidFill>
                <a:latin typeface="Arial"/>
              </a:rPr>
              <a:t>Security Testing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272" y="5989320"/>
            <a:ext cx="35661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100" b="0" i="0">
                <a:solidFill>
                  <a:srgbClr val="202020"/>
                </a:solidFill>
                <a:latin typeface="Arial"/>
              </a:rPr>
              <a:t>OWASP ZAP · Burp Suite · Semgrep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3272" y="6281928"/>
            <a:ext cx="35661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100" b="1" i="1">
                <a:solidFill>
                  <a:srgbClr val="C00000"/>
                </a:solidFill>
                <a:latin typeface="Arial"/>
              </a:rPr>
              <a:t>AI: vulnerability triage, AI fuzzers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09160" y="5623560"/>
            <a:ext cx="4297680" cy="9875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709160" y="5623560"/>
            <a:ext cx="640080" cy="9875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709160" y="5623560"/>
            <a:ext cx="640080" cy="9875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T10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22392" y="5669280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300" b="1" i="0">
                <a:solidFill>
                  <a:srgbClr val="1F4E79"/>
                </a:solidFill>
                <a:latin typeface="Arial"/>
              </a:rPr>
              <a:t>Mutation Testing &amp; Test Effectiveness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22392" y="5989320"/>
            <a:ext cx="35661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100" b="0" i="0">
                <a:solidFill>
                  <a:srgbClr val="202020"/>
                </a:solidFill>
                <a:latin typeface="Arial"/>
              </a:rPr>
              <a:t>PIT · Stryker · mutmut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22392" y="6281928"/>
            <a:ext cx="35661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100" b="1" i="1">
                <a:solidFill>
                  <a:srgbClr val="C00000"/>
                </a:solidFill>
                <a:latin typeface="Arial"/>
              </a:rPr>
              <a:t>AI: equivalent-mutant detection, AI assertion gen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74320" y="6601968"/>
            <a:ext cx="8595360" cy="2468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Arial"/>
              </a:rPr>
              <a:t>12 · Seminar Topics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CS423/CSC15003 – Software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8412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 i="0">
                <a:solidFill>
                  <a:srgbClr val="1F4E79"/>
                </a:solidFill>
                <a:latin typeface="Arial"/>
              </a:rPr>
              <a:t>Anti-Cheat Mechanisms + Oral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Cannot be AI-generated. TAs verify when grading.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8229600" cy="28623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1" i="0" dirty="0">
                <a:solidFill>
                  <a:srgbClr val="C00000"/>
                </a:solidFill>
                <a:latin typeface="Arial"/>
              </a:rPr>
              <a:t>✗  Photos of physical devices + your student-ID card in the SAME frame (HW01).</a:t>
            </a:r>
          </a:p>
          <a:p>
            <a:r>
              <a:rPr b="1" i="0" dirty="0">
                <a:solidFill>
                  <a:srgbClr val="C00000"/>
                </a:solidFill>
                <a:latin typeface="Arial"/>
              </a:rPr>
              <a:t>✗  Videos of test executions with your OWN voice narration (no TTS).</a:t>
            </a:r>
          </a:p>
          <a:p>
            <a:r>
              <a:rPr b="1" i="0" dirty="0">
                <a:solidFill>
                  <a:srgbClr val="C00000"/>
                </a:solidFill>
                <a:latin typeface="Arial"/>
              </a:rPr>
              <a:t>✗  Live debug during oral defense: TA changes 1 selector → fix in 10 minutes.</a:t>
            </a:r>
          </a:p>
          <a:p>
            <a:r>
              <a:rPr b="1" i="0" dirty="0">
                <a:solidFill>
                  <a:srgbClr val="C00000"/>
                </a:solidFill>
                <a:latin typeface="Arial"/>
              </a:rPr>
              <a:t>✗  Mantis bug reports filed with reporter = your StudentID.</a:t>
            </a:r>
          </a:p>
          <a:p>
            <a:r>
              <a:rPr b="1" i="0" dirty="0">
                <a:solidFill>
                  <a:srgbClr val="C00000"/>
                </a:solidFill>
                <a:latin typeface="Arial"/>
              </a:rPr>
              <a:t>✗  Hostname / username watermarks in screenshots ({StudentID}-SWT).</a:t>
            </a:r>
          </a:p>
          <a:p>
            <a:r>
              <a:rPr b="1" i="0" dirty="0">
                <a:solidFill>
                  <a:srgbClr val="C00000"/>
                </a:solidFill>
                <a:latin typeface="Arial"/>
              </a:rPr>
              <a:t>✗  EShop test data: &lt;StudentID&gt;_test_&lt;n&gt;@hcmus.edu.vn (verifiable in SQLite DB).</a:t>
            </a:r>
          </a:p>
          <a:p>
            <a:r>
              <a:rPr b="1" i="0" dirty="0">
                <a:solidFill>
                  <a:srgbClr val="C00000"/>
                </a:solidFill>
                <a:latin typeface="Arial"/>
              </a:rPr>
              <a:t>✗  Prompt log .md with rolling timestamps — not all dumped at once.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852160"/>
            <a:ext cx="8412480" cy="502920"/>
          </a:xfrm>
          <a:prstGeom prst="rect">
            <a:avLst/>
          </a:prstGeom>
          <a:solidFill>
            <a:srgbClr val="FFE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5852160"/>
            <a:ext cx="8412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1">
                <a:solidFill>
                  <a:srgbClr val="202020"/>
                </a:solidFill>
                <a:latin typeface="Arial"/>
              </a:rPr>
              <a:t>Random 10–30% of students invited to a 5–7-min oral defense the week after each HW.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85953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Arial"/>
              </a:rPr>
              <a:t>13 · Anti-Cheat + Oral Defense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CS423/CSC15003 – Software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8412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 i="0">
                <a:solidFill>
                  <a:srgbClr val="1F4E79"/>
                </a:solidFill>
                <a:latin typeface="Arial"/>
              </a:rPr>
              <a:t>Assignment Policies — Part 1 (Principles + Format)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286000" cy="4114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507197"/>
            <a:ext cx="228600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General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8412480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•  All assignments are INDIVIDUAL. Discussion + AI use is encouraged — responsibly.</a:t>
            </a:r>
          </a:p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•  Core criteria: smart AI use + methodical testing process.</a:t>
            </a:r>
          </a:p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•  Test cases + bugs discovered = basis for grade differentiation.</a:t>
            </a:r>
          </a:p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•  Mandatory AI Disclosure per the AI Usage Guideline.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291840"/>
            <a:ext cx="2286000" cy="411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291840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File Format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749039"/>
            <a:ext cx="841248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•  Submissions must be TEXT-BASED. Markdown encouraged (LaTeX OK).</a:t>
            </a:r>
          </a:p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•  Old Word users → switch to Markdown. Excel summary → into Markdown.</a:t>
            </a:r>
          </a:p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•  ALWAYS submit a Save-As-PDF alongside the Markdown source.</a:t>
            </a:r>
          </a:p>
          <a:p>
            <a:r>
              <a:rPr sz="1600" b="1" i="0" dirty="0">
                <a:solidFill>
                  <a:srgbClr val="C00000"/>
                </a:solidFill>
                <a:latin typeface="Arial"/>
              </a:rPr>
              <a:t>•  Submission filename: StudentID_ExerciseID_SelfAssessedGrade.zip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230179"/>
            <a:ext cx="2286000" cy="41148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5274336"/>
            <a:ext cx="228600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Arial"/>
              </a:rPr>
              <a:t>Version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687379"/>
            <a:ext cx="841248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•  Use Git (GitHub / Bitbucket / GitLab). Commit per step with clear messages.</a:t>
            </a:r>
          </a:p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•  HW01 → personal repo. From HW02 onwards → team repo provided by instructors.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6601968"/>
            <a:ext cx="85953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Arial"/>
              </a:rPr>
              <a:t>14 · Assignment Policies (1)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CS423/CSC15003 – Software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8412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 i="0">
                <a:solidFill>
                  <a:srgbClr val="1F4E79"/>
                </a:solidFill>
                <a:latin typeface="Arial"/>
              </a:rPr>
              <a:t>Assignment Policies — Part 2 (Submission + Integrity)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59" y="1463040"/>
            <a:ext cx="3081331" cy="4114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59" y="1514891"/>
            <a:ext cx="3081331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 dirty="0">
                <a:solidFill>
                  <a:srgbClr val="FFFFFF"/>
                </a:solidFill>
                <a:latin typeface="Arial"/>
              </a:rPr>
              <a:t>Peer Review + Self-Assessment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8412480" cy="18158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•  Project work: each student OWNS a SPECIFIC requirement (no overlap with teammates).</a:t>
            </a:r>
          </a:p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•  Balance task complexity — too-easy tasks limit the max grade.</a:t>
            </a:r>
          </a:p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•  Peer reviews are MANDATORY — find constructive feedback (praise-only = low value).</a:t>
            </a:r>
          </a:p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•  Each HW has a self-assessment rubric; self-grade honestly.</a:t>
            </a:r>
          </a:p>
          <a:p>
            <a:r>
              <a:rPr sz="1600" b="1" i="0" dirty="0">
                <a:solidFill>
                  <a:srgbClr val="C00000"/>
                </a:solidFill>
                <a:latin typeface="Arial"/>
              </a:rPr>
              <a:t>•  </a:t>
            </a:r>
            <a:r>
              <a:rPr sz="1600" b="1" i="0" dirty="0" err="1">
                <a:solidFill>
                  <a:srgbClr val="C00000"/>
                </a:solidFill>
                <a:latin typeface="Arial"/>
              </a:rPr>
              <a:t>SelfAssessedGrade</a:t>
            </a:r>
            <a:r>
              <a:rPr sz="1600" b="1" i="0" dirty="0">
                <a:solidFill>
                  <a:srgbClr val="C00000"/>
                </a:solidFill>
                <a:latin typeface="Arial"/>
              </a:rPr>
              <a:t> in filename = 3 digits, 000–100.</a:t>
            </a:r>
          </a:p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•  Certain exercises carry HIGHER weight than others.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782582"/>
            <a:ext cx="3081330" cy="411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365760" y="3826739"/>
            <a:ext cx="308133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 dirty="0">
                <a:solidFill>
                  <a:srgbClr val="FFFFFF"/>
                </a:solidFill>
                <a:latin typeface="Arial"/>
              </a:rPr>
              <a:t>Submission + Deadlines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39782"/>
            <a:ext cx="841248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•  Submit via MOODLE.</a:t>
            </a:r>
          </a:p>
          <a:p>
            <a:r>
              <a:rPr sz="1600" b="1" i="0" dirty="0">
                <a:solidFill>
                  <a:srgbClr val="C00000"/>
                </a:solidFill>
                <a:latin typeface="Arial"/>
              </a:rPr>
              <a:t>•  Late submissions: NOT accepted, except critical reasons with documented proof.</a:t>
            </a:r>
          </a:p>
          <a:p>
            <a:r>
              <a:rPr sz="1600" b="0" i="0" dirty="0">
                <a:solidFill>
                  <a:srgbClr val="202020"/>
                </a:solidFill>
                <a:latin typeface="Arial"/>
              </a:rPr>
              <a:t>•  Max 20 files, each ≤ 20 MB. Use split-and-zip when needed.</a:t>
            </a:r>
          </a:p>
          <a:p>
            <a:r>
              <a:rPr sz="1600" b="1" i="0" dirty="0">
                <a:solidFill>
                  <a:srgbClr val="C00000"/>
                </a:solidFill>
                <a:latin typeface="Arial"/>
              </a:rPr>
              <a:t>•  Misuse / over-reliance on online links in submissions → 0 for the assignment.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59" y="5438706"/>
            <a:ext cx="2377439" cy="41148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5482863"/>
            <a:ext cx="237744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 dirty="0">
                <a:solidFill>
                  <a:srgbClr val="FFFFFF"/>
                </a:solidFill>
                <a:latin typeface="Arial"/>
              </a:rPr>
              <a:t>Academic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895906"/>
            <a:ext cx="84124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 dirty="0">
                <a:solidFill>
                  <a:srgbClr val="C00000"/>
                </a:solidFill>
                <a:latin typeface="Arial"/>
              </a:rPr>
              <a:t>•  Any violation of submission rules OR anti-cheat → 0 for the assignment.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6601968"/>
            <a:ext cx="85953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Arial"/>
              </a:rPr>
              <a:t>15 · Assignment Policies (2)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CS423/CSC15003 – Software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8412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 i="0">
                <a:solidFill>
                  <a:srgbClr val="1F4E79"/>
                </a:solidFill>
                <a:latin typeface="Arial"/>
              </a:rPr>
              <a:t>Contact +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C00000"/>
                </a:solidFill>
                <a:latin typeface="Arial"/>
              </a:rPr>
              <a:t>Teaching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4114800" cy="36576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4023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1F4E79"/>
                </a:solidFill>
                <a:latin typeface="Arial"/>
              </a:rPr>
              <a:t>Dr. Lâm Quang Vũ (lead lecturer)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011680"/>
            <a:ext cx="4206240" cy="36576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201168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C00000"/>
                </a:solidFill>
                <a:latin typeface="Arial"/>
              </a:rPr>
              <a:t>lqvu@fit.hcmus.edu.vn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4114800" cy="36576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4023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1F4E79"/>
                </a:solidFill>
                <a:latin typeface="Arial"/>
              </a:rPr>
              <a:t>Dr. Trần Duy Hoàng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423160"/>
            <a:ext cx="4206240" cy="36576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242316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C00000"/>
                </a:solidFill>
                <a:latin typeface="Arial"/>
              </a:rPr>
              <a:t>tdhoang@fit.hcmus.edu.vn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34640"/>
            <a:ext cx="4114800" cy="36576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834640"/>
            <a:ext cx="4023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1F4E79"/>
                </a:solidFill>
                <a:latin typeface="Arial"/>
              </a:rPr>
              <a:t>MSc. Trần Thị Bích Hạnh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834640"/>
            <a:ext cx="4206240" cy="36576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283464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C00000"/>
                </a:solidFill>
                <a:latin typeface="Arial"/>
              </a:rPr>
              <a:t>ttbhanh@fit.hcmus.edu.vn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46120"/>
            <a:ext cx="4114800" cy="36576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246120"/>
            <a:ext cx="4023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1F4E79"/>
                </a:solidFill>
                <a:latin typeface="Arial"/>
              </a:rPr>
              <a:t>MSc. Trương Phước Lộc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3246120"/>
            <a:ext cx="4206240" cy="36576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0" y="324612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C00000"/>
                </a:solidFill>
                <a:latin typeface="Arial"/>
              </a:rPr>
              <a:t>tploc@fit.hcmus.edu.vn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57600"/>
            <a:ext cx="4114800" cy="36576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657600"/>
            <a:ext cx="4023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1F4E79"/>
                </a:solidFill>
                <a:latin typeface="Arial"/>
              </a:rPr>
              <a:t>MSc. Hồ Tuấn Thanh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3657600"/>
            <a:ext cx="4206240" cy="36576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63440" y="365760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C00000"/>
                </a:solidFill>
                <a:latin typeface="Arial"/>
              </a:rPr>
              <a:t>htthanh@fit.hcmus.edu.vn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389120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C00000"/>
                </a:solidFill>
                <a:latin typeface="Arial"/>
              </a:rPr>
              <a:t>Course channels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846320"/>
            <a:ext cx="8229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•  Moodle — official LMS for submission + announcements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Moodle Discussion Forum — Q&amp;A (preferred over email)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FIT Mantis (mantis.fit.hcmus.edu.vn) — bug tracker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EShop repo — github.com/ttbhanh/eshop-sut (HW02–HW06 SUT)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4320" y="6601968"/>
            <a:ext cx="85953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Arial"/>
              </a:rPr>
              <a:t>16 · Contact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2355</Words>
  <Application>Microsoft Office PowerPoint</Application>
  <PresentationFormat>On-screen Show (4:3)</PresentationFormat>
  <Paragraphs>302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Lam Quang, Vu</cp:lastModifiedBy>
  <cp:revision>17</cp:revision>
  <dcterms:created xsi:type="dcterms:W3CDTF">2013-01-27T09:14:16Z</dcterms:created>
  <dcterms:modified xsi:type="dcterms:W3CDTF">2026-05-18T05:58:59Z</dcterms:modified>
  <cp:category/>
</cp:coreProperties>
</file>