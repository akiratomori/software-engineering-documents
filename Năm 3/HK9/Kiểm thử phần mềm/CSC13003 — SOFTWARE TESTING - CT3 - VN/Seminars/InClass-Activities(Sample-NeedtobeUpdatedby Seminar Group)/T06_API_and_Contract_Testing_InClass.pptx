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356616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0" b="1" i="0">
                <a:solidFill>
                  <a:srgbClr val="FFFFFF"/>
                </a:solidFill>
                <a:latin typeface="Arial"/>
              </a:rPr>
              <a:t>T06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356616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Arial"/>
              </a:rPr>
              <a:t>Seminar In-Class
Activity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0"/>
            <a:ext cx="3566160" cy="7315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0" i="1">
                <a:solidFill>
                  <a:srgbClr val="FFFFFF"/>
                </a:solidFill>
                <a:latin typeface="Arial"/>
              </a:rPr>
              <a:t>2026 AI-First · CS423/CSC15003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731520"/>
            <a:ext cx="731520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1">
                <a:solidFill>
                  <a:srgbClr val="2E75B6"/>
                </a:solidFill>
                <a:latin typeface="Arial"/>
              </a:rPr>
              <a:t>FIT @ HCMUS · Department of Software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7315200" cy="1463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Arial"/>
              </a:rPr>
              <a:t>API &amp; Contract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0040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0" i="1">
                <a:solidFill>
                  <a:srgbClr val="202020"/>
                </a:solidFill>
                <a:latin typeface="Arial"/>
              </a:rPr>
              <a:t>Test the contract — not just the response. AI can read OpenAPI for you, but should it?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4754880"/>
            <a:ext cx="7315200" cy="10058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754880"/>
            <a:ext cx="7315200" cy="10058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  <a:latin typeface="Arial"/>
              </a:rPr>
              <a:t>ACTIVITY: Spec-to-Tests Sprint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943600"/>
            <a:ext cx="731520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Duration: ~25 minutes · For audience teams (3–4 SV)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T06 · API &amp; Contract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52144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0" i="0">
                <a:solidFill>
                  <a:srgbClr val="202020"/>
                </a:solidFill>
                <a:latin typeface="Arial"/>
              </a:rPr>
              <a:t>EShop exposes a documented Express REST API (see api_specification.md). API testing has classical tools — Postman, RestAssured, Karate — and the AI direction: generating tests directly from an OpenAPI spec, then refining for business logic. Contract testing with Pact ensures provider and consumer agree.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0"/>
            <a:ext cx="1152144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4114800"/>
            <a:ext cx="1152144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Ground Rules for Today's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1133856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700" b="0" i="0">
                <a:solidFill>
                  <a:srgbClr val="202020"/>
                </a:solidFill>
                <a:latin typeface="Arial"/>
              </a:rPr>
              <a:t>•  Work in your team of 3–4. One designated note-taker per team.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Read the worksheet first; ask the facilitator before guessing.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AI tools are allowed — but every output must be cross-checked manually.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At the end, each team submits ONE minute-paper for audience attendance credit.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2 · Why this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T06 · API &amp; Contract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What you (the audience) will leave with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Learning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•  Author a Postman collection covering authentication, products, cart, orders.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•  Convert critical scenarios to RestAssured (Java) OR Karate (Gherkin).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•  Generate the same test suite from EShop's OpenAPI spec using an AI tool.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Expected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✓  AI gives high coverage of declared schema but ignores business rules.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Negative tests on auth, coupon abuse, race conditions still need humans.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Contract tests catch breaking changes earlier than end-to-end API tests.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3 ·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T06 · API &amp; Contract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Tool snapshot — traditional vs AI-augmented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Traditional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0" cy="43891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1" i="0">
                <a:solidFill>
                  <a:srgbClr val="1F4E79"/>
                </a:solidFill>
                <a:latin typeface="Arial"/>
              </a:rPr>
              <a:t>Postman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Manual + scripted API testing; collections + monitors.</a:t>
            </a:r>
          </a:p>
          <a:p>
            <a:r>
              <a:rPr sz="1800" b="1" i="0">
                <a:solidFill>
                  <a:srgbClr val="1F4E79"/>
                </a:solidFill>
                <a:latin typeface="Arial"/>
              </a:rPr>
              <a:t>RestAssured (Java)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Java DSL; integrates with JUnit/TestNG.</a:t>
            </a:r>
          </a:p>
          <a:p>
            <a:r>
              <a:rPr sz="1800" b="1" i="0">
                <a:solidFill>
                  <a:srgbClr val="1F4E79"/>
                </a:solidFill>
                <a:latin typeface="Arial"/>
              </a:rPr>
              <a:t>Karate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Gherkin-style; supports REST + GraphQL + WebSocket.</a:t>
            </a:r>
          </a:p>
          <a:p>
            <a:r>
              <a:rPr sz="1800" b="1" i="0">
                <a:solidFill>
                  <a:srgbClr val="1F4E79"/>
                </a:solidFill>
                <a:latin typeface="Arial"/>
              </a:rPr>
              <a:t>Pact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Consumer-driven contract testing; broker-based.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AI-augmented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486400" cy="43891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1" i="0">
                <a:solidFill>
                  <a:srgbClr val="C00000"/>
                </a:solidFill>
                <a:latin typeface="Arial"/>
              </a:rPr>
              <a:t>AI test gen from OpenAPI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Provide the spec; receive a Postman/Karate scaffold. Refine and execute.</a:t>
            </a:r>
          </a:p>
          <a:p>
            <a:r>
              <a:rPr sz="1800" b="1" i="0">
                <a:solidFill>
                  <a:srgbClr val="C00000"/>
                </a:solidFill>
                <a:latin typeface="Arial"/>
              </a:rPr>
              <a:t>Postbot (Postman AI)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Inline AI in Postman for assertions and documentation.</a:t>
            </a:r>
          </a:p>
          <a:p>
            <a:r>
              <a:rPr sz="1800" b="1" i="0">
                <a:solidFill>
                  <a:srgbClr val="C00000"/>
                </a:solidFill>
                <a:latin typeface="Arial"/>
              </a:rPr>
              <a:t>ChatGPT / Claude for negative tests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Generate adversarial payloads; review against API_RFC and FR-spec.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4 · Tool snapshot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T06 · API &amp; Contract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C00000"/>
                </a:solidFill>
                <a:latin typeface="Arial"/>
              </a:rPr>
              <a:t>Activity: Spec-to-Tests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521440" cy="16459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2200" b="0" i="1">
                <a:solidFill>
                  <a:srgbClr val="202020"/>
                </a:solidFill>
                <a:latin typeface="Arial"/>
              </a:rPr>
              <a:t>Audience teams race to scaffold an API test suite from an OpenAPI snippet — half by hand, half by AI.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657600"/>
            <a:ext cx="11521440" cy="45720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1152144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What you will need on your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11338560" cy="22860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700" b="0" i="0">
                <a:solidFill>
                  <a:srgbClr val="202020"/>
                </a:solidFill>
                <a:latin typeface="Arial"/>
              </a:rPr>
              <a:t>•  EShop running locally (frontend + backend) OR ability to connect to the lecturer's stage env.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Your favourite text editor + a terminal.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An AI tool of your choice (ChatGPT/Claude/Gemini/Copilot/Cursor — free tier OK).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The Activity_Worksheet.md provided 3 days before this seminar.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5 · Activity brief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T06 · API &amp; Contract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C00000"/>
                </a:solidFill>
                <a:latin typeface="Arial"/>
              </a:rPr>
              <a:t>Activity steps — keep tight to the clock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63040"/>
            <a:ext cx="914400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463040"/>
            <a:ext cx="914400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Step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0:00–0:03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65960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Facilitator hands out a 1-endpoint OpenAPI snippet (POST /coupon/redeem).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60904"/>
            <a:ext cx="112471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60904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0:03–0:13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60904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Half the room writes 5 test cases by hand; the other half via Claude/ChatGPT.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55848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55848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0:13–0:18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355848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Teams pair up and diff results.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50792"/>
            <a:ext cx="112471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50792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0:18–0:23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050792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Identify which tests are 'happy-path' only and which probe edge cases.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45736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45736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0:23–0:25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745736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Each pair states one edge case the AI failed to suggest.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6 · Activity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T06 · API &amp; Contract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Debrief prompts — discuss in 5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55448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55448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What surprised you the most?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256032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56032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Where did the AI tool save you time vs add work?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56616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56616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Identify ONE failure mode you would prevent next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457200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57200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If you had 1 more hour, what would you investigate next?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52160"/>
            <a:ext cx="11521440" cy="5486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1">
                <a:solidFill>
                  <a:srgbClr val="C00000"/>
                </a:solidFill>
                <a:latin typeface="Arial"/>
              </a:rPr>
              <a:t>Each team writes ONE answer per prompt on the minute paper (handed in at end of class).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7 · Debrief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T06 · API &amp; Contract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Takeaways + further reading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852160" cy="45720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85216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3 things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66928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✓  AI gives high coverage of declared schema but ignores business rules.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Negative tests on auth, coupon abuse, race conditions still need humans.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Contract tests catch breaking changes earlier than end-to-end API tests.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Further 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530352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•  Mark Winteringham — 'API Testing in Action' (Chs. 4 + 9).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Pact docs — 'Provider verification'.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EShop /api_specification.md (in repo).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852160"/>
            <a:ext cx="11521440" cy="5486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11521440" cy="5486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Submit minute-paper now · Thank you!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8 · 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