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4114800" cy="68580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914400"/>
            <a:ext cx="3566160" cy="13716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0" b="1" i="0">
                <a:solidFill>
                  <a:srgbClr val="FFFFFF"/>
                </a:solidFill>
                <a:latin typeface="Arial"/>
              </a:rPr>
              <a:t>T01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2743200"/>
            <a:ext cx="3566160" cy="1828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2200" b="0" i="0">
                <a:solidFill>
                  <a:srgbClr val="FFFFFF"/>
                </a:solidFill>
                <a:latin typeface="Arial"/>
              </a:rPr>
              <a:t>Seminar In-Class
Activity Deck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5943600"/>
            <a:ext cx="3566160" cy="7315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0" i="1">
                <a:solidFill>
                  <a:srgbClr val="FFFFFF"/>
                </a:solidFill>
                <a:latin typeface="Arial"/>
              </a:rPr>
              <a:t>2026 AI-First · CS423/CSC15003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0" y="731520"/>
            <a:ext cx="7315200" cy="4572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400" b="0" i="1">
                <a:solidFill>
                  <a:srgbClr val="2E75B6"/>
                </a:solidFill>
                <a:latin typeface="Arial"/>
              </a:rPr>
              <a:t>FIT @ HCMUS · Department of Software Engineering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463040"/>
            <a:ext cx="7315200" cy="1463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600" b="1" i="0">
                <a:solidFill>
                  <a:srgbClr val="1F4E79"/>
                </a:solidFill>
                <a:latin typeface="Arial"/>
              </a:rPr>
              <a:t>GUI &amp; Usability Testing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3200400"/>
            <a:ext cx="7315200" cy="13716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800" b="0" i="1">
                <a:solidFill>
                  <a:srgbClr val="202020"/>
                </a:solidFill>
                <a:latin typeface="Arial"/>
              </a:rPr>
              <a:t>How real people experience the EShop user interface — and how AI helps us spot trouble.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0" y="4754880"/>
            <a:ext cx="7315200" cy="100584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0" y="4754880"/>
            <a:ext cx="7315200" cy="10058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000" b="1" i="0">
                <a:solidFill>
                  <a:srgbClr val="1F4E79"/>
                </a:solidFill>
                <a:latin typeface="Arial"/>
              </a:rPr>
              <a:t>ACTIVITY: Heuristic Showdown — Human vs AI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5943600"/>
            <a:ext cx="7315200" cy="4572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Duration: ~25 minutes · For audience teams (3–4 SV)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T01 · GUI &amp; Usability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Why this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521440" cy="1828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800" b="0" i="0">
                <a:solidFill>
                  <a:srgbClr val="202020"/>
                </a:solidFill>
                <a:latin typeface="Arial"/>
              </a:rPr>
              <a:t>Software that 'works' technically can still fail its users. GUI and usability testing examines an application from the perspective of the human in front of the screen — does the navigation make sense, do error messages help, is the interaction efficient? In this topic you will pair classical usability heuristics (Nielsen's 10) with modern remote-testing tools and an AI-assisted heuristic reviewer. The EShop checkout journey is the perfect playground: cart, coupon, address, payment.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4114800"/>
            <a:ext cx="1152144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4114800"/>
            <a:ext cx="1152144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Ground Rules for Today's Activity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663440"/>
            <a:ext cx="11338560" cy="1828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700" b="0" i="0">
                <a:solidFill>
                  <a:srgbClr val="202020"/>
                </a:solidFill>
                <a:latin typeface="Arial"/>
              </a:rPr>
              <a:t>•  Work in your team of 3–4. One designated note-taker per team.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Read the worksheet first; ask the facilitator before guessing.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AI tools are allowed — but every output must be cross-checked manually.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At the end, each team submits ONE minute-paper for audience attendance credit.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2 · Why this matters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T01 · GUI &amp; Usability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What you (the audience) will leave with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Learning outcomes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486400" cy="4114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•  Run a 5-user remote usability test (think-aloud, scenario-based) on the EShop frontend.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•  Score the same screens against Nielsen's 10 usability heuristics — manually.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•  Use an AI tool (e.g., ChatGPT vision, Claude with screenshots) to draft a heuristic report; then audit each finding against the manual review.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669280" cy="457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6304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Expected takeaways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486400" cy="4114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✓  AI is fast but biased toward surface issues (contrast, label clarity).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✓  Humans catch context-dependent issues (e.g., 'add coupon BEFORE payment confusion').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✓  Severity rating must be human-final; AI severity is often miscalibrated.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3 · Outcomes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T01 · GUI &amp; Usability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Tool snapshot — traditional vs AI-augmented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Traditional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486400" cy="43891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800" b="1" i="0">
                <a:solidFill>
                  <a:srgbClr val="1F4E79"/>
                </a:solidFill>
                <a:latin typeface="Arial"/>
              </a:rPr>
              <a:t>Maze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Remote unmoderated usability testing — task success, click-paths, heatmaps.</a:t>
            </a:r>
          </a:p>
          <a:p>
            <a:r>
              <a:rPr sz="1800" b="1" i="0">
                <a:solidFill>
                  <a:srgbClr val="1F4E79"/>
                </a:solidFill>
                <a:latin typeface="Arial"/>
              </a:rPr>
              <a:t>Hotjar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Session recordings, heatmaps, and surveys for real EShop users.</a:t>
            </a:r>
          </a:p>
          <a:p>
            <a:r>
              <a:rPr sz="1800" b="1" i="0">
                <a:solidFill>
                  <a:srgbClr val="1F4E79"/>
                </a:solidFill>
                <a:latin typeface="Arial"/>
              </a:rPr>
              <a:t>BrowserStack Live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Cross-browser/device exploratory testing — Safari iOS, Chrome Android.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309360" y="1463040"/>
            <a:ext cx="5669280" cy="45720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463040"/>
            <a:ext cx="56692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AI-augmented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0" y="2011680"/>
            <a:ext cx="5486400" cy="43891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800" b="1" i="0">
                <a:solidFill>
                  <a:srgbClr val="C00000"/>
                </a:solidFill>
                <a:latin typeface="Arial"/>
              </a:rPr>
              <a:t>ChatGPT / Claude vision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Upload screenshots; ask for heuristic-evaluation report. Cross-check each finding.</a:t>
            </a:r>
          </a:p>
          <a:p>
            <a:r>
              <a:rPr sz="1800" b="1" i="0">
                <a:solidFill>
                  <a:srgbClr val="C00000"/>
                </a:solidFill>
                <a:latin typeface="Arial"/>
              </a:rPr>
              <a:t>Hotjar AI summaries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Auto-clustered themes from open-ended user feedback — verify against raw text.</a:t>
            </a:r>
          </a:p>
          <a:p>
            <a:r>
              <a:rPr sz="1800" b="1" i="0">
                <a:solidFill>
                  <a:srgbClr val="C00000"/>
                </a:solidFill>
                <a:latin typeface="Arial"/>
              </a:rPr>
              <a:t>UXTweak AI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    Heatmap interpretation and report drafting — practise critiquing AI-written usability claims.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4 · Tool snapshot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T01 · GUI &amp; Usability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C00000"/>
                </a:solidFill>
                <a:latin typeface="Arial"/>
              </a:rPr>
              <a:t>Activity: Heuristic Showdown — Human vs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54480"/>
            <a:ext cx="11521440" cy="164592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2200" b="0" i="1">
                <a:solidFill>
                  <a:srgbClr val="202020"/>
                </a:solidFill>
                <a:latin typeface="Arial"/>
              </a:rPr>
              <a:t>Audience teams will run a 20-minute Nielsen heuristic review on a single EShop screen, then compare their findings against an AI-generated review of the same screen.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3657600"/>
            <a:ext cx="11521440" cy="457200"/>
          </a:xfrm>
          <a:prstGeom prst="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3657600"/>
            <a:ext cx="1152144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What you will need on your laptop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297680"/>
            <a:ext cx="11338560" cy="22860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700" b="0" i="0">
                <a:solidFill>
                  <a:srgbClr val="202020"/>
                </a:solidFill>
                <a:latin typeface="Arial"/>
              </a:rPr>
              <a:t>•  EShop running locally (frontend + backend) OR ability to connect to the lecturer's stage env.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Your favourite text editor + a terminal.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An AI tool of your choice (ChatGPT/Claude/Gemini/Copilot/Cursor — free tier OK).</a:t>
            </a:r>
          </a:p>
          <a:p>
            <a:r>
              <a:rPr sz="1700" b="0" i="0">
                <a:solidFill>
                  <a:srgbClr val="202020"/>
                </a:solidFill>
                <a:latin typeface="Arial"/>
              </a:rPr>
              <a:t>•  The Activity_Worksheet.md provided 3 days before this seminar.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5 · Activity brief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T01 · GUI &amp; Usability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C00000"/>
                </a:solidFill>
                <a:latin typeface="Arial"/>
              </a:rPr>
              <a:t>Activity steps — keep tight to the clock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463040"/>
            <a:ext cx="201168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463040"/>
            <a:ext cx="201168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FFFFFF"/>
                </a:solidFill>
                <a:latin typeface="Arial"/>
              </a:rPr>
              <a:t>Time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463040"/>
            <a:ext cx="9144000" cy="45720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463040"/>
            <a:ext cx="914400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600" b="1" i="0">
                <a:solidFill>
                  <a:srgbClr val="FFFFFF"/>
                </a:solidFill>
                <a:latin typeface="Arial"/>
              </a:rPr>
              <a:t>Step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1965960"/>
            <a:ext cx="1124712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0:00–0:03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560320" y="1965960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Facilitator distributes the screenshot of EShop checkout (PDF).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2660904"/>
            <a:ext cx="112471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" y="2660904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0:03–0:13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60320" y="2660904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Each audience team writes down ≥ 5 heuristic violations with severity.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3355848"/>
            <a:ext cx="1124712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7200" y="3355848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0:13–0:18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60320" y="3355848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Facilitator reveals the AI-generated review; teams cross-check overlaps &amp; misses.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57200" y="4050792"/>
            <a:ext cx="11247120" cy="64008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4050792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0:18–0:23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560320" y="4050792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Pairs discuss: which findings did only humans catch? Which only AI?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57200" y="4745736"/>
            <a:ext cx="11247120" cy="640080"/>
          </a:xfrm>
          <a:prstGeom prst="rect">
            <a:avLst/>
          </a:prstGeom>
          <a:solidFill>
            <a:srgbClr val="D9E1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4745736"/>
            <a:ext cx="201168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600" b="1" i="0">
                <a:solidFill>
                  <a:srgbClr val="1F4E79"/>
                </a:solidFill>
                <a:latin typeface="Arial"/>
              </a:rPr>
              <a:t>0:23–0:25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560320" y="4745736"/>
            <a:ext cx="9144000" cy="64008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1500" b="0" i="0">
                <a:solidFill>
                  <a:srgbClr val="202020"/>
                </a:solidFill>
                <a:latin typeface="Arial"/>
              </a:rPr>
              <a:t>Each team shares one bullet on the whiteboard or chat.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6 · Activity steps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T01 · GUI &amp; Usability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Debrief prompts — discuss in 5 minutes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554480"/>
            <a:ext cx="8229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55448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Q1</a:t>
            </a:r>
          </a:p>
        </p:txBody>
      </p:sp>
      <p:sp>
        <p:nvSpPr>
          <p:cNvPr id="7" name="Rectangle 6"/>
          <p:cNvSpPr/>
          <p:nvPr/>
        </p:nvSpPr>
        <p:spPr>
          <a:xfrm>
            <a:off x="1463040" y="1554480"/>
            <a:ext cx="1033272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54480" y="1554480"/>
            <a:ext cx="1024128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What surprised you the most?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560320"/>
            <a:ext cx="8229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7200" y="256032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Q2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463040" y="2560320"/>
            <a:ext cx="1033272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554480" y="2560320"/>
            <a:ext cx="1024128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Where did the AI tool save you time vs add work?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566160"/>
            <a:ext cx="8229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56616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Q3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463040" y="3566160"/>
            <a:ext cx="1033272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554480" y="3566160"/>
            <a:ext cx="1024128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Identify ONE failure mode you would prevent next time.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4572000"/>
            <a:ext cx="822960" cy="822960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7200" y="4572000"/>
            <a:ext cx="82296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Arial"/>
              </a:rPr>
              <a:t>Q4</a:t>
            </a:r>
          </a:p>
        </p:txBody>
      </p:sp>
      <p:sp>
        <p:nvSpPr>
          <p:cNvPr id="19" name="Rectangle 18"/>
          <p:cNvSpPr/>
          <p:nvPr/>
        </p:nvSpPr>
        <p:spPr>
          <a:xfrm>
            <a:off x="1463040" y="4572000"/>
            <a:ext cx="10332720" cy="8229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54480" y="4572000"/>
            <a:ext cx="10241280" cy="82296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r>
              <a:rPr sz="2000" b="0" i="0">
                <a:solidFill>
                  <a:srgbClr val="202020"/>
                </a:solidFill>
                <a:latin typeface="Arial"/>
              </a:rPr>
              <a:t>If you had 1 more hour, what would you investigate next?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5852160"/>
            <a:ext cx="11521440" cy="5486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400" b="0" i="1">
                <a:solidFill>
                  <a:srgbClr val="C00000"/>
                </a:solidFill>
                <a:latin typeface="Arial"/>
              </a:rPr>
              <a:t>Each team writes ONE answer per prompt on the minute paper (handed in at end of class).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7 · Debrief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201168"/>
            <a:ext cx="11521440" cy="32004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200" b="1" i="0">
                <a:solidFill>
                  <a:srgbClr val="1F4E79"/>
                </a:solidFill>
                <a:latin typeface="Arial"/>
              </a:rPr>
              <a:t>2026 AI-first · Seminar T01 · GUI &amp; Usability Testing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548640"/>
            <a:ext cx="11521440" cy="82296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3400" b="1" i="0">
                <a:solidFill>
                  <a:srgbClr val="1F4E79"/>
                </a:solidFill>
                <a:latin typeface="Arial"/>
              </a:rPr>
              <a:t>Takeaways + further reading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463040"/>
            <a:ext cx="5852160" cy="457200"/>
          </a:xfrm>
          <a:prstGeom prst="rect">
            <a:avLst/>
          </a:prstGeom>
          <a:solidFill>
            <a:srgbClr val="37562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5760" y="1463040"/>
            <a:ext cx="585216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3 things to remember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11680"/>
            <a:ext cx="5669280" cy="4114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600" b="0" i="0">
                <a:solidFill>
                  <a:srgbClr val="202020"/>
                </a:solidFill>
                <a:latin typeface="Arial"/>
              </a:rPr>
              <a:t>✓  AI is fast but biased toward surface issues (contrast, label clarity).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✓  Humans catch context-dependent issues (e.g., 'add coupon BEFORE payment confusion').</a:t>
            </a:r>
          </a:p>
          <a:p>
            <a:r>
              <a:rPr sz="1600" b="0" i="0">
                <a:solidFill>
                  <a:srgbClr val="202020"/>
                </a:solidFill>
                <a:latin typeface="Arial"/>
              </a:rPr>
              <a:t>✓  Severity rating must be human-final; AI severity is often miscalibrated.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solidFill>
            <a:srgbClr val="2E75B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0" y="1463040"/>
            <a:ext cx="5486400" cy="45720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700" b="1" i="0">
                <a:solidFill>
                  <a:srgbClr val="FFFFFF"/>
                </a:solidFill>
                <a:latin typeface="Arial"/>
              </a:rPr>
              <a:t>Further reading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011680"/>
            <a:ext cx="5303520" cy="4114800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400" b="0" i="0">
                <a:solidFill>
                  <a:srgbClr val="202020"/>
                </a:solidFill>
                <a:latin typeface="Arial"/>
              </a:rPr>
              <a:t>•  Nielsen, J. — 10 Usability Heuristics for User Interface Design (NN/g).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•  Krug, S. — Rocket Surgery Made Easy (Chs. 1–3) for remote/lightweight tests.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•  BS EN ISO 9241-11:2018 — Usability: definitions and concepts.</a:t>
            </a:r>
          </a:p>
          <a:p>
            <a:r>
              <a:rPr sz="1400" b="0" i="0">
                <a:solidFill>
                  <a:srgbClr val="202020"/>
                </a:solidFill>
                <a:latin typeface="Arial"/>
              </a:rPr>
              <a:t>•  Article: 'Can AI replace usability testers?' (NN/g, 2024).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5852160"/>
            <a:ext cx="11521440" cy="548640"/>
          </a:xfrm>
          <a:prstGeom prst="rect">
            <a:avLst/>
          </a:prstGeom>
          <a:solidFill>
            <a:srgbClr val="C0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5760" y="5852160"/>
            <a:ext cx="11521440" cy="548640"/>
          </a:xfrm>
          <a:prstGeom prst="rect">
            <a:avLst/>
          </a:prstGeom>
          <a:noFill/>
        </p:spPr>
        <p:txBody>
          <a:bodyPr wrap="square" anchor="ctr" lIns="73152" rIns="73152" tIns="27432" bIns="27432">
            <a:spAutoFit/>
          </a:bodyPr>
          <a:lstStyle/>
          <a:p>
            <a:pPr algn="ctr"/>
            <a:r>
              <a:rPr sz="1800" b="1" i="0">
                <a:solidFill>
                  <a:srgbClr val="FFFFFF"/>
                </a:solidFill>
                <a:latin typeface="Arial"/>
              </a:rPr>
              <a:t>Submit minute-paper now · Thank you!</a:t>
            </a:r>
          </a:p>
        </p:txBody>
      </p:sp>
      <p:sp>
        <p:nvSpPr>
          <p:cNvPr id="13" name="Rectangle 12"/>
          <p:cNvSpPr/>
          <p:nvPr/>
        </p:nvSpPr>
        <p:spPr>
          <a:xfrm>
            <a:off x="0" y="6565392"/>
            <a:ext cx="12191695" cy="292608"/>
          </a:xfrm>
          <a:prstGeom prst="rect">
            <a:avLst/>
          </a:prstGeom>
          <a:solidFill>
            <a:srgbClr val="1F4E7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5760" y="6583680"/>
            <a:ext cx="11521440" cy="256032"/>
          </a:xfrm>
          <a:prstGeom prst="rect">
            <a:avLst/>
          </a:prstGeom>
          <a:noFill/>
        </p:spPr>
        <p:txBody>
          <a:bodyPr wrap="square" anchor="t" lIns="73152" rIns="73152" tIns="27432" bIns="27432">
            <a:spAutoFit/>
          </a:bodyPr>
          <a:lstStyle/>
          <a:p>
            <a:r>
              <a:rPr sz="1100" b="1" i="0">
                <a:solidFill>
                  <a:srgbClr val="FFFFFF"/>
                </a:solidFill>
                <a:latin typeface="Arial"/>
              </a:rPr>
              <a:t>8 · Takeaways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