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356616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0" b="1" i="0">
                <a:solidFill>
                  <a:srgbClr val="FFFFFF"/>
                </a:solidFill>
                <a:latin typeface="Arial"/>
              </a:rPr>
              <a:t>T10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356616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Arial"/>
              </a:rPr>
              <a:t>Seminar In-Class
Activity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0"/>
            <a:ext cx="3566160" cy="7315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0" i="1">
                <a:solidFill>
                  <a:srgbClr val="FFFFFF"/>
                </a:solidFill>
                <a:latin typeface="Arial"/>
              </a:rPr>
              <a:t>2026 AI-First · CS423/CSC15003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731520"/>
            <a:ext cx="731520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1">
                <a:solidFill>
                  <a:srgbClr val="2E75B6"/>
                </a:solidFill>
                <a:latin typeface="Arial"/>
              </a:rPr>
              <a:t>FIT @ HCMUS · Department of Software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7315200" cy="1463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Arial"/>
              </a:rPr>
              <a:t>Mutation Testing &amp; Test Effectiveness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0" i="1">
                <a:solidFill>
                  <a:srgbClr val="202020"/>
                </a:solidFill>
                <a:latin typeface="Arial"/>
              </a:rPr>
              <a:t>Coverage lies. Mutation testing tells you if your tests can actually catch bugs.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4754880"/>
            <a:ext cx="7315200" cy="10058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754880"/>
            <a:ext cx="7315200" cy="10058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  <a:latin typeface="Arial"/>
              </a:rPr>
              <a:t>ACTIVITY: Kill the Mutant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943600"/>
            <a:ext cx="731520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Duration: ~25 minutes · For audience teams (3–4 SV)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T10 · Mutation Testing &amp; Test Effectiveness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52144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0" i="0">
                <a:solidFill>
                  <a:srgbClr val="202020"/>
                </a:solidFill>
                <a:latin typeface="Arial"/>
              </a:rPr>
              <a:t>Code coverage proves test execution; mutation testing proves test sensitivity. You introduce small code defects (mutants) — change &gt; to &lt;, remove a return, flip a Boolean — then ask: does any test fail? The mutation score (killed / total) is the metric. This topic puts EShop's own test suite under the microscope using PIT (Java), Stryker (JS/TS), or mutmut (Python) — and explores AI-assisted assertion generation and equivalent-mutant detection.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0"/>
            <a:ext cx="1152144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4114800"/>
            <a:ext cx="1152144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Ground Rules for Today's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1133856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•  Work in your team of 3–4. One designated note-taker per team.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Read the worksheet first; ask the facilitator before guessing.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AI tools are allowed — but every output must be cross-checked manually.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At the end, each team submits ONE minute-paper for audience attendance credit.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2 · Why this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T10 · Mutation Testing &amp; Test Effectiveness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What you (the audience) will leave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Learning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•  Set up Stryker on the EShop Node.js backend; produce a baseline mutation report.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•  Identify three surviving mutants; explain why each survived.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•  Add tests that kill those mutants without inflating coverage artificially.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Expected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✓  A mutation score of 70–80% is a strong target; 100% is usually unrealistic.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Equivalent mutants are unavoidable noise — manual review is still required.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AI assertion generators are useful as drafts; validation against the mutation report is mandatory.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3 ·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T10 · Mutation Testing &amp; Test Effectiveness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Tool snapshot — traditional vs AI-augmented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Traditional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43891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1" i="0">
                <a:solidFill>
                  <a:srgbClr val="1F4E79"/>
                </a:solidFill>
                <a:latin typeface="Arial"/>
              </a:rPr>
              <a:t>Stryker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Mutation testing for JS/TS/C#/Scala. JSON + HTML reports.</a:t>
            </a:r>
          </a:p>
          <a:p>
            <a:r>
              <a:rPr sz="1800" b="1" i="0">
                <a:solidFill>
                  <a:srgbClr val="1F4E79"/>
                </a:solidFill>
                <a:latin typeface="Arial"/>
              </a:rPr>
              <a:t>PIT (PITest)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Java/Kotlin standard; integrates with Maven, Gradle, JUnit.</a:t>
            </a:r>
          </a:p>
          <a:p>
            <a:r>
              <a:rPr sz="1800" b="1" i="0">
                <a:solidFill>
                  <a:srgbClr val="1F4E79"/>
                </a:solidFill>
                <a:latin typeface="Arial"/>
              </a:rPr>
              <a:t>mutmut / Cosmic Ray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Python mutation testing.</a:t>
            </a:r>
          </a:p>
          <a:p>
            <a:r>
              <a:rPr sz="1800" b="1" i="0">
                <a:solidFill>
                  <a:srgbClr val="1F4E79"/>
                </a:solidFill>
                <a:latin typeface="Arial"/>
              </a:rPr>
              <a:t>mull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C/C++ via LLVM.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AI-augmented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486400" cy="43891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Arial"/>
              </a:rPr>
              <a:t>DiffBlue Cover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AI-generated JUnit tests targeting un-killed mutants.</a:t>
            </a:r>
          </a:p>
          <a:p>
            <a:r>
              <a:rPr sz="1800" b="1" i="0">
                <a:solidFill>
                  <a:srgbClr val="C00000"/>
                </a:solidFill>
                <a:latin typeface="Arial"/>
              </a:rPr>
              <a:t>ChatGPT / Claude for assertion synthesis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Given a function + missing assertion, propose extra asserts; verify against mutation report.</a:t>
            </a:r>
          </a:p>
          <a:p>
            <a:r>
              <a:rPr sz="1800" b="1" i="0">
                <a:solidFill>
                  <a:srgbClr val="C00000"/>
                </a:solidFill>
                <a:latin typeface="Arial"/>
              </a:rPr>
              <a:t>Pynguin + LLM helpers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Combine search-based test generation with LLM assertion repair.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4 · Tool snapshot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T10 · Mutation Testing &amp; Test Effectiveness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C00000"/>
                </a:solidFill>
                <a:latin typeface="Arial"/>
              </a:rPr>
              <a:t>Activity: Kill the Mutant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521440" cy="16459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2200" b="0" i="1">
                <a:solidFill>
                  <a:srgbClr val="202020"/>
                </a:solidFill>
                <a:latin typeface="Arial"/>
              </a:rPr>
              <a:t>Audience teams look at five surviving mutants and write one assertion each, then race to kill the most.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657600"/>
            <a:ext cx="11521440" cy="45720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1152144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What you will need on your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1338560" cy="22860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•  EShop running locally (frontend + backend) OR ability to connect to the lecturer's stage env.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Your favourite text editor + a terminal.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An AI tool of your choice (ChatGPT/Claude/Gemini/Copilot/Cursor — free tier OK).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The Activity_Worksheet.md provided 3 days before this seminar.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5 · Activity brief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T10 · Mutation Testing &amp; Test Effectiveness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C00000"/>
                </a:solidFill>
                <a:latin typeface="Arial"/>
              </a:rPr>
              <a:t>Activity steps — keep tight to the clock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63040"/>
            <a:ext cx="914400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914400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Step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0:00–0:03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65960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Facilitator shows 5 mutant diffs from EShop checkout module.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60904"/>
            <a:ext cx="112471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60904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0:03–0:13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60904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Each team writes 5 candidate assertions (in Jest or pytest pseudocode).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55848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55848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0:13–0:18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355848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Pair teams swap and review — would these actually kill the mutants?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50792"/>
            <a:ext cx="112471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50792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0:18–0:22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050792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Facilitator runs the assertions on a prepared sandbox; tally kills.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45736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45736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0:22–0:25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745736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Winning team explains the assertion design.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6 · Activity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T10 · Mutation Testing &amp; Test Effectiveness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Debrief prompts — discuss in 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55448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What surprised you the most?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256032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56032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Where did the AI tool save you time vs add work?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56616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56616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Identify ONE failure mode you would prevent next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457200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57200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If you had 1 more hour, what would you investigate next?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52160"/>
            <a:ext cx="11521440" cy="5486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1">
                <a:solidFill>
                  <a:srgbClr val="C00000"/>
                </a:solidFill>
                <a:latin typeface="Arial"/>
              </a:rPr>
              <a:t>Each team writes ONE answer per prompt on the minute paper (handed in at end of class).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7 · Debrief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T10 · Mutation Testing &amp; Test Effectiveness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Takeaways + further reading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852160" cy="45720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85216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3 things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66928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✓  A mutation score of 70–80% is a strong target; 100% is usually unrealistic.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Equivalent mutants are unavoidable noise — manual review is still required.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AI assertion generators are useful as drafts; validation against the mutation report is mandatory.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Further 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30352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•  Jia &amp; Harman — 'An Analysis and Survey of Mutation Testing' (2011).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Stryker.NET / Stryker JS — 'Getting started' guides.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GoogleResearch — 'State of Mutation Testing at Google' (2018).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852160"/>
            <a:ext cx="11521440" cy="5486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11521440" cy="5486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Submit minute-paper now · Thank you!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8 · 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