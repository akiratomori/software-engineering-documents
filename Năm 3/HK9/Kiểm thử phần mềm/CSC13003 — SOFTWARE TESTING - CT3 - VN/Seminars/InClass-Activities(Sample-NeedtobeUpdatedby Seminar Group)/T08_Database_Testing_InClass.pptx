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3566160" cy="13716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0" b="1" i="0">
                <a:solidFill>
                  <a:srgbClr val="FFFFFF"/>
                </a:solidFill>
                <a:latin typeface="Arial"/>
              </a:rPr>
              <a:t>T08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3566160" cy="1828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2200" b="0" i="0">
                <a:solidFill>
                  <a:srgbClr val="FFFFFF"/>
                </a:solidFill>
                <a:latin typeface="Arial"/>
              </a:rPr>
              <a:t>Seminar In-Class
Activity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0"/>
            <a:ext cx="3566160" cy="7315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0" i="1">
                <a:solidFill>
                  <a:srgbClr val="FFFFFF"/>
                </a:solidFill>
                <a:latin typeface="Arial"/>
              </a:rPr>
              <a:t>2026 AI-First · CS423/CSC15003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731520"/>
            <a:ext cx="7315200" cy="4572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400" b="0" i="1">
                <a:solidFill>
                  <a:srgbClr val="2E75B6"/>
                </a:solidFill>
                <a:latin typeface="Arial"/>
              </a:rPr>
              <a:t>FIT @ HCMUS · Department of Software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463040"/>
            <a:ext cx="7315200" cy="1463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Arial"/>
              </a:rPr>
              <a:t>Database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20040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800" b="0" i="1">
                <a:solidFill>
                  <a:srgbClr val="202020"/>
                </a:solidFill>
                <a:latin typeface="Arial"/>
              </a:rPr>
              <a:t>The DB is the last source of truth. Test schema, data quality, migrations — and let AI mask the PII.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4754880"/>
            <a:ext cx="7315200" cy="100584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4754880"/>
            <a:ext cx="7315200" cy="10058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2000" b="1" i="0">
                <a:solidFill>
                  <a:srgbClr val="1F4E79"/>
                </a:solidFill>
                <a:latin typeface="Arial"/>
              </a:rPr>
              <a:t>ACTIVITY: Spot-the-PII Game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5943600"/>
            <a:ext cx="7315200" cy="4572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400" b="0" i="0">
                <a:solidFill>
                  <a:srgbClr val="202020"/>
                </a:solidFill>
                <a:latin typeface="Arial"/>
              </a:rPr>
              <a:t>Duration: ~25 minutes · For audience teams (3–4 SV)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T08 · Database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1F4E79"/>
                </a:solidFill>
                <a:latin typeface="Arial"/>
              </a:rPr>
              <a:t>Why this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1521440" cy="1828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800" b="0" i="0">
                <a:solidFill>
                  <a:srgbClr val="202020"/>
                </a:solidFill>
                <a:latin typeface="Arial"/>
              </a:rPr>
              <a:t>EShop uses SQLite for HW convenience; in industry it might be Postgres or SQL Server. Database testing covers schema correctness, migration safety, query performance, referential integrity, and data masking for non-prod. You'll exercise DbUnit (or its modern alternatives) and experiment with AI-assisted data-masking tools.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114800"/>
            <a:ext cx="1152144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4114800"/>
            <a:ext cx="1152144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Ground Rules for Today's 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663440"/>
            <a:ext cx="11338560" cy="1828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700" b="0" i="0">
                <a:solidFill>
                  <a:srgbClr val="202020"/>
                </a:solidFill>
                <a:latin typeface="Arial"/>
              </a:rPr>
              <a:t>•  Work in your team of 3–4. One designated note-taker per team.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Read the worksheet first; ask the facilitator before guessing.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AI tools are allowed — but every output must be cross-checked manually.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At the end, each team submits ONE minute-paper for audience attendance credit.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2 · Why this matters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T08 · Database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1F4E79"/>
                </a:solidFill>
                <a:latin typeface="Arial"/>
              </a:rPr>
              <a:t>What you (the audience) will leave with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669280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566928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Learning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5486400" cy="4114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600" b="0" i="0">
                <a:solidFill>
                  <a:srgbClr val="202020"/>
                </a:solidFill>
                <a:latin typeface="Arial"/>
              </a:rPr>
              <a:t>•  Seed EShop with deterministic fixture data; assert schema invariants.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•  Write 5 SQL-based test cases (e.g., orphan rows, NOT NULL violations, unique index).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•  Run a Liquibase or Flyway migration safely; rollback test.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63040"/>
            <a:ext cx="5669280" cy="457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463040"/>
            <a:ext cx="566928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Expected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486400" cy="4114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600" b="0" i="0">
                <a:solidFill>
                  <a:srgbClr val="202020"/>
                </a:solidFill>
                <a:latin typeface="Arial"/>
              </a:rPr>
              <a:t>✓  Free-text columns leak more PII than structured columns and AI often misses them.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✓  Format-preserving masking keeps integration tests green but may keep distribution info.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✓  Schema-aware data generation &gt; naive faker for representative test data.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3 · Outcomes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T08 · Database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1F4E79"/>
                </a:solidFill>
                <a:latin typeface="Arial"/>
              </a:rPr>
              <a:t>Tool snapshot — traditional vs AI-augmented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66928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566928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Traditional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5486400" cy="43891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800" b="1" i="0">
                <a:solidFill>
                  <a:srgbClr val="1F4E79"/>
                </a:solidFill>
                <a:latin typeface="Arial"/>
              </a:rPr>
              <a:t>DbUnit (Java)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JUnit-friendly XML/YAML fixtures.</a:t>
            </a:r>
          </a:p>
          <a:p>
            <a:r>
              <a:rPr sz="1800" b="1" i="0">
                <a:solidFill>
                  <a:srgbClr val="1F4E79"/>
                </a:solidFill>
                <a:latin typeface="Arial"/>
              </a:rPr>
              <a:t>Liquibase / Flyway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Version-controlled migrations; rollback support.</a:t>
            </a:r>
          </a:p>
          <a:p>
            <a:r>
              <a:rPr sz="1800" b="1" i="0">
                <a:solidFill>
                  <a:srgbClr val="1F4E79"/>
                </a:solidFill>
                <a:latin typeface="Arial"/>
              </a:rPr>
              <a:t>tSQLt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Unit testing inside SQL Server.</a:t>
            </a:r>
          </a:p>
          <a:p>
            <a:r>
              <a:rPr sz="1800" b="1" i="0">
                <a:solidFill>
                  <a:srgbClr val="1F4E79"/>
                </a:solidFill>
                <a:latin typeface="Arial"/>
              </a:rPr>
              <a:t>pgTAP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PostgreSQL-native test framework.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63040"/>
            <a:ext cx="5669280" cy="457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463040"/>
            <a:ext cx="566928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AI-augmented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486400" cy="43891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800" b="1" i="0">
                <a:solidFill>
                  <a:srgbClr val="C00000"/>
                </a:solidFill>
                <a:latin typeface="Arial"/>
              </a:rPr>
              <a:t>Tonic.ai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AI-driven realistic synthetic data + masking.</a:t>
            </a:r>
          </a:p>
          <a:p>
            <a:r>
              <a:rPr sz="1800" b="1" i="0">
                <a:solidFill>
                  <a:srgbClr val="C00000"/>
                </a:solidFill>
                <a:latin typeface="Arial"/>
              </a:rPr>
              <a:t>Synthesized.io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Differential-privacy + ML data generation.</a:t>
            </a:r>
          </a:p>
          <a:p>
            <a:r>
              <a:rPr sz="1800" b="1" i="0">
                <a:solidFill>
                  <a:srgbClr val="C00000"/>
                </a:solidFill>
                <a:latin typeface="Arial"/>
              </a:rPr>
              <a:t>ChatGPT-assisted faker scripts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Generate domain-aware faker rules; audit distributions.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4 · Tool snapshot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T08 · Database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C00000"/>
                </a:solidFill>
                <a:latin typeface="Arial"/>
              </a:rPr>
              <a:t>Activity: Spot-the-PII 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1521440" cy="16459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2200" b="0" i="1">
                <a:solidFill>
                  <a:srgbClr val="202020"/>
                </a:solidFill>
                <a:latin typeface="Arial"/>
              </a:rPr>
              <a:t>Audience teams scan a sample dump from EShop staging and flag every column or value that leaks identity, then propose a masking rule for each.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657600"/>
            <a:ext cx="11521440" cy="457200"/>
          </a:xfrm>
          <a:prstGeom prst="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3657600"/>
            <a:ext cx="1152144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What you will need on your laptop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11338560" cy="22860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700" b="0" i="0">
                <a:solidFill>
                  <a:srgbClr val="202020"/>
                </a:solidFill>
                <a:latin typeface="Arial"/>
              </a:rPr>
              <a:t>•  EShop running locally (frontend + backend) OR ability to connect to the lecturer's stage env.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Your favourite text editor + a terminal.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An AI tool of your choice (ChatGPT/Claude/Gemini/Copilot/Cursor — free tier OK).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The Activity_Worksheet.md provided 3 days before this seminar.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5 · Activity brief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T08 · Database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C00000"/>
                </a:solidFill>
                <a:latin typeface="Arial"/>
              </a:rPr>
              <a:t>Activity steps — keep tight to the clock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01168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63040"/>
            <a:ext cx="914400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463040"/>
            <a:ext cx="914400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Arial"/>
              </a:rPr>
              <a:t>Step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11247120" cy="6400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201168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Arial"/>
              </a:rPr>
              <a:t>0:00–0:03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65960"/>
            <a:ext cx="914400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500" b="0" i="0">
                <a:solidFill>
                  <a:srgbClr val="202020"/>
                </a:solidFill>
                <a:latin typeface="Arial"/>
              </a:rPr>
              <a:t>Facilitator distributes a CSV (anonymised already; pretend it's not).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60904"/>
            <a:ext cx="1124712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660904"/>
            <a:ext cx="201168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Arial"/>
              </a:rPr>
              <a:t>0:03–0:13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660904"/>
            <a:ext cx="914400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500" b="0" i="0">
                <a:solidFill>
                  <a:srgbClr val="202020"/>
                </a:solidFill>
                <a:latin typeface="Arial"/>
              </a:rPr>
              <a:t>Teams flag PII columns; propose mask rules (hash, faker, format-preserving).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55848"/>
            <a:ext cx="11247120" cy="6400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355848"/>
            <a:ext cx="201168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Arial"/>
              </a:rPr>
              <a:t>0:13–0:18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355848"/>
            <a:ext cx="914400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500" b="0" i="0">
                <a:solidFill>
                  <a:srgbClr val="202020"/>
                </a:solidFill>
                <a:latin typeface="Arial"/>
              </a:rPr>
              <a:t>Compare with an AI suggestion; identify items the AI missed (free-text columns).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50792"/>
            <a:ext cx="1124712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050792"/>
            <a:ext cx="201168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Arial"/>
              </a:rPr>
              <a:t>0:18–0:22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4050792"/>
            <a:ext cx="914400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500" b="0" i="0">
                <a:solidFill>
                  <a:srgbClr val="202020"/>
                </a:solidFill>
                <a:latin typeface="Arial"/>
              </a:rPr>
              <a:t>Debate: format-preserving vs synthetic — which would break which test?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45736"/>
            <a:ext cx="11247120" cy="6400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745736"/>
            <a:ext cx="201168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Arial"/>
              </a:rPr>
              <a:t>0:22–0:25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745736"/>
            <a:ext cx="914400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500" b="0" i="0">
                <a:solidFill>
                  <a:srgbClr val="202020"/>
                </a:solidFill>
                <a:latin typeface="Arial"/>
              </a:rPr>
              <a:t>Each team writes one rule on the board.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6 · Activity steps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T08 · Database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1F4E79"/>
                </a:solidFill>
                <a:latin typeface="Arial"/>
              </a:rPr>
              <a:t>Debrief prompts — discuss in 5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822960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82296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Q1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1554480"/>
            <a:ext cx="10332720" cy="822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554480"/>
            <a:ext cx="1024128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What surprised you the most?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822960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82296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Q2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0" y="2560320"/>
            <a:ext cx="10332720" cy="822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2560320"/>
            <a:ext cx="1024128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Where did the AI tool save you time vs add work?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66160"/>
            <a:ext cx="822960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566160"/>
            <a:ext cx="82296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Q3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3566160"/>
            <a:ext cx="10332720" cy="822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3566160"/>
            <a:ext cx="1024128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Identify ONE failure mode you would prevent next time.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572000"/>
            <a:ext cx="822960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82296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Q4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63040" y="4572000"/>
            <a:ext cx="10332720" cy="822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572000"/>
            <a:ext cx="1024128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If you had 1 more hour, what would you investigate next?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852160"/>
            <a:ext cx="11521440" cy="5486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400" b="0" i="1">
                <a:solidFill>
                  <a:srgbClr val="C00000"/>
                </a:solidFill>
                <a:latin typeface="Arial"/>
              </a:rPr>
              <a:t>Each team writes ONE answer per prompt on the minute paper (handed in at end of class).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7 · Debrief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T08 · Database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1F4E79"/>
                </a:solidFill>
                <a:latin typeface="Arial"/>
              </a:rPr>
              <a:t>Takeaways + further reading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852160" cy="457200"/>
          </a:xfrm>
          <a:prstGeom prst="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585216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3 things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5669280" cy="4114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600" b="0" i="0">
                <a:solidFill>
                  <a:srgbClr val="202020"/>
                </a:solidFill>
                <a:latin typeface="Arial"/>
              </a:rPr>
              <a:t>✓  Free-text columns leak more PII than structured columns and AI often misses them.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✓  Format-preserving masking keeps integration tests green but may keep distribution info.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✓  Schema-aware data generation &gt; naive faker for representative test data.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5486400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48640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Further reading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5303520" cy="4114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400" b="0" i="0">
                <a:solidFill>
                  <a:srgbClr val="202020"/>
                </a:solidFill>
                <a:latin typeface="Arial"/>
              </a:rPr>
              <a:t>•  Bauer &amp; Adams — 'Refactoring Databases'.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•  Microsoft tSQLt tutorial.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•  OWASP — 'Test Data Management' guidelines (PII).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852160"/>
            <a:ext cx="11521440" cy="5486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5852160"/>
            <a:ext cx="11521440" cy="5486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Submit minute-paper now · Thank you!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8 · Takeaways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