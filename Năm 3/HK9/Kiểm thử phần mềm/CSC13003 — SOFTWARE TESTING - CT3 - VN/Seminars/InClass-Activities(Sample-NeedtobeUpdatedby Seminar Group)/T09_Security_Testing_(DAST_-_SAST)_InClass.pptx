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114800"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0"/>
            <a:ext cx="3566160" cy="1371600"/>
          </a:xfrm>
          <a:prstGeom prst="rect">
            <a:avLst/>
          </a:prstGeom>
          <a:noFill/>
        </p:spPr>
        <p:txBody>
          <a:bodyPr wrap="square" anchor="t" lIns="73152" rIns="73152" tIns="27432" bIns="27432">
            <a:spAutoFit/>
          </a:bodyPr>
          <a:lstStyle/>
          <a:p>
            <a:r>
              <a:rPr sz="11000" b="1" i="0">
                <a:solidFill>
                  <a:srgbClr val="FFFFFF"/>
                </a:solidFill>
                <a:latin typeface="Arial"/>
              </a:rPr>
              <a:t>T09</a:t>
            </a:r>
          </a:p>
        </p:txBody>
      </p:sp>
      <p:sp>
        <p:nvSpPr>
          <p:cNvPr id="4" name="TextBox 3"/>
          <p:cNvSpPr txBox="1"/>
          <p:nvPr/>
        </p:nvSpPr>
        <p:spPr>
          <a:xfrm>
            <a:off x="365760" y="2743200"/>
            <a:ext cx="3566160" cy="1828800"/>
          </a:xfrm>
          <a:prstGeom prst="rect">
            <a:avLst/>
          </a:prstGeom>
          <a:noFill/>
        </p:spPr>
        <p:txBody>
          <a:bodyPr wrap="square" anchor="t" lIns="73152" rIns="73152" tIns="27432" bIns="27432">
            <a:spAutoFit/>
          </a:bodyPr>
          <a:lstStyle/>
          <a:p>
            <a:r>
              <a:rPr sz="2200" b="0" i="0">
                <a:solidFill>
                  <a:srgbClr val="FFFFFF"/>
                </a:solidFill>
                <a:latin typeface="Arial"/>
              </a:rPr>
              <a:t>Seminar In-Class
Activity Deck</a:t>
            </a:r>
          </a:p>
        </p:txBody>
      </p:sp>
      <p:sp>
        <p:nvSpPr>
          <p:cNvPr id="5" name="TextBox 4"/>
          <p:cNvSpPr txBox="1"/>
          <p:nvPr/>
        </p:nvSpPr>
        <p:spPr>
          <a:xfrm>
            <a:off x="365760" y="5943600"/>
            <a:ext cx="3566160" cy="731520"/>
          </a:xfrm>
          <a:prstGeom prst="rect">
            <a:avLst/>
          </a:prstGeom>
          <a:noFill/>
        </p:spPr>
        <p:txBody>
          <a:bodyPr wrap="square" anchor="t" lIns="73152" rIns="73152" tIns="27432" bIns="27432">
            <a:spAutoFit/>
          </a:bodyPr>
          <a:lstStyle/>
          <a:p>
            <a:r>
              <a:rPr sz="1200" b="0" i="1">
                <a:solidFill>
                  <a:srgbClr val="FFFFFF"/>
                </a:solidFill>
                <a:latin typeface="Arial"/>
              </a:rPr>
              <a:t>2026 AI-First · CS423/CSC15003</a:t>
            </a:r>
          </a:p>
        </p:txBody>
      </p:sp>
      <p:sp>
        <p:nvSpPr>
          <p:cNvPr id="6" name="TextBox 5"/>
          <p:cNvSpPr txBox="1"/>
          <p:nvPr/>
        </p:nvSpPr>
        <p:spPr>
          <a:xfrm>
            <a:off x="4572000" y="731520"/>
            <a:ext cx="7315200" cy="457200"/>
          </a:xfrm>
          <a:prstGeom prst="rect">
            <a:avLst/>
          </a:prstGeom>
          <a:noFill/>
        </p:spPr>
        <p:txBody>
          <a:bodyPr wrap="square" anchor="t" lIns="73152" rIns="73152" tIns="27432" bIns="27432">
            <a:spAutoFit/>
          </a:bodyPr>
          <a:lstStyle/>
          <a:p>
            <a:r>
              <a:rPr sz="1400" b="0" i="1">
                <a:solidFill>
                  <a:srgbClr val="2E75B6"/>
                </a:solidFill>
                <a:latin typeface="Arial"/>
              </a:rPr>
              <a:t>FIT @ HCMUS · Department of Software Engineering</a:t>
            </a:r>
          </a:p>
        </p:txBody>
      </p:sp>
      <p:sp>
        <p:nvSpPr>
          <p:cNvPr id="7" name="TextBox 6"/>
          <p:cNvSpPr txBox="1"/>
          <p:nvPr/>
        </p:nvSpPr>
        <p:spPr>
          <a:xfrm>
            <a:off x="4572000" y="1463040"/>
            <a:ext cx="7315200" cy="1463040"/>
          </a:xfrm>
          <a:prstGeom prst="rect">
            <a:avLst/>
          </a:prstGeom>
          <a:noFill/>
        </p:spPr>
        <p:txBody>
          <a:bodyPr wrap="square" anchor="t" lIns="73152" rIns="73152" tIns="27432" bIns="27432">
            <a:spAutoFit/>
          </a:bodyPr>
          <a:lstStyle/>
          <a:p>
            <a:r>
              <a:rPr sz="3600" b="1" i="0">
                <a:solidFill>
                  <a:srgbClr val="1F4E79"/>
                </a:solidFill>
                <a:latin typeface="Arial"/>
              </a:rPr>
              <a:t>Security Testing (DAST / SAST)</a:t>
            </a:r>
          </a:p>
        </p:txBody>
      </p:sp>
      <p:sp>
        <p:nvSpPr>
          <p:cNvPr id="8" name="TextBox 7"/>
          <p:cNvSpPr txBox="1"/>
          <p:nvPr/>
        </p:nvSpPr>
        <p:spPr>
          <a:xfrm>
            <a:off x="4572000" y="3200400"/>
            <a:ext cx="7315200" cy="1371600"/>
          </a:xfrm>
          <a:prstGeom prst="rect">
            <a:avLst/>
          </a:prstGeom>
          <a:noFill/>
        </p:spPr>
        <p:txBody>
          <a:bodyPr wrap="square" anchor="t" lIns="73152" rIns="73152" tIns="27432" bIns="27432">
            <a:spAutoFit/>
          </a:bodyPr>
          <a:lstStyle/>
          <a:p>
            <a:r>
              <a:rPr sz="1800" b="0" i="1">
                <a:solidFill>
                  <a:srgbClr val="202020"/>
                </a:solidFill>
                <a:latin typeface="Arial"/>
              </a:rPr>
              <a:t>Find the bug before an attacker does — classical scanners + AI fuzzers and triage.</a:t>
            </a:r>
          </a:p>
        </p:txBody>
      </p:sp>
      <p:sp>
        <p:nvSpPr>
          <p:cNvPr id="9" name="Rectangle 8"/>
          <p:cNvSpPr/>
          <p:nvPr/>
        </p:nvSpPr>
        <p:spPr>
          <a:xfrm>
            <a:off x="4572000" y="4754880"/>
            <a:ext cx="7315200" cy="1005840"/>
          </a:xfrm>
          <a:prstGeom prst="rect">
            <a:avLst/>
          </a:prstGeom>
          <a:solidFill>
            <a:srgbClr val="D9E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4754880"/>
            <a:ext cx="7315200" cy="1005840"/>
          </a:xfrm>
          <a:prstGeom prst="rect">
            <a:avLst/>
          </a:prstGeom>
          <a:noFill/>
        </p:spPr>
        <p:txBody>
          <a:bodyPr wrap="square" anchor="ctr" lIns="73152" rIns="73152" tIns="27432" bIns="27432">
            <a:spAutoFit/>
          </a:bodyPr>
          <a:lstStyle/>
          <a:p>
            <a:pPr algn="ctr"/>
            <a:r>
              <a:rPr sz="2000" b="1" i="0">
                <a:solidFill>
                  <a:srgbClr val="1F4E79"/>
                </a:solidFill>
                <a:latin typeface="Arial"/>
              </a:rPr>
              <a:t>ACTIVITY: False-Positive Triage Sprint</a:t>
            </a:r>
          </a:p>
        </p:txBody>
      </p:sp>
      <p:sp>
        <p:nvSpPr>
          <p:cNvPr id="11" name="TextBox 10"/>
          <p:cNvSpPr txBox="1"/>
          <p:nvPr/>
        </p:nvSpPr>
        <p:spPr>
          <a:xfrm>
            <a:off x="4572000" y="5943600"/>
            <a:ext cx="7315200" cy="457200"/>
          </a:xfrm>
          <a:prstGeom prst="rect">
            <a:avLst/>
          </a:prstGeom>
          <a:noFill/>
        </p:spPr>
        <p:txBody>
          <a:bodyPr wrap="square" anchor="t" lIns="73152" rIns="73152" tIns="27432" bIns="27432">
            <a:spAutoFit/>
          </a:bodyPr>
          <a:lstStyle/>
          <a:p>
            <a:r>
              <a:rPr sz="1400" b="0" i="0">
                <a:solidFill>
                  <a:srgbClr val="202020"/>
                </a:solidFill>
                <a:latin typeface="Arial"/>
              </a:rPr>
              <a:t>Duration: ~25 minutes · For audience teams (3–4 SV)</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11521440" cy="320040"/>
          </a:xfrm>
          <a:prstGeom prst="rect">
            <a:avLst/>
          </a:prstGeom>
          <a:noFill/>
        </p:spPr>
        <p:txBody>
          <a:bodyPr wrap="square" anchor="t" lIns="73152" rIns="73152" tIns="27432" bIns="27432">
            <a:spAutoFit/>
          </a:bodyPr>
          <a:lstStyle/>
          <a:p>
            <a:r>
              <a:rPr sz="1200" b="1" i="0">
                <a:solidFill>
                  <a:srgbClr val="1F4E79"/>
                </a:solidFill>
                <a:latin typeface="Arial"/>
              </a:rPr>
              <a:t>2026 AI-first · Seminar T09 · Security Testing (DAST / SAST)</a:t>
            </a:r>
          </a:p>
        </p:txBody>
      </p:sp>
      <p:sp>
        <p:nvSpPr>
          <p:cNvPr id="4" name="TextBox 3"/>
          <p:cNvSpPr txBox="1"/>
          <p:nvPr/>
        </p:nvSpPr>
        <p:spPr>
          <a:xfrm>
            <a:off x="365760" y="548640"/>
            <a:ext cx="11521440" cy="822960"/>
          </a:xfrm>
          <a:prstGeom prst="rect">
            <a:avLst/>
          </a:prstGeom>
          <a:noFill/>
        </p:spPr>
        <p:txBody>
          <a:bodyPr wrap="square" anchor="t" lIns="73152" rIns="73152" tIns="27432" bIns="27432">
            <a:spAutoFit/>
          </a:bodyPr>
          <a:lstStyle/>
          <a:p>
            <a:r>
              <a:rPr sz="3400" b="1" i="0">
                <a:solidFill>
                  <a:srgbClr val="1F4E79"/>
                </a:solidFill>
                <a:latin typeface="Arial"/>
              </a:rPr>
              <a:t>Why this matters</a:t>
            </a:r>
          </a:p>
        </p:txBody>
      </p:sp>
      <p:sp>
        <p:nvSpPr>
          <p:cNvPr id="5" name="TextBox 4"/>
          <p:cNvSpPr txBox="1"/>
          <p:nvPr/>
        </p:nvSpPr>
        <p:spPr>
          <a:xfrm>
            <a:off x="365760" y="1554480"/>
            <a:ext cx="11521440" cy="1828800"/>
          </a:xfrm>
          <a:prstGeom prst="rect">
            <a:avLst/>
          </a:prstGeom>
          <a:noFill/>
        </p:spPr>
        <p:txBody>
          <a:bodyPr wrap="square" anchor="t" lIns="73152" rIns="73152" tIns="27432" bIns="27432">
            <a:spAutoFit/>
          </a:bodyPr>
          <a:lstStyle/>
          <a:p>
            <a:r>
              <a:rPr sz="1800" b="0" i="0">
                <a:solidFill>
                  <a:srgbClr val="202020"/>
                </a:solidFill>
                <a:latin typeface="Arial"/>
              </a:rPr>
              <a:t>EShop deliberately ships with weak surfaces (SQL injection patterns, weak hashing, OTP echoed in test). You'll run ZAP and Burp against the running stack, run Semgrep across the source, and experiment with an AI-assisted triage tool that reduces false positives. The bar: not just to scan but to write reproducible exploits for at least two findings.</a:t>
            </a:r>
          </a:p>
        </p:txBody>
      </p:sp>
      <p:sp>
        <p:nvSpPr>
          <p:cNvPr id="6" name="Rectangle 5"/>
          <p:cNvSpPr/>
          <p:nvPr/>
        </p:nvSpPr>
        <p:spPr>
          <a:xfrm>
            <a:off x="365760" y="4114800"/>
            <a:ext cx="11521440" cy="4572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4114800"/>
            <a:ext cx="11521440" cy="457200"/>
          </a:xfrm>
          <a:prstGeom prst="rect">
            <a:avLst/>
          </a:prstGeom>
          <a:noFill/>
        </p:spPr>
        <p:txBody>
          <a:bodyPr wrap="square" anchor="ctr" lIns="73152" rIns="73152" tIns="27432" bIns="27432">
            <a:spAutoFit/>
          </a:bodyPr>
          <a:lstStyle/>
          <a:p>
            <a:pPr algn="ctr"/>
            <a:r>
              <a:rPr sz="1800" b="1" i="0">
                <a:solidFill>
                  <a:srgbClr val="FFFFFF"/>
                </a:solidFill>
                <a:latin typeface="Arial"/>
              </a:rPr>
              <a:t>Ground Rules for Today's Activity</a:t>
            </a:r>
          </a:p>
        </p:txBody>
      </p:sp>
      <p:sp>
        <p:nvSpPr>
          <p:cNvPr id="8" name="TextBox 7"/>
          <p:cNvSpPr txBox="1"/>
          <p:nvPr/>
        </p:nvSpPr>
        <p:spPr>
          <a:xfrm>
            <a:off x="548640" y="4663440"/>
            <a:ext cx="11338560" cy="1828800"/>
          </a:xfrm>
          <a:prstGeom prst="rect">
            <a:avLst/>
          </a:prstGeom>
          <a:noFill/>
        </p:spPr>
        <p:txBody>
          <a:bodyPr wrap="square" anchor="t" lIns="73152" rIns="73152" tIns="27432" bIns="27432">
            <a:spAutoFit/>
          </a:bodyPr>
          <a:lstStyle/>
          <a:p>
            <a:r>
              <a:rPr sz="1700" b="0" i="0">
                <a:solidFill>
                  <a:srgbClr val="202020"/>
                </a:solidFill>
                <a:latin typeface="Arial"/>
              </a:rPr>
              <a:t>•  Work in your team of 3–4. One designated note-taker per team.</a:t>
            </a:r>
          </a:p>
          <a:p>
            <a:r>
              <a:rPr sz="1700" b="0" i="0">
                <a:solidFill>
                  <a:srgbClr val="202020"/>
                </a:solidFill>
                <a:latin typeface="Arial"/>
              </a:rPr>
              <a:t>•  Read the worksheet first; ask the facilitator before guessing.</a:t>
            </a:r>
          </a:p>
          <a:p>
            <a:r>
              <a:rPr sz="1700" b="0" i="0">
                <a:solidFill>
                  <a:srgbClr val="202020"/>
                </a:solidFill>
                <a:latin typeface="Arial"/>
              </a:rPr>
              <a:t>•  AI tools are allowed — but every output must be cross-checked manually.</a:t>
            </a:r>
          </a:p>
          <a:p>
            <a:r>
              <a:rPr sz="1700" b="0" i="0">
                <a:solidFill>
                  <a:srgbClr val="202020"/>
                </a:solidFill>
                <a:latin typeface="Arial"/>
              </a:rPr>
              <a:t>•  At the end, each team submits ONE minute-paper for audience attendance credit.</a:t>
            </a:r>
          </a:p>
        </p:txBody>
      </p:sp>
      <p:sp>
        <p:nvSpPr>
          <p:cNvPr id="9" name="Rectangle 8"/>
          <p:cNvSpPr/>
          <p:nvPr/>
        </p:nvSpPr>
        <p:spPr>
          <a:xfrm>
            <a:off x="0" y="6565392"/>
            <a:ext cx="12191695" cy="29260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583680"/>
            <a:ext cx="11521440" cy="256032"/>
          </a:xfrm>
          <a:prstGeom prst="rect">
            <a:avLst/>
          </a:prstGeom>
          <a:noFill/>
        </p:spPr>
        <p:txBody>
          <a:bodyPr wrap="square" anchor="t" lIns="73152" rIns="73152" tIns="27432" bIns="27432">
            <a:spAutoFit/>
          </a:bodyPr>
          <a:lstStyle/>
          <a:p>
            <a:r>
              <a:rPr sz="1100" b="1" i="0">
                <a:solidFill>
                  <a:srgbClr val="FFFFFF"/>
                </a:solidFill>
                <a:latin typeface="Arial"/>
              </a:rPr>
              <a:t>2 · Why this matters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11521440" cy="320040"/>
          </a:xfrm>
          <a:prstGeom prst="rect">
            <a:avLst/>
          </a:prstGeom>
          <a:noFill/>
        </p:spPr>
        <p:txBody>
          <a:bodyPr wrap="square" anchor="t" lIns="73152" rIns="73152" tIns="27432" bIns="27432">
            <a:spAutoFit/>
          </a:bodyPr>
          <a:lstStyle/>
          <a:p>
            <a:r>
              <a:rPr sz="1200" b="1" i="0">
                <a:solidFill>
                  <a:srgbClr val="1F4E79"/>
                </a:solidFill>
                <a:latin typeface="Arial"/>
              </a:rPr>
              <a:t>2026 AI-first · Seminar T09 · Security Testing (DAST / SAST)</a:t>
            </a:r>
          </a:p>
        </p:txBody>
      </p:sp>
      <p:sp>
        <p:nvSpPr>
          <p:cNvPr id="4" name="TextBox 3"/>
          <p:cNvSpPr txBox="1"/>
          <p:nvPr/>
        </p:nvSpPr>
        <p:spPr>
          <a:xfrm>
            <a:off x="365760" y="548640"/>
            <a:ext cx="11521440" cy="822960"/>
          </a:xfrm>
          <a:prstGeom prst="rect">
            <a:avLst/>
          </a:prstGeom>
          <a:noFill/>
        </p:spPr>
        <p:txBody>
          <a:bodyPr wrap="square" anchor="t" lIns="73152" rIns="73152" tIns="27432" bIns="27432">
            <a:spAutoFit/>
          </a:bodyPr>
          <a:lstStyle/>
          <a:p>
            <a:r>
              <a:rPr sz="3400" b="1" i="0">
                <a:solidFill>
                  <a:srgbClr val="1F4E79"/>
                </a:solidFill>
                <a:latin typeface="Arial"/>
              </a:rPr>
              <a:t>What you (the audience) will leave with</a:t>
            </a:r>
          </a:p>
        </p:txBody>
      </p:sp>
      <p:sp>
        <p:nvSpPr>
          <p:cNvPr id="5" name="Rectangle 4"/>
          <p:cNvSpPr/>
          <p:nvPr/>
        </p:nvSpPr>
        <p:spPr>
          <a:xfrm>
            <a:off x="365760" y="1463040"/>
            <a:ext cx="5669280" cy="4572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463040"/>
            <a:ext cx="5669280" cy="457200"/>
          </a:xfrm>
          <a:prstGeom prst="rect">
            <a:avLst/>
          </a:prstGeom>
          <a:noFill/>
        </p:spPr>
        <p:txBody>
          <a:bodyPr wrap="square" anchor="ctr" lIns="73152" rIns="73152" tIns="27432" bIns="27432">
            <a:spAutoFit/>
          </a:bodyPr>
          <a:lstStyle/>
          <a:p>
            <a:pPr algn="ctr"/>
            <a:r>
              <a:rPr sz="1700" b="1" i="0">
                <a:solidFill>
                  <a:srgbClr val="FFFFFF"/>
                </a:solidFill>
                <a:latin typeface="Arial"/>
              </a:rPr>
              <a:t>Learning outcomes</a:t>
            </a:r>
          </a:p>
        </p:txBody>
      </p:sp>
      <p:sp>
        <p:nvSpPr>
          <p:cNvPr id="7" name="TextBox 6"/>
          <p:cNvSpPr txBox="1"/>
          <p:nvPr/>
        </p:nvSpPr>
        <p:spPr>
          <a:xfrm>
            <a:off x="457200" y="2011680"/>
            <a:ext cx="5486400" cy="4114800"/>
          </a:xfrm>
          <a:prstGeom prst="rect">
            <a:avLst/>
          </a:prstGeom>
          <a:noFill/>
        </p:spPr>
        <p:txBody>
          <a:bodyPr wrap="square" anchor="t" lIns="73152" rIns="73152" tIns="27432" bIns="27432">
            <a:spAutoFit/>
          </a:bodyPr>
          <a:lstStyle/>
          <a:p>
            <a:r>
              <a:rPr sz="1600" b="0" i="0">
                <a:solidFill>
                  <a:srgbClr val="202020"/>
                </a:solidFill>
                <a:latin typeface="Arial"/>
              </a:rPr>
              <a:t>•  Run an OWASP ZAP baseline scan against EShop and triage the report.</a:t>
            </a:r>
          </a:p>
          <a:p>
            <a:r>
              <a:rPr sz="1600" b="0" i="0">
                <a:solidFill>
                  <a:srgbClr val="202020"/>
                </a:solidFill>
                <a:latin typeface="Arial"/>
              </a:rPr>
              <a:t>•  Configure Semgrep with OWASP Top-10 ruleset on the EShop repo.</a:t>
            </a:r>
          </a:p>
          <a:p>
            <a:r>
              <a:rPr sz="1600" b="0" i="0">
                <a:solidFill>
                  <a:srgbClr val="202020"/>
                </a:solidFill>
                <a:latin typeface="Arial"/>
              </a:rPr>
              <a:t>•  Reproduce two real findings as test cases (SQLi or XSS or weak auth).</a:t>
            </a:r>
          </a:p>
        </p:txBody>
      </p:sp>
      <p:sp>
        <p:nvSpPr>
          <p:cNvPr id="8" name="Rectangle 7"/>
          <p:cNvSpPr/>
          <p:nvPr/>
        </p:nvSpPr>
        <p:spPr>
          <a:xfrm>
            <a:off x="6309360" y="1463040"/>
            <a:ext cx="5669280" cy="45720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463040"/>
            <a:ext cx="5669280" cy="457200"/>
          </a:xfrm>
          <a:prstGeom prst="rect">
            <a:avLst/>
          </a:prstGeom>
          <a:noFill/>
        </p:spPr>
        <p:txBody>
          <a:bodyPr wrap="square" anchor="ctr" lIns="73152" rIns="73152" tIns="27432" bIns="27432">
            <a:spAutoFit/>
          </a:bodyPr>
          <a:lstStyle/>
          <a:p>
            <a:pPr algn="ctr"/>
            <a:r>
              <a:rPr sz="1700" b="1" i="0">
                <a:solidFill>
                  <a:srgbClr val="FFFFFF"/>
                </a:solidFill>
                <a:latin typeface="Arial"/>
              </a:rPr>
              <a:t>Expected takeaways</a:t>
            </a:r>
          </a:p>
        </p:txBody>
      </p:sp>
      <p:sp>
        <p:nvSpPr>
          <p:cNvPr id="10" name="TextBox 9"/>
          <p:cNvSpPr txBox="1"/>
          <p:nvPr/>
        </p:nvSpPr>
        <p:spPr>
          <a:xfrm>
            <a:off x="6400800" y="2011680"/>
            <a:ext cx="5486400" cy="4114800"/>
          </a:xfrm>
          <a:prstGeom prst="rect">
            <a:avLst/>
          </a:prstGeom>
          <a:noFill/>
        </p:spPr>
        <p:txBody>
          <a:bodyPr wrap="square" anchor="t" lIns="73152" rIns="73152" tIns="27432" bIns="27432">
            <a:spAutoFit/>
          </a:bodyPr>
          <a:lstStyle/>
          <a:p>
            <a:r>
              <a:rPr sz="1600" b="0" i="0">
                <a:solidFill>
                  <a:srgbClr val="202020"/>
                </a:solidFill>
                <a:latin typeface="Arial"/>
              </a:rPr>
              <a:t>✓  False-positive rate is the single biggest cost in security testing.</a:t>
            </a:r>
          </a:p>
          <a:p>
            <a:r>
              <a:rPr sz="1600" b="0" i="0">
                <a:solidFill>
                  <a:srgbClr val="202020"/>
                </a:solidFill>
                <a:latin typeface="Arial"/>
              </a:rPr>
              <a:t>✓  AI triage adds value mostly above 100 findings — small scans don't need it.</a:t>
            </a:r>
          </a:p>
          <a:p>
            <a:r>
              <a:rPr sz="1600" b="0" i="0">
                <a:solidFill>
                  <a:srgbClr val="202020"/>
                </a:solidFill>
                <a:latin typeface="Arial"/>
              </a:rPr>
              <a:t>✓  Always pair a static finding with a reproducible PoC before raising.</a:t>
            </a:r>
          </a:p>
        </p:txBody>
      </p:sp>
      <p:sp>
        <p:nvSpPr>
          <p:cNvPr id="11" name="Rectangle 10"/>
          <p:cNvSpPr/>
          <p:nvPr/>
        </p:nvSpPr>
        <p:spPr>
          <a:xfrm>
            <a:off x="0" y="6565392"/>
            <a:ext cx="12191695" cy="29260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6583680"/>
            <a:ext cx="11521440" cy="256032"/>
          </a:xfrm>
          <a:prstGeom prst="rect">
            <a:avLst/>
          </a:prstGeom>
          <a:noFill/>
        </p:spPr>
        <p:txBody>
          <a:bodyPr wrap="square" anchor="t" lIns="73152" rIns="73152" tIns="27432" bIns="27432">
            <a:spAutoFit/>
          </a:bodyPr>
          <a:lstStyle/>
          <a:p>
            <a:r>
              <a:rPr sz="1100" b="1" i="0">
                <a:solidFill>
                  <a:srgbClr val="FFFFFF"/>
                </a:solidFill>
                <a:latin typeface="Arial"/>
              </a:rPr>
              <a:t>3 · Outcomes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11521440" cy="320040"/>
          </a:xfrm>
          <a:prstGeom prst="rect">
            <a:avLst/>
          </a:prstGeom>
          <a:noFill/>
        </p:spPr>
        <p:txBody>
          <a:bodyPr wrap="square" anchor="t" lIns="73152" rIns="73152" tIns="27432" bIns="27432">
            <a:spAutoFit/>
          </a:bodyPr>
          <a:lstStyle/>
          <a:p>
            <a:r>
              <a:rPr sz="1200" b="1" i="0">
                <a:solidFill>
                  <a:srgbClr val="1F4E79"/>
                </a:solidFill>
                <a:latin typeface="Arial"/>
              </a:rPr>
              <a:t>2026 AI-first · Seminar T09 · Security Testing (DAST / SAST)</a:t>
            </a:r>
          </a:p>
        </p:txBody>
      </p:sp>
      <p:sp>
        <p:nvSpPr>
          <p:cNvPr id="4" name="TextBox 3"/>
          <p:cNvSpPr txBox="1"/>
          <p:nvPr/>
        </p:nvSpPr>
        <p:spPr>
          <a:xfrm>
            <a:off x="365760" y="548640"/>
            <a:ext cx="11521440" cy="822960"/>
          </a:xfrm>
          <a:prstGeom prst="rect">
            <a:avLst/>
          </a:prstGeom>
          <a:noFill/>
        </p:spPr>
        <p:txBody>
          <a:bodyPr wrap="square" anchor="t" lIns="73152" rIns="73152" tIns="27432" bIns="27432">
            <a:spAutoFit/>
          </a:bodyPr>
          <a:lstStyle/>
          <a:p>
            <a:r>
              <a:rPr sz="3400" b="1" i="0">
                <a:solidFill>
                  <a:srgbClr val="1F4E79"/>
                </a:solidFill>
                <a:latin typeface="Arial"/>
              </a:rPr>
              <a:t>Tool snapshot — traditional vs AI-augmented</a:t>
            </a:r>
          </a:p>
        </p:txBody>
      </p:sp>
      <p:sp>
        <p:nvSpPr>
          <p:cNvPr id="5" name="Rectangle 4"/>
          <p:cNvSpPr/>
          <p:nvPr/>
        </p:nvSpPr>
        <p:spPr>
          <a:xfrm>
            <a:off x="365760" y="1463040"/>
            <a:ext cx="5669280" cy="4572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463040"/>
            <a:ext cx="5669280" cy="457200"/>
          </a:xfrm>
          <a:prstGeom prst="rect">
            <a:avLst/>
          </a:prstGeom>
          <a:noFill/>
        </p:spPr>
        <p:txBody>
          <a:bodyPr wrap="square" anchor="ctr" lIns="73152" rIns="73152" tIns="27432" bIns="27432">
            <a:spAutoFit/>
          </a:bodyPr>
          <a:lstStyle/>
          <a:p>
            <a:pPr algn="ctr"/>
            <a:r>
              <a:rPr sz="1800" b="1" i="0">
                <a:solidFill>
                  <a:srgbClr val="FFFFFF"/>
                </a:solidFill>
                <a:latin typeface="Arial"/>
              </a:rPr>
              <a:t>Traditional</a:t>
            </a:r>
          </a:p>
        </p:txBody>
      </p:sp>
      <p:sp>
        <p:nvSpPr>
          <p:cNvPr id="7" name="TextBox 6"/>
          <p:cNvSpPr txBox="1"/>
          <p:nvPr/>
        </p:nvSpPr>
        <p:spPr>
          <a:xfrm>
            <a:off x="457200" y="2011680"/>
            <a:ext cx="5486400" cy="4389120"/>
          </a:xfrm>
          <a:prstGeom prst="rect">
            <a:avLst/>
          </a:prstGeom>
          <a:noFill/>
        </p:spPr>
        <p:txBody>
          <a:bodyPr wrap="square" anchor="t" lIns="73152" rIns="73152" tIns="27432" bIns="27432">
            <a:spAutoFit/>
          </a:bodyPr>
          <a:lstStyle/>
          <a:p>
            <a:r>
              <a:rPr sz="1800" b="1" i="0">
                <a:solidFill>
                  <a:srgbClr val="1F4E79"/>
                </a:solidFill>
                <a:latin typeface="Arial"/>
              </a:rPr>
              <a:t>OWASP ZAP</a:t>
            </a:r>
          </a:p>
          <a:p>
            <a:r>
              <a:rPr sz="1400" b="0" i="0">
                <a:solidFill>
                  <a:srgbClr val="202020"/>
                </a:solidFill>
                <a:latin typeface="Arial"/>
              </a:rPr>
              <a:t>    Open-source DAST; spider + active scanner.</a:t>
            </a:r>
          </a:p>
          <a:p>
            <a:r>
              <a:rPr sz="1800" b="1" i="0">
                <a:solidFill>
                  <a:srgbClr val="1F4E79"/>
                </a:solidFill>
                <a:latin typeface="Arial"/>
              </a:rPr>
              <a:t>Burp Suite Community</a:t>
            </a:r>
          </a:p>
          <a:p>
            <a:r>
              <a:rPr sz="1400" b="0" i="0">
                <a:solidFill>
                  <a:srgbClr val="202020"/>
                </a:solidFill>
                <a:latin typeface="Arial"/>
              </a:rPr>
              <a:t>    DAST + manual proxy; industry-standard intercept.</a:t>
            </a:r>
          </a:p>
          <a:p>
            <a:r>
              <a:rPr sz="1800" b="1" i="0">
                <a:solidFill>
                  <a:srgbClr val="1F4E79"/>
                </a:solidFill>
                <a:latin typeface="Arial"/>
              </a:rPr>
              <a:t>Semgrep</a:t>
            </a:r>
          </a:p>
          <a:p>
            <a:r>
              <a:rPr sz="1400" b="0" i="0">
                <a:solidFill>
                  <a:srgbClr val="202020"/>
                </a:solidFill>
                <a:latin typeface="Arial"/>
              </a:rPr>
              <a:t>    Lightweight SAST with Python-friendly rules.</a:t>
            </a:r>
          </a:p>
          <a:p>
            <a:r>
              <a:rPr sz="1800" b="1" i="0">
                <a:solidFill>
                  <a:srgbClr val="1F4E79"/>
                </a:solidFill>
                <a:latin typeface="Arial"/>
              </a:rPr>
              <a:t>nuclei</a:t>
            </a:r>
          </a:p>
          <a:p>
            <a:r>
              <a:rPr sz="1400" b="0" i="0">
                <a:solidFill>
                  <a:srgbClr val="202020"/>
                </a:solidFill>
                <a:latin typeface="Arial"/>
              </a:rPr>
              <a:t>    Template-based vulnerability scanner — community templates.</a:t>
            </a:r>
          </a:p>
        </p:txBody>
      </p:sp>
      <p:sp>
        <p:nvSpPr>
          <p:cNvPr id="8" name="Rectangle 7"/>
          <p:cNvSpPr/>
          <p:nvPr/>
        </p:nvSpPr>
        <p:spPr>
          <a:xfrm>
            <a:off x="6309360" y="1463040"/>
            <a:ext cx="5669280" cy="45720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463040"/>
            <a:ext cx="5669280" cy="457200"/>
          </a:xfrm>
          <a:prstGeom prst="rect">
            <a:avLst/>
          </a:prstGeom>
          <a:noFill/>
        </p:spPr>
        <p:txBody>
          <a:bodyPr wrap="square" anchor="ctr" lIns="73152" rIns="73152" tIns="27432" bIns="27432">
            <a:spAutoFit/>
          </a:bodyPr>
          <a:lstStyle/>
          <a:p>
            <a:pPr algn="ctr"/>
            <a:r>
              <a:rPr sz="1800" b="1" i="0">
                <a:solidFill>
                  <a:srgbClr val="FFFFFF"/>
                </a:solidFill>
                <a:latin typeface="Arial"/>
              </a:rPr>
              <a:t>AI-augmented</a:t>
            </a:r>
          </a:p>
        </p:txBody>
      </p:sp>
      <p:sp>
        <p:nvSpPr>
          <p:cNvPr id="10" name="TextBox 9"/>
          <p:cNvSpPr txBox="1"/>
          <p:nvPr/>
        </p:nvSpPr>
        <p:spPr>
          <a:xfrm>
            <a:off x="6400800" y="2011680"/>
            <a:ext cx="5486400" cy="4389120"/>
          </a:xfrm>
          <a:prstGeom prst="rect">
            <a:avLst/>
          </a:prstGeom>
          <a:noFill/>
        </p:spPr>
        <p:txBody>
          <a:bodyPr wrap="square" anchor="t" lIns="73152" rIns="73152" tIns="27432" bIns="27432">
            <a:spAutoFit/>
          </a:bodyPr>
          <a:lstStyle/>
          <a:p>
            <a:r>
              <a:rPr sz="1800" b="1" i="0">
                <a:solidFill>
                  <a:srgbClr val="C00000"/>
                </a:solidFill>
                <a:latin typeface="Arial"/>
              </a:rPr>
              <a:t>Semgrep Pro AI</a:t>
            </a:r>
          </a:p>
          <a:p>
            <a:r>
              <a:rPr sz="1400" b="0" i="0">
                <a:solidFill>
                  <a:srgbClr val="202020"/>
                </a:solidFill>
                <a:latin typeface="Arial"/>
              </a:rPr>
              <a:t>    Auto-triage of findings + secondary scan.</a:t>
            </a:r>
          </a:p>
          <a:p>
            <a:r>
              <a:rPr sz="1800" b="1" i="0">
                <a:solidFill>
                  <a:srgbClr val="C00000"/>
                </a:solidFill>
                <a:latin typeface="Arial"/>
              </a:rPr>
              <a:t>Snyk DeepCode AI</a:t>
            </a:r>
          </a:p>
          <a:p>
            <a:r>
              <a:rPr sz="1400" b="0" i="0">
                <a:solidFill>
                  <a:srgbClr val="202020"/>
                </a:solidFill>
                <a:latin typeface="Arial"/>
              </a:rPr>
              <a:t>    ML-driven SAST; auto-fix suggestions.</a:t>
            </a:r>
          </a:p>
          <a:p>
            <a:r>
              <a:rPr sz="1800" b="1" i="0">
                <a:solidFill>
                  <a:srgbClr val="C00000"/>
                </a:solidFill>
                <a:latin typeface="Arial"/>
              </a:rPr>
              <a:t>ChatGPT / Claude for exploit drafting</a:t>
            </a:r>
          </a:p>
          <a:p>
            <a:r>
              <a:rPr sz="1400" b="0" i="0">
                <a:solidFill>
                  <a:srgbClr val="202020"/>
                </a:solidFill>
                <a:latin typeface="Arial"/>
              </a:rPr>
              <a:t>    Provide vulnerability description; ask for PoC. Always confirm against real EShop response.</a:t>
            </a:r>
          </a:p>
        </p:txBody>
      </p:sp>
      <p:sp>
        <p:nvSpPr>
          <p:cNvPr id="11" name="Rectangle 10"/>
          <p:cNvSpPr/>
          <p:nvPr/>
        </p:nvSpPr>
        <p:spPr>
          <a:xfrm>
            <a:off x="0" y="6565392"/>
            <a:ext cx="12191695" cy="29260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6583680"/>
            <a:ext cx="11521440" cy="256032"/>
          </a:xfrm>
          <a:prstGeom prst="rect">
            <a:avLst/>
          </a:prstGeom>
          <a:noFill/>
        </p:spPr>
        <p:txBody>
          <a:bodyPr wrap="square" anchor="t" lIns="73152" rIns="73152" tIns="27432" bIns="27432">
            <a:spAutoFit/>
          </a:bodyPr>
          <a:lstStyle/>
          <a:p>
            <a:r>
              <a:rPr sz="1100" b="1" i="0">
                <a:solidFill>
                  <a:srgbClr val="FFFFFF"/>
                </a:solidFill>
                <a:latin typeface="Arial"/>
              </a:rPr>
              <a:t>4 · Tool snapshot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11521440" cy="320040"/>
          </a:xfrm>
          <a:prstGeom prst="rect">
            <a:avLst/>
          </a:prstGeom>
          <a:noFill/>
        </p:spPr>
        <p:txBody>
          <a:bodyPr wrap="square" anchor="t" lIns="73152" rIns="73152" tIns="27432" bIns="27432">
            <a:spAutoFit/>
          </a:bodyPr>
          <a:lstStyle/>
          <a:p>
            <a:r>
              <a:rPr sz="1200" b="1" i="0">
                <a:solidFill>
                  <a:srgbClr val="1F4E79"/>
                </a:solidFill>
                <a:latin typeface="Arial"/>
              </a:rPr>
              <a:t>2026 AI-first · Seminar T09 · Security Testing (DAST / SAST)</a:t>
            </a:r>
          </a:p>
        </p:txBody>
      </p:sp>
      <p:sp>
        <p:nvSpPr>
          <p:cNvPr id="4" name="TextBox 3"/>
          <p:cNvSpPr txBox="1"/>
          <p:nvPr/>
        </p:nvSpPr>
        <p:spPr>
          <a:xfrm>
            <a:off x="365760" y="548640"/>
            <a:ext cx="11521440" cy="822960"/>
          </a:xfrm>
          <a:prstGeom prst="rect">
            <a:avLst/>
          </a:prstGeom>
          <a:noFill/>
        </p:spPr>
        <p:txBody>
          <a:bodyPr wrap="square" anchor="t" lIns="73152" rIns="73152" tIns="27432" bIns="27432">
            <a:spAutoFit/>
          </a:bodyPr>
          <a:lstStyle/>
          <a:p>
            <a:r>
              <a:rPr sz="3400" b="1" i="0">
                <a:solidFill>
                  <a:srgbClr val="C00000"/>
                </a:solidFill>
                <a:latin typeface="Arial"/>
              </a:rPr>
              <a:t>Activity: False-Positive Triage Sprint</a:t>
            </a:r>
          </a:p>
        </p:txBody>
      </p:sp>
      <p:sp>
        <p:nvSpPr>
          <p:cNvPr id="5" name="TextBox 4"/>
          <p:cNvSpPr txBox="1"/>
          <p:nvPr/>
        </p:nvSpPr>
        <p:spPr>
          <a:xfrm>
            <a:off x="365760" y="1554480"/>
            <a:ext cx="11521440" cy="1645920"/>
          </a:xfrm>
          <a:prstGeom prst="rect">
            <a:avLst/>
          </a:prstGeom>
          <a:noFill/>
        </p:spPr>
        <p:txBody>
          <a:bodyPr wrap="square" anchor="t" lIns="73152" rIns="73152" tIns="27432" bIns="27432">
            <a:spAutoFit/>
          </a:bodyPr>
          <a:lstStyle/>
          <a:p>
            <a:r>
              <a:rPr sz="2200" b="0" i="1">
                <a:solidFill>
                  <a:srgbClr val="202020"/>
                </a:solidFill>
                <a:latin typeface="Arial"/>
              </a:rPr>
              <a:t>Audience teams classify 12 mixed SAST findings as 'real', 'false positive', or 'need more info'.</a:t>
            </a:r>
          </a:p>
        </p:txBody>
      </p:sp>
      <p:sp>
        <p:nvSpPr>
          <p:cNvPr id="6" name="Rectangle 5"/>
          <p:cNvSpPr/>
          <p:nvPr/>
        </p:nvSpPr>
        <p:spPr>
          <a:xfrm>
            <a:off x="365760" y="3657600"/>
            <a:ext cx="11521440" cy="457200"/>
          </a:xfrm>
          <a:prstGeom prst="rect">
            <a:avLst/>
          </a:prstGeom>
          <a:solidFill>
            <a:srgbClr val="375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3657600"/>
            <a:ext cx="11521440" cy="457200"/>
          </a:xfrm>
          <a:prstGeom prst="rect">
            <a:avLst/>
          </a:prstGeom>
          <a:noFill/>
        </p:spPr>
        <p:txBody>
          <a:bodyPr wrap="square" anchor="ctr" lIns="73152" rIns="73152" tIns="27432" bIns="27432">
            <a:spAutoFit/>
          </a:bodyPr>
          <a:lstStyle/>
          <a:p>
            <a:pPr algn="ctr"/>
            <a:r>
              <a:rPr sz="1800" b="1" i="0">
                <a:solidFill>
                  <a:srgbClr val="FFFFFF"/>
                </a:solidFill>
                <a:latin typeface="Arial"/>
              </a:rPr>
              <a:t>What you will need on your laptop</a:t>
            </a:r>
          </a:p>
        </p:txBody>
      </p:sp>
      <p:sp>
        <p:nvSpPr>
          <p:cNvPr id="8" name="TextBox 7"/>
          <p:cNvSpPr txBox="1"/>
          <p:nvPr/>
        </p:nvSpPr>
        <p:spPr>
          <a:xfrm>
            <a:off x="548640" y="4297680"/>
            <a:ext cx="11338560" cy="2286000"/>
          </a:xfrm>
          <a:prstGeom prst="rect">
            <a:avLst/>
          </a:prstGeom>
          <a:noFill/>
        </p:spPr>
        <p:txBody>
          <a:bodyPr wrap="square" anchor="t" lIns="73152" rIns="73152" tIns="27432" bIns="27432">
            <a:spAutoFit/>
          </a:bodyPr>
          <a:lstStyle/>
          <a:p>
            <a:r>
              <a:rPr sz="1700" b="0" i="0">
                <a:solidFill>
                  <a:srgbClr val="202020"/>
                </a:solidFill>
                <a:latin typeface="Arial"/>
              </a:rPr>
              <a:t>•  EShop running locally (frontend + backend) OR ability to connect to the lecturer's stage env.</a:t>
            </a:r>
          </a:p>
          <a:p>
            <a:r>
              <a:rPr sz="1700" b="0" i="0">
                <a:solidFill>
                  <a:srgbClr val="202020"/>
                </a:solidFill>
                <a:latin typeface="Arial"/>
              </a:rPr>
              <a:t>•  Your favourite text editor + a terminal.</a:t>
            </a:r>
          </a:p>
          <a:p>
            <a:r>
              <a:rPr sz="1700" b="0" i="0">
                <a:solidFill>
                  <a:srgbClr val="202020"/>
                </a:solidFill>
                <a:latin typeface="Arial"/>
              </a:rPr>
              <a:t>•  An AI tool of your choice (ChatGPT/Claude/Gemini/Copilot/Cursor — free tier OK).</a:t>
            </a:r>
          </a:p>
          <a:p>
            <a:r>
              <a:rPr sz="1700" b="0" i="0">
                <a:solidFill>
                  <a:srgbClr val="202020"/>
                </a:solidFill>
                <a:latin typeface="Arial"/>
              </a:rPr>
              <a:t>•  The Activity_Worksheet.md provided 3 days before this seminar.</a:t>
            </a:r>
          </a:p>
        </p:txBody>
      </p:sp>
      <p:sp>
        <p:nvSpPr>
          <p:cNvPr id="9" name="Rectangle 8"/>
          <p:cNvSpPr/>
          <p:nvPr/>
        </p:nvSpPr>
        <p:spPr>
          <a:xfrm>
            <a:off x="0" y="6565392"/>
            <a:ext cx="12191695" cy="29260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583680"/>
            <a:ext cx="11521440" cy="256032"/>
          </a:xfrm>
          <a:prstGeom prst="rect">
            <a:avLst/>
          </a:prstGeom>
          <a:noFill/>
        </p:spPr>
        <p:txBody>
          <a:bodyPr wrap="square" anchor="t" lIns="73152" rIns="73152" tIns="27432" bIns="27432">
            <a:spAutoFit/>
          </a:bodyPr>
          <a:lstStyle/>
          <a:p>
            <a:r>
              <a:rPr sz="1100" b="1" i="0">
                <a:solidFill>
                  <a:srgbClr val="FFFFFF"/>
                </a:solidFill>
                <a:latin typeface="Arial"/>
              </a:rPr>
              <a:t>5 · Activity brief</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11521440" cy="320040"/>
          </a:xfrm>
          <a:prstGeom prst="rect">
            <a:avLst/>
          </a:prstGeom>
          <a:noFill/>
        </p:spPr>
        <p:txBody>
          <a:bodyPr wrap="square" anchor="t" lIns="73152" rIns="73152" tIns="27432" bIns="27432">
            <a:spAutoFit/>
          </a:bodyPr>
          <a:lstStyle/>
          <a:p>
            <a:r>
              <a:rPr sz="1200" b="1" i="0">
                <a:solidFill>
                  <a:srgbClr val="1F4E79"/>
                </a:solidFill>
                <a:latin typeface="Arial"/>
              </a:rPr>
              <a:t>2026 AI-first · Seminar T09 · Security Testing (DAST / SAST)</a:t>
            </a:r>
          </a:p>
        </p:txBody>
      </p:sp>
      <p:sp>
        <p:nvSpPr>
          <p:cNvPr id="4" name="TextBox 3"/>
          <p:cNvSpPr txBox="1"/>
          <p:nvPr/>
        </p:nvSpPr>
        <p:spPr>
          <a:xfrm>
            <a:off x="365760" y="548640"/>
            <a:ext cx="11521440" cy="822960"/>
          </a:xfrm>
          <a:prstGeom prst="rect">
            <a:avLst/>
          </a:prstGeom>
          <a:noFill/>
        </p:spPr>
        <p:txBody>
          <a:bodyPr wrap="square" anchor="t" lIns="73152" rIns="73152" tIns="27432" bIns="27432">
            <a:spAutoFit/>
          </a:bodyPr>
          <a:lstStyle/>
          <a:p>
            <a:r>
              <a:rPr sz="3400" b="1" i="0">
                <a:solidFill>
                  <a:srgbClr val="C00000"/>
                </a:solidFill>
                <a:latin typeface="Arial"/>
              </a:rPr>
              <a:t>Activity steps — keep tight to the clock</a:t>
            </a:r>
          </a:p>
        </p:txBody>
      </p:sp>
      <p:sp>
        <p:nvSpPr>
          <p:cNvPr id="5" name="Rectangle 4"/>
          <p:cNvSpPr/>
          <p:nvPr/>
        </p:nvSpPr>
        <p:spPr>
          <a:xfrm>
            <a:off x="457200" y="1463040"/>
            <a:ext cx="2011680" cy="4572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2011680" cy="457200"/>
          </a:xfrm>
          <a:prstGeom prst="rect">
            <a:avLst/>
          </a:prstGeom>
          <a:noFill/>
        </p:spPr>
        <p:txBody>
          <a:bodyPr wrap="square" anchor="ctr" lIns="73152" rIns="73152" tIns="27432" bIns="27432">
            <a:spAutoFit/>
          </a:bodyPr>
          <a:lstStyle/>
          <a:p>
            <a:pPr algn="ctr"/>
            <a:r>
              <a:rPr sz="1600" b="1" i="0">
                <a:solidFill>
                  <a:srgbClr val="FFFFFF"/>
                </a:solidFill>
                <a:latin typeface="Arial"/>
              </a:rPr>
              <a:t>Time</a:t>
            </a:r>
          </a:p>
        </p:txBody>
      </p:sp>
      <p:sp>
        <p:nvSpPr>
          <p:cNvPr id="7" name="Rectangle 6"/>
          <p:cNvSpPr/>
          <p:nvPr/>
        </p:nvSpPr>
        <p:spPr>
          <a:xfrm>
            <a:off x="2560320" y="1463040"/>
            <a:ext cx="9144000" cy="4572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560320" y="1463040"/>
            <a:ext cx="9144000" cy="457200"/>
          </a:xfrm>
          <a:prstGeom prst="rect">
            <a:avLst/>
          </a:prstGeom>
          <a:noFill/>
        </p:spPr>
        <p:txBody>
          <a:bodyPr wrap="square" anchor="ctr" lIns="73152" rIns="73152" tIns="27432" bIns="27432">
            <a:spAutoFit/>
          </a:bodyPr>
          <a:lstStyle/>
          <a:p>
            <a:r>
              <a:rPr sz="1600" b="1" i="0">
                <a:solidFill>
                  <a:srgbClr val="FFFFFF"/>
                </a:solidFill>
                <a:latin typeface="Arial"/>
              </a:rPr>
              <a:t>Step</a:t>
            </a:r>
          </a:p>
        </p:txBody>
      </p:sp>
      <p:sp>
        <p:nvSpPr>
          <p:cNvPr id="9" name="Rectangle 8"/>
          <p:cNvSpPr/>
          <p:nvPr/>
        </p:nvSpPr>
        <p:spPr>
          <a:xfrm>
            <a:off x="457200" y="1965960"/>
            <a:ext cx="11247120" cy="640080"/>
          </a:xfrm>
          <a:prstGeom prst="rect">
            <a:avLst/>
          </a:prstGeom>
          <a:solidFill>
            <a:srgbClr val="D9E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965960"/>
            <a:ext cx="2011680" cy="640080"/>
          </a:xfrm>
          <a:prstGeom prst="rect">
            <a:avLst/>
          </a:prstGeom>
          <a:noFill/>
        </p:spPr>
        <p:txBody>
          <a:bodyPr wrap="square" anchor="ctr" lIns="73152" rIns="73152" tIns="27432" bIns="27432">
            <a:spAutoFit/>
          </a:bodyPr>
          <a:lstStyle/>
          <a:p>
            <a:pPr algn="ctr"/>
            <a:r>
              <a:rPr sz="1600" b="1" i="0">
                <a:solidFill>
                  <a:srgbClr val="1F4E79"/>
                </a:solidFill>
                <a:latin typeface="Arial"/>
              </a:rPr>
              <a:t>0:00–0:03</a:t>
            </a:r>
          </a:p>
        </p:txBody>
      </p:sp>
      <p:sp>
        <p:nvSpPr>
          <p:cNvPr id="11" name="TextBox 10"/>
          <p:cNvSpPr txBox="1"/>
          <p:nvPr/>
        </p:nvSpPr>
        <p:spPr>
          <a:xfrm>
            <a:off x="2560320" y="1965960"/>
            <a:ext cx="9144000" cy="640080"/>
          </a:xfrm>
          <a:prstGeom prst="rect">
            <a:avLst/>
          </a:prstGeom>
          <a:noFill/>
        </p:spPr>
        <p:txBody>
          <a:bodyPr wrap="square" anchor="ctr" lIns="73152" rIns="73152" tIns="27432" bIns="27432">
            <a:spAutoFit/>
          </a:bodyPr>
          <a:lstStyle/>
          <a:p>
            <a:r>
              <a:rPr sz="1500" b="0" i="0">
                <a:solidFill>
                  <a:srgbClr val="202020"/>
                </a:solidFill>
                <a:latin typeface="Arial"/>
              </a:rPr>
              <a:t>Facilitator distributes finding cards (Semgrep output + 2 lines of code).</a:t>
            </a:r>
          </a:p>
        </p:txBody>
      </p:sp>
      <p:sp>
        <p:nvSpPr>
          <p:cNvPr id="12" name="Rectangle 11"/>
          <p:cNvSpPr/>
          <p:nvPr/>
        </p:nvSpPr>
        <p:spPr>
          <a:xfrm>
            <a:off x="457200" y="2660904"/>
            <a:ext cx="11247120" cy="6400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660904"/>
            <a:ext cx="2011680" cy="640080"/>
          </a:xfrm>
          <a:prstGeom prst="rect">
            <a:avLst/>
          </a:prstGeom>
          <a:noFill/>
        </p:spPr>
        <p:txBody>
          <a:bodyPr wrap="square" anchor="ctr" lIns="73152" rIns="73152" tIns="27432" bIns="27432">
            <a:spAutoFit/>
          </a:bodyPr>
          <a:lstStyle/>
          <a:p>
            <a:pPr algn="ctr"/>
            <a:r>
              <a:rPr sz="1600" b="1" i="0">
                <a:solidFill>
                  <a:srgbClr val="1F4E79"/>
                </a:solidFill>
                <a:latin typeface="Arial"/>
              </a:rPr>
              <a:t>0:03–0:13</a:t>
            </a:r>
          </a:p>
        </p:txBody>
      </p:sp>
      <p:sp>
        <p:nvSpPr>
          <p:cNvPr id="14" name="TextBox 13"/>
          <p:cNvSpPr txBox="1"/>
          <p:nvPr/>
        </p:nvSpPr>
        <p:spPr>
          <a:xfrm>
            <a:off x="2560320" y="2660904"/>
            <a:ext cx="9144000" cy="640080"/>
          </a:xfrm>
          <a:prstGeom prst="rect">
            <a:avLst/>
          </a:prstGeom>
          <a:noFill/>
        </p:spPr>
        <p:txBody>
          <a:bodyPr wrap="square" anchor="ctr" lIns="73152" rIns="73152" tIns="27432" bIns="27432">
            <a:spAutoFit/>
          </a:bodyPr>
          <a:lstStyle/>
          <a:p>
            <a:r>
              <a:rPr sz="1500" b="0" i="0">
                <a:solidFill>
                  <a:srgbClr val="202020"/>
                </a:solidFill>
                <a:latin typeface="Arial"/>
              </a:rPr>
              <a:t>Teams classify; provide a 1-line justification each.</a:t>
            </a:r>
          </a:p>
        </p:txBody>
      </p:sp>
      <p:sp>
        <p:nvSpPr>
          <p:cNvPr id="15" name="Rectangle 14"/>
          <p:cNvSpPr/>
          <p:nvPr/>
        </p:nvSpPr>
        <p:spPr>
          <a:xfrm>
            <a:off x="457200" y="3355848"/>
            <a:ext cx="11247120" cy="640080"/>
          </a:xfrm>
          <a:prstGeom prst="rect">
            <a:avLst/>
          </a:prstGeom>
          <a:solidFill>
            <a:srgbClr val="D9E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355848"/>
            <a:ext cx="2011680" cy="640080"/>
          </a:xfrm>
          <a:prstGeom prst="rect">
            <a:avLst/>
          </a:prstGeom>
          <a:noFill/>
        </p:spPr>
        <p:txBody>
          <a:bodyPr wrap="square" anchor="ctr" lIns="73152" rIns="73152" tIns="27432" bIns="27432">
            <a:spAutoFit/>
          </a:bodyPr>
          <a:lstStyle/>
          <a:p>
            <a:pPr algn="ctr"/>
            <a:r>
              <a:rPr sz="1600" b="1" i="0">
                <a:solidFill>
                  <a:srgbClr val="1F4E79"/>
                </a:solidFill>
                <a:latin typeface="Arial"/>
              </a:rPr>
              <a:t>0:13–0:18</a:t>
            </a:r>
          </a:p>
        </p:txBody>
      </p:sp>
      <p:sp>
        <p:nvSpPr>
          <p:cNvPr id="17" name="TextBox 16"/>
          <p:cNvSpPr txBox="1"/>
          <p:nvPr/>
        </p:nvSpPr>
        <p:spPr>
          <a:xfrm>
            <a:off x="2560320" y="3355848"/>
            <a:ext cx="9144000" cy="640080"/>
          </a:xfrm>
          <a:prstGeom prst="rect">
            <a:avLst/>
          </a:prstGeom>
          <a:noFill/>
        </p:spPr>
        <p:txBody>
          <a:bodyPr wrap="square" anchor="ctr" lIns="73152" rIns="73152" tIns="27432" bIns="27432">
            <a:spAutoFit/>
          </a:bodyPr>
          <a:lstStyle/>
          <a:p>
            <a:r>
              <a:rPr sz="1500" b="0" i="0">
                <a:solidFill>
                  <a:srgbClr val="202020"/>
                </a:solidFill>
                <a:latin typeface="Arial"/>
              </a:rPr>
              <a:t>Reveal answer key with reproducer.</a:t>
            </a:r>
          </a:p>
        </p:txBody>
      </p:sp>
      <p:sp>
        <p:nvSpPr>
          <p:cNvPr id="18" name="Rectangle 17"/>
          <p:cNvSpPr/>
          <p:nvPr/>
        </p:nvSpPr>
        <p:spPr>
          <a:xfrm>
            <a:off x="457200" y="4050792"/>
            <a:ext cx="11247120" cy="6400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4050792"/>
            <a:ext cx="2011680" cy="640080"/>
          </a:xfrm>
          <a:prstGeom prst="rect">
            <a:avLst/>
          </a:prstGeom>
          <a:noFill/>
        </p:spPr>
        <p:txBody>
          <a:bodyPr wrap="square" anchor="ctr" lIns="73152" rIns="73152" tIns="27432" bIns="27432">
            <a:spAutoFit/>
          </a:bodyPr>
          <a:lstStyle/>
          <a:p>
            <a:pPr algn="ctr"/>
            <a:r>
              <a:rPr sz="1600" b="1" i="0">
                <a:solidFill>
                  <a:srgbClr val="1F4E79"/>
                </a:solidFill>
                <a:latin typeface="Arial"/>
              </a:rPr>
              <a:t>0:18–0:23</a:t>
            </a:r>
          </a:p>
        </p:txBody>
      </p:sp>
      <p:sp>
        <p:nvSpPr>
          <p:cNvPr id="20" name="TextBox 19"/>
          <p:cNvSpPr txBox="1"/>
          <p:nvPr/>
        </p:nvSpPr>
        <p:spPr>
          <a:xfrm>
            <a:off x="2560320" y="4050792"/>
            <a:ext cx="9144000" cy="640080"/>
          </a:xfrm>
          <a:prstGeom prst="rect">
            <a:avLst/>
          </a:prstGeom>
          <a:noFill/>
        </p:spPr>
        <p:txBody>
          <a:bodyPr wrap="square" anchor="ctr" lIns="73152" rIns="73152" tIns="27432" bIns="27432">
            <a:spAutoFit/>
          </a:bodyPr>
          <a:lstStyle/>
          <a:p>
            <a:r>
              <a:rPr sz="1500" b="0" i="0">
                <a:solidFill>
                  <a:srgbClr val="202020"/>
                </a:solidFill>
                <a:latin typeface="Arial"/>
              </a:rPr>
              <a:t>Discuss which AI tool would have classified each fastest.</a:t>
            </a:r>
          </a:p>
        </p:txBody>
      </p:sp>
      <p:sp>
        <p:nvSpPr>
          <p:cNvPr id="21" name="Rectangle 20"/>
          <p:cNvSpPr/>
          <p:nvPr/>
        </p:nvSpPr>
        <p:spPr>
          <a:xfrm>
            <a:off x="457200" y="4745736"/>
            <a:ext cx="11247120" cy="640080"/>
          </a:xfrm>
          <a:prstGeom prst="rect">
            <a:avLst/>
          </a:prstGeom>
          <a:solidFill>
            <a:srgbClr val="D9E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4745736"/>
            <a:ext cx="2011680" cy="640080"/>
          </a:xfrm>
          <a:prstGeom prst="rect">
            <a:avLst/>
          </a:prstGeom>
          <a:noFill/>
        </p:spPr>
        <p:txBody>
          <a:bodyPr wrap="square" anchor="ctr" lIns="73152" rIns="73152" tIns="27432" bIns="27432">
            <a:spAutoFit/>
          </a:bodyPr>
          <a:lstStyle/>
          <a:p>
            <a:pPr algn="ctr"/>
            <a:r>
              <a:rPr sz="1600" b="1" i="0">
                <a:solidFill>
                  <a:srgbClr val="1F4E79"/>
                </a:solidFill>
                <a:latin typeface="Arial"/>
              </a:rPr>
              <a:t>0:23–0:25</a:t>
            </a:r>
          </a:p>
        </p:txBody>
      </p:sp>
      <p:sp>
        <p:nvSpPr>
          <p:cNvPr id="23" name="TextBox 22"/>
          <p:cNvSpPr txBox="1"/>
          <p:nvPr/>
        </p:nvSpPr>
        <p:spPr>
          <a:xfrm>
            <a:off x="2560320" y="4745736"/>
            <a:ext cx="9144000" cy="640080"/>
          </a:xfrm>
          <a:prstGeom prst="rect">
            <a:avLst/>
          </a:prstGeom>
          <a:noFill/>
        </p:spPr>
        <p:txBody>
          <a:bodyPr wrap="square" anchor="ctr" lIns="73152" rIns="73152" tIns="27432" bIns="27432">
            <a:spAutoFit/>
          </a:bodyPr>
          <a:lstStyle/>
          <a:p>
            <a:r>
              <a:rPr sz="1500" b="0" i="0">
                <a:solidFill>
                  <a:srgbClr val="202020"/>
                </a:solidFill>
                <a:latin typeface="Arial"/>
              </a:rPr>
              <a:t>Each team writes one heuristic for spotting false positives.</a:t>
            </a:r>
          </a:p>
        </p:txBody>
      </p:sp>
      <p:sp>
        <p:nvSpPr>
          <p:cNvPr id="24" name="Rectangle 23"/>
          <p:cNvSpPr/>
          <p:nvPr/>
        </p:nvSpPr>
        <p:spPr>
          <a:xfrm>
            <a:off x="0" y="6565392"/>
            <a:ext cx="12191695" cy="29260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6583680"/>
            <a:ext cx="11521440" cy="256032"/>
          </a:xfrm>
          <a:prstGeom prst="rect">
            <a:avLst/>
          </a:prstGeom>
          <a:noFill/>
        </p:spPr>
        <p:txBody>
          <a:bodyPr wrap="square" anchor="t" lIns="73152" rIns="73152" tIns="27432" bIns="27432">
            <a:spAutoFit/>
          </a:bodyPr>
          <a:lstStyle/>
          <a:p>
            <a:r>
              <a:rPr sz="1100" b="1" i="0">
                <a:solidFill>
                  <a:srgbClr val="FFFFFF"/>
                </a:solidFill>
                <a:latin typeface="Arial"/>
              </a:rPr>
              <a:t>6 · Activity steps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11521440" cy="320040"/>
          </a:xfrm>
          <a:prstGeom prst="rect">
            <a:avLst/>
          </a:prstGeom>
          <a:noFill/>
        </p:spPr>
        <p:txBody>
          <a:bodyPr wrap="square" anchor="t" lIns="73152" rIns="73152" tIns="27432" bIns="27432">
            <a:spAutoFit/>
          </a:bodyPr>
          <a:lstStyle/>
          <a:p>
            <a:r>
              <a:rPr sz="1200" b="1" i="0">
                <a:solidFill>
                  <a:srgbClr val="1F4E79"/>
                </a:solidFill>
                <a:latin typeface="Arial"/>
              </a:rPr>
              <a:t>2026 AI-first · Seminar T09 · Security Testing (DAST / SAST)</a:t>
            </a:r>
          </a:p>
        </p:txBody>
      </p:sp>
      <p:sp>
        <p:nvSpPr>
          <p:cNvPr id="4" name="TextBox 3"/>
          <p:cNvSpPr txBox="1"/>
          <p:nvPr/>
        </p:nvSpPr>
        <p:spPr>
          <a:xfrm>
            <a:off x="365760" y="548640"/>
            <a:ext cx="11521440" cy="822960"/>
          </a:xfrm>
          <a:prstGeom prst="rect">
            <a:avLst/>
          </a:prstGeom>
          <a:noFill/>
        </p:spPr>
        <p:txBody>
          <a:bodyPr wrap="square" anchor="t" lIns="73152" rIns="73152" tIns="27432" bIns="27432">
            <a:spAutoFit/>
          </a:bodyPr>
          <a:lstStyle/>
          <a:p>
            <a:r>
              <a:rPr sz="3400" b="1" i="0">
                <a:solidFill>
                  <a:srgbClr val="1F4E79"/>
                </a:solidFill>
                <a:latin typeface="Arial"/>
              </a:rPr>
              <a:t>Debrief prompts — discuss in 5 minutes</a:t>
            </a:r>
          </a:p>
        </p:txBody>
      </p:sp>
      <p:sp>
        <p:nvSpPr>
          <p:cNvPr id="5" name="Rectangle 4"/>
          <p:cNvSpPr/>
          <p:nvPr/>
        </p:nvSpPr>
        <p:spPr>
          <a:xfrm>
            <a:off x="457200" y="1554480"/>
            <a:ext cx="822960" cy="8229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554480"/>
            <a:ext cx="822960" cy="822960"/>
          </a:xfrm>
          <a:prstGeom prst="rect">
            <a:avLst/>
          </a:prstGeom>
          <a:noFill/>
        </p:spPr>
        <p:txBody>
          <a:bodyPr wrap="square" anchor="ctr" lIns="73152" rIns="73152" tIns="27432" bIns="27432">
            <a:spAutoFit/>
          </a:bodyPr>
          <a:lstStyle/>
          <a:p>
            <a:pPr algn="ctr"/>
            <a:r>
              <a:rPr sz="2800" b="1" i="0">
                <a:solidFill>
                  <a:srgbClr val="FFFFFF"/>
                </a:solidFill>
                <a:latin typeface="Arial"/>
              </a:rPr>
              <a:t>Q1</a:t>
            </a:r>
          </a:p>
        </p:txBody>
      </p:sp>
      <p:sp>
        <p:nvSpPr>
          <p:cNvPr id="7" name="Rectangle 6"/>
          <p:cNvSpPr/>
          <p:nvPr/>
        </p:nvSpPr>
        <p:spPr>
          <a:xfrm>
            <a:off x="1463040" y="1554480"/>
            <a:ext cx="10332720" cy="8229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54480" y="1554480"/>
            <a:ext cx="10241280" cy="822960"/>
          </a:xfrm>
          <a:prstGeom prst="rect">
            <a:avLst/>
          </a:prstGeom>
          <a:noFill/>
        </p:spPr>
        <p:txBody>
          <a:bodyPr wrap="square" anchor="ctr" lIns="73152" rIns="73152" tIns="27432" bIns="27432">
            <a:spAutoFit/>
          </a:bodyPr>
          <a:lstStyle/>
          <a:p>
            <a:r>
              <a:rPr sz="2000" b="0" i="0">
                <a:solidFill>
                  <a:srgbClr val="202020"/>
                </a:solidFill>
                <a:latin typeface="Arial"/>
              </a:rPr>
              <a:t>What surprised you the most?</a:t>
            </a:r>
          </a:p>
        </p:txBody>
      </p:sp>
      <p:sp>
        <p:nvSpPr>
          <p:cNvPr id="9" name="Rectangle 8"/>
          <p:cNvSpPr/>
          <p:nvPr/>
        </p:nvSpPr>
        <p:spPr>
          <a:xfrm>
            <a:off x="457200" y="2560320"/>
            <a:ext cx="822960" cy="8229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560320"/>
            <a:ext cx="822960" cy="822960"/>
          </a:xfrm>
          <a:prstGeom prst="rect">
            <a:avLst/>
          </a:prstGeom>
          <a:noFill/>
        </p:spPr>
        <p:txBody>
          <a:bodyPr wrap="square" anchor="ctr" lIns="73152" rIns="73152" tIns="27432" bIns="27432">
            <a:spAutoFit/>
          </a:bodyPr>
          <a:lstStyle/>
          <a:p>
            <a:pPr algn="ctr"/>
            <a:r>
              <a:rPr sz="2800" b="1" i="0">
                <a:solidFill>
                  <a:srgbClr val="FFFFFF"/>
                </a:solidFill>
                <a:latin typeface="Arial"/>
              </a:rPr>
              <a:t>Q2</a:t>
            </a:r>
          </a:p>
        </p:txBody>
      </p:sp>
      <p:sp>
        <p:nvSpPr>
          <p:cNvPr id="11" name="Rectangle 10"/>
          <p:cNvSpPr/>
          <p:nvPr/>
        </p:nvSpPr>
        <p:spPr>
          <a:xfrm>
            <a:off x="1463040" y="2560320"/>
            <a:ext cx="10332720" cy="8229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54480" y="2560320"/>
            <a:ext cx="10241280" cy="822960"/>
          </a:xfrm>
          <a:prstGeom prst="rect">
            <a:avLst/>
          </a:prstGeom>
          <a:noFill/>
        </p:spPr>
        <p:txBody>
          <a:bodyPr wrap="square" anchor="ctr" lIns="73152" rIns="73152" tIns="27432" bIns="27432">
            <a:spAutoFit/>
          </a:bodyPr>
          <a:lstStyle/>
          <a:p>
            <a:r>
              <a:rPr sz="2000" b="0" i="0">
                <a:solidFill>
                  <a:srgbClr val="202020"/>
                </a:solidFill>
                <a:latin typeface="Arial"/>
              </a:rPr>
              <a:t>Where did the AI tool save you time vs add work?</a:t>
            </a:r>
          </a:p>
        </p:txBody>
      </p:sp>
      <p:sp>
        <p:nvSpPr>
          <p:cNvPr id="13" name="Rectangle 12"/>
          <p:cNvSpPr/>
          <p:nvPr/>
        </p:nvSpPr>
        <p:spPr>
          <a:xfrm>
            <a:off x="457200" y="3566160"/>
            <a:ext cx="822960" cy="8229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3566160"/>
            <a:ext cx="822960" cy="822960"/>
          </a:xfrm>
          <a:prstGeom prst="rect">
            <a:avLst/>
          </a:prstGeom>
          <a:noFill/>
        </p:spPr>
        <p:txBody>
          <a:bodyPr wrap="square" anchor="ctr" lIns="73152" rIns="73152" tIns="27432" bIns="27432">
            <a:spAutoFit/>
          </a:bodyPr>
          <a:lstStyle/>
          <a:p>
            <a:pPr algn="ctr"/>
            <a:r>
              <a:rPr sz="2800" b="1" i="0">
                <a:solidFill>
                  <a:srgbClr val="FFFFFF"/>
                </a:solidFill>
                <a:latin typeface="Arial"/>
              </a:rPr>
              <a:t>Q3</a:t>
            </a:r>
          </a:p>
        </p:txBody>
      </p:sp>
      <p:sp>
        <p:nvSpPr>
          <p:cNvPr id="15" name="Rectangle 14"/>
          <p:cNvSpPr/>
          <p:nvPr/>
        </p:nvSpPr>
        <p:spPr>
          <a:xfrm>
            <a:off x="1463040" y="3566160"/>
            <a:ext cx="10332720" cy="8229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54480" y="3566160"/>
            <a:ext cx="10241280" cy="822960"/>
          </a:xfrm>
          <a:prstGeom prst="rect">
            <a:avLst/>
          </a:prstGeom>
          <a:noFill/>
        </p:spPr>
        <p:txBody>
          <a:bodyPr wrap="square" anchor="ctr" lIns="73152" rIns="73152" tIns="27432" bIns="27432">
            <a:spAutoFit/>
          </a:bodyPr>
          <a:lstStyle/>
          <a:p>
            <a:r>
              <a:rPr sz="2000" b="0" i="0">
                <a:solidFill>
                  <a:srgbClr val="202020"/>
                </a:solidFill>
                <a:latin typeface="Arial"/>
              </a:rPr>
              <a:t>Identify ONE failure mode you would prevent next time.</a:t>
            </a:r>
          </a:p>
        </p:txBody>
      </p:sp>
      <p:sp>
        <p:nvSpPr>
          <p:cNvPr id="17" name="Rectangle 16"/>
          <p:cNvSpPr/>
          <p:nvPr/>
        </p:nvSpPr>
        <p:spPr>
          <a:xfrm>
            <a:off x="457200" y="4572000"/>
            <a:ext cx="822960" cy="8229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4572000"/>
            <a:ext cx="822960" cy="822960"/>
          </a:xfrm>
          <a:prstGeom prst="rect">
            <a:avLst/>
          </a:prstGeom>
          <a:noFill/>
        </p:spPr>
        <p:txBody>
          <a:bodyPr wrap="square" anchor="ctr" lIns="73152" rIns="73152" tIns="27432" bIns="27432">
            <a:spAutoFit/>
          </a:bodyPr>
          <a:lstStyle/>
          <a:p>
            <a:pPr algn="ctr"/>
            <a:r>
              <a:rPr sz="2800" b="1" i="0">
                <a:solidFill>
                  <a:srgbClr val="FFFFFF"/>
                </a:solidFill>
                <a:latin typeface="Arial"/>
              </a:rPr>
              <a:t>Q4</a:t>
            </a:r>
          </a:p>
        </p:txBody>
      </p:sp>
      <p:sp>
        <p:nvSpPr>
          <p:cNvPr id="19" name="Rectangle 18"/>
          <p:cNvSpPr/>
          <p:nvPr/>
        </p:nvSpPr>
        <p:spPr>
          <a:xfrm>
            <a:off x="1463040" y="4572000"/>
            <a:ext cx="10332720" cy="8229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54480" y="4572000"/>
            <a:ext cx="10241280" cy="822960"/>
          </a:xfrm>
          <a:prstGeom prst="rect">
            <a:avLst/>
          </a:prstGeom>
          <a:noFill/>
        </p:spPr>
        <p:txBody>
          <a:bodyPr wrap="square" anchor="ctr" lIns="73152" rIns="73152" tIns="27432" bIns="27432">
            <a:spAutoFit/>
          </a:bodyPr>
          <a:lstStyle/>
          <a:p>
            <a:r>
              <a:rPr sz="2000" b="0" i="0">
                <a:solidFill>
                  <a:srgbClr val="202020"/>
                </a:solidFill>
                <a:latin typeface="Arial"/>
              </a:rPr>
              <a:t>If you had 1 more hour, what would you investigate next?</a:t>
            </a:r>
          </a:p>
        </p:txBody>
      </p:sp>
      <p:sp>
        <p:nvSpPr>
          <p:cNvPr id="21" name="TextBox 20"/>
          <p:cNvSpPr txBox="1"/>
          <p:nvPr/>
        </p:nvSpPr>
        <p:spPr>
          <a:xfrm>
            <a:off x="457200" y="5852160"/>
            <a:ext cx="11521440" cy="548640"/>
          </a:xfrm>
          <a:prstGeom prst="rect">
            <a:avLst/>
          </a:prstGeom>
          <a:noFill/>
        </p:spPr>
        <p:txBody>
          <a:bodyPr wrap="square" anchor="t" lIns="73152" rIns="73152" tIns="27432" bIns="27432">
            <a:spAutoFit/>
          </a:bodyPr>
          <a:lstStyle/>
          <a:p>
            <a:r>
              <a:rPr sz="1400" b="0" i="1">
                <a:solidFill>
                  <a:srgbClr val="C00000"/>
                </a:solidFill>
                <a:latin typeface="Arial"/>
              </a:rPr>
              <a:t>Each team writes ONE answer per prompt on the minute paper (handed in at end of class).</a:t>
            </a:r>
          </a:p>
        </p:txBody>
      </p:sp>
      <p:sp>
        <p:nvSpPr>
          <p:cNvPr id="22" name="Rectangle 21"/>
          <p:cNvSpPr/>
          <p:nvPr/>
        </p:nvSpPr>
        <p:spPr>
          <a:xfrm>
            <a:off x="0" y="6565392"/>
            <a:ext cx="12191695" cy="29260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 y="6583680"/>
            <a:ext cx="11521440" cy="256032"/>
          </a:xfrm>
          <a:prstGeom prst="rect">
            <a:avLst/>
          </a:prstGeom>
          <a:noFill/>
        </p:spPr>
        <p:txBody>
          <a:bodyPr wrap="square" anchor="t" lIns="73152" rIns="73152" tIns="27432" bIns="27432">
            <a:spAutoFit/>
          </a:bodyPr>
          <a:lstStyle/>
          <a:p>
            <a:r>
              <a:rPr sz="1100" b="1" i="0">
                <a:solidFill>
                  <a:srgbClr val="FFFFFF"/>
                </a:solidFill>
                <a:latin typeface="Arial"/>
              </a:rPr>
              <a:t>7 · Debrief</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11521440" cy="320040"/>
          </a:xfrm>
          <a:prstGeom prst="rect">
            <a:avLst/>
          </a:prstGeom>
          <a:noFill/>
        </p:spPr>
        <p:txBody>
          <a:bodyPr wrap="square" anchor="t" lIns="73152" rIns="73152" tIns="27432" bIns="27432">
            <a:spAutoFit/>
          </a:bodyPr>
          <a:lstStyle/>
          <a:p>
            <a:r>
              <a:rPr sz="1200" b="1" i="0">
                <a:solidFill>
                  <a:srgbClr val="1F4E79"/>
                </a:solidFill>
                <a:latin typeface="Arial"/>
              </a:rPr>
              <a:t>2026 AI-first · Seminar T09 · Security Testing (DAST / SAST)</a:t>
            </a:r>
          </a:p>
        </p:txBody>
      </p:sp>
      <p:sp>
        <p:nvSpPr>
          <p:cNvPr id="4" name="TextBox 3"/>
          <p:cNvSpPr txBox="1"/>
          <p:nvPr/>
        </p:nvSpPr>
        <p:spPr>
          <a:xfrm>
            <a:off x="365760" y="548640"/>
            <a:ext cx="11521440" cy="822960"/>
          </a:xfrm>
          <a:prstGeom prst="rect">
            <a:avLst/>
          </a:prstGeom>
          <a:noFill/>
        </p:spPr>
        <p:txBody>
          <a:bodyPr wrap="square" anchor="t" lIns="73152" rIns="73152" tIns="27432" bIns="27432">
            <a:spAutoFit/>
          </a:bodyPr>
          <a:lstStyle/>
          <a:p>
            <a:r>
              <a:rPr sz="3400" b="1" i="0">
                <a:solidFill>
                  <a:srgbClr val="1F4E79"/>
                </a:solidFill>
                <a:latin typeface="Arial"/>
              </a:rPr>
              <a:t>Takeaways + further reading</a:t>
            </a:r>
          </a:p>
        </p:txBody>
      </p:sp>
      <p:sp>
        <p:nvSpPr>
          <p:cNvPr id="5" name="Rectangle 4"/>
          <p:cNvSpPr/>
          <p:nvPr/>
        </p:nvSpPr>
        <p:spPr>
          <a:xfrm>
            <a:off x="365760" y="1463040"/>
            <a:ext cx="5852160" cy="457200"/>
          </a:xfrm>
          <a:prstGeom prst="rect">
            <a:avLst/>
          </a:prstGeom>
          <a:solidFill>
            <a:srgbClr val="375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463040"/>
            <a:ext cx="5852160" cy="457200"/>
          </a:xfrm>
          <a:prstGeom prst="rect">
            <a:avLst/>
          </a:prstGeom>
          <a:noFill/>
        </p:spPr>
        <p:txBody>
          <a:bodyPr wrap="square" anchor="ctr" lIns="73152" rIns="73152" tIns="27432" bIns="27432">
            <a:spAutoFit/>
          </a:bodyPr>
          <a:lstStyle/>
          <a:p>
            <a:pPr algn="ctr"/>
            <a:r>
              <a:rPr sz="1700" b="1" i="0">
                <a:solidFill>
                  <a:srgbClr val="FFFFFF"/>
                </a:solidFill>
                <a:latin typeface="Arial"/>
              </a:rPr>
              <a:t>3 things to remember</a:t>
            </a:r>
          </a:p>
        </p:txBody>
      </p:sp>
      <p:sp>
        <p:nvSpPr>
          <p:cNvPr id="7" name="TextBox 6"/>
          <p:cNvSpPr txBox="1"/>
          <p:nvPr/>
        </p:nvSpPr>
        <p:spPr>
          <a:xfrm>
            <a:off x="457200" y="2011680"/>
            <a:ext cx="5669280" cy="4114800"/>
          </a:xfrm>
          <a:prstGeom prst="rect">
            <a:avLst/>
          </a:prstGeom>
          <a:noFill/>
        </p:spPr>
        <p:txBody>
          <a:bodyPr wrap="square" anchor="t" lIns="73152" rIns="73152" tIns="27432" bIns="27432">
            <a:spAutoFit/>
          </a:bodyPr>
          <a:lstStyle/>
          <a:p>
            <a:r>
              <a:rPr sz="1600" b="0" i="0">
                <a:solidFill>
                  <a:srgbClr val="202020"/>
                </a:solidFill>
                <a:latin typeface="Arial"/>
              </a:rPr>
              <a:t>✓  False-positive rate is the single biggest cost in security testing.</a:t>
            </a:r>
          </a:p>
          <a:p>
            <a:r>
              <a:rPr sz="1600" b="0" i="0">
                <a:solidFill>
                  <a:srgbClr val="202020"/>
                </a:solidFill>
                <a:latin typeface="Arial"/>
              </a:rPr>
              <a:t>✓  AI triage adds value mostly above 100 findings — small scans don't need it.</a:t>
            </a:r>
          </a:p>
          <a:p>
            <a:r>
              <a:rPr sz="1600" b="0" i="0">
                <a:solidFill>
                  <a:srgbClr val="202020"/>
                </a:solidFill>
                <a:latin typeface="Arial"/>
              </a:rPr>
              <a:t>✓  Always pair a static finding with a reproducible PoC before raising.</a:t>
            </a:r>
          </a:p>
        </p:txBody>
      </p:sp>
      <p:sp>
        <p:nvSpPr>
          <p:cNvPr id="8" name="Rectangle 7"/>
          <p:cNvSpPr/>
          <p:nvPr/>
        </p:nvSpPr>
        <p:spPr>
          <a:xfrm>
            <a:off x="6400800" y="1463040"/>
            <a:ext cx="5486400" cy="4572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463040"/>
            <a:ext cx="5486400" cy="457200"/>
          </a:xfrm>
          <a:prstGeom prst="rect">
            <a:avLst/>
          </a:prstGeom>
          <a:noFill/>
        </p:spPr>
        <p:txBody>
          <a:bodyPr wrap="square" anchor="ctr" lIns="73152" rIns="73152" tIns="27432" bIns="27432">
            <a:spAutoFit/>
          </a:bodyPr>
          <a:lstStyle/>
          <a:p>
            <a:pPr algn="ctr"/>
            <a:r>
              <a:rPr sz="1700" b="1" i="0">
                <a:solidFill>
                  <a:srgbClr val="FFFFFF"/>
                </a:solidFill>
                <a:latin typeface="Arial"/>
              </a:rPr>
              <a:t>Further reading</a:t>
            </a:r>
          </a:p>
        </p:txBody>
      </p:sp>
      <p:sp>
        <p:nvSpPr>
          <p:cNvPr id="10" name="TextBox 9"/>
          <p:cNvSpPr txBox="1"/>
          <p:nvPr/>
        </p:nvSpPr>
        <p:spPr>
          <a:xfrm>
            <a:off x="6492240" y="2011680"/>
            <a:ext cx="5303520" cy="4114800"/>
          </a:xfrm>
          <a:prstGeom prst="rect">
            <a:avLst/>
          </a:prstGeom>
          <a:noFill/>
        </p:spPr>
        <p:txBody>
          <a:bodyPr wrap="square" anchor="t" lIns="73152" rIns="73152" tIns="27432" bIns="27432">
            <a:spAutoFit/>
          </a:bodyPr>
          <a:lstStyle/>
          <a:p>
            <a:r>
              <a:rPr sz="1400" b="0" i="0">
                <a:solidFill>
                  <a:srgbClr val="202020"/>
                </a:solidFill>
                <a:latin typeface="Arial"/>
              </a:rPr>
              <a:t>•  OWASP Testing Guide v4.2 (selected chapters).</a:t>
            </a:r>
          </a:p>
          <a:p>
            <a:r>
              <a:rPr sz="1400" b="0" i="0">
                <a:solidFill>
                  <a:srgbClr val="202020"/>
                </a:solidFill>
                <a:latin typeface="Arial"/>
              </a:rPr>
              <a:t>•  Andrew Hoffman — 'Web Application Security' (Chs. 3 + 7).</a:t>
            </a:r>
          </a:p>
          <a:p>
            <a:r>
              <a:rPr sz="1400" b="0" i="0">
                <a:solidFill>
                  <a:srgbClr val="202020"/>
                </a:solidFill>
                <a:latin typeface="Arial"/>
              </a:rPr>
              <a:t>•  Semgrep documentation — 'Custom rules quick start'.</a:t>
            </a:r>
          </a:p>
        </p:txBody>
      </p:sp>
      <p:sp>
        <p:nvSpPr>
          <p:cNvPr id="11" name="Rectangle 10"/>
          <p:cNvSpPr/>
          <p:nvPr/>
        </p:nvSpPr>
        <p:spPr>
          <a:xfrm>
            <a:off x="365760" y="5852160"/>
            <a:ext cx="11521440" cy="5486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5852160"/>
            <a:ext cx="11521440" cy="548640"/>
          </a:xfrm>
          <a:prstGeom prst="rect">
            <a:avLst/>
          </a:prstGeom>
          <a:noFill/>
        </p:spPr>
        <p:txBody>
          <a:bodyPr wrap="square" anchor="ctr" lIns="73152" rIns="73152" tIns="27432" bIns="27432">
            <a:spAutoFit/>
          </a:bodyPr>
          <a:lstStyle/>
          <a:p>
            <a:pPr algn="ctr"/>
            <a:r>
              <a:rPr sz="1800" b="1" i="0">
                <a:solidFill>
                  <a:srgbClr val="FFFFFF"/>
                </a:solidFill>
                <a:latin typeface="Arial"/>
              </a:rPr>
              <a:t>Submit minute-paper now · Thank you!</a:t>
            </a:r>
          </a:p>
        </p:txBody>
      </p:sp>
      <p:sp>
        <p:nvSpPr>
          <p:cNvPr id="13" name="Rectangle 12"/>
          <p:cNvSpPr/>
          <p:nvPr/>
        </p:nvSpPr>
        <p:spPr>
          <a:xfrm>
            <a:off x="0" y="6565392"/>
            <a:ext cx="12191695" cy="29260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6583680"/>
            <a:ext cx="11521440" cy="256032"/>
          </a:xfrm>
          <a:prstGeom prst="rect">
            <a:avLst/>
          </a:prstGeom>
          <a:noFill/>
        </p:spPr>
        <p:txBody>
          <a:bodyPr wrap="square" anchor="t" lIns="73152" rIns="73152" tIns="27432" bIns="27432">
            <a:spAutoFit/>
          </a:bodyPr>
          <a:lstStyle/>
          <a:p>
            <a:r>
              <a:rPr sz="1100" b="1" i="0">
                <a:solidFill>
                  <a:srgbClr val="FFFFFF"/>
                </a:solidFill>
                <a:latin typeface="Arial"/>
              </a:rPr>
              <a:t>8 · Takeaways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