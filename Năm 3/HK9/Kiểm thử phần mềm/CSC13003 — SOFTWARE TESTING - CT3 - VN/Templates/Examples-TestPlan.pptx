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  <p:sldMasterId id="2147483652" r:id="rId7"/>
    <p:sldMasterId id="2147483653" r:id="rId8"/>
    <p:sldMasterId id="2147483655" r:id="rId9"/>
    <p:sldMasterId id="2147483657" r:id="rId10"/>
    <p:sldMasterId id="2147483659" r:id="rId11"/>
    <p:sldMasterId id="2147483661" r:id="rId12"/>
    <p:sldMasterId id="2147483663" r:id="rId13"/>
    <p:sldMasterId id="2147483665" r:id="rId14"/>
    <p:sldMasterId id="2147483667" r:id="rId15"/>
    <p:sldMasterId id="2147483669" r:id="rId16"/>
    <p:sldMasterId id="2147483671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</p:sldIdLst>
  <p:sldSz cy="6858000" cx="9144000"/>
  <p:notesSz cx="10234600" cy="7099300"/>
  <p:embeddedFontLst>
    <p:embeddedFont>
      <p:font typeface="Noto Sans"/>
      <p:regular r:id="rId41"/>
      <p:bold r:id="rId42"/>
      <p:italic r:id="rId43"/>
      <p:boldItalic r:id="rId44"/>
    </p:embeddedFont>
    <p:embeddedFont>
      <p:font typeface="Noto Sans Symbols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236">
          <p15:clr>
            <a:srgbClr val="000000"/>
          </p15:clr>
        </p15:guide>
        <p15:guide id="2" pos="3224">
          <p15:clr>
            <a:srgbClr val="000000"/>
          </p15:clr>
        </p15:guide>
      </p15:notesGuideLst>
    </p:ext>
    <p:ext uri="GoogleSlidesCustomDataVersion2">
      <go:slidesCustomData xmlns:go="http://customooxmlschemas.google.com/" r:id="rId47" roundtripDataSignature="AMtx7mijhtMWF0ZG7KddNDkMbOJNuGW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8016F5-CE22-40FA-8305-F0AB57F25A3D}">
  <a:tblStyle styleId="{778016F5-CE22-40FA-8305-F0AB57F25A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236" orient="horz"/>
        <p:guide pos="322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2.xml"/><Relationship Id="rId20" Type="http://schemas.openxmlformats.org/officeDocument/2006/relationships/slide" Target="slides/slide2.xml"/><Relationship Id="rId42" Type="http://schemas.openxmlformats.org/officeDocument/2006/relationships/font" Target="fonts/NotoSans-bold.fntdata"/><Relationship Id="rId41" Type="http://schemas.openxmlformats.org/officeDocument/2006/relationships/font" Target="fonts/NotoSans-regular.fntdata"/><Relationship Id="rId22" Type="http://schemas.openxmlformats.org/officeDocument/2006/relationships/slide" Target="slides/slide4.xml"/><Relationship Id="rId44" Type="http://schemas.openxmlformats.org/officeDocument/2006/relationships/font" Target="fonts/NotoSans-boldItalic.fntdata"/><Relationship Id="rId21" Type="http://schemas.openxmlformats.org/officeDocument/2006/relationships/slide" Target="slides/slide3.xml"/><Relationship Id="rId43" Type="http://schemas.openxmlformats.org/officeDocument/2006/relationships/font" Target="fonts/NotoSans-italic.fntdata"/><Relationship Id="rId24" Type="http://schemas.openxmlformats.org/officeDocument/2006/relationships/slide" Target="slides/slide6.xml"/><Relationship Id="rId46" Type="http://schemas.openxmlformats.org/officeDocument/2006/relationships/font" Target="fonts/NotoSansSymbols-bold.fntdata"/><Relationship Id="rId23" Type="http://schemas.openxmlformats.org/officeDocument/2006/relationships/slide" Target="slides/slide5.xml"/><Relationship Id="rId45" Type="http://schemas.openxmlformats.org/officeDocument/2006/relationships/font" Target="fonts/NotoSansSymbols-regular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8.xml"/><Relationship Id="rId25" Type="http://schemas.openxmlformats.org/officeDocument/2006/relationships/slide" Target="slides/slide7.xml"/><Relationship Id="rId47" Type="http://customschemas.google.com/relationships/presentationmetadata" Target="metadata"/><Relationship Id="rId28" Type="http://schemas.openxmlformats.org/officeDocument/2006/relationships/slide" Target="slides/slide10.xml"/><Relationship Id="rId27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1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3.xml"/><Relationship Id="rId30" Type="http://schemas.openxmlformats.org/officeDocument/2006/relationships/slide" Target="slides/slide12.xml"/><Relationship Id="rId11" Type="http://schemas.openxmlformats.org/officeDocument/2006/relationships/slideMaster" Target="slideMasters/slideMaster7.xml"/><Relationship Id="rId33" Type="http://schemas.openxmlformats.org/officeDocument/2006/relationships/slide" Target="slides/slide15.xml"/><Relationship Id="rId10" Type="http://schemas.openxmlformats.org/officeDocument/2006/relationships/slideMaster" Target="slideMasters/slideMaster6.xml"/><Relationship Id="rId32" Type="http://schemas.openxmlformats.org/officeDocument/2006/relationships/slide" Target="slides/slide14.xml"/><Relationship Id="rId13" Type="http://schemas.openxmlformats.org/officeDocument/2006/relationships/slideMaster" Target="slideMasters/slideMaster9.xml"/><Relationship Id="rId35" Type="http://schemas.openxmlformats.org/officeDocument/2006/relationships/slide" Target="slides/slide17.xml"/><Relationship Id="rId12" Type="http://schemas.openxmlformats.org/officeDocument/2006/relationships/slideMaster" Target="slideMasters/slideMaster8.xml"/><Relationship Id="rId34" Type="http://schemas.openxmlformats.org/officeDocument/2006/relationships/slide" Target="slides/slide16.xml"/><Relationship Id="rId15" Type="http://schemas.openxmlformats.org/officeDocument/2006/relationships/slideMaster" Target="slideMasters/slideMaster11.xml"/><Relationship Id="rId37" Type="http://schemas.openxmlformats.org/officeDocument/2006/relationships/slide" Target="slides/slide19.xml"/><Relationship Id="rId14" Type="http://schemas.openxmlformats.org/officeDocument/2006/relationships/slideMaster" Target="slideMasters/slideMaster10.xml"/><Relationship Id="rId36" Type="http://schemas.openxmlformats.org/officeDocument/2006/relationships/slide" Target="slides/slide18.xml"/><Relationship Id="rId17" Type="http://schemas.openxmlformats.org/officeDocument/2006/relationships/slideMaster" Target="slideMasters/slideMaster13.xml"/><Relationship Id="rId39" Type="http://schemas.openxmlformats.org/officeDocument/2006/relationships/slide" Target="slides/slide21.xml"/><Relationship Id="rId16" Type="http://schemas.openxmlformats.org/officeDocument/2006/relationships/slideMaster" Target="slideMasters/slideMaster12.xml"/><Relationship Id="rId38" Type="http://schemas.openxmlformats.org/officeDocument/2006/relationships/slide" Target="slides/slide20.xml"/><Relationship Id="rId19" Type="http://schemas.openxmlformats.org/officeDocument/2006/relationships/slide" Target="slides/slide1.xml"/><Relationship Id="rId1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4354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797550" y="0"/>
            <a:ext cx="44354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743700"/>
            <a:ext cx="44354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797550" y="6743700"/>
            <a:ext cx="44354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:notes"/>
          <p:cNvSpPr txBox="1"/>
          <p:nvPr>
            <p:ph idx="1" type="body"/>
          </p:nvPr>
        </p:nvSpPr>
        <p:spPr>
          <a:xfrm>
            <a:off x="1022350" y="3373437"/>
            <a:ext cx="8189912" cy="3192462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2:notes"/>
          <p:cNvSpPr/>
          <p:nvPr>
            <p:ph idx="2" type="sldImg"/>
          </p:nvPr>
        </p:nvSpPr>
        <p:spPr>
          <a:xfrm>
            <a:off x="3341687" y="533400"/>
            <a:ext cx="3551237" cy="2662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 txBox="1"/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" type="subTitle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1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69" name="Google Shape;69;p31"/>
          <p:cNvSpPr txBox="1"/>
          <p:nvPr>
            <p:ph idx="2" type="body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70" name="Google Shape;70;p31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85" name="Google Shape;85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87" name="Google Shape;87;p33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7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7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126" name="Google Shape;126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7" name="Google Shape;127;p39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9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p41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1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3"/>
          <p:cNvSpPr txBox="1"/>
          <p:nvPr>
            <p:ph idx="1" type="body"/>
          </p:nvPr>
        </p:nvSpPr>
        <p:spPr>
          <a:xfrm rot="5400000">
            <a:off x="2433637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56" name="Google Shape;156;p43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3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5"/>
          <p:cNvSpPr txBox="1"/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45"/>
          <p:cNvSpPr txBox="1"/>
          <p:nvPr>
            <p:ph idx="1" type="body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70" name="Google Shape;170;p45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5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7"/>
          <p:cNvSpPr txBox="1"/>
          <p:nvPr>
            <p:ph idx="1" type="body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84" name="Google Shape;184;p47"/>
          <p:cNvSpPr txBox="1"/>
          <p:nvPr>
            <p:ph idx="2" type="body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85" name="Google Shape;185;p47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47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7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heme" Target="../theme/theme8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1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1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10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3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14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6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11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9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685800" y="2393950"/>
            <a:ext cx="7772400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;p2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4" name="Google Shape;24;p25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" name="Google Shape;25;p2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5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8" name="Google Shape;2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27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0" name="Google Shape;40;p27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6" name="Google Shape;46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7" name="Google Shape;47;p2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8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0" name="Google Shape;50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0" name="Google Shape;60;p30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1" name="Google Shape;61;p30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30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30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4" name="Google Shape;64;p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5" name="Google Shape;65;p30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75" name="Google Shape;75;p32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6" name="Google Shape;76;p3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32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32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9" name="Google Shape;79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0" name="Google Shape;80;p32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2" name="Google Shape;92;p34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3" name="Google Shape;93;p34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34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34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6" name="Google Shape;96;p3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7" name="Google Shape;97;p34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05" name="Google Shape;105;p36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6" name="Google Shape;106;p36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36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36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09" name="Google Shape;109;p3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0" name="Google Shape;110;p36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17" name="Google Shape;117;p3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8" name="Google Shape;118;p3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38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38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1" name="Google Shape;121;p3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2" name="Google Shape;122;p38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0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2" name="Google Shape;132;p40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3" name="Google Shape;133;p40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40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40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6" name="Google Shape;136;p4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7" name="Google Shape;137;p40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2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47" name="Google Shape;147;p42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8" name="Google Shape;148;p4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42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42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1" name="Google Shape;151;p4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2" name="Google Shape;152;p42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61" name="Google Shape;161;p44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2" name="Google Shape;162;p44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6"/>
          <p:cNvSpPr/>
          <p:nvPr/>
        </p:nvSpPr>
        <p:spPr>
          <a:xfrm>
            <a:off x="609600" y="1566862"/>
            <a:ext cx="7958137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75" name="Google Shape;175;p46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6" name="Google Shape;176;p46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46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46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79" name="Google Shape;179;p4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80" name="Google Shape;180;p46"/>
          <p:cNvSpPr txBox="1"/>
          <p:nvPr>
            <p:ph idx="12" type="sldNum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</p:sldLayoutIdLst>
  <p:transition spd="slow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elp.orangehrm.com/hc/en-us" TargetMode="External"/><Relationship Id="rId4" Type="http://schemas.openxmlformats.org/officeDocument/2006/relationships/hyperlink" Target="https://github.com/orangehrm/orangehr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"/>
          <p:cNvSpPr txBox="1"/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Test Plan</a:t>
            </a:r>
            <a:endParaRPr/>
          </a:p>
        </p:txBody>
      </p:sp>
      <p:sp>
        <p:nvSpPr>
          <p:cNvPr id="193" name="Google Shape;193;p1"/>
          <p:cNvSpPr txBox="1"/>
          <p:nvPr>
            <p:ph idx="1" type="subTitle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1) Analyze the product</a:t>
            </a:r>
            <a:endParaRPr/>
          </a:p>
        </p:txBody>
      </p:sp>
      <p:sp>
        <p:nvSpPr>
          <p:cNvPr id="199" name="Google Shape;199;p2"/>
          <p:cNvSpPr txBox="1"/>
          <p:nvPr>
            <p:ph idx="1" type="body"/>
          </p:nvPr>
        </p:nvSpPr>
        <p:spPr>
          <a:xfrm>
            <a:off x="533400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will use the website?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ourier New"/>
              <a:buChar char="o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ourier New"/>
              <a:buChar char="o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Manager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ourier New"/>
              <a:buChar char="o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HR team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ourier New"/>
              <a:buChar char="o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specific employees</a:t>
            </a:r>
            <a:endParaRPr/>
          </a:p>
        </p:txBody>
      </p:sp>
      <p:sp>
        <p:nvSpPr>
          <p:cNvPr id="200" name="Google Shape;200;p2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01" name="Google Shape;201;p2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02" name="Google Shape;202;p2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1) Analyze the product</a:t>
            </a:r>
            <a:endParaRPr/>
          </a:p>
        </p:txBody>
      </p:sp>
      <p:sp>
        <p:nvSpPr>
          <p:cNvPr id="208" name="Google Shape;208;p3"/>
          <p:cNvSpPr txBox="1"/>
          <p:nvPr>
            <p:ph idx="1" type="body"/>
          </p:nvPr>
        </p:nvSpPr>
        <p:spPr>
          <a:xfrm>
            <a:off x="533400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it used for?</a:t>
            </a:r>
            <a:endParaRPr b="0" i="0" sz="3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People management: HR Administration, Employee Management</a:t>
            </a:r>
            <a:endParaRPr b="0" i="0" sz="2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Compensation: Payroll, Leave Management, Time tracking</a:t>
            </a:r>
            <a:endParaRPr b="0" i="0" sz="2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Recruitment: Recruitment (ATS), Onboarding</a:t>
            </a:r>
            <a:endParaRPr b="0" i="0" sz="2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Culture: Training, Performance Management</a:t>
            </a:r>
            <a:endParaRPr b="0" i="0" sz="2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2100" lvl="0" marL="469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9" name="Google Shape;209;p3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10" name="Google Shape;210;p3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11" name="Google Shape;211;p3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1) Analyze the product</a:t>
            </a:r>
            <a:endParaRPr/>
          </a:p>
        </p:txBody>
      </p:sp>
      <p:sp>
        <p:nvSpPr>
          <p:cNvPr id="217" name="Google Shape;217;p4"/>
          <p:cNvSpPr txBox="1"/>
          <p:nvPr>
            <p:ph idx="1" type="body"/>
          </p:nvPr>
        </p:nvSpPr>
        <p:spPr>
          <a:xfrm>
            <a:off x="533400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will it work?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urier New"/>
              <a:buChar char="o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Mobile: Android (Google Play), iOS (App Store)</a:t>
            </a:r>
            <a:endParaRPr b="0" i="0" sz="2800" u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urier New"/>
              <a:buChar char="o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Website: Starter version</a:t>
            </a:r>
            <a:endParaRPr b="0" i="0" sz="2800" u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69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20" name="Google Shape;220;p4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1) Analyze the product</a:t>
            </a:r>
            <a:endParaRPr/>
          </a:p>
        </p:txBody>
      </p:sp>
      <p:sp>
        <p:nvSpPr>
          <p:cNvPr id="226" name="Google Shape;226;p5"/>
          <p:cNvSpPr txBox="1"/>
          <p:nvPr>
            <p:ph idx="1" type="body"/>
          </p:nvPr>
        </p:nvSpPr>
        <p:spPr>
          <a:xfrm>
            <a:off x="533400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software/ hardware the product uses?</a:t>
            </a:r>
            <a:endParaRPr b="0" i="0" sz="3000" u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manual: </a:t>
            </a: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https://www.orangehrm.com/assets/Files/OHRM-User-Guide.pdf</a:t>
            </a:r>
            <a:endParaRPr b="0" i="0" sz="2400" u="sng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Documents: 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2" marL="12573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Support: </a:t>
            </a:r>
            <a:r>
              <a:rPr b="0" i="0" lang="en-US" sz="2400" u="sng" cap="none" strike="noStrike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https://help.orangehrm.com/hc/en-us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2" marL="12573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Github: </a:t>
            </a:r>
            <a:r>
              <a:rPr b="0" i="0" lang="en-US" sz="2400" u="sng" cap="none" strike="noStrike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https://github.com/orangehrm/orangehrm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1) Analyze the product</a:t>
            </a:r>
            <a:endParaRPr/>
          </a:p>
        </p:txBody>
      </p:sp>
      <p:sp>
        <p:nvSpPr>
          <p:cNvPr id="235" name="Google Shape;235;p6"/>
          <p:cNvSpPr txBox="1"/>
          <p:nvPr>
            <p:ph idx="1" type="body"/>
          </p:nvPr>
        </p:nvSpPr>
        <p:spPr>
          <a:xfrm>
            <a:off x="457200" y="1676400"/>
            <a:ext cx="80010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software/ hardware the product uses?</a:t>
            </a:r>
            <a:endParaRPr/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0" i="0" sz="30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  <p:pic>
        <p:nvPicPr>
          <p:cNvPr id="239" name="Google Shape;2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332037"/>
            <a:ext cx="6096000" cy="3538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2) Develop Test Strategy</a:t>
            </a:r>
            <a:endParaRPr/>
          </a:p>
        </p:txBody>
      </p:sp>
      <p:sp>
        <p:nvSpPr>
          <p:cNvPr id="245" name="Google Shape;245;p7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2.1) Define Scope of Testing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HR administration platform</a:t>
            </a:r>
            <a:endParaRPr b="1" i="0" sz="1000" u="non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 User Roles</a:t>
            </a:r>
            <a:endParaRPr b="0" i="0" sz="10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Audit Trail</a:t>
            </a:r>
            <a:endParaRPr b="0" i="0" sz="10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Notifications</a:t>
            </a:r>
            <a:endParaRPr b="0" i="0" sz="10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 information</a:t>
            </a:r>
            <a:endParaRPr b="1" i="0" sz="1000" u="non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0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 Database &amp; Profiles</a:t>
            </a:r>
            <a:endParaRPr b="0" i="0" sz="10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Chart</a:t>
            </a:r>
            <a:endParaRPr b="0" i="0" sz="10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 Templates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In-scope items: Manual based testing, Record and Replay, Model based testing, Comparison test, Blur test</a:t>
            </a:r>
            <a:endParaRPr b="0" i="0" sz="20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 of scopes items: Logical database, Hardware and API testing</a:t>
            </a:r>
            <a:endParaRPr b="0" i="0" sz="20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2) Develop Test Strategy</a:t>
            </a:r>
            <a:endParaRPr/>
          </a:p>
        </p:txBody>
      </p:sp>
      <p:sp>
        <p:nvSpPr>
          <p:cNvPr id="254" name="Google Shape;254;p8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2.2) Identify Testing Type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testing</a:t>
            </a:r>
            <a:endParaRPr b="0" i="0" sz="2800" u="non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</a:t>
            </a:r>
            <a:endParaRPr b="0" i="0" sz="2800" u="non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 b="0" i="0" sz="2800" u="non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2800" u="non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57" name="Google Shape;257;p8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2) Develop Test Strategy</a:t>
            </a:r>
            <a:endParaRPr/>
          </a:p>
        </p:txBody>
      </p:sp>
      <p:sp>
        <p:nvSpPr>
          <p:cNvPr id="263" name="Google Shape;263;p9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2.3) Document Risk &amp; Issues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⮚"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 risks:</a:t>
            </a:r>
            <a:endParaRPr b="0" i="0" sz="20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skills of GUI testing, UX testing, don’t know how to use testing tool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Wrong time estimate for testing project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leader has poor management skills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lack of cooperation of team members.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members don’t understand how to use the website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⮚"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risks:</a:t>
            </a:r>
            <a:endParaRPr b="0" i="0" sz="20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testing env may not be setup properly like real business environment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wrong test cases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b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2) Develop Test Strategy</a:t>
            </a:r>
            <a:endParaRPr/>
          </a:p>
        </p:txBody>
      </p:sp>
      <p:sp>
        <p:nvSpPr>
          <p:cNvPr id="272" name="Google Shape;272;p10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2.4) Create Test Logistics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 will test? All members of team H</a:t>
            </a:r>
            <a:endParaRPr b="0" i="0" sz="32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will the test occur? 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we have test specs and requirement document, test environment is set up.</a:t>
            </a:r>
            <a:endParaRPr b="0" i="0" sz="32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794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75" name="Google Shape;275;p10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3) Define Test Objective</a:t>
            </a:r>
            <a:endParaRPr/>
          </a:p>
        </p:txBody>
      </p:sp>
      <p:sp>
        <p:nvSpPr>
          <p:cNvPr id="281" name="Google Shape;281;p11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HR Administration: </a:t>
            </a:r>
            <a:endParaRPr b="0" i="0" sz="24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access to employee’s personal information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development in workflow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employees updated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 all assets of workplace systematically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Management: </a:t>
            </a:r>
            <a:endParaRPr b="0" i="0" sz="24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Managers can create custom goals and assigning to employees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Managers can build custom review questions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 automated prompts to manager and employee for signing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699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83" name="Google Shape;283;p11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84" name="Google Shape;284;p11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3) Define Test Objective</a:t>
            </a:r>
            <a:endParaRPr/>
          </a:p>
        </p:txBody>
      </p:sp>
      <p:sp>
        <p:nvSpPr>
          <p:cNvPr id="290" name="Google Shape;290;p12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Leave Management:</a:t>
            </a:r>
            <a:endParaRPr b="0" i="0" sz="24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Employees request and approve leaves. 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Assign work to another employee.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insights about staffing and set up rules.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and Attendance Management: </a:t>
            </a:r>
            <a:endParaRPr b="0" i="0" sz="24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Clock in and clock out using the mobile app. 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Clarify pay policies and daily or weekly time tracking. 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o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pay hours reports about high-performing employees. </a:t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699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3) Define Test Objective</a:t>
            </a:r>
            <a:endParaRPr/>
          </a:p>
        </p:txBody>
      </p:sp>
      <p:sp>
        <p:nvSpPr>
          <p:cNvPr id="299" name="Google Shape;299;p13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if the interface of the application has any errors or not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if the user experience has been optimized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the domain name as well as the links for errors</a:t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4) Define Test Criteria</a:t>
            </a:r>
            <a:endParaRPr/>
          </a:p>
        </p:txBody>
      </p:sp>
      <p:sp>
        <p:nvSpPr>
          <p:cNvPr id="308" name="Google Shape;308;p14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Suspension Criteria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Suspension rate: 40%</a:t>
            </a:r>
            <a:endParaRPr b="0" i="0" sz="14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Criteria for suspension:</a:t>
            </a:r>
            <a:endParaRPr b="0" i="0" sz="14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path deadline is missed so that the client will not accept the delivery even if all testings are completed</a:t>
            </a:r>
            <a:endParaRPr b="0" i="0" sz="14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Unavailability of external dependent systems during execution</a:t>
            </a:r>
            <a:endParaRPr b="0" i="0" sz="14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a defect is introduced that may not allow further testing process</a:t>
            </a:r>
            <a:endParaRPr b="0" i="0" sz="14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server crashes</a:t>
            </a:r>
            <a:endParaRPr b="0" i="0" sz="14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application crashes</a:t>
            </a:r>
            <a:endParaRPr b="0" i="0" sz="14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Criterias for resumption: When all suspension issues are resolved and suspension rate is not over 40%</a:t>
            </a:r>
            <a:endParaRPr b="0" i="0" sz="14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81000" lvl="0" marL="4699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CC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310" name="Google Shape;310;p14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11" name="Google Shape;311;p14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4) Define Test Criteria</a:t>
            </a:r>
            <a:endParaRPr/>
          </a:p>
        </p:txBody>
      </p:sp>
      <p:sp>
        <p:nvSpPr>
          <p:cNvPr id="317" name="Google Shape;317;p15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Exit Criteria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✔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test cases executed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✔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90% test cases passed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✔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and sufficient coverage of the requirements and functionalities under the test.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✔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the identified defects are corrected and closed.</a:t>
            </a:r>
            <a:endParaRPr/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5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5) Resource Planning</a:t>
            </a:r>
            <a:endParaRPr/>
          </a:p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533400" y="16002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Resources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Manager</a:t>
            </a: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manage and define directions, strategies, plan…</a:t>
            </a:r>
            <a:endParaRPr b="0" i="0" sz="2800" u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Tester</a:t>
            </a: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execute test and reports bug findings,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 Automation Tester and Manual Tester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designer</a:t>
            </a: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create test specification</a:t>
            </a:r>
            <a:endParaRPr/>
          </a:p>
        </p:txBody>
      </p:sp>
      <p:sp>
        <p:nvSpPr>
          <p:cNvPr id="327" name="Google Shape;327;p16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29" name="Google Shape;329;p16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5) Resource Planning</a:t>
            </a:r>
            <a:endParaRPr/>
          </a:p>
        </p:txBody>
      </p:sp>
      <p:sp>
        <p:nvSpPr>
          <p:cNvPr id="335" name="Google Shape;335;p17"/>
          <p:cNvSpPr txBox="1"/>
          <p:nvPr>
            <p:ph idx="1" type="body"/>
          </p:nvPr>
        </p:nvSpPr>
        <p:spPr>
          <a:xfrm>
            <a:off x="533400" y="16002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Resources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 </a:t>
            </a: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 web, database and application servers.</a:t>
            </a:r>
            <a:endParaRPr b="0" i="0" sz="28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tool:</a:t>
            </a: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simulate user operation, generate test results.</a:t>
            </a:r>
            <a:endParaRPr b="0" i="0" sz="28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Wifi, 4G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</a:t>
            </a: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how the user access the web</a:t>
            </a:r>
            <a:endParaRPr/>
          </a:p>
        </p:txBody>
      </p:sp>
      <p:sp>
        <p:nvSpPr>
          <p:cNvPr id="336" name="Google Shape;336;p17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6) Plan Test Environment</a:t>
            </a:r>
            <a:endParaRPr/>
          </a:p>
        </p:txBody>
      </p:sp>
      <p:sp>
        <p:nvSpPr>
          <p:cNvPr id="344" name="Google Shape;344;p18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Pre-requisites softwares:</a:t>
            </a:r>
            <a:endParaRPr b="0" i="0" sz="30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Apache HTTP Server 1.3 or later</a:t>
            </a:r>
            <a:endParaRPr b="0" i="0" sz="1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 5.1.6 or later</a:t>
            </a:r>
            <a:endParaRPr b="0" i="0" sz="1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 5.3.0 or later</a:t>
            </a:r>
            <a:endParaRPr b="0" i="0" sz="1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Windows 10 or above</a:t>
            </a:r>
            <a:endParaRPr b="0" i="0" sz="1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Firefox, Chrome, Edge,…</a:t>
            </a:r>
            <a:endParaRPr b="0" i="0" sz="1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55600" lvl="0" marL="4699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45" name="Google Shape;345;p18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346" name="Google Shape;346;p18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47" name="Google Shape;347;p18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6) Plan Test Environment</a:t>
            </a:r>
            <a:endParaRPr/>
          </a:p>
        </p:txBody>
      </p:sp>
      <p:sp>
        <p:nvSpPr>
          <p:cNvPr id="353" name="Google Shape;353;p19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hardware requirements</a:t>
            </a:r>
            <a:endParaRPr b="0" i="0" sz="18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Processor - Intel x86-64 Architecture 1.8GHz processor or equivalent</a:t>
            </a:r>
            <a:endParaRPr b="0" i="0" sz="1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 - 8GB or more</a:t>
            </a:r>
            <a:endParaRPr b="0" i="0" sz="1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 disk - 40GB or more</a:t>
            </a:r>
            <a:endParaRPr b="0" i="0" sz="1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- network with speed at least 5MB/s</a:t>
            </a:r>
            <a:endParaRPr b="0" i="0" sz="18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setup:</a:t>
            </a:r>
            <a:endParaRPr b="0" i="0" sz="2600" u="non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https://www.orangehrm.com/assets/Files/OHRM-User-Guide.pdf</a:t>
            </a:r>
            <a:endParaRPr b="0" i="0" sz="26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4800" lvl="0" marL="4699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4" name="Google Shape;354;p19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355" name="Google Shape;355;p19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56" name="Google Shape;356;p19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 txBox="1"/>
          <p:nvPr>
            <p:ph type="title"/>
          </p:nvPr>
        </p:nvSpPr>
        <p:spPr>
          <a:xfrm>
            <a:off x="584200" y="144462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7) Schedule &amp; Estimation</a:t>
            </a:r>
            <a:endParaRPr/>
          </a:p>
        </p:txBody>
      </p:sp>
      <p:sp>
        <p:nvSpPr>
          <p:cNvPr id="362" name="Google Shape;362;p20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estimation</a:t>
            </a:r>
            <a:endParaRPr/>
          </a:p>
          <a:p>
            <a:pPr indent="-2794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65" name="Google Shape;365;p20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  <p:graphicFrame>
        <p:nvGraphicFramePr>
          <p:cNvPr id="366" name="Google Shape;366;p20"/>
          <p:cNvGraphicFramePr/>
          <p:nvPr/>
        </p:nvGraphicFramePr>
        <p:xfrm>
          <a:off x="757237" y="224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{778016F5-CE22-40FA-8305-F0AB57F25A3D}</a:tableStyleId>
              </a:tblPr>
              <a:tblGrid>
                <a:gridCol w="2606675"/>
                <a:gridCol w="2605075"/>
                <a:gridCol w="2606675"/>
              </a:tblGrid>
              <a:tr h="42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Task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Estimate Effort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 test specification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manager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man-hour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test case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designer, Tester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 man-hour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4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 up test environment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manager, tester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man-hour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Perform test execution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 man-hour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4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report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manager, Tester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man-hour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delivery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manager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man-hour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4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144 man-hour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4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"/>
          <p:cNvSpPr txBox="1"/>
          <p:nvPr>
            <p:ph type="title"/>
          </p:nvPr>
        </p:nvSpPr>
        <p:spPr>
          <a:xfrm>
            <a:off x="584200" y="144462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7) Schedule &amp; Estimation</a:t>
            </a:r>
            <a:endParaRPr/>
          </a:p>
        </p:txBody>
      </p:sp>
      <p:sp>
        <p:nvSpPr>
          <p:cNvPr id="372" name="Google Shape;372;p21"/>
          <p:cNvSpPr txBox="1"/>
          <p:nvPr>
            <p:ph idx="1" type="body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/>
          </a:p>
          <a:p>
            <a:pPr indent="-279400" lvl="0" marL="469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699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374" name="Google Shape;374;p21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75" name="Google Shape;375;p21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  <p:pic>
        <p:nvPicPr>
          <p:cNvPr id="376" name="Google Shape;3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162" y="2182812"/>
            <a:ext cx="9144000" cy="39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Step 8) Test Deliverables</a:t>
            </a:r>
            <a:endParaRPr/>
          </a:p>
        </p:txBody>
      </p:sp>
      <p:sp>
        <p:nvSpPr>
          <p:cNvPr id="382" name="Google Shape;382;p22"/>
          <p:cNvSpPr txBox="1"/>
          <p:nvPr>
            <p:ph idx="4294967295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□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deliverables are provided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testing phase.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Test plans document.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Test cases documents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Design specifications.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□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deliverables are provided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during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testing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Test Scripts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Simulators.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Test Data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Traceability Matrix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logs and execution logs.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□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deliverables are provided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testing cycles is over.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Test Results/reports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Defect Report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Installation/ Test procedures guidelines</a:t>
            </a:r>
            <a:endParaRPr/>
          </a:p>
          <a:p>
            <a:pPr indent="-436563" lvl="1" marL="908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Release notes</a:t>
            </a:r>
            <a:endParaRPr/>
          </a:p>
          <a:p>
            <a:pPr indent="-368300" lvl="0" marL="469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5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7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9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6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0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4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8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2004-05-28T22:10:58Z</dcterms:created>
  <dc:creator>salsero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