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6" roundtripDataSignature="AMtx7mjuBE6QOiMcxWupnrs1+n6UNpL5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CD6B8E9-9DD6-444A-85E7-B12D77E24B1F}">
  <a:tblStyle styleId="{1CD6B8E9-9DD6-444A-85E7-B12D77E24B1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36" Type="http://customschemas.google.com/relationships/presentationmetadata" Target="meta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e4a02ea4f9_4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23127244 - Lê Thiên Phú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23127262 - Lý Quốc Thạnh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23127373 - Nguyễn Đình Thái Hưng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23127241 - Đoàn Thành Phát</a:t>
            </a:r>
            <a:endParaRPr/>
          </a:p>
        </p:txBody>
      </p:sp>
      <p:sp>
        <p:nvSpPr>
          <p:cNvPr id="423" name="Google Shape;423;g3e4a02ea4f9_4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e4a02ea4f9_2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g3e4a02ea4f9_25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e4a02ea4f9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23127194 - Nguyễn Hoàng Phi Hùng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23127261 - Vương Ngũ Tín Thành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23127272 - Nguyễn Thiên Nhã Trân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23127280 - Nguyễn Hiền Tuấn Anh</a:t>
            </a:r>
            <a:endParaRPr/>
          </a:p>
        </p:txBody>
      </p:sp>
      <p:sp>
        <p:nvSpPr>
          <p:cNvPr id="588" name="Google Shape;588;g3e4a02ea4f9_1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e4a02ea4f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g3e4a02ea4f9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e4a02ea4f9_25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23127086 - Huỳnh Sĩ Luân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23127092 - Nguyễn Nhật Nam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23127212 - Nguyễn Quang Đăng Khoa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23127540 - Phạm Đức Toàn</a:t>
            </a:r>
            <a:endParaRPr/>
          </a:p>
        </p:txBody>
      </p:sp>
      <p:sp>
        <p:nvSpPr>
          <p:cNvPr id="712" name="Google Shape;712;g3e4a02ea4f9_25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e4a02ea4f9_2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g3e4a02ea4f9_28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3e4a02ea4f9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g3e4a02ea4f9_1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e4a02ea4f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g3e4a02ea4f9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e4a02ea4f9_4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g3e4a02ea4f9_4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3e4a02ea4f9_27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23127503 - Trần Thanh Trí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23127443 - Trần Phạm Trọng Nhân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23127376 - Hồ Gia Huy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23127325 - Lê Gia Bảo</a:t>
            </a:r>
            <a:endParaRPr/>
          </a:p>
        </p:txBody>
      </p:sp>
      <p:sp>
        <p:nvSpPr>
          <p:cNvPr id="948" name="Google Shape;948;g3e4a02ea4f9_27_1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4a02ea4f9_27_16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g3e4a02ea4f9_27_16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g3e4a02ea4f9_27_16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4a02ea4f9_27_173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3e4a02ea4f9_27_17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g3e4a02ea4f9_27_17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g3e4a02ea4f9_27_17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g3e4a02ea4f9_27_17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4a02ea4f9_27_17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3e4a02ea4f9_27_17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g3e4a02ea4f9_27_17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3e4a02ea4f9_27_17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g3e4a02ea4f9_27_17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4a02ea4f9_27_18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g3e4a02ea4f9_27_18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g3e4a02ea4f9_27_18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g3e4a02ea4f9_27_18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3e4a02ea4f9_27_18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4a02ea4f9_27_19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g3e4a02ea4f9_27_191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1" name="Google Shape;111;g3e4a02ea4f9_27_191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g3e4a02ea4f9_27_19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g3e4a02ea4f9_27_19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e4a02ea4f9_27_19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4a02ea4f9_27_19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g3e4a02ea4f9_27_198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g3e4a02ea4f9_27_198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9" name="Google Shape;119;g3e4a02ea4f9_27_198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g3e4a02ea4f9_27_198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g3e4a02ea4f9_27_19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e4a02ea4f9_27_19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g3e4a02ea4f9_27_19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4a02ea4f9_27_20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g3e4a02ea4f9_27_20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3e4a02ea4f9_27_20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3e4a02ea4f9_27_20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4a02ea4f9_27_212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g3e4a02ea4f9_27_212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g3e4a02ea4f9_27_212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3" name="Google Shape;133;g3e4a02ea4f9_27_21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g3e4a02ea4f9_27_21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g3e4a02ea4f9_27_21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4a02ea4f9_27_219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g3e4a02ea4f9_27_2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g3e4a02ea4f9_27_219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g3e4a02ea4f9_27_21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g3e4a02ea4f9_27_21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g3e4a02ea4f9_27_2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4a02ea4f9_27_2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g3e4a02ea4f9_27_226"/>
          <p:cNvSpPr txBox="1"/>
          <p:nvPr>
            <p:ph idx="1" type="body"/>
          </p:nvPr>
        </p:nvSpPr>
        <p:spPr>
          <a:xfrm rot="5400000">
            <a:off x="2308951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g3e4a02ea4f9_27_22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g3e4a02ea4f9_27_22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g3e4a02ea4f9_27_2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4a02ea4f9_27_232"/>
          <p:cNvSpPr txBox="1"/>
          <p:nvPr>
            <p:ph type="title"/>
          </p:nvPr>
        </p:nvSpPr>
        <p:spPr>
          <a:xfrm rot="5400000">
            <a:off x="4732351" y="2171689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g3e4a02ea4f9_27_232"/>
          <p:cNvSpPr txBox="1"/>
          <p:nvPr>
            <p:ph idx="1" type="body"/>
          </p:nvPr>
        </p:nvSpPr>
        <p:spPr>
          <a:xfrm rot="5400000">
            <a:off x="541350" y="190487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g3e4a02ea4f9_27_23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g3e4a02ea4f9_27_23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g3e4a02ea4f9_27_2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4a02ea4f9_27_1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g3e4a02ea4f9_27_16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g3e4a02ea4f9_27_16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g3e4a02ea4f9_27_16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g3e4a02ea4f9_27_16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369A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0369A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CS423/CSC15003 · SOFTWARE TESTING · WEEK 01</a:t>
            </a:r>
            <a:endParaRPr/>
          </a:p>
        </p:txBody>
      </p:sp>
      <p:sp>
        <p:nvSpPr>
          <p:cNvPr id="163" name="Google Shape;163;p1"/>
          <p:cNvSpPr txBox="1"/>
          <p:nvPr/>
        </p:nvSpPr>
        <p:spPr>
          <a:xfrm>
            <a:off x="640080" y="1280160"/>
            <a:ext cx="109728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In-class Activities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W01 · Testing Intro &amp; STLC</a:t>
            </a:r>
            <a:endParaRPr/>
          </a:p>
        </p:txBody>
      </p:sp>
      <p:sp>
        <p:nvSpPr>
          <p:cNvPr id="164" name="Google Shape;164;p1"/>
          <p:cNvSpPr/>
          <p:nvPr/>
        </p:nvSpPr>
        <p:spPr>
          <a:xfrm>
            <a:off x="640080" y="4206240"/>
            <a:ext cx="548640" cy="54864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"/>
          <p:cNvSpPr txBox="1"/>
          <p:nvPr/>
        </p:nvSpPr>
        <p:spPr>
          <a:xfrm>
            <a:off x="640080" y="438912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rgbClr val="F1F5F9"/>
                </a:solidFill>
                <a:latin typeface="Georgia"/>
                <a:ea typeface="Georgia"/>
                <a:cs typeface="Georgia"/>
                <a:sym typeface="Georgia"/>
              </a:rPr>
              <a:t>Apply what you watched at home — to the EShop SUT, with your team.</a:t>
            </a:r>
            <a:endParaRPr/>
          </a:p>
        </p:txBody>
      </p:sp>
      <p:sp>
        <p:nvSpPr>
          <p:cNvPr id="166" name="Google Shape;166;p1"/>
          <p:cNvSpPr/>
          <p:nvPr/>
        </p:nvSpPr>
        <p:spPr>
          <a:xfrm>
            <a:off x="640080" y="5212080"/>
            <a:ext cx="2606040" cy="411480"/>
          </a:xfrm>
          <a:prstGeom prst="roundRect">
            <a:avLst>
              <a:gd fmla="val 50000" name="adj"/>
            </a:avLst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"/>
          <p:cNvSpPr txBox="1"/>
          <p:nvPr/>
        </p:nvSpPr>
        <p:spPr>
          <a:xfrm>
            <a:off x="640080" y="5212080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180 min · 4 periods</a:t>
            </a:r>
            <a:endParaRPr/>
          </a:p>
        </p:txBody>
      </p:sp>
      <p:sp>
        <p:nvSpPr>
          <p:cNvPr id="168" name="Google Shape;168;p1"/>
          <p:cNvSpPr/>
          <p:nvPr/>
        </p:nvSpPr>
        <p:spPr>
          <a:xfrm>
            <a:off x="3383280" y="5212080"/>
            <a:ext cx="2606040" cy="41148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"/>
          <p:cNvSpPr txBox="1"/>
          <p:nvPr/>
        </p:nvSpPr>
        <p:spPr>
          <a:xfrm>
            <a:off x="3383280" y="5212080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40 students · 10-12 groups</a:t>
            </a:r>
            <a:endParaRPr/>
          </a:p>
        </p:txBody>
      </p:sp>
      <p:sp>
        <p:nvSpPr>
          <p:cNvPr id="170" name="Google Shape;170;p1"/>
          <p:cNvSpPr/>
          <p:nvPr/>
        </p:nvSpPr>
        <p:spPr>
          <a:xfrm>
            <a:off x="6126480" y="5212080"/>
            <a:ext cx="2606040" cy="41148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"/>
          <p:cNvSpPr txBox="1"/>
          <p:nvPr/>
        </p:nvSpPr>
        <p:spPr>
          <a:xfrm>
            <a:off x="6126480" y="5212080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5 hands-on activities</a:t>
            </a:r>
            <a:endParaRPr/>
          </a:p>
        </p:txBody>
      </p:sp>
      <p:sp>
        <p:nvSpPr>
          <p:cNvPr id="172" name="Google Shape;172;p1"/>
          <p:cNvSpPr/>
          <p:nvPr/>
        </p:nvSpPr>
        <p:spPr>
          <a:xfrm>
            <a:off x="8869680" y="5212080"/>
            <a:ext cx="2606040" cy="41148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"/>
          <p:cNvSpPr txBox="1"/>
          <p:nvPr/>
        </p:nvSpPr>
        <p:spPr>
          <a:xfrm>
            <a:off x="8869680" y="5212080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demos · group work</a:t>
            </a:r>
            <a:endParaRPr/>
          </a:p>
        </p:txBody>
      </p:sp>
      <p:sp>
        <p:nvSpPr>
          <p:cNvPr id="174" name="Google Shape;174;p1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Blended Learning · pre-class video watched · in-class = application</a:t>
            </a:r>
            <a:endParaRPr/>
          </a:p>
        </p:txBody>
      </p:sp>
      <p:sp>
        <p:nvSpPr>
          <p:cNvPr id="175" name="Google Shape;175;p1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Dr. Lâm Quang Vũ · FIT@HCMUS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BEFORE WE START</a:t>
            </a:r>
            <a:endParaRPr/>
          </a:p>
        </p:txBody>
      </p:sp>
      <p:sp>
        <p:nvSpPr>
          <p:cNvPr id="181" name="Google Shape;181;p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What you should have done at home (honesty check)</a:t>
            </a:r>
            <a:endParaRPr/>
          </a:p>
        </p:txBody>
      </p:sp>
      <p:sp>
        <p:nvSpPr>
          <p:cNvPr id="182" name="Google Shape;182;p2"/>
          <p:cNvSpPr/>
          <p:nvPr/>
        </p:nvSpPr>
        <p:spPr>
          <a:xfrm>
            <a:off x="548640" y="1371600"/>
            <a:ext cx="731520" cy="73152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"/>
          <p:cNvSpPr/>
          <p:nvPr/>
        </p:nvSpPr>
        <p:spPr>
          <a:xfrm>
            <a:off x="548640" y="1691640"/>
            <a:ext cx="11064240" cy="100584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"/>
          <p:cNvSpPr/>
          <p:nvPr/>
        </p:nvSpPr>
        <p:spPr>
          <a:xfrm>
            <a:off x="685800" y="1874520"/>
            <a:ext cx="640080" cy="640080"/>
          </a:xfrm>
          <a:prstGeom prst="roundRect">
            <a:avLst>
              <a:gd fmla="val 18000" name="adj"/>
            </a:avLst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"/>
          <p:cNvSpPr txBox="1"/>
          <p:nvPr/>
        </p:nvSpPr>
        <p:spPr>
          <a:xfrm>
            <a:off x="685800" y="18745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✓</a:t>
            </a:r>
            <a:endParaRPr/>
          </a:p>
        </p:txBody>
      </p:sp>
      <p:sp>
        <p:nvSpPr>
          <p:cNvPr id="186" name="Google Shape;186;p2"/>
          <p:cNvSpPr txBox="1"/>
          <p:nvPr/>
        </p:nvSpPr>
        <p:spPr>
          <a:xfrm>
            <a:off x="1508760" y="182880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Video</a:t>
            </a:r>
            <a:endParaRPr/>
          </a:p>
        </p:txBody>
      </p:sp>
      <p:sp>
        <p:nvSpPr>
          <p:cNvPr id="187" name="Google Shape;187;p2"/>
          <p:cNvSpPr txBox="1"/>
          <p:nvPr/>
        </p:nvSpPr>
        <p:spPr>
          <a:xfrm>
            <a:off x="3429000" y="1856232"/>
            <a:ext cx="80466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Watched videos (~75 min total).</a:t>
            </a:r>
            <a:endParaRPr/>
          </a:p>
        </p:txBody>
      </p:sp>
      <p:sp>
        <p:nvSpPr>
          <p:cNvPr id="188" name="Google Shape;188;p2"/>
          <p:cNvSpPr/>
          <p:nvPr/>
        </p:nvSpPr>
        <p:spPr>
          <a:xfrm>
            <a:off x="548640" y="2852928"/>
            <a:ext cx="11064240" cy="100584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"/>
          <p:cNvSpPr/>
          <p:nvPr/>
        </p:nvSpPr>
        <p:spPr>
          <a:xfrm>
            <a:off x="685800" y="3035808"/>
            <a:ext cx="640080" cy="640080"/>
          </a:xfrm>
          <a:prstGeom prst="roundRect">
            <a:avLst>
              <a:gd fmla="val 18000" name="adj"/>
            </a:avLst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"/>
          <p:cNvSpPr txBox="1"/>
          <p:nvPr/>
        </p:nvSpPr>
        <p:spPr>
          <a:xfrm>
            <a:off x="685800" y="303580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✓</a:t>
            </a:r>
            <a:endParaRPr/>
          </a:p>
        </p:txBody>
      </p:sp>
      <p:sp>
        <p:nvSpPr>
          <p:cNvPr id="191" name="Google Shape;191;p2"/>
          <p:cNvSpPr txBox="1"/>
          <p:nvPr/>
        </p:nvSpPr>
        <p:spPr>
          <a:xfrm>
            <a:off x="1508760" y="2990088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Reading</a:t>
            </a:r>
            <a:endParaRPr/>
          </a:p>
        </p:txBody>
      </p:sp>
      <p:sp>
        <p:nvSpPr>
          <p:cNvPr id="192" name="Google Shape;192;p2"/>
          <p:cNvSpPr txBox="1"/>
          <p:nvPr/>
        </p:nvSpPr>
        <p:spPr>
          <a:xfrm>
            <a:off x="3429000" y="3017520"/>
            <a:ext cx="8046720" cy="257635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Skimmed ISTQB Foundation syllabus C1, C2.</a:t>
            </a:r>
            <a:endParaRPr/>
          </a:p>
        </p:txBody>
      </p:sp>
      <p:sp>
        <p:nvSpPr>
          <p:cNvPr id="193" name="Google Shape;193;p2"/>
          <p:cNvSpPr/>
          <p:nvPr/>
        </p:nvSpPr>
        <p:spPr>
          <a:xfrm>
            <a:off x="548640" y="4014216"/>
            <a:ext cx="11064240" cy="100584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"/>
          <p:cNvSpPr/>
          <p:nvPr/>
        </p:nvSpPr>
        <p:spPr>
          <a:xfrm>
            <a:off x="685800" y="4197096"/>
            <a:ext cx="640080" cy="640080"/>
          </a:xfrm>
          <a:prstGeom prst="roundRect">
            <a:avLst>
              <a:gd fmla="val 18000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"/>
          <p:cNvSpPr txBox="1"/>
          <p:nvPr/>
        </p:nvSpPr>
        <p:spPr>
          <a:xfrm>
            <a:off x="685800" y="4197096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✓</a:t>
            </a:r>
            <a:endParaRPr/>
          </a:p>
        </p:txBody>
      </p:sp>
      <p:sp>
        <p:nvSpPr>
          <p:cNvPr id="196" name="Google Shape;196;p2"/>
          <p:cNvSpPr txBox="1"/>
          <p:nvPr/>
        </p:nvSpPr>
        <p:spPr>
          <a:xfrm>
            <a:off x="1508760" y="4151376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EShop</a:t>
            </a:r>
            <a:endParaRPr/>
          </a:p>
        </p:txBody>
      </p:sp>
      <p:sp>
        <p:nvSpPr>
          <p:cNvPr id="197" name="Google Shape;197;p2"/>
          <p:cNvSpPr txBox="1"/>
          <p:nvPr/>
        </p:nvSpPr>
        <p:spPr>
          <a:xfrm>
            <a:off x="3429000" y="4178808"/>
            <a:ext cx="80466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Cloned &amp; set up g</a:t>
            </a:r>
            <a:r>
              <a:rPr lang="en-US" sz="1200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ith</a:t>
            </a: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ub.com/ttbhanh/eshop-sut. Opened it once. Knows where login, cart, checkout live.</a:t>
            </a:r>
            <a:endParaRPr/>
          </a:p>
        </p:txBody>
      </p:sp>
      <p:sp>
        <p:nvSpPr>
          <p:cNvPr id="198" name="Google Shape;198;p2"/>
          <p:cNvSpPr/>
          <p:nvPr/>
        </p:nvSpPr>
        <p:spPr>
          <a:xfrm>
            <a:off x="548640" y="5175504"/>
            <a:ext cx="11064240" cy="100584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"/>
          <p:cNvSpPr/>
          <p:nvPr/>
        </p:nvSpPr>
        <p:spPr>
          <a:xfrm>
            <a:off x="685800" y="5358384"/>
            <a:ext cx="640080" cy="640080"/>
          </a:xfrm>
          <a:prstGeom prst="roundRect">
            <a:avLst>
              <a:gd fmla="val 18000" name="adj"/>
            </a:avLst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"/>
          <p:cNvSpPr txBox="1"/>
          <p:nvPr/>
        </p:nvSpPr>
        <p:spPr>
          <a:xfrm>
            <a:off x="685800" y="5358384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✓</a:t>
            </a:r>
            <a:endParaRPr/>
          </a:p>
        </p:txBody>
      </p:sp>
      <p:sp>
        <p:nvSpPr>
          <p:cNvPr id="201" name="Google Shape;201;p2"/>
          <p:cNvSpPr txBox="1"/>
          <p:nvPr/>
        </p:nvSpPr>
        <p:spPr>
          <a:xfrm>
            <a:off x="1508760" y="5312664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Notes</a:t>
            </a:r>
            <a:endParaRPr/>
          </a:p>
        </p:txBody>
      </p:sp>
      <p:sp>
        <p:nvSpPr>
          <p:cNvPr id="202" name="Google Shape;202;p2"/>
          <p:cNvSpPr txBox="1"/>
          <p:nvPr/>
        </p:nvSpPr>
        <p:spPr>
          <a:xfrm>
            <a:off x="3429000" y="5340096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Brought one written question OR one unclear concept to today's class.</a:t>
            </a:r>
            <a:endParaRPr/>
          </a:p>
        </p:txBody>
      </p:sp>
      <p:sp>
        <p:nvSpPr>
          <p:cNvPr id="203" name="Google Shape;203;p2"/>
          <p:cNvSpPr/>
          <p:nvPr/>
        </p:nvSpPr>
        <p:spPr>
          <a:xfrm>
            <a:off x="548640" y="6035040"/>
            <a:ext cx="11064240" cy="457200"/>
          </a:xfrm>
          <a:prstGeom prst="roundRect">
            <a:avLst>
              <a:gd fmla="val 18000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"/>
          <p:cNvSpPr txBox="1"/>
          <p:nvPr/>
        </p:nvSpPr>
        <p:spPr>
          <a:xfrm>
            <a:off x="868680" y="6035040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If you missed any of the above — pair with a teammate who didn't. Catch up during Activity 1.</a:t>
            </a:r>
            <a:endParaRPr/>
          </a:p>
        </p:txBody>
      </p:sp>
      <p:sp>
        <p:nvSpPr>
          <p:cNvPr id="205" name="Google Shape;205;p2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CS423/CSC15003 · W01 In-class Activities · Testing Intro &amp; STLC · EShop SUT</a:t>
            </a:r>
            <a:endParaRPr/>
          </a:p>
        </p:txBody>
      </p:sp>
      <p:sp>
        <p:nvSpPr>
          <p:cNvPr id="206" name="Google Shape;206;p2"/>
          <p:cNvSpPr txBox="1"/>
          <p:nvPr/>
        </p:nvSpPr>
        <p:spPr>
          <a:xfrm>
            <a:off x="10972800" y="656539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3 / 33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WARMUP · QUESTIONS</a:t>
            </a:r>
            <a:endParaRPr/>
          </a:p>
        </p:txBody>
      </p:sp>
      <p:sp>
        <p:nvSpPr>
          <p:cNvPr id="212" name="Google Shape;212;p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Answer in your head — instructor reveals after each</a:t>
            </a:r>
            <a:endParaRPr/>
          </a:p>
        </p:txBody>
      </p:sp>
      <p:sp>
        <p:nvSpPr>
          <p:cNvPr id="213" name="Google Shape;213;p3"/>
          <p:cNvSpPr/>
          <p:nvPr/>
        </p:nvSpPr>
        <p:spPr>
          <a:xfrm>
            <a:off x="548640" y="1371600"/>
            <a:ext cx="731520" cy="73152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"/>
          <p:cNvSpPr/>
          <p:nvPr/>
        </p:nvSpPr>
        <p:spPr>
          <a:xfrm>
            <a:off x="548640" y="1645920"/>
            <a:ext cx="11064240" cy="86868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"/>
          <p:cNvSpPr/>
          <p:nvPr/>
        </p:nvSpPr>
        <p:spPr>
          <a:xfrm>
            <a:off x="685800" y="1764792"/>
            <a:ext cx="640080" cy="365760"/>
          </a:xfrm>
          <a:prstGeom prst="roundRect">
            <a:avLst>
              <a:gd fmla="val 50000" name="adj"/>
            </a:avLst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"/>
          <p:cNvSpPr txBox="1"/>
          <p:nvPr/>
        </p:nvSpPr>
        <p:spPr>
          <a:xfrm>
            <a:off x="685800" y="1764792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/>
          </a:p>
        </p:txBody>
      </p:sp>
      <p:sp>
        <p:nvSpPr>
          <p:cNvPr id="217" name="Google Shape;217;p3"/>
          <p:cNvSpPr txBox="1"/>
          <p:nvPr/>
        </p:nvSpPr>
        <p:spPr>
          <a:xfrm>
            <a:off x="1463040" y="1727406"/>
            <a:ext cx="99669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Which is NOT a goal of software testing?</a:t>
            </a:r>
            <a:endParaRPr/>
          </a:p>
        </p:txBody>
      </p:sp>
      <p:sp>
        <p:nvSpPr>
          <p:cNvPr id="218" name="Google Shape;218;p3"/>
          <p:cNvSpPr txBox="1"/>
          <p:nvPr/>
        </p:nvSpPr>
        <p:spPr>
          <a:xfrm>
            <a:off x="1463040" y="2057400"/>
            <a:ext cx="9966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A. Find defects · B. Prove software has zero bugs · C. Build confidence · D. Provide info for decisions</a:t>
            </a:r>
            <a:endParaRPr/>
          </a:p>
        </p:txBody>
      </p:sp>
      <p:sp>
        <p:nvSpPr>
          <p:cNvPr id="219" name="Google Shape;219;p3"/>
          <p:cNvSpPr/>
          <p:nvPr/>
        </p:nvSpPr>
        <p:spPr>
          <a:xfrm>
            <a:off x="548640" y="2578608"/>
            <a:ext cx="11064240" cy="86868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"/>
          <p:cNvSpPr/>
          <p:nvPr/>
        </p:nvSpPr>
        <p:spPr>
          <a:xfrm>
            <a:off x="685800" y="2697480"/>
            <a:ext cx="640080" cy="365760"/>
          </a:xfrm>
          <a:prstGeom prst="roundRect">
            <a:avLst>
              <a:gd fmla="val 50000" name="adj"/>
            </a:avLst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"/>
          <p:cNvSpPr txBox="1"/>
          <p:nvPr/>
        </p:nvSpPr>
        <p:spPr>
          <a:xfrm>
            <a:off x="685800" y="269748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/>
          </a:p>
        </p:txBody>
      </p:sp>
      <p:sp>
        <p:nvSpPr>
          <p:cNvPr id="222" name="Google Shape;222;p3"/>
          <p:cNvSpPr txBox="1"/>
          <p:nvPr/>
        </p:nvSpPr>
        <p:spPr>
          <a:xfrm>
            <a:off x="1463040" y="2670048"/>
            <a:ext cx="9966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An EShop user can checkout with an empty cart. What level catches this?</a:t>
            </a:r>
            <a:endParaRPr/>
          </a:p>
        </p:txBody>
      </p:sp>
      <p:sp>
        <p:nvSpPr>
          <p:cNvPr id="223" name="Google Shape;223;p3"/>
          <p:cNvSpPr txBox="1"/>
          <p:nvPr/>
        </p:nvSpPr>
        <p:spPr>
          <a:xfrm>
            <a:off x="1463040" y="2990088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A. Unit · B. Integration · C. System · D. Acceptance</a:t>
            </a:r>
            <a:endParaRPr/>
          </a:p>
        </p:txBody>
      </p:sp>
      <p:sp>
        <p:nvSpPr>
          <p:cNvPr id="224" name="Google Shape;224;p3"/>
          <p:cNvSpPr/>
          <p:nvPr/>
        </p:nvSpPr>
        <p:spPr>
          <a:xfrm>
            <a:off x="548640" y="3511296"/>
            <a:ext cx="11064240" cy="86868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"/>
          <p:cNvSpPr/>
          <p:nvPr/>
        </p:nvSpPr>
        <p:spPr>
          <a:xfrm>
            <a:off x="685800" y="3630168"/>
            <a:ext cx="640080" cy="365760"/>
          </a:xfrm>
          <a:prstGeom prst="roundRect">
            <a:avLst>
              <a:gd fmla="val 50000" name="adj"/>
            </a:avLst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3"/>
          <p:cNvSpPr txBox="1"/>
          <p:nvPr/>
        </p:nvSpPr>
        <p:spPr>
          <a:xfrm>
            <a:off x="685800" y="3630168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/>
          </a:p>
        </p:txBody>
      </p:sp>
      <p:sp>
        <p:nvSpPr>
          <p:cNvPr id="227" name="Google Shape;227;p3"/>
          <p:cNvSpPr txBox="1"/>
          <p:nvPr/>
        </p:nvSpPr>
        <p:spPr>
          <a:xfrm>
            <a:off x="1463040" y="3602736"/>
            <a:ext cx="9966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The 7-principle 'Pesticide Paradox' means…</a:t>
            </a:r>
            <a:endParaRPr/>
          </a:p>
        </p:txBody>
      </p:sp>
      <p:sp>
        <p:nvSpPr>
          <p:cNvPr id="228" name="Google Shape;228;p3"/>
          <p:cNvSpPr txBox="1"/>
          <p:nvPr/>
        </p:nvSpPr>
        <p:spPr>
          <a:xfrm>
            <a:off x="1463040" y="3922776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A. Test data is toxic · B. Same tests stop finding new bugs over time · C. QA poisons developers · D. Production data must be cleaned</a:t>
            </a:r>
            <a:endParaRPr/>
          </a:p>
        </p:txBody>
      </p:sp>
      <p:sp>
        <p:nvSpPr>
          <p:cNvPr id="229" name="Google Shape;229;p3"/>
          <p:cNvSpPr/>
          <p:nvPr/>
        </p:nvSpPr>
        <p:spPr>
          <a:xfrm>
            <a:off x="548640" y="4443984"/>
            <a:ext cx="11064300" cy="86880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"/>
          <p:cNvSpPr/>
          <p:nvPr/>
        </p:nvSpPr>
        <p:spPr>
          <a:xfrm>
            <a:off x="685800" y="4562856"/>
            <a:ext cx="640080" cy="365760"/>
          </a:xfrm>
          <a:prstGeom prst="roundRect">
            <a:avLst>
              <a:gd fmla="val 50000" name="adj"/>
            </a:avLst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"/>
          <p:cNvSpPr txBox="1"/>
          <p:nvPr/>
        </p:nvSpPr>
        <p:spPr>
          <a:xfrm>
            <a:off x="685800" y="4562856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Q4</a:t>
            </a:r>
            <a:endParaRPr/>
          </a:p>
        </p:txBody>
      </p:sp>
      <p:sp>
        <p:nvSpPr>
          <p:cNvPr id="232" name="Google Shape;232;p3"/>
          <p:cNvSpPr txBox="1"/>
          <p:nvPr/>
        </p:nvSpPr>
        <p:spPr>
          <a:xfrm>
            <a:off x="1463040" y="4535424"/>
            <a:ext cx="9966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STLC starts with which phase?</a:t>
            </a:r>
            <a:endParaRPr/>
          </a:p>
        </p:txBody>
      </p:sp>
      <p:sp>
        <p:nvSpPr>
          <p:cNvPr id="233" name="Google Shape;233;p3"/>
          <p:cNvSpPr txBox="1"/>
          <p:nvPr/>
        </p:nvSpPr>
        <p:spPr>
          <a:xfrm>
            <a:off x="1463040" y="4855464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A. Test Execution · B. Test Closure · C. Test Analysis (or Requirement Analysis) · D. Test Reporting</a:t>
            </a:r>
            <a:endParaRPr/>
          </a:p>
        </p:txBody>
      </p:sp>
      <p:sp>
        <p:nvSpPr>
          <p:cNvPr id="234" name="Google Shape;234;p3"/>
          <p:cNvSpPr/>
          <p:nvPr/>
        </p:nvSpPr>
        <p:spPr>
          <a:xfrm>
            <a:off x="548640" y="5376672"/>
            <a:ext cx="11064240" cy="86868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"/>
          <p:cNvSpPr/>
          <p:nvPr/>
        </p:nvSpPr>
        <p:spPr>
          <a:xfrm>
            <a:off x="685800" y="5495544"/>
            <a:ext cx="640080" cy="365760"/>
          </a:xfrm>
          <a:prstGeom prst="roundRect">
            <a:avLst>
              <a:gd fmla="val 50000" name="adj"/>
            </a:avLst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"/>
          <p:cNvSpPr txBox="1"/>
          <p:nvPr/>
        </p:nvSpPr>
        <p:spPr>
          <a:xfrm>
            <a:off x="685800" y="549554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Q5</a:t>
            </a:r>
            <a:endParaRPr/>
          </a:p>
        </p:txBody>
      </p:sp>
      <p:sp>
        <p:nvSpPr>
          <p:cNvPr id="237" name="Google Shape;237;p3"/>
          <p:cNvSpPr txBox="1"/>
          <p:nvPr/>
        </p:nvSpPr>
        <p:spPr>
          <a:xfrm>
            <a:off x="1463040" y="5468112"/>
            <a:ext cx="9966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Big-bang integration means…</a:t>
            </a:r>
            <a:endParaRPr/>
          </a:p>
        </p:txBody>
      </p:sp>
      <p:sp>
        <p:nvSpPr>
          <p:cNvPr id="238" name="Google Shape;238;p3"/>
          <p:cNvSpPr txBox="1"/>
          <p:nvPr/>
        </p:nvSpPr>
        <p:spPr>
          <a:xfrm>
            <a:off x="1463040" y="57881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A. Test the riskiest unit first · B. Integrate all units at once and test together · C. Mock everything · D. Test in production</a:t>
            </a:r>
            <a:endParaRPr/>
          </a:p>
        </p:txBody>
      </p:sp>
      <p:sp>
        <p:nvSpPr>
          <p:cNvPr id="239" name="Google Shape;239;p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(Answers revealed by instructor verbally. Don't peek at the speaker notes.)</a:t>
            </a:r>
            <a:endParaRPr/>
          </a:p>
        </p:txBody>
      </p:sp>
      <p:sp>
        <p:nvSpPr>
          <p:cNvPr id="240" name="Google Shape;240;p3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CS423/CSC15003 · W01 In-class Activities · Testing Intro &amp; STLC · EShop SUT</a:t>
            </a:r>
            <a:endParaRPr/>
          </a:p>
        </p:txBody>
      </p:sp>
      <p:sp>
        <p:nvSpPr>
          <p:cNvPr id="241" name="Google Shape;241;p3"/>
          <p:cNvSpPr txBox="1"/>
          <p:nvPr/>
        </p:nvSpPr>
        <p:spPr>
          <a:xfrm>
            <a:off x="10972800" y="656539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5 / 33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"/>
          <p:cNvSpPr/>
          <p:nvPr/>
        </p:nvSpPr>
        <p:spPr>
          <a:xfrm>
            <a:off x="150" y="0"/>
            <a:ext cx="12191700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4"/>
          <p:cNvSpPr/>
          <p:nvPr/>
        </p:nvSpPr>
        <p:spPr>
          <a:xfrm>
            <a:off x="548640" y="2468880"/>
            <a:ext cx="137160" cy="2011680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4"/>
          <p:cNvSpPr txBox="1"/>
          <p:nvPr/>
        </p:nvSpPr>
        <p:spPr>
          <a:xfrm>
            <a:off x="822960" y="2377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ACTIVITY 01</a:t>
            </a:r>
            <a:endParaRPr/>
          </a:p>
        </p:txBody>
      </p:sp>
      <p:sp>
        <p:nvSpPr>
          <p:cNvPr id="249" name="Google Shape;249;p4"/>
          <p:cNvSpPr txBox="1"/>
          <p:nvPr/>
        </p:nvSpPr>
        <p:spPr>
          <a:xfrm>
            <a:off x="822960" y="2788920"/>
            <a:ext cx="10972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Test Type &amp; Level Sorter</a:t>
            </a:r>
            <a:endParaRPr/>
          </a:p>
        </p:txBody>
      </p:sp>
      <p:sp>
        <p:nvSpPr>
          <p:cNvPr id="250" name="Google Shape;250;p4"/>
          <p:cNvSpPr txBox="1"/>
          <p:nvPr/>
        </p:nvSpPr>
        <p:spPr>
          <a:xfrm>
            <a:off x="822960" y="4297680"/>
            <a:ext cx="10058400" cy="336759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Map 12 EShop test situations onto a 4×4 taxonomy grid · 15 min · groups of 3-4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5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ACTIVITY 1 · 25 MIN</a:t>
            </a:r>
            <a:endParaRPr/>
          </a:p>
        </p:txBody>
      </p:sp>
      <p:sp>
        <p:nvSpPr>
          <p:cNvPr id="256" name="Google Shape;256;p5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Where does each test situation belong?</a:t>
            </a:r>
            <a:endParaRPr/>
          </a:p>
        </p:txBody>
      </p:sp>
      <p:sp>
        <p:nvSpPr>
          <p:cNvPr id="257" name="Google Shape;257;p5"/>
          <p:cNvSpPr/>
          <p:nvPr/>
        </p:nvSpPr>
        <p:spPr>
          <a:xfrm>
            <a:off x="548640" y="1371600"/>
            <a:ext cx="731520" cy="73152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5"/>
          <p:cNvSpPr txBox="1"/>
          <p:nvPr/>
        </p:nvSpPr>
        <p:spPr>
          <a:xfrm>
            <a:off x="548640" y="1691640"/>
            <a:ext cx="7132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Your task</a:t>
            </a:r>
            <a:endParaRPr/>
          </a:p>
        </p:txBody>
      </p:sp>
      <p:sp>
        <p:nvSpPr>
          <p:cNvPr id="259" name="Google Shape;259;p5"/>
          <p:cNvSpPr txBox="1"/>
          <p:nvPr/>
        </p:nvSpPr>
        <p:spPr>
          <a:xfrm>
            <a:off x="548640" y="2103120"/>
            <a:ext cx="71323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Your group receives 12 cards. Each card describes a real testing situation on EShop.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0F1B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For each card, decide: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   (a) Which TEST LEVEL is this? (Unit / Integration / System / Acceptance)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   (b) Which TEST TYPE is this? (Functional / Non-functional / Structural / Change-related)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0F1B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Place the card on the 4×4 grid. Defend your placement to the next group when called.</a:t>
            </a:r>
            <a:endParaRPr/>
          </a:p>
        </p:txBody>
      </p:sp>
      <p:sp>
        <p:nvSpPr>
          <p:cNvPr id="260" name="Google Shape;260;p5"/>
          <p:cNvSpPr/>
          <p:nvPr/>
        </p:nvSpPr>
        <p:spPr>
          <a:xfrm>
            <a:off x="7863840" y="1691640"/>
            <a:ext cx="3749039" cy="4480560"/>
          </a:xfrm>
          <a:prstGeom prst="roundRect">
            <a:avLst>
              <a:gd fmla="val 18000" name="adj"/>
            </a:avLst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5"/>
          <p:cNvSpPr txBox="1"/>
          <p:nvPr/>
        </p:nvSpPr>
        <p:spPr>
          <a:xfrm>
            <a:off x="8001000" y="18288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WORKFLOW</a:t>
            </a:r>
            <a:endParaRPr/>
          </a:p>
        </p:txBody>
      </p:sp>
      <p:sp>
        <p:nvSpPr>
          <p:cNvPr id="262" name="Google Shape;262;p5"/>
          <p:cNvSpPr txBox="1"/>
          <p:nvPr/>
        </p:nvSpPr>
        <p:spPr>
          <a:xfrm>
            <a:off x="8092440" y="233172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0-3 min</a:t>
            </a:r>
            <a:endParaRPr/>
          </a:p>
        </p:txBody>
      </p:sp>
      <p:sp>
        <p:nvSpPr>
          <p:cNvPr id="263" name="Google Shape;263;p5"/>
          <p:cNvSpPr txBox="1"/>
          <p:nvPr/>
        </p:nvSpPr>
        <p:spPr>
          <a:xfrm>
            <a:off x="9509760" y="23317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Skim all 12 cards</a:t>
            </a:r>
            <a:endParaRPr/>
          </a:p>
        </p:txBody>
      </p:sp>
      <p:sp>
        <p:nvSpPr>
          <p:cNvPr id="264" name="Google Shape;264;p5"/>
          <p:cNvSpPr txBox="1"/>
          <p:nvPr/>
        </p:nvSpPr>
        <p:spPr>
          <a:xfrm>
            <a:off x="8092440" y="283464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3-15 min</a:t>
            </a:r>
            <a:endParaRPr/>
          </a:p>
        </p:txBody>
      </p:sp>
      <p:sp>
        <p:nvSpPr>
          <p:cNvPr id="265" name="Google Shape;265;p5"/>
          <p:cNvSpPr txBox="1"/>
          <p:nvPr/>
        </p:nvSpPr>
        <p:spPr>
          <a:xfrm>
            <a:off x="9509760" y="28346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Sort within group</a:t>
            </a:r>
            <a:endParaRPr/>
          </a:p>
        </p:txBody>
      </p:sp>
      <p:sp>
        <p:nvSpPr>
          <p:cNvPr id="266" name="Google Shape;266;p5"/>
          <p:cNvSpPr txBox="1"/>
          <p:nvPr/>
        </p:nvSpPr>
        <p:spPr>
          <a:xfrm>
            <a:off x="8092440" y="33375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15-20 min</a:t>
            </a:r>
            <a:endParaRPr/>
          </a:p>
        </p:txBody>
      </p:sp>
      <p:sp>
        <p:nvSpPr>
          <p:cNvPr id="267" name="Google Shape;267;p5"/>
          <p:cNvSpPr txBox="1"/>
          <p:nvPr/>
        </p:nvSpPr>
        <p:spPr>
          <a:xfrm>
            <a:off x="9509760" y="33375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Two groups exchange + critique</a:t>
            </a:r>
            <a:endParaRPr/>
          </a:p>
        </p:txBody>
      </p:sp>
      <p:sp>
        <p:nvSpPr>
          <p:cNvPr id="268" name="Google Shape;268;p5"/>
          <p:cNvSpPr txBox="1"/>
          <p:nvPr/>
        </p:nvSpPr>
        <p:spPr>
          <a:xfrm>
            <a:off x="8092440" y="384048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20-25 min</a:t>
            </a:r>
            <a:endParaRPr/>
          </a:p>
        </p:txBody>
      </p:sp>
      <p:sp>
        <p:nvSpPr>
          <p:cNvPr id="269" name="Google Shape;269;p5"/>
          <p:cNvSpPr txBox="1"/>
          <p:nvPr/>
        </p:nvSpPr>
        <p:spPr>
          <a:xfrm>
            <a:off x="9509760" y="384048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Class debrief — 3 trickiest cards</a:t>
            </a:r>
            <a:endParaRPr/>
          </a:p>
        </p:txBody>
      </p:sp>
      <p:sp>
        <p:nvSpPr>
          <p:cNvPr id="270" name="Google Shape;270;p5"/>
          <p:cNvSpPr/>
          <p:nvPr/>
        </p:nvSpPr>
        <p:spPr>
          <a:xfrm>
            <a:off x="8001000" y="5029200"/>
            <a:ext cx="3474720" cy="914400"/>
          </a:xfrm>
          <a:prstGeom prst="roundRect">
            <a:avLst>
              <a:gd fmla="val 18000" name="adj"/>
            </a:avLst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5"/>
          <p:cNvSpPr txBox="1"/>
          <p:nvPr/>
        </p:nvSpPr>
        <p:spPr>
          <a:xfrm>
            <a:off x="8092440" y="512064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DELIVERABLE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One grid photo per group, posted to Slack #w01-class.</a:t>
            </a:r>
            <a:endParaRPr/>
          </a:p>
        </p:txBody>
      </p:sp>
      <p:sp>
        <p:nvSpPr>
          <p:cNvPr id="272" name="Google Shape;272;p5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CS423/CSC15003 · W01 In-class Activities · Testing Intro &amp; STLC · EShop SUT</a:t>
            </a:r>
            <a:endParaRPr/>
          </a:p>
        </p:txBody>
      </p:sp>
      <p:sp>
        <p:nvSpPr>
          <p:cNvPr id="273" name="Google Shape;273;p5"/>
          <p:cNvSpPr txBox="1"/>
          <p:nvPr/>
        </p:nvSpPr>
        <p:spPr>
          <a:xfrm>
            <a:off x="10972800" y="656539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7 / 33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6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ESHOP REFRESHER</a:t>
            </a:r>
            <a:endParaRPr/>
          </a:p>
        </p:txBody>
      </p:sp>
      <p:sp>
        <p:nvSpPr>
          <p:cNvPr id="279" name="Google Shape;279;p6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The SUT you'll see all semester — the 60-second tour</a:t>
            </a:r>
            <a:endParaRPr/>
          </a:p>
        </p:txBody>
      </p:sp>
      <p:sp>
        <p:nvSpPr>
          <p:cNvPr id="280" name="Google Shape;280;p6"/>
          <p:cNvSpPr/>
          <p:nvPr/>
        </p:nvSpPr>
        <p:spPr>
          <a:xfrm>
            <a:off x="548640" y="1371600"/>
            <a:ext cx="731520" cy="73152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6"/>
          <p:cNvSpPr/>
          <p:nvPr/>
        </p:nvSpPr>
        <p:spPr>
          <a:xfrm>
            <a:off x="548640" y="1691640"/>
            <a:ext cx="3611880" cy="210312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6"/>
          <p:cNvSpPr/>
          <p:nvPr/>
        </p:nvSpPr>
        <p:spPr>
          <a:xfrm>
            <a:off x="777240" y="1874520"/>
            <a:ext cx="914400" cy="457200"/>
          </a:xfrm>
          <a:prstGeom prst="roundRect">
            <a:avLst>
              <a:gd fmla="val 40000" name="adj"/>
            </a:avLst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6"/>
          <p:cNvSpPr txBox="1"/>
          <p:nvPr/>
        </p:nvSpPr>
        <p:spPr>
          <a:xfrm>
            <a:off x="777240" y="187452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L1</a:t>
            </a:r>
            <a:endParaRPr/>
          </a:p>
        </p:txBody>
      </p:sp>
      <p:sp>
        <p:nvSpPr>
          <p:cNvPr id="284" name="Google Shape;284;p6"/>
          <p:cNvSpPr txBox="1"/>
          <p:nvPr/>
        </p:nvSpPr>
        <p:spPr>
          <a:xfrm>
            <a:off x="777240" y="246888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Web · React</a:t>
            </a:r>
            <a:endParaRPr/>
          </a:p>
        </p:txBody>
      </p:sp>
      <p:sp>
        <p:nvSpPr>
          <p:cNvPr id="285" name="Google Shape;285;p6"/>
          <p:cNvSpPr txBox="1"/>
          <p:nvPr/>
        </p:nvSpPr>
        <p:spPr>
          <a:xfrm>
            <a:off x="777240" y="297180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Customer storefront, admin panel</a:t>
            </a:r>
            <a:endParaRPr/>
          </a:p>
        </p:txBody>
      </p:sp>
      <p:sp>
        <p:nvSpPr>
          <p:cNvPr id="286" name="Google Shape;286;p6"/>
          <p:cNvSpPr/>
          <p:nvPr/>
        </p:nvSpPr>
        <p:spPr>
          <a:xfrm>
            <a:off x="4434840" y="1691640"/>
            <a:ext cx="3611880" cy="210312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6"/>
          <p:cNvSpPr/>
          <p:nvPr/>
        </p:nvSpPr>
        <p:spPr>
          <a:xfrm>
            <a:off x="4663440" y="1874520"/>
            <a:ext cx="914400" cy="457200"/>
          </a:xfrm>
          <a:prstGeom prst="roundRect">
            <a:avLst>
              <a:gd fmla="val 40000" name="adj"/>
            </a:avLst>
          </a:prstGeom>
          <a:solidFill>
            <a:srgbClr val="0369A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6"/>
          <p:cNvSpPr txBox="1"/>
          <p:nvPr/>
        </p:nvSpPr>
        <p:spPr>
          <a:xfrm>
            <a:off x="4663440" y="187452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L2</a:t>
            </a:r>
            <a:endParaRPr/>
          </a:p>
        </p:txBody>
      </p:sp>
      <p:sp>
        <p:nvSpPr>
          <p:cNvPr id="289" name="Google Shape;289;p6"/>
          <p:cNvSpPr txBox="1"/>
          <p:nvPr/>
        </p:nvSpPr>
        <p:spPr>
          <a:xfrm>
            <a:off x="4663440" y="246888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Mobile · React Native</a:t>
            </a:r>
            <a:endParaRPr/>
          </a:p>
        </p:txBody>
      </p:sp>
      <p:sp>
        <p:nvSpPr>
          <p:cNvPr id="290" name="Google Shape;290;p6"/>
          <p:cNvSpPr txBox="1"/>
          <p:nvPr/>
        </p:nvSpPr>
        <p:spPr>
          <a:xfrm>
            <a:off x="4663440" y="297180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iOS + Android customer apps</a:t>
            </a:r>
            <a:endParaRPr/>
          </a:p>
        </p:txBody>
      </p:sp>
      <p:sp>
        <p:nvSpPr>
          <p:cNvPr id="291" name="Google Shape;291;p6"/>
          <p:cNvSpPr/>
          <p:nvPr/>
        </p:nvSpPr>
        <p:spPr>
          <a:xfrm>
            <a:off x="8321040" y="1691640"/>
            <a:ext cx="3611880" cy="210312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6"/>
          <p:cNvSpPr/>
          <p:nvPr/>
        </p:nvSpPr>
        <p:spPr>
          <a:xfrm>
            <a:off x="8549640" y="1874520"/>
            <a:ext cx="914400" cy="457200"/>
          </a:xfrm>
          <a:prstGeom prst="roundRect">
            <a:avLst>
              <a:gd fmla="val 40000" name="adj"/>
            </a:avLst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6"/>
          <p:cNvSpPr txBox="1"/>
          <p:nvPr/>
        </p:nvSpPr>
        <p:spPr>
          <a:xfrm>
            <a:off x="8549640" y="187452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L3</a:t>
            </a:r>
            <a:endParaRPr/>
          </a:p>
        </p:txBody>
      </p:sp>
      <p:sp>
        <p:nvSpPr>
          <p:cNvPr id="294" name="Google Shape;294;p6"/>
          <p:cNvSpPr txBox="1"/>
          <p:nvPr/>
        </p:nvSpPr>
        <p:spPr>
          <a:xfrm>
            <a:off x="8549640" y="246888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Backend · Node + Express</a:t>
            </a:r>
            <a:endParaRPr/>
          </a:p>
        </p:txBody>
      </p:sp>
      <p:sp>
        <p:nvSpPr>
          <p:cNvPr id="295" name="Google Shape;295;p6"/>
          <p:cNvSpPr txBox="1"/>
          <p:nvPr/>
        </p:nvSpPr>
        <p:spPr>
          <a:xfrm>
            <a:off x="8549640" y="297180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REST API, auth, business logic</a:t>
            </a:r>
            <a:endParaRPr/>
          </a:p>
        </p:txBody>
      </p:sp>
      <p:sp>
        <p:nvSpPr>
          <p:cNvPr id="296" name="Google Shape;296;p6"/>
          <p:cNvSpPr/>
          <p:nvPr/>
        </p:nvSpPr>
        <p:spPr>
          <a:xfrm>
            <a:off x="548640" y="3977639"/>
            <a:ext cx="3611880" cy="210312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777240" y="4160519"/>
            <a:ext cx="914400" cy="457200"/>
          </a:xfrm>
          <a:prstGeom prst="roundRect">
            <a:avLst>
              <a:gd fmla="val 40000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6"/>
          <p:cNvSpPr txBox="1"/>
          <p:nvPr/>
        </p:nvSpPr>
        <p:spPr>
          <a:xfrm>
            <a:off x="777240" y="4160519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L4</a:t>
            </a:r>
            <a:endParaRPr/>
          </a:p>
        </p:txBody>
      </p:sp>
      <p:sp>
        <p:nvSpPr>
          <p:cNvPr id="299" name="Google Shape;299;p6"/>
          <p:cNvSpPr txBox="1"/>
          <p:nvPr/>
        </p:nvSpPr>
        <p:spPr>
          <a:xfrm>
            <a:off x="777240" y="4754879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Database · SQLite</a:t>
            </a:r>
            <a:endParaRPr/>
          </a:p>
        </p:txBody>
      </p:sp>
      <p:sp>
        <p:nvSpPr>
          <p:cNvPr id="300" name="Google Shape;300;p6"/>
          <p:cNvSpPr txBox="1"/>
          <p:nvPr/>
        </p:nvSpPr>
        <p:spPr>
          <a:xfrm>
            <a:off x="777240" y="5257799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Products, users, orders, sessions</a:t>
            </a:r>
            <a:endParaRPr/>
          </a:p>
        </p:txBody>
      </p:sp>
      <p:sp>
        <p:nvSpPr>
          <p:cNvPr id="301" name="Google Shape;301;p6"/>
          <p:cNvSpPr/>
          <p:nvPr/>
        </p:nvSpPr>
        <p:spPr>
          <a:xfrm>
            <a:off x="4434840" y="3977639"/>
            <a:ext cx="3611880" cy="210312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6"/>
          <p:cNvSpPr/>
          <p:nvPr/>
        </p:nvSpPr>
        <p:spPr>
          <a:xfrm>
            <a:off x="4663440" y="4160519"/>
            <a:ext cx="914400" cy="457200"/>
          </a:xfrm>
          <a:prstGeom prst="roundRect">
            <a:avLst>
              <a:gd fmla="val 40000" name="adj"/>
            </a:avLst>
          </a:prstGeom>
          <a:solidFill>
            <a:srgbClr val="14B8A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6"/>
          <p:cNvSpPr txBox="1"/>
          <p:nvPr/>
        </p:nvSpPr>
        <p:spPr>
          <a:xfrm>
            <a:off x="4663440" y="4160519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L5</a:t>
            </a:r>
            <a:endParaRPr/>
          </a:p>
        </p:txBody>
      </p:sp>
      <p:sp>
        <p:nvSpPr>
          <p:cNvPr id="304" name="Google Shape;304;p6"/>
          <p:cNvSpPr txBox="1"/>
          <p:nvPr/>
        </p:nvSpPr>
        <p:spPr>
          <a:xfrm>
            <a:off x="4663440" y="4754879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3rd-party · Stripe sandbox</a:t>
            </a:r>
            <a:endParaRPr/>
          </a:p>
        </p:txBody>
      </p:sp>
      <p:sp>
        <p:nvSpPr>
          <p:cNvPr id="305" name="Google Shape;305;p6"/>
          <p:cNvSpPr txBox="1"/>
          <p:nvPr/>
        </p:nvSpPr>
        <p:spPr>
          <a:xfrm>
            <a:off x="4663440" y="5257799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Payment, refunds</a:t>
            </a:r>
            <a:endParaRPr/>
          </a:p>
        </p:txBody>
      </p:sp>
      <p:sp>
        <p:nvSpPr>
          <p:cNvPr id="306" name="Google Shape;306;p6"/>
          <p:cNvSpPr/>
          <p:nvPr/>
        </p:nvSpPr>
        <p:spPr>
          <a:xfrm>
            <a:off x="8321040" y="3977639"/>
            <a:ext cx="3611880" cy="210312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6"/>
          <p:cNvSpPr/>
          <p:nvPr/>
        </p:nvSpPr>
        <p:spPr>
          <a:xfrm>
            <a:off x="8549640" y="4160519"/>
            <a:ext cx="914400" cy="457200"/>
          </a:xfrm>
          <a:prstGeom prst="roundRect">
            <a:avLst>
              <a:gd fmla="val 40000" name="adj"/>
            </a:avLst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6"/>
          <p:cNvSpPr txBox="1"/>
          <p:nvPr/>
        </p:nvSpPr>
        <p:spPr>
          <a:xfrm>
            <a:off x="8549640" y="4160519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L6</a:t>
            </a:r>
            <a:endParaRPr/>
          </a:p>
        </p:txBody>
      </p:sp>
      <p:sp>
        <p:nvSpPr>
          <p:cNvPr id="309" name="Google Shape;309;p6"/>
          <p:cNvSpPr txBox="1"/>
          <p:nvPr/>
        </p:nvSpPr>
        <p:spPr>
          <a:xfrm>
            <a:off x="8549640" y="4754879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Search · Built-in indexer</a:t>
            </a:r>
            <a:endParaRPr/>
          </a:p>
        </p:txBody>
      </p:sp>
      <p:sp>
        <p:nvSpPr>
          <p:cNvPr id="310" name="Google Shape;310;p6"/>
          <p:cNvSpPr txBox="1"/>
          <p:nvPr/>
        </p:nvSpPr>
        <p:spPr>
          <a:xfrm>
            <a:off x="8549640" y="5257799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Product search, filters</a:t>
            </a:r>
            <a:endParaRPr/>
          </a:p>
        </p:txBody>
      </p:sp>
      <p:sp>
        <p:nvSpPr>
          <p:cNvPr id="311" name="Google Shape;311;p6"/>
          <p:cNvSpPr/>
          <p:nvPr/>
        </p:nvSpPr>
        <p:spPr>
          <a:xfrm>
            <a:off x="548640" y="6309360"/>
            <a:ext cx="11064240" cy="320040"/>
          </a:xfrm>
          <a:prstGeom prst="roundRect">
            <a:avLst>
              <a:gd fmla="val 18000" name="adj"/>
            </a:avLst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6"/>
          <p:cNvSpPr txBox="1"/>
          <p:nvPr/>
        </p:nvSpPr>
        <p:spPr>
          <a:xfrm>
            <a:off x="868680" y="6309360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Repo: github.com/ttbhanh/eshop-sut · 22 FRs · 7 SEC requirements · live demo URL in Slack</a:t>
            </a:r>
            <a:endParaRPr/>
          </a:p>
        </p:txBody>
      </p:sp>
      <p:sp>
        <p:nvSpPr>
          <p:cNvPr id="313" name="Google Shape;313;p6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CS423/CSC15003 · W01 In-class Activities · Testing Intro &amp; STLC · EShop SUT</a:t>
            </a:r>
            <a:endParaRPr/>
          </a:p>
        </p:txBody>
      </p:sp>
      <p:sp>
        <p:nvSpPr>
          <p:cNvPr id="314" name="Google Shape;314;p6"/>
          <p:cNvSpPr txBox="1"/>
          <p:nvPr/>
        </p:nvSpPr>
        <p:spPr>
          <a:xfrm>
            <a:off x="10972800" y="656539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8 / 33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7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THE 12 CARDS</a:t>
            </a:r>
            <a:endParaRPr/>
          </a:p>
        </p:txBody>
      </p:sp>
      <p:sp>
        <p:nvSpPr>
          <p:cNvPr id="320" name="Google Shape;320;p7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12 cards — where does each land?</a:t>
            </a:r>
            <a:endParaRPr/>
          </a:p>
        </p:txBody>
      </p:sp>
      <p:sp>
        <p:nvSpPr>
          <p:cNvPr id="321" name="Google Shape;321;p7"/>
          <p:cNvSpPr/>
          <p:nvPr/>
        </p:nvSpPr>
        <p:spPr>
          <a:xfrm>
            <a:off x="548640" y="1371600"/>
            <a:ext cx="731520" cy="73152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2" name="Google Shape;322;p7"/>
          <p:cNvGrpSpPr/>
          <p:nvPr/>
        </p:nvGrpSpPr>
        <p:grpSpPr>
          <a:xfrm>
            <a:off x="548615" y="1714428"/>
            <a:ext cx="2743200" cy="1326000"/>
            <a:chOff x="548615" y="1714428"/>
            <a:chExt cx="2743200" cy="1326000"/>
          </a:xfrm>
        </p:grpSpPr>
        <p:sp>
          <p:nvSpPr>
            <p:cNvPr id="323" name="Google Shape;323;p7"/>
            <p:cNvSpPr/>
            <p:nvPr/>
          </p:nvSpPr>
          <p:spPr>
            <a:xfrm>
              <a:off x="548615" y="1714428"/>
              <a:ext cx="2743200" cy="1326000"/>
            </a:xfrm>
            <a:prstGeom prst="roundRect">
              <a:avLst>
                <a:gd fmla="val 18000" name="adj"/>
              </a:avLst>
            </a:prstGeom>
            <a:solidFill>
              <a:srgbClr val="F1F5F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7"/>
            <p:cNvSpPr/>
            <p:nvPr/>
          </p:nvSpPr>
          <p:spPr>
            <a:xfrm>
              <a:off x="685800" y="1828800"/>
              <a:ext cx="594360" cy="365760"/>
            </a:xfrm>
            <a:prstGeom prst="roundRect">
              <a:avLst>
                <a:gd fmla="val 50000" name="adj"/>
              </a:avLst>
            </a:prstGeom>
            <a:solidFill>
              <a:srgbClr val="0EA5E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7"/>
            <p:cNvSpPr txBox="1"/>
            <p:nvPr/>
          </p:nvSpPr>
          <p:spPr>
            <a:xfrm>
              <a:off x="685800" y="1828800"/>
              <a:ext cx="594300" cy="20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275" lIns="45700" spcFirstLastPara="1" rIns="45700" wrap="square" tIns="1827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C01</a:t>
              </a:r>
              <a:endParaRPr/>
            </a:p>
          </p:txBody>
        </p:sp>
        <p:sp>
          <p:nvSpPr>
            <p:cNvPr id="326" name="Google Shape;326;p7"/>
            <p:cNvSpPr txBox="1"/>
            <p:nvPr/>
          </p:nvSpPr>
          <p:spPr>
            <a:xfrm>
              <a:off x="685800" y="2286000"/>
              <a:ext cx="2469000" cy="40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75" lIns="45700" spcFirstLastPara="1" rIns="45700" wrap="square" tIns="18275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rgbClr val="0F1B3D"/>
                  </a:solidFill>
                  <a:latin typeface="Calibri"/>
                  <a:ea typeface="Calibri"/>
                  <a:cs typeface="Calibri"/>
                  <a:sym typeface="Calibri"/>
                </a:rPr>
                <a:t>Check that addToCart(productId, qty) inserts a row into cart table</a:t>
              </a:r>
              <a:endParaRPr/>
            </a:p>
          </p:txBody>
        </p:sp>
      </p:grpSp>
      <p:grpSp>
        <p:nvGrpSpPr>
          <p:cNvPr id="327" name="Google Shape;327;p7"/>
          <p:cNvGrpSpPr/>
          <p:nvPr/>
        </p:nvGrpSpPr>
        <p:grpSpPr>
          <a:xfrm>
            <a:off x="3456432" y="1691640"/>
            <a:ext cx="2743200" cy="1325880"/>
            <a:chOff x="3456432" y="1691640"/>
            <a:chExt cx="2743200" cy="1325880"/>
          </a:xfrm>
        </p:grpSpPr>
        <p:sp>
          <p:nvSpPr>
            <p:cNvPr id="328" name="Google Shape;328;p7"/>
            <p:cNvSpPr/>
            <p:nvPr/>
          </p:nvSpPr>
          <p:spPr>
            <a:xfrm>
              <a:off x="3456432" y="1691640"/>
              <a:ext cx="2743200" cy="1325880"/>
            </a:xfrm>
            <a:prstGeom prst="roundRect">
              <a:avLst>
                <a:gd fmla="val 18000" name="adj"/>
              </a:avLst>
            </a:prstGeom>
            <a:solidFill>
              <a:srgbClr val="F1F5F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3593592" y="1828800"/>
              <a:ext cx="594360" cy="365760"/>
            </a:xfrm>
            <a:prstGeom prst="roundRect">
              <a:avLst>
                <a:gd fmla="val 50000" name="adj"/>
              </a:avLst>
            </a:prstGeom>
            <a:solidFill>
              <a:srgbClr val="8B5CF6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7"/>
            <p:cNvSpPr txBox="1"/>
            <p:nvPr/>
          </p:nvSpPr>
          <p:spPr>
            <a:xfrm>
              <a:off x="3593592" y="1828800"/>
              <a:ext cx="594300" cy="20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275" lIns="45700" spcFirstLastPara="1" rIns="45700" wrap="square" tIns="1827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C02</a:t>
              </a:r>
              <a:endParaRPr/>
            </a:p>
          </p:txBody>
        </p:sp>
        <p:sp>
          <p:nvSpPr>
            <p:cNvPr id="331" name="Google Shape;331;p7"/>
            <p:cNvSpPr txBox="1"/>
            <p:nvPr/>
          </p:nvSpPr>
          <p:spPr>
            <a:xfrm>
              <a:off x="3593592" y="2286000"/>
              <a:ext cx="2469000" cy="40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75" lIns="45700" spcFirstLastPara="1" rIns="45700" wrap="square" tIns="18275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rgbClr val="0F1B3D"/>
                  </a:solidFill>
                  <a:latin typeface="Calibri"/>
                  <a:ea typeface="Calibri"/>
                  <a:cs typeface="Calibri"/>
                  <a:sym typeface="Calibri"/>
                </a:rPr>
                <a:t>Verify the Stripe webhook endpoint correctly updates order status</a:t>
              </a:r>
              <a:endParaRPr/>
            </a:p>
          </p:txBody>
        </p:sp>
      </p:grpSp>
      <p:grpSp>
        <p:nvGrpSpPr>
          <p:cNvPr id="332" name="Google Shape;332;p7"/>
          <p:cNvGrpSpPr/>
          <p:nvPr/>
        </p:nvGrpSpPr>
        <p:grpSpPr>
          <a:xfrm>
            <a:off x="6364224" y="1691640"/>
            <a:ext cx="2743200" cy="1325880"/>
            <a:chOff x="6364224" y="1691640"/>
            <a:chExt cx="2743200" cy="1325880"/>
          </a:xfrm>
        </p:grpSpPr>
        <p:sp>
          <p:nvSpPr>
            <p:cNvPr id="333" name="Google Shape;333;p7"/>
            <p:cNvSpPr/>
            <p:nvPr/>
          </p:nvSpPr>
          <p:spPr>
            <a:xfrm>
              <a:off x="6364224" y="1691640"/>
              <a:ext cx="2743200" cy="1325880"/>
            </a:xfrm>
            <a:prstGeom prst="roundRect">
              <a:avLst>
                <a:gd fmla="val 18000" name="adj"/>
              </a:avLst>
            </a:prstGeom>
            <a:solidFill>
              <a:srgbClr val="F1F5F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6501384" y="1828800"/>
              <a:ext cx="594360" cy="365760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7"/>
            <p:cNvSpPr txBox="1"/>
            <p:nvPr/>
          </p:nvSpPr>
          <p:spPr>
            <a:xfrm>
              <a:off x="6501384" y="1828800"/>
              <a:ext cx="594300" cy="20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275" lIns="45700" spcFirstLastPara="1" rIns="45700" wrap="square" tIns="1827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C03</a:t>
              </a:r>
              <a:endParaRPr/>
            </a:p>
          </p:txBody>
        </p:sp>
        <p:sp>
          <p:nvSpPr>
            <p:cNvPr id="336" name="Google Shape;336;p7"/>
            <p:cNvSpPr txBox="1"/>
            <p:nvPr/>
          </p:nvSpPr>
          <p:spPr>
            <a:xfrm>
              <a:off x="6501384" y="2286000"/>
              <a:ext cx="2469000" cy="40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75" lIns="45700" spcFirstLastPara="1" rIns="45700" wrap="square" tIns="18275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rgbClr val="0F1B3D"/>
                  </a:solidFill>
                  <a:latin typeface="Calibri"/>
                  <a:ea typeface="Calibri"/>
                  <a:cs typeface="Calibri"/>
                  <a:sym typeface="Calibri"/>
                </a:rPr>
                <a:t>A QA tester clicks 'Buy now' to confirm checkout flow end-to-end</a:t>
              </a:r>
              <a:endParaRPr/>
            </a:p>
          </p:txBody>
        </p:sp>
      </p:grpSp>
      <p:sp>
        <p:nvSpPr>
          <p:cNvPr id="337" name="Google Shape;337;p7"/>
          <p:cNvSpPr/>
          <p:nvPr/>
        </p:nvSpPr>
        <p:spPr>
          <a:xfrm>
            <a:off x="9272016" y="1691640"/>
            <a:ext cx="2743200" cy="132588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7"/>
          <p:cNvSpPr/>
          <p:nvPr/>
        </p:nvSpPr>
        <p:spPr>
          <a:xfrm>
            <a:off x="9409176" y="1828800"/>
            <a:ext cx="594360" cy="36576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7"/>
          <p:cNvSpPr txBox="1"/>
          <p:nvPr/>
        </p:nvSpPr>
        <p:spPr>
          <a:xfrm>
            <a:off x="9409176" y="1828800"/>
            <a:ext cx="594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C04</a:t>
            </a:r>
            <a:endParaRPr/>
          </a:p>
        </p:txBody>
      </p:sp>
      <p:sp>
        <p:nvSpPr>
          <p:cNvPr id="340" name="Google Shape;340;p7"/>
          <p:cNvSpPr txBox="1"/>
          <p:nvPr/>
        </p:nvSpPr>
        <p:spPr>
          <a:xfrm>
            <a:off x="9409176" y="2286000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User reports the Search page feels slow under 50 concurrent users</a:t>
            </a:r>
            <a:endParaRPr/>
          </a:p>
        </p:txBody>
      </p:sp>
      <p:grpSp>
        <p:nvGrpSpPr>
          <p:cNvPr id="341" name="Google Shape;341;p7"/>
          <p:cNvGrpSpPr/>
          <p:nvPr/>
        </p:nvGrpSpPr>
        <p:grpSpPr>
          <a:xfrm>
            <a:off x="548640" y="3172968"/>
            <a:ext cx="2743200" cy="1325880"/>
            <a:chOff x="548640" y="3172968"/>
            <a:chExt cx="2743200" cy="1325880"/>
          </a:xfrm>
        </p:grpSpPr>
        <p:sp>
          <p:nvSpPr>
            <p:cNvPr id="342" name="Google Shape;342;p7"/>
            <p:cNvSpPr/>
            <p:nvPr/>
          </p:nvSpPr>
          <p:spPr>
            <a:xfrm>
              <a:off x="548640" y="3172968"/>
              <a:ext cx="2743200" cy="1325880"/>
            </a:xfrm>
            <a:prstGeom prst="roundRect">
              <a:avLst>
                <a:gd fmla="val 18000" name="adj"/>
              </a:avLst>
            </a:prstGeom>
            <a:solidFill>
              <a:srgbClr val="F1F5F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685800" y="3310128"/>
              <a:ext cx="594360" cy="365760"/>
            </a:xfrm>
            <a:prstGeom prst="roundRect">
              <a:avLst>
                <a:gd fmla="val 50000" name="adj"/>
              </a:avLst>
            </a:prstGeom>
            <a:solidFill>
              <a:srgbClr val="8B5CF6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7"/>
            <p:cNvSpPr txBox="1"/>
            <p:nvPr/>
          </p:nvSpPr>
          <p:spPr>
            <a:xfrm>
              <a:off x="685800" y="3310128"/>
              <a:ext cx="594300" cy="20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275" lIns="45700" spcFirstLastPara="1" rIns="45700" wrap="square" tIns="1827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C05</a:t>
              </a:r>
              <a:endParaRPr/>
            </a:p>
          </p:txBody>
        </p:sp>
        <p:sp>
          <p:nvSpPr>
            <p:cNvPr id="345" name="Google Shape;345;p7"/>
            <p:cNvSpPr txBox="1"/>
            <p:nvPr/>
          </p:nvSpPr>
          <p:spPr>
            <a:xfrm>
              <a:off x="685800" y="3800778"/>
              <a:ext cx="2469000" cy="40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75" lIns="45700" spcFirstLastPara="1" rIns="45700" wrap="square" tIns="18275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rgbClr val="0F1B3D"/>
                  </a:solidFill>
                  <a:latin typeface="Calibri"/>
                  <a:ea typeface="Calibri"/>
                  <a:cs typeface="Calibri"/>
                  <a:sym typeface="Calibri"/>
                </a:rPr>
                <a:t>Confirm Auth API and Cart API talk correctly after JWT refresh</a:t>
              </a:r>
              <a:endParaRPr/>
            </a:p>
          </p:txBody>
        </p:sp>
      </p:grpSp>
      <p:sp>
        <p:nvSpPr>
          <p:cNvPr id="346" name="Google Shape;346;p7"/>
          <p:cNvSpPr/>
          <p:nvPr/>
        </p:nvSpPr>
        <p:spPr>
          <a:xfrm>
            <a:off x="3456432" y="3172968"/>
            <a:ext cx="2743200" cy="132588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7"/>
          <p:cNvSpPr/>
          <p:nvPr/>
        </p:nvSpPr>
        <p:spPr>
          <a:xfrm>
            <a:off x="3593592" y="3310128"/>
            <a:ext cx="594360" cy="36576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7"/>
          <p:cNvSpPr txBox="1"/>
          <p:nvPr/>
        </p:nvSpPr>
        <p:spPr>
          <a:xfrm>
            <a:off x="3593592" y="3310128"/>
            <a:ext cx="594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C06</a:t>
            </a:r>
            <a:endParaRPr/>
          </a:p>
        </p:txBody>
      </p:sp>
      <p:sp>
        <p:nvSpPr>
          <p:cNvPr id="349" name="Google Shape;349;p7"/>
          <p:cNvSpPr txBox="1"/>
          <p:nvPr/>
        </p:nvSpPr>
        <p:spPr>
          <a:xfrm>
            <a:off x="3593592" y="3767328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Validate that the discount-code function rejects expired codes</a:t>
            </a:r>
            <a:endParaRPr/>
          </a:p>
        </p:txBody>
      </p:sp>
      <p:sp>
        <p:nvSpPr>
          <p:cNvPr id="350" name="Google Shape;350;p7"/>
          <p:cNvSpPr/>
          <p:nvPr/>
        </p:nvSpPr>
        <p:spPr>
          <a:xfrm>
            <a:off x="6364224" y="3172968"/>
            <a:ext cx="2743200" cy="132588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7"/>
          <p:cNvSpPr/>
          <p:nvPr/>
        </p:nvSpPr>
        <p:spPr>
          <a:xfrm>
            <a:off x="6501384" y="3310128"/>
            <a:ext cx="594360" cy="36576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7"/>
          <p:cNvSpPr txBox="1"/>
          <p:nvPr/>
        </p:nvSpPr>
        <p:spPr>
          <a:xfrm>
            <a:off x="6501384" y="3310128"/>
            <a:ext cx="594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C07</a:t>
            </a:r>
            <a:endParaRPr/>
          </a:p>
        </p:txBody>
      </p:sp>
      <p:sp>
        <p:nvSpPr>
          <p:cNvPr id="353" name="Google Shape;353;p7"/>
          <p:cNvSpPr txBox="1"/>
          <p:nvPr/>
        </p:nvSpPr>
        <p:spPr>
          <a:xfrm>
            <a:off x="6501384" y="3767328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Product Owner walks through the new wishlist feature</a:t>
            </a:r>
            <a:endParaRPr/>
          </a:p>
        </p:txBody>
      </p:sp>
      <p:sp>
        <p:nvSpPr>
          <p:cNvPr id="354" name="Google Shape;354;p7"/>
          <p:cNvSpPr/>
          <p:nvPr/>
        </p:nvSpPr>
        <p:spPr>
          <a:xfrm>
            <a:off x="9272016" y="3172968"/>
            <a:ext cx="2743200" cy="132588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7"/>
          <p:cNvSpPr/>
          <p:nvPr/>
        </p:nvSpPr>
        <p:spPr>
          <a:xfrm>
            <a:off x="9409176" y="3310128"/>
            <a:ext cx="594360" cy="365760"/>
          </a:xfrm>
          <a:prstGeom prst="roundRect">
            <a:avLst>
              <a:gd fmla="val 50000" name="adj"/>
            </a:avLst>
          </a:prstGeom>
          <a:solidFill>
            <a:srgbClr val="14B8A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7"/>
          <p:cNvSpPr txBox="1"/>
          <p:nvPr/>
        </p:nvSpPr>
        <p:spPr>
          <a:xfrm>
            <a:off x="9409176" y="3310128"/>
            <a:ext cx="594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C08</a:t>
            </a:r>
            <a:endParaRPr/>
          </a:p>
        </p:txBody>
      </p:sp>
      <p:sp>
        <p:nvSpPr>
          <p:cNvPr id="357" name="Google Shape;357;p7"/>
          <p:cNvSpPr txBox="1"/>
          <p:nvPr/>
        </p:nvSpPr>
        <p:spPr>
          <a:xfrm>
            <a:off x="9409176" y="3767328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After fixing bug #427 in checkout, retest the same scenario</a:t>
            </a:r>
            <a:endParaRPr/>
          </a:p>
        </p:txBody>
      </p:sp>
      <p:sp>
        <p:nvSpPr>
          <p:cNvPr id="358" name="Google Shape;358;p7"/>
          <p:cNvSpPr/>
          <p:nvPr/>
        </p:nvSpPr>
        <p:spPr>
          <a:xfrm>
            <a:off x="548640" y="4654296"/>
            <a:ext cx="2743200" cy="132588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7"/>
          <p:cNvSpPr/>
          <p:nvPr/>
        </p:nvSpPr>
        <p:spPr>
          <a:xfrm>
            <a:off x="685800" y="4791456"/>
            <a:ext cx="594360" cy="36576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7"/>
          <p:cNvSpPr txBox="1"/>
          <p:nvPr/>
        </p:nvSpPr>
        <p:spPr>
          <a:xfrm>
            <a:off x="685800" y="4791456"/>
            <a:ext cx="594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C09</a:t>
            </a:r>
            <a:endParaRPr/>
          </a:p>
        </p:txBody>
      </p:sp>
      <p:sp>
        <p:nvSpPr>
          <p:cNvPr id="361" name="Google Shape;361;p7"/>
          <p:cNvSpPr txBox="1"/>
          <p:nvPr/>
        </p:nvSpPr>
        <p:spPr>
          <a:xfrm>
            <a:off x="685800" y="5248656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A security scan finds SQL injection on /search?q=</a:t>
            </a:r>
            <a:endParaRPr/>
          </a:p>
        </p:txBody>
      </p:sp>
      <p:sp>
        <p:nvSpPr>
          <p:cNvPr id="362" name="Google Shape;362;p7"/>
          <p:cNvSpPr/>
          <p:nvPr/>
        </p:nvSpPr>
        <p:spPr>
          <a:xfrm>
            <a:off x="3456425" y="4654175"/>
            <a:ext cx="2743500" cy="132600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4" rotWithShape="0" dir="5400000" dist="23002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7"/>
          <p:cNvSpPr/>
          <p:nvPr/>
        </p:nvSpPr>
        <p:spPr>
          <a:xfrm>
            <a:off x="3593598" y="4791347"/>
            <a:ext cx="594300" cy="36570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  <a:effectLst>
            <a:outerShdw blurRad="40004" rotWithShape="0" dir="5400000" dist="23002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7"/>
          <p:cNvSpPr txBox="1"/>
          <p:nvPr/>
        </p:nvSpPr>
        <p:spPr>
          <a:xfrm>
            <a:off x="3593598" y="4791347"/>
            <a:ext cx="5943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C10</a:t>
            </a:r>
            <a:endParaRPr sz="1400"/>
          </a:p>
        </p:txBody>
      </p:sp>
      <p:sp>
        <p:nvSpPr>
          <p:cNvPr id="365" name="Google Shape;365;p7"/>
          <p:cNvSpPr txBox="1"/>
          <p:nvPr/>
        </p:nvSpPr>
        <p:spPr>
          <a:xfrm>
            <a:off x="3593598" y="5248589"/>
            <a:ext cx="2469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Mobile QA checks Add-to-Cart works across iOS 16/17/18</a:t>
            </a:r>
            <a:endParaRPr sz="1400"/>
          </a:p>
        </p:txBody>
      </p:sp>
      <p:sp>
        <p:nvSpPr>
          <p:cNvPr id="366" name="Google Shape;366;p7"/>
          <p:cNvSpPr/>
          <p:nvPr/>
        </p:nvSpPr>
        <p:spPr>
          <a:xfrm>
            <a:off x="6364224" y="4654296"/>
            <a:ext cx="2743200" cy="132588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7"/>
          <p:cNvSpPr/>
          <p:nvPr/>
        </p:nvSpPr>
        <p:spPr>
          <a:xfrm>
            <a:off x="6501384" y="4791456"/>
            <a:ext cx="594360" cy="36576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7"/>
          <p:cNvSpPr txBox="1"/>
          <p:nvPr/>
        </p:nvSpPr>
        <p:spPr>
          <a:xfrm>
            <a:off x="6501384" y="4791456"/>
            <a:ext cx="594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C11</a:t>
            </a:r>
            <a:endParaRPr/>
          </a:p>
        </p:txBody>
      </p:sp>
      <p:sp>
        <p:nvSpPr>
          <p:cNvPr id="369" name="Google Shape;369;p7"/>
          <p:cNvSpPr txBox="1"/>
          <p:nvPr/>
        </p:nvSpPr>
        <p:spPr>
          <a:xfrm>
            <a:off x="6501384" y="5248656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Visual regression — homepage hero image moved 4px after CSS bump</a:t>
            </a:r>
            <a:endParaRPr/>
          </a:p>
        </p:txBody>
      </p:sp>
      <p:sp>
        <p:nvSpPr>
          <p:cNvPr id="370" name="Google Shape;370;p7"/>
          <p:cNvSpPr/>
          <p:nvPr/>
        </p:nvSpPr>
        <p:spPr>
          <a:xfrm>
            <a:off x="9272016" y="4654296"/>
            <a:ext cx="2743200" cy="132588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7"/>
          <p:cNvSpPr/>
          <p:nvPr/>
        </p:nvSpPr>
        <p:spPr>
          <a:xfrm>
            <a:off x="9409176" y="4791456"/>
            <a:ext cx="594360" cy="365760"/>
          </a:xfrm>
          <a:prstGeom prst="roundRect">
            <a:avLst>
              <a:gd fmla="val 50000" name="adj"/>
            </a:avLst>
          </a:prstGeom>
          <a:solidFill>
            <a:srgbClr val="14B8A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7"/>
          <p:cNvSpPr txBox="1"/>
          <p:nvPr/>
        </p:nvSpPr>
        <p:spPr>
          <a:xfrm>
            <a:off x="9409176" y="4791456"/>
            <a:ext cx="594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C12</a:t>
            </a:r>
            <a:endParaRPr/>
          </a:p>
        </p:txBody>
      </p:sp>
      <p:sp>
        <p:nvSpPr>
          <p:cNvPr id="373" name="Google Shape;373;p7"/>
          <p:cNvSpPr txBox="1"/>
          <p:nvPr/>
        </p:nvSpPr>
        <p:spPr>
          <a:xfrm>
            <a:off x="9409176" y="5248656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Stakeholder demo before go-live to sign off the release</a:t>
            </a:r>
            <a:endParaRPr/>
          </a:p>
        </p:txBody>
      </p:sp>
      <p:sp>
        <p:nvSpPr>
          <p:cNvPr id="374" name="Google Shape;374;p7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CS423/CSC15003 · W01 In-class Activities · Testing Intro &amp; STLC · EShop SUT</a:t>
            </a:r>
            <a:endParaRPr/>
          </a:p>
        </p:txBody>
      </p:sp>
      <p:sp>
        <p:nvSpPr>
          <p:cNvPr id="375" name="Google Shape;375;p7"/>
          <p:cNvSpPr txBox="1"/>
          <p:nvPr/>
        </p:nvSpPr>
        <p:spPr>
          <a:xfrm>
            <a:off x="10972800" y="656539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9 / 33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8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THE TAXONOMY GRID</a:t>
            </a:r>
            <a:endParaRPr/>
          </a:p>
        </p:txBody>
      </p:sp>
      <p:sp>
        <p:nvSpPr>
          <p:cNvPr id="381" name="Google Shape;381;p8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Place each card in exactly one cell</a:t>
            </a:r>
            <a:endParaRPr/>
          </a:p>
        </p:txBody>
      </p:sp>
      <p:sp>
        <p:nvSpPr>
          <p:cNvPr id="382" name="Google Shape;382;p8"/>
          <p:cNvSpPr/>
          <p:nvPr/>
        </p:nvSpPr>
        <p:spPr>
          <a:xfrm>
            <a:off x="548640" y="1371600"/>
            <a:ext cx="731520" cy="73152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8"/>
          <p:cNvSpPr/>
          <p:nvPr/>
        </p:nvSpPr>
        <p:spPr>
          <a:xfrm>
            <a:off x="603415" y="1691640"/>
            <a:ext cx="1920300" cy="502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8"/>
          <p:cNvSpPr/>
          <p:nvPr/>
        </p:nvSpPr>
        <p:spPr>
          <a:xfrm>
            <a:off x="2468880" y="1691640"/>
            <a:ext cx="2286000" cy="50292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8"/>
          <p:cNvSpPr txBox="1"/>
          <p:nvPr/>
        </p:nvSpPr>
        <p:spPr>
          <a:xfrm>
            <a:off x="2468880" y="169164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Functional</a:t>
            </a:r>
            <a:endParaRPr/>
          </a:p>
        </p:txBody>
      </p:sp>
      <p:sp>
        <p:nvSpPr>
          <p:cNvPr id="386" name="Google Shape;386;p8"/>
          <p:cNvSpPr/>
          <p:nvPr/>
        </p:nvSpPr>
        <p:spPr>
          <a:xfrm>
            <a:off x="4754880" y="1691640"/>
            <a:ext cx="2286000" cy="50292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8"/>
          <p:cNvSpPr txBox="1"/>
          <p:nvPr/>
        </p:nvSpPr>
        <p:spPr>
          <a:xfrm>
            <a:off x="4754880" y="169164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Non-functional</a:t>
            </a:r>
            <a:endParaRPr/>
          </a:p>
        </p:txBody>
      </p:sp>
      <p:sp>
        <p:nvSpPr>
          <p:cNvPr id="388" name="Google Shape;388;p8"/>
          <p:cNvSpPr/>
          <p:nvPr/>
        </p:nvSpPr>
        <p:spPr>
          <a:xfrm>
            <a:off x="7040880" y="1691640"/>
            <a:ext cx="2286000" cy="50292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8"/>
          <p:cNvSpPr txBox="1"/>
          <p:nvPr/>
        </p:nvSpPr>
        <p:spPr>
          <a:xfrm>
            <a:off x="7040880" y="169164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Structural</a:t>
            </a:r>
            <a:endParaRPr/>
          </a:p>
        </p:txBody>
      </p:sp>
      <p:sp>
        <p:nvSpPr>
          <p:cNvPr id="390" name="Google Shape;390;p8"/>
          <p:cNvSpPr/>
          <p:nvPr/>
        </p:nvSpPr>
        <p:spPr>
          <a:xfrm>
            <a:off x="9326880" y="1691640"/>
            <a:ext cx="2286000" cy="50292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8"/>
          <p:cNvSpPr txBox="1"/>
          <p:nvPr/>
        </p:nvSpPr>
        <p:spPr>
          <a:xfrm>
            <a:off x="9326880" y="169164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Change-related</a:t>
            </a:r>
            <a:endParaRPr/>
          </a:p>
        </p:txBody>
      </p:sp>
      <p:sp>
        <p:nvSpPr>
          <p:cNvPr id="392" name="Google Shape;392;p8"/>
          <p:cNvSpPr/>
          <p:nvPr/>
        </p:nvSpPr>
        <p:spPr>
          <a:xfrm>
            <a:off x="548640" y="2194560"/>
            <a:ext cx="1920240" cy="82296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8"/>
          <p:cNvSpPr txBox="1"/>
          <p:nvPr/>
        </p:nvSpPr>
        <p:spPr>
          <a:xfrm>
            <a:off x="548640" y="219456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Unit</a:t>
            </a:r>
            <a:endParaRPr/>
          </a:p>
        </p:txBody>
      </p:sp>
      <p:sp>
        <p:nvSpPr>
          <p:cNvPr id="394" name="Google Shape;394;p8"/>
          <p:cNvSpPr/>
          <p:nvPr/>
        </p:nvSpPr>
        <p:spPr>
          <a:xfrm>
            <a:off x="2468880" y="2194560"/>
            <a:ext cx="22860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8"/>
          <p:cNvSpPr/>
          <p:nvPr/>
        </p:nvSpPr>
        <p:spPr>
          <a:xfrm>
            <a:off x="4754880" y="2194560"/>
            <a:ext cx="22860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8"/>
          <p:cNvSpPr/>
          <p:nvPr/>
        </p:nvSpPr>
        <p:spPr>
          <a:xfrm>
            <a:off x="7040880" y="2194560"/>
            <a:ext cx="22860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8"/>
          <p:cNvSpPr/>
          <p:nvPr/>
        </p:nvSpPr>
        <p:spPr>
          <a:xfrm>
            <a:off x="9326880" y="2194560"/>
            <a:ext cx="22860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8"/>
          <p:cNvSpPr/>
          <p:nvPr/>
        </p:nvSpPr>
        <p:spPr>
          <a:xfrm>
            <a:off x="548640" y="3017520"/>
            <a:ext cx="1920240" cy="82296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8"/>
          <p:cNvSpPr txBox="1"/>
          <p:nvPr/>
        </p:nvSpPr>
        <p:spPr>
          <a:xfrm>
            <a:off x="548640" y="301752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Integration</a:t>
            </a:r>
            <a:endParaRPr/>
          </a:p>
        </p:txBody>
      </p:sp>
      <p:sp>
        <p:nvSpPr>
          <p:cNvPr id="400" name="Google Shape;400;p8"/>
          <p:cNvSpPr/>
          <p:nvPr/>
        </p:nvSpPr>
        <p:spPr>
          <a:xfrm>
            <a:off x="2468880" y="3017520"/>
            <a:ext cx="22860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8"/>
          <p:cNvSpPr/>
          <p:nvPr/>
        </p:nvSpPr>
        <p:spPr>
          <a:xfrm>
            <a:off x="4754880" y="3017520"/>
            <a:ext cx="22860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8"/>
          <p:cNvSpPr/>
          <p:nvPr/>
        </p:nvSpPr>
        <p:spPr>
          <a:xfrm>
            <a:off x="7040880" y="3017520"/>
            <a:ext cx="22860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8"/>
          <p:cNvSpPr/>
          <p:nvPr/>
        </p:nvSpPr>
        <p:spPr>
          <a:xfrm>
            <a:off x="9326880" y="3017520"/>
            <a:ext cx="22860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8"/>
          <p:cNvSpPr/>
          <p:nvPr/>
        </p:nvSpPr>
        <p:spPr>
          <a:xfrm>
            <a:off x="548640" y="3840480"/>
            <a:ext cx="1920240" cy="82296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8"/>
          <p:cNvSpPr txBox="1"/>
          <p:nvPr/>
        </p:nvSpPr>
        <p:spPr>
          <a:xfrm>
            <a:off x="548640" y="384048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/>
          </a:p>
        </p:txBody>
      </p:sp>
      <p:sp>
        <p:nvSpPr>
          <p:cNvPr id="406" name="Google Shape;406;p8"/>
          <p:cNvSpPr/>
          <p:nvPr/>
        </p:nvSpPr>
        <p:spPr>
          <a:xfrm>
            <a:off x="2468880" y="3840480"/>
            <a:ext cx="22860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8"/>
          <p:cNvSpPr/>
          <p:nvPr/>
        </p:nvSpPr>
        <p:spPr>
          <a:xfrm>
            <a:off x="4754880" y="3840480"/>
            <a:ext cx="22860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8"/>
          <p:cNvSpPr/>
          <p:nvPr/>
        </p:nvSpPr>
        <p:spPr>
          <a:xfrm>
            <a:off x="7040880" y="3840480"/>
            <a:ext cx="22860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8"/>
          <p:cNvSpPr/>
          <p:nvPr/>
        </p:nvSpPr>
        <p:spPr>
          <a:xfrm>
            <a:off x="9326880" y="3840480"/>
            <a:ext cx="22860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8"/>
          <p:cNvSpPr/>
          <p:nvPr/>
        </p:nvSpPr>
        <p:spPr>
          <a:xfrm>
            <a:off x="548640" y="4663440"/>
            <a:ext cx="1920240" cy="82296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8"/>
          <p:cNvSpPr txBox="1"/>
          <p:nvPr/>
        </p:nvSpPr>
        <p:spPr>
          <a:xfrm>
            <a:off x="548640" y="466344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Acceptance</a:t>
            </a:r>
            <a:endParaRPr/>
          </a:p>
        </p:txBody>
      </p:sp>
      <p:sp>
        <p:nvSpPr>
          <p:cNvPr id="412" name="Google Shape;412;p8"/>
          <p:cNvSpPr/>
          <p:nvPr/>
        </p:nvSpPr>
        <p:spPr>
          <a:xfrm>
            <a:off x="2468880" y="4663440"/>
            <a:ext cx="22860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8"/>
          <p:cNvSpPr/>
          <p:nvPr/>
        </p:nvSpPr>
        <p:spPr>
          <a:xfrm>
            <a:off x="4754880" y="4663440"/>
            <a:ext cx="22860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8"/>
          <p:cNvSpPr/>
          <p:nvPr/>
        </p:nvSpPr>
        <p:spPr>
          <a:xfrm>
            <a:off x="7040880" y="4663440"/>
            <a:ext cx="22860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8"/>
          <p:cNvSpPr/>
          <p:nvPr/>
        </p:nvSpPr>
        <p:spPr>
          <a:xfrm>
            <a:off x="9326880" y="4663440"/>
            <a:ext cx="22860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8"/>
          <p:cNvSpPr txBox="1"/>
          <p:nvPr/>
        </p:nvSpPr>
        <p:spPr>
          <a:xfrm>
            <a:off x="548640" y="54864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Place sticky-notes (provided) for each card. Some cards belong in 'Functional' across multiple levels — choose ONE primary level.</a:t>
            </a:r>
            <a:endParaRPr/>
          </a:p>
        </p:txBody>
      </p:sp>
      <p:sp>
        <p:nvSpPr>
          <p:cNvPr id="417" name="Google Shape;417;p8"/>
          <p:cNvSpPr/>
          <p:nvPr/>
        </p:nvSpPr>
        <p:spPr>
          <a:xfrm>
            <a:off x="548640" y="5943600"/>
            <a:ext cx="11064240" cy="594360"/>
          </a:xfrm>
          <a:prstGeom prst="roundRect">
            <a:avLst>
              <a:gd fmla="val 18000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8"/>
          <p:cNvSpPr txBox="1"/>
          <p:nvPr/>
        </p:nvSpPr>
        <p:spPr>
          <a:xfrm>
            <a:off x="868680" y="5943600"/>
            <a:ext cx="10424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Trap card alert · C07, C08, C11 — these are easy to mis-place. Discuss before committing.</a:t>
            </a:r>
            <a:endParaRPr/>
          </a:p>
        </p:txBody>
      </p:sp>
      <p:sp>
        <p:nvSpPr>
          <p:cNvPr id="419" name="Google Shape;419;p8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CS423/CSC15003 · W01 In-class Activities · Testing Intro &amp; STLC · EShop SUT</a:t>
            </a:r>
            <a:endParaRPr/>
          </a:p>
        </p:txBody>
      </p:sp>
      <p:sp>
        <p:nvSpPr>
          <p:cNvPr id="420" name="Google Shape;420;p8"/>
          <p:cNvSpPr txBox="1"/>
          <p:nvPr/>
        </p:nvSpPr>
        <p:spPr>
          <a:xfrm>
            <a:off x="10972800" y="656539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10 / 33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e4a02ea4f9_43_0"/>
          <p:cNvSpPr txBox="1"/>
          <p:nvPr/>
        </p:nvSpPr>
        <p:spPr>
          <a:xfrm>
            <a:off x="548640" y="320040"/>
            <a:ext cx="109728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THE TAXONOMY GRID</a:t>
            </a:r>
            <a:endParaRPr/>
          </a:p>
        </p:txBody>
      </p:sp>
      <p:sp>
        <p:nvSpPr>
          <p:cNvPr id="426" name="Google Shape;426;g3e4a02ea4f9_43_0"/>
          <p:cNvSpPr txBox="1"/>
          <p:nvPr/>
        </p:nvSpPr>
        <p:spPr>
          <a:xfrm>
            <a:off x="548640" y="640080"/>
            <a:ext cx="10972800" cy="4680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Place each card in exactly one cell - </a:t>
            </a:r>
            <a:r>
              <a:rPr b="1" lang="en-US" sz="2800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Group 02</a:t>
            </a:r>
            <a:endParaRPr/>
          </a:p>
        </p:txBody>
      </p:sp>
      <p:sp>
        <p:nvSpPr>
          <p:cNvPr id="427" name="Google Shape;427;g3e4a02ea4f9_43_0"/>
          <p:cNvSpPr/>
          <p:nvPr/>
        </p:nvSpPr>
        <p:spPr>
          <a:xfrm>
            <a:off x="548640" y="1371600"/>
            <a:ext cx="731400" cy="73200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g3e4a02ea4f9_43_0"/>
          <p:cNvSpPr/>
          <p:nvPr/>
        </p:nvSpPr>
        <p:spPr>
          <a:xfrm>
            <a:off x="603415" y="1691640"/>
            <a:ext cx="1920300" cy="502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g3e4a02ea4f9_43_0"/>
          <p:cNvSpPr/>
          <p:nvPr/>
        </p:nvSpPr>
        <p:spPr>
          <a:xfrm>
            <a:off x="2468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g3e4a02ea4f9_43_0"/>
          <p:cNvSpPr txBox="1"/>
          <p:nvPr/>
        </p:nvSpPr>
        <p:spPr>
          <a:xfrm>
            <a:off x="2468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Functional</a:t>
            </a:r>
            <a:endParaRPr/>
          </a:p>
        </p:txBody>
      </p:sp>
      <p:sp>
        <p:nvSpPr>
          <p:cNvPr id="431" name="Google Shape;431;g3e4a02ea4f9_43_0"/>
          <p:cNvSpPr/>
          <p:nvPr/>
        </p:nvSpPr>
        <p:spPr>
          <a:xfrm>
            <a:off x="4754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g3e4a02ea4f9_43_0"/>
          <p:cNvSpPr txBox="1"/>
          <p:nvPr/>
        </p:nvSpPr>
        <p:spPr>
          <a:xfrm>
            <a:off x="4754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Non-functional</a:t>
            </a:r>
            <a:endParaRPr/>
          </a:p>
        </p:txBody>
      </p:sp>
      <p:sp>
        <p:nvSpPr>
          <p:cNvPr id="433" name="Google Shape;433;g3e4a02ea4f9_43_0"/>
          <p:cNvSpPr/>
          <p:nvPr/>
        </p:nvSpPr>
        <p:spPr>
          <a:xfrm>
            <a:off x="7040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g3e4a02ea4f9_43_0"/>
          <p:cNvSpPr txBox="1"/>
          <p:nvPr/>
        </p:nvSpPr>
        <p:spPr>
          <a:xfrm>
            <a:off x="7040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Structural</a:t>
            </a:r>
            <a:endParaRPr/>
          </a:p>
        </p:txBody>
      </p:sp>
      <p:sp>
        <p:nvSpPr>
          <p:cNvPr id="435" name="Google Shape;435;g3e4a02ea4f9_43_0"/>
          <p:cNvSpPr/>
          <p:nvPr/>
        </p:nvSpPr>
        <p:spPr>
          <a:xfrm>
            <a:off x="9326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g3e4a02ea4f9_43_0"/>
          <p:cNvSpPr txBox="1"/>
          <p:nvPr/>
        </p:nvSpPr>
        <p:spPr>
          <a:xfrm>
            <a:off x="9326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Change-related</a:t>
            </a:r>
            <a:endParaRPr/>
          </a:p>
        </p:txBody>
      </p:sp>
      <p:sp>
        <p:nvSpPr>
          <p:cNvPr id="437" name="Google Shape;437;g3e4a02ea4f9_43_0"/>
          <p:cNvSpPr/>
          <p:nvPr/>
        </p:nvSpPr>
        <p:spPr>
          <a:xfrm>
            <a:off x="548640" y="219456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g3e4a02ea4f9_43_0"/>
          <p:cNvSpPr txBox="1"/>
          <p:nvPr/>
        </p:nvSpPr>
        <p:spPr>
          <a:xfrm>
            <a:off x="548640" y="219456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Unit</a:t>
            </a:r>
            <a:endParaRPr/>
          </a:p>
        </p:txBody>
      </p:sp>
      <p:sp>
        <p:nvSpPr>
          <p:cNvPr id="439" name="Google Shape;439;g3e4a02ea4f9_43_0"/>
          <p:cNvSpPr/>
          <p:nvPr/>
        </p:nvSpPr>
        <p:spPr>
          <a:xfrm>
            <a:off x="2468880" y="219456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g3e4a02ea4f9_43_0"/>
          <p:cNvSpPr/>
          <p:nvPr/>
        </p:nvSpPr>
        <p:spPr>
          <a:xfrm>
            <a:off x="4754880" y="219456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g3e4a02ea4f9_43_0"/>
          <p:cNvSpPr/>
          <p:nvPr/>
        </p:nvSpPr>
        <p:spPr>
          <a:xfrm>
            <a:off x="7040880" y="219456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g3e4a02ea4f9_43_0"/>
          <p:cNvSpPr/>
          <p:nvPr/>
        </p:nvSpPr>
        <p:spPr>
          <a:xfrm>
            <a:off x="9326880" y="219456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g3e4a02ea4f9_43_0"/>
          <p:cNvSpPr/>
          <p:nvPr/>
        </p:nvSpPr>
        <p:spPr>
          <a:xfrm>
            <a:off x="548640" y="301752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g3e4a02ea4f9_43_0"/>
          <p:cNvSpPr txBox="1"/>
          <p:nvPr/>
        </p:nvSpPr>
        <p:spPr>
          <a:xfrm>
            <a:off x="548640" y="301752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Integration</a:t>
            </a:r>
            <a:endParaRPr/>
          </a:p>
        </p:txBody>
      </p:sp>
      <p:sp>
        <p:nvSpPr>
          <p:cNvPr id="445" name="Google Shape;445;g3e4a02ea4f9_43_0"/>
          <p:cNvSpPr/>
          <p:nvPr/>
        </p:nvSpPr>
        <p:spPr>
          <a:xfrm>
            <a:off x="2468880" y="301752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g3e4a02ea4f9_43_0"/>
          <p:cNvSpPr/>
          <p:nvPr/>
        </p:nvSpPr>
        <p:spPr>
          <a:xfrm>
            <a:off x="4754880" y="301752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g3e4a02ea4f9_43_0"/>
          <p:cNvSpPr/>
          <p:nvPr/>
        </p:nvSpPr>
        <p:spPr>
          <a:xfrm>
            <a:off x="7040880" y="301752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g3e4a02ea4f9_43_0"/>
          <p:cNvSpPr/>
          <p:nvPr/>
        </p:nvSpPr>
        <p:spPr>
          <a:xfrm>
            <a:off x="9326880" y="301752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g3e4a02ea4f9_43_0"/>
          <p:cNvSpPr/>
          <p:nvPr/>
        </p:nvSpPr>
        <p:spPr>
          <a:xfrm>
            <a:off x="548640" y="384048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g3e4a02ea4f9_43_0"/>
          <p:cNvSpPr txBox="1"/>
          <p:nvPr/>
        </p:nvSpPr>
        <p:spPr>
          <a:xfrm>
            <a:off x="548640" y="384048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/>
          </a:p>
        </p:txBody>
      </p:sp>
      <p:sp>
        <p:nvSpPr>
          <p:cNvPr id="451" name="Google Shape;451;g3e4a02ea4f9_43_0"/>
          <p:cNvSpPr/>
          <p:nvPr/>
        </p:nvSpPr>
        <p:spPr>
          <a:xfrm>
            <a:off x="2468880" y="384048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g3e4a02ea4f9_43_0"/>
          <p:cNvSpPr/>
          <p:nvPr/>
        </p:nvSpPr>
        <p:spPr>
          <a:xfrm>
            <a:off x="4760341" y="3863105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g3e4a02ea4f9_43_0"/>
          <p:cNvSpPr/>
          <p:nvPr/>
        </p:nvSpPr>
        <p:spPr>
          <a:xfrm>
            <a:off x="7040880" y="384048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g3e4a02ea4f9_43_0"/>
          <p:cNvSpPr/>
          <p:nvPr/>
        </p:nvSpPr>
        <p:spPr>
          <a:xfrm>
            <a:off x="9326880" y="384048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g3e4a02ea4f9_43_0"/>
          <p:cNvSpPr/>
          <p:nvPr/>
        </p:nvSpPr>
        <p:spPr>
          <a:xfrm>
            <a:off x="548640" y="466344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g3e4a02ea4f9_43_0"/>
          <p:cNvSpPr txBox="1"/>
          <p:nvPr/>
        </p:nvSpPr>
        <p:spPr>
          <a:xfrm>
            <a:off x="548640" y="466344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Acceptance</a:t>
            </a:r>
            <a:endParaRPr/>
          </a:p>
        </p:txBody>
      </p:sp>
      <p:sp>
        <p:nvSpPr>
          <p:cNvPr id="457" name="Google Shape;457;g3e4a02ea4f9_43_0"/>
          <p:cNvSpPr/>
          <p:nvPr/>
        </p:nvSpPr>
        <p:spPr>
          <a:xfrm>
            <a:off x="2468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g3e4a02ea4f9_43_0"/>
          <p:cNvSpPr/>
          <p:nvPr/>
        </p:nvSpPr>
        <p:spPr>
          <a:xfrm>
            <a:off x="4754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g3e4a02ea4f9_43_0"/>
          <p:cNvSpPr/>
          <p:nvPr/>
        </p:nvSpPr>
        <p:spPr>
          <a:xfrm>
            <a:off x="7040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g3e4a02ea4f9_43_0"/>
          <p:cNvSpPr/>
          <p:nvPr/>
        </p:nvSpPr>
        <p:spPr>
          <a:xfrm>
            <a:off x="9326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g3e4a02ea4f9_43_0"/>
          <p:cNvSpPr txBox="1"/>
          <p:nvPr/>
        </p:nvSpPr>
        <p:spPr>
          <a:xfrm>
            <a:off x="548640" y="5486400"/>
            <a:ext cx="109728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Place sticky-notes (provided) for each card. Some cards belong in 'Functional' across multiple levels — choose ONE primary level.</a:t>
            </a:r>
            <a:endParaRPr/>
          </a:p>
        </p:txBody>
      </p:sp>
      <p:sp>
        <p:nvSpPr>
          <p:cNvPr id="462" name="Google Shape;462;g3e4a02ea4f9_43_0"/>
          <p:cNvSpPr/>
          <p:nvPr/>
        </p:nvSpPr>
        <p:spPr>
          <a:xfrm>
            <a:off x="548640" y="5943600"/>
            <a:ext cx="11064300" cy="594300"/>
          </a:xfrm>
          <a:prstGeom prst="roundRect">
            <a:avLst>
              <a:gd fmla="val 18000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g3e4a02ea4f9_43_0"/>
          <p:cNvSpPr txBox="1"/>
          <p:nvPr/>
        </p:nvSpPr>
        <p:spPr>
          <a:xfrm>
            <a:off x="868680" y="5943600"/>
            <a:ext cx="104241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Trap card alert · C07, C08, C11 — these are easy to mis-place. Discuss before committing.</a:t>
            </a:r>
            <a:endParaRPr b="1" i="1" sz="1200">
              <a:solidFill>
                <a:srgbClr val="0F1B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g3e4a02ea4f9_43_0"/>
          <p:cNvSpPr txBox="1"/>
          <p:nvPr/>
        </p:nvSpPr>
        <p:spPr>
          <a:xfrm>
            <a:off x="548640" y="6565392"/>
            <a:ext cx="82296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CS423/CSC15003 · W01 In-class Activities · Testing Intro &amp; STLC · EShop SUT</a:t>
            </a:r>
            <a:endParaRPr/>
          </a:p>
        </p:txBody>
      </p:sp>
      <p:sp>
        <p:nvSpPr>
          <p:cNvPr id="465" name="Google Shape;465;g3e4a02ea4f9_43_0"/>
          <p:cNvSpPr txBox="1"/>
          <p:nvPr/>
        </p:nvSpPr>
        <p:spPr>
          <a:xfrm>
            <a:off x="10972800" y="6565392"/>
            <a:ext cx="1097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10 / 33</a:t>
            </a:r>
            <a:endParaRPr/>
          </a:p>
        </p:txBody>
      </p:sp>
      <p:grpSp>
        <p:nvGrpSpPr>
          <p:cNvPr id="466" name="Google Shape;466;g3e4a02ea4f9_43_0"/>
          <p:cNvGrpSpPr/>
          <p:nvPr/>
        </p:nvGrpSpPr>
        <p:grpSpPr>
          <a:xfrm>
            <a:off x="2523768" y="2278537"/>
            <a:ext cx="860595" cy="642704"/>
            <a:chOff x="2685620" y="2141610"/>
            <a:chExt cx="1907347" cy="921968"/>
          </a:xfrm>
        </p:grpSpPr>
        <p:sp>
          <p:nvSpPr>
            <p:cNvPr id="467" name="Google Shape;467;g3e4a02ea4f9_43_0"/>
            <p:cNvSpPr/>
            <p:nvPr/>
          </p:nvSpPr>
          <p:spPr>
            <a:xfrm>
              <a:off x="2685620" y="2141610"/>
              <a:ext cx="1907347" cy="921968"/>
            </a:xfrm>
            <a:prstGeom prst="roundRect">
              <a:avLst>
                <a:gd fmla="val 18000" name="adj"/>
              </a:avLst>
            </a:prstGeom>
            <a:solidFill>
              <a:srgbClr val="F1F5F9"/>
            </a:solidFill>
            <a:ln>
              <a:noFill/>
            </a:ln>
            <a:effectLst>
              <a:outerShdw blurRad="17303" rotWithShape="0" dir="5400000" dist="9949">
                <a:srgbClr val="000000">
                  <a:alpha val="34900"/>
                </a:srgbClr>
              </a:outerShdw>
            </a:effectLst>
          </p:spPr>
          <p:txBody>
            <a:bodyPr anchorCtr="0" anchor="ctr" bIns="19775" lIns="39550" spcFirstLastPara="1" rIns="39550" wrap="square" tIns="197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779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g3e4a02ea4f9_43_0"/>
            <p:cNvSpPr/>
            <p:nvPr/>
          </p:nvSpPr>
          <p:spPr>
            <a:xfrm>
              <a:off x="2781004" y="2221133"/>
              <a:ext cx="413217" cy="254271"/>
            </a:xfrm>
            <a:prstGeom prst="roundRect">
              <a:avLst>
                <a:gd fmla="val 50000" name="adj"/>
              </a:avLst>
            </a:prstGeom>
            <a:solidFill>
              <a:srgbClr val="0EA5E9"/>
            </a:solidFill>
            <a:ln>
              <a:noFill/>
            </a:ln>
            <a:effectLst>
              <a:outerShdw blurRad="17303" rotWithShape="0" dir="5400000" dist="9949">
                <a:srgbClr val="000000">
                  <a:alpha val="34900"/>
                </a:srgbClr>
              </a:outerShdw>
            </a:effectLst>
          </p:spPr>
          <p:txBody>
            <a:bodyPr anchorCtr="0" anchor="ctr" bIns="19775" lIns="39550" spcFirstLastPara="1" rIns="39550" wrap="square" tIns="197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779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g3e4a02ea4f9_43_0"/>
            <p:cNvSpPr txBox="1"/>
            <p:nvPr/>
          </p:nvSpPr>
          <p:spPr>
            <a:xfrm>
              <a:off x="2781004" y="2221133"/>
              <a:ext cx="4131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00" lIns="19775" spcFirstLastPara="1" rIns="19775" wrap="square" tIns="790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76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C01</a:t>
              </a:r>
              <a:endParaRPr sz="606"/>
            </a:p>
          </p:txBody>
        </p:sp>
        <p:sp>
          <p:nvSpPr>
            <p:cNvPr id="470" name="Google Shape;470;g3e4a02ea4f9_43_0"/>
            <p:cNvSpPr txBox="1"/>
            <p:nvPr/>
          </p:nvSpPr>
          <p:spPr>
            <a:xfrm>
              <a:off x="2781004" y="2539024"/>
              <a:ext cx="17166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900" lIns="19775" spcFirstLastPara="1" rIns="19775" wrap="square" tIns="790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54" u="none" cap="none" strike="noStrike">
                  <a:solidFill>
                    <a:srgbClr val="0F1B3D"/>
                  </a:solidFill>
                  <a:latin typeface="Calibri"/>
                  <a:ea typeface="Calibri"/>
                  <a:cs typeface="Calibri"/>
                  <a:sym typeface="Calibri"/>
                </a:rPr>
                <a:t>Check that addToCart(productId, qty) inserts a row into cart table</a:t>
              </a:r>
              <a:endParaRPr sz="606"/>
            </a:p>
          </p:txBody>
        </p:sp>
      </p:grpSp>
      <p:grpSp>
        <p:nvGrpSpPr>
          <p:cNvPr id="471" name="Google Shape;471;g3e4a02ea4f9_43_0"/>
          <p:cNvGrpSpPr/>
          <p:nvPr/>
        </p:nvGrpSpPr>
        <p:grpSpPr>
          <a:xfrm>
            <a:off x="2523749" y="3927294"/>
            <a:ext cx="891866" cy="649060"/>
            <a:chOff x="3978751" y="3965128"/>
            <a:chExt cx="731337" cy="573628"/>
          </a:xfrm>
        </p:grpSpPr>
        <p:sp>
          <p:nvSpPr>
            <p:cNvPr id="472" name="Google Shape;472;g3e4a02ea4f9_43_0"/>
            <p:cNvSpPr/>
            <p:nvPr/>
          </p:nvSpPr>
          <p:spPr>
            <a:xfrm>
              <a:off x="3978751" y="3965128"/>
              <a:ext cx="731337" cy="573628"/>
            </a:xfrm>
            <a:prstGeom prst="roundRect">
              <a:avLst>
                <a:gd fmla="val 18000" name="adj"/>
              </a:avLst>
            </a:prstGeom>
            <a:solidFill>
              <a:srgbClr val="F1F5F9"/>
            </a:solidFill>
            <a:ln>
              <a:noFill/>
            </a:ln>
            <a:effectLst>
              <a:outerShdw blurRad="20363" rotWithShape="0" dir="5400000" dist="11709">
                <a:srgbClr val="000000">
                  <a:alpha val="34900"/>
                </a:srgbClr>
              </a:outerShdw>
            </a:effectLst>
          </p:spPr>
          <p:txBody>
            <a:bodyPr anchorCtr="0" anchor="ctr" bIns="23250" lIns="46525" spcFirstLastPara="1" rIns="46525" wrap="square" tIns="23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16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g3e4a02ea4f9_43_0"/>
            <p:cNvSpPr/>
            <p:nvPr/>
          </p:nvSpPr>
          <p:spPr>
            <a:xfrm>
              <a:off x="4015318" y="4024463"/>
              <a:ext cx="158440" cy="158202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  <a:effectLst>
              <a:outerShdw blurRad="20363" rotWithShape="0" dir="5400000" dist="11709">
                <a:srgbClr val="000000">
                  <a:alpha val="34900"/>
                </a:srgbClr>
              </a:outerShdw>
            </a:effectLst>
          </p:spPr>
          <p:txBody>
            <a:bodyPr anchorCtr="0" anchor="ctr" bIns="23250" lIns="46525" spcFirstLastPara="1" rIns="46525" wrap="square" tIns="23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16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g3e4a02ea4f9_43_0"/>
            <p:cNvSpPr txBox="1"/>
            <p:nvPr/>
          </p:nvSpPr>
          <p:spPr>
            <a:xfrm>
              <a:off x="4015318" y="4024463"/>
              <a:ext cx="158400" cy="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325" lIns="23250" spcFirstLastPara="1" rIns="23250" wrap="square" tIns="93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6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C03</a:t>
              </a:r>
              <a:endParaRPr sz="713"/>
            </a:p>
          </p:txBody>
        </p:sp>
        <p:sp>
          <p:nvSpPr>
            <p:cNvPr id="475" name="Google Shape;475;g3e4a02ea4f9_43_0"/>
            <p:cNvSpPr txBox="1"/>
            <p:nvPr/>
          </p:nvSpPr>
          <p:spPr>
            <a:xfrm>
              <a:off x="4015318" y="4222248"/>
              <a:ext cx="658200" cy="27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325" lIns="23250" spcFirstLastPara="1" rIns="23250" wrap="square" tIns="9325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35" u="none" cap="none" strike="noStrike">
                  <a:solidFill>
                    <a:srgbClr val="0F1B3D"/>
                  </a:solidFill>
                  <a:latin typeface="Calibri"/>
                  <a:ea typeface="Calibri"/>
                  <a:cs typeface="Calibri"/>
                  <a:sym typeface="Calibri"/>
                </a:rPr>
                <a:t>A QA tester clicks 'Buy now' to confirm checkout flow end-to-end</a:t>
              </a:r>
              <a:endParaRPr sz="713"/>
            </a:p>
          </p:txBody>
        </p:sp>
      </p:grpSp>
      <p:sp>
        <p:nvSpPr>
          <p:cNvPr id="476" name="Google Shape;476;g3e4a02ea4f9_43_0"/>
          <p:cNvSpPr/>
          <p:nvPr/>
        </p:nvSpPr>
        <p:spPr>
          <a:xfrm>
            <a:off x="2523713" y="4750275"/>
            <a:ext cx="1378500" cy="64920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28788" rotWithShape="0" dir="5400000" dist="16553">
              <a:srgbClr val="000000">
                <a:alpha val="34900"/>
              </a:srgbClr>
            </a:outerShdw>
          </a:effectLst>
        </p:spPr>
        <p:txBody>
          <a:bodyPr anchorCtr="0" anchor="ctr" bIns="32900" lIns="65800" spcFirstLastPara="1" rIns="65800" wrap="square" tIns="32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95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g3e4a02ea4f9_43_0"/>
          <p:cNvSpPr/>
          <p:nvPr/>
        </p:nvSpPr>
        <p:spPr>
          <a:xfrm>
            <a:off x="2580473" y="4804262"/>
            <a:ext cx="322800" cy="175500"/>
          </a:xfrm>
          <a:prstGeom prst="roundRect">
            <a:avLst>
              <a:gd fmla="val 50000" name="adj"/>
            </a:avLst>
          </a:prstGeom>
          <a:solidFill>
            <a:srgbClr val="14B8A6"/>
          </a:solidFill>
          <a:ln>
            <a:noFill/>
          </a:ln>
          <a:effectLst>
            <a:outerShdw blurRad="38893" rotWithShape="0" dir="5400000" dist="22363">
              <a:srgbClr val="000000">
                <a:alpha val="34900"/>
              </a:srgbClr>
            </a:outerShdw>
          </a:effectLst>
        </p:spPr>
        <p:txBody>
          <a:bodyPr anchorCtr="0" anchor="ctr" bIns="44425" lIns="88900" spcFirstLastPara="1" rIns="88900" wrap="square" tIns="44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g3e4a02ea4f9_43_0"/>
          <p:cNvSpPr txBox="1"/>
          <p:nvPr/>
        </p:nvSpPr>
        <p:spPr>
          <a:xfrm>
            <a:off x="2592637" y="4817409"/>
            <a:ext cx="2985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150" lIns="32900" spcFirstLastPara="1" rIns="32900" wrap="square" tIns="1315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9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C12</a:t>
            </a:r>
            <a:endParaRPr sz="1008"/>
          </a:p>
        </p:txBody>
      </p:sp>
      <p:sp>
        <p:nvSpPr>
          <p:cNvPr id="479" name="Google Shape;479;g3e4a02ea4f9_43_0"/>
          <p:cNvSpPr txBox="1"/>
          <p:nvPr/>
        </p:nvSpPr>
        <p:spPr>
          <a:xfrm>
            <a:off x="2592637" y="5041190"/>
            <a:ext cx="12408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50" lIns="32900" spcFirstLastPara="1" rIns="32900" wrap="square" tIns="1315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6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Stakeholder demo before go-live to sign off the release</a:t>
            </a:r>
            <a:endParaRPr sz="1008"/>
          </a:p>
        </p:txBody>
      </p:sp>
      <p:sp>
        <p:nvSpPr>
          <p:cNvPr id="480" name="Google Shape;480;g3e4a02ea4f9_43_0"/>
          <p:cNvSpPr/>
          <p:nvPr/>
        </p:nvSpPr>
        <p:spPr>
          <a:xfrm>
            <a:off x="10545150" y="3912488"/>
            <a:ext cx="1025700" cy="67890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20481" rotWithShape="0" dir="5400000" dist="11777">
              <a:srgbClr val="000000">
                <a:alpha val="34900"/>
              </a:srgbClr>
            </a:outerShdw>
          </a:effectLst>
        </p:spPr>
        <p:txBody>
          <a:bodyPr anchorCtr="0" anchor="ctr" bIns="23400" lIns="46800" spcFirstLastPara="1" rIns="46800" wrap="square" tIns="23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2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g3e4a02ea4f9_43_0"/>
          <p:cNvSpPr/>
          <p:nvPr/>
        </p:nvSpPr>
        <p:spPr>
          <a:xfrm>
            <a:off x="10596439" y="3982718"/>
            <a:ext cx="222300" cy="1872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  <a:effectLst>
            <a:outerShdw blurRad="20481" rotWithShape="0" dir="5400000" dist="11777">
              <a:srgbClr val="000000">
                <a:alpha val="34900"/>
              </a:srgbClr>
            </a:outerShdw>
          </a:effectLst>
        </p:spPr>
        <p:txBody>
          <a:bodyPr anchorCtr="0" anchor="ctr" bIns="23400" lIns="46800" spcFirstLastPara="1" rIns="46800" wrap="square" tIns="23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2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g3e4a02ea4f9_43_0"/>
          <p:cNvSpPr txBox="1"/>
          <p:nvPr/>
        </p:nvSpPr>
        <p:spPr>
          <a:xfrm>
            <a:off x="10596439" y="3982718"/>
            <a:ext cx="2223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350" lIns="23400" spcFirstLastPara="1" rIns="23400" wrap="square" tIns="935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C11</a:t>
            </a:r>
            <a:endParaRPr sz="717"/>
          </a:p>
        </p:txBody>
      </p:sp>
      <p:sp>
        <p:nvSpPr>
          <p:cNvPr id="483" name="Google Shape;483;g3e4a02ea4f9_43_0"/>
          <p:cNvSpPr txBox="1"/>
          <p:nvPr/>
        </p:nvSpPr>
        <p:spPr>
          <a:xfrm>
            <a:off x="10596439" y="4216818"/>
            <a:ext cx="9231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350" lIns="23400" spcFirstLastPara="1" rIns="23400" wrap="square" tIns="935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38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Visual regression — homepage hero image moved 4px after CSS bump</a:t>
            </a:r>
            <a:endParaRPr sz="717"/>
          </a:p>
        </p:txBody>
      </p:sp>
      <p:grpSp>
        <p:nvGrpSpPr>
          <p:cNvPr id="484" name="Google Shape;484;g3e4a02ea4f9_43_0"/>
          <p:cNvGrpSpPr/>
          <p:nvPr/>
        </p:nvGrpSpPr>
        <p:grpSpPr>
          <a:xfrm>
            <a:off x="4883873" y="3995749"/>
            <a:ext cx="642966" cy="538955"/>
            <a:chOff x="4831835" y="3908041"/>
            <a:chExt cx="463800" cy="388800"/>
          </a:xfrm>
        </p:grpSpPr>
        <p:sp>
          <p:nvSpPr>
            <p:cNvPr id="485" name="Google Shape;485;g3e4a02ea4f9_43_0"/>
            <p:cNvSpPr/>
            <p:nvPr/>
          </p:nvSpPr>
          <p:spPr>
            <a:xfrm>
              <a:off x="4831835" y="3908041"/>
              <a:ext cx="463800" cy="388800"/>
            </a:xfrm>
            <a:prstGeom prst="roundRect">
              <a:avLst>
                <a:gd fmla="val 18000" name="adj"/>
              </a:avLst>
            </a:prstGeom>
            <a:solidFill>
              <a:srgbClr val="F1F5F9"/>
            </a:solidFill>
            <a:ln>
              <a:noFill/>
            </a:ln>
            <a:effectLst>
              <a:outerShdw blurRad="13285" rotWithShape="0" dir="5400000" dist="7639">
                <a:srgbClr val="000000">
                  <a:alpha val="34900"/>
                </a:srgbClr>
              </a:outerShdw>
            </a:effectLst>
          </p:spPr>
          <p:txBody>
            <a:bodyPr anchorCtr="0" anchor="ctr" bIns="15175" lIns="30350" spcFirstLastPara="1" rIns="30350" wrap="square" tIns="151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598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g3e4a02ea4f9_43_0"/>
            <p:cNvSpPr/>
            <p:nvPr/>
          </p:nvSpPr>
          <p:spPr>
            <a:xfrm>
              <a:off x="4864145" y="3951753"/>
              <a:ext cx="100256" cy="107083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  <a:effectLst>
              <a:outerShdw blurRad="13285" rotWithShape="0" dir="5400000" dist="7639">
                <a:srgbClr val="000000">
                  <a:alpha val="34900"/>
                </a:srgbClr>
              </a:outerShdw>
            </a:effectLst>
          </p:spPr>
          <p:txBody>
            <a:bodyPr anchorCtr="0" anchor="ctr" bIns="15175" lIns="30350" spcFirstLastPara="1" rIns="30350" wrap="square" tIns="151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598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g3e4a02ea4f9_43_0"/>
            <p:cNvSpPr txBox="1"/>
            <p:nvPr/>
          </p:nvSpPr>
          <p:spPr>
            <a:xfrm>
              <a:off x="4864145" y="3951753"/>
              <a:ext cx="100256" cy="494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50" lIns="15175" spcFirstLastPara="1" rIns="15175" wrap="square" tIns="605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5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C10</a:t>
              </a:r>
              <a:endParaRPr sz="465"/>
            </a:p>
          </p:txBody>
        </p:sp>
        <p:sp>
          <p:nvSpPr>
            <p:cNvPr id="488" name="Google Shape;488;g3e4a02ea4f9_43_0"/>
            <p:cNvSpPr txBox="1"/>
            <p:nvPr/>
          </p:nvSpPr>
          <p:spPr>
            <a:xfrm>
              <a:off x="4864145" y="4085795"/>
              <a:ext cx="417194" cy="97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50" lIns="15175" spcFirstLastPara="1" rIns="15175" wrap="square" tIns="605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49" u="none" cap="none" strike="noStrike">
                  <a:solidFill>
                    <a:srgbClr val="0F1B3D"/>
                  </a:solidFill>
                  <a:latin typeface="Calibri"/>
                  <a:ea typeface="Calibri"/>
                  <a:cs typeface="Calibri"/>
                  <a:sym typeface="Calibri"/>
                </a:rPr>
                <a:t>Mobile QA checks Add-to-Cart works across iOS 16/17/18</a:t>
              </a:r>
              <a:endParaRPr sz="465"/>
            </a:p>
          </p:txBody>
        </p:sp>
      </p:grpSp>
      <p:grpSp>
        <p:nvGrpSpPr>
          <p:cNvPr id="489" name="Google Shape;489;g3e4a02ea4f9_43_0"/>
          <p:cNvGrpSpPr/>
          <p:nvPr/>
        </p:nvGrpSpPr>
        <p:grpSpPr>
          <a:xfrm>
            <a:off x="4874226" y="4750247"/>
            <a:ext cx="948408" cy="649200"/>
            <a:chOff x="4874013" y="4750288"/>
            <a:chExt cx="1378500" cy="649200"/>
          </a:xfrm>
        </p:grpSpPr>
        <p:sp>
          <p:nvSpPr>
            <p:cNvPr id="490" name="Google Shape;490;g3e4a02ea4f9_43_0"/>
            <p:cNvSpPr/>
            <p:nvPr/>
          </p:nvSpPr>
          <p:spPr>
            <a:xfrm>
              <a:off x="4874013" y="4750288"/>
              <a:ext cx="1378500" cy="649200"/>
            </a:xfrm>
            <a:prstGeom prst="roundRect">
              <a:avLst>
                <a:gd fmla="val 18000" name="adj"/>
              </a:avLst>
            </a:prstGeom>
            <a:solidFill>
              <a:srgbClr val="F1F5F9"/>
            </a:solidFill>
            <a:ln>
              <a:noFill/>
            </a:ln>
            <a:effectLst>
              <a:outerShdw blurRad="28788" rotWithShape="0" dir="5400000" dist="16553">
                <a:srgbClr val="000000">
                  <a:alpha val="34900"/>
                </a:srgbClr>
              </a:outerShdw>
            </a:effectLst>
          </p:spPr>
          <p:txBody>
            <a:bodyPr anchorCtr="0" anchor="ctr" bIns="32900" lIns="65800" spcFirstLastPara="1" rIns="65800" wrap="square" tIns="32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95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g3e4a02ea4f9_43_0"/>
            <p:cNvSpPr/>
            <p:nvPr/>
          </p:nvSpPr>
          <p:spPr>
            <a:xfrm>
              <a:off x="4930773" y="4804262"/>
              <a:ext cx="322800" cy="175500"/>
            </a:xfrm>
            <a:prstGeom prst="roundRect">
              <a:avLst>
                <a:gd fmla="val 50000" name="adj"/>
              </a:avLst>
            </a:prstGeom>
            <a:solidFill>
              <a:srgbClr val="14B8A6"/>
            </a:solidFill>
            <a:ln>
              <a:noFill/>
            </a:ln>
            <a:effectLst>
              <a:outerShdw blurRad="38893" rotWithShape="0" dir="5400000" dist="22363">
                <a:srgbClr val="000000">
                  <a:alpha val="34900"/>
                </a:srgbClr>
              </a:outerShdw>
            </a:effectLst>
          </p:spPr>
          <p:txBody>
            <a:bodyPr anchorCtr="0" anchor="ctr" bIns="44425" lIns="88900" spcFirstLastPara="1" rIns="88900" wrap="square" tIns="44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7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g3e4a02ea4f9_43_0"/>
            <p:cNvSpPr txBox="1"/>
            <p:nvPr/>
          </p:nvSpPr>
          <p:spPr>
            <a:xfrm>
              <a:off x="4942937" y="4817422"/>
              <a:ext cx="298500" cy="1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150" lIns="32900" spcFirstLastPara="1" rIns="32900" wrap="square" tIns="1315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92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C12</a:t>
              </a:r>
              <a:endParaRPr sz="808"/>
            </a:p>
          </p:txBody>
        </p:sp>
        <p:sp>
          <p:nvSpPr>
            <p:cNvPr id="493" name="Google Shape;493;g3e4a02ea4f9_43_0"/>
            <p:cNvSpPr txBox="1"/>
            <p:nvPr/>
          </p:nvSpPr>
          <p:spPr>
            <a:xfrm>
              <a:off x="4942937" y="5041203"/>
              <a:ext cx="1240800" cy="33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150" lIns="32900" spcFirstLastPara="1" rIns="32900" wrap="square" tIns="1315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56" u="none" cap="none" strike="noStrike">
                  <a:solidFill>
                    <a:srgbClr val="0F1B3D"/>
                  </a:solidFill>
                  <a:latin typeface="Calibri"/>
                  <a:ea typeface="Calibri"/>
                  <a:cs typeface="Calibri"/>
                  <a:sym typeface="Calibri"/>
                </a:rPr>
                <a:t>Stakeholder demo before go-live to sign off the release</a:t>
              </a:r>
              <a:endParaRPr sz="808"/>
            </a:p>
          </p:txBody>
        </p:sp>
      </p:grpSp>
      <p:sp>
        <p:nvSpPr>
          <p:cNvPr id="494" name="Google Shape;494;g3e4a02ea4f9_43_0"/>
          <p:cNvSpPr/>
          <p:nvPr/>
        </p:nvSpPr>
        <p:spPr>
          <a:xfrm>
            <a:off x="3536550" y="2278525"/>
            <a:ext cx="891900" cy="65490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19759" rotWithShape="0" dir="5400000" dist="11361">
              <a:srgbClr val="000000">
                <a:alpha val="34900"/>
              </a:srgbClr>
            </a:outerShdw>
          </a:effectLst>
        </p:spPr>
        <p:txBody>
          <a:bodyPr anchorCtr="0" anchor="ctr" bIns="22575" lIns="45150" spcFirstLastPara="1" rIns="45150" wrap="square" tIns="22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89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g3e4a02ea4f9_43_0"/>
          <p:cNvSpPr/>
          <p:nvPr/>
        </p:nvSpPr>
        <p:spPr>
          <a:xfrm>
            <a:off x="3581905" y="2340065"/>
            <a:ext cx="167700" cy="18060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>
            <a:noFill/>
          </a:ln>
          <a:effectLst>
            <a:outerShdw blurRad="19759" rotWithShape="0" dir="5400000" dist="11361">
              <a:srgbClr val="000000">
                <a:alpha val="34900"/>
              </a:srgbClr>
            </a:outerShdw>
          </a:effectLst>
        </p:spPr>
        <p:txBody>
          <a:bodyPr anchorCtr="0" anchor="ctr" bIns="22575" lIns="45150" spcFirstLastPara="1" rIns="45150" wrap="square" tIns="22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89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g3e4a02ea4f9_43_0"/>
          <p:cNvSpPr txBox="1"/>
          <p:nvPr/>
        </p:nvSpPr>
        <p:spPr>
          <a:xfrm>
            <a:off x="3576873" y="2346290"/>
            <a:ext cx="167700" cy="1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25" lIns="22575" spcFirstLastPara="1" rIns="22575" wrap="square" tIns="90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C06</a:t>
            </a:r>
            <a:endParaRPr sz="692"/>
          </a:p>
        </p:txBody>
      </p:sp>
      <p:sp>
        <p:nvSpPr>
          <p:cNvPr id="497" name="Google Shape;497;g3e4a02ea4f9_43_0"/>
          <p:cNvSpPr txBox="1"/>
          <p:nvPr/>
        </p:nvSpPr>
        <p:spPr>
          <a:xfrm>
            <a:off x="3536555" y="2572130"/>
            <a:ext cx="6969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025" lIns="22575" spcFirstLastPara="1" rIns="22575" wrap="square" tIns="902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19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Validate that the discount-code function rejects expired codes</a:t>
            </a:r>
            <a:endParaRPr sz="692"/>
          </a:p>
        </p:txBody>
      </p:sp>
      <p:grpSp>
        <p:nvGrpSpPr>
          <p:cNvPr id="498" name="Google Shape;498;g3e4a02ea4f9_43_0"/>
          <p:cNvGrpSpPr/>
          <p:nvPr/>
        </p:nvGrpSpPr>
        <p:grpSpPr>
          <a:xfrm>
            <a:off x="2523799" y="3104433"/>
            <a:ext cx="860542" cy="649077"/>
            <a:chOff x="810273" y="1777442"/>
            <a:chExt cx="2743200" cy="1326000"/>
          </a:xfrm>
        </p:grpSpPr>
        <p:sp>
          <p:nvSpPr>
            <p:cNvPr id="499" name="Google Shape;499;g3e4a02ea4f9_43_0"/>
            <p:cNvSpPr/>
            <p:nvPr/>
          </p:nvSpPr>
          <p:spPr>
            <a:xfrm>
              <a:off x="810273" y="1777442"/>
              <a:ext cx="2743200" cy="1326000"/>
            </a:xfrm>
            <a:prstGeom prst="roundRect">
              <a:avLst>
                <a:gd fmla="val 18000" name="adj"/>
              </a:avLst>
            </a:prstGeom>
            <a:solidFill>
              <a:srgbClr val="F1F5F9"/>
            </a:solidFill>
            <a:ln>
              <a:noFill/>
            </a:ln>
            <a:effectLst>
              <a:outerShdw blurRad="19578" rotWithShape="0" dir="5400000" dist="11257">
                <a:srgbClr val="000000">
                  <a:alpha val="34900"/>
                </a:srgbClr>
              </a:outerShdw>
            </a:effectLst>
          </p:spPr>
          <p:txBody>
            <a:bodyPr anchorCtr="0" anchor="ctr" bIns="22375" lIns="44750" spcFirstLastPara="1" rIns="44750" wrap="square" tIns="22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88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g3e4a02ea4f9_43_0"/>
            <p:cNvSpPr/>
            <p:nvPr/>
          </p:nvSpPr>
          <p:spPr>
            <a:xfrm>
              <a:off x="947433" y="1914602"/>
              <a:ext cx="594300" cy="365700"/>
            </a:xfrm>
            <a:prstGeom prst="roundRect">
              <a:avLst>
                <a:gd fmla="val 50000" name="adj"/>
              </a:avLst>
            </a:prstGeom>
            <a:solidFill>
              <a:srgbClr val="8B5CF6"/>
            </a:solidFill>
            <a:ln>
              <a:noFill/>
            </a:ln>
            <a:effectLst>
              <a:outerShdw blurRad="19578" rotWithShape="0" dir="5400000" dist="11257">
                <a:srgbClr val="000000">
                  <a:alpha val="34900"/>
                </a:srgbClr>
              </a:outerShdw>
            </a:effectLst>
          </p:spPr>
          <p:txBody>
            <a:bodyPr anchorCtr="0" anchor="ctr" bIns="22375" lIns="44750" spcFirstLastPara="1" rIns="44750" wrap="square" tIns="22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88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g3e4a02ea4f9_43_0"/>
            <p:cNvSpPr txBox="1"/>
            <p:nvPr/>
          </p:nvSpPr>
          <p:spPr>
            <a:xfrm>
              <a:off x="947433" y="1914602"/>
              <a:ext cx="594300" cy="20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50" lIns="22375" spcFirstLastPara="1" rIns="22375" wrap="square" tIns="895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38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C02</a:t>
              </a:r>
              <a:endParaRPr sz="685"/>
            </a:p>
          </p:txBody>
        </p:sp>
        <p:sp>
          <p:nvSpPr>
            <p:cNvPr id="502" name="Google Shape;502;g3e4a02ea4f9_43_0"/>
            <p:cNvSpPr txBox="1"/>
            <p:nvPr/>
          </p:nvSpPr>
          <p:spPr>
            <a:xfrm>
              <a:off x="947433" y="2371802"/>
              <a:ext cx="2469000" cy="61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50" lIns="22375" spcFirstLastPara="1" rIns="22375" wrap="square" tIns="895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14" u="none" cap="none" strike="noStrike">
                  <a:solidFill>
                    <a:srgbClr val="0F1B3D"/>
                  </a:solidFill>
                  <a:latin typeface="Calibri"/>
                  <a:ea typeface="Calibri"/>
                  <a:cs typeface="Calibri"/>
                  <a:sym typeface="Calibri"/>
                </a:rPr>
                <a:t>Verify the Stripe webhook endpoint correctly updates order status</a:t>
              </a:r>
              <a:endParaRPr sz="685"/>
            </a:p>
          </p:txBody>
        </p:sp>
      </p:grpSp>
      <p:sp>
        <p:nvSpPr>
          <p:cNvPr id="503" name="Google Shape;503;g3e4a02ea4f9_43_0"/>
          <p:cNvSpPr/>
          <p:nvPr/>
        </p:nvSpPr>
        <p:spPr>
          <a:xfrm>
            <a:off x="3293200" y="3982423"/>
            <a:ext cx="642900" cy="45210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13636" rotWithShape="0" dir="5400000" dist="7841">
              <a:srgbClr val="000000">
                <a:alpha val="34900"/>
              </a:srgbClr>
            </a:outerShdw>
          </a:effectLst>
        </p:spPr>
        <p:txBody>
          <a:bodyPr anchorCtr="0" anchor="ctr" bIns="15575" lIns="31150" spcFirstLastPara="1" rIns="31150" wrap="square" tIns="15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14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g3e4a02ea4f9_43_0"/>
          <p:cNvSpPr/>
          <p:nvPr/>
        </p:nvSpPr>
        <p:spPr>
          <a:xfrm>
            <a:off x="3339956" y="4029179"/>
            <a:ext cx="202800" cy="124800"/>
          </a:xfrm>
          <a:prstGeom prst="roundRect">
            <a:avLst>
              <a:gd fmla="val 50000" name="adj"/>
            </a:avLst>
          </a:prstGeom>
          <a:solidFill>
            <a:srgbClr val="14B8A6"/>
          </a:solidFill>
          <a:ln>
            <a:noFill/>
          </a:ln>
          <a:effectLst>
            <a:outerShdw blurRad="13636" rotWithShape="0" dir="5400000" dist="7841">
              <a:srgbClr val="000000">
                <a:alpha val="34900"/>
              </a:srgbClr>
            </a:outerShdw>
          </a:effectLst>
        </p:spPr>
        <p:txBody>
          <a:bodyPr anchorCtr="0" anchor="ctr" bIns="15575" lIns="31150" spcFirstLastPara="1" rIns="31150" wrap="square" tIns="15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14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g3e4a02ea4f9_43_0"/>
          <p:cNvSpPr txBox="1"/>
          <p:nvPr/>
        </p:nvSpPr>
        <p:spPr>
          <a:xfrm>
            <a:off x="3339956" y="4029179"/>
            <a:ext cx="202800" cy="7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0" lIns="15575" spcFirstLastPara="1" rIns="15575" wrap="square" tIns="625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C08</a:t>
            </a:r>
            <a:endParaRPr sz="477"/>
          </a:p>
        </p:txBody>
      </p:sp>
      <p:sp>
        <p:nvSpPr>
          <p:cNvPr id="506" name="Google Shape;506;g3e4a02ea4f9_43_0"/>
          <p:cNvSpPr txBox="1"/>
          <p:nvPr/>
        </p:nvSpPr>
        <p:spPr>
          <a:xfrm>
            <a:off x="3325344" y="4185042"/>
            <a:ext cx="5787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0" lIns="15575" spcFirstLastPara="1" rIns="15575" wrap="square" tIns="625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8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After fixing bug #427 in checkout, retest the same scenario</a:t>
            </a:r>
            <a:endParaRPr sz="477"/>
          </a:p>
        </p:txBody>
      </p:sp>
      <p:grpSp>
        <p:nvGrpSpPr>
          <p:cNvPr id="507" name="Google Shape;507;g3e4a02ea4f9_43_0"/>
          <p:cNvGrpSpPr/>
          <p:nvPr/>
        </p:nvGrpSpPr>
        <p:grpSpPr>
          <a:xfrm>
            <a:off x="3536513" y="3104430"/>
            <a:ext cx="891814" cy="649077"/>
            <a:chOff x="548640" y="3172968"/>
            <a:chExt cx="2743200" cy="1326000"/>
          </a:xfrm>
        </p:grpSpPr>
        <p:sp>
          <p:nvSpPr>
            <p:cNvPr id="508" name="Google Shape;508;g3e4a02ea4f9_43_0"/>
            <p:cNvSpPr/>
            <p:nvPr/>
          </p:nvSpPr>
          <p:spPr>
            <a:xfrm>
              <a:off x="548640" y="3172968"/>
              <a:ext cx="2743200" cy="1326000"/>
            </a:xfrm>
            <a:prstGeom prst="roundRect">
              <a:avLst>
                <a:gd fmla="val 18000" name="adj"/>
              </a:avLst>
            </a:prstGeom>
            <a:solidFill>
              <a:srgbClr val="F1F5F9"/>
            </a:solidFill>
            <a:ln>
              <a:noFill/>
            </a:ln>
            <a:effectLst>
              <a:outerShdw blurRad="19580" rotWithShape="0" dir="5400000" dist="11259">
                <a:srgbClr val="000000">
                  <a:alpha val="34900"/>
                </a:srgbClr>
              </a:outerShdw>
            </a:effectLst>
          </p:spPr>
          <p:txBody>
            <a:bodyPr anchorCtr="0" anchor="ctr" bIns="22375" lIns="44750" spcFirstLastPara="1" rIns="44750" wrap="square" tIns="22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88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g3e4a02ea4f9_43_0"/>
            <p:cNvSpPr/>
            <p:nvPr/>
          </p:nvSpPr>
          <p:spPr>
            <a:xfrm>
              <a:off x="685800" y="3310128"/>
              <a:ext cx="594300" cy="365700"/>
            </a:xfrm>
            <a:prstGeom prst="roundRect">
              <a:avLst>
                <a:gd fmla="val 50000" name="adj"/>
              </a:avLst>
            </a:prstGeom>
            <a:solidFill>
              <a:srgbClr val="8B5CF6"/>
            </a:solidFill>
            <a:ln>
              <a:noFill/>
            </a:ln>
            <a:effectLst>
              <a:outerShdw blurRad="19580" rotWithShape="0" dir="5400000" dist="11259">
                <a:srgbClr val="000000">
                  <a:alpha val="34900"/>
                </a:srgbClr>
              </a:outerShdw>
            </a:effectLst>
          </p:spPr>
          <p:txBody>
            <a:bodyPr anchorCtr="0" anchor="ctr" bIns="22375" lIns="44750" spcFirstLastPara="1" rIns="44750" wrap="square" tIns="22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88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g3e4a02ea4f9_43_0"/>
            <p:cNvSpPr txBox="1"/>
            <p:nvPr/>
          </p:nvSpPr>
          <p:spPr>
            <a:xfrm>
              <a:off x="685800" y="3310128"/>
              <a:ext cx="594300" cy="20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50" lIns="22375" spcFirstLastPara="1" rIns="22375" wrap="square" tIns="895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38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C05</a:t>
              </a:r>
              <a:endParaRPr sz="685"/>
            </a:p>
          </p:txBody>
        </p:sp>
        <p:sp>
          <p:nvSpPr>
            <p:cNvPr id="511" name="Google Shape;511;g3e4a02ea4f9_43_0"/>
            <p:cNvSpPr txBox="1"/>
            <p:nvPr/>
          </p:nvSpPr>
          <p:spPr>
            <a:xfrm>
              <a:off x="685800" y="3800778"/>
              <a:ext cx="2469000" cy="61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50" lIns="22375" spcFirstLastPara="1" rIns="22375" wrap="square" tIns="895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14" u="none" cap="none" strike="noStrike">
                  <a:solidFill>
                    <a:srgbClr val="0F1B3D"/>
                  </a:solidFill>
                  <a:latin typeface="Calibri"/>
                  <a:ea typeface="Calibri"/>
                  <a:cs typeface="Calibri"/>
                  <a:sym typeface="Calibri"/>
                </a:rPr>
                <a:t>Confirm Auth API and Cart API talk correctly after JWT refresh</a:t>
              </a:r>
              <a:endParaRPr sz="685"/>
            </a:p>
          </p:txBody>
        </p:sp>
      </p:grpSp>
      <p:grpSp>
        <p:nvGrpSpPr>
          <p:cNvPr id="512" name="Google Shape;512;g3e4a02ea4f9_43_0"/>
          <p:cNvGrpSpPr/>
          <p:nvPr/>
        </p:nvGrpSpPr>
        <p:grpSpPr>
          <a:xfrm>
            <a:off x="5576616" y="3979188"/>
            <a:ext cx="678560" cy="572061"/>
            <a:chOff x="5358890" y="3924948"/>
            <a:chExt cx="463719" cy="375467"/>
          </a:xfrm>
        </p:grpSpPr>
        <p:sp>
          <p:nvSpPr>
            <p:cNvPr id="513" name="Google Shape;513;g3e4a02ea4f9_43_0"/>
            <p:cNvSpPr/>
            <p:nvPr/>
          </p:nvSpPr>
          <p:spPr>
            <a:xfrm>
              <a:off x="5358890" y="3924948"/>
              <a:ext cx="463719" cy="375467"/>
            </a:xfrm>
            <a:prstGeom prst="roundRect">
              <a:avLst>
                <a:gd fmla="val 18000" name="adj"/>
              </a:avLst>
            </a:prstGeom>
            <a:solidFill>
              <a:srgbClr val="F1F5F9"/>
            </a:solidFill>
            <a:ln>
              <a:noFill/>
            </a:ln>
            <a:effectLst>
              <a:outerShdw blurRad="16579" rotWithShape="0" dir="5400000" dist="9533">
                <a:srgbClr val="000000">
                  <a:alpha val="34900"/>
                </a:srgbClr>
              </a:outerShdw>
            </a:effectLst>
          </p:spPr>
          <p:txBody>
            <a:bodyPr anchorCtr="0" anchor="ctr" bIns="18925" lIns="37875" spcFirstLastPara="1" rIns="37875" wrap="square" tIns="189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746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g3e4a02ea4f9_43_0"/>
            <p:cNvSpPr/>
            <p:nvPr/>
          </p:nvSpPr>
          <p:spPr>
            <a:xfrm>
              <a:off x="5382077" y="3963804"/>
              <a:ext cx="100502" cy="10364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  <a:effectLst>
              <a:outerShdw blurRad="16579" rotWithShape="0" dir="5400000" dist="9533">
                <a:srgbClr val="000000">
                  <a:alpha val="34900"/>
                </a:srgbClr>
              </a:outerShdw>
            </a:effectLst>
          </p:spPr>
          <p:txBody>
            <a:bodyPr anchorCtr="0" anchor="ctr" bIns="18925" lIns="37875" spcFirstLastPara="1" rIns="37875" wrap="square" tIns="189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746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g3e4a02ea4f9_43_0"/>
            <p:cNvSpPr txBox="1"/>
            <p:nvPr/>
          </p:nvSpPr>
          <p:spPr>
            <a:xfrm>
              <a:off x="5382077" y="3963804"/>
              <a:ext cx="100500" cy="5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525" lIns="18925" spcFirstLastPara="1" rIns="18925" wrap="square" tIns="75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56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C09</a:t>
              </a:r>
              <a:endParaRPr sz="580"/>
            </a:p>
          </p:txBody>
        </p:sp>
        <p:sp>
          <p:nvSpPr>
            <p:cNvPr id="516" name="Google Shape;516;g3e4a02ea4f9_43_0"/>
            <p:cNvSpPr txBox="1"/>
            <p:nvPr/>
          </p:nvSpPr>
          <p:spPr>
            <a:xfrm>
              <a:off x="5382077" y="4093324"/>
              <a:ext cx="417600" cy="11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525" lIns="18925" spcFirstLastPara="1" rIns="18925" wrap="square" tIns="7525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35" u="none" cap="none" strike="noStrike">
                  <a:solidFill>
                    <a:srgbClr val="0F1B3D"/>
                  </a:solidFill>
                  <a:latin typeface="Calibri"/>
                  <a:ea typeface="Calibri"/>
                  <a:cs typeface="Calibri"/>
                  <a:sym typeface="Calibri"/>
                </a:rPr>
                <a:t>A security scan finds SQL injection on /search?q=</a:t>
              </a:r>
              <a:endParaRPr sz="580"/>
            </a:p>
          </p:txBody>
        </p:sp>
      </p:grpSp>
      <p:sp>
        <p:nvSpPr>
          <p:cNvPr id="517" name="Google Shape;517;g3e4a02ea4f9_43_0"/>
          <p:cNvSpPr/>
          <p:nvPr/>
        </p:nvSpPr>
        <p:spPr>
          <a:xfrm>
            <a:off x="3902225" y="4708675"/>
            <a:ext cx="802800" cy="43110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13004" rotWithShape="0" dir="5400000" dist="7477">
              <a:srgbClr val="000000">
                <a:alpha val="34900"/>
              </a:srgbClr>
            </a:outerShdw>
          </a:effectLst>
        </p:spPr>
        <p:txBody>
          <a:bodyPr anchorCtr="0" anchor="ctr" bIns="14850" lIns="29725" spcFirstLastPara="1" rIns="29725" wrap="square" tIns="1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85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g3e4a02ea4f9_43_0"/>
          <p:cNvSpPr/>
          <p:nvPr/>
        </p:nvSpPr>
        <p:spPr>
          <a:xfrm>
            <a:off x="3946819" y="4753274"/>
            <a:ext cx="193200" cy="1188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  <a:effectLst>
            <a:outerShdw blurRad="13004" rotWithShape="0" dir="5400000" dist="7477">
              <a:srgbClr val="000000">
                <a:alpha val="34900"/>
              </a:srgbClr>
            </a:outerShdw>
          </a:effectLst>
        </p:spPr>
        <p:txBody>
          <a:bodyPr anchorCtr="0" anchor="ctr" bIns="14850" lIns="29725" spcFirstLastPara="1" rIns="29725" wrap="square" tIns="1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85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g3e4a02ea4f9_43_0"/>
          <p:cNvSpPr txBox="1"/>
          <p:nvPr/>
        </p:nvSpPr>
        <p:spPr>
          <a:xfrm>
            <a:off x="3946819" y="4753274"/>
            <a:ext cx="193200" cy="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925" lIns="14850" spcFirstLastPara="1" rIns="14850" wrap="square" tIns="59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C07</a:t>
            </a:r>
            <a:endParaRPr sz="455"/>
          </a:p>
        </p:txBody>
      </p:sp>
      <p:sp>
        <p:nvSpPr>
          <p:cNvPr id="520" name="Google Shape;520;g3e4a02ea4f9_43_0"/>
          <p:cNvSpPr txBox="1"/>
          <p:nvPr/>
        </p:nvSpPr>
        <p:spPr>
          <a:xfrm>
            <a:off x="3946819" y="4901913"/>
            <a:ext cx="8028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5925" lIns="14850" spcFirstLastPara="1" rIns="14850" wrap="square" tIns="592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1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Product Owner walks through the new wishlist feature</a:t>
            </a:r>
            <a:endParaRPr sz="455"/>
          </a:p>
        </p:txBody>
      </p:sp>
      <p:grpSp>
        <p:nvGrpSpPr>
          <p:cNvPr id="521" name="Google Shape;521;g3e4a02ea4f9_43_0"/>
          <p:cNvGrpSpPr/>
          <p:nvPr/>
        </p:nvGrpSpPr>
        <p:grpSpPr>
          <a:xfrm>
            <a:off x="6297667" y="3983262"/>
            <a:ext cx="678519" cy="572074"/>
            <a:chOff x="6781300" y="4047924"/>
            <a:chExt cx="774300" cy="603900"/>
          </a:xfrm>
        </p:grpSpPr>
        <p:sp>
          <p:nvSpPr>
            <p:cNvPr id="522" name="Google Shape;522;g3e4a02ea4f9_43_0"/>
            <p:cNvSpPr/>
            <p:nvPr/>
          </p:nvSpPr>
          <p:spPr>
            <a:xfrm>
              <a:off x="6781300" y="4047924"/>
              <a:ext cx="774300" cy="603900"/>
            </a:xfrm>
            <a:prstGeom prst="roundRect">
              <a:avLst>
                <a:gd fmla="val 18000" name="adj"/>
              </a:avLst>
            </a:prstGeom>
            <a:solidFill>
              <a:srgbClr val="F1F5F9"/>
            </a:solidFill>
            <a:ln>
              <a:noFill/>
            </a:ln>
            <a:effectLst>
              <a:outerShdw blurRad="17250" rotWithShape="0" dir="5400000" dist="9919">
                <a:srgbClr val="000000">
                  <a:alpha val="34900"/>
                </a:srgbClr>
              </a:outerShdw>
            </a:effectLst>
          </p:spPr>
          <p:txBody>
            <a:bodyPr anchorCtr="0" anchor="ctr" bIns="19725" lIns="39425" spcFirstLastPara="1" rIns="39425" wrap="square" tIns="197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776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g3e4a02ea4f9_43_0"/>
            <p:cNvSpPr txBox="1"/>
            <p:nvPr/>
          </p:nvSpPr>
          <p:spPr>
            <a:xfrm>
              <a:off x="6820017" y="4318524"/>
              <a:ext cx="696900" cy="28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900" lIns="19725" spcFirstLastPara="1" rIns="19725" wrap="square" tIns="790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53" u="none" cap="none" strike="noStrike">
                  <a:solidFill>
                    <a:srgbClr val="0F1B3D"/>
                  </a:solidFill>
                  <a:latin typeface="Calibri"/>
                  <a:ea typeface="Calibri"/>
                  <a:cs typeface="Calibri"/>
                  <a:sym typeface="Calibri"/>
                </a:rPr>
                <a:t>User reports the Search page feels slow under 50 concurrent users</a:t>
              </a:r>
              <a:endParaRPr sz="604"/>
            </a:p>
          </p:txBody>
        </p:sp>
        <p:sp>
          <p:nvSpPr>
            <p:cNvPr id="524" name="Google Shape;524;g3e4a02ea4f9_43_0"/>
            <p:cNvSpPr/>
            <p:nvPr/>
          </p:nvSpPr>
          <p:spPr>
            <a:xfrm>
              <a:off x="6820017" y="4074070"/>
              <a:ext cx="167700" cy="1665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  <a:effectLst>
              <a:outerShdw blurRad="17250" rotWithShape="0" dir="5400000" dist="9919">
                <a:srgbClr val="000000">
                  <a:alpha val="34900"/>
                </a:srgbClr>
              </a:outerShdw>
            </a:effectLst>
          </p:spPr>
          <p:txBody>
            <a:bodyPr anchorCtr="0" anchor="ctr" bIns="19725" lIns="39425" spcFirstLastPara="1" rIns="39425" wrap="square" tIns="197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776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g3e4a02ea4f9_43_0"/>
            <p:cNvSpPr txBox="1"/>
            <p:nvPr/>
          </p:nvSpPr>
          <p:spPr>
            <a:xfrm>
              <a:off x="6820017" y="4110370"/>
              <a:ext cx="167700" cy="9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00" lIns="19725" spcFirstLastPara="1" rIns="19725" wrap="square" tIns="790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74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C04</a:t>
              </a:r>
              <a:endParaRPr sz="604"/>
            </a:p>
          </p:txBody>
        </p:sp>
      </p:grpSp>
      <p:sp>
        <p:nvSpPr>
          <p:cNvPr id="526" name="Google Shape;526;g3e4a02ea4f9_43_0"/>
          <p:cNvSpPr/>
          <p:nvPr/>
        </p:nvSpPr>
        <p:spPr>
          <a:xfrm>
            <a:off x="3961998" y="3982387"/>
            <a:ext cx="642900" cy="53910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13285" rotWithShape="0" dir="5400000" dist="7639">
              <a:srgbClr val="000000">
                <a:alpha val="34900"/>
              </a:srgbClr>
            </a:outerShdw>
          </a:effectLst>
        </p:spPr>
        <p:txBody>
          <a:bodyPr anchorCtr="0" anchor="ctr" bIns="15175" lIns="30350" spcFirstLastPara="1" rIns="30350" wrap="square" tIns="15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98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7" name="Google Shape;527;g3e4a02ea4f9_43_0"/>
          <p:cNvGrpSpPr/>
          <p:nvPr/>
        </p:nvGrpSpPr>
        <p:grpSpPr>
          <a:xfrm>
            <a:off x="3980690" y="4070392"/>
            <a:ext cx="578503" cy="321380"/>
            <a:chOff x="4864145" y="3951753"/>
            <a:chExt cx="417300" cy="231843"/>
          </a:xfrm>
        </p:grpSpPr>
        <p:sp>
          <p:nvSpPr>
            <p:cNvPr id="528" name="Google Shape;528;g3e4a02ea4f9_43_0"/>
            <p:cNvSpPr/>
            <p:nvPr/>
          </p:nvSpPr>
          <p:spPr>
            <a:xfrm>
              <a:off x="4864145" y="3951753"/>
              <a:ext cx="100200" cy="107100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  <a:effectLst>
              <a:outerShdw blurRad="13285" rotWithShape="0" dir="5400000" dist="7639">
                <a:srgbClr val="000000">
                  <a:alpha val="34900"/>
                </a:srgbClr>
              </a:outerShdw>
            </a:effectLst>
          </p:spPr>
          <p:txBody>
            <a:bodyPr anchorCtr="0" anchor="ctr" bIns="15175" lIns="30350" spcFirstLastPara="1" rIns="30350" wrap="square" tIns="151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598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g3e4a02ea4f9_43_0"/>
            <p:cNvSpPr txBox="1"/>
            <p:nvPr/>
          </p:nvSpPr>
          <p:spPr>
            <a:xfrm>
              <a:off x="4864145" y="3951753"/>
              <a:ext cx="100200" cy="4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50" lIns="15175" spcFirstLastPara="1" rIns="15175" wrap="square" tIns="605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5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C10</a:t>
              </a:r>
              <a:endParaRPr sz="465"/>
            </a:p>
          </p:txBody>
        </p:sp>
        <p:sp>
          <p:nvSpPr>
            <p:cNvPr id="530" name="Google Shape;530;g3e4a02ea4f9_43_0"/>
            <p:cNvSpPr txBox="1"/>
            <p:nvPr/>
          </p:nvSpPr>
          <p:spPr>
            <a:xfrm>
              <a:off x="4864145" y="4085795"/>
              <a:ext cx="417300" cy="9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50" lIns="15175" spcFirstLastPara="1" rIns="15175" wrap="square" tIns="605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49" u="none" cap="none" strike="noStrike">
                  <a:solidFill>
                    <a:srgbClr val="0F1B3D"/>
                  </a:solidFill>
                  <a:latin typeface="Calibri"/>
                  <a:ea typeface="Calibri"/>
                  <a:cs typeface="Calibri"/>
                  <a:sym typeface="Calibri"/>
                </a:rPr>
                <a:t>Mobile QA checks Add-to-Cart works across iOS 16/17/18</a:t>
              </a:r>
              <a:endParaRPr sz="465"/>
            </a:p>
          </p:txBody>
        </p:sp>
      </p:grpSp>
      <p:grpSp>
        <p:nvGrpSpPr>
          <p:cNvPr id="531" name="Google Shape;531;g3e4a02ea4f9_43_0"/>
          <p:cNvGrpSpPr/>
          <p:nvPr/>
        </p:nvGrpSpPr>
        <p:grpSpPr>
          <a:xfrm>
            <a:off x="4020954" y="5180266"/>
            <a:ext cx="365042" cy="265634"/>
            <a:chOff x="3978751" y="3965128"/>
            <a:chExt cx="731400" cy="573600"/>
          </a:xfrm>
        </p:grpSpPr>
        <p:sp>
          <p:nvSpPr>
            <p:cNvPr id="532" name="Google Shape;532;g3e4a02ea4f9_43_0"/>
            <p:cNvSpPr/>
            <p:nvPr/>
          </p:nvSpPr>
          <p:spPr>
            <a:xfrm>
              <a:off x="3978751" y="3965128"/>
              <a:ext cx="731400" cy="573600"/>
            </a:xfrm>
            <a:prstGeom prst="roundRect">
              <a:avLst>
                <a:gd fmla="val 18000" name="adj"/>
              </a:avLst>
            </a:prstGeom>
            <a:solidFill>
              <a:srgbClr val="F1F5F9"/>
            </a:solidFill>
            <a:ln>
              <a:noFill/>
            </a:ln>
            <a:effectLst>
              <a:outerShdw blurRad="8334" rotWithShape="0" dir="5400000" dist="4792">
                <a:srgbClr val="000000">
                  <a:alpha val="34900"/>
                </a:srgbClr>
              </a:outerShdw>
            </a:effectLst>
          </p:spPr>
          <p:txBody>
            <a:bodyPr anchorCtr="0" anchor="ctr" bIns="9525" lIns="19050" spcFirstLastPara="1" rIns="19050" wrap="square" tIns="95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75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g3e4a02ea4f9_43_0"/>
            <p:cNvSpPr/>
            <p:nvPr/>
          </p:nvSpPr>
          <p:spPr>
            <a:xfrm>
              <a:off x="4015318" y="4024463"/>
              <a:ext cx="158400" cy="158100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  <a:effectLst>
              <a:outerShdw blurRad="8334" rotWithShape="0" dir="5400000" dist="4792">
                <a:srgbClr val="000000">
                  <a:alpha val="34900"/>
                </a:srgbClr>
              </a:outerShdw>
            </a:effectLst>
          </p:spPr>
          <p:txBody>
            <a:bodyPr anchorCtr="0" anchor="ctr" bIns="9525" lIns="19050" spcFirstLastPara="1" rIns="19050" wrap="square" tIns="95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75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g3e4a02ea4f9_43_0"/>
            <p:cNvSpPr txBox="1"/>
            <p:nvPr/>
          </p:nvSpPr>
          <p:spPr>
            <a:xfrm>
              <a:off x="4015318" y="4024463"/>
              <a:ext cx="158400" cy="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25" lIns="9525" spcFirstLastPara="1" rIns="9525" wrap="square" tIns="38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C03</a:t>
              </a:r>
              <a:endParaRPr sz="292"/>
            </a:p>
          </p:txBody>
        </p:sp>
        <p:sp>
          <p:nvSpPr>
            <p:cNvPr id="535" name="Google Shape;535;g3e4a02ea4f9_43_0"/>
            <p:cNvSpPr txBox="1"/>
            <p:nvPr/>
          </p:nvSpPr>
          <p:spPr>
            <a:xfrm>
              <a:off x="4015318" y="4222248"/>
              <a:ext cx="658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25" lIns="9525" spcFirstLastPara="1" rIns="9525" wrap="square" tIns="3825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" u="none" cap="none" strike="noStrike">
                  <a:solidFill>
                    <a:srgbClr val="0F1B3D"/>
                  </a:solidFill>
                  <a:latin typeface="Calibri"/>
                  <a:ea typeface="Calibri"/>
                  <a:cs typeface="Calibri"/>
                  <a:sym typeface="Calibri"/>
                </a:rPr>
                <a:t>A QA tester clicks 'Buy now' to confirm checkout flow end-to-end</a:t>
              </a:r>
              <a:endParaRPr sz="292"/>
            </a:p>
          </p:txBody>
        </p:sp>
      </p:grpSp>
      <p:grpSp>
        <p:nvGrpSpPr>
          <p:cNvPr id="536" name="Google Shape;536;g3e4a02ea4f9_43_0"/>
          <p:cNvGrpSpPr/>
          <p:nvPr/>
        </p:nvGrpSpPr>
        <p:grpSpPr>
          <a:xfrm>
            <a:off x="2676168" y="2430937"/>
            <a:ext cx="860619" cy="642656"/>
            <a:chOff x="2685620" y="2141610"/>
            <a:chExt cx="1907400" cy="921900"/>
          </a:xfrm>
        </p:grpSpPr>
        <p:sp>
          <p:nvSpPr>
            <p:cNvPr id="537" name="Google Shape;537;g3e4a02ea4f9_43_0"/>
            <p:cNvSpPr/>
            <p:nvPr/>
          </p:nvSpPr>
          <p:spPr>
            <a:xfrm>
              <a:off x="2685620" y="2141610"/>
              <a:ext cx="1907400" cy="921900"/>
            </a:xfrm>
            <a:prstGeom prst="roundRect">
              <a:avLst>
                <a:gd fmla="val 18000" name="adj"/>
              </a:avLst>
            </a:prstGeom>
            <a:solidFill>
              <a:srgbClr val="F1F5F9"/>
            </a:solidFill>
            <a:ln>
              <a:noFill/>
            </a:ln>
            <a:effectLst>
              <a:outerShdw blurRad="17303" rotWithShape="0" dir="5400000" dist="9949">
                <a:srgbClr val="000000">
                  <a:alpha val="34900"/>
                </a:srgbClr>
              </a:outerShdw>
            </a:effectLst>
          </p:spPr>
          <p:txBody>
            <a:bodyPr anchorCtr="0" anchor="ctr" bIns="19775" lIns="39550" spcFirstLastPara="1" rIns="39550" wrap="square" tIns="197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779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g3e4a02ea4f9_43_0"/>
            <p:cNvSpPr/>
            <p:nvPr/>
          </p:nvSpPr>
          <p:spPr>
            <a:xfrm>
              <a:off x="2781004" y="2221133"/>
              <a:ext cx="413100" cy="254400"/>
            </a:xfrm>
            <a:prstGeom prst="roundRect">
              <a:avLst>
                <a:gd fmla="val 50000" name="adj"/>
              </a:avLst>
            </a:prstGeom>
            <a:solidFill>
              <a:srgbClr val="0EA5E9"/>
            </a:solidFill>
            <a:ln>
              <a:noFill/>
            </a:ln>
            <a:effectLst>
              <a:outerShdw blurRad="17303" rotWithShape="0" dir="5400000" dist="9949">
                <a:srgbClr val="000000">
                  <a:alpha val="34900"/>
                </a:srgbClr>
              </a:outerShdw>
            </a:effectLst>
          </p:spPr>
          <p:txBody>
            <a:bodyPr anchorCtr="0" anchor="ctr" bIns="19775" lIns="39550" spcFirstLastPara="1" rIns="39550" wrap="square" tIns="197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779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g3e4a02ea4f9_43_0"/>
            <p:cNvSpPr txBox="1"/>
            <p:nvPr/>
          </p:nvSpPr>
          <p:spPr>
            <a:xfrm>
              <a:off x="2781004" y="2221133"/>
              <a:ext cx="4131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00" lIns="19775" spcFirstLastPara="1" rIns="19775" wrap="square" tIns="790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76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C01</a:t>
              </a:r>
              <a:endParaRPr sz="606"/>
            </a:p>
          </p:txBody>
        </p:sp>
        <p:sp>
          <p:nvSpPr>
            <p:cNvPr id="540" name="Google Shape;540;g3e4a02ea4f9_43_0"/>
            <p:cNvSpPr txBox="1"/>
            <p:nvPr/>
          </p:nvSpPr>
          <p:spPr>
            <a:xfrm>
              <a:off x="2781004" y="2539024"/>
              <a:ext cx="17166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900" lIns="19775" spcFirstLastPara="1" rIns="19775" wrap="square" tIns="790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54" u="none" cap="none" strike="noStrike">
                  <a:solidFill>
                    <a:srgbClr val="0F1B3D"/>
                  </a:solidFill>
                  <a:latin typeface="Calibri"/>
                  <a:ea typeface="Calibri"/>
                  <a:cs typeface="Calibri"/>
                  <a:sym typeface="Calibri"/>
                </a:rPr>
                <a:t>Check that addToCart(productId, qty) inserts a row into cart table</a:t>
              </a:r>
              <a:endParaRPr sz="606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e4a02ea4f9_25_0"/>
          <p:cNvSpPr txBox="1"/>
          <p:nvPr/>
        </p:nvSpPr>
        <p:spPr>
          <a:xfrm>
            <a:off x="548640" y="320040"/>
            <a:ext cx="109728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THE TAXONOMY GRID</a:t>
            </a:r>
            <a:endParaRPr/>
          </a:p>
        </p:txBody>
      </p:sp>
      <p:sp>
        <p:nvSpPr>
          <p:cNvPr id="546" name="Google Shape;546;g3e4a02ea4f9_25_0"/>
          <p:cNvSpPr txBox="1"/>
          <p:nvPr/>
        </p:nvSpPr>
        <p:spPr>
          <a:xfrm>
            <a:off x="548640" y="640080"/>
            <a:ext cx="109728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Place each card in exactly one cell - Group 03</a:t>
            </a:r>
            <a:endParaRPr/>
          </a:p>
        </p:txBody>
      </p:sp>
      <p:sp>
        <p:nvSpPr>
          <p:cNvPr id="547" name="Google Shape;547;g3e4a02ea4f9_25_0"/>
          <p:cNvSpPr/>
          <p:nvPr/>
        </p:nvSpPr>
        <p:spPr>
          <a:xfrm>
            <a:off x="548640" y="1371600"/>
            <a:ext cx="731400" cy="73200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g3e4a02ea4f9_25_0"/>
          <p:cNvSpPr/>
          <p:nvPr/>
        </p:nvSpPr>
        <p:spPr>
          <a:xfrm>
            <a:off x="603415" y="1691640"/>
            <a:ext cx="1920300" cy="502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g3e4a02ea4f9_25_0"/>
          <p:cNvSpPr/>
          <p:nvPr/>
        </p:nvSpPr>
        <p:spPr>
          <a:xfrm>
            <a:off x="2468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g3e4a02ea4f9_25_0"/>
          <p:cNvSpPr txBox="1"/>
          <p:nvPr/>
        </p:nvSpPr>
        <p:spPr>
          <a:xfrm>
            <a:off x="2468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Functional</a:t>
            </a:r>
            <a:endParaRPr/>
          </a:p>
        </p:txBody>
      </p:sp>
      <p:sp>
        <p:nvSpPr>
          <p:cNvPr id="551" name="Google Shape;551;g3e4a02ea4f9_25_0"/>
          <p:cNvSpPr/>
          <p:nvPr/>
        </p:nvSpPr>
        <p:spPr>
          <a:xfrm>
            <a:off x="4754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g3e4a02ea4f9_25_0"/>
          <p:cNvSpPr txBox="1"/>
          <p:nvPr/>
        </p:nvSpPr>
        <p:spPr>
          <a:xfrm>
            <a:off x="4754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Non-functional</a:t>
            </a:r>
            <a:endParaRPr/>
          </a:p>
        </p:txBody>
      </p:sp>
      <p:sp>
        <p:nvSpPr>
          <p:cNvPr id="553" name="Google Shape;553;g3e4a02ea4f9_25_0"/>
          <p:cNvSpPr/>
          <p:nvPr/>
        </p:nvSpPr>
        <p:spPr>
          <a:xfrm>
            <a:off x="7040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g3e4a02ea4f9_25_0"/>
          <p:cNvSpPr txBox="1"/>
          <p:nvPr/>
        </p:nvSpPr>
        <p:spPr>
          <a:xfrm>
            <a:off x="7040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Structural</a:t>
            </a:r>
            <a:endParaRPr/>
          </a:p>
        </p:txBody>
      </p:sp>
      <p:sp>
        <p:nvSpPr>
          <p:cNvPr id="555" name="Google Shape;555;g3e4a02ea4f9_25_0"/>
          <p:cNvSpPr/>
          <p:nvPr/>
        </p:nvSpPr>
        <p:spPr>
          <a:xfrm>
            <a:off x="9326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g3e4a02ea4f9_25_0"/>
          <p:cNvSpPr txBox="1"/>
          <p:nvPr/>
        </p:nvSpPr>
        <p:spPr>
          <a:xfrm>
            <a:off x="9326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Change-related</a:t>
            </a:r>
            <a:endParaRPr/>
          </a:p>
        </p:txBody>
      </p:sp>
      <p:sp>
        <p:nvSpPr>
          <p:cNvPr id="557" name="Google Shape;557;g3e4a02ea4f9_25_0"/>
          <p:cNvSpPr/>
          <p:nvPr/>
        </p:nvSpPr>
        <p:spPr>
          <a:xfrm>
            <a:off x="548640" y="219456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g3e4a02ea4f9_25_0"/>
          <p:cNvSpPr txBox="1"/>
          <p:nvPr/>
        </p:nvSpPr>
        <p:spPr>
          <a:xfrm>
            <a:off x="548640" y="219456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Unit</a:t>
            </a:r>
            <a:endParaRPr/>
          </a:p>
        </p:txBody>
      </p:sp>
      <p:sp>
        <p:nvSpPr>
          <p:cNvPr id="559" name="Google Shape;559;g3e4a02ea4f9_25_0"/>
          <p:cNvSpPr/>
          <p:nvPr/>
        </p:nvSpPr>
        <p:spPr>
          <a:xfrm>
            <a:off x="2468880" y="219456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g3e4a02ea4f9_25_0"/>
          <p:cNvSpPr/>
          <p:nvPr/>
        </p:nvSpPr>
        <p:spPr>
          <a:xfrm>
            <a:off x="4754880" y="219456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g3e4a02ea4f9_25_0"/>
          <p:cNvSpPr/>
          <p:nvPr/>
        </p:nvSpPr>
        <p:spPr>
          <a:xfrm>
            <a:off x="7040880" y="219456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C01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g3e4a02ea4f9_25_0"/>
          <p:cNvSpPr/>
          <p:nvPr/>
        </p:nvSpPr>
        <p:spPr>
          <a:xfrm>
            <a:off x="9326880" y="219456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g3e4a02ea4f9_25_0"/>
          <p:cNvSpPr/>
          <p:nvPr/>
        </p:nvSpPr>
        <p:spPr>
          <a:xfrm>
            <a:off x="548640" y="301752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g3e4a02ea4f9_25_0"/>
          <p:cNvSpPr txBox="1"/>
          <p:nvPr/>
        </p:nvSpPr>
        <p:spPr>
          <a:xfrm>
            <a:off x="548640" y="301752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Integration</a:t>
            </a:r>
            <a:endParaRPr/>
          </a:p>
        </p:txBody>
      </p:sp>
      <p:sp>
        <p:nvSpPr>
          <p:cNvPr id="565" name="Google Shape;565;g3e4a02ea4f9_25_0"/>
          <p:cNvSpPr/>
          <p:nvPr/>
        </p:nvSpPr>
        <p:spPr>
          <a:xfrm>
            <a:off x="2468880" y="301752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g3e4a02ea4f9_25_0"/>
          <p:cNvSpPr/>
          <p:nvPr/>
        </p:nvSpPr>
        <p:spPr>
          <a:xfrm>
            <a:off x="4754880" y="301752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C02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g3e4a02ea4f9_25_0"/>
          <p:cNvSpPr/>
          <p:nvPr/>
        </p:nvSpPr>
        <p:spPr>
          <a:xfrm>
            <a:off x="7040880" y="301752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C05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g3e4a02ea4f9_25_0"/>
          <p:cNvSpPr/>
          <p:nvPr/>
        </p:nvSpPr>
        <p:spPr>
          <a:xfrm>
            <a:off x="9326880" y="301752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g3e4a02ea4f9_25_0"/>
          <p:cNvSpPr/>
          <p:nvPr/>
        </p:nvSpPr>
        <p:spPr>
          <a:xfrm>
            <a:off x="548640" y="384048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g3e4a02ea4f9_25_0"/>
          <p:cNvSpPr txBox="1"/>
          <p:nvPr/>
        </p:nvSpPr>
        <p:spPr>
          <a:xfrm>
            <a:off x="548640" y="384048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/>
          </a:p>
        </p:txBody>
      </p:sp>
      <p:sp>
        <p:nvSpPr>
          <p:cNvPr id="571" name="Google Shape;571;g3e4a02ea4f9_25_0"/>
          <p:cNvSpPr/>
          <p:nvPr/>
        </p:nvSpPr>
        <p:spPr>
          <a:xfrm>
            <a:off x="2468880" y="384048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C03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g3e4a02ea4f9_25_0"/>
          <p:cNvSpPr/>
          <p:nvPr/>
        </p:nvSpPr>
        <p:spPr>
          <a:xfrm>
            <a:off x="4754880" y="384048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C04,C09,C10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g3e4a02ea4f9_25_0"/>
          <p:cNvSpPr/>
          <p:nvPr/>
        </p:nvSpPr>
        <p:spPr>
          <a:xfrm>
            <a:off x="7040880" y="384048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74" name="Google Shape;574;g3e4a02ea4f9_25_0"/>
          <p:cNvSpPr/>
          <p:nvPr/>
        </p:nvSpPr>
        <p:spPr>
          <a:xfrm>
            <a:off x="9326880" y="384048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C08,C11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g3e4a02ea4f9_25_0"/>
          <p:cNvSpPr/>
          <p:nvPr/>
        </p:nvSpPr>
        <p:spPr>
          <a:xfrm>
            <a:off x="548640" y="466344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g3e4a02ea4f9_25_0"/>
          <p:cNvSpPr txBox="1"/>
          <p:nvPr/>
        </p:nvSpPr>
        <p:spPr>
          <a:xfrm>
            <a:off x="548640" y="466344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Acceptance</a:t>
            </a:r>
            <a:endParaRPr/>
          </a:p>
        </p:txBody>
      </p:sp>
      <p:sp>
        <p:nvSpPr>
          <p:cNvPr id="577" name="Google Shape;577;g3e4a02ea4f9_25_0"/>
          <p:cNvSpPr/>
          <p:nvPr/>
        </p:nvSpPr>
        <p:spPr>
          <a:xfrm>
            <a:off x="2468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g3e4a02ea4f9_25_0"/>
          <p:cNvSpPr/>
          <p:nvPr/>
        </p:nvSpPr>
        <p:spPr>
          <a:xfrm>
            <a:off x="4754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g3e4a02ea4f9_25_0"/>
          <p:cNvSpPr/>
          <p:nvPr/>
        </p:nvSpPr>
        <p:spPr>
          <a:xfrm>
            <a:off x="7040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g3e4a02ea4f9_25_0"/>
          <p:cNvSpPr/>
          <p:nvPr/>
        </p:nvSpPr>
        <p:spPr>
          <a:xfrm>
            <a:off x="9326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C12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g3e4a02ea4f9_25_0"/>
          <p:cNvSpPr txBox="1"/>
          <p:nvPr/>
        </p:nvSpPr>
        <p:spPr>
          <a:xfrm>
            <a:off x="548640" y="5486400"/>
            <a:ext cx="109728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Place sticky-notes (provided) for each card. Some cards belong in 'Functional' across multiple levels — choose ONE primary level.</a:t>
            </a:r>
            <a:endParaRPr/>
          </a:p>
        </p:txBody>
      </p:sp>
      <p:sp>
        <p:nvSpPr>
          <p:cNvPr id="582" name="Google Shape;582;g3e4a02ea4f9_25_0"/>
          <p:cNvSpPr/>
          <p:nvPr/>
        </p:nvSpPr>
        <p:spPr>
          <a:xfrm>
            <a:off x="548640" y="5943600"/>
            <a:ext cx="11064300" cy="594300"/>
          </a:xfrm>
          <a:prstGeom prst="roundRect">
            <a:avLst>
              <a:gd fmla="val 18000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Nguyễn Lê Quan Anh - 23127001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Nguyễn Quang Thái - 23127116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Bùi Hữu Thịnh - 23127121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Nguyễn Duy Thịnh  23127122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g3e4a02ea4f9_25_0"/>
          <p:cNvSpPr txBox="1"/>
          <p:nvPr/>
        </p:nvSpPr>
        <p:spPr>
          <a:xfrm>
            <a:off x="868680" y="5943600"/>
            <a:ext cx="104241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Trap card alert · C07, C08, C11 — these are easy to mis-place. Discuss before committing.</a:t>
            </a:r>
            <a:endParaRPr/>
          </a:p>
        </p:txBody>
      </p:sp>
      <p:sp>
        <p:nvSpPr>
          <p:cNvPr id="584" name="Google Shape;584;g3e4a02ea4f9_25_0"/>
          <p:cNvSpPr txBox="1"/>
          <p:nvPr/>
        </p:nvSpPr>
        <p:spPr>
          <a:xfrm>
            <a:off x="548640" y="6565392"/>
            <a:ext cx="82296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CS423/CSC15003 · W01 In-class Activities · Testing Intro &amp; STLC · EShop SUT</a:t>
            </a:r>
            <a:endParaRPr/>
          </a:p>
        </p:txBody>
      </p:sp>
      <p:sp>
        <p:nvSpPr>
          <p:cNvPr id="585" name="Google Shape;585;g3e4a02ea4f9_25_0"/>
          <p:cNvSpPr txBox="1"/>
          <p:nvPr/>
        </p:nvSpPr>
        <p:spPr>
          <a:xfrm>
            <a:off x="10972800" y="6565392"/>
            <a:ext cx="1097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10 / 33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e4a02ea4f9_12_0"/>
          <p:cNvSpPr txBox="1"/>
          <p:nvPr/>
        </p:nvSpPr>
        <p:spPr>
          <a:xfrm>
            <a:off x="548640" y="320040"/>
            <a:ext cx="109728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THE TAXONOMY GRID</a:t>
            </a:r>
            <a:endParaRPr/>
          </a:p>
        </p:txBody>
      </p:sp>
      <p:sp>
        <p:nvSpPr>
          <p:cNvPr id="591" name="Google Shape;591;g3e4a02ea4f9_12_0"/>
          <p:cNvSpPr txBox="1"/>
          <p:nvPr/>
        </p:nvSpPr>
        <p:spPr>
          <a:xfrm>
            <a:off x="548640" y="640080"/>
            <a:ext cx="109728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Place each card in exactly one cell (Group 4)</a:t>
            </a:r>
            <a:endParaRPr/>
          </a:p>
        </p:txBody>
      </p:sp>
      <p:sp>
        <p:nvSpPr>
          <p:cNvPr id="592" name="Google Shape;592;g3e4a02ea4f9_12_0"/>
          <p:cNvSpPr/>
          <p:nvPr/>
        </p:nvSpPr>
        <p:spPr>
          <a:xfrm>
            <a:off x="548640" y="1371600"/>
            <a:ext cx="731400" cy="73200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g3e4a02ea4f9_12_0"/>
          <p:cNvSpPr/>
          <p:nvPr/>
        </p:nvSpPr>
        <p:spPr>
          <a:xfrm>
            <a:off x="603415" y="1691640"/>
            <a:ext cx="1920300" cy="502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g3e4a02ea4f9_12_0"/>
          <p:cNvSpPr/>
          <p:nvPr/>
        </p:nvSpPr>
        <p:spPr>
          <a:xfrm>
            <a:off x="2468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g3e4a02ea4f9_12_0"/>
          <p:cNvSpPr txBox="1"/>
          <p:nvPr/>
        </p:nvSpPr>
        <p:spPr>
          <a:xfrm>
            <a:off x="2468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Functional</a:t>
            </a:r>
            <a:endParaRPr/>
          </a:p>
        </p:txBody>
      </p:sp>
      <p:sp>
        <p:nvSpPr>
          <p:cNvPr id="596" name="Google Shape;596;g3e4a02ea4f9_12_0"/>
          <p:cNvSpPr/>
          <p:nvPr/>
        </p:nvSpPr>
        <p:spPr>
          <a:xfrm>
            <a:off x="4754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g3e4a02ea4f9_12_0"/>
          <p:cNvSpPr txBox="1"/>
          <p:nvPr/>
        </p:nvSpPr>
        <p:spPr>
          <a:xfrm>
            <a:off x="4754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Non-functional</a:t>
            </a:r>
            <a:endParaRPr/>
          </a:p>
        </p:txBody>
      </p:sp>
      <p:sp>
        <p:nvSpPr>
          <p:cNvPr id="598" name="Google Shape;598;g3e4a02ea4f9_12_0"/>
          <p:cNvSpPr/>
          <p:nvPr/>
        </p:nvSpPr>
        <p:spPr>
          <a:xfrm>
            <a:off x="7040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g3e4a02ea4f9_12_0"/>
          <p:cNvSpPr txBox="1"/>
          <p:nvPr/>
        </p:nvSpPr>
        <p:spPr>
          <a:xfrm>
            <a:off x="7040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Structural</a:t>
            </a:r>
            <a:endParaRPr/>
          </a:p>
        </p:txBody>
      </p:sp>
      <p:sp>
        <p:nvSpPr>
          <p:cNvPr id="600" name="Google Shape;600;g3e4a02ea4f9_12_0"/>
          <p:cNvSpPr/>
          <p:nvPr/>
        </p:nvSpPr>
        <p:spPr>
          <a:xfrm>
            <a:off x="9326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g3e4a02ea4f9_12_0"/>
          <p:cNvSpPr txBox="1"/>
          <p:nvPr/>
        </p:nvSpPr>
        <p:spPr>
          <a:xfrm>
            <a:off x="9326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Change-related</a:t>
            </a:r>
            <a:endParaRPr/>
          </a:p>
        </p:txBody>
      </p:sp>
      <p:sp>
        <p:nvSpPr>
          <p:cNvPr id="602" name="Google Shape;602;g3e4a02ea4f9_12_0"/>
          <p:cNvSpPr/>
          <p:nvPr/>
        </p:nvSpPr>
        <p:spPr>
          <a:xfrm>
            <a:off x="548640" y="219456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g3e4a02ea4f9_12_0"/>
          <p:cNvSpPr txBox="1"/>
          <p:nvPr/>
        </p:nvSpPr>
        <p:spPr>
          <a:xfrm>
            <a:off x="548640" y="219456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Unit</a:t>
            </a:r>
            <a:endParaRPr/>
          </a:p>
        </p:txBody>
      </p:sp>
      <p:sp>
        <p:nvSpPr>
          <p:cNvPr id="604" name="Google Shape;604;g3e4a02ea4f9_12_0"/>
          <p:cNvSpPr/>
          <p:nvPr/>
        </p:nvSpPr>
        <p:spPr>
          <a:xfrm>
            <a:off x="2468880" y="219456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g3e4a02ea4f9_12_0"/>
          <p:cNvSpPr/>
          <p:nvPr/>
        </p:nvSpPr>
        <p:spPr>
          <a:xfrm>
            <a:off x="4754880" y="219456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g3e4a02ea4f9_12_0"/>
          <p:cNvSpPr/>
          <p:nvPr/>
        </p:nvSpPr>
        <p:spPr>
          <a:xfrm>
            <a:off x="7040880" y="219456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g3e4a02ea4f9_12_0"/>
          <p:cNvSpPr/>
          <p:nvPr/>
        </p:nvSpPr>
        <p:spPr>
          <a:xfrm>
            <a:off x="9326880" y="219456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g3e4a02ea4f9_12_0"/>
          <p:cNvSpPr/>
          <p:nvPr/>
        </p:nvSpPr>
        <p:spPr>
          <a:xfrm>
            <a:off x="548640" y="301752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g3e4a02ea4f9_12_0"/>
          <p:cNvSpPr txBox="1"/>
          <p:nvPr/>
        </p:nvSpPr>
        <p:spPr>
          <a:xfrm>
            <a:off x="548640" y="301752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Integration</a:t>
            </a:r>
            <a:endParaRPr/>
          </a:p>
        </p:txBody>
      </p:sp>
      <p:sp>
        <p:nvSpPr>
          <p:cNvPr id="610" name="Google Shape;610;g3e4a02ea4f9_12_0"/>
          <p:cNvSpPr/>
          <p:nvPr/>
        </p:nvSpPr>
        <p:spPr>
          <a:xfrm>
            <a:off x="2468880" y="301752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g3e4a02ea4f9_12_0"/>
          <p:cNvSpPr/>
          <p:nvPr/>
        </p:nvSpPr>
        <p:spPr>
          <a:xfrm>
            <a:off x="4754880" y="301752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g3e4a02ea4f9_12_0"/>
          <p:cNvSpPr/>
          <p:nvPr/>
        </p:nvSpPr>
        <p:spPr>
          <a:xfrm>
            <a:off x="7040880" y="301752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g3e4a02ea4f9_12_0"/>
          <p:cNvSpPr/>
          <p:nvPr/>
        </p:nvSpPr>
        <p:spPr>
          <a:xfrm>
            <a:off x="9326880" y="301752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g3e4a02ea4f9_12_0"/>
          <p:cNvSpPr/>
          <p:nvPr/>
        </p:nvSpPr>
        <p:spPr>
          <a:xfrm>
            <a:off x="548640" y="384048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g3e4a02ea4f9_12_0"/>
          <p:cNvSpPr txBox="1"/>
          <p:nvPr/>
        </p:nvSpPr>
        <p:spPr>
          <a:xfrm>
            <a:off x="548640" y="384048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/>
          </a:p>
        </p:txBody>
      </p:sp>
      <p:sp>
        <p:nvSpPr>
          <p:cNvPr id="616" name="Google Shape;616;g3e4a02ea4f9_12_0"/>
          <p:cNvSpPr/>
          <p:nvPr/>
        </p:nvSpPr>
        <p:spPr>
          <a:xfrm>
            <a:off x="2468880" y="384048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g3e4a02ea4f9_12_0"/>
          <p:cNvSpPr/>
          <p:nvPr/>
        </p:nvSpPr>
        <p:spPr>
          <a:xfrm>
            <a:off x="4754880" y="384048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g3e4a02ea4f9_12_0"/>
          <p:cNvSpPr/>
          <p:nvPr/>
        </p:nvSpPr>
        <p:spPr>
          <a:xfrm>
            <a:off x="7040880" y="384048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g3e4a02ea4f9_12_0"/>
          <p:cNvSpPr/>
          <p:nvPr/>
        </p:nvSpPr>
        <p:spPr>
          <a:xfrm>
            <a:off x="9326880" y="384048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g3e4a02ea4f9_12_0"/>
          <p:cNvSpPr/>
          <p:nvPr/>
        </p:nvSpPr>
        <p:spPr>
          <a:xfrm>
            <a:off x="548640" y="466344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g3e4a02ea4f9_12_0"/>
          <p:cNvSpPr txBox="1"/>
          <p:nvPr/>
        </p:nvSpPr>
        <p:spPr>
          <a:xfrm>
            <a:off x="548640" y="466344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Acceptance</a:t>
            </a:r>
            <a:endParaRPr/>
          </a:p>
        </p:txBody>
      </p:sp>
      <p:sp>
        <p:nvSpPr>
          <p:cNvPr id="622" name="Google Shape;622;g3e4a02ea4f9_12_0"/>
          <p:cNvSpPr/>
          <p:nvPr/>
        </p:nvSpPr>
        <p:spPr>
          <a:xfrm>
            <a:off x="2468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g3e4a02ea4f9_12_0"/>
          <p:cNvSpPr/>
          <p:nvPr/>
        </p:nvSpPr>
        <p:spPr>
          <a:xfrm>
            <a:off x="4754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g3e4a02ea4f9_12_0"/>
          <p:cNvSpPr/>
          <p:nvPr/>
        </p:nvSpPr>
        <p:spPr>
          <a:xfrm>
            <a:off x="7040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g3e4a02ea4f9_12_0"/>
          <p:cNvSpPr/>
          <p:nvPr/>
        </p:nvSpPr>
        <p:spPr>
          <a:xfrm>
            <a:off x="9326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g3e4a02ea4f9_12_0"/>
          <p:cNvSpPr txBox="1"/>
          <p:nvPr/>
        </p:nvSpPr>
        <p:spPr>
          <a:xfrm>
            <a:off x="548650" y="5486400"/>
            <a:ext cx="109728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Place sticky-notes (provided) for each card. Some cards belong in 'Functional' across multiple levels — choose ONE primary level.</a:t>
            </a:r>
            <a:endParaRPr/>
          </a:p>
        </p:txBody>
      </p:sp>
      <p:sp>
        <p:nvSpPr>
          <p:cNvPr id="627" name="Google Shape;627;g3e4a02ea4f9_12_0"/>
          <p:cNvSpPr/>
          <p:nvPr/>
        </p:nvSpPr>
        <p:spPr>
          <a:xfrm>
            <a:off x="548640" y="5943600"/>
            <a:ext cx="11064300" cy="594300"/>
          </a:xfrm>
          <a:prstGeom prst="roundRect">
            <a:avLst>
              <a:gd fmla="val 18000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g3e4a02ea4f9_12_0"/>
          <p:cNvSpPr txBox="1"/>
          <p:nvPr/>
        </p:nvSpPr>
        <p:spPr>
          <a:xfrm>
            <a:off x="868680" y="5943600"/>
            <a:ext cx="104241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Trap card alert · C07, C08, C11 — these are easy to mis-place. Discuss before committing.</a:t>
            </a:r>
            <a:endParaRPr/>
          </a:p>
        </p:txBody>
      </p:sp>
      <p:sp>
        <p:nvSpPr>
          <p:cNvPr id="629" name="Google Shape;629;g3e4a02ea4f9_12_0"/>
          <p:cNvSpPr txBox="1"/>
          <p:nvPr/>
        </p:nvSpPr>
        <p:spPr>
          <a:xfrm>
            <a:off x="548640" y="6565392"/>
            <a:ext cx="82296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CS423/CSC15003 · W01 In-class Activities · Testing Intro &amp; STLC · EShop SUT</a:t>
            </a:r>
            <a:endParaRPr/>
          </a:p>
        </p:txBody>
      </p:sp>
      <p:sp>
        <p:nvSpPr>
          <p:cNvPr id="630" name="Google Shape;630;g3e4a02ea4f9_12_0"/>
          <p:cNvSpPr txBox="1"/>
          <p:nvPr/>
        </p:nvSpPr>
        <p:spPr>
          <a:xfrm>
            <a:off x="10972800" y="6565392"/>
            <a:ext cx="1097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10 / 33</a:t>
            </a:r>
            <a:endParaRPr/>
          </a:p>
        </p:txBody>
      </p:sp>
      <p:sp>
        <p:nvSpPr>
          <p:cNvPr id="631" name="Google Shape;631;g3e4a02ea4f9_12_0"/>
          <p:cNvSpPr/>
          <p:nvPr/>
        </p:nvSpPr>
        <p:spPr>
          <a:xfrm>
            <a:off x="548640" y="1691640"/>
            <a:ext cx="1920300" cy="502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g3e4a02ea4f9_12_0"/>
          <p:cNvSpPr/>
          <p:nvPr/>
        </p:nvSpPr>
        <p:spPr>
          <a:xfrm>
            <a:off x="2468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g3e4a02ea4f9_12_0"/>
          <p:cNvSpPr txBox="1"/>
          <p:nvPr/>
        </p:nvSpPr>
        <p:spPr>
          <a:xfrm>
            <a:off x="2468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Functional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g3e4a02ea4f9_12_0"/>
          <p:cNvSpPr/>
          <p:nvPr/>
        </p:nvSpPr>
        <p:spPr>
          <a:xfrm>
            <a:off x="4754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g3e4a02ea4f9_12_0"/>
          <p:cNvSpPr txBox="1"/>
          <p:nvPr/>
        </p:nvSpPr>
        <p:spPr>
          <a:xfrm>
            <a:off x="4754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Non-functional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g3e4a02ea4f9_12_0"/>
          <p:cNvSpPr/>
          <p:nvPr/>
        </p:nvSpPr>
        <p:spPr>
          <a:xfrm>
            <a:off x="7040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g3e4a02ea4f9_12_0"/>
          <p:cNvSpPr txBox="1"/>
          <p:nvPr/>
        </p:nvSpPr>
        <p:spPr>
          <a:xfrm>
            <a:off x="7040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Structural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g3e4a02ea4f9_12_0"/>
          <p:cNvSpPr/>
          <p:nvPr/>
        </p:nvSpPr>
        <p:spPr>
          <a:xfrm>
            <a:off x="9326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g3e4a02ea4f9_12_0"/>
          <p:cNvSpPr txBox="1"/>
          <p:nvPr/>
        </p:nvSpPr>
        <p:spPr>
          <a:xfrm>
            <a:off x="9326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Change-related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g3e4a02ea4f9_12_0"/>
          <p:cNvSpPr/>
          <p:nvPr/>
        </p:nvSpPr>
        <p:spPr>
          <a:xfrm>
            <a:off x="548640" y="219456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g3e4a02ea4f9_12_0"/>
          <p:cNvSpPr txBox="1"/>
          <p:nvPr/>
        </p:nvSpPr>
        <p:spPr>
          <a:xfrm>
            <a:off x="548640" y="219456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Unit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g3e4a02ea4f9_12_0"/>
          <p:cNvSpPr/>
          <p:nvPr/>
        </p:nvSpPr>
        <p:spPr>
          <a:xfrm>
            <a:off x="2468880" y="219456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C01, C06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g3e4a02ea4f9_12_0"/>
          <p:cNvSpPr/>
          <p:nvPr/>
        </p:nvSpPr>
        <p:spPr>
          <a:xfrm>
            <a:off x="4754880" y="219456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g3e4a02ea4f9_12_0"/>
          <p:cNvSpPr/>
          <p:nvPr/>
        </p:nvSpPr>
        <p:spPr>
          <a:xfrm>
            <a:off x="7040880" y="219456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C01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g3e4a02ea4f9_12_0"/>
          <p:cNvSpPr/>
          <p:nvPr/>
        </p:nvSpPr>
        <p:spPr>
          <a:xfrm>
            <a:off x="9326880" y="219456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g3e4a02ea4f9_12_0"/>
          <p:cNvSpPr/>
          <p:nvPr/>
        </p:nvSpPr>
        <p:spPr>
          <a:xfrm>
            <a:off x="548640" y="301752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g3e4a02ea4f9_12_0"/>
          <p:cNvSpPr txBox="1"/>
          <p:nvPr/>
        </p:nvSpPr>
        <p:spPr>
          <a:xfrm>
            <a:off x="548640" y="301752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Integration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g3e4a02ea4f9_12_0"/>
          <p:cNvSpPr/>
          <p:nvPr/>
        </p:nvSpPr>
        <p:spPr>
          <a:xfrm>
            <a:off x="4754880" y="301752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g3e4a02ea4f9_12_0"/>
          <p:cNvSpPr/>
          <p:nvPr/>
        </p:nvSpPr>
        <p:spPr>
          <a:xfrm>
            <a:off x="2468875" y="3017525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C02,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C05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g3e4a02ea4f9_12_0"/>
          <p:cNvSpPr/>
          <p:nvPr/>
        </p:nvSpPr>
        <p:spPr>
          <a:xfrm>
            <a:off x="7040880" y="301752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g3e4a02ea4f9_12_0"/>
          <p:cNvSpPr/>
          <p:nvPr/>
        </p:nvSpPr>
        <p:spPr>
          <a:xfrm>
            <a:off x="9326880" y="301752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g3e4a02ea4f9_12_0"/>
          <p:cNvSpPr/>
          <p:nvPr/>
        </p:nvSpPr>
        <p:spPr>
          <a:xfrm>
            <a:off x="548640" y="384048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g3e4a02ea4f9_12_0"/>
          <p:cNvSpPr txBox="1"/>
          <p:nvPr/>
        </p:nvSpPr>
        <p:spPr>
          <a:xfrm>
            <a:off x="548640" y="384048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g3e4a02ea4f9_12_0"/>
          <p:cNvSpPr/>
          <p:nvPr/>
        </p:nvSpPr>
        <p:spPr>
          <a:xfrm>
            <a:off x="2468880" y="384048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C03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g3e4a02ea4f9_12_0"/>
          <p:cNvSpPr/>
          <p:nvPr/>
        </p:nvSpPr>
        <p:spPr>
          <a:xfrm>
            <a:off x="4754880" y="384048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C04, C09, C10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g3e4a02ea4f9_12_0"/>
          <p:cNvSpPr/>
          <p:nvPr/>
        </p:nvSpPr>
        <p:spPr>
          <a:xfrm>
            <a:off x="7040880" y="384048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g3e4a02ea4f9_12_0"/>
          <p:cNvSpPr/>
          <p:nvPr/>
        </p:nvSpPr>
        <p:spPr>
          <a:xfrm>
            <a:off x="9326880" y="384048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C08, C11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g3e4a02ea4f9_12_0"/>
          <p:cNvSpPr/>
          <p:nvPr/>
        </p:nvSpPr>
        <p:spPr>
          <a:xfrm>
            <a:off x="548640" y="466344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g3e4a02ea4f9_12_0"/>
          <p:cNvSpPr txBox="1"/>
          <p:nvPr/>
        </p:nvSpPr>
        <p:spPr>
          <a:xfrm>
            <a:off x="548640" y="466344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Acceptance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g3e4a02ea4f9_12_0"/>
          <p:cNvSpPr/>
          <p:nvPr/>
        </p:nvSpPr>
        <p:spPr>
          <a:xfrm>
            <a:off x="2468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C07, 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C12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g3e4a02ea4f9_12_0"/>
          <p:cNvSpPr/>
          <p:nvPr/>
        </p:nvSpPr>
        <p:spPr>
          <a:xfrm>
            <a:off x="4754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C04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g3e4a02ea4f9_12_0"/>
          <p:cNvSpPr/>
          <p:nvPr/>
        </p:nvSpPr>
        <p:spPr>
          <a:xfrm>
            <a:off x="7040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g3e4a02ea4f9_12_0"/>
          <p:cNvSpPr/>
          <p:nvPr/>
        </p:nvSpPr>
        <p:spPr>
          <a:xfrm>
            <a:off x="9326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e4a02ea4f9_2_0"/>
          <p:cNvSpPr txBox="1"/>
          <p:nvPr/>
        </p:nvSpPr>
        <p:spPr>
          <a:xfrm>
            <a:off x="548640" y="320040"/>
            <a:ext cx="109728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THE TAXONOMY GRID</a:t>
            </a:r>
            <a:endParaRPr/>
          </a:p>
        </p:txBody>
      </p:sp>
      <p:sp>
        <p:nvSpPr>
          <p:cNvPr id="669" name="Google Shape;669;g3e4a02ea4f9_2_0"/>
          <p:cNvSpPr txBox="1"/>
          <p:nvPr/>
        </p:nvSpPr>
        <p:spPr>
          <a:xfrm>
            <a:off x="548640" y="640080"/>
            <a:ext cx="109728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Place each card in exactly one cell </a:t>
            </a:r>
            <a:r>
              <a:rPr b="1" lang="en-US" sz="2800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- Group 06</a:t>
            </a:r>
            <a:endParaRPr/>
          </a:p>
        </p:txBody>
      </p:sp>
      <p:sp>
        <p:nvSpPr>
          <p:cNvPr id="670" name="Google Shape;670;g3e4a02ea4f9_2_0"/>
          <p:cNvSpPr/>
          <p:nvPr/>
        </p:nvSpPr>
        <p:spPr>
          <a:xfrm>
            <a:off x="548640" y="1371600"/>
            <a:ext cx="731400" cy="73200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g3e4a02ea4f9_2_0"/>
          <p:cNvSpPr/>
          <p:nvPr/>
        </p:nvSpPr>
        <p:spPr>
          <a:xfrm>
            <a:off x="603415" y="1691640"/>
            <a:ext cx="1920300" cy="502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g3e4a02ea4f9_2_0"/>
          <p:cNvSpPr/>
          <p:nvPr/>
        </p:nvSpPr>
        <p:spPr>
          <a:xfrm>
            <a:off x="2468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g3e4a02ea4f9_2_0"/>
          <p:cNvSpPr txBox="1"/>
          <p:nvPr/>
        </p:nvSpPr>
        <p:spPr>
          <a:xfrm>
            <a:off x="2468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Functional</a:t>
            </a:r>
            <a:endParaRPr/>
          </a:p>
        </p:txBody>
      </p:sp>
      <p:sp>
        <p:nvSpPr>
          <p:cNvPr id="674" name="Google Shape;674;g3e4a02ea4f9_2_0"/>
          <p:cNvSpPr/>
          <p:nvPr/>
        </p:nvSpPr>
        <p:spPr>
          <a:xfrm>
            <a:off x="4754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g3e4a02ea4f9_2_0"/>
          <p:cNvSpPr txBox="1"/>
          <p:nvPr/>
        </p:nvSpPr>
        <p:spPr>
          <a:xfrm>
            <a:off x="4754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Non-functional</a:t>
            </a:r>
            <a:endParaRPr/>
          </a:p>
        </p:txBody>
      </p:sp>
      <p:sp>
        <p:nvSpPr>
          <p:cNvPr id="676" name="Google Shape;676;g3e4a02ea4f9_2_0"/>
          <p:cNvSpPr/>
          <p:nvPr/>
        </p:nvSpPr>
        <p:spPr>
          <a:xfrm>
            <a:off x="7040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g3e4a02ea4f9_2_0"/>
          <p:cNvSpPr txBox="1"/>
          <p:nvPr/>
        </p:nvSpPr>
        <p:spPr>
          <a:xfrm>
            <a:off x="7040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Structural</a:t>
            </a:r>
            <a:endParaRPr/>
          </a:p>
        </p:txBody>
      </p:sp>
      <p:sp>
        <p:nvSpPr>
          <p:cNvPr id="678" name="Google Shape;678;g3e4a02ea4f9_2_0"/>
          <p:cNvSpPr/>
          <p:nvPr/>
        </p:nvSpPr>
        <p:spPr>
          <a:xfrm>
            <a:off x="9326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g3e4a02ea4f9_2_0"/>
          <p:cNvSpPr txBox="1"/>
          <p:nvPr/>
        </p:nvSpPr>
        <p:spPr>
          <a:xfrm>
            <a:off x="9326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Change-related</a:t>
            </a:r>
            <a:endParaRPr/>
          </a:p>
        </p:txBody>
      </p:sp>
      <p:sp>
        <p:nvSpPr>
          <p:cNvPr id="680" name="Google Shape;680;g3e4a02ea4f9_2_0"/>
          <p:cNvSpPr/>
          <p:nvPr/>
        </p:nvSpPr>
        <p:spPr>
          <a:xfrm>
            <a:off x="548640" y="219456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g3e4a02ea4f9_2_0"/>
          <p:cNvSpPr txBox="1"/>
          <p:nvPr/>
        </p:nvSpPr>
        <p:spPr>
          <a:xfrm>
            <a:off x="548640" y="219456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Unit</a:t>
            </a:r>
            <a:endParaRPr/>
          </a:p>
        </p:txBody>
      </p:sp>
      <p:sp>
        <p:nvSpPr>
          <p:cNvPr id="682" name="Google Shape;682;g3e4a02ea4f9_2_0"/>
          <p:cNvSpPr/>
          <p:nvPr/>
        </p:nvSpPr>
        <p:spPr>
          <a:xfrm>
            <a:off x="2468880" y="219456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C6</a:t>
            </a:r>
            <a:endParaRPr b="0" i="0" sz="1800" u="none" cap="none" strike="noStrike">
              <a:solidFill>
                <a:srgbClr val="EF44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g3e4a02ea4f9_2_0"/>
          <p:cNvSpPr/>
          <p:nvPr/>
        </p:nvSpPr>
        <p:spPr>
          <a:xfrm>
            <a:off x="4754880" y="219456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g3e4a02ea4f9_2_0"/>
          <p:cNvSpPr/>
          <p:nvPr/>
        </p:nvSpPr>
        <p:spPr>
          <a:xfrm>
            <a:off x="7040880" y="2194560"/>
            <a:ext cx="2286000" cy="822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C1</a:t>
            </a:r>
            <a:endParaRPr b="0" i="0" sz="1800" u="none" cap="none" strike="noStrike">
              <a:solidFill>
                <a:srgbClr val="EF44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g3e4a02ea4f9_2_0"/>
          <p:cNvSpPr/>
          <p:nvPr/>
        </p:nvSpPr>
        <p:spPr>
          <a:xfrm>
            <a:off x="9326880" y="219456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g3e4a02ea4f9_2_0"/>
          <p:cNvSpPr/>
          <p:nvPr/>
        </p:nvSpPr>
        <p:spPr>
          <a:xfrm>
            <a:off x="548640" y="301752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g3e4a02ea4f9_2_0"/>
          <p:cNvSpPr txBox="1"/>
          <p:nvPr/>
        </p:nvSpPr>
        <p:spPr>
          <a:xfrm>
            <a:off x="548640" y="301752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Integration</a:t>
            </a:r>
            <a:endParaRPr/>
          </a:p>
        </p:txBody>
      </p:sp>
      <p:sp>
        <p:nvSpPr>
          <p:cNvPr id="688" name="Google Shape;688;g3e4a02ea4f9_2_0"/>
          <p:cNvSpPr/>
          <p:nvPr/>
        </p:nvSpPr>
        <p:spPr>
          <a:xfrm>
            <a:off x="2468880" y="301752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C2, C5</a:t>
            </a:r>
            <a:endParaRPr b="0" i="0" sz="1800" u="none" cap="none" strike="noStrike">
              <a:solidFill>
                <a:srgbClr val="EF44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g3e4a02ea4f9_2_0"/>
          <p:cNvSpPr/>
          <p:nvPr/>
        </p:nvSpPr>
        <p:spPr>
          <a:xfrm>
            <a:off x="4754880" y="301752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EF44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g3e4a02ea4f9_2_0"/>
          <p:cNvSpPr/>
          <p:nvPr/>
        </p:nvSpPr>
        <p:spPr>
          <a:xfrm>
            <a:off x="7040880" y="301752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     C5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C%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g3e4a02ea4f9_2_0"/>
          <p:cNvSpPr/>
          <p:nvPr/>
        </p:nvSpPr>
        <p:spPr>
          <a:xfrm>
            <a:off x="9326880" y="301752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g3e4a02ea4f9_2_0"/>
          <p:cNvSpPr/>
          <p:nvPr/>
        </p:nvSpPr>
        <p:spPr>
          <a:xfrm>
            <a:off x="548640" y="384048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g3e4a02ea4f9_2_0"/>
          <p:cNvSpPr txBox="1"/>
          <p:nvPr/>
        </p:nvSpPr>
        <p:spPr>
          <a:xfrm>
            <a:off x="548640" y="384048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/>
          </a:p>
        </p:txBody>
      </p:sp>
      <p:sp>
        <p:nvSpPr>
          <p:cNvPr id="694" name="Google Shape;694;g3e4a02ea4f9_2_0"/>
          <p:cNvSpPr/>
          <p:nvPr/>
        </p:nvSpPr>
        <p:spPr>
          <a:xfrm>
            <a:off x="2468880" y="384048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C3</a:t>
            </a:r>
            <a:endParaRPr b="0" i="0" sz="1800" u="none" cap="none" strike="noStrike">
              <a:solidFill>
                <a:srgbClr val="EF44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g3e4a02ea4f9_2_0"/>
          <p:cNvSpPr/>
          <p:nvPr/>
        </p:nvSpPr>
        <p:spPr>
          <a:xfrm>
            <a:off x="4754880" y="384048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C4,C9,C10</a:t>
            </a:r>
            <a:endParaRPr b="0" i="0" sz="1800" u="none" cap="none" strike="noStrike">
              <a:solidFill>
                <a:srgbClr val="EF44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g3e4a02ea4f9_2_0"/>
          <p:cNvSpPr/>
          <p:nvPr/>
        </p:nvSpPr>
        <p:spPr>
          <a:xfrm>
            <a:off x="7040880" y="384048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g3e4a02ea4f9_2_0"/>
          <p:cNvSpPr/>
          <p:nvPr/>
        </p:nvSpPr>
        <p:spPr>
          <a:xfrm>
            <a:off x="9326880" y="384048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C8, C11</a:t>
            </a:r>
            <a:endParaRPr b="0" i="0" sz="1800" u="none" cap="none" strike="noStrike">
              <a:solidFill>
                <a:srgbClr val="EF44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g3e4a02ea4f9_2_0"/>
          <p:cNvSpPr/>
          <p:nvPr/>
        </p:nvSpPr>
        <p:spPr>
          <a:xfrm>
            <a:off x="548640" y="466344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g3e4a02ea4f9_2_0"/>
          <p:cNvSpPr txBox="1"/>
          <p:nvPr/>
        </p:nvSpPr>
        <p:spPr>
          <a:xfrm>
            <a:off x="548640" y="466344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Acceptance</a:t>
            </a:r>
            <a:endParaRPr/>
          </a:p>
        </p:txBody>
      </p:sp>
      <p:sp>
        <p:nvSpPr>
          <p:cNvPr id="700" name="Google Shape;700;g3e4a02ea4f9_2_0"/>
          <p:cNvSpPr/>
          <p:nvPr/>
        </p:nvSpPr>
        <p:spPr>
          <a:xfrm>
            <a:off x="2468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C7, C12</a:t>
            </a:r>
            <a:endParaRPr b="0" i="0" sz="1800" u="none" cap="none" strike="noStrike">
              <a:solidFill>
                <a:srgbClr val="EF44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g3e4a02ea4f9_2_0"/>
          <p:cNvSpPr/>
          <p:nvPr/>
        </p:nvSpPr>
        <p:spPr>
          <a:xfrm>
            <a:off x="4754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C12</a:t>
            </a:r>
            <a:endParaRPr b="0" i="0" sz="1800" u="none" cap="none" strike="noStrike">
              <a:solidFill>
                <a:srgbClr val="EF44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g3e4a02ea4f9_2_0"/>
          <p:cNvSpPr/>
          <p:nvPr/>
        </p:nvSpPr>
        <p:spPr>
          <a:xfrm>
            <a:off x="7040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g3e4a02ea4f9_2_0"/>
          <p:cNvSpPr/>
          <p:nvPr/>
        </p:nvSpPr>
        <p:spPr>
          <a:xfrm>
            <a:off x="9326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g3e4a02ea4f9_2_0"/>
          <p:cNvSpPr txBox="1"/>
          <p:nvPr/>
        </p:nvSpPr>
        <p:spPr>
          <a:xfrm>
            <a:off x="548640" y="5486400"/>
            <a:ext cx="109728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Place sticky-notes (provided) for each card. Some cards belong in 'Functional' across multiple levels — choose ONE primary level.</a:t>
            </a:r>
            <a:endParaRPr/>
          </a:p>
        </p:txBody>
      </p:sp>
      <p:sp>
        <p:nvSpPr>
          <p:cNvPr id="705" name="Google Shape;705;g3e4a02ea4f9_2_0"/>
          <p:cNvSpPr/>
          <p:nvPr/>
        </p:nvSpPr>
        <p:spPr>
          <a:xfrm>
            <a:off x="548640" y="5943600"/>
            <a:ext cx="11064300" cy="594300"/>
          </a:xfrm>
          <a:prstGeom prst="roundRect">
            <a:avLst>
              <a:gd fmla="val 18000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g3e4a02ea4f9_2_0"/>
          <p:cNvSpPr txBox="1"/>
          <p:nvPr/>
        </p:nvSpPr>
        <p:spPr>
          <a:xfrm>
            <a:off x="868680" y="5943600"/>
            <a:ext cx="104241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Trap card alert · C07, C08, C11 — these are easy to mis-place. Discuss before committing.</a:t>
            </a:r>
            <a:endParaRPr/>
          </a:p>
        </p:txBody>
      </p:sp>
      <p:sp>
        <p:nvSpPr>
          <p:cNvPr id="707" name="Google Shape;707;g3e4a02ea4f9_2_0"/>
          <p:cNvSpPr txBox="1"/>
          <p:nvPr/>
        </p:nvSpPr>
        <p:spPr>
          <a:xfrm>
            <a:off x="548640" y="6565392"/>
            <a:ext cx="82296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CS423/CSC15003 · W01 In-class Activities · Testing Intro &amp; STLC · EShop SUT</a:t>
            </a:r>
            <a:endParaRPr/>
          </a:p>
        </p:txBody>
      </p:sp>
      <p:sp>
        <p:nvSpPr>
          <p:cNvPr id="708" name="Google Shape;708;g3e4a02ea4f9_2_0"/>
          <p:cNvSpPr txBox="1"/>
          <p:nvPr/>
        </p:nvSpPr>
        <p:spPr>
          <a:xfrm>
            <a:off x="10972800" y="6565392"/>
            <a:ext cx="1097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10 / 33</a:t>
            </a:r>
            <a:endParaRPr/>
          </a:p>
        </p:txBody>
      </p:sp>
      <p:graphicFrame>
        <p:nvGraphicFramePr>
          <p:cNvPr id="709" name="Google Shape;709;g3e4a02ea4f9_2_0"/>
          <p:cNvGraphicFramePr/>
          <p:nvPr/>
        </p:nvGraphicFramePr>
        <p:xfrm>
          <a:off x="7524500" y="582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{1CD6B8E9-9DD6-444A-85E7-B12D77E24B1F}</a:tableStyleId>
              </a:tblPr>
              <a:tblGrid>
                <a:gridCol w="952500"/>
                <a:gridCol w="1590675"/>
              </a:tblGrid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23127378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709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Nguyễn Gia Huy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709:0:1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23127379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  <a:extLst>
                      <a:ext uri="http://customooxmlschemas.google.com/">
                        <go:slidesCustomData xmlns:go="http://customooxmlschemas.google.com/" cellId="709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Thái Minh Huy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  <a:extLst>
                      <a:ext uri="http://customooxmlschemas.google.com/">
                        <go:slidesCustomData xmlns:go="http://customooxmlschemas.google.com/" cellId="709:1:1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23127396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709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Lương Linh Khôi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709:2:1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23127449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  <a:extLst>
                      <a:ext uri="http://customooxmlschemas.google.com/">
                        <go:slidesCustomData xmlns:go="http://customooxmlschemas.google.com/" cellId="709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Nguyễn Tấn Phát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  <a:extLst>
                      <a:ext uri="http://customooxmlschemas.google.com/">
                        <go:slidesCustomData xmlns:go="http://customooxmlschemas.google.com/" cellId="709:3:1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e4a02ea4f9_25_44"/>
          <p:cNvSpPr txBox="1"/>
          <p:nvPr/>
        </p:nvSpPr>
        <p:spPr>
          <a:xfrm>
            <a:off x="548640" y="320040"/>
            <a:ext cx="109728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THE TAXONOMY GRID</a:t>
            </a:r>
            <a:endParaRPr/>
          </a:p>
        </p:txBody>
      </p:sp>
      <p:sp>
        <p:nvSpPr>
          <p:cNvPr id="715" name="Google Shape;715;g3e4a02ea4f9_25_44"/>
          <p:cNvSpPr txBox="1"/>
          <p:nvPr/>
        </p:nvSpPr>
        <p:spPr>
          <a:xfrm>
            <a:off x="548640" y="640080"/>
            <a:ext cx="109728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Place each card in exactly one cell - </a:t>
            </a:r>
            <a:r>
              <a:rPr b="1" lang="en-US" sz="2800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Group 05</a:t>
            </a:r>
            <a:endParaRPr/>
          </a:p>
        </p:txBody>
      </p:sp>
      <p:sp>
        <p:nvSpPr>
          <p:cNvPr id="716" name="Google Shape;716;g3e4a02ea4f9_25_44"/>
          <p:cNvSpPr/>
          <p:nvPr/>
        </p:nvSpPr>
        <p:spPr>
          <a:xfrm>
            <a:off x="548640" y="1371600"/>
            <a:ext cx="731400" cy="73200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g3e4a02ea4f9_25_44"/>
          <p:cNvSpPr/>
          <p:nvPr/>
        </p:nvSpPr>
        <p:spPr>
          <a:xfrm>
            <a:off x="603415" y="1691640"/>
            <a:ext cx="1920300" cy="502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g3e4a02ea4f9_25_44"/>
          <p:cNvSpPr/>
          <p:nvPr/>
        </p:nvSpPr>
        <p:spPr>
          <a:xfrm>
            <a:off x="2468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g3e4a02ea4f9_25_44"/>
          <p:cNvSpPr txBox="1"/>
          <p:nvPr/>
        </p:nvSpPr>
        <p:spPr>
          <a:xfrm>
            <a:off x="2468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Functional</a:t>
            </a:r>
            <a:endParaRPr/>
          </a:p>
        </p:txBody>
      </p:sp>
      <p:sp>
        <p:nvSpPr>
          <p:cNvPr id="720" name="Google Shape;720;g3e4a02ea4f9_25_44"/>
          <p:cNvSpPr/>
          <p:nvPr/>
        </p:nvSpPr>
        <p:spPr>
          <a:xfrm>
            <a:off x="4754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g3e4a02ea4f9_25_44"/>
          <p:cNvSpPr txBox="1"/>
          <p:nvPr/>
        </p:nvSpPr>
        <p:spPr>
          <a:xfrm>
            <a:off x="4754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Non-functional</a:t>
            </a:r>
            <a:endParaRPr/>
          </a:p>
        </p:txBody>
      </p:sp>
      <p:sp>
        <p:nvSpPr>
          <p:cNvPr id="722" name="Google Shape;722;g3e4a02ea4f9_25_44"/>
          <p:cNvSpPr/>
          <p:nvPr/>
        </p:nvSpPr>
        <p:spPr>
          <a:xfrm>
            <a:off x="7040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g3e4a02ea4f9_25_44"/>
          <p:cNvSpPr txBox="1"/>
          <p:nvPr/>
        </p:nvSpPr>
        <p:spPr>
          <a:xfrm>
            <a:off x="7040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Structural</a:t>
            </a:r>
            <a:endParaRPr/>
          </a:p>
        </p:txBody>
      </p:sp>
      <p:sp>
        <p:nvSpPr>
          <p:cNvPr id="724" name="Google Shape;724;g3e4a02ea4f9_25_44"/>
          <p:cNvSpPr/>
          <p:nvPr/>
        </p:nvSpPr>
        <p:spPr>
          <a:xfrm>
            <a:off x="9326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g3e4a02ea4f9_25_44"/>
          <p:cNvSpPr txBox="1"/>
          <p:nvPr/>
        </p:nvSpPr>
        <p:spPr>
          <a:xfrm>
            <a:off x="9326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Change-related</a:t>
            </a:r>
            <a:endParaRPr/>
          </a:p>
        </p:txBody>
      </p:sp>
      <p:sp>
        <p:nvSpPr>
          <p:cNvPr id="726" name="Google Shape;726;g3e4a02ea4f9_25_44"/>
          <p:cNvSpPr/>
          <p:nvPr/>
        </p:nvSpPr>
        <p:spPr>
          <a:xfrm>
            <a:off x="548640" y="219456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g3e4a02ea4f9_25_44"/>
          <p:cNvSpPr txBox="1"/>
          <p:nvPr/>
        </p:nvSpPr>
        <p:spPr>
          <a:xfrm>
            <a:off x="548640" y="219456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Unit</a:t>
            </a:r>
            <a:endParaRPr/>
          </a:p>
        </p:txBody>
      </p:sp>
      <p:sp>
        <p:nvSpPr>
          <p:cNvPr id="728" name="Google Shape;728;g3e4a02ea4f9_25_44"/>
          <p:cNvSpPr/>
          <p:nvPr/>
        </p:nvSpPr>
        <p:spPr>
          <a:xfrm>
            <a:off x="2468880" y="219456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g3e4a02ea4f9_25_44"/>
          <p:cNvSpPr/>
          <p:nvPr/>
        </p:nvSpPr>
        <p:spPr>
          <a:xfrm>
            <a:off x="4754880" y="219456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g3e4a02ea4f9_25_44"/>
          <p:cNvSpPr/>
          <p:nvPr/>
        </p:nvSpPr>
        <p:spPr>
          <a:xfrm>
            <a:off x="7040880" y="219456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g3e4a02ea4f9_25_44"/>
          <p:cNvSpPr/>
          <p:nvPr/>
        </p:nvSpPr>
        <p:spPr>
          <a:xfrm>
            <a:off x="9326880" y="219456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g3e4a02ea4f9_25_44"/>
          <p:cNvSpPr/>
          <p:nvPr/>
        </p:nvSpPr>
        <p:spPr>
          <a:xfrm>
            <a:off x="548640" y="301752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g3e4a02ea4f9_25_44"/>
          <p:cNvSpPr txBox="1"/>
          <p:nvPr/>
        </p:nvSpPr>
        <p:spPr>
          <a:xfrm>
            <a:off x="548640" y="301752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Integration</a:t>
            </a:r>
            <a:endParaRPr/>
          </a:p>
        </p:txBody>
      </p:sp>
      <p:sp>
        <p:nvSpPr>
          <p:cNvPr id="734" name="Google Shape;734;g3e4a02ea4f9_25_44"/>
          <p:cNvSpPr/>
          <p:nvPr/>
        </p:nvSpPr>
        <p:spPr>
          <a:xfrm>
            <a:off x="2468880" y="301752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lmC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g3e4a02ea4f9_25_44"/>
          <p:cNvSpPr/>
          <p:nvPr/>
        </p:nvSpPr>
        <p:spPr>
          <a:xfrm>
            <a:off x="4754880" y="301752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g3e4a02ea4f9_25_44"/>
          <p:cNvSpPr/>
          <p:nvPr/>
        </p:nvSpPr>
        <p:spPr>
          <a:xfrm>
            <a:off x="7040880" y="301752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g3e4a02ea4f9_25_44"/>
          <p:cNvSpPr/>
          <p:nvPr/>
        </p:nvSpPr>
        <p:spPr>
          <a:xfrm>
            <a:off x="9326880" y="301752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g3e4a02ea4f9_25_44"/>
          <p:cNvSpPr/>
          <p:nvPr/>
        </p:nvSpPr>
        <p:spPr>
          <a:xfrm>
            <a:off x="548640" y="384048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g3e4a02ea4f9_25_44"/>
          <p:cNvSpPr txBox="1"/>
          <p:nvPr/>
        </p:nvSpPr>
        <p:spPr>
          <a:xfrm>
            <a:off x="548640" y="384048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/>
          </a:p>
        </p:txBody>
      </p:sp>
      <p:sp>
        <p:nvSpPr>
          <p:cNvPr id="740" name="Google Shape;740;g3e4a02ea4f9_25_44"/>
          <p:cNvSpPr/>
          <p:nvPr/>
        </p:nvSpPr>
        <p:spPr>
          <a:xfrm>
            <a:off x="2468880" y="384048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g3e4a02ea4f9_25_44"/>
          <p:cNvSpPr/>
          <p:nvPr/>
        </p:nvSpPr>
        <p:spPr>
          <a:xfrm>
            <a:off x="4754880" y="384048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g3e4a02ea4f9_25_44"/>
          <p:cNvSpPr/>
          <p:nvPr/>
        </p:nvSpPr>
        <p:spPr>
          <a:xfrm>
            <a:off x="7040880" y="384048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g3e4a02ea4f9_25_44"/>
          <p:cNvSpPr/>
          <p:nvPr/>
        </p:nvSpPr>
        <p:spPr>
          <a:xfrm>
            <a:off x="9326880" y="384048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g3e4a02ea4f9_25_44"/>
          <p:cNvSpPr/>
          <p:nvPr/>
        </p:nvSpPr>
        <p:spPr>
          <a:xfrm>
            <a:off x="548640" y="466344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g3e4a02ea4f9_25_44"/>
          <p:cNvSpPr txBox="1"/>
          <p:nvPr/>
        </p:nvSpPr>
        <p:spPr>
          <a:xfrm>
            <a:off x="548640" y="466344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Acceptance</a:t>
            </a:r>
            <a:endParaRPr/>
          </a:p>
        </p:txBody>
      </p:sp>
      <p:sp>
        <p:nvSpPr>
          <p:cNvPr id="746" name="Google Shape;746;g3e4a02ea4f9_25_44"/>
          <p:cNvSpPr/>
          <p:nvPr/>
        </p:nvSpPr>
        <p:spPr>
          <a:xfrm>
            <a:off x="2468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g3e4a02ea4f9_25_44"/>
          <p:cNvSpPr/>
          <p:nvPr/>
        </p:nvSpPr>
        <p:spPr>
          <a:xfrm>
            <a:off x="4754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g3e4a02ea4f9_25_44"/>
          <p:cNvSpPr/>
          <p:nvPr/>
        </p:nvSpPr>
        <p:spPr>
          <a:xfrm>
            <a:off x="7040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g3e4a02ea4f9_25_44"/>
          <p:cNvSpPr/>
          <p:nvPr/>
        </p:nvSpPr>
        <p:spPr>
          <a:xfrm>
            <a:off x="9326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g3e4a02ea4f9_25_44"/>
          <p:cNvSpPr txBox="1"/>
          <p:nvPr/>
        </p:nvSpPr>
        <p:spPr>
          <a:xfrm>
            <a:off x="548640" y="5486400"/>
            <a:ext cx="109728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Place sticky-notes (provided) for each card. Some cards belong in 'Functional' across multiple levels — choose ONE primary level.</a:t>
            </a:r>
            <a:endParaRPr/>
          </a:p>
        </p:txBody>
      </p:sp>
      <p:sp>
        <p:nvSpPr>
          <p:cNvPr id="751" name="Google Shape;751;g3e4a02ea4f9_25_44"/>
          <p:cNvSpPr/>
          <p:nvPr/>
        </p:nvSpPr>
        <p:spPr>
          <a:xfrm>
            <a:off x="548640" y="5943600"/>
            <a:ext cx="11064300" cy="594300"/>
          </a:xfrm>
          <a:prstGeom prst="roundRect">
            <a:avLst>
              <a:gd fmla="val 18000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g3e4a02ea4f9_25_44"/>
          <p:cNvSpPr txBox="1"/>
          <p:nvPr/>
        </p:nvSpPr>
        <p:spPr>
          <a:xfrm>
            <a:off x="868680" y="5943600"/>
            <a:ext cx="104241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Trap card alert · C07, C08, C11 — these are easy to mis-place. Discuss before committing.</a:t>
            </a:r>
            <a:endParaRPr/>
          </a:p>
        </p:txBody>
      </p:sp>
      <p:sp>
        <p:nvSpPr>
          <p:cNvPr id="753" name="Google Shape;753;g3e4a02ea4f9_25_44"/>
          <p:cNvSpPr txBox="1"/>
          <p:nvPr/>
        </p:nvSpPr>
        <p:spPr>
          <a:xfrm>
            <a:off x="548640" y="6565392"/>
            <a:ext cx="82296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CS423/CSC15003 · W01 In-class Activities · Testing Intro &amp; STLC · EShop SUT</a:t>
            </a:r>
            <a:endParaRPr/>
          </a:p>
        </p:txBody>
      </p:sp>
      <p:sp>
        <p:nvSpPr>
          <p:cNvPr id="754" name="Google Shape;754;g3e4a02ea4f9_25_44"/>
          <p:cNvSpPr txBox="1"/>
          <p:nvPr/>
        </p:nvSpPr>
        <p:spPr>
          <a:xfrm>
            <a:off x="10972800" y="6565392"/>
            <a:ext cx="1097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10 / 33</a:t>
            </a:r>
            <a:endParaRPr/>
          </a:p>
        </p:txBody>
      </p:sp>
      <p:sp>
        <p:nvSpPr>
          <p:cNvPr id="755" name="Google Shape;755;g3e4a02ea4f9_25_44"/>
          <p:cNvSpPr txBox="1"/>
          <p:nvPr/>
        </p:nvSpPr>
        <p:spPr>
          <a:xfrm>
            <a:off x="3314763" y="2502938"/>
            <a:ext cx="5943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C01, C06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56" name="Google Shape;756;g3e4a02ea4f9_25_44"/>
          <p:cNvSpPr txBox="1"/>
          <p:nvPr/>
        </p:nvSpPr>
        <p:spPr>
          <a:xfrm>
            <a:off x="3314763" y="4148875"/>
            <a:ext cx="5943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</a:t>
            </a: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3, C07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57" name="Google Shape;757;g3e4a02ea4f9_25_44"/>
          <p:cNvSpPr txBox="1"/>
          <p:nvPr/>
        </p:nvSpPr>
        <p:spPr>
          <a:xfrm>
            <a:off x="3262175" y="4971825"/>
            <a:ext cx="5943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</a:t>
            </a: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58" name="Google Shape;758;g3e4a02ea4f9_25_44"/>
          <p:cNvSpPr txBox="1"/>
          <p:nvPr/>
        </p:nvSpPr>
        <p:spPr>
          <a:xfrm>
            <a:off x="5389675" y="4148888"/>
            <a:ext cx="10164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</a:t>
            </a: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</a:t>
            </a: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9, C10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59" name="Google Shape;759;g3e4a02ea4f9_25_44"/>
          <p:cNvSpPr txBox="1"/>
          <p:nvPr/>
        </p:nvSpPr>
        <p:spPr>
          <a:xfrm>
            <a:off x="10172725" y="4148888"/>
            <a:ext cx="5943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</a:t>
            </a: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60" name="Google Shape;760;g3e4a02ea4f9_25_44"/>
          <p:cNvSpPr txBox="1"/>
          <p:nvPr/>
        </p:nvSpPr>
        <p:spPr>
          <a:xfrm>
            <a:off x="3262175" y="3325920"/>
            <a:ext cx="5943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</a:t>
            </a: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</a:t>
            </a: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61" name="Google Shape;761;g3e4a02ea4f9_25_44"/>
          <p:cNvSpPr txBox="1"/>
          <p:nvPr/>
        </p:nvSpPr>
        <p:spPr>
          <a:xfrm>
            <a:off x="7886725" y="2502938"/>
            <a:ext cx="5943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62" name="Google Shape;762;g3e4a02ea4f9_25_44"/>
          <p:cNvSpPr txBox="1"/>
          <p:nvPr/>
        </p:nvSpPr>
        <p:spPr>
          <a:xfrm>
            <a:off x="10172725" y="3325908"/>
            <a:ext cx="5943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</a:t>
            </a: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63" name="Google Shape;763;g3e4a02ea4f9_25_44"/>
          <p:cNvSpPr txBox="1"/>
          <p:nvPr/>
        </p:nvSpPr>
        <p:spPr>
          <a:xfrm>
            <a:off x="10172725" y="4971846"/>
            <a:ext cx="5943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e4a02ea4f9_28_0"/>
          <p:cNvSpPr txBox="1"/>
          <p:nvPr/>
        </p:nvSpPr>
        <p:spPr>
          <a:xfrm>
            <a:off x="548640" y="320040"/>
            <a:ext cx="109728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THE TAXONOMY GRID</a:t>
            </a:r>
            <a:endParaRPr/>
          </a:p>
        </p:txBody>
      </p:sp>
      <p:sp>
        <p:nvSpPr>
          <p:cNvPr id="769" name="Google Shape;769;g3e4a02ea4f9_28_0"/>
          <p:cNvSpPr txBox="1"/>
          <p:nvPr/>
        </p:nvSpPr>
        <p:spPr>
          <a:xfrm>
            <a:off x="548640" y="640080"/>
            <a:ext cx="109728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Place each card in exactly one cell (Group 8)</a:t>
            </a:r>
            <a:endParaRPr/>
          </a:p>
        </p:txBody>
      </p:sp>
      <p:sp>
        <p:nvSpPr>
          <p:cNvPr id="770" name="Google Shape;770;g3e4a02ea4f9_28_0"/>
          <p:cNvSpPr/>
          <p:nvPr/>
        </p:nvSpPr>
        <p:spPr>
          <a:xfrm>
            <a:off x="548640" y="1371600"/>
            <a:ext cx="731400" cy="73200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g3e4a02ea4f9_28_0"/>
          <p:cNvSpPr/>
          <p:nvPr/>
        </p:nvSpPr>
        <p:spPr>
          <a:xfrm>
            <a:off x="603415" y="1691640"/>
            <a:ext cx="1920300" cy="502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g3e4a02ea4f9_28_0"/>
          <p:cNvSpPr/>
          <p:nvPr/>
        </p:nvSpPr>
        <p:spPr>
          <a:xfrm>
            <a:off x="2468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g3e4a02ea4f9_28_0"/>
          <p:cNvSpPr txBox="1"/>
          <p:nvPr/>
        </p:nvSpPr>
        <p:spPr>
          <a:xfrm>
            <a:off x="2468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Functional</a:t>
            </a:r>
            <a:endParaRPr/>
          </a:p>
        </p:txBody>
      </p:sp>
      <p:sp>
        <p:nvSpPr>
          <p:cNvPr id="774" name="Google Shape;774;g3e4a02ea4f9_28_0"/>
          <p:cNvSpPr/>
          <p:nvPr/>
        </p:nvSpPr>
        <p:spPr>
          <a:xfrm>
            <a:off x="4754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g3e4a02ea4f9_28_0"/>
          <p:cNvSpPr txBox="1"/>
          <p:nvPr/>
        </p:nvSpPr>
        <p:spPr>
          <a:xfrm>
            <a:off x="4754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Non-functional</a:t>
            </a:r>
            <a:endParaRPr/>
          </a:p>
        </p:txBody>
      </p:sp>
      <p:sp>
        <p:nvSpPr>
          <p:cNvPr id="776" name="Google Shape;776;g3e4a02ea4f9_28_0"/>
          <p:cNvSpPr/>
          <p:nvPr/>
        </p:nvSpPr>
        <p:spPr>
          <a:xfrm>
            <a:off x="7040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g3e4a02ea4f9_28_0"/>
          <p:cNvSpPr txBox="1"/>
          <p:nvPr/>
        </p:nvSpPr>
        <p:spPr>
          <a:xfrm>
            <a:off x="7040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Structural</a:t>
            </a:r>
            <a:endParaRPr/>
          </a:p>
        </p:txBody>
      </p:sp>
      <p:sp>
        <p:nvSpPr>
          <p:cNvPr id="778" name="Google Shape;778;g3e4a02ea4f9_28_0"/>
          <p:cNvSpPr/>
          <p:nvPr/>
        </p:nvSpPr>
        <p:spPr>
          <a:xfrm>
            <a:off x="9326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g3e4a02ea4f9_28_0"/>
          <p:cNvSpPr txBox="1"/>
          <p:nvPr/>
        </p:nvSpPr>
        <p:spPr>
          <a:xfrm>
            <a:off x="9326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Change-related</a:t>
            </a:r>
            <a:endParaRPr/>
          </a:p>
        </p:txBody>
      </p:sp>
      <p:sp>
        <p:nvSpPr>
          <p:cNvPr id="780" name="Google Shape;780;g3e4a02ea4f9_28_0"/>
          <p:cNvSpPr/>
          <p:nvPr/>
        </p:nvSpPr>
        <p:spPr>
          <a:xfrm>
            <a:off x="548640" y="219456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g3e4a02ea4f9_28_0"/>
          <p:cNvSpPr txBox="1"/>
          <p:nvPr/>
        </p:nvSpPr>
        <p:spPr>
          <a:xfrm>
            <a:off x="548640" y="219456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Unit</a:t>
            </a:r>
            <a:endParaRPr/>
          </a:p>
        </p:txBody>
      </p:sp>
      <p:sp>
        <p:nvSpPr>
          <p:cNvPr id="782" name="Google Shape;782;g3e4a02ea4f9_28_0"/>
          <p:cNvSpPr/>
          <p:nvPr/>
        </p:nvSpPr>
        <p:spPr>
          <a:xfrm>
            <a:off x="2468880" y="219456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g3e4a02ea4f9_28_0"/>
          <p:cNvSpPr/>
          <p:nvPr/>
        </p:nvSpPr>
        <p:spPr>
          <a:xfrm>
            <a:off x="4754880" y="219456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g3e4a02ea4f9_28_0"/>
          <p:cNvSpPr/>
          <p:nvPr/>
        </p:nvSpPr>
        <p:spPr>
          <a:xfrm>
            <a:off x="7040880" y="219456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g3e4a02ea4f9_28_0"/>
          <p:cNvSpPr/>
          <p:nvPr/>
        </p:nvSpPr>
        <p:spPr>
          <a:xfrm>
            <a:off x="9326880" y="219456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g3e4a02ea4f9_28_0"/>
          <p:cNvSpPr/>
          <p:nvPr/>
        </p:nvSpPr>
        <p:spPr>
          <a:xfrm>
            <a:off x="548640" y="301752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g3e4a02ea4f9_28_0"/>
          <p:cNvSpPr txBox="1"/>
          <p:nvPr/>
        </p:nvSpPr>
        <p:spPr>
          <a:xfrm>
            <a:off x="548640" y="301752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Integration</a:t>
            </a:r>
            <a:endParaRPr/>
          </a:p>
        </p:txBody>
      </p:sp>
      <p:sp>
        <p:nvSpPr>
          <p:cNvPr id="788" name="Google Shape;788;g3e4a02ea4f9_28_0"/>
          <p:cNvSpPr/>
          <p:nvPr/>
        </p:nvSpPr>
        <p:spPr>
          <a:xfrm>
            <a:off x="2468880" y="301752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C02, C05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g3e4a02ea4f9_28_0"/>
          <p:cNvSpPr/>
          <p:nvPr/>
        </p:nvSpPr>
        <p:spPr>
          <a:xfrm>
            <a:off x="4754880" y="301752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g3e4a02ea4f9_28_0"/>
          <p:cNvSpPr/>
          <p:nvPr/>
        </p:nvSpPr>
        <p:spPr>
          <a:xfrm>
            <a:off x="7040880" y="301752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g3e4a02ea4f9_28_0"/>
          <p:cNvSpPr/>
          <p:nvPr/>
        </p:nvSpPr>
        <p:spPr>
          <a:xfrm>
            <a:off x="9326880" y="301752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g3e4a02ea4f9_28_0"/>
          <p:cNvSpPr/>
          <p:nvPr/>
        </p:nvSpPr>
        <p:spPr>
          <a:xfrm>
            <a:off x="548640" y="384048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g3e4a02ea4f9_28_0"/>
          <p:cNvSpPr txBox="1"/>
          <p:nvPr/>
        </p:nvSpPr>
        <p:spPr>
          <a:xfrm>
            <a:off x="548640" y="384048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/>
          </a:p>
        </p:txBody>
      </p:sp>
      <p:sp>
        <p:nvSpPr>
          <p:cNvPr id="794" name="Google Shape;794;g3e4a02ea4f9_28_0"/>
          <p:cNvSpPr/>
          <p:nvPr/>
        </p:nvSpPr>
        <p:spPr>
          <a:xfrm>
            <a:off x="2468880" y="384048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C03, C10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g3e4a02ea4f9_28_0"/>
          <p:cNvSpPr/>
          <p:nvPr/>
        </p:nvSpPr>
        <p:spPr>
          <a:xfrm>
            <a:off x="4754880" y="384048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C04, C09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g3e4a02ea4f9_28_0"/>
          <p:cNvSpPr/>
          <p:nvPr/>
        </p:nvSpPr>
        <p:spPr>
          <a:xfrm>
            <a:off x="7040880" y="384048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g3e4a02ea4f9_28_0"/>
          <p:cNvSpPr/>
          <p:nvPr/>
        </p:nvSpPr>
        <p:spPr>
          <a:xfrm>
            <a:off x="9326880" y="384048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C08, C11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g3e4a02ea4f9_28_0"/>
          <p:cNvSpPr/>
          <p:nvPr/>
        </p:nvSpPr>
        <p:spPr>
          <a:xfrm>
            <a:off x="548640" y="466344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g3e4a02ea4f9_28_0"/>
          <p:cNvSpPr txBox="1"/>
          <p:nvPr/>
        </p:nvSpPr>
        <p:spPr>
          <a:xfrm>
            <a:off x="548640" y="466344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Acceptance</a:t>
            </a:r>
            <a:endParaRPr/>
          </a:p>
        </p:txBody>
      </p:sp>
      <p:sp>
        <p:nvSpPr>
          <p:cNvPr id="800" name="Google Shape;800;g3e4a02ea4f9_28_0"/>
          <p:cNvSpPr/>
          <p:nvPr/>
        </p:nvSpPr>
        <p:spPr>
          <a:xfrm>
            <a:off x="2468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g3e4a02ea4f9_28_0"/>
          <p:cNvSpPr/>
          <p:nvPr/>
        </p:nvSpPr>
        <p:spPr>
          <a:xfrm>
            <a:off x="4754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g3e4a02ea4f9_28_0"/>
          <p:cNvSpPr/>
          <p:nvPr/>
        </p:nvSpPr>
        <p:spPr>
          <a:xfrm>
            <a:off x="7040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g3e4a02ea4f9_28_0"/>
          <p:cNvSpPr/>
          <p:nvPr/>
        </p:nvSpPr>
        <p:spPr>
          <a:xfrm>
            <a:off x="9326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g3e4a02ea4f9_28_0"/>
          <p:cNvSpPr txBox="1"/>
          <p:nvPr/>
        </p:nvSpPr>
        <p:spPr>
          <a:xfrm>
            <a:off x="548640" y="5486400"/>
            <a:ext cx="109728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Place sticky-notes (provided) for each card. Some cards belong in 'Functional' across multiple levels — choose ONE primary level.</a:t>
            </a:r>
            <a:endParaRPr/>
          </a:p>
        </p:txBody>
      </p:sp>
      <p:sp>
        <p:nvSpPr>
          <p:cNvPr id="805" name="Google Shape;805;g3e4a02ea4f9_28_0"/>
          <p:cNvSpPr/>
          <p:nvPr/>
        </p:nvSpPr>
        <p:spPr>
          <a:xfrm>
            <a:off x="548640" y="5943600"/>
            <a:ext cx="11064300" cy="594300"/>
          </a:xfrm>
          <a:prstGeom prst="roundRect">
            <a:avLst>
              <a:gd fmla="val 18000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g3e4a02ea4f9_28_0"/>
          <p:cNvSpPr txBox="1"/>
          <p:nvPr/>
        </p:nvSpPr>
        <p:spPr>
          <a:xfrm>
            <a:off x="823000" y="6087625"/>
            <a:ext cx="104241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23127487 - Thôi Đặng Trường Thọ, 23127172 - Nguyễn Chí Đức, 23127081 - Nguyễn Phan Hùng Linh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200">
              <a:solidFill>
                <a:srgbClr val="0F1B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g3e4a02ea4f9_28_0"/>
          <p:cNvSpPr txBox="1"/>
          <p:nvPr/>
        </p:nvSpPr>
        <p:spPr>
          <a:xfrm>
            <a:off x="548640" y="6565392"/>
            <a:ext cx="82296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CS423/CSC15003 · W01 In-class Activities · Testing Intro &amp; STLC · EShop SUT</a:t>
            </a:r>
            <a:endParaRPr/>
          </a:p>
        </p:txBody>
      </p:sp>
      <p:sp>
        <p:nvSpPr>
          <p:cNvPr id="808" name="Google Shape;808;g3e4a02ea4f9_28_0"/>
          <p:cNvSpPr txBox="1"/>
          <p:nvPr/>
        </p:nvSpPr>
        <p:spPr>
          <a:xfrm>
            <a:off x="10972800" y="6565392"/>
            <a:ext cx="1097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10 / 33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e4a02ea4f9_10_0"/>
          <p:cNvSpPr txBox="1"/>
          <p:nvPr/>
        </p:nvSpPr>
        <p:spPr>
          <a:xfrm>
            <a:off x="548640" y="320040"/>
            <a:ext cx="109728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THE TAXONOMY GRID</a:t>
            </a:r>
            <a:endParaRPr/>
          </a:p>
        </p:txBody>
      </p:sp>
      <p:sp>
        <p:nvSpPr>
          <p:cNvPr id="814" name="Google Shape;814;g3e4a02ea4f9_10_0"/>
          <p:cNvSpPr txBox="1"/>
          <p:nvPr/>
        </p:nvSpPr>
        <p:spPr>
          <a:xfrm>
            <a:off x="548640" y="640080"/>
            <a:ext cx="109728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Place each card in exactly one cell - </a:t>
            </a:r>
            <a:r>
              <a:rPr b="1" lang="en-US" sz="2800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G</a:t>
            </a:r>
            <a:r>
              <a:rPr b="1" i="0" lang="en-US" sz="28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roup 01</a:t>
            </a:r>
            <a:endParaRPr b="1" sz="2800">
              <a:solidFill>
                <a:srgbClr val="0F1B3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15" name="Google Shape;815;g3e4a02ea4f9_10_0"/>
          <p:cNvSpPr/>
          <p:nvPr/>
        </p:nvSpPr>
        <p:spPr>
          <a:xfrm>
            <a:off x="548640" y="1371600"/>
            <a:ext cx="731400" cy="73200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g3e4a02ea4f9_10_0"/>
          <p:cNvSpPr/>
          <p:nvPr/>
        </p:nvSpPr>
        <p:spPr>
          <a:xfrm>
            <a:off x="603415" y="1691640"/>
            <a:ext cx="1920300" cy="502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g3e4a02ea4f9_10_0"/>
          <p:cNvSpPr/>
          <p:nvPr/>
        </p:nvSpPr>
        <p:spPr>
          <a:xfrm>
            <a:off x="2468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g3e4a02ea4f9_10_0"/>
          <p:cNvSpPr txBox="1"/>
          <p:nvPr/>
        </p:nvSpPr>
        <p:spPr>
          <a:xfrm>
            <a:off x="2468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Functional</a:t>
            </a:r>
            <a:endParaRPr/>
          </a:p>
        </p:txBody>
      </p:sp>
      <p:sp>
        <p:nvSpPr>
          <p:cNvPr id="819" name="Google Shape;819;g3e4a02ea4f9_10_0"/>
          <p:cNvSpPr/>
          <p:nvPr/>
        </p:nvSpPr>
        <p:spPr>
          <a:xfrm>
            <a:off x="4754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g3e4a02ea4f9_10_0"/>
          <p:cNvSpPr txBox="1"/>
          <p:nvPr/>
        </p:nvSpPr>
        <p:spPr>
          <a:xfrm>
            <a:off x="4754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Non-functional</a:t>
            </a:r>
            <a:endParaRPr/>
          </a:p>
        </p:txBody>
      </p:sp>
      <p:sp>
        <p:nvSpPr>
          <p:cNvPr id="821" name="Google Shape;821;g3e4a02ea4f9_10_0"/>
          <p:cNvSpPr/>
          <p:nvPr/>
        </p:nvSpPr>
        <p:spPr>
          <a:xfrm>
            <a:off x="7040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g3e4a02ea4f9_10_0"/>
          <p:cNvSpPr txBox="1"/>
          <p:nvPr/>
        </p:nvSpPr>
        <p:spPr>
          <a:xfrm>
            <a:off x="7040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Structural</a:t>
            </a:r>
            <a:endParaRPr/>
          </a:p>
        </p:txBody>
      </p:sp>
      <p:sp>
        <p:nvSpPr>
          <p:cNvPr id="823" name="Google Shape;823;g3e4a02ea4f9_10_0"/>
          <p:cNvSpPr/>
          <p:nvPr/>
        </p:nvSpPr>
        <p:spPr>
          <a:xfrm>
            <a:off x="9326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g3e4a02ea4f9_10_0"/>
          <p:cNvSpPr txBox="1"/>
          <p:nvPr/>
        </p:nvSpPr>
        <p:spPr>
          <a:xfrm>
            <a:off x="9326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Change-related</a:t>
            </a:r>
            <a:endParaRPr/>
          </a:p>
        </p:txBody>
      </p:sp>
      <p:sp>
        <p:nvSpPr>
          <p:cNvPr id="825" name="Google Shape;825;g3e4a02ea4f9_10_0"/>
          <p:cNvSpPr/>
          <p:nvPr/>
        </p:nvSpPr>
        <p:spPr>
          <a:xfrm>
            <a:off x="548640" y="219456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g3e4a02ea4f9_10_0"/>
          <p:cNvSpPr txBox="1"/>
          <p:nvPr/>
        </p:nvSpPr>
        <p:spPr>
          <a:xfrm>
            <a:off x="548640" y="219456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Unit</a:t>
            </a:r>
            <a:endParaRPr/>
          </a:p>
        </p:txBody>
      </p:sp>
      <p:sp>
        <p:nvSpPr>
          <p:cNvPr id="827" name="Google Shape;827;g3e4a02ea4f9_10_0"/>
          <p:cNvSpPr/>
          <p:nvPr/>
        </p:nvSpPr>
        <p:spPr>
          <a:xfrm>
            <a:off x="2468880" y="219456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C01, C06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g3e4a02ea4f9_10_0"/>
          <p:cNvSpPr/>
          <p:nvPr/>
        </p:nvSpPr>
        <p:spPr>
          <a:xfrm>
            <a:off x="4754880" y="219456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g3e4a02ea4f9_10_0"/>
          <p:cNvSpPr/>
          <p:nvPr/>
        </p:nvSpPr>
        <p:spPr>
          <a:xfrm>
            <a:off x="7040880" y="219456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g3e4a02ea4f9_10_0"/>
          <p:cNvSpPr/>
          <p:nvPr/>
        </p:nvSpPr>
        <p:spPr>
          <a:xfrm>
            <a:off x="9326880" y="219456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g3e4a02ea4f9_10_0"/>
          <p:cNvSpPr/>
          <p:nvPr/>
        </p:nvSpPr>
        <p:spPr>
          <a:xfrm>
            <a:off x="548640" y="301752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g3e4a02ea4f9_10_0"/>
          <p:cNvSpPr txBox="1"/>
          <p:nvPr/>
        </p:nvSpPr>
        <p:spPr>
          <a:xfrm>
            <a:off x="548640" y="301752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Integration</a:t>
            </a:r>
            <a:endParaRPr/>
          </a:p>
        </p:txBody>
      </p:sp>
      <p:sp>
        <p:nvSpPr>
          <p:cNvPr id="833" name="Google Shape;833;g3e4a02ea4f9_10_0"/>
          <p:cNvSpPr/>
          <p:nvPr/>
        </p:nvSpPr>
        <p:spPr>
          <a:xfrm>
            <a:off x="2468880" y="301752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C02, C05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g3e4a02ea4f9_10_0"/>
          <p:cNvSpPr/>
          <p:nvPr/>
        </p:nvSpPr>
        <p:spPr>
          <a:xfrm>
            <a:off x="4754880" y="301752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g3e4a02ea4f9_10_0"/>
          <p:cNvSpPr/>
          <p:nvPr/>
        </p:nvSpPr>
        <p:spPr>
          <a:xfrm>
            <a:off x="7040880" y="301752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g3e4a02ea4f9_10_0"/>
          <p:cNvSpPr/>
          <p:nvPr/>
        </p:nvSpPr>
        <p:spPr>
          <a:xfrm>
            <a:off x="9326880" y="301752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g3e4a02ea4f9_10_0"/>
          <p:cNvSpPr/>
          <p:nvPr/>
        </p:nvSpPr>
        <p:spPr>
          <a:xfrm>
            <a:off x="548640" y="384048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g3e4a02ea4f9_10_0"/>
          <p:cNvSpPr txBox="1"/>
          <p:nvPr/>
        </p:nvSpPr>
        <p:spPr>
          <a:xfrm>
            <a:off x="548640" y="384048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/>
          </a:p>
        </p:txBody>
      </p:sp>
      <p:sp>
        <p:nvSpPr>
          <p:cNvPr id="839" name="Google Shape;839;g3e4a02ea4f9_10_0"/>
          <p:cNvSpPr/>
          <p:nvPr/>
        </p:nvSpPr>
        <p:spPr>
          <a:xfrm>
            <a:off x="2468880" y="384048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C03, C06, C10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g3e4a02ea4f9_10_0"/>
          <p:cNvSpPr/>
          <p:nvPr/>
        </p:nvSpPr>
        <p:spPr>
          <a:xfrm>
            <a:off x="4754880" y="384048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C04, C09, C10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g3e4a02ea4f9_10_0"/>
          <p:cNvSpPr/>
          <p:nvPr/>
        </p:nvSpPr>
        <p:spPr>
          <a:xfrm>
            <a:off x="7040880" y="384048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g3e4a02ea4f9_10_0"/>
          <p:cNvSpPr/>
          <p:nvPr/>
        </p:nvSpPr>
        <p:spPr>
          <a:xfrm>
            <a:off x="9326880" y="384048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C08, C11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g3e4a02ea4f9_10_0"/>
          <p:cNvSpPr/>
          <p:nvPr/>
        </p:nvSpPr>
        <p:spPr>
          <a:xfrm>
            <a:off x="548640" y="466344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g3e4a02ea4f9_10_0"/>
          <p:cNvSpPr txBox="1"/>
          <p:nvPr/>
        </p:nvSpPr>
        <p:spPr>
          <a:xfrm>
            <a:off x="548640" y="466344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Acceptance</a:t>
            </a:r>
            <a:endParaRPr/>
          </a:p>
        </p:txBody>
      </p:sp>
      <p:sp>
        <p:nvSpPr>
          <p:cNvPr id="845" name="Google Shape;845;g3e4a02ea4f9_10_0"/>
          <p:cNvSpPr/>
          <p:nvPr/>
        </p:nvSpPr>
        <p:spPr>
          <a:xfrm>
            <a:off x="2468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C07, C12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g3e4a02ea4f9_10_0"/>
          <p:cNvSpPr/>
          <p:nvPr/>
        </p:nvSpPr>
        <p:spPr>
          <a:xfrm>
            <a:off x="4754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g3e4a02ea4f9_10_0"/>
          <p:cNvSpPr/>
          <p:nvPr/>
        </p:nvSpPr>
        <p:spPr>
          <a:xfrm>
            <a:off x="7040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g3e4a02ea4f9_10_0"/>
          <p:cNvSpPr/>
          <p:nvPr/>
        </p:nvSpPr>
        <p:spPr>
          <a:xfrm>
            <a:off x="9326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g3e4a02ea4f9_10_0"/>
          <p:cNvSpPr txBox="1"/>
          <p:nvPr/>
        </p:nvSpPr>
        <p:spPr>
          <a:xfrm>
            <a:off x="548640" y="5486400"/>
            <a:ext cx="109728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Place sticky-notes (provided) for each card. Some cards belong in 'Functional' across multiple levels — choose ONE primary level.</a:t>
            </a:r>
            <a:endParaRPr/>
          </a:p>
        </p:txBody>
      </p:sp>
      <p:sp>
        <p:nvSpPr>
          <p:cNvPr id="850" name="Google Shape;850;g3e4a02ea4f9_10_0"/>
          <p:cNvSpPr/>
          <p:nvPr/>
        </p:nvSpPr>
        <p:spPr>
          <a:xfrm>
            <a:off x="548640" y="5943600"/>
            <a:ext cx="11064300" cy="594300"/>
          </a:xfrm>
          <a:prstGeom prst="roundRect">
            <a:avLst>
              <a:gd fmla="val 18000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g3e4a02ea4f9_10_0"/>
          <p:cNvSpPr txBox="1"/>
          <p:nvPr/>
        </p:nvSpPr>
        <p:spPr>
          <a:xfrm>
            <a:off x="868680" y="5943600"/>
            <a:ext cx="10424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Trap card alert · C07, C08, C11 — these are easy to mis-place. Discuss before committing.</a:t>
            </a:r>
            <a:endParaRPr b="1" i="1" sz="1200" u="none" cap="none" strike="noStrike">
              <a:solidFill>
                <a:srgbClr val="0F1B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23127420 - Đỗ Thành Minh</a:t>
            </a:r>
            <a:endParaRPr b="1" i="1" sz="1200">
              <a:solidFill>
                <a:srgbClr val="0F1B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22127315 - Nguyễn Hoàng Uyển Như</a:t>
            </a:r>
            <a:endParaRPr b="1" i="1" sz="1200">
              <a:solidFill>
                <a:srgbClr val="0F1B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g3e4a02ea4f9_10_0"/>
          <p:cNvSpPr txBox="1"/>
          <p:nvPr/>
        </p:nvSpPr>
        <p:spPr>
          <a:xfrm>
            <a:off x="548640" y="6565392"/>
            <a:ext cx="82296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CS423/CSC15003 · W01 In-class Activities · Testing Intro &amp; STLC · EShop SUT</a:t>
            </a:r>
            <a:endParaRPr/>
          </a:p>
        </p:txBody>
      </p:sp>
      <p:sp>
        <p:nvSpPr>
          <p:cNvPr id="853" name="Google Shape;853;g3e4a02ea4f9_10_0"/>
          <p:cNvSpPr txBox="1"/>
          <p:nvPr/>
        </p:nvSpPr>
        <p:spPr>
          <a:xfrm>
            <a:off x="10972800" y="6565392"/>
            <a:ext cx="1097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10 / 33</a:t>
            </a:r>
            <a:endParaRPr/>
          </a:p>
        </p:txBody>
      </p:sp>
      <p:sp>
        <p:nvSpPr>
          <p:cNvPr id="854" name="Google Shape;854;g3e4a02ea4f9_10_0"/>
          <p:cNvSpPr/>
          <p:nvPr/>
        </p:nvSpPr>
        <p:spPr>
          <a:xfrm>
            <a:off x="-1923320" y="603511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3e4a02ea4f9_1_0"/>
          <p:cNvSpPr txBox="1"/>
          <p:nvPr/>
        </p:nvSpPr>
        <p:spPr>
          <a:xfrm>
            <a:off x="548640" y="320040"/>
            <a:ext cx="109728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THE TAXONOMY GRID</a:t>
            </a:r>
            <a:endParaRPr/>
          </a:p>
        </p:txBody>
      </p:sp>
      <p:sp>
        <p:nvSpPr>
          <p:cNvPr id="860" name="Google Shape;860;g3e4a02ea4f9_1_0"/>
          <p:cNvSpPr txBox="1"/>
          <p:nvPr/>
        </p:nvSpPr>
        <p:spPr>
          <a:xfrm>
            <a:off x="548640" y="640080"/>
            <a:ext cx="109728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Place each card in exactly one cell - </a:t>
            </a:r>
            <a:r>
              <a:rPr b="1" lang="en-US" sz="2800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Group 09</a:t>
            </a:r>
            <a:endParaRPr/>
          </a:p>
        </p:txBody>
      </p:sp>
      <p:sp>
        <p:nvSpPr>
          <p:cNvPr id="861" name="Google Shape;861;g3e4a02ea4f9_1_0"/>
          <p:cNvSpPr/>
          <p:nvPr/>
        </p:nvSpPr>
        <p:spPr>
          <a:xfrm>
            <a:off x="548640" y="1371600"/>
            <a:ext cx="731400" cy="73200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g3e4a02ea4f9_1_0"/>
          <p:cNvSpPr/>
          <p:nvPr/>
        </p:nvSpPr>
        <p:spPr>
          <a:xfrm>
            <a:off x="603415" y="1691640"/>
            <a:ext cx="1920300" cy="502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g3e4a02ea4f9_1_0"/>
          <p:cNvSpPr/>
          <p:nvPr/>
        </p:nvSpPr>
        <p:spPr>
          <a:xfrm>
            <a:off x="2468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g3e4a02ea4f9_1_0"/>
          <p:cNvSpPr txBox="1"/>
          <p:nvPr/>
        </p:nvSpPr>
        <p:spPr>
          <a:xfrm>
            <a:off x="2468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Functional</a:t>
            </a:r>
            <a:endParaRPr/>
          </a:p>
        </p:txBody>
      </p:sp>
      <p:sp>
        <p:nvSpPr>
          <p:cNvPr id="865" name="Google Shape;865;g3e4a02ea4f9_1_0"/>
          <p:cNvSpPr/>
          <p:nvPr/>
        </p:nvSpPr>
        <p:spPr>
          <a:xfrm>
            <a:off x="4754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g3e4a02ea4f9_1_0"/>
          <p:cNvSpPr txBox="1"/>
          <p:nvPr/>
        </p:nvSpPr>
        <p:spPr>
          <a:xfrm>
            <a:off x="4754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Non-functional</a:t>
            </a:r>
            <a:endParaRPr/>
          </a:p>
        </p:txBody>
      </p:sp>
      <p:sp>
        <p:nvSpPr>
          <p:cNvPr id="867" name="Google Shape;867;g3e4a02ea4f9_1_0"/>
          <p:cNvSpPr/>
          <p:nvPr/>
        </p:nvSpPr>
        <p:spPr>
          <a:xfrm>
            <a:off x="7040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g3e4a02ea4f9_1_0"/>
          <p:cNvSpPr txBox="1"/>
          <p:nvPr/>
        </p:nvSpPr>
        <p:spPr>
          <a:xfrm>
            <a:off x="7040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Structural</a:t>
            </a:r>
            <a:endParaRPr/>
          </a:p>
        </p:txBody>
      </p:sp>
      <p:sp>
        <p:nvSpPr>
          <p:cNvPr id="869" name="Google Shape;869;g3e4a02ea4f9_1_0"/>
          <p:cNvSpPr/>
          <p:nvPr/>
        </p:nvSpPr>
        <p:spPr>
          <a:xfrm>
            <a:off x="9326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g3e4a02ea4f9_1_0"/>
          <p:cNvSpPr txBox="1"/>
          <p:nvPr/>
        </p:nvSpPr>
        <p:spPr>
          <a:xfrm>
            <a:off x="9326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Change-related</a:t>
            </a:r>
            <a:endParaRPr/>
          </a:p>
        </p:txBody>
      </p:sp>
      <p:sp>
        <p:nvSpPr>
          <p:cNvPr id="871" name="Google Shape;871;g3e4a02ea4f9_1_0"/>
          <p:cNvSpPr/>
          <p:nvPr/>
        </p:nvSpPr>
        <p:spPr>
          <a:xfrm>
            <a:off x="548640" y="219456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g3e4a02ea4f9_1_0"/>
          <p:cNvSpPr txBox="1"/>
          <p:nvPr/>
        </p:nvSpPr>
        <p:spPr>
          <a:xfrm>
            <a:off x="548640" y="219456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Unit</a:t>
            </a:r>
            <a:endParaRPr/>
          </a:p>
        </p:txBody>
      </p:sp>
      <p:sp>
        <p:nvSpPr>
          <p:cNvPr id="873" name="Google Shape;873;g3e4a02ea4f9_1_0"/>
          <p:cNvSpPr/>
          <p:nvPr/>
        </p:nvSpPr>
        <p:spPr>
          <a:xfrm>
            <a:off x="2468880" y="219456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C06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g3e4a02ea4f9_1_0"/>
          <p:cNvSpPr/>
          <p:nvPr/>
        </p:nvSpPr>
        <p:spPr>
          <a:xfrm>
            <a:off x="4754880" y="219456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g3e4a02ea4f9_1_0"/>
          <p:cNvSpPr/>
          <p:nvPr/>
        </p:nvSpPr>
        <p:spPr>
          <a:xfrm>
            <a:off x="7040880" y="219456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g3e4a02ea4f9_1_0"/>
          <p:cNvSpPr/>
          <p:nvPr/>
        </p:nvSpPr>
        <p:spPr>
          <a:xfrm>
            <a:off x="9326880" y="219456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g3e4a02ea4f9_1_0"/>
          <p:cNvSpPr/>
          <p:nvPr/>
        </p:nvSpPr>
        <p:spPr>
          <a:xfrm>
            <a:off x="548640" y="301752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g3e4a02ea4f9_1_0"/>
          <p:cNvSpPr txBox="1"/>
          <p:nvPr/>
        </p:nvSpPr>
        <p:spPr>
          <a:xfrm>
            <a:off x="548640" y="301752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Integration</a:t>
            </a:r>
            <a:endParaRPr/>
          </a:p>
        </p:txBody>
      </p:sp>
      <p:sp>
        <p:nvSpPr>
          <p:cNvPr id="879" name="Google Shape;879;g3e4a02ea4f9_1_0"/>
          <p:cNvSpPr/>
          <p:nvPr/>
        </p:nvSpPr>
        <p:spPr>
          <a:xfrm>
            <a:off x="2468880" y="301752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C01, C02, C05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g3e4a02ea4f9_1_0"/>
          <p:cNvSpPr/>
          <p:nvPr/>
        </p:nvSpPr>
        <p:spPr>
          <a:xfrm>
            <a:off x="4754880" y="3003993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g3e4a02ea4f9_1_0"/>
          <p:cNvSpPr/>
          <p:nvPr/>
        </p:nvSpPr>
        <p:spPr>
          <a:xfrm>
            <a:off x="7040880" y="301752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g3e4a02ea4f9_1_0"/>
          <p:cNvSpPr/>
          <p:nvPr/>
        </p:nvSpPr>
        <p:spPr>
          <a:xfrm>
            <a:off x="9326880" y="301752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g3e4a02ea4f9_1_0"/>
          <p:cNvSpPr/>
          <p:nvPr/>
        </p:nvSpPr>
        <p:spPr>
          <a:xfrm>
            <a:off x="548640" y="384048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g3e4a02ea4f9_1_0"/>
          <p:cNvSpPr txBox="1"/>
          <p:nvPr/>
        </p:nvSpPr>
        <p:spPr>
          <a:xfrm>
            <a:off x="548640" y="384048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/>
          </a:p>
        </p:txBody>
      </p:sp>
      <p:sp>
        <p:nvSpPr>
          <p:cNvPr id="885" name="Google Shape;885;g3e4a02ea4f9_1_0"/>
          <p:cNvSpPr/>
          <p:nvPr/>
        </p:nvSpPr>
        <p:spPr>
          <a:xfrm>
            <a:off x="2468880" y="384048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C03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g3e4a02ea4f9_1_0"/>
          <p:cNvSpPr/>
          <p:nvPr/>
        </p:nvSpPr>
        <p:spPr>
          <a:xfrm>
            <a:off x="4754880" y="384048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C04, C09, C10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g3e4a02ea4f9_1_0"/>
          <p:cNvSpPr/>
          <p:nvPr/>
        </p:nvSpPr>
        <p:spPr>
          <a:xfrm>
            <a:off x="7040880" y="384048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g3e4a02ea4f9_1_0"/>
          <p:cNvSpPr/>
          <p:nvPr/>
        </p:nvSpPr>
        <p:spPr>
          <a:xfrm>
            <a:off x="9326880" y="384048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C08, C11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g3e4a02ea4f9_1_0"/>
          <p:cNvSpPr/>
          <p:nvPr/>
        </p:nvSpPr>
        <p:spPr>
          <a:xfrm>
            <a:off x="548640" y="466344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g3e4a02ea4f9_1_0"/>
          <p:cNvSpPr txBox="1"/>
          <p:nvPr/>
        </p:nvSpPr>
        <p:spPr>
          <a:xfrm>
            <a:off x="548640" y="466344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Acceptance</a:t>
            </a:r>
            <a:endParaRPr/>
          </a:p>
        </p:txBody>
      </p:sp>
      <p:sp>
        <p:nvSpPr>
          <p:cNvPr id="891" name="Google Shape;891;g3e4a02ea4f9_1_0"/>
          <p:cNvSpPr/>
          <p:nvPr/>
        </p:nvSpPr>
        <p:spPr>
          <a:xfrm>
            <a:off x="2468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C07, C12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g3e4a02ea4f9_1_0"/>
          <p:cNvSpPr/>
          <p:nvPr/>
        </p:nvSpPr>
        <p:spPr>
          <a:xfrm>
            <a:off x="4754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g3e4a02ea4f9_1_0"/>
          <p:cNvSpPr/>
          <p:nvPr/>
        </p:nvSpPr>
        <p:spPr>
          <a:xfrm>
            <a:off x="7040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g3e4a02ea4f9_1_0"/>
          <p:cNvSpPr/>
          <p:nvPr/>
        </p:nvSpPr>
        <p:spPr>
          <a:xfrm>
            <a:off x="9326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g3e4a02ea4f9_1_0"/>
          <p:cNvSpPr txBox="1"/>
          <p:nvPr/>
        </p:nvSpPr>
        <p:spPr>
          <a:xfrm>
            <a:off x="548640" y="5486400"/>
            <a:ext cx="109728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Place sticky-notes (provided) for each card. Some cards belong in 'Functional' across multiple levels — choose ONE primary level.</a:t>
            </a:r>
            <a:endParaRPr/>
          </a:p>
        </p:txBody>
      </p:sp>
      <p:sp>
        <p:nvSpPr>
          <p:cNvPr id="896" name="Google Shape;896;g3e4a02ea4f9_1_0"/>
          <p:cNvSpPr/>
          <p:nvPr/>
        </p:nvSpPr>
        <p:spPr>
          <a:xfrm>
            <a:off x="548640" y="5943600"/>
            <a:ext cx="11064300" cy="594300"/>
          </a:xfrm>
          <a:prstGeom prst="roundRect">
            <a:avLst>
              <a:gd fmla="val 18000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g3e4a02ea4f9_1_0"/>
          <p:cNvSpPr txBox="1"/>
          <p:nvPr/>
        </p:nvSpPr>
        <p:spPr>
          <a:xfrm>
            <a:off x="868680" y="5943600"/>
            <a:ext cx="104241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Trap card alert · C07, C08, C11 — these are easy to mis-place. Discuss before committing.</a:t>
            </a:r>
            <a:endParaRPr/>
          </a:p>
        </p:txBody>
      </p:sp>
      <p:sp>
        <p:nvSpPr>
          <p:cNvPr id="898" name="Google Shape;898;g3e4a02ea4f9_1_0"/>
          <p:cNvSpPr txBox="1"/>
          <p:nvPr/>
        </p:nvSpPr>
        <p:spPr>
          <a:xfrm>
            <a:off x="548640" y="6565392"/>
            <a:ext cx="82296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CS423/CSC15003 · W01 In-class Activities · Testing Intro &amp; STLC · EShop SUT</a:t>
            </a:r>
            <a:endParaRPr/>
          </a:p>
        </p:txBody>
      </p:sp>
      <p:sp>
        <p:nvSpPr>
          <p:cNvPr id="899" name="Google Shape;899;g3e4a02ea4f9_1_0"/>
          <p:cNvSpPr txBox="1"/>
          <p:nvPr/>
        </p:nvSpPr>
        <p:spPr>
          <a:xfrm>
            <a:off x="10972800" y="6565392"/>
            <a:ext cx="1097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10 / 33</a:t>
            </a:r>
            <a:endParaRPr/>
          </a:p>
        </p:txBody>
      </p:sp>
      <p:sp>
        <p:nvSpPr>
          <p:cNvPr id="900" name="Google Shape;900;g3e4a02ea4f9_1_0"/>
          <p:cNvSpPr txBox="1"/>
          <p:nvPr/>
        </p:nvSpPr>
        <p:spPr>
          <a:xfrm>
            <a:off x="8923075" y="111100"/>
            <a:ext cx="2168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23127006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23127128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23127179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23127184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e4a02ea4f9_41_0"/>
          <p:cNvSpPr txBox="1"/>
          <p:nvPr/>
        </p:nvSpPr>
        <p:spPr>
          <a:xfrm>
            <a:off x="548640" y="320040"/>
            <a:ext cx="109728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THE TAXONOMY GRID</a:t>
            </a:r>
            <a:endParaRPr/>
          </a:p>
        </p:txBody>
      </p:sp>
      <p:sp>
        <p:nvSpPr>
          <p:cNvPr id="906" name="Google Shape;906;g3e4a02ea4f9_41_0"/>
          <p:cNvSpPr txBox="1"/>
          <p:nvPr/>
        </p:nvSpPr>
        <p:spPr>
          <a:xfrm>
            <a:off x="548640" y="640080"/>
            <a:ext cx="109728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Place each card in exactly one cell</a:t>
            </a:r>
            <a:endParaRPr/>
          </a:p>
        </p:txBody>
      </p:sp>
      <p:sp>
        <p:nvSpPr>
          <p:cNvPr id="907" name="Google Shape;907;g3e4a02ea4f9_41_0"/>
          <p:cNvSpPr/>
          <p:nvPr/>
        </p:nvSpPr>
        <p:spPr>
          <a:xfrm>
            <a:off x="548640" y="1371600"/>
            <a:ext cx="731400" cy="73200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g3e4a02ea4f9_41_0"/>
          <p:cNvSpPr/>
          <p:nvPr/>
        </p:nvSpPr>
        <p:spPr>
          <a:xfrm>
            <a:off x="603415" y="1691640"/>
            <a:ext cx="1920300" cy="502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g3e4a02ea4f9_41_0"/>
          <p:cNvSpPr/>
          <p:nvPr/>
        </p:nvSpPr>
        <p:spPr>
          <a:xfrm>
            <a:off x="2468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g3e4a02ea4f9_41_0"/>
          <p:cNvSpPr txBox="1"/>
          <p:nvPr/>
        </p:nvSpPr>
        <p:spPr>
          <a:xfrm>
            <a:off x="2468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Functional</a:t>
            </a:r>
            <a:endParaRPr/>
          </a:p>
        </p:txBody>
      </p:sp>
      <p:sp>
        <p:nvSpPr>
          <p:cNvPr id="911" name="Google Shape;911;g3e4a02ea4f9_41_0"/>
          <p:cNvSpPr/>
          <p:nvPr/>
        </p:nvSpPr>
        <p:spPr>
          <a:xfrm>
            <a:off x="4754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g3e4a02ea4f9_41_0"/>
          <p:cNvSpPr txBox="1"/>
          <p:nvPr/>
        </p:nvSpPr>
        <p:spPr>
          <a:xfrm>
            <a:off x="4754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Non-functional</a:t>
            </a:r>
            <a:endParaRPr/>
          </a:p>
        </p:txBody>
      </p:sp>
      <p:sp>
        <p:nvSpPr>
          <p:cNvPr id="913" name="Google Shape;913;g3e4a02ea4f9_41_0"/>
          <p:cNvSpPr/>
          <p:nvPr/>
        </p:nvSpPr>
        <p:spPr>
          <a:xfrm>
            <a:off x="7040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g3e4a02ea4f9_41_0"/>
          <p:cNvSpPr txBox="1"/>
          <p:nvPr/>
        </p:nvSpPr>
        <p:spPr>
          <a:xfrm>
            <a:off x="7040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Structural</a:t>
            </a:r>
            <a:endParaRPr/>
          </a:p>
        </p:txBody>
      </p:sp>
      <p:sp>
        <p:nvSpPr>
          <p:cNvPr id="915" name="Google Shape;915;g3e4a02ea4f9_41_0"/>
          <p:cNvSpPr/>
          <p:nvPr/>
        </p:nvSpPr>
        <p:spPr>
          <a:xfrm>
            <a:off x="9326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g3e4a02ea4f9_41_0"/>
          <p:cNvSpPr txBox="1"/>
          <p:nvPr/>
        </p:nvSpPr>
        <p:spPr>
          <a:xfrm>
            <a:off x="9326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Change-related</a:t>
            </a:r>
            <a:endParaRPr/>
          </a:p>
        </p:txBody>
      </p:sp>
      <p:sp>
        <p:nvSpPr>
          <p:cNvPr id="917" name="Google Shape;917;g3e4a02ea4f9_41_0"/>
          <p:cNvSpPr/>
          <p:nvPr/>
        </p:nvSpPr>
        <p:spPr>
          <a:xfrm>
            <a:off x="548640" y="219456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g3e4a02ea4f9_41_0"/>
          <p:cNvSpPr txBox="1"/>
          <p:nvPr/>
        </p:nvSpPr>
        <p:spPr>
          <a:xfrm>
            <a:off x="548640" y="219456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Unit</a:t>
            </a:r>
            <a:endParaRPr/>
          </a:p>
        </p:txBody>
      </p:sp>
      <p:sp>
        <p:nvSpPr>
          <p:cNvPr id="919" name="Google Shape;919;g3e4a02ea4f9_41_0"/>
          <p:cNvSpPr/>
          <p:nvPr/>
        </p:nvSpPr>
        <p:spPr>
          <a:xfrm>
            <a:off x="2468880" y="219456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g3e4a02ea4f9_41_0"/>
          <p:cNvSpPr/>
          <p:nvPr/>
        </p:nvSpPr>
        <p:spPr>
          <a:xfrm>
            <a:off x="4754880" y="219456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g3e4a02ea4f9_41_0"/>
          <p:cNvSpPr/>
          <p:nvPr/>
        </p:nvSpPr>
        <p:spPr>
          <a:xfrm>
            <a:off x="7040880" y="219456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g3e4a02ea4f9_41_0"/>
          <p:cNvSpPr/>
          <p:nvPr/>
        </p:nvSpPr>
        <p:spPr>
          <a:xfrm>
            <a:off x="9326880" y="219456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g3e4a02ea4f9_41_0"/>
          <p:cNvSpPr/>
          <p:nvPr/>
        </p:nvSpPr>
        <p:spPr>
          <a:xfrm>
            <a:off x="548640" y="301752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g3e4a02ea4f9_41_0"/>
          <p:cNvSpPr txBox="1"/>
          <p:nvPr/>
        </p:nvSpPr>
        <p:spPr>
          <a:xfrm>
            <a:off x="548640" y="301752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Integration</a:t>
            </a:r>
            <a:endParaRPr/>
          </a:p>
        </p:txBody>
      </p:sp>
      <p:sp>
        <p:nvSpPr>
          <p:cNvPr id="925" name="Google Shape;925;g3e4a02ea4f9_41_0"/>
          <p:cNvSpPr/>
          <p:nvPr/>
        </p:nvSpPr>
        <p:spPr>
          <a:xfrm>
            <a:off x="2468880" y="301752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g3e4a02ea4f9_41_0"/>
          <p:cNvSpPr/>
          <p:nvPr/>
        </p:nvSpPr>
        <p:spPr>
          <a:xfrm>
            <a:off x="4754880" y="301752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g3e4a02ea4f9_41_0"/>
          <p:cNvSpPr/>
          <p:nvPr/>
        </p:nvSpPr>
        <p:spPr>
          <a:xfrm>
            <a:off x="7040880" y="301752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g3e4a02ea4f9_41_0"/>
          <p:cNvSpPr/>
          <p:nvPr/>
        </p:nvSpPr>
        <p:spPr>
          <a:xfrm>
            <a:off x="9326880" y="301752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g3e4a02ea4f9_41_0"/>
          <p:cNvSpPr/>
          <p:nvPr/>
        </p:nvSpPr>
        <p:spPr>
          <a:xfrm>
            <a:off x="548640" y="384048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g3e4a02ea4f9_41_0"/>
          <p:cNvSpPr txBox="1"/>
          <p:nvPr/>
        </p:nvSpPr>
        <p:spPr>
          <a:xfrm>
            <a:off x="548640" y="384048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/>
          </a:p>
        </p:txBody>
      </p:sp>
      <p:sp>
        <p:nvSpPr>
          <p:cNvPr id="931" name="Google Shape;931;g3e4a02ea4f9_41_0"/>
          <p:cNvSpPr/>
          <p:nvPr/>
        </p:nvSpPr>
        <p:spPr>
          <a:xfrm>
            <a:off x="2468880" y="384048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g3e4a02ea4f9_41_0"/>
          <p:cNvSpPr/>
          <p:nvPr/>
        </p:nvSpPr>
        <p:spPr>
          <a:xfrm>
            <a:off x="4754880" y="384048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g3e4a02ea4f9_41_0"/>
          <p:cNvSpPr/>
          <p:nvPr/>
        </p:nvSpPr>
        <p:spPr>
          <a:xfrm>
            <a:off x="7040880" y="384048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g3e4a02ea4f9_41_0"/>
          <p:cNvSpPr/>
          <p:nvPr/>
        </p:nvSpPr>
        <p:spPr>
          <a:xfrm>
            <a:off x="9326880" y="384048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g3e4a02ea4f9_41_0"/>
          <p:cNvSpPr/>
          <p:nvPr/>
        </p:nvSpPr>
        <p:spPr>
          <a:xfrm>
            <a:off x="548640" y="466344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g3e4a02ea4f9_41_0"/>
          <p:cNvSpPr txBox="1"/>
          <p:nvPr/>
        </p:nvSpPr>
        <p:spPr>
          <a:xfrm>
            <a:off x="548640" y="466344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Acceptance</a:t>
            </a:r>
            <a:endParaRPr/>
          </a:p>
        </p:txBody>
      </p:sp>
      <p:sp>
        <p:nvSpPr>
          <p:cNvPr id="937" name="Google Shape;937;g3e4a02ea4f9_41_0"/>
          <p:cNvSpPr/>
          <p:nvPr/>
        </p:nvSpPr>
        <p:spPr>
          <a:xfrm>
            <a:off x="2468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g3e4a02ea4f9_41_0"/>
          <p:cNvSpPr/>
          <p:nvPr/>
        </p:nvSpPr>
        <p:spPr>
          <a:xfrm>
            <a:off x="4754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g3e4a02ea4f9_41_0"/>
          <p:cNvSpPr/>
          <p:nvPr/>
        </p:nvSpPr>
        <p:spPr>
          <a:xfrm>
            <a:off x="7040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g3e4a02ea4f9_41_0"/>
          <p:cNvSpPr/>
          <p:nvPr/>
        </p:nvSpPr>
        <p:spPr>
          <a:xfrm>
            <a:off x="9326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g3e4a02ea4f9_41_0"/>
          <p:cNvSpPr txBox="1"/>
          <p:nvPr/>
        </p:nvSpPr>
        <p:spPr>
          <a:xfrm>
            <a:off x="548640" y="5486400"/>
            <a:ext cx="109728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Place sticky-notes (provided) for each card. Some cards belong in 'Functional' across multiple levels — choose ONE primary level.</a:t>
            </a:r>
            <a:endParaRPr/>
          </a:p>
        </p:txBody>
      </p:sp>
      <p:sp>
        <p:nvSpPr>
          <p:cNvPr id="942" name="Google Shape;942;g3e4a02ea4f9_41_0"/>
          <p:cNvSpPr/>
          <p:nvPr/>
        </p:nvSpPr>
        <p:spPr>
          <a:xfrm>
            <a:off x="548640" y="5943600"/>
            <a:ext cx="11064300" cy="594300"/>
          </a:xfrm>
          <a:prstGeom prst="roundRect">
            <a:avLst>
              <a:gd fmla="val 18000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g3e4a02ea4f9_41_0"/>
          <p:cNvSpPr txBox="1"/>
          <p:nvPr/>
        </p:nvSpPr>
        <p:spPr>
          <a:xfrm>
            <a:off x="868680" y="5943600"/>
            <a:ext cx="104241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Trap card alert · C07, C08, C11 — these are easy to mis-place. Discuss before committing.</a:t>
            </a:r>
            <a:endParaRPr/>
          </a:p>
        </p:txBody>
      </p:sp>
      <p:sp>
        <p:nvSpPr>
          <p:cNvPr id="944" name="Google Shape;944;g3e4a02ea4f9_41_0"/>
          <p:cNvSpPr txBox="1"/>
          <p:nvPr/>
        </p:nvSpPr>
        <p:spPr>
          <a:xfrm>
            <a:off x="548640" y="6565392"/>
            <a:ext cx="82296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CS423/CSC15003 · W01 In-class Activities · Testing Intro &amp; STLC · EShop SUT</a:t>
            </a:r>
            <a:endParaRPr/>
          </a:p>
        </p:txBody>
      </p:sp>
      <p:sp>
        <p:nvSpPr>
          <p:cNvPr id="945" name="Google Shape;945;g3e4a02ea4f9_41_0"/>
          <p:cNvSpPr txBox="1"/>
          <p:nvPr/>
        </p:nvSpPr>
        <p:spPr>
          <a:xfrm>
            <a:off x="10972800" y="6565392"/>
            <a:ext cx="1097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10 / 33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3e4a02ea4f9_27_119"/>
          <p:cNvSpPr txBox="1"/>
          <p:nvPr/>
        </p:nvSpPr>
        <p:spPr>
          <a:xfrm>
            <a:off x="548640" y="320040"/>
            <a:ext cx="109728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THE TAXONOMY GRID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g3e4a02ea4f9_27_119"/>
          <p:cNvSpPr txBox="1"/>
          <p:nvPr/>
        </p:nvSpPr>
        <p:spPr>
          <a:xfrm>
            <a:off x="548640" y="640080"/>
            <a:ext cx="109728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Place each card in exactly one cell - Nh</a:t>
            </a:r>
            <a:r>
              <a:rPr b="1" lang="en-US" sz="2800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óm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g3e4a02ea4f9_27_119"/>
          <p:cNvSpPr/>
          <p:nvPr/>
        </p:nvSpPr>
        <p:spPr>
          <a:xfrm>
            <a:off x="548640" y="1371600"/>
            <a:ext cx="731400" cy="73200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g3e4a02ea4f9_27_119"/>
          <p:cNvSpPr/>
          <p:nvPr/>
        </p:nvSpPr>
        <p:spPr>
          <a:xfrm>
            <a:off x="603415" y="1691640"/>
            <a:ext cx="1920300" cy="502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g3e4a02ea4f9_27_119"/>
          <p:cNvSpPr/>
          <p:nvPr/>
        </p:nvSpPr>
        <p:spPr>
          <a:xfrm>
            <a:off x="2468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g3e4a02ea4f9_27_119"/>
          <p:cNvSpPr txBox="1"/>
          <p:nvPr/>
        </p:nvSpPr>
        <p:spPr>
          <a:xfrm>
            <a:off x="2468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Functional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g3e4a02ea4f9_27_119"/>
          <p:cNvSpPr/>
          <p:nvPr/>
        </p:nvSpPr>
        <p:spPr>
          <a:xfrm>
            <a:off x="4754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g3e4a02ea4f9_27_119"/>
          <p:cNvSpPr txBox="1"/>
          <p:nvPr/>
        </p:nvSpPr>
        <p:spPr>
          <a:xfrm>
            <a:off x="4754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Non-functional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g3e4a02ea4f9_27_119"/>
          <p:cNvSpPr/>
          <p:nvPr/>
        </p:nvSpPr>
        <p:spPr>
          <a:xfrm>
            <a:off x="7040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g3e4a02ea4f9_27_119"/>
          <p:cNvSpPr txBox="1"/>
          <p:nvPr/>
        </p:nvSpPr>
        <p:spPr>
          <a:xfrm>
            <a:off x="7040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Structural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g3e4a02ea4f9_27_119"/>
          <p:cNvSpPr/>
          <p:nvPr/>
        </p:nvSpPr>
        <p:spPr>
          <a:xfrm>
            <a:off x="9326880" y="1691640"/>
            <a:ext cx="2286000" cy="5028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g3e4a02ea4f9_27_119"/>
          <p:cNvSpPr txBox="1"/>
          <p:nvPr/>
        </p:nvSpPr>
        <p:spPr>
          <a:xfrm>
            <a:off x="9326880" y="1691640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Change-related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g3e4a02ea4f9_27_119"/>
          <p:cNvSpPr/>
          <p:nvPr/>
        </p:nvSpPr>
        <p:spPr>
          <a:xfrm>
            <a:off x="548640" y="219456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g3e4a02ea4f9_27_119"/>
          <p:cNvSpPr txBox="1"/>
          <p:nvPr/>
        </p:nvSpPr>
        <p:spPr>
          <a:xfrm>
            <a:off x="548640" y="219456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Unit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g3e4a02ea4f9_27_119"/>
          <p:cNvSpPr/>
          <p:nvPr/>
        </p:nvSpPr>
        <p:spPr>
          <a:xfrm>
            <a:off x="2468880" y="219456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C01, C06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g3e4a02ea4f9_27_119"/>
          <p:cNvSpPr/>
          <p:nvPr/>
        </p:nvSpPr>
        <p:spPr>
          <a:xfrm>
            <a:off x="4754880" y="219456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g3e4a02ea4f9_27_119"/>
          <p:cNvSpPr/>
          <p:nvPr/>
        </p:nvSpPr>
        <p:spPr>
          <a:xfrm>
            <a:off x="7040880" y="219456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g3e4a02ea4f9_27_119"/>
          <p:cNvSpPr/>
          <p:nvPr/>
        </p:nvSpPr>
        <p:spPr>
          <a:xfrm>
            <a:off x="9326880" y="219456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g3e4a02ea4f9_27_119"/>
          <p:cNvSpPr/>
          <p:nvPr/>
        </p:nvSpPr>
        <p:spPr>
          <a:xfrm>
            <a:off x="548640" y="301752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g3e4a02ea4f9_27_119"/>
          <p:cNvSpPr txBox="1"/>
          <p:nvPr/>
        </p:nvSpPr>
        <p:spPr>
          <a:xfrm>
            <a:off x="548640" y="301752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Integration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g3e4a02ea4f9_27_119"/>
          <p:cNvSpPr/>
          <p:nvPr/>
        </p:nvSpPr>
        <p:spPr>
          <a:xfrm>
            <a:off x="2468880" y="301752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C02, C05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g3e4a02ea4f9_27_119"/>
          <p:cNvSpPr/>
          <p:nvPr/>
        </p:nvSpPr>
        <p:spPr>
          <a:xfrm>
            <a:off x="4754880" y="301752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g3e4a02ea4f9_27_119"/>
          <p:cNvSpPr/>
          <p:nvPr/>
        </p:nvSpPr>
        <p:spPr>
          <a:xfrm>
            <a:off x="7040880" y="301752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g3e4a02ea4f9_27_119"/>
          <p:cNvSpPr/>
          <p:nvPr/>
        </p:nvSpPr>
        <p:spPr>
          <a:xfrm>
            <a:off x="9326880" y="301752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g3e4a02ea4f9_27_119"/>
          <p:cNvSpPr/>
          <p:nvPr/>
        </p:nvSpPr>
        <p:spPr>
          <a:xfrm>
            <a:off x="548640" y="384048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g3e4a02ea4f9_27_119"/>
          <p:cNvSpPr txBox="1"/>
          <p:nvPr/>
        </p:nvSpPr>
        <p:spPr>
          <a:xfrm>
            <a:off x="548640" y="384048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g3e4a02ea4f9_27_119"/>
          <p:cNvSpPr/>
          <p:nvPr/>
        </p:nvSpPr>
        <p:spPr>
          <a:xfrm>
            <a:off x="2468880" y="384048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g3e4a02ea4f9_27_119"/>
          <p:cNvSpPr/>
          <p:nvPr/>
        </p:nvSpPr>
        <p:spPr>
          <a:xfrm>
            <a:off x="4754880" y="384048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C04, C09,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C10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g3e4a02ea4f9_27_119"/>
          <p:cNvSpPr/>
          <p:nvPr/>
        </p:nvSpPr>
        <p:spPr>
          <a:xfrm>
            <a:off x="7040880" y="384048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g3e4a02ea4f9_27_119"/>
          <p:cNvSpPr/>
          <p:nvPr/>
        </p:nvSpPr>
        <p:spPr>
          <a:xfrm>
            <a:off x="9326880" y="384048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C08, C11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g3e4a02ea4f9_27_119"/>
          <p:cNvSpPr/>
          <p:nvPr/>
        </p:nvSpPr>
        <p:spPr>
          <a:xfrm>
            <a:off x="548640" y="4663440"/>
            <a:ext cx="1920300" cy="8229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g3e4a02ea4f9_27_119"/>
          <p:cNvSpPr txBox="1"/>
          <p:nvPr/>
        </p:nvSpPr>
        <p:spPr>
          <a:xfrm>
            <a:off x="548640" y="4663440"/>
            <a:ext cx="19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Acceptance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g3e4a02ea4f9_27_119"/>
          <p:cNvSpPr/>
          <p:nvPr/>
        </p:nvSpPr>
        <p:spPr>
          <a:xfrm>
            <a:off x="2468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C12,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C07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g3e4a02ea4f9_27_119"/>
          <p:cNvSpPr/>
          <p:nvPr/>
        </p:nvSpPr>
        <p:spPr>
          <a:xfrm>
            <a:off x="4754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g3e4a02ea4f9_27_119"/>
          <p:cNvSpPr/>
          <p:nvPr/>
        </p:nvSpPr>
        <p:spPr>
          <a:xfrm>
            <a:off x="7040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g3e4a02ea4f9_27_119"/>
          <p:cNvSpPr/>
          <p:nvPr/>
        </p:nvSpPr>
        <p:spPr>
          <a:xfrm>
            <a:off x="9326880" y="4663440"/>
            <a:ext cx="22860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g3e4a02ea4f9_27_119"/>
          <p:cNvSpPr txBox="1"/>
          <p:nvPr/>
        </p:nvSpPr>
        <p:spPr>
          <a:xfrm>
            <a:off x="548640" y="5486400"/>
            <a:ext cx="109728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Place sticky-notes (provided) for each card. Some cards belong in 'Functional' across multiple levels — choose ONE primary level.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g3e4a02ea4f9_27_119"/>
          <p:cNvSpPr/>
          <p:nvPr/>
        </p:nvSpPr>
        <p:spPr>
          <a:xfrm>
            <a:off x="548640" y="5943600"/>
            <a:ext cx="11064300" cy="594300"/>
          </a:xfrm>
          <a:prstGeom prst="roundRect">
            <a:avLst>
              <a:gd fmla="val 18000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g3e4a02ea4f9_27_119"/>
          <p:cNvSpPr txBox="1"/>
          <p:nvPr/>
        </p:nvSpPr>
        <p:spPr>
          <a:xfrm>
            <a:off x="868680" y="5943600"/>
            <a:ext cx="104241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Trap card alert · C07, C08, C11 — these are easy to mis-place. Discuss before committing.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g3e4a02ea4f9_27_119"/>
          <p:cNvSpPr txBox="1"/>
          <p:nvPr/>
        </p:nvSpPr>
        <p:spPr>
          <a:xfrm>
            <a:off x="548640" y="6565392"/>
            <a:ext cx="82296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CS423/CSC15003 · W01 In-class Activities · Testing Intro &amp; STLC · EShop SUT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g3e4a02ea4f9_27_119"/>
          <p:cNvSpPr txBox="1"/>
          <p:nvPr/>
        </p:nvSpPr>
        <p:spPr>
          <a:xfrm>
            <a:off x="10972800" y="6565392"/>
            <a:ext cx="1097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10 / 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9"/>
          <p:cNvSpPr/>
          <p:nvPr/>
        </p:nvSpPr>
        <p:spPr>
          <a:xfrm>
            <a:off x="548640" y="2468880"/>
            <a:ext cx="137160" cy="2011680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9"/>
          <p:cNvSpPr txBox="1"/>
          <p:nvPr/>
        </p:nvSpPr>
        <p:spPr>
          <a:xfrm>
            <a:off x="822960" y="2377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ACTIVITY 02</a:t>
            </a:r>
            <a:endParaRPr/>
          </a:p>
        </p:txBody>
      </p:sp>
      <p:sp>
        <p:nvSpPr>
          <p:cNvPr id="998" name="Google Shape;998;p9"/>
          <p:cNvSpPr txBox="1"/>
          <p:nvPr/>
        </p:nvSpPr>
        <p:spPr>
          <a:xfrm>
            <a:off x="822960" y="2788920"/>
            <a:ext cx="10972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7 Principles in Action</a:t>
            </a:r>
            <a:endParaRPr/>
          </a:p>
        </p:txBody>
      </p:sp>
      <p:sp>
        <p:nvSpPr>
          <p:cNvPr id="999" name="Google Shape;999;p9"/>
          <p:cNvSpPr txBox="1"/>
          <p:nvPr/>
        </p:nvSpPr>
        <p:spPr>
          <a:xfrm>
            <a:off x="822960" y="429768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Find ONE concrete EShop example for each ISTQB principle · 25 min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1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ACTIVITY 2 · 25 MIN</a:t>
            </a:r>
            <a:endParaRPr/>
          </a:p>
        </p:txBody>
      </p:sp>
      <p:sp>
        <p:nvSpPr>
          <p:cNvPr id="1005" name="Google Shape;1005;p10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Give each ISTQB principle a face on EShop</a:t>
            </a:r>
            <a:endParaRPr/>
          </a:p>
        </p:txBody>
      </p:sp>
      <p:sp>
        <p:nvSpPr>
          <p:cNvPr id="1006" name="Google Shape;1006;p10"/>
          <p:cNvSpPr/>
          <p:nvPr/>
        </p:nvSpPr>
        <p:spPr>
          <a:xfrm>
            <a:off x="548640" y="1371600"/>
            <a:ext cx="731520" cy="73152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10"/>
          <p:cNvSpPr txBox="1"/>
          <p:nvPr/>
        </p:nvSpPr>
        <p:spPr>
          <a:xfrm>
            <a:off x="548640" y="1691640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Your task</a:t>
            </a:r>
            <a:endParaRPr/>
          </a:p>
        </p:txBody>
      </p:sp>
      <p:sp>
        <p:nvSpPr>
          <p:cNvPr id="1008" name="Google Shape;1008;p10"/>
          <p:cNvSpPr txBox="1"/>
          <p:nvPr/>
        </p:nvSpPr>
        <p:spPr>
          <a:xfrm>
            <a:off x="548640" y="2103120"/>
            <a:ext cx="71323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Each group is assigned ONE of the 7 principles.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50" u="none" cap="none" strike="noStrike">
              <a:solidFill>
                <a:srgbClr val="0F1B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Find a CONCRETE example from EShop that proves your principle: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  • The example must reference a real EShop module or feature.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  • Must include WHO suffers (developer / tester / user / PO) and WHEN.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  • Worked-example slide shown next — use as a template.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50" u="none" cap="none" strike="noStrike">
              <a:solidFill>
                <a:srgbClr val="0F1B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Galleria walk at minute 18 — every group reads its example aloud.</a:t>
            </a:r>
            <a:endParaRPr/>
          </a:p>
        </p:txBody>
      </p:sp>
      <p:sp>
        <p:nvSpPr>
          <p:cNvPr id="1009" name="Google Shape;1009;p10"/>
          <p:cNvSpPr/>
          <p:nvPr/>
        </p:nvSpPr>
        <p:spPr>
          <a:xfrm>
            <a:off x="7863840" y="1691640"/>
            <a:ext cx="3749039" cy="4480560"/>
          </a:xfrm>
          <a:prstGeom prst="roundRect">
            <a:avLst>
              <a:gd fmla="val 18000" name="adj"/>
            </a:avLst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10"/>
          <p:cNvSpPr txBox="1"/>
          <p:nvPr/>
        </p:nvSpPr>
        <p:spPr>
          <a:xfrm>
            <a:off x="8001000" y="18288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PRINCIPLE ASSIGNMENT</a:t>
            </a:r>
            <a:endParaRPr/>
          </a:p>
        </p:txBody>
      </p:sp>
      <p:sp>
        <p:nvSpPr>
          <p:cNvPr id="1011" name="Google Shape;1011;p10"/>
          <p:cNvSpPr txBox="1"/>
          <p:nvPr/>
        </p:nvSpPr>
        <p:spPr>
          <a:xfrm>
            <a:off x="8092440" y="233172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Groups 1-2: #1 Testing shows defects</a:t>
            </a:r>
            <a:endParaRPr/>
          </a:p>
        </p:txBody>
      </p:sp>
      <p:sp>
        <p:nvSpPr>
          <p:cNvPr id="1012" name="Google Shape;1012;p10"/>
          <p:cNvSpPr txBox="1"/>
          <p:nvPr/>
        </p:nvSpPr>
        <p:spPr>
          <a:xfrm>
            <a:off x="8092440" y="262432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Groups 3-4: #2 Exhaustive impossible</a:t>
            </a:r>
            <a:endParaRPr/>
          </a:p>
        </p:txBody>
      </p:sp>
      <p:sp>
        <p:nvSpPr>
          <p:cNvPr id="1013" name="Google Shape;1013;p10"/>
          <p:cNvSpPr txBox="1"/>
          <p:nvPr/>
        </p:nvSpPr>
        <p:spPr>
          <a:xfrm>
            <a:off x="8092440" y="2916936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Groups 5-6: #3 Early testing</a:t>
            </a:r>
            <a:endParaRPr/>
          </a:p>
        </p:txBody>
      </p:sp>
      <p:sp>
        <p:nvSpPr>
          <p:cNvPr id="1014" name="Google Shape;1014;p10"/>
          <p:cNvSpPr txBox="1"/>
          <p:nvPr/>
        </p:nvSpPr>
        <p:spPr>
          <a:xfrm>
            <a:off x="8092440" y="3209544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Groups 7-8: #4 Defect clustering</a:t>
            </a:r>
            <a:endParaRPr/>
          </a:p>
        </p:txBody>
      </p:sp>
      <p:sp>
        <p:nvSpPr>
          <p:cNvPr id="1015" name="Google Shape;1015;p10"/>
          <p:cNvSpPr txBox="1"/>
          <p:nvPr/>
        </p:nvSpPr>
        <p:spPr>
          <a:xfrm>
            <a:off x="8092440" y="3502152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Groups 9-10: #5 Pesticide paradox</a:t>
            </a:r>
            <a:endParaRPr/>
          </a:p>
        </p:txBody>
      </p:sp>
      <p:sp>
        <p:nvSpPr>
          <p:cNvPr id="1016" name="Google Shape;1016;p10"/>
          <p:cNvSpPr txBox="1"/>
          <p:nvPr/>
        </p:nvSpPr>
        <p:spPr>
          <a:xfrm>
            <a:off x="8092440" y="379476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Groups 11-12: #6 Context dependent</a:t>
            </a:r>
            <a:endParaRPr/>
          </a:p>
        </p:txBody>
      </p:sp>
      <p:sp>
        <p:nvSpPr>
          <p:cNvPr id="1017" name="Google Shape;1017;p10"/>
          <p:cNvSpPr txBox="1"/>
          <p:nvPr/>
        </p:nvSpPr>
        <p:spPr>
          <a:xfrm>
            <a:off x="8092440" y="408736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Groups 13-14: #7 Absence-of-errors fallacy</a:t>
            </a:r>
            <a:endParaRPr/>
          </a:p>
        </p:txBody>
      </p:sp>
      <p:sp>
        <p:nvSpPr>
          <p:cNvPr id="1018" name="Google Shape;1018;p10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CS423/CSC15003 · W01 In-class Activities · Testing Intro &amp; STLC · EShop SUT</a:t>
            </a:r>
            <a:endParaRPr/>
          </a:p>
        </p:txBody>
      </p:sp>
      <p:sp>
        <p:nvSpPr>
          <p:cNvPr id="1019" name="Google Shape;1019;p10"/>
          <p:cNvSpPr txBox="1"/>
          <p:nvPr/>
        </p:nvSpPr>
        <p:spPr>
          <a:xfrm>
            <a:off x="10972800" y="656539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13 / 33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1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WORKED EXAMPLE</a:t>
            </a:r>
            <a:endParaRPr/>
          </a:p>
        </p:txBody>
      </p:sp>
      <p:sp>
        <p:nvSpPr>
          <p:cNvPr id="1025" name="Google Shape;1025;p11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Principle #1 — Testing shows defects (not absence)</a:t>
            </a:r>
            <a:endParaRPr/>
          </a:p>
        </p:txBody>
      </p:sp>
      <p:sp>
        <p:nvSpPr>
          <p:cNvPr id="1026" name="Google Shape;1026;p11"/>
          <p:cNvSpPr/>
          <p:nvPr/>
        </p:nvSpPr>
        <p:spPr>
          <a:xfrm>
            <a:off x="548640" y="1371600"/>
            <a:ext cx="731520" cy="73152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11"/>
          <p:cNvSpPr/>
          <p:nvPr/>
        </p:nvSpPr>
        <p:spPr>
          <a:xfrm>
            <a:off x="548640" y="1691640"/>
            <a:ext cx="11064240" cy="2011680"/>
          </a:xfrm>
          <a:prstGeom prst="roundRect">
            <a:avLst>
              <a:gd fmla="val 18000" name="adj"/>
            </a:avLst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11"/>
          <p:cNvSpPr txBox="1"/>
          <p:nvPr/>
        </p:nvSpPr>
        <p:spPr>
          <a:xfrm>
            <a:off x="868680" y="18288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PRINCIPLE STATEMENT</a:t>
            </a:r>
            <a:endParaRPr/>
          </a:p>
        </p:txBody>
      </p:sp>
      <p:sp>
        <p:nvSpPr>
          <p:cNvPr id="1029" name="Google Shape;1029;p11"/>
          <p:cNvSpPr txBox="1"/>
          <p:nvPr/>
        </p:nvSpPr>
        <p:spPr>
          <a:xfrm>
            <a:off x="868680" y="219456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F1F5F9"/>
                </a:solidFill>
                <a:latin typeface="Georgia"/>
                <a:ea typeface="Georgia"/>
                <a:cs typeface="Georgia"/>
                <a:sym typeface="Georgia"/>
              </a:rPr>
              <a:t>"Testing can show defects are present but cannot prove there are no defects. Testing reduces probability of undiscovered defects but is no proof of correctness."</a:t>
            </a:r>
            <a:endParaRPr/>
          </a:p>
        </p:txBody>
      </p:sp>
      <p:sp>
        <p:nvSpPr>
          <p:cNvPr id="1030" name="Google Shape;1030;p11"/>
          <p:cNvSpPr/>
          <p:nvPr/>
        </p:nvSpPr>
        <p:spPr>
          <a:xfrm>
            <a:off x="548640" y="3840480"/>
            <a:ext cx="11064240" cy="246888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11"/>
          <p:cNvSpPr txBox="1"/>
          <p:nvPr/>
        </p:nvSpPr>
        <p:spPr>
          <a:xfrm>
            <a:off x="777240" y="3950208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ESHOP EXAMPLE</a:t>
            </a:r>
            <a:endParaRPr/>
          </a:p>
        </p:txBody>
      </p:sp>
      <p:sp>
        <p:nvSpPr>
          <p:cNvPr id="1032" name="Google Shape;1032;p11"/>
          <p:cNvSpPr txBox="1"/>
          <p:nvPr/>
        </p:nvSpPr>
        <p:spPr>
          <a:xfrm>
            <a:off x="777240" y="4279392"/>
            <a:ext cx="106070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We ran 142 test cases on EShop checkout. 138 passed. The 4 failures revealed: invalid coupon allowed, currency mismatch in JPY, double-charge on retry, and timeout when Stripe is slow.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50" u="none" cap="none" strike="noStrike">
              <a:solidFill>
                <a:srgbClr val="0F1B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WHO: testers Hằng &amp; Lộc found these in W04.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WHEN: 2 days before staging release.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WHAT WE LEARNED: we can list 4 known defects with confidence, but the 138 'pass' tells us nothing about defects we didn't write tests for.</a:t>
            </a:r>
            <a:endParaRPr/>
          </a:p>
        </p:txBody>
      </p:sp>
      <p:sp>
        <p:nvSpPr>
          <p:cNvPr id="1033" name="Google Shape;1033;p11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CS423/CSC15003 · W01 In-class Activities · Testing Intro &amp; STLC · EShop SUT</a:t>
            </a:r>
            <a:endParaRPr/>
          </a:p>
        </p:txBody>
      </p:sp>
      <p:sp>
        <p:nvSpPr>
          <p:cNvPr id="1034" name="Google Shape;1034;p11"/>
          <p:cNvSpPr txBox="1"/>
          <p:nvPr/>
        </p:nvSpPr>
        <p:spPr>
          <a:xfrm>
            <a:off x="10972800" y="656539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14 / 33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1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YOUR WORKSHEET</a:t>
            </a:r>
            <a:endParaRPr/>
          </a:p>
        </p:txBody>
      </p:sp>
      <p:sp>
        <p:nvSpPr>
          <p:cNvPr id="1040" name="Google Shape;1040;p1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Fill these four lines for your assigned principle</a:t>
            </a:r>
            <a:endParaRPr/>
          </a:p>
        </p:txBody>
      </p:sp>
      <p:sp>
        <p:nvSpPr>
          <p:cNvPr id="1041" name="Google Shape;1041;p12"/>
          <p:cNvSpPr/>
          <p:nvPr/>
        </p:nvSpPr>
        <p:spPr>
          <a:xfrm>
            <a:off x="548640" y="1371600"/>
            <a:ext cx="731520" cy="73152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12"/>
          <p:cNvSpPr/>
          <p:nvPr/>
        </p:nvSpPr>
        <p:spPr>
          <a:xfrm>
            <a:off x="548640" y="1691640"/>
            <a:ext cx="11064240" cy="457200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12"/>
          <p:cNvSpPr/>
          <p:nvPr/>
        </p:nvSpPr>
        <p:spPr>
          <a:xfrm>
            <a:off x="777240" y="1828800"/>
            <a:ext cx="2286000" cy="960120"/>
          </a:xfrm>
          <a:prstGeom prst="roundRect">
            <a:avLst>
              <a:gd fmla="val 18000" name="adj"/>
            </a:avLst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12"/>
          <p:cNvSpPr txBox="1"/>
          <p:nvPr/>
        </p:nvSpPr>
        <p:spPr>
          <a:xfrm>
            <a:off x="777240" y="18288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PRINCIPLE</a:t>
            </a:r>
            <a:endParaRPr/>
          </a:p>
        </p:txBody>
      </p:sp>
      <p:sp>
        <p:nvSpPr>
          <p:cNvPr id="1045" name="Google Shape;1045;p12"/>
          <p:cNvSpPr txBox="1"/>
          <p:nvPr/>
        </p:nvSpPr>
        <p:spPr>
          <a:xfrm>
            <a:off x="777240" y="22860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(label)</a:t>
            </a:r>
            <a:endParaRPr/>
          </a:p>
        </p:txBody>
      </p:sp>
      <p:sp>
        <p:nvSpPr>
          <p:cNvPr id="1046" name="Google Shape;1046;p12"/>
          <p:cNvSpPr/>
          <p:nvPr/>
        </p:nvSpPr>
        <p:spPr>
          <a:xfrm>
            <a:off x="3246120" y="1828800"/>
            <a:ext cx="8229600" cy="960120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12"/>
          <p:cNvSpPr txBox="1"/>
          <p:nvPr/>
        </p:nvSpPr>
        <p:spPr>
          <a:xfrm>
            <a:off x="3383280" y="1920240"/>
            <a:ext cx="79552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#X · principle title (copy from your card)</a:t>
            </a:r>
            <a:endParaRPr/>
          </a:p>
        </p:txBody>
      </p:sp>
      <p:sp>
        <p:nvSpPr>
          <p:cNvPr id="1048" name="Google Shape;1048;p12"/>
          <p:cNvSpPr/>
          <p:nvPr/>
        </p:nvSpPr>
        <p:spPr>
          <a:xfrm>
            <a:off x="777240" y="2880360"/>
            <a:ext cx="2286000" cy="960120"/>
          </a:xfrm>
          <a:prstGeom prst="roundRect">
            <a:avLst>
              <a:gd fmla="val 18000" name="adj"/>
            </a:avLst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12"/>
          <p:cNvSpPr txBox="1"/>
          <p:nvPr/>
        </p:nvSpPr>
        <p:spPr>
          <a:xfrm>
            <a:off x="777240" y="28803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ESHOP CONTEXT</a:t>
            </a:r>
            <a:endParaRPr/>
          </a:p>
        </p:txBody>
      </p:sp>
      <p:sp>
        <p:nvSpPr>
          <p:cNvPr id="1050" name="Google Shape;1050;p12"/>
          <p:cNvSpPr txBox="1"/>
          <p:nvPr/>
        </p:nvSpPr>
        <p:spPr>
          <a:xfrm>
            <a:off x="777240" y="33375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(label)</a:t>
            </a:r>
            <a:endParaRPr/>
          </a:p>
        </p:txBody>
      </p:sp>
      <p:sp>
        <p:nvSpPr>
          <p:cNvPr id="1051" name="Google Shape;1051;p12"/>
          <p:cNvSpPr/>
          <p:nvPr/>
        </p:nvSpPr>
        <p:spPr>
          <a:xfrm>
            <a:off x="3246120" y="2880360"/>
            <a:ext cx="8229600" cy="960120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12"/>
          <p:cNvSpPr txBox="1"/>
          <p:nvPr/>
        </p:nvSpPr>
        <p:spPr>
          <a:xfrm>
            <a:off x="3383280" y="2971800"/>
            <a:ext cx="79552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Which EShop module + feature is your example about?</a:t>
            </a:r>
            <a:endParaRPr/>
          </a:p>
        </p:txBody>
      </p:sp>
      <p:sp>
        <p:nvSpPr>
          <p:cNvPr id="1053" name="Google Shape;1053;p12"/>
          <p:cNvSpPr/>
          <p:nvPr/>
        </p:nvSpPr>
        <p:spPr>
          <a:xfrm>
            <a:off x="777240" y="3931920"/>
            <a:ext cx="2286000" cy="960120"/>
          </a:xfrm>
          <a:prstGeom prst="roundRect">
            <a:avLst>
              <a:gd fmla="val 18000" name="adj"/>
            </a:avLst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12"/>
          <p:cNvSpPr txBox="1"/>
          <p:nvPr/>
        </p:nvSpPr>
        <p:spPr>
          <a:xfrm>
            <a:off x="777240" y="39319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WHO + WHEN</a:t>
            </a:r>
            <a:endParaRPr/>
          </a:p>
        </p:txBody>
      </p:sp>
      <p:sp>
        <p:nvSpPr>
          <p:cNvPr id="1055" name="Google Shape;1055;p12"/>
          <p:cNvSpPr txBox="1"/>
          <p:nvPr/>
        </p:nvSpPr>
        <p:spPr>
          <a:xfrm>
            <a:off x="777240" y="43891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(label)</a:t>
            </a:r>
            <a:endParaRPr/>
          </a:p>
        </p:txBody>
      </p:sp>
      <p:sp>
        <p:nvSpPr>
          <p:cNvPr id="1056" name="Google Shape;1056;p12"/>
          <p:cNvSpPr/>
          <p:nvPr/>
        </p:nvSpPr>
        <p:spPr>
          <a:xfrm>
            <a:off x="3246120" y="3931920"/>
            <a:ext cx="8229600" cy="960120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12"/>
          <p:cNvSpPr txBox="1"/>
          <p:nvPr/>
        </p:nvSpPr>
        <p:spPr>
          <a:xfrm>
            <a:off x="3383280" y="4023360"/>
            <a:ext cx="79552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Who experiences this? What week of dev? What pain or aha-moment?</a:t>
            </a:r>
            <a:endParaRPr/>
          </a:p>
        </p:txBody>
      </p:sp>
      <p:sp>
        <p:nvSpPr>
          <p:cNvPr id="1058" name="Google Shape;1058;p12"/>
          <p:cNvSpPr/>
          <p:nvPr/>
        </p:nvSpPr>
        <p:spPr>
          <a:xfrm>
            <a:off x="777240" y="4983480"/>
            <a:ext cx="2286000" cy="960120"/>
          </a:xfrm>
          <a:prstGeom prst="roundRect">
            <a:avLst>
              <a:gd fmla="val 18000" name="adj"/>
            </a:avLst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12"/>
          <p:cNvSpPr txBox="1"/>
          <p:nvPr/>
        </p:nvSpPr>
        <p:spPr>
          <a:xfrm>
            <a:off x="777240" y="498348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PROOF / EVIDENCE</a:t>
            </a:r>
            <a:endParaRPr/>
          </a:p>
        </p:txBody>
      </p:sp>
      <p:sp>
        <p:nvSpPr>
          <p:cNvPr id="1060" name="Google Shape;1060;p12"/>
          <p:cNvSpPr txBox="1"/>
          <p:nvPr/>
        </p:nvSpPr>
        <p:spPr>
          <a:xfrm>
            <a:off x="777240" y="544068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(label)</a:t>
            </a:r>
            <a:endParaRPr/>
          </a:p>
        </p:txBody>
      </p:sp>
      <p:sp>
        <p:nvSpPr>
          <p:cNvPr id="1061" name="Google Shape;1061;p12"/>
          <p:cNvSpPr/>
          <p:nvPr/>
        </p:nvSpPr>
        <p:spPr>
          <a:xfrm>
            <a:off x="3246120" y="4983480"/>
            <a:ext cx="8229600" cy="960120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12"/>
          <p:cNvSpPr txBox="1"/>
          <p:nvPr/>
        </p:nvSpPr>
        <p:spPr>
          <a:xfrm>
            <a:off x="3383280" y="5074920"/>
            <a:ext cx="79552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What concrete data, log, or scenario shows the principle in action?</a:t>
            </a:r>
            <a:endParaRPr/>
          </a:p>
        </p:txBody>
      </p:sp>
      <p:sp>
        <p:nvSpPr>
          <p:cNvPr id="1063" name="Google Shape;1063;p12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CS423/CSC15003 · W01 In-class Activities · Testing Intro &amp; STLC · EShop SUT</a:t>
            </a:r>
            <a:endParaRPr/>
          </a:p>
        </p:txBody>
      </p:sp>
      <p:sp>
        <p:nvSpPr>
          <p:cNvPr id="1064" name="Google Shape;1064;p12"/>
          <p:cNvSpPr txBox="1"/>
          <p:nvPr/>
        </p:nvSpPr>
        <p:spPr>
          <a:xfrm>
            <a:off x="10972800" y="656539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15 / 33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13"/>
          <p:cNvSpPr/>
          <p:nvPr/>
        </p:nvSpPr>
        <p:spPr>
          <a:xfrm>
            <a:off x="548640" y="2468880"/>
            <a:ext cx="137160" cy="2011680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13"/>
          <p:cNvSpPr txBox="1"/>
          <p:nvPr/>
        </p:nvSpPr>
        <p:spPr>
          <a:xfrm>
            <a:off x="822960" y="2377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ACTIVITY 04</a:t>
            </a:r>
            <a:endParaRPr/>
          </a:p>
        </p:txBody>
      </p:sp>
      <p:sp>
        <p:nvSpPr>
          <p:cNvPr id="1072" name="Google Shape;1072;p13"/>
          <p:cNvSpPr txBox="1"/>
          <p:nvPr/>
        </p:nvSpPr>
        <p:spPr>
          <a:xfrm>
            <a:off x="822960" y="2788920"/>
            <a:ext cx="10972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Integration Strategy Decision</a:t>
            </a:r>
            <a:endParaRPr/>
          </a:p>
        </p:txBody>
      </p:sp>
      <p:sp>
        <p:nvSpPr>
          <p:cNvPr id="1073" name="Google Shape;1073;p13"/>
          <p:cNvSpPr txBox="1"/>
          <p:nvPr/>
        </p:nvSpPr>
        <p:spPr>
          <a:xfrm>
            <a:off x="822960" y="429768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Pick a strategy for the EShop checkout chain · 25 min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14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ACTIVITY 4 · 25 MIN</a:t>
            </a:r>
            <a:endParaRPr/>
          </a:p>
        </p:txBody>
      </p:sp>
      <p:sp>
        <p:nvSpPr>
          <p:cNvPr id="1079" name="Google Shape;1079;p14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Which strategy fits EShop checkout?</a:t>
            </a:r>
            <a:endParaRPr/>
          </a:p>
        </p:txBody>
      </p:sp>
      <p:sp>
        <p:nvSpPr>
          <p:cNvPr id="1080" name="Google Shape;1080;p14"/>
          <p:cNvSpPr/>
          <p:nvPr/>
        </p:nvSpPr>
        <p:spPr>
          <a:xfrm>
            <a:off x="548640" y="1371600"/>
            <a:ext cx="731520" cy="73152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14"/>
          <p:cNvSpPr txBox="1"/>
          <p:nvPr/>
        </p:nvSpPr>
        <p:spPr>
          <a:xfrm>
            <a:off x="548640" y="169164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The dependency graph</a:t>
            </a:r>
            <a:endParaRPr/>
          </a:p>
        </p:txBody>
      </p:sp>
      <p:sp>
        <p:nvSpPr>
          <p:cNvPr id="1082" name="Google Shape;1082;p14"/>
          <p:cNvSpPr/>
          <p:nvPr/>
        </p:nvSpPr>
        <p:spPr>
          <a:xfrm>
            <a:off x="2743200" y="2194560"/>
            <a:ext cx="2011680" cy="548640"/>
          </a:xfrm>
          <a:prstGeom prst="roundRect">
            <a:avLst>
              <a:gd fmla="val 18000" name="adj"/>
            </a:avLst>
          </a:prstGeom>
          <a:solidFill>
            <a:srgbClr val="EF44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14"/>
          <p:cNvSpPr txBox="1"/>
          <p:nvPr/>
        </p:nvSpPr>
        <p:spPr>
          <a:xfrm>
            <a:off x="2743200" y="219456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Checkout (root)</a:t>
            </a:r>
            <a:endParaRPr/>
          </a:p>
        </p:txBody>
      </p:sp>
      <p:sp>
        <p:nvSpPr>
          <p:cNvPr id="1084" name="Google Shape;1084;p14"/>
          <p:cNvSpPr/>
          <p:nvPr/>
        </p:nvSpPr>
        <p:spPr>
          <a:xfrm>
            <a:off x="640080" y="3108960"/>
            <a:ext cx="1554480" cy="457200"/>
          </a:xfrm>
          <a:prstGeom prst="roundRect">
            <a:avLst>
              <a:gd fmla="val 18000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14"/>
          <p:cNvSpPr txBox="1"/>
          <p:nvPr/>
        </p:nvSpPr>
        <p:spPr>
          <a:xfrm>
            <a:off x="640080" y="310896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Cart</a:t>
            </a:r>
            <a:endParaRPr/>
          </a:p>
        </p:txBody>
      </p:sp>
      <p:sp>
        <p:nvSpPr>
          <p:cNvPr id="1086" name="Google Shape;1086;p14"/>
          <p:cNvSpPr/>
          <p:nvPr/>
        </p:nvSpPr>
        <p:spPr>
          <a:xfrm>
            <a:off x="3017520" y="3108960"/>
            <a:ext cx="1554480" cy="457200"/>
          </a:xfrm>
          <a:prstGeom prst="roundRect">
            <a:avLst>
              <a:gd fmla="val 18000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14"/>
          <p:cNvSpPr txBox="1"/>
          <p:nvPr/>
        </p:nvSpPr>
        <p:spPr>
          <a:xfrm>
            <a:off x="3017520" y="310896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Payment</a:t>
            </a:r>
            <a:endParaRPr/>
          </a:p>
        </p:txBody>
      </p:sp>
      <p:sp>
        <p:nvSpPr>
          <p:cNvPr id="1088" name="Google Shape;1088;p14"/>
          <p:cNvSpPr/>
          <p:nvPr/>
        </p:nvSpPr>
        <p:spPr>
          <a:xfrm>
            <a:off x="5394960" y="3108960"/>
            <a:ext cx="1554480" cy="457200"/>
          </a:xfrm>
          <a:prstGeom prst="roundRect">
            <a:avLst>
              <a:gd fmla="val 18000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14"/>
          <p:cNvSpPr txBox="1"/>
          <p:nvPr/>
        </p:nvSpPr>
        <p:spPr>
          <a:xfrm>
            <a:off x="5394960" y="310896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Inventory</a:t>
            </a:r>
            <a:endParaRPr/>
          </a:p>
        </p:txBody>
      </p:sp>
      <p:sp>
        <p:nvSpPr>
          <p:cNvPr id="1090" name="Google Shape;1090;p14"/>
          <p:cNvSpPr/>
          <p:nvPr/>
        </p:nvSpPr>
        <p:spPr>
          <a:xfrm>
            <a:off x="914400" y="4114800"/>
            <a:ext cx="1280160" cy="411480"/>
          </a:xfrm>
          <a:prstGeom prst="roundRect">
            <a:avLst>
              <a:gd fmla="val 18000" name="adj"/>
            </a:avLst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14"/>
          <p:cNvSpPr txBox="1"/>
          <p:nvPr/>
        </p:nvSpPr>
        <p:spPr>
          <a:xfrm>
            <a:off x="914400" y="411480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</a:t>
            </a:r>
            <a:endParaRPr/>
          </a:p>
        </p:txBody>
      </p:sp>
      <p:sp>
        <p:nvSpPr>
          <p:cNvPr id="1092" name="Google Shape;1092;p14"/>
          <p:cNvSpPr/>
          <p:nvPr/>
        </p:nvSpPr>
        <p:spPr>
          <a:xfrm>
            <a:off x="2468880" y="4114800"/>
            <a:ext cx="1280160" cy="411480"/>
          </a:xfrm>
          <a:prstGeom prst="roundRect">
            <a:avLst>
              <a:gd fmla="val 18000" name="adj"/>
            </a:avLst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14"/>
          <p:cNvSpPr txBox="1"/>
          <p:nvPr/>
        </p:nvSpPr>
        <p:spPr>
          <a:xfrm>
            <a:off x="2468880" y="411480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/>
          </a:p>
        </p:txBody>
      </p:sp>
      <p:sp>
        <p:nvSpPr>
          <p:cNvPr id="1094" name="Google Shape;1094;p14"/>
          <p:cNvSpPr/>
          <p:nvPr/>
        </p:nvSpPr>
        <p:spPr>
          <a:xfrm>
            <a:off x="4023360" y="4114800"/>
            <a:ext cx="1280160" cy="411480"/>
          </a:xfrm>
          <a:prstGeom prst="roundRect">
            <a:avLst>
              <a:gd fmla="val 18000" name="adj"/>
            </a:avLst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14"/>
          <p:cNvSpPr txBox="1"/>
          <p:nvPr/>
        </p:nvSpPr>
        <p:spPr>
          <a:xfrm>
            <a:off x="4023360" y="411480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Stripe</a:t>
            </a:r>
            <a:endParaRPr/>
          </a:p>
        </p:txBody>
      </p:sp>
      <p:sp>
        <p:nvSpPr>
          <p:cNvPr id="1096" name="Google Shape;1096;p14"/>
          <p:cNvSpPr/>
          <p:nvPr/>
        </p:nvSpPr>
        <p:spPr>
          <a:xfrm>
            <a:off x="5577840" y="4114800"/>
            <a:ext cx="1280160" cy="411480"/>
          </a:xfrm>
          <a:prstGeom prst="roundRect">
            <a:avLst>
              <a:gd fmla="val 18000" name="adj"/>
            </a:avLst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14"/>
          <p:cNvSpPr txBox="1"/>
          <p:nvPr/>
        </p:nvSpPr>
        <p:spPr>
          <a:xfrm>
            <a:off x="5577840" y="411480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Stock</a:t>
            </a:r>
            <a:endParaRPr/>
          </a:p>
        </p:txBody>
      </p:sp>
      <p:sp>
        <p:nvSpPr>
          <p:cNvPr id="1098" name="Google Shape;1098;p14"/>
          <p:cNvSpPr/>
          <p:nvPr/>
        </p:nvSpPr>
        <p:spPr>
          <a:xfrm>
            <a:off x="7132320" y="4114800"/>
            <a:ext cx="1280160" cy="411480"/>
          </a:xfrm>
          <a:prstGeom prst="roundRect">
            <a:avLst>
              <a:gd fmla="val 18000" name="adj"/>
            </a:avLst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14"/>
          <p:cNvSpPr txBox="1"/>
          <p:nvPr/>
        </p:nvSpPr>
        <p:spPr>
          <a:xfrm>
            <a:off x="7132320" y="411480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Notify</a:t>
            </a:r>
            <a:endParaRPr/>
          </a:p>
        </p:txBody>
      </p:sp>
      <p:sp>
        <p:nvSpPr>
          <p:cNvPr id="1100" name="Google Shape;1100;p14"/>
          <p:cNvSpPr/>
          <p:nvPr/>
        </p:nvSpPr>
        <p:spPr>
          <a:xfrm>
            <a:off x="8046720" y="1828800"/>
            <a:ext cx="3611880" cy="141732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14"/>
          <p:cNvSpPr/>
          <p:nvPr/>
        </p:nvSpPr>
        <p:spPr>
          <a:xfrm>
            <a:off x="8046720" y="1828800"/>
            <a:ext cx="137160" cy="141732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14"/>
          <p:cNvSpPr txBox="1"/>
          <p:nvPr/>
        </p:nvSpPr>
        <p:spPr>
          <a:xfrm>
            <a:off x="8275320" y="192024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BIG-BANG</a:t>
            </a:r>
            <a:endParaRPr/>
          </a:p>
        </p:txBody>
      </p:sp>
      <p:sp>
        <p:nvSpPr>
          <p:cNvPr id="1103" name="Google Shape;1103;p14"/>
          <p:cNvSpPr txBox="1"/>
          <p:nvPr/>
        </p:nvSpPr>
        <p:spPr>
          <a:xfrm>
            <a:off x="8275320" y="2267712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Integrate all 8 modules at once. Test together.</a:t>
            </a:r>
            <a:endParaRPr/>
          </a:p>
        </p:txBody>
      </p:sp>
      <p:sp>
        <p:nvSpPr>
          <p:cNvPr id="1104" name="Google Shape;1104;p14"/>
          <p:cNvSpPr txBox="1"/>
          <p:nvPr/>
        </p:nvSpPr>
        <p:spPr>
          <a:xfrm>
            <a:off x="8275320" y="274320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Fast · risky · hard to localize defects</a:t>
            </a:r>
            <a:endParaRPr/>
          </a:p>
        </p:txBody>
      </p:sp>
      <p:sp>
        <p:nvSpPr>
          <p:cNvPr id="1105" name="Google Shape;1105;p14"/>
          <p:cNvSpPr/>
          <p:nvPr/>
        </p:nvSpPr>
        <p:spPr>
          <a:xfrm>
            <a:off x="8046720" y="3337560"/>
            <a:ext cx="3611880" cy="141732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14"/>
          <p:cNvSpPr/>
          <p:nvPr/>
        </p:nvSpPr>
        <p:spPr>
          <a:xfrm>
            <a:off x="8046720" y="3337560"/>
            <a:ext cx="137160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14"/>
          <p:cNvSpPr txBox="1"/>
          <p:nvPr/>
        </p:nvSpPr>
        <p:spPr>
          <a:xfrm>
            <a:off x="8275320" y="342900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TOP-DOWN</a:t>
            </a:r>
            <a:endParaRPr/>
          </a:p>
        </p:txBody>
      </p:sp>
      <p:sp>
        <p:nvSpPr>
          <p:cNvPr id="1108" name="Google Shape;1108;p14"/>
          <p:cNvSpPr txBox="1"/>
          <p:nvPr/>
        </p:nvSpPr>
        <p:spPr>
          <a:xfrm>
            <a:off x="8275320" y="3776472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Start from Checkout, stub the mid-layer.</a:t>
            </a:r>
            <a:endParaRPr/>
          </a:p>
        </p:txBody>
      </p:sp>
      <p:sp>
        <p:nvSpPr>
          <p:cNvPr id="1109" name="Google Shape;1109;p14"/>
          <p:cNvSpPr txBox="1"/>
          <p:nvPr/>
        </p:nvSpPr>
        <p:spPr>
          <a:xfrm>
            <a:off x="8275320" y="425196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Defects caught early · stubs cost time</a:t>
            </a:r>
            <a:endParaRPr/>
          </a:p>
        </p:txBody>
      </p:sp>
      <p:sp>
        <p:nvSpPr>
          <p:cNvPr id="1110" name="Google Shape;1110;p14"/>
          <p:cNvSpPr/>
          <p:nvPr/>
        </p:nvSpPr>
        <p:spPr>
          <a:xfrm>
            <a:off x="8046720" y="4846320"/>
            <a:ext cx="3611880" cy="141732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14"/>
          <p:cNvSpPr/>
          <p:nvPr/>
        </p:nvSpPr>
        <p:spPr>
          <a:xfrm>
            <a:off x="8046720" y="4846320"/>
            <a:ext cx="137160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14"/>
          <p:cNvSpPr txBox="1"/>
          <p:nvPr/>
        </p:nvSpPr>
        <p:spPr>
          <a:xfrm>
            <a:off x="8275320" y="493776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BOTTOM-UP</a:t>
            </a:r>
            <a:endParaRPr/>
          </a:p>
        </p:txBody>
      </p:sp>
      <p:sp>
        <p:nvSpPr>
          <p:cNvPr id="1113" name="Google Shape;1113;p14"/>
          <p:cNvSpPr txBox="1"/>
          <p:nvPr/>
        </p:nvSpPr>
        <p:spPr>
          <a:xfrm>
            <a:off x="8275320" y="5285232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Start with Auth, Product, Stripe, Stock, Notify.</a:t>
            </a:r>
            <a:endParaRPr/>
          </a:p>
        </p:txBody>
      </p:sp>
      <p:sp>
        <p:nvSpPr>
          <p:cNvPr id="1114" name="Google Shape;1114;p14"/>
          <p:cNvSpPr txBox="1"/>
          <p:nvPr/>
        </p:nvSpPr>
        <p:spPr>
          <a:xfrm>
            <a:off x="8275320" y="576072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Reusable drivers · UI bugs found late</a:t>
            </a:r>
            <a:endParaRPr/>
          </a:p>
        </p:txBody>
      </p:sp>
      <p:sp>
        <p:nvSpPr>
          <p:cNvPr id="1115" name="Google Shape;1115;p14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CS423/CSC15003 · W01 In-class Activities · Testing Intro &amp; STLC · EShop SUT</a:t>
            </a:r>
            <a:endParaRPr/>
          </a:p>
        </p:txBody>
      </p:sp>
      <p:sp>
        <p:nvSpPr>
          <p:cNvPr id="1116" name="Google Shape;1116;p14"/>
          <p:cNvSpPr txBox="1"/>
          <p:nvPr/>
        </p:nvSpPr>
        <p:spPr>
          <a:xfrm>
            <a:off x="10972800" y="656539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26 / 33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15"/>
          <p:cNvSpPr/>
          <p:nvPr/>
        </p:nvSpPr>
        <p:spPr>
          <a:xfrm>
            <a:off x="548640" y="2468880"/>
            <a:ext cx="137160" cy="2011680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15"/>
          <p:cNvSpPr txBox="1"/>
          <p:nvPr/>
        </p:nvSpPr>
        <p:spPr>
          <a:xfrm>
            <a:off x="822960" y="2377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ACTIVITY 05</a:t>
            </a:r>
            <a:endParaRPr/>
          </a:p>
        </p:txBody>
      </p:sp>
      <p:sp>
        <p:nvSpPr>
          <p:cNvPr id="1124" name="Google Shape;1124;p15"/>
          <p:cNvSpPr txBox="1"/>
          <p:nvPr/>
        </p:nvSpPr>
        <p:spPr>
          <a:xfrm>
            <a:off x="822960" y="2788920"/>
            <a:ext cx="10972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Tester for a Day</a:t>
            </a:r>
            <a:endParaRPr/>
          </a:p>
        </p:txBody>
      </p:sp>
      <p:sp>
        <p:nvSpPr>
          <p:cNvPr id="1125" name="Google Shape;1125;p15"/>
          <p:cNvSpPr txBox="1"/>
          <p:nvPr/>
        </p:nvSpPr>
        <p:spPr>
          <a:xfrm>
            <a:off x="822960" y="429768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Triage 5 items from the EShop bug queue · 25 min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16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ACTIVITY 5 · 25 MIN</a:t>
            </a:r>
            <a:endParaRPr/>
          </a:p>
        </p:txBody>
      </p:sp>
      <p:sp>
        <p:nvSpPr>
          <p:cNvPr id="1131" name="Google Shape;1131;p16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You just joined EShop QA. It is 9:00 AM Monday.</a:t>
            </a:r>
            <a:endParaRPr/>
          </a:p>
        </p:txBody>
      </p:sp>
      <p:sp>
        <p:nvSpPr>
          <p:cNvPr id="1132" name="Google Shape;1132;p16"/>
          <p:cNvSpPr/>
          <p:nvPr/>
        </p:nvSpPr>
        <p:spPr>
          <a:xfrm>
            <a:off x="548640" y="1371600"/>
            <a:ext cx="731520" cy="73152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16"/>
          <p:cNvSpPr txBox="1"/>
          <p:nvPr/>
        </p:nvSpPr>
        <p:spPr>
          <a:xfrm>
            <a:off x="548640" y="1691640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The scenario</a:t>
            </a:r>
            <a:endParaRPr/>
          </a:p>
        </p:txBody>
      </p:sp>
      <p:sp>
        <p:nvSpPr>
          <p:cNvPr id="1134" name="Google Shape;1134;p16"/>
          <p:cNvSpPr txBox="1"/>
          <p:nvPr/>
        </p:nvSpPr>
        <p:spPr>
          <a:xfrm>
            <a:off x="548640" y="2103120"/>
            <a:ext cx="713232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You start your first day. The standup ends. Your manager hands you 5 items from yesterday's bug queue.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50" u="none" cap="none" strike="noStrike">
              <a:solidFill>
                <a:srgbClr val="0F1B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You have 25 minutes to: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   (a) Classify each item — is it a Defect / Feature Request / Question / Duplicate?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   (b) Set a priority (P0 / P1 / P2 / P3).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   (c) Pick the first 2 items you'll work on TODAY — defend the choice.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50" u="none" cap="none" strike="noStrike">
              <a:solidFill>
                <a:srgbClr val="0F1B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The other 3 items go to your colleagues with a one-line handoff each.</a:t>
            </a:r>
            <a:endParaRPr/>
          </a:p>
        </p:txBody>
      </p:sp>
      <p:sp>
        <p:nvSpPr>
          <p:cNvPr id="1135" name="Google Shape;1135;p16"/>
          <p:cNvSpPr/>
          <p:nvPr/>
        </p:nvSpPr>
        <p:spPr>
          <a:xfrm>
            <a:off x="7863840" y="1691640"/>
            <a:ext cx="3749039" cy="4480560"/>
          </a:xfrm>
          <a:prstGeom prst="roundRect">
            <a:avLst>
              <a:gd fmla="val 18000" name="adj"/>
            </a:avLst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16"/>
          <p:cNvSpPr txBox="1"/>
          <p:nvPr/>
        </p:nvSpPr>
        <p:spPr>
          <a:xfrm>
            <a:off x="8001000" y="18288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YOU LEARN</a:t>
            </a:r>
            <a:endParaRPr/>
          </a:p>
        </p:txBody>
      </p:sp>
      <p:sp>
        <p:nvSpPr>
          <p:cNvPr id="1137" name="Google Shape;1137;p16"/>
          <p:cNvSpPr txBox="1"/>
          <p:nvPr/>
        </p:nvSpPr>
        <p:spPr>
          <a:xfrm>
            <a:off x="8092440" y="2286000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Triage skills</a:t>
            </a:r>
            <a:endParaRPr/>
          </a:p>
        </p:txBody>
      </p:sp>
      <p:sp>
        <p:nvSpPr>
          <p:cNvPr id="1138" name="Google Shape;1138;p16"/>
          <p:cNvSpPr txBox="1"/>
          <p:nvPr/>
        </p:nvSpPr>
        <p:spPr>
          <a:xfrm>
            <a:off x="8092440" y="2578608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Reading bug reports critically</a:t>
            </a:r>
            <a:endParaRPr/>
          </a:p>
        </p:txBody>
      </p:sp>
      <p:sp>
        <p:nvSpPr>
          <p:cNvPr id="1139" name="Google Shape;1139;p16"/>
          <p:cNvSpPr txBox="1"/>
          <p:nvPr/>
        </p:nvSpPr>
        <p:spPr>
          <a:xfrm>
            <a:off x="8092440" y="2971800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Prioritization</a:t>
            </a:r>
            <a:endParaRPr/>
          </a:p>
        </p:txBody>
      </p:sp>
      <p:sp>
        <p:nvSpPr>
          <p:cNvPr id="1140" name="Google Shape;1140;p16"/>
          <p:cNvSpPr txBox="1"/>
          <p:nvPr/>
        </p:nvSpPr>
        <p:spPr>
          <a:xfrm>
            <a:off x="8092440" y="3264408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P0 vs P1 vs P2 trade-offs</a:t>
            </a:r>
            <a:endParaRPr/>
          </a:p>
        </p:txBody>
      </p:sp>
      <p:sp>
        <p:nvSpPr>
          <p:cNvPr id="1141" name="Google Shape;1141;p16"/>
          <p:cNvSpPr txBox="1"/>
          <p:nvPr/>
        </p:nvSpPr>
        <p:spPr>
          <a:xfrm>
            <a:off x="8092440" y="3657600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Communication</a:t>
            </a:r>
            <a:endParaRPr/>
          </a:p>
        </p:txBody>
      </p:sp>
      <p:sp>
        <p:nvSpPr>
          <p:cNvPr id="1142" name="Google Shape;1142;p16"/>
          <p:cNvSpPr txBox="1"/>
          <p:nvPr/>
        </p:nvSpPr>
        <p:spPr>
          <a:xfrm>
            <a:off x="8092440" y="3950208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Writing crisp handoff messages</a:t>
            </a:r>
            <a:endParaRPr/>
          </a:p>
        </p:txBody>
      </p:sp>
      <p:sp>
        <p:nvSpPr>
          <p:cNvPr id="1143" name="Google Shape;1143;p16"/>
          <p:cNvSpPr txBox="1"/>
          <p:nvPr/>
        </p:nvSpPr>
        <p:spPr>
          <a:xfrm>
            <a:off x="8092440" y="4343400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Career reality</a:t>
            </a:r>
            <a:endParaRPr/>
          </a:p>
        </p:txBody>
      </p:sp>
      <p:sp>
        <p:nvSpPr>
          <p:cNvPr id="1144" name="Google Shape;1144;p16"/>
          <p:cNvSpPr txBox="1"/>
          <p:nvPr/>
        </p:nvSpPr>
        <p:spPr>
          <a:xfrm>
            <a:off x="8092440" y="4636008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What a junior tester does day-1</a:t>
            </a:r>
            <a:endParaRPr/>
          </a:p>
        </p:txBody>
      </p:sp>
      <p:sp>
        <p:nvSpPr>
          <p:cNvPr id="1145" name="Google Shape;1145;p16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CS423/CSC15003 · W01 In-class Activities · Testing Intro &amp; STLC · EShop SUT</a:t>
            </a:r>
            <a:endParaRPr/>
          </a:p>
        </p:txBody>
      </p:sp>
      <p:sp>
        <p:nvSpPr>
          <p:cNvPr id="1146" name="Google Shape;1146;p16"/>
          <p:cNvSpPr txBox="1"/>
          <p:nvPr/>
        </p:nvSpPr>
        <p:spPr>
          <a:xfrm>
            <a:off x="10972800" y="656539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29 / 33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17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YOUR INBOX</a:t>
            </a:r>
            <a:endParaRPr/>
          </a:p>
        </p:txBody>
      </p:sp>
      <p:sp>
        <p:nvSpPr>
          <p:cNvPr id="1152" name="Google Shape;1152;p17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Five items waiting at 9:00 AM Monday</a:t>
            </a:r>
            <a:endParaRPr/>
          </a:p>
        </p:txBody>
      </p:sp>
      <p:sp>
        <p:nvSpPr>
          <p:cNvPr id="1153" name="Google Shape;1153;p17"/>
          <p:cNvSpPr/>
          <p:nvPr/>
        </p:nvSpPr>
        <p:spPr>
          <a:xfrm>
            <a:off x="548640" y="1371600"/>
            <a:ext cx="731520" cy="73152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17"/>
          <p:cNvSpPr/>
          <p:nvPr/>
        </p:nvSpPr>
        <p:spPr>
          <a:xfrm>
            <a:off x="548640" y="1691640"/>
            <a:ext cx="11064240" cy="86868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17"/>
          <p:cNvSpPr/>
          <p:nvPr/>
        </p:nvSpPr>
        <p:spPr>
          <a:xfrm>
            <a:off x="685800" y="1920240"/>
            <a:ext cx="868680" cy="41148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17"/>
          <p:cNvSpPr txBox="1"/>
          <p:nvPr/>
        </p:nvSpPr>
        <p:spPr>
          <a:xfrm>
            <a:off x="685800" y="1920240"/>
            <a:ext cx="868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ITEM-01</a:t>
            </a:r>
            <a:endParaRPr/>
          </a:p>
        </p:txBody>
      </p:sp>
      <p:sp>
        <p:nvSpPr>
          <p:cNvPr id="1157" name="Google Shape;1157;p17"/>
          <p:cNvSpPr txBox="1"/>
          <p:nvPr/>
        </p:nvSpPr>
        <p:spPr>
          <a:xfrm>
            <a:off x="1691640" y="1892808"/>
            <a:ext cx="9784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User says: 'I can buy items even when stock is 0!' — sent at 22:14 last night, includes screenshot</a:t>
            </a:r>
            <a:endParaRPr/>
          </a:p>
        </p:txBody>
      </p:sp>
      <p:sp>
        <p:nvSpPr>
          <p:cNvPr id="1158" name="Google Shape;1158;p17"/>
          <p:cNvSpPr/>
          <p:nvPr/>
        </p:nvSpPr>
        <p:spPr>
          <a:xfrm>
            <a:off x="548640" y="2606040"/>
            <a:ext cx="11064240" cy="86868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17"/>
          <p:cNvSpPr/>
          <p:nvPr/>
        </p:nvSpPr>
        <p:spPr>
          <a:xfrm>
            <a:off x="685800" y="2834640"/>
            <a:ext cx="868680" cy="411480"/>
          </a:xfrm>
          <a:prstGeom prst="roundRect">
            <a:avLst>
              <a:gd fmla="val 50000" name="adj"/>
            </a:avLst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17"/>
          <p:cNvSpPr txBox="1"/>
          <p:nvPr/>
        </p:nvSpPr>
        <p:spPr>
          <a:xfrm>
            <a:off x="685800" y="2834640"/>
            <a:ext cx="868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ITEM-02</a:t>
            </a:r>
            <a:endParaRPr/>
          </a:p>
        </p:txBody>
      </p:sp>
      <p:sp>
        <p:nvSpPr>
          <p:cNvPr id="1161" name="Google Shape;1161;p17"/>
          <p:cNvSpPr txBox="1"/>
          <p:nvPr/>
        </p:nvSpPr>
        <p:spPr>
          <a:xfrm>
            <a:off x="1691640" y="2807208"/>
            <a:ext cx="9784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Designer asks: 'Can we make the cart icon pulse when items are added?' — Slack DM, 8:45 AM</a:t>
            </a:r>
            <a:endParaRPr/>
          </a:p>
        </p:txBody>
      </p:sp>
      <p:sp>
        <p:nvSpPr>
          <p:cNvPr id="1162" name="Google Shape;1162;p17"/>
          <p:cNvSpPr/>
          <p:nvPr/>
        </p:nvSpPr>
        <p:spPr>
          <a:xfrm>
            <a:off x="548640" y="3520440"/>
            <a:ext cx="11064240" cy="86868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17"/>
          <p:cNvSpPr/>
          <p:nvPr/>
        </p:nvSpPr>
        <p:spPr>
          <a:xfrm>
            <a:off x="685800" y="3749040"/>
            <a:ext cx="868680" cy="41148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17"/>
          <p:cNvSpPr txBox="1"/>
          <p:nvPr/>
        </p:nvSpPr>
        <p:spPr>
          <a:xfrm>
            <a:off x="685800" y="3749040"/>
            <a:ext cx="868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ITEM-03</a:t>
            </a:r>
            <a:endParaRPr/>
          </a:p>
        </p:txBody>
      </p:sp>
      <p:sp>
        <p:nvSpPr>
          <p:cNvPr id="1165" name="Google Shape;1165;p17"/>
          <p:cNvSpPr txBox="1"/>
          <p:nvPr/>
        </p:nvSpPr>
        <p:spPr>
          <a:xfrm>
            <a:off x="1691640" y="3721608"/>
            <a:ext cx="9784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PM forwards: 'Stripe webhook failed 12 times in 3 hours last night. Orders stuck in PENDING'</a:t>
            </a:r>
            <a:endParaRPr/>
          </a:p>
        </p:txBody>
      </p:sp>
      <p:sp>
        <p:nvSpPr>
          <p:cNvPr id="1166" name="Google Shape;1166;p17"/>
          <p:cNvSpPr/>
          <p:nvPr/>
        </p:nvSpPr>
        <p:spPr>
          <a:xfrm>
            <a:off x="548640" y="4434840"/>
            <a:ext cx="11064240" cy="86868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17"/>
          <p:cNvSpPr/>
          <p:nvPr/>
        </p:nvSpPr>
        <p:spPr>
          <a:xfrm>
            <a:off x="685800" y="4663440"/>
            <a:ext cx="868680" cy="41148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17"/>
          <p:cNvSpPr txBox="1"/>
          <p:nvPr/>
        </p:nvSpPr>
        <p:spPr>
          <a:xfrm>
            <a:off x="685800" y="4663440"/>
            <a:ext cx="868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ITEM-04</a:t>
            </a:r>
            <a:endParaRPr/>
          </a:p>
        </p:txBody>
      </p:sp>
      <p:sp>
        <p:nvSpPr>
          <p:cNvPr id="1169" name="Google Shape;1169;p17"/>
          <p:cNvSpPr txBox="1"/>
          <p:nvPr/>
        </p:nvSpPr>
        <p:spPr>
          <a:xfrm>
            <a:off x="1691640" y="4636008"/>
            <a:ext cx="9784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Junior dev: 'Hey, is this the same bug as #237? Cart shows 2 items but checkout shows 1.'</a:t>
            </a:r>
            <a:endParaRPr/>
          </a:p>
        </p:txBody>
      </p:sp>
      <p:sp>
        <p:nvSpPr>
          <p:cNvPr id="1170" name="Google Shape;1170;p17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17"/>
          <p:cNvSpPr/>
          <p:nvPr/>
        </p:nvSpPr>
        <p:spPr>
          <a:xfrm>
            <a:off x="685800" y="5577840"/>
            <a:ext cx="868680" cy="41148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17"/>
          <p:cNvSpPr txBox="1"/>
          <p:nvPr/>
        </p:nvSpPr>
        <p:spPr>
          <a:xfrm>
            <a:off x="685800" y="5577840"/>
            <a:ext cx="868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ITEM-05</a:t>
            </a:r>
            <a:endParaRPr/>
          </a:p>
        </p:txBody>
      </p:sp>
      <p:sp>
        <p:nvSpPr>
          <p:cNvPr id="1173" name="Google Shape;1173;p17"/>
          <p:cNvSpPr txBox="1"/>
          <p:nvPr/>
        </p:nvSpPr>
        <p:spPr>
          <a:xfrm>
            <a:off x="1691640" y="5550408"/>
            <a:ext cx="9784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Translator: 'In Vietnamese, the price should be 100.000đ, not 100,000đ. Please confirm format'</a:t>
            </a:r>
            <a:endParaRPr/>
          </a:p>
        </p:txBody>
      </p:sp>
      <p:sp>
        <p:nvSpPr>
          <p:cNvPr id="1174" name="Google Shape;1174;p17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CS423/CSC15003 · W01 In-class Activities · Testing Intro &amp; STLC · EShop SUT</a:t>
            </a:r>
            <a:endParaRPr/>
          </a:p>
        </p:txBody>
      </p:sp>
      <p:sp>
        <p:nvSpPr>
          <p:cNvPr id="1175" name="Google Shape;1175;p17"/>
          <p:cNvSpPr txBox="1"/>
          <p:nvPr/>
        </p:nvSpPr>
        <p:spPr>
          <a:xfrm>
            <a:off x="10972800" y="656539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30 / 33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18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A5 · WORKSHEET</a:t>
            </a:r>
            <a:endParaRPr/>
          </a:p>
        </p:txBody>
      </p:sp>
      <p:sp>
        <p:nvSpPr>
          <p:cNvPr id="1181" name="Google Shape;1181;p18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Fill this for each of the 5 items</a:t>
            </a:r>
            <a:endParaRPr/>
          </a:p>
        </p:txBody>
      </p:sp>
      <p:sp>
        <p:nvSpPr>
          <p:cNvPr id="1182" name="Google Shape;1182;p18"/>
          <p:cNvSpPr/>
          <p:nvPr/>
        </p:nvSpPr>
        <p:spPr>
          <a:xfrm>
            <a:off x="548640" y="1371600"/>
            <a:ext cx="731520" cy="73152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18"/>
          <p:cNvSpPr/>
          <p:nvPr/>
        </p:nvSpPr>
        <p:spPr>
          <a:xfrm>
            <a:off x="548640" y="1783080"/>
            <a:ext cx="731520" cy="54864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18"/>
          <p:cNvSpPr txBox="1"/>
          <p:nvPr/>
        </p:nvSpPr>
        <p:spPr>
          <a:xfrm>
            <a:off x="594360" y="178308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#</a:t>
            </a:r>
            <a:endParaRPr/>
          </a:p>
        </p:txBody>
      </p:sp>
      <p:sp>
        <p:nvSpPr>
          <p:cNvPr id="1185" name="Google Shape;1185;p18"/>
          <p:cNvSpPr/>
          <p:nvPr/>
        </p:nvSpPr>
        <p:spPr>
          <a:xfrm>
            <a:off x="1280160" y="1783080"/>
            <a:ext cx="2103120" cy="54864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18"/>
          <p:cNvSpPr txBox="1"/>
          <p:nvPr/>
        </p:nvSpPr>
        <p:spPr>
          <a:xfrm>
            <a:off x="1325880" y="178308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endParaRPr/>
          </a:p>
        </p:txBody>
      </p:sp>
      <p:sp>
        <p:nvSpPr>
          <p:cNvPr id="1187" name="Google Shape;1187;p18"/>
          <p:cNvSpPr/>
          <p:nvPr/>
        </p:nvSpPr>
        <p:spPr>
          <a:xfrm>
            <a:off x="3383280" y="1783080"/>
            <a:ext cx="2011680" cy="54864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18"/>
          <p:cNvSpPr txBox="1"/>
          <p:nvPr/>
        </p:nvSpPr>
        <p:spPr>
          <a:xfrm>
            <a:off x="3429000" y="178308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Priority</a:t>
            </a:r>
            <a:endParaRPr/>
          </a:p>
        </p:txBody>
      </p:sp>
      <p:sp>
        <p:nvSpPr>
          <p:cNvPr id="1189" name="Google Shape;1189;p18"/>
          <p:cNvSpPr/>
          <p:nvPr/>
        </p:nvSpPr>
        <p:spPr>
          <a:xfrm>
            <a:off x="5394960" y="1783080"/>
            <a:ext cx="1554480" cy="54864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18"/>
          <p:cNvSpPr txBox="1"/>
          <p:nvPr/>
        </p:nvSpPr>
        <p:spPr>
          <a:xfrm>
            <a:off x="5440680" y="178308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Owner</a:t>
            </a:r>
            <a:endParaRPr/>
          </a:p>
        </p:txBody>
      </p:sp>
      <p:sp>
        <p:nvSpPr>
          <p:cNvPr id="1191" name="Google Shape;1191;p18"/>
          <p:cNvSpPr/>
          <p:nvPr/>
        </p:nvSpPr>
        <p:spPr>
          <a:xfrm>
            <a:off x="6949440" y="1783080"/>
            <a:ext cx="1737360" cy="54864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18"/>
          <p:cNvSpPr txBox="1"/>
          <p:nvPr/>
        </p:nvSpPr>
        <p:spPr>
          <a:xfrm>
            <a:off x="6995160" y="178308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First action (8 words max)</a:t>
            </a:r>
            <a:endParaRPr/>
          </a:p>
        </p:txBody>
      </p:sp>
      <p:sp>
        <p:nvSpPr>
          <p:cNvPr id="1193" name="Google Shape;1193;p18"/>
          <p:cNvSpPr/>
          <p:nvPr/>
        </p:nvSpPr>
        <p:spPr>
          <a:xfrm>
            <a:off x="548640" y="2331720"/>
            <a:ext cx="73152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18"/>
          <p:cNvSpPr/>
          <p:nvPr/>
        </p:nvSpPr>
        <p:spPr>
          <a:xfrm>
            <a:off x="1280160" y="2331720"/>
            <a:ext cx="210312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18"/>
          <p:cNvSpPr/>
          <p:nvPr/>
        </p:nvSpPr>
        <p:spPr>
          <a:xfrm>
            <a:off x="3383280" y="2331720"/>
            <a:ext cx="201168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18"/>
          <p:cNvSpPr/>
          <p:nvPr/>
        </p:nvSpPr>
        <p:spPr>
          <a:xfrm>
            <a:off x="5394960" y="2331720"/>
            <a:ext cx="155448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18"/>
          <p:cNvSpPr/>
          <p:nvPr/>
        </p:nvSpPr>
        <p:spPr>
          <a:xfrm>
            <a:off x="6949440" y="2331720"/>
            <a:ext cx="173736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18"/>
          <p:cNvSpPr/>
          <p:nvPr/>
        </p:nvSpPr>
        <p:spPr>
          <a:xfrm>
            <a:off x="8686800" y="2331720"/>
            <a:ext cx="292608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18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ITEM-01</a:t>
            </a:r>
            <a:endParaRPr/>
          </a:p>
        </p:txBody>
      </p:sp>
      <p:sp>
        <p:nvSpPr>
          <p:cNvPr id="1200" name="Google Shape;1200;p18"/>
          <p:cNvSpPr/>
          <p:nvPr/>
        </p:nvSpPr>
        <p:spPr>
          <a:xfrm>
            <a:off x="548640" y="2880360"/>
            <a:ext cx="73152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18"/>
          <p:cNvSpPr/>
          <p:nvPr/>
        </p:nvSpPr>
        <p:spPr>
          <a:xfrm>
            <a:off x="1280160" y="2880360"/>
            <a:ext cx="210312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18"/>
          <p:cNvSpPr/>
          <p:nvPr/>
        </p:nvSpPr>
        <p:spPr>
          <a:xfrm>
            <a:off x="3383280" y="2880360"/>
            <a:ext cx="201168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18"/>
          <p:cNvSpPr/>
          <p:nvPr/>
        </p:nvSpPr>
        <p:spPr>
          <a:xfrm>
            <a:off x="5394960" y="2880360"/>
            <a:ext cx="155448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18"/>
          <p:cNvSpPr/>
          <p:nvPr/>
        </p:nvSpPr>
        <p:spPr>
          <a:xfrm>
            <a:off x="6949440" y="2880360"/>
            <a:ext cx="173736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18"/>
          <p:cNvSpPr/>
          <p:nvPr/>
        </p:nvSpPr>
        <p:spPr>
          <a:xfrm>
            <a:off x="8686800" y="2880360"/>
            <a:ext cx="292608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18"/>
          <p:cNvSpPr txBox="1"/>
          <p:nvPr/>
        </p:nvSpPr>
        <p:spPr>
          <a:xfrm>
            <a:off x="640080" y="28803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ITEM-02</a:t>
            </a:r>
            <a:endParaRPr/>
          </a:p>
        </p:txBody>
      </p:sp>
      <p:sp>
        <p:nvSpPr>
          <p:cNvPr id="1207" name="Google Shape;1207;p18"/>
          <p:cNvSpPr/>
          <p:nvPr/>
        </p:nvSpPr>
        <p:spPr>
          <a:xfrm>
            <a:off x="548640" y="3429000"/>
            <a:ext cx="73152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18"/>
          <p:cNvSpPr/>
          <p:nvPr/>
        </p:nvSpPr>
        <p:spPr>
          <a:xfrm>
            <a:off x="1280160" y="3429000"/>
            <a:ext cx="210312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18"/>
          <p:cNvSpPr/>
          <p:nvPr/>
        </p:nvSpPr>
        <p:spPr>
          <a:xfrm>
            <a:off x="3383280" y="3429000"/>
            <a:ext cx="201168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18"/>
          <p:cNvSpPr/>
          <p:nvPr/>
        </p:nvSpPr>
        <p:spPr>
          <a:xfrm>
            <a:off x="5394960" y="3429000"/>
            <a:ext cx="155448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18"/>
          <p:cNvSpPr/>
          <p:nvPr/>
        </p:nvSpPr>
        <p:spPr>
          <a:xfrm>
            <a:off x="6949440" y="3429000"/>
            <a:ext cx="173736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18"/>
          <p:cNvSpPr/>
          <p:nvPr/>
        </p:nvSpPr>
        <p:spPr>
          <a:xfrm>
            <a:off x="8686800" y="3429000"/>
            <a:ext cx="292608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18"/>
          <p:cNvSpPr txBox="1"/>
          <p:nvPr/>
        </p:nvSpPr>
        <p:spPr>
          <a:xfrm>
            <a:off x="640080" y="34290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ITEM-03</a:t>
            </a:r>
            <a:endParaRPr/>
          </a:p>
        </p:txBody>
      </p:sp>
      <p:sp>
        <p:nvSpPr>
          <p:cNvPr id="1214" name="Google Shape;1214;p18"/>
          <p:cNvSpPr/>
          <p:nvPr/>
        </p:nvSpPr>
        <p:spPr>
          <a:xfrm>
            <a:off x="548640" y="3977640"/>
            <a:ext cx="73152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18"/>
          <p:cNvSpPr/>
          <p:nvPr/>
        </p:nvSpPr>
        <p:spPr>
          <a:xfrm>
            <a:off x="1280160" y="3977640"/>
            <a:ext cx="210312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18"/>
          <p:cNvSpPr/>
          <p:nvPr/>
        </p:nvSpPr>
        <p:spPr>
          <a:xfrm>
            <a:off x="3383280" y="3977640"/>
            <a:ext cx="201168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18"/>
          <p:cNvSpPr/>
          <p:nvPr/>
        </p:nvSpPr>
        <p:spPr>
          <a:xfrm>
            <a:off x="5394960" y="3977640"/>
            <a:ext cx="155448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18"/>
          <p:cNvSpPr/>
          <p:nvPr/>
        </p:nvSpPr>
        <p:spPr>
          <a:xfrm>
            <a:off x="6949440" y="3977640"/>
            <a:ext cx="173736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18"/>
          <p:cNvSpPr/>
          <p:nvPr/>
        </p:nvSpPr>
        <p:spPr>
          <a:xfrm>
            <a:off x="8686800" y="3977640"/>
            <a:ext cx="292608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18"/>
          <p:cNvSpPr txBox="1"/>
          <p:nvPr/>
        </p:nvSpPr>
        <p:spPr>
          <a:xfrm>
            <a:off x="640080" y="39776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ITEM-04</a:t>
            </a:r>
            <a:endParaRPr/>
          </a:p>
        </p:txBody>
      </p:sp>
      <p:sp>
        <p:nvSpPr>
          <p:cNvPr id="1221" name="Google Shape;1221;p18"/>
          <p:cNvSpPr/>
          <p:nvPr/>
        </p:nvSpPr>
        <p:spPr>
          <a:xfrm>
            <a:off x="548640" y="4526280"/>
            <a:ext cx="73152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18"/>
          <p:cNvSpPr/>
          <p:nvPr/>
        </p:nvSpPr>
        <p:spPr>
          <a:xfrm>
            <a:off x="1280160" y="4526280"/>
            <a:ext cx="210312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18"/>
          <p:cNvSpPr/>
          <p:nvPr/>
        </p:nvSpPr>
        <p:spPr>
          <a:xfrm>
            <a:off x="3383280" y="4526280"/>
            <a:ext cx="201168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18"/>
          <p:cNvSpPr/>
          <p:nvPr/>
        </p:nvSpPr>
        <p:spPr>
          <a:xfrm>
            <a:off x="5394960" y="4526280"/>
            <a:ext cx="155448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18"/>
          <p:cNvSpPr/>
          <p:nvPr/>
        </p:nvSpPr>
        <p:spPr>
          <a:xfrm>
            <a:off x="6949440" y="4526280"/>
            <a:ext cx="173736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18"/>
          <p:cNvSpPr/>
          <p:nvPr/>
        </p:nvSpPr>
        <p:spPr>
          <a:xfrm>
            <a:off x="8686800" y="4526280"/>
            <a:ext cx="292608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18"/>
          <p:cNvSpPr txBox="1"/>
          <p:nvPr/>
        </p:nvSpPr>
        <p:spPr>
          <a:xfrm>
            <a:off x="640080" y="45262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ITEM-05</a:t>
            </a:r>
            <a:endParaRPr/>
          </a:p>
        </p:txBody>
      </p:sp>
      <p:sp>
        <p:nvSpPr>
          <p:cNvPr id="1228" name="Google Shape;1228;p18"/>
          <p:cNvSpPr txBox="1"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After the worksheet — defend your TODAY-list (top 2 items)</a:t>
            </a:r>
            <a:endParaRPr/>
          </a:p>
        </p:txBody>
      </p:sp>
      <p:sp>
        <p:nvSpPr>
          <p:cNvPr id="1229" name="Google Shape;1229;p18"/>
          <p:cNvSpPr/>
          <p:nvPr/>
        </p:nvSpPr>
        <p:spPr>
          <a:xfrm>
            <a:off x="548640" y="5760720"/>
            <a:ext cx="11064240" cy="777240"/>
          </a:xfrm>
          <a:prstGeom prst="roundRect">
            <a:avLst>
              <a:gd fmla="val 18000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18"/>
          <p:cNvSpPr txBox="1"/>
          <p:nvPr/>
        </p:nvSpPr>
        <p:spPr>
          <a:xfrm>
            <a:off x="868680" y="5806440"/>
            <a:ext cx="10424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Today I'll work on ITEM-___ and ITEM-___ because: ___________________________________________________</a:t>
            </a:r>
            <a:endParaRPr/>
          </a:p>
        </p:txBody>
      </p:sp>
      <p:sp>
        <p:nvSpPr>
          <p:cNvPr id="1231" name="Google Shape;1231;p18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CS423/CSC15003 · W01 In-class Activities · Testing Intro &amp; STLC · EShop SUT</a:t>
            </a:r>
            <a:endParaRPr/>
          </a:p>
        </p:txBody>
      </p:sp>
      <p:sp>
        <p:nvSpPr>
          <p:cNvPr id="1232" name="Google Shape;1232;p18"/>
          <p:cNvSpPr txBox="1"/>
          <p:nvPr/>
        </p:nvSpPr>
        <p:spPr>
          <a:xfrm>
            <a:off x="10972800" y="656539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31 / 33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Vu Lam</dc:creator>
</cp:coreProperties>
</file>