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5.xml" ContentType="application/vnd.openxmlformats-officedocument.presentationml.tags+xml"/>
  <Override PartName="/ppt/notesSlides/notesSlide24.xml" ContentType="application/vnd.openxmlformats-officedocument.presentationml.notesSlide+xml"/>
  <Override PartName="/ppt/tags/tag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8.xml" ContentType="application/vnd.openxmlformats-officedocument.presentationml.tags+xml"/>
  <Override PartName="/ppt/notesSlides/notesSlide41.xml" ContentType="application/vnd.openxmlformats-officedocument.presentationml.notesSlide+xml"/>
  <Override PartName="/ppt/tags/tag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10.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11.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12.xml" ContentType="application/vnd.openxmlformats-officedocument.presentationml.tags+xml"/>
  <Override PartName="/ppt/notesSlides/notesSlide64.xml" ContentType="application/vnd.openxmlformats-officedocument.presentationml.notesSlide+xml"/>
  <Override PartName="/ppt/tags/tag13.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14.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15.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16.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tags/tag17.xml" ContentType="application/vnd.openxmlformats-officedocument.presentationml.tags+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tags/tag18.xml" ContentType="application/vnd.openxmlformats-officedocument.presentationml.tags+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103"/>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a:srgbClr val="FFCC00"/>
    <a:srgbClr val="0099FF"/>
    <a:srgbClr val="6666FF"/>
    <a:srgbClr val="FF0000"/>
    <a:srgbClr val="008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0" autoAdjust="0"/>
    <p:restoredTop sz="59232" autoAdjust="0"/>
  </p:normalViewPr>
  <p:slideViewPr>
    <p:cSldViewPr>
      <p:cViewPr varScale="1">
        <p:scale>
          <a:sx n="72" d="100"/>
          <a:sy n="72" d="100"/>
        </p:scale>
        <p:origin x="150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4"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1326EC75-96D7-4D64-9D1B-BCF3AE876982}" type="slidenum">
              <a:rPr lang="en-US"/>
              <a:pPr/>
              <a:t>‹#›</a:t>
            </a:fld>
            <a:endParaRPr lang="en-US"/>
          </a:p>
        </p:txBody>
      </p:sp>
    </p:spTree>
    <p:extLst>
      <p:ext uri="{BB962C8B-B14F-4D97-AF65-F5344CB8AC3E}">
        <p14:creationId xmlns:p14="http://schemas.microsoft.com/office/powerpoint/2010/main" val="9880749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2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2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2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A4F5DD-5A27-41D0-99D4-C7A9BC499D67}" type="slidenum">
              <a:rPr lang="en-US" smtClean="0"/>
              <a:pPr/>
              <a:t>1</a:t>
            </a:fld>
            <a:endParaRPr lang="en-US"/>
          </a:p>
        </p:txBody>
      </p:sp>
    </p:spTree>
    <p:extLst>
      <p:ext uri="{BB962C8B-B14F-4D97-AF65-F5344CB8AC3E}">
        <p14:creationId xmlns:p14="http://schemas.microsoft.com/office/powerpoint/2010/main" val="681375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xfrm>
            <a:off x="2516188" y="833438"/>
            <a:ext cx="4038600" cy="3030537"/>
          </a:xfrm>
          <a:ln/>
        </p:spPr>
      </p:sp>
      <p:sp>
        <p:nvSpPr>
          <p:cNvPr id="117763" name="Rectangle 3"/>
          <p:cNvSpPr>
            <a:spLocks noGrp="1" noChangeArrowheads="1"/>
          </p:cNvSpPr>
          <p:nvPr>
            <p:ph type="body" idx="1"/>
          </p:nvPr>
        </p:nvSpPr>
        <p:spPr>
          <a:xfrm>
            <a:off x="2503170" y="4057272"/>
            <a:ext cx="3971677" cy="4019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197" tIns="43098" rIns="86197" bIns="43098"/>
          <a:lstStyle/>
          <a:p>
            <a:pPr eaLnBrk="1" hangingPunct="1"/>
            <a:r>
              <a:rPr lang="en-US" sz="900">
                <a:latin typeface="ZapfHumnst BT" pitchFamily="34" charset="0"/>
              </a:rPr>
              <a:t>Managing requirements involves the translation of stakeholder requests into a set of system features. These in turn are detailed into specifications for functional and nonfunctional requirements. Detailed specifications are translated into test procedures, design, and user documentation.</a:t>
            </a:r>
          </a:p>
          <a:p>
            <a:pPr eaLnBrk="1" hangingPunct="1"/>
            <a:endParaRPr lang="en-US" sz="900">
              <a:latin typeface="ZapfHumnst BT" pitchFamily="34" charset="0"/>
            </a:endParaRPr>
          </a:p>
        </p:txBody>
      </p:sp>
      <p:sp>
        <p:nvSpPr>
          <p:cNvPr id="117764" name="Text Box 4"/>
          <p:cNvSpPr txBox="1">
            <a:spLocks noChangeArrowheads="1"/>
          </p:cNvSpPr>
          <p:nvPr/>
        </p:nvSpPr>
        <p:spPr bwMode="auto">
          <a:xfrm>
            <a:off x="448752" y="1218696"/>
            <a:ext cx="1748790" cy="6759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761" tIns="50880" rIns="101761" bIns="50880"/>
          <a:lstStyle>
            <a:lvl1pPr defTabSz="911225" eaLnBrk="0" hangingPunct="0">
              <a:defRPr sz="1600">
                <a:solidFill>
                  <a:schemeClr val="tx2"/>
                </a:solidFill>
                <a:latin typeface="Times New Roman" pitchFamily="18" charset="0"/>
              </a:defRPr>
            </a:lvl1pPr>
            <a:lvl2pPr marL="227013" indent="-112713"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latin typeface="ZapfHumnst BT" pitchFamily="34" charset="0"/>
              </a:rPr>
              <a:t>Discuss how this roadmap represents a roadmap of this course. </a:t>
            </a:r>
          </a:p>
          <a:p>
            <a:pPr eaLnBrk="1" hangingPunct="1">
              <a:lnSpc>
                <a:spcPct val="87000"/>
              </a:lnSpc>
              <a:spcBef>
                <a:spcPct val="30000"/>
              </a:spcBef>
            </a:pPr>
            <a:r>
              <a:rPr lang="en-US" sz="900">
                <a:solidFill>
                  <a:schemeClr val="tx1"/>
                </a:solidFill>
                <a:latin typeface="ZapfHumnst BT" pitchFamily="34" charset="0"/>
              </a:rPr>
              <a:t>Traceability allows us to: </a:t>
            </a:r>
          </a:p>
          <a:p>
            <a:pPr lvl="1" eaLnBrk="1" hangingPunct="1">
              <a:lnSpc>
                <a:spcPct val="87000"/>
              </a:lnSpc>
              <a:spcBef>
                <a:spcPct val="30000"/>
              </a:spcBef>
              <a:buFontTx/>
              <a:buChar char="•"/>
            </a:pPr>
            <a:r>
              <a:rPr lang="en-US" sz="900">
                <a:solidFill>
                  <a:schemeClr val="tx1"/>
                </a:solidFill>
                <a:latin typeface="ZapfHumnst BT" pitchFamily="34" charset="0"/>
              </a:rPr>
              <a:t>Assess the project impact of a change in a requirement.</a:t>
            </a:r>
          </a:p>
          <a:p>
            <a:pPr lvl="1" eaLnBrk="1" hangingPunct="1">
              <a:lnSpc>
                <a:spcPct val="87000"/>
              </a:lnSpc>
              <a:spcBef>
                <a:spcPct val="30000"/>
              </a:spcBef>
              <a:buFontTx/>
              <a:buChar char="•"/>
            </a:pPr>
            <a:r>
              <a:rPr lang="en-US" sz="900">
                <a:solidFill>
                  <a:schemeClr val="tx1"/>
                </a:solidFill>
                <a:latin typeface="ZapfHumnst BT" pitchFamily="34" charset="0"/>
              </a:rPr>
              <a:t>Assess the impact of a failure of a test on requirements (that is, if the test fails, the requirement may not be satisfied).</a:t>
            </a:r>
          </a:p>
          <a:p>
            <a:pPr lvl="1" eaLnBrk="1" hangingPunct="1">
              <a:lnSpc>
                <a:spcPct val="87000"/>
              </a:lnSpc>
              <a:spcBef>
                <a:spcPct val="30000"/>
              </a:spcBef>
              <a:buFontTx/>
              <a:buChar char="•"/>
            </a:pPr>
            <a:r>
              <a:rPr lang="en-US" sz="900">
                <a:solidFill>
                  <a:schemeClr val="tx1"/>
                </a:solidFill>
                <a:latin typeface="ZapfHumnst BT" pitchFamily="34" charset="0"/>
              </a:rPr>
              <a:t>Manage the scope of the project.</a:t>
            </a:r>
          </a:p>
          <a:p>
            <a:pPr lvl="1" eaLnBrk="1" hangingPunct="1">
              <a:lnSpc>
                <a:spcPct val="87000"/>
              </a:lnSpc>
              <a:spcBef>
                <a:spcPct val="30000"/>
              </a:spcBef>
              <a:buFontTx/>
              <a:buChar char="•"/>
            </a:pPr>
            <a:r>
              <a:rPr lang="en-US" sz="900">
                <a:solidFill>
                  <a:schemeClr val="tx1"/>
                </a:solidFill>
                <a:latin typeface="ZapfHumnst BT" pitchFamily="34" charset="0"/>
              </a:rPr>
              <a:t>Verify that all requirements of the system are fulfilled by the implementation.</a:t>
            </a:r>
          </a:p>
          <a:p>
            <a:pPr lvl="1" eaLnBrk="1" hangingPunct="1">
              <a:lnSpc>
                <a:spcPct val="87000"/>
              </a:lnSpc>
              <a:spcBef>
                <a:spcPct val="30000"/>
              </a:spcBef>
              <a:buFontTx/>
              <a:buChar char="•"/>
            </a:pPr>
            <a:r>
              <a:rPr lang="en-US" sz="900">
                <a:solidFill>
                  <a:schemeClr val="tx1"/>
                </a:solidFill>
                <a:latin typeface="ZapfHumnst BT" pitchFamily="34" charset="0"/>
              </a:rPr>
              <a:t>Verify that the application does only what it was intended to do.</a:t>
            </a:r>
          </a:p>
          <a:p>
            <a:pPr lvl="1" eaLnBrk="1" hangingPunct="1">
              <a:lnSpc>
                <a:spcPct val="87000"/>
              </a:lnSpc>
              <a:spcBef>
                <a:spcPct val="30000"/>
              </a:spcBef>
              <a:buFontTx/>
              <a:buChar char="•"/>
            </a:pPr>
            <a:r>
              <a:rPr lang="en-US" sz="900">
                <a:solidFill>
                  <a:schemeClr val="tx1"/>
                </a:solidFill>
                <a:latin typeface="ZapfHumnst BT" pitchFamily="34" charset="0"/>
              </a:rPr>
              <a:t>Manage change.</a:t>
            </a:r>
          </a:p>
          <a:p>
            <a:pPr eaLnBrk="1" hangingPunct="1">
              <a:lnSpc>
                <a:spcPct val="87000"/>
              </a:lnSpc>
              <a:spcBef>
                <a:spcPct val="30000"/>
              </a:spcBef>
            </a:pPr>
            <a:endParaRPr lang="en-US" sz="900">
              <a:solidFill>
                <a:schemeClr val="tx1"/>
              </a:solidFill>
              <a:latin typeface="ZapfHumnst BT" pitchFamily="34" charset="0"/>
            </a:endParaRPr>
          </a:p>
          <a:p>
            <a:pPr eaLnBrk="1" hangingPunct="1">
              <a:lnSpc>
                <a:spcPct val="87000"/>
              </a:lnSpc>
              <a:spcBef>
                <a:spcPct val="30000"/>
              </a:spcBef>
            </a:pPr>
            <a:endParaRPr lang="en-US" sz="1100">
              <a:solidFill>
                <a:schemeClr val="tx1"/>
              </a:solidFill>
              <a:latin typeface="ZapfHumnst BT" pitchFamily="34" charset="0"/>
            </a:endParaRPr>
          </a:p>
          <a:p>
            <a:pPr eaLnBrk="1" hangingPunct="1">
              <a:lnSpc>
                <a:spcPct val="87000"/>
              </a:lnSpc>
              <a:spcBef>
                <a:spcPct val="30000"/>
              </a:spcBef>
            </a:pPr>
            <a:endParaRPr lang="en-US" sz="900">
              <a:solidFill>
                <a:schemeClr val="tx1"/>
              </a:solidFill>
              <a:latin typeface="ZapfHumnst BT" pitchFamily="34" charset="0"/>
            </a:endParaRPr>
          </a:p>
          <a:p>
            <a:pPr>
              <a:lnSpc>
                <a:spcPct val="87000"/>
              </a:lnSpc>
              <a:spcBef>
                <a:spcPct val="30000"/>
              </a:spcBef>
            </a:pPr>
            <a:endParaRPr lang="en-US" sz="900">
              <a:solidFill>
                <a:schemeClr val="tx1"/>
              </a:solidFill>
              <a:latin typeface="ZapfHumnst BT" pitchFamily="34" charset="0"/>
            </a:endParaRPr>
          </a:p>
        </p:txBody>
      </p:sp>
    </p:spTree>
    <p:extLst>
      <p:ext uri="{BB962C8B-B14F-4D97-AF65-F5344CB8AC3E}">
        <p14:creationId xmlns:p14="http://schemas.microsoft.com/office/powerpoint/2010/main" val="166271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2516188" y="833438"/>
            <a:ext cx="4038600" cy="3030537"/>
          </a:xfrm>
          <a:ln/>
        </p:spPr>
      </p:sp>
      <p:sp>
        <p:nvSpPr>
          <p:cNvPr id="118787" name="Rectangle 3"/>
          <p:cNvSpPr>
            <a:spLocks noGrp="1" noChangeArrowheads="1"/>
          </p:cNvSpPr>
          <p:nvPr>
            <p:ph type="body" idx="1"/>
          </p:nvPr>
        </p:nvSpPr>
        <p:spPr>
          <a:xfrm>
            <a:off x="2503170" y="4057272"/>
            <a:ext cx="3971677" cy="4019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197" tIns="43098" rIns="86197" bIns="43098"/>
          <a:lstStyle/>
          <a:p>
            <a:pPr eaLnBrk="1" hangingPunct="1"/>
            <a:r>
              <a:rPr lang="en-US" sz="900" b="1">
                <a:latin typeface="ZapfHumnst BT" pitchFamily="34" charset="0"/>
              </a:rPr>
              <a:t>Definitions:</a:t>
            </a:r>
          </a:p>
          <a:p>
            <a:pPr marL="218057" lvl="1" indent="-109781">
              <a:buFontTx/>
              <a:buChar char="•"/>
            </a:pPr>
            <a:r>
              <a:rPr lang="en-US" sz="900" b="1">
                <a:latin typeface="ZapfHumnst BT" pitchFamily="34" charset="0"/>
              </a:rPr>
              <a:t>RUP:</a:t>
            </a:r>
            <a:r>
              <a:rPr lang="en-US" sz="900">
                <a:latin typeface="ZapfHumnst BT" pitchFamily="34" charset="0"/>
              </a:rPr>
              <a:t> A requirement describes a condition or capability to which a system must conform, either derived directly from user needs, or stated in a contract, standard, specification, or other formally imposed document. </a:t>
            </a:r>
          </a:p>
          <a:p>
            <a:pPr marL="218057" lvl="1" indent="-109781">
              <a:buFontTx/>
              <a:buChar char="•"/>
            </a:pPr>
            <a:r>
              <a:rPr lang="en-US" sz="900" b="1">
                <a:latin typeface="ZapfHumnst BT" pitchFamily="34" charset="0"/>
              </a:rPr>
              <a:t>UML:</a:t>
            </a:r>
            <a:r>
              <a:rPr lang="en-US" sz="900">
                <a:latin typeface="ZapfHumnst BT" pitchFamily="34" charset="0"/>
              </a:rPr>
              <a:t> A desired feature, property, or behavior of the system.</a:t>
            </a:r>
          </a:p>
          <a:p>
            <a:pPr eaLnBrk="1" hangingPunct="1"/>
            <a:r>
              <a:rPr lang="en-US" sz="900">
                <a:latin typeface="ZapfHumnst BT" pitchFamily="34" charset="0"/>
              </a:rPr>
              <a:t>Requirements specify what the system must do rather than how the system does it. </a:t>
            </a:r>
          </a:p>
          <a:p>
            <a:pPr eaLnBrk="1" hangingPunct="1"/>
            <a:r>
              <a:rPr lang="en-US" sz="900">
                <a:latin typeface="ZapfHumnst BT" pitchFamily="34" charset="0"/>
              </a:rPr>
              <a:t>There are many kinds of requirements. For example, </a:t>
            </a:r>
            <a:r>
              <a:rPr lang="en-US" sz="900" i="1">
                <a:latin typeface="ZapfHumnst BT" pitchFamily="34" charset="0"/>
              </a:rPr>
              <a:t>feature</a:t>
            </a:r>
            <a:r>
              <a:rPr lang="en-US" sz="900">
                <a:latin typeface="ZapfHumnst BT" pitchFamily="34" charset="0"/>
              </a:rPr>
              <a:t> requirements are requirements that are directly tied to user needs, and </a:t>
            </a:r>
            <a:r>
              <a:rPr lang="en-US" sz="900" i="1">
                <a:latin typeface="ZapfHumnst BT" pitchFamily="34" charset="0"/>
              </a:rPr>
              <a:t>software</a:t>
            </a:r>
            <a:r>
              <a:rPr lang="en-US" sz="900">
                <a:latin typeface="ZapfHumnst BT" pitchFamily="34" charset="0"/>
              </a:rPr>
              <a:t> requirements give the detailed requirements for the software. These different types of requirements are discussed later in the course.</a:t>
            </a:r>
          </a:p>
          <a:p>
            <a:pPr eaLnBrk="1" hangingPunct="1"/>
            <a:r>
              <a:rPr lang="en-US" sz="900">
                <a:latin typeface="ZapfHumnst BT" pitchFamily="34" charset="0"/>
              </a:rPr>
              <a:t>Do not expect to “get it right first time”. Requirements management is successful only if it allows for uncertainty of the requirements early in the project. However, requirements management also ensures that requirements become better defined over time. </a:t>
            </a:r>
          </a:p>
          <a:p>
            <a:pPr eaLnBrk="1" hangingPunct="1"/>
            <a:endParaRPr lang="en-US" sz="900">
              <a:latin typeface="ZapfHumnst BT" pitchFamily="34" charset="0"/>
            </a:endParaRPr>
          </a:p>
        </p:txBody>
      </p:sp>
      <p:sp>
        <p:nvSpPr>
          <p:cNvPr id="118788" name="Text Box 4"/>
          <p:cNvSpPr txBox="1">
            <a:spLocks noChangeArrowheads="1"/>
          </p:cNvSpPr>
          <p:nvPr/>
        </p:nvSpPr>
        <p:spPr bwMode="auto">
          <a:xfrm>
            <a:off x="448752" y="1218696"/>
            <a:ext cx="1748790" cy="6759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761" tIns="50880" rIns="101761" bIns="50880"/>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latin typeface="ZapfHumnst BT" pitchFamily="34" charset="0"/>
              </a:rPr>
              <a:t>It is a good idea to have some examples of requirements to make this definition less abstract. Include functional requirements such as would be included in a use-case model. Also include performance, legal, availability, and so on. </a:t>
            </a:r>
          </a:p>
          <a:p>
            <a:pPr>
              <a:lnSpc>
                <a:spcPct val="87000"/>
              </a:lnSpc>
              <a:spcBef>
                <a:spcPct val="30000"/>
              </a:spcBef>
            </a:pPr>
            <a:r>
              <a:rPr lang="en-US" sz="900">
                <a:solidFill>
                  <a:schemeClr val="tx1"/>
                </a:solidFill>
                <a:latin typeface="ZapfHumnst BT" pitchFamily="34" charset="0"/>
              </a:rPr>
              <a:t>For an ATM machine, a functional requirement might be “withdraw cash.” An example of a performance requirement might be to validate the customer ID within 5 seconds. </a:t>
            </a:r>
          </a:p>
        </p:txBody>
      </p:sp>
    </p:spTree>
    <p:extLst>
      <p:ext uri="{BB962C8B-B14F-4D97-AF65-F5344CB8AC3E}">
        <p14:creationId xmlns:p14="http://schemas.microsoft.com/office/powerpoint/2010/main" val="1243929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2516188" y="833438"/>
            <a:ext cx="4038600" cy="3030537"/>
          </a:xfrm>
          <a:ln/>
        </p:spPr>
      </p:sp>
      <p:sp>
        <p:nvSpPr>
          <p:cNvPr id="119811" name="Rectangle 3"/>
          <p:cNvSpPr>
            <a:spLocks noGrp="1" noChangeArrowheads="1"/>
          </p:cNvSpPr>
          <p:nvPr>
            <p:ph type="body" idx="1"/>
          </p:nvPr>
        </p:nvSpPr>
        <p:spPr>
          <a:xfrm>
            <a:off x="2503170" y="4057272"/>
            <a:ext cx="3971677" cy="4019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197" tIns="43098" rIns="86197" bIns="43098"/>
          <a:lstStyle/>
          <a:p>
            <a:pPr eaLnBrk="1" hangingPunct="1"/>
            <a:r>
              <a:rPr lang="en-US" sz="900">
                <a:latin typeface="ZapfHumnst BT" pitchFamily="34" charset="0"/>
              </a:rPr>
              <a:t>A requirement is a capability or condition to which the system must conform.</a:t>
            </a:r>
          </a:p>
          <a:p>
            <a:pPr eaLnBrk="1" hangingPunct="1"/>
            <a:r>
              <a:rPr lang="en-US" sz="900">
                <a:latin typeface="ZapfHumnst BT" pitchFamily="34" charset="0"/>
              </a:rPr>
              <a:t>Software requirements provide a “black box” definition of the system. They define only those externally observable “What’s” of the system, not the “How’s.”</a:t>
            </a:r>
          </a:p>
          <a:p>
            <a:pPr eaLnBrk="1" hangingPunct="1"/>
            <a:r>
              <a:rPr lang="en-US" sz="900">
                <a:latin typeface="ZapfHumnst BT" pitchFamily="34" charset="0"/>
              </a:rPr>
              <a:t>Of course, there has to be enough of the “How” specified to build the right system, but these should be identified as design constraints.</a:t>
            </a:r>
          </a:p>
          <a:p>
            <a:pPr eaLnBrk="1" hangingPunct="1"/>
            <a:endParaRPr lang="en-US" sz="900">
              <a:latin typeface="ZapfHumnst BT" pitchFamily="34" charset="0"/>
            </a:endParaRPr>
          </a:p>
        </p:txBody>
      </p:sp>
      <p:sp>
        <p:nvSpPr>
          <p:cNvPr id="119812" name="Text Box 4"/>
          <p:cNvSpPr txBox="1">
            <a:spLocks noChangeArrowheads="1"/>
          </p:cNvSpPr>
          <p:nvPr/>
        </p:nvSpPr>
        <p:spPr bwMode="auto">
          <a:xfrm>
            <a:off x="448752" y="1218696"/>
            <a:ext cx="1748790" cy="6759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172" tIns="43086" rIns="86172" bIns="43086"/>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eaLnBrk="1" hangingPunct="1">
              <a:lnSpc>
                <a:spcPct val="87000"/>
              </a:lnSpc>
              <a:spcBef>
                <a:spcPct val="30000"/>
              </a:spcBef>
            </a:pPr>
            <a:r>
              <a:rPr lang="en-US" sz="900">
                <a:solidFill>
                  <a:schemeClr val="tx1"/>
                </a:solidFill>
                <a:latin typeface="ZapfHumnst BT" pitchFamily="34" charset="0"/>
              </a:rPr>
              <a:t>There has to be enough of the “How” specified to build the right system, but these should be identified as design constraints.</a:t>
            </a:r>
          </a:p>
          <a:p>
            <a:pPr eaLnBrk="1" hangingPunct="1">
              <a:lnSpc>
                <a:spcPct val="87000"/>
              </a:lnSpc>
              <a:spcBef>
                <a:spcPct val="30000"/>
              </a:spcBef>
            </a:pPr>
            <a:r>
              <a:rPr lang="en-US" sz="900">
                <a:solidFill>
                  <a:schemeClr val="tx1"/>
                </a:solidFill>
                <a:latin typeface="ZapfHumnst BT" pitchFamily="34" charset="0"/>
              </a:rPr>
              <a:t>Emphasize how requirements describe a solution from the black-box perspective.</a:t>
            </a:r>
          </a:p>
          <a:p>
            <a:pPr>
              <a:lnSpc>
                <a:spcPct val="87000"/>
              </a:lnSpc>
              <a:spcBef>
                <a:spcPct val="30000"/>
              </a:spcBef>
            </a:pPr>
            <a:endParaRPr lang="en-US" sz="900">
              <a:solidFill>
                <a:schemeClr val="tx1"/>
              </a:solidFill>
              <a:latin typeface="ZapfHumnst BT" pitchFamily="34" charset="0"/>
            </a:endParaRPr>
          </a:p>
        </p:txBody>
      </p:sp>
    </p:spTree>
    <p:extLst>
      <p:ext uri="{BB962C8B-B14F-4D97-AF65-F5344CB8AC3E}">
        <p14:creationId xmlns:p14="http://schemas.microsoft.com/office/powerpoint/2010/main" val="1050148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569513" y="1202043"/>
            <a:ext cx="1911295" cy="65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261" tIns="51131" rIns="102261" bIns="51131">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sz="900">
                <a:solidFill>
                  <a:schemeClr val="tx1"/>
                </a:solidFill>
                <a:latin typeface="ZapfHumnst BT" pitchFamily="34" charset="0"/>
              </a:rPr>
              <a:t>This is the hump back chart that was first introduced in the Best Practices of Software Engineering module.</a:t>
            </a:r>
          </a:p>
        </p:txBody>
      </p:sp>
      <p:sp>
        <p:nvSpPr>
          <p:cNvPr id="120835" name="Rectangle 3"/>
          <p:cNvSpPr>
            <a:spLocks noGrp="1" noRot="1" noChangeAspect="1" noChangeArrowheads="1" noTextEdit="1"/>
          </p:cNvSpPr>
          <p:nvPr>
            <p:ph type="sldImg"/>
          </p:nvPr>
        </p:nvSpPr>
        <p:spPr>
          <a:xfrm>
            <a:off x="2460625" y="833438"/>
            <a:ext cx="4037013" cy="3028950"/>
          </a:xfrm>
          <a:ln/>
        </p:spPr>
      </p:sp>
      <p:sp>
        <p:nvSpPr>
          <p:cNvPr id="120836" name="Rectangle 4"/>
          <p:cNvSpPr>
            <a:spLocks noGrp="1" noChangeArrowheads="1"/>
          </p:cNvSpPr>
          <p:nvPr>
            <p:ph type="body" idx="1"/>
          </p:nvPr>
        </p:nvSpPr>
        <p:spPr>
          <a:xfrm>
            <a:off x="2485280" y="4093606"/>
            <a:ext cx="3968695" cy="394070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The Business Modeling discipline provides organizational context for the system.This is the context in which the requirements are defined and analyzed.</a:t>
            </a:r>
          </a:p>
          <a:p>
            <a:pPr eaLnBrk="1" fontAlgn="t" hangingPunct="1"/>
            <a:r>
              <a:rPr lang="en-US" sz="900">
                <a:latin typeface="ZapfHumnst BT" pitchFamily="34" charset="0"/>
              </a:rPr>
              <a:t>The purpose of the Requirements discipline is: </a:t>
            </a:r>
          </a:p>
          <a:p>
            <a:pPr marL="216553" lvl="1" indent="-108276" fontAlgn="t">
              <a:buFontTx/>
              <a:buChar char="•"/>
            </a:pPr>
            <a:r>
              <a:rPr lang="en-US" sz="900">
                <a:latin typeface="ZapfHumnst BT" pitchFamily="34" charset="0"/>
              </a:rPr>
              <a:t>To establish and maintain agreement with the customers and other stakeholders on what the system should do. </a:t>
            </a:r>
          </a:p>
          <a:p>
            <a:pPr marL="216553" lvl="1" indent="-108276" fontAlgn="t">
              <a:buFontTx/>
              <a:buChar char="•"/>
            </a:pPr>
            <a:r>
              <a:rPr lang="en-US" sz="900">
                <a:latin typeface="ZapfHumnst BT" pitchFamily="34" charset="0"/>
              </a:rPr>
              <a:t>To provide system developers with a better understanding of the system requirements. </a:t>
            </a:r>
          </a:p>
          <a:p>
            <a:pPr marL="216553" lvl="1" indent="-108276" fontAlgn="t">
              <a:buFontTx/>
              <a:buChar char="•"/>
            </a:pPr>
            <a:r>
              <a:rPr lang="en-US" sz="900">
                <a:latin typeface="ZapfHumnst BT" pitchFamily="34" charset="0"/>
              </a:rPr>
              <a:t>To define the boundaries of (delimit) the system. </a:t>
            </a:r>
          </a:p>
          <a:p>
            <a:pPr marL="216553" lvl="1" indent="-108276" fontAlgn="t">
              <a:buFontTx/>
              <a:buChar char="•"/>
            </a:pPr>
            <a:r>
              <a:rPr lang="en-US" sz="900">
                <a:latin typeface="ZapfHumnst BT" pitchFamily="34" charset="0"/>
              </a:rPr>
              <a:t>To provide a basis for planning the technical contents of iterations. </a:t>
            </a:r>
          </a:p>
          <a:p>
            <a:pPr marL="216553" lvl="1" indent="-108276" fontAlgn="t">
              <a:buFontTx/>
              <a:buChar char="•"/>
            </a:pPr>
            <a:r>
              <a:rPr lang="en-US" sz="900">
                <a:latin typeface="ZapfHumnst BT" pitchFamily="34" charset="0"/>
              </a:rPr>
              <a:t>To provide a basis for estimating cost and time to develop the system. </a:t>
            </a:r>
          </a:p>
          <a:p>
            <a:pPr marL="216553" lvl="1" indent="-108276" fontAlgn="t">
              <a:buFontTx/>
              <a:buChar char="•"/>
            </a:pPr>
            <a:r>
              <a:rPr lang="en-US" sz="900">
                <a:latin typeface="ZapfHumnst BT" pitchFamily="34" charset="0"/>
              </a:rPr>
              <a:t>To define a user-interface for the system, focusing on the needs and goals of the users. </a:t>
            </a:r>
          </a:p>
          <a:p>
            <a:pPr eaLnBrk="1" fontAlgn="t" hangingPunct="1"/>
            <a:r>
              <a:rPr lang="en-US" sz="900">
                <a:latin typeface="ZapfHumnst BT" pitchFamily="34" charset="0"/>
              </a:rPr>
              <a:t>The Analysis and Design discipline gets its primary input (the Use-Case Model and the Glossary) from Requirements. Flaws in the Use-Case Model can be discovered during Analysis and Design; change requests are then generated, and applied to the Use-Case Model. </a:t>
            </a:r>
          </a:p>
        </p:txBody>
      </p:sp>
    </p:spTree>
    <p:extLst>
      <p:ext uri="{BB962C8B-B14F-4D97-AF65-F5344CB8AC3E}">
        <p14:creationId xmlns:p14="http://schemas.microsoft.com/office/powerpoint/2010/main" val="3757470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502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2571750" y="839788"/>
            <a:ext cx="4057650" cy="3044825"/>
          </a:xfrm>
          <a:ln/>
        </p:spPr>
      </p:sp>
      <p:sp>
        <p:nvSpPr>
          <p:cNvPr id="122883"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22884"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Explain the module objectives.</a:t>
            </a:r>
          </a:p>
        </p:txBody>
      </p:sp>
    </p:spTree>
    <p:extLst>
      <p:ext uri="{BB962C8B-B14F-4D97-AF65-F5344CB8AC3E}">
        <p14:creationId xmlns:p14="http://schemas.microsoft.com/office/powerpoint/2010/main" val="3458968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2571750" y="839788"/>
            <a:ext cx="4057650" cy="3044825"/>
          </a:xfrm>
          <a:ln/>
        </p:spPr>
      </p:sp>
      <p:sp>
        <p:nvSpPr>
          <p:cNvPr id="123907"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23908"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The purpose of this slide is to tell the students that it takes a shift in thinking to go from the way they might be doing requirements management today to capturing requirements and use cases. It provides a context for the discussion that follows about actors and use cases.</a:t>
            </a:r>
          </a:p>
          <a:p>
            <a:pPr eaLnBrk="1" hangingPunct="1"/>
            <a:endParaRPr lang="en-US" sz="900">
              <a:solidFill>
                <a:schemeClr val="tx1"/>
              </a:solidFill>
            </a:endParaRPr>
          </a:p>
          <a:p>
            <a:pPr eaLnBrk="1" hangingPunct="1"/>
            <a:r>
              <a:rPr lang="en-US" sz="900">
                <a:solidFill>
                  <a:schemeClr val="tx1"/>
                </a:solidFill>
              </a:rPr>
              <a:t>Discussion: Ask the students how they capture their functional requirements today. Ask them what works and what does not work with their current techniques.</a:t>
            </a:r>
          </a:p>
        </p:txBody>
      </p:sp>
    </p:spTree>
    <p:extLst>
      <p:ext uri="{BB962C8B-B14F-4D97-AF65-F5344CB8AC3E}">
        <p14:creationId xmlns:p14="http://schemas.microsoft.com/office/powerpoint/2010/main" val="211408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2465388" y="833438"/>
            <a:ext cx="4040187" cy="3030537"/>
          </a:xfrm>
          <a:ln/>
        </p:spPr>
      </p:sp>
      <p:sp>
        <p:nvSpPr>
          <p:cNvPr id="124931" name="Rectangle 3"/>
          <p:cNvSpPr>
            <a:spLocks noGrp="1" noChangeArrowheads="1"/>
          </p:cNvSpPr>
          <p:nvPr>
            <p:ph type="body" idx="1"/>
          </p:nvPr>
        </p:nvSpPr>
        <p:spPr>
          <a:xfrm>
            <a:off x="2485280" y="4089064"/>
            <a:ext cx="3973167" cy="401942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900" b="1">
                <a:latin typeface="ZapfHumnst BT" pitchFamily="34" charset="0"/>
              </a:rPr>
              <a:t>A use-case model describes a system's functional requirements in terms of use cases.</a:t>
            </a:r>
            <a:r>
              <a:rPr lang="en-US" sz="900">
                <a:latin typeface="ZapfHumnst BT" pitchFamily="34" charset="0"/>
              </a:rPr>
              <a:t> </a:t>
            </a:r>
          </a:p>
          <a:p>
            <a:r>
              <a:rPr lang="en-US" sz="900">
                <a:latin typeface="ZapfHumnst BT" pitchFamily="34" charset="0"/>
              </a:rPr>
              <a:t>It is a model of the system's intended functionality (use cases) and its environment (actors). Use cases enable you to relate what you need from a system to how the system delivers on those needs.</a:t>
            </a:r>
          </a:p>
          <a:p>
            <a:r>
              <a:rPr lang="en-US" sz="900">
                <a:latin typeface="ZapfHumnst BT" pitchFamily="34" charset="0"/>
              </a:rPr>
              <a:t>Think of a use-case model as a menu, much like the menu you'd find in a restaurant. By looking at the menu, you know what's available to you, the individual dishes as well as their prices. You also know what kind of cuisine the restaurant serves: Italian, Mexican, Chinese, and so on. By looking at the menu, you get an overall impression of the dining experience that awaits you in that restaurant. The menu, in effect, "models" the restaurant's behavior. </a:t>
            </a:r>
          </a:p>
          <a:p>
            <a:r>
              <a:rPr lang="en-US" sz="900">
                <a:latin typeface="ZapfHumnst BT" pitchFamily="34" charset="0"/>
              </a:rPr>
              <a:t>Because it is a very powerful planning instrument, the use-case model is generally used in all phases of the development cycle by all team members.</a:t>
            </a:r>
            <a:endParaRPr lang="en-US"/>
          </a:p>
        </p:txBody>
      </p:sp>
      <p:sp>
        <p:nvSpPr>
          <p:cNvPr id="124932" name="Text Box 4"/>
          <p:cNvSpPr txBox="1">
            <a:spLocks noChangeArrowheads="1"/>
          </p:cNvSpPr>
          <p:nvPr/>
        </p:nvSpPr>
        <p:spPr bwMode="auto">
          <a:xfrm>
            <a:off x="445771" y="1224752"/>
            <a:ext cx="1735372"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99" tIns="51100" rIns="102199" bIns="51100"/>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latin typeface="ZapfHumnst BT" pitchFamily="34" charset="0"/>
              </a:rPr>
              <a:t>See student notes.</a:t>
            </a:r>
          </a:p>
        </p:txBody>
      </p:sp>
    </p:spTree>
    <p:extLst>
      <p:ext uri="{BB962C8B-B14F-4D97-AF65-F5344CB8AC3E}">
        <p14:creationId xmlns:p14="http://schemas.microsoft.com/office/powerpoint/2010/main" val="2550158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2465388" y="833438"/>
            <a:ext cx="4040187" cy="3030537"/>
          </a:xfrm>
          <a:ln/>
        </p:spPr>
      </p:sp>
      <p:sp>
        <p:nvSpPr>
          <p:cNvPr id="125955" name="Rectangle 3"/>
          <p:cNvSpPr>
            <a:spLocks noGrp="1" noChangeArrowheads="1"/>
          </p:cNvSpPr>
          <p:nvPr>
            <p:ph type="body" idx="1"/>
          </p:nvPr>
        </p:nvSpPr>
        <p:spPr>
          <a:xfrm>
            <a:off x="2485280" y="4090578"/>
            <a:ext cx="3973167" cy="40179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The use-case model consists of both diagrams and text. The diagrams give a visual overview of the system. The text gives descriptions of the actors and the use cases.</a:t>
            </a:r>
          </a:p>
          <a:p>
            <a:pPr eaLnBrk="1" hangingPunct="1"/>
            <a:r>
              <a:rPr lang="en-US" sz="900">
                <a:latin typeface="ZapfHumnst BT" pitchFamily="34" charset="0"/>
              </a:rPr>
              <a:t>Use cases involve writing text. Drawing the pictures is only a small part of the effort. Typically, more than 80 percent of all effort during requirements capture is to write the textual description of what happens in each use case, the non-functional requirements, and rules. The description of what happens is called the flow of events.</a:t>
            </a:r>
          </a:p>
          <a:p>
            <a:pPr eaLnBrk="1" hangingPunct="1"/>
            <a:r>
              <a:rPr lang="en-US" sz="900">
                <a:latin typeface="ZapfHumnst BT" pitchFamily="34" charset="0"/>
              </a:rPr>
              <a:t>Activity diagrams (previously known as flow charts) are another useful tool you can use to describe a use case. It is quite common to use an activity diagram to describe complex flows of events. When using activity diagrams, it is advisable to use swimlanes to represent each actor and the system. Without swimlanes, the activities float in a “semantic emptiness” and quickly become meaningless.</a:t>
            </a:r>
          </a:p>
          <a:p>
            <a:pPr eaLnBrk="1" hangingPunct="1"/>
            <a:r>
              <a:rPr lang="en-US" sz="900">
                <a:latin typeface="ZapfHumnst BT" pitchFamily="34" charset="0"/>
              </a:rPr>
              <a:t>The following diagram is an example from a Withdraw Cash use case for an ATM.</a:t>
            </a:r>
          </a:p>
        </p:txBody>
      </p:sp>
      <p:pic>
        <p:nvPicPr>
          <p:cNvPr id="1259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6760" y="6524941"/>
            <a:ext cx="2823707" cy="1583547"/>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sp>
        <p:nvSpPr>
          <p:cNvPr id="125957" name="Text Box 5"/>
          <p:cNvSpPr txBox="1">
            <a:spLocks noChangeArrowheads="1"/>
          </p:cNvSpPr>
          <p:nvPr/>
        </p:nvSpPr>
        <p:spPr bwMode="auto">
          <a:xfrm>
            <a:off x="445771" y="1224752"/>
            <a:ext cx="1730899" cy="682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171" tIns="43585" rIns="87171" bIns="129854"/>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lnSpc>
                <a:spcPct val="87000"/>
              </a:lnSpc>
              <a:spcBef>
                <a:spcPct val="40000"/>
              </a:spcBef>
            </a:pPr>
            <a:r>
              <a:rPr lang="en-US" sz="900">
                <a:solidFill>
                  <a:schemeClr val="tx1"/>
                </a:solidFill>
                <a:latin typeface="ZapfHumnst BT" pitchFamily="34" charset="0"/>
              </a:rPr>
              <a:t>The most important part of the use-case model is the text. Many people misinterpret the word “modeling” and believe that use cases are solely about drawing figures and arrows. </a:t>
            </a:r>
          </a:p>
        </p:txBody>
      </p:sp>
    </p:spTree>
    <p:extLst>
      <p:ext uri="{BB962C8B-B14F-4D97-AF65-F5344CB8AC3E}">
        <p14:creationId xmlns:p14="http://schemas.microsoft.com/office/powerpoint/2010/main" val="2395724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2465388" y="833438"/>
            <a:ext cx="4040187" cy="3030537"/>
          </a:xfrm>
          <a:ln/>
        </p:spPr>
      </p:sp>
      <p:sp>
        <p:nvSpPr>
          <p:cNvPr id="126979" name="Rectangle 3"/>
          <p:cNvSpPr>
            <a:spLocks noGrp="1" noChangeArrowheads="1"/>
          </p:cNvSpPr>
          <p:nvPr>
            <p:ph type="body" idx="1"/>
          </p:nvPr>
        </p:nvSpPr>
        <p:spPr>
          <a:xfrm>
            <a:off x="2485280" y="4090578"/>
            <a:ext cx="3970185" cy="40179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An </a:t>
            </a:r>
            <a:r>
              <a:rPr lang="en-US" sz="900" b="1">
                <a:latin typeface="ZapfHumnst BT" pitchFamily="34" charset="0"/>
              </a:rPr>
              <a:t>actor </a:t>
            </a:r>
            <a:r>
              <a:rPr lang="en-US" sz="900">
                <a:latin typeface="ZapfHumnst BT" pitchFamily="34" charset="0"/>
              </a:rPr>
              <a:t>represents a role that interacts with the system.</a:t>
            </a:r>
          </a:p>
          <a:p>
            <a:pPr eaLnBrk="1" hangingPunct="1"/>
            <a:r>
              <a:rPr lang="en-US" sz="900">
                <a:latin typeface="ZapfHumnst BT" pitchFamily="34" charset="0"/>
              </a:rPr>
              <a:t>A </a:t>
            </a:r>
            <a:r>
              <a:rPr lang="en-US" sz="900" b="1">
                <a:latin typeface="ZapfHumnst BT" pitchFamily="34" charset="0"/>
              </a:rPr>
              <a:t>use case</a:t>
            </a:r>
            <a:r>
              <a:rPr lang="en-US" sz="900">
                <a:latin typeface="ZapfHumnst BT" pitchFamily="34" charset="0"/>
              </a:rPr>
              <a:t> describes a sequence of interactions between actors and the system that occur when an actor uses the system to achieve a certain business goal.</a:t>
            </a:r>
          </a:p>
          <a:p>
            <a:pPr eaLnBrk="1" hangingPunct="1"/>
            <a:r>
              <a:rPr lang="en-US" sz="900">
                <a:latin typeface="ZapfHumnst BT" pitchFamily="34" charset="0"/>
              </a:rPr>
              <a:t>A use case describes: </a:t>
            </a:r>
          </a:p>
          <a:p>
            <a:pPr marL="270691" lvl="1" indent="-112788">
              <a:buFontTx/>
              <a:buChar char="•"/>
            </a:pPr>
            <a:r>
              <a:rPr lang="en-US" sz="900">
                <a:latin typeface="ZapfHumnst BT" pitchFamily="34" charset="0"/>
              </a:rPr>
              <a:t>The system, its environment, and the relationship between them. </a:t>
            </a:r>
          </a:p>
          <a:p>
            <a:pPr marL="270691" lvl="1" indent="-112788">
              <a:buFontTx/>
              <a:buChar char="•"/>
            </a:pPr>
            <a:r>
              <a:rPr lang="en-US" sz="900">
                <a:latin typeface="ZapfHumnst BT" pitchFamily="34" charset="0"/>
              </a:rPr>
              <a:t>How things outside the system interact with the system.</a:t>
            </a:r>
          </a:p>
          <a:p>
            <a:pPr marL="270691" lvl="1" indent="-112788">
              <a:buFontTx/>
              <a:buChar char="•"/>
            </a:pPr>
            <a:r>
              <a:rPr lang="en-US" sz="900">
                <a:latin typeface="ZapfHumnst BT" pitchFamily="34" charset="0"/>
              </a:rPr>
              <a:t>The desired behavior for the system.</a:t>
            </a:r>
          </a:p>
          <a:p>
            <a:pPr eaLnBrk="1" hangingPunct="1"/>
            <a:r>
              <a:rPr lang="en-US" sz="900">
                <a:latin typeface="ZapfHumnst BT" pitchFamily="34" charset="0"/>
              </a:rPr>
              <a:t>Use cases are containers for contextually related requirements of the system under development. They are containers because they group all requirements related to achieving a particular goal into a single story of how that is achieved.</a:t>
            </a:r>
          </a:p>
          <a:p>
            <a:pPr eaLnBrk="1" hangingPunct="1"/>
            <a:r>
              <a:rPr lang="en-US" sz="900">
                <a:latin typeface="ZapfHumnst BT" pitchFamily="34" charset="0"/>
              </a:rPr>
              <a:t>A use case is shown as an ellipse containing the name of the use case. An optional presentation is to place the use case name under the ellipse.</a:t>
            </a:r>
          </a:p>
          <a:p>
            <a:pPr eaLnBrk="1" hangingPunct="1"/>
            <a:endParaRPr lang="en-US" sz="900">
              <a:latin typeface="ZapfHumnst BT" pitchFamily="34" charset="0"/>
            </a:endParaRPr>
          </a:p>
        </p:txBody>
      </p:sp>
      <p:sp>
        <p:nvSpPr>
          <p:cNvPr id="126980" name="Rectangle 4"/>
          <p:cNvSpPr>
            <a:spLocks noChangeArrowheads="1"/>
          </p:cNvSpPr>
          <p:nvPr/>
        </p:nvSpPr>
        <p:spPr bwMode="auto">
          <a:xfrm>
            <a:off x="152069" y="1214154"/>
            <a:ext cx="2286994" cy="613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22" tIns="44262" rIns="88522" bIns="44262"/>
          <a:lstStyle/>
          <a:p>
            <a:pPr defTabSz="879746" eaLnBrk="0" hangingPunct="0">
              <a:lnSpc>
                <a:spcPct val="87000"/>
              </a:lnSpc>
              <a:spcBef>
                <a:spcPct val="30000"/>
              </a:spcBef>
            </a:pPr>
            <a:endParaRPr lang="en-US" sz="900">
              <a:latin typeface="ZapfHumnst BT" pitchFamily="34" charset="0"/>
            </a:endParaRPr>
          </a:p>
          <a:p>
            <a:pPr defTabSz="879746" eaLnBrk="0" hangingPunct="0">
              <a:lnSpc>
                <a:spcPct val="87000"/>
              </a:lnSpc>
              <a:spcBef>
                <a:spcPct val="30000"/>
              </a:spcBef>
            </a:pPr>
            <a:r>
              <a:rPr lang="en-US" sz="900">
                <a:latin typeface="ZapfHumnst BT" pitchFamily="34" charset="0"/>
              </a:rPr>
              <a:t> </a:t>
            </a:r>
          </a:p>
          <a:p>
            <a:pPr defTabSz="879746" eaLnBrk="0" hangingPunct="0">
              <a:lnSpc>
                <a:spcPct val="87000"/>
              </a:lnSpc>
              <a:spcBef>
                <a:spcPct val="30000"/>
              </a:spcBef>
            </a:pPr>
            <a:endParaRPr lang="en-US" sz="900">
              <a:latin typeface="ZapfHumnst BT" pitchFamily="34" charset="0"/>
            </a:endParaRPr>
          </a:p>
          <a:p>
            <a:pPr defTabSz="879746" eaLnBrk="0" hangingPunct="0">
              <a:lnSpc>
                <a:spcPct val="87000"/>
              </a:lnSpc>
              <a:spcBef>
                <a:spcPct val="30000"/>
              </a:spcBef>
            </a:pPr>
            <a:endParaRPr lang="en-US" sz="900">
              <a:latin typeface="ZapfHumnst BT" pitchFamily="34" charset="0"/>
            </a:endParaRPr>
          </a:p>
        </p:txBody>
      </p:sp>
      <p:sp>
        <p:nvSpPr>
          <p:cNvPr id="126981" name="Text Box 5"/>
          <p:cNvSpPr txBox="1">
            <a:spLocks noChangeArrowheads="1"/>
          </p:cNvSpPr>
          <p:nvPr/>
        </p:nvSpPr>
        <p:spPr bwMode="auto">
          <a:xfrm>
            <a:off x="445771" y="1224752"/>
            <a:ext cx="1735372"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99" tIns="51100" rIns="102199" bIns="51100"/>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r>
              <a:rPr lang="en-US" sz="900">
                <a:solidFill>
                  <a:schemeClr val="tx1"/>
                </a:solidFill>
                <a:latin typeface="ZapfHumnst BT" pitchFamily="34" charset="0"/>
              </a:rPr>
              <a:t>These are informal definitions of the two major modeling elements in use-case modeling of system requirements. Go through the definitions briefly.</a:t>
            </a:r>
          </a:p>
          <a:p>
            <a:pPr>
              <a:lnSpc>
                <a:spcPct val="87000"/>
              </a:lnSpc>
              <a:spcBef>
                <a:spcPct val="40000"/>
              </a:spcBef>
              <a:spcAft>
                <a:spcPts val="568"/>
              </a:spcAft>
            </a:pPr>
            <a:endParaRPr lang="en-US" sz="900">
              <a:solidFill>
                <a:schemeClr val="tx1"/>
              </a:solidFill>
              <a:latin typeface="ZapfHumnst BT" pitchFamily="34" charset="0"/>
            </a:endParaRPr>
          </a:p>
        </p:txBody>
      </p:sp>
      <p:grpSp>
        <p:nvGrpSpPr>
          <p:cNvPr id="126982" name="Group 6"/>
          <p:cNvGrpSpPr>
            <a:grpSpLocks/>
          </p:cNvGrpSpPr>
          <p:nvPr/>
        </p:nvGrpSpPr>
        <p:grpSpPr bwMode="auto">
          <a:xfrm>
            <a:off x="3935896" y="6699040"/>
            <a:ext cx="891540" cy="501103"/>
            <a:chOff x="2496" y="4176"/>
            <a:chExt cx="576" cy="317"/>
          </a:xfrm>
        </p:grpSpPr>
        <p:sp>
          <p:nvSpPr>
            <p:cNvPr id="126983" name="Oval 7"/>
            <p:cNvSpPr>
              <a:spLocks noChangeArrowheads="1"/>
            </p:cNvSpPr>
            <p:nvPr/>
          </p:nvSpPr>
          <p:spPr bwMode="auto">
            <a:xfrm>
              <a:off x="2496" y="4176"/>
              <a:ext cx="528" cy="1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7885" tIns="53943" rIns="107885" bIns="53943" anchor="ctr"/>
            <a:lstStyle/>
            <a:p>
              <a:pPr algn="ctr" eaLnBrk="0" hangingPunct="0"/>
              <a:endParaRPr lang="en-US" sz="1900"/>
            </a:p>
          </p:txBody>
        </p:sp>
        <p:sp>
          <p:nvSpPr>
            <p:cNvPr id="126984" name="Text Box 8"/>
            <p:cNvSpPr txBox="1">
              <a:spLocks noChangeArrowheads="1"/>
            </p:cNvSpPr>
            <p:nvPr/>
          </p:nvSpPr>
          <p:spPr bwMode="auto">
            <a:xfrm>
              <a:off x="2536" y="4282"/>
              <a:ext cx="53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0" tIns="46010" rIns="92020" bIns="137078">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ts val="947"/>
                </a:spcBef>
              </a:pPr>
              <a:r>
                <a:rPr lang="en-US" sz="900">
                  <a:solidFill>
                    <a:schemeClr val="tx1"/>
                  </a:solidFill>
                </a:rPr>
                <a:t>Use Case</a:t>
              </a:r>
            </a:p>
          </p:txBody>
        </p:sp>
      </p:grpSp>
    </p:spTree>
    <p:extLst>
      <p:ext uri="{BB962C8B-B14F-4D97-AF65-F5344CB8AC3E}">
        <p14:creationId xmlns:p14="http://schemas.microsoft.com/office/powerpoint/2010/main" val="3868674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2571750" y="839788"/>
            <a:ext cx="4057650" cy="3044825"/>
          </a:xfrm>
          <a:ln/>
        </p:spPr>
      </p:sp>
      <p:sp>
        <p:nvSpPr>
          <p:cNvPr id="128003"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An informal way to define actor is: someone or something outside of the system, acting in a role that interacts with the system.</a:t>
            </a:r>
          </a:p>
          <a:p>
            <a:pPr eaLnBrk="1" hangingPunct="1"/>
            <a:r>
              <a:rPr lang="en-US" sz="800"/>
              <a:t>For example, in a university-based course registration system, actors might include: Student, Professor, Registrar, and Course Catalog System.</a:t>
            </a:r>
          </a:p>
        </p:txBody>
      </p:sp>
      <p:sp>
        <p:nvSpPr>
          <p:cNvPr id="128004"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In the flow of this module, we have purposely decided to discuss actors and use cases before introducing the concept of the use-case model.</a:t>
            </a:r>
          </a:p>
        </p:txBody>
      </p:sp>
    </p:spTree>
    <p:extLst>
      <p:ext uri="{BB962C8B-B14F-4D97-AF65-F5344CB8AC3E}">
        <p14:creationId xmlns:p14="http://schemas.microsoft.com/office/powerpoint/2010/main" val="4143174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3900115" y="10598"/>
            <a:ext cx="2990684" cy="426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129027" name="Rectangle 3"/>
          <p:cNvSpPr>
            <a:spLocks noChangeArrowheads="1"/>
          </p:cNvSpPr>
          <p:nvPr/>
        </p:nvSpPr>
        <p:spPr bwMode="auto">
          <a:xfrm>
            <a:off x="-32799" y="8704967"/>
            <a:ext cx="2989194" cy="425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569" tIns="43285" rIns="86569" bIns="43285" anchor="ctr"/>
          <a:lstStyle/>
          <a:p>
            <a:pPr algn="ctr" eaLnBrk="0" hangingPunct="0">
              <a:lnSpc>
                <a:spcPct val="87000"/>
              </a:lnSpc>
              <a:spcBef>
                <a:spcPct val="30000"/>
              </a:spcBef>
            </a:pPr>
            <a:endParaRPr lang="en-US" sz="1900">
              <a:solidFill>
                <a:schemeClr val="bg2"/>
              </a:solidFill>
            </a:endParaRPr>
          </a:p>
        </p:txBody>
      </p:sp>
      <p:sp>
        <p:nvSpPr>
          <p:cNvPr id="129028" name="Rectangle 4"/>
          <p:cNvSpPr>
            <a:spLocks noChangeArrowheads="1"/>
          </p:cNvSpPr>
          <p:nvPr/>
        </p:nvSpPr>
        <p:spPr bwMode="auto">
          <a:xfrm>
            <a:off x="-32799" y="10598"/>
            <a:ext cx="2989194" cy="426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569" tIns="43285" rIns="86569" bIns="43285" anchor="ctr"/>
          <a:lstStyle/>
          <a:p>
            <a:pPr algn="ctr" eaLnBrk="0" hangingPunct="0">
              <a:lnSpc>
                <a:spcPct val="87000"/>
              </a:lnSpc>
              <a:spcBef>
                <a:spcPct val="30000"/>
              </a:spcBef>
            </a:pPr>
            <a:endParaRPr lang="en-US" sz="1900">
              <a:solidFill>
                <a:schemeClr val="bg2"/>
              </a:solidFill>
            </a:endParaRPr>
          </a:p>
        </p:txBody>
      </p:sp>
      <p:sp>
        <p:nvSpPr>
          <p:cNvPr id="129029" name="Rectangle 5"/>
          <p:cNvSpPr>
            <a:spLocks noGrp="1" noRot="1" noChangeAspect="1" noChangeArrowheads="1" noTextEdit="1"/>
          </p:cNvSpPr>
          <p:nvPr>
            <p:ph type="sldImg"/>
          </p:nvPr>
        </p:nvSpPr>
        <p:spPr>
          <a:xfrm>
            <a:off x="2465388" y="833438"/>
            <a:ext cx="4040187" cy="3030537"/>
          </a:xfrm>
          <a:ln/>
        </p:spPr>
      </p:sp>
      <p:sp>
        <p:nvSpPr>
          <p:cNvPr id="129030" name="Rectangle 6"/>
          <p:cNvSpPr>
            <a:spLocks noGrp="1" noChangeArrowheads="1"/>
          </p:cNvSpPr>
          <p:nvPr>
            <p:ph type="body" idx="1"/>
          </p:nvPr>
        </p:nvSpPr>
        <p:spPr>
          <a:xfrm>
            <a:off x="2485280" y="4090578"/>
            <a:ext cx="3973167" cy="40179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A use case describes a set of possible executions of the system. It describes a complete flow through the system until the resulting value is achieved for some actor. </a:t>
            </a:r>
          </a:p>
          <a:p>
            <a:pPr marL="216553" lvl="1" indent="-108276">
              <a:lnSpc>
                <a:spcPct val="85000"/>
              </a:lnSpc>
              <a:buFontTx/>
              <a:buChar char="•"/>
            </a:pPr>
            <a:r>
              <a:rPr lang="en-US" sz="900">
                <a:latin typeface="ZapfHumnst BT" pitchFamily="34" charset="0"/>
              </a:rPr>
              <a:t>“</a:t>
            </a:r>
            <a:r>
              <a:rPr lang="en-US" sz="900" b="1">
                <a:latin typeface="ZapfHumnst BT" pitchFamily="34" charset="0"/>
              </a:rPr>
              <a:t>Sequence of actions</a:t>
            </a:r>
            <a:r>
              <a:rPr lang="en-US" sz="900">
                <a:latin typeface="ZapfHumnst BT" pitchFamily="34" charset="0"/>
              </a:rPr>
              <a:t>”: Atomic activities, decisions, and requests. Each action is performed fully or not at all.</a:t>
            </a:r>
          </a:p>
          <a:p>
            <a:pPr marL="216553" lvl="1" indent="-108276">
              <a:lnSpc>
                <a:spcPct val="85000"/>
              </a:lnSpc>
              <a:buFontTx/>
              <a:buChar char="•"/>
            </a:pPr>
            <a:r>
              <a:rPr lang="en-US" sz="900">
                <a:latin typeface="ZapfHumnst BT" pitchFamily="34" charset="0"/>
              </a:rPr>
              <a:t>“</a:t>
            </a:r>
            <a:r>
              <a:rPr lang="en-US" sz="900" b="1">
                <a:latin typeface="ZapfHumnst BT" pitchFamily="34" charset="0"/>
              </a:rPr>
              <a:t>Performed by a system</a:t>
            </a:r>
            <a:r>
              <a:rPr lang="en-US" sz="900">
                <a:latin typeface="ZapfHumnst BT" pitchFamily="34" charset="0"/>
              </a:rPr>
              <a:t>”: The actions performed by the system are the functional requirements.</a:t>
            </a:r>
          </a:p>
          <a:p>
            <a:pPr marL="216553" lvl="1" indent="-108276">
              <a:lnSpc>
                <a:spcPct val="85000"/>
              </a:lnSpc>
              <a:buFontTx/>
              <a:buChar char="•"/>
            </a:pPr>
            <a:r>
              <a:rPr lang="en-US" sz="900">
                <a:latin typeface="ZapfHumnst BT" pitchFamily="34" charset="0"/>
              </a:rPr>
              <a:t>“</a:t>
            </a:r>
            <a:r>
              <a:rPr lang="en-US" sz="900" b="1">
                <a:latin typeface="ZapfHumnst BT" pitchFamily="34" charset="0"/>
              </a:rPr>
              <a:t>Observable result of value</a:t>
            </a:r>
            <a:r>
              <a:rPr lang="en-US" sz="900">
                <a:latin typeface="ZapfHumnst BT" pitchFamily="34" charset="0"/>
              </a:rPr>
              <a:t>”: Make sure that the use case results in an observable value. Why would anybody use the system if it does not achieve a result of value? If nobody receives value from the use case, then the use case is probably too small. It needs to be combined with other use cases to provide a complete set of steps for achieving some goal for an actor.</a:t>
            </a:r>
          </a:p>
          <a:p>
            <a:pPr marL="216553" lvl="1" indent="-108276">
              <a:lnSpc>
                <a:spcPct val="85000"/>
              </a:lnSpc>
              <a:buFontTx/>
              <a:buChar char="•"/>
            </a:pPr>
            <a:r>
              <a:rPr lang="en-US" sz="900">
                <a:latin typeface="ZapfHumnst BT" pitchFamily="34" charset="0"/>
              </a:rPr>
              <a:t>“</a:t>
            </a:r>
            <a:r>
              <a:rPr lang="en-US" sz="900" b="1">
                <a:latin typeface="ZapfHumnst BT" pitchFamily="34" charset="0"/>
              </a:rPr>
              <a:t>To an actor</a:t>
            </a:r>
            <a:r>
              <a:rPr lang="en-US" sz="900">
                <a:latin typeface="ZapfHumnst BT" pitchFamily="34" charset="0"/>
              </a:rPr>
              <a:t>”: Decide which particular actor receives the value and helps avoid use cases that are too large. If more than one actor receives value from a use case, it might indicate that the use case is too big; it tries to do too much for too many actors. For example, in the Course Registration System, there could be just one use case, called “Operate the Registration System.” It would achieve a variety of results for a variety of actors. It would be so big that it is hard to understand. It needs to be broken into smaller use cases. Use cases that do not deliver something of value are too small and usually describe individual functions of the system. These use cases do not make sense on their own and must be avoided.</a:t>
            </a:r>
          </a:p>
          <a:p>
            <a:pPr eaLnBrk="1" hangingPunct="1"/>
            <a:r>
              <a:rPr lang="en-US" sz="900">
                <a:latin typeface="ZapfHumnst BT" pitchFamily="34" charset="0"/>
              </a:rPr>
              <a:t>Often the sequence of interactions in a use case involves several actors. But one actor receives the result of value. The actor receiving the value is sometimes called the primary actor. The actor receiving the value is usually, but not necessarily, the one who initiated the use case. </a:t>
            </a:r>
          </a:p>
        </p:txBody>
      </p:sp>
      <p:sp>
        <p:nvSpPr>
          <p:cNvPr id="129031" name="Rectangle 7"/>
          <p:cNvSpPr>
            <a:spLocks noChangeArrowheads="1"/>
          </p:cNvSpPr>
          <p:nvPr/>
        </p:nvSpPr>
        <p:spPr bwMode="auto">
          <a:xfrm>
            <a:off x="152069" y="1214154"/>
            <a:ext cx="2207978" cy="6205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22" tIns="44262" rIns="88522" bIns="44262"/>
          <a:lstStyle/>
          <a:p>
            <a:pPr defTabSz="879746" eaLnBrk="0" hangingPunct="0"/>
            <a:endParaRPr lang="en-US" sz="900"/>
          </a:p>
        </p:txBody>
      </p:sp>
      <p:sp>
        <p:nvSpPr>
          <p:cNvPr id="129032" name="Text Box 8"/>
          <p:cNvSpPr txBox="1">
            <a:spLocks noChangeArrowheads="1"/>
          </p:cNvSpPr>
          <p:nvPr/>
        </p:nvSpPr>
        <p:spPr bwMode="auto">
          <a:xfrm>
            <a:off x="445771" y="1224752"/>
            <a:ext cx="1735372"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99" tIns="51100" rIns="102199" bIns="51100"/>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pPr>
            <a:r>
              <a:rPr lang="en-US" sz="900" b="1">
                <a:solidFill>
                  <a:schemeClr val="tx1"/>
                </a:solidFill>
                <a:latin typeface="ZapfHumnst BT" pitchFamily="34" charset="0"/>
              </a:rPr>
              <a:t>Animation:</a:t>
            </a:r>
          </a:p>
          <a:p>
            <a:pPr>
              <a:lnSpc>
                <a:spcPct val="87000"/>
              </a:lnSpc>
              <a:spcBef>
                <a:spcPct val="40000"/>
              </a:spcBef>
            </a:pPr>
            <a:r>
              <a:rPr lang="en-US" sz="900">
                <a:solidFill>
                  <a:schemeClr val="tx1"/>
                </a:solidFill>
                <a:latin typeface="ZapfHumnst BT" pitchFamily="34" charset="0"/>
              </a:rPr>
              <a:t>The slide starts with the ellipse and its label. One mouse click starts the animation, and then it is automatic. The use case definition is “built” with each phrase appearing in blue then fading to yellow as you move to the next piece.</a:t>
            </a:r>
          </a:p>
          <a:p>
            <a:pPr>
              <a:lnSpc>
                <a:spcPct val="87000"/>
              </a:lnSpc>
              <a:spcBef>
                <a:spcPct val="40000"/>
              </a:spcBef>
            </a:pPr>
            <a:r>
              <a:rPr lang="en-US" sz="900">
                <a:solidFill>
                  <a:schemeClr val="tx1"/>
                </a:solidFill>
                <a:latin typeface="ZapfHumnst BT" pitchFamily="34" charset="0"/>
              </a:rPr>
              <a:t>Emphasize the importance of each of the key phrases in the definition of a use case.</a:t>
            </a:r>
          </a:p>
        </p:txBody>
      </p:sp>
    </p:spTree>
    <p:extLst>
      <p:ext uri="{BB962C8B-B14F-4D97-AF65-F5344CB8AC3E}">
        <p14:creationId xmlns:p14="http://schemas.microsoft.com/office/powerpoint/2010/main" val="657313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2571750" y="839788"/>
            <a:ext cx="4057650" cy="3044825"/>
          </a:xfrm>
          <a:ln/>
        </p:spPr>
      </p:sp>
      <p:sp>
        <p:nvSpPr>
          <p:cNvPr id="130051"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566" tIns="43782" rIns="87566" bIns="43782"/>
          <a:lstStyle/>
          <a:p>
            <a:pPr eaLnBrk="1" hangingPunct="1"/>
            <a:r>
              <a:rPr lang="en-US" sz="800"/>
              <a:t>Use cases contain the detailed functional requirements. </a:t>
            </a:r>
          </a:p>
          <a:p>
            <a:pPr eaLnBrk="1" hangingPunct="1"/>
            <a:r>
              <a:rPr lang="en-US" sz="800"/>
              <a:t>There is a dialog between the system and the actors.</a:t>
            </a:r>
          </a:p>
        </p:txBody>
      </p:sp>
      <p:sp>
        <p:nvSpPr>
          <p:cNvPr id="130052"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Remind students that use cases contain mainly functional requirements.</a:t>
            </a:r>
          </a:p>
          <a:p>
            <a:pPr eaLnBrk="1" hangingPunct="1"/>
            <a:endParaRPr lang="en-US" sz="900">
              <a:solidFill>
                <a:schemeClr val="tx1"/>
              </a:solidFill>
            </a:endParaRPr>
          </a:p>
        </p:txBody>
      </p:sp>
    </p:spTree>
    <p:extLst>
      <p:ext uri="{BB962C8B-B14F-4D97-AF65-F5344CB8AC3E}">
        <p14:creationId xmlns:p14="http://schemas.microsoft.com/office/powerpoint/2010/main" val="535990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2571750" y="839788"/>
            <a:ext cx="4057650" cy="3044825"/>
          </a:xfrm>
          <a:ln/>
        </p:spPr>
      </p:sp>
      <p:sp>
        <p:nvSpPr>
          <p:cNvPr id="131075"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The use-case model consists of both diagrams and text. The diagrams give a visual overview of the system. The text gives descriptions of the actors and the use cases.</a:t>
            </a:r>
          </a:p>
          <a:p>
            <a:pPr eaLnBrk="1" hangingPunct="1"/>
            <a:r>
              <a:rPr lang="en-US" sz="800"/>
              <a:t>The majority of the work in writing use cases is spent writing the textual portion of the use case.</a:t>
            </a:r>
          </a:p>
          <a:p>
            <a:pPr eaLnBrk="1" hangingPunct="1"/>
            <a:endParaRPr lang="en-US" sz="800"/>
          </a:p>
        </p:txBody>
      </p:sp>
      <p:sp>
        <p:nvSpPr>
          <p:cNvPr id="131076"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Point out that it takes relatively little effort to create the diagram; the main effort goes into writing the use cases.</a:t>
            </a:r>
          </a:p>
        </p:txBody>
      </p:sp>
    </p:spTree>
    <p:extLst>
      <p:ext uri="{BB962C8B-B14F-4D97-AF65-F5344CB8AC3E}">
        <p14:creationId xmlns:p14="http://schemas.microsoft.com/office/powerpoint/2010/main" val="880329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2571750" y="839788"/>
            <a:ext cx="4057650" cy="3044825"/>
          </a:xfrm>
          <a:ln/>
        </p:spPr>
      </p:sp>
      <p:sp>
        <p:nvSpPr>
          <p:cNvPr id="132099"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Use cases involve writing text. Drawing the pictures is only a small part of the effort. Typically, more than 80 percent of all effort during requirements capture is  writing the textual description of what happens in each use case, the non-functional requirements, and rules. </a:t>
            </a:r>
          </a:p>
          <a:p>
            <a:pPr eaLnBrk="1" hangingPunct="1"/>
            <a:r>
              <a:rPr lang="en-US" sz="800"/>
              <a:t>UML does NOT specify how the text of a use case should be structured, organized, or written.</a:t>
            </a:r>
          </a:p>
          <a:p>
            <a:pPr eaLnBrk="1" hangingPunct="1"/>
            <a:r>
              <a:rPr lang="en-US" sz="800"/>
              <a:t>How you write use cases will have a large impact on how easy they are to read, use, and test.</a:t>
            </a:r>
          </a:p>
          <a:p>
            <a:pPr eaLnBrk="1" hangingPunct="1"/>
            <a:endParaRPr lang="en-US" sz="800"/>
          </a:p>
          <a:p>
            <a:pPr eaLnBrk="1" hangingPunct="1"/>
            <a:endParaRPr lang="en-US"/>
          </a:p>
        </p:txBody>
      </p:sp>
      <p:sp>
        <p:nvSpPr>
          <p:cNvPr id="132100"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Point out to the students that all these terms will be explained later in the course.</a:t>
            </a:r>
          </a:p>
        </p:txBody>
      </p:sp>
    </p:spTree>
    <p:extLst>
      <p:ext uri="{BB962C8B-B14F-4D97-AF65-F5344CB8AC3E}">
        <p14:creationId xmlns:p14="http://schemas.microsoft.com/office/powerpoint/2010/main" val="1132711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2592388" y="838200"/>
            <a:ext cx="4060825" cy="3046413"/>
          </a:xfrm>
          <a:ln/>
        </p:spPr>
      </p:sp>
      <p:sp>
        <p:nvSpPr>
          <p:cNvPr id="133123"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Drawing a diagram that includes all the actors and use cases of a system helps convey the “big picture”—the high level essence of the system.</a:t>
            </a:r>
          </a:p>
          <a:p>
            <a:pPr eaLnBrk="1" hangingPunct="1"/>
            <a:r>
              <a:rPr lang="en-US" sz="800"/>
              <a:t>Sometimes a number of different use-case diagrams are required if there are many use cases for the system. </a:t>
            </a:r>
          </a:p>
          <a:p>
            <a:pPr eaLnBrk="1" hangingPunct="1"/>
            <a:endParaRPr lang="en-US" sz="800"/>
          </a:p>
          <a:p>
            <a:pPr eaLnBrk="1" hangingPunct="1"/>
            <a:endParaRPr lang="en-US" sz="800"/>
          </a:p>
        </p:txBody>
      </p:sp>
      <p:sp>
        <p:nvSpPr>
          <p:cNvPr id="133124"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Many people write use cases, but do not create use-case diagrams. But, a picture is truly worth a thousand words. Encourage students to create use-case diagrams. Point out that they do not need a tool to create them: pencil and paper work well also. </a:t>
            </a:r>
          </a:p>
        </p:txBody>
      </p:sp>
    </p:spTree>
    <p:extLst>
      <p:ext uri="{BB962C8B-B14F-4D97-AF65-F5344CB8AC3E}">
        <p14:creationId xmlns:p14="http://schemas.microsoft.com/office/powerpoint/2010/main" val="86585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2571750" y="839788"/>
            <a:ext cx="4057650" cy="3044825"/>
          </a:xfrm>
          <a:ln/>
        </p:spPr>
      </p:sp>
      <p:sp>
        <p:nvSpPr>
          <p:cNvPr id="134147"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Use cases defined for a system are the basis for the entire development process. They provide the unifying thread through the system and define the behavior performed by a system. Use cases play a role in each of the core process disciplines:</a:t>
            </a:r>
          </a:p>
          <a:p>
            <a:pPr marL="324829" lvl="1" indent="-216553">
              <a:buFontTx/>
              <a:buChar char="•"/>
            </a:pPr>
            <a:r>
              <a:rPr lang="en-US" sz="800"/>
              <a:t>The use-case model is a result of the requirements workflow. It models what the system should do from the user's perspective. </a:t>
            </a:r>
          </a:p>
          <a:p>
            <a:pPr marL="324829" lvl="1" indent="-216553">
              <a:buFontTx/>
              <a:buChar char="•"/>
            </a:pPr>
            <a:r>
              <a:rPr lang="en-US" sz="800"/>
              <a:t>In analysis and design, use cases are realized in a design model. You create use-case realizations, which describe how the use case is performed in terms of interacting objects in the design model. This model describes, in terms of design objects, the different parts of the implemented system and how the parts should interact to perform the use cases. </a:t>
            </a:r>
          </a:p>
          <a:p>
            <a:pPr marL="324829" lvl="1" indent="-216553">
              <a:buFontTx/>
              <a:buChar char="•"/>
            </a:pPr>
            <a:r>
              <a:rPr lang="en-US" sz="800"/>
              <a:t>During implementation, the design model is the implementation specification. Because use cases are the basis for the design model, they are implemented in terms of design classes. </a:t>
            </a:r>
          </a:p>
          <a:p>
            <a:pPr marL="324829" lvl="1" indent="-216553">
              <a:buFontTx/>
              <a:buChar char="•"/>
            </a:pPr>
            <a:r>
              <a:rPr lang="en-US" sz="800"/>
              <a:t>During testing, the use cases constitute a basis for identifying test cases and test procedures. The system is verified by performing each use case.</a:t>
            </a:r>
          </a:p>
          <a:p>
            <a:pPr eaLnBrk="1" hangingPunct="1"/>
            <a:r>
              <a:rPr lang="en-US" sz="800"/>
              <a:t>Use cases have other roles as well: </a:t>
            </a:r>
          </a:p>
          <a:p>
            <a:pPr marL="324829" lvl="1" indent="-216553">
              <a:buFontTx/>
              <a:buChar char="•"/>
            </a:pPr>
            <a:r>
              <a:rPr lang="en-US" sz="800"/>
              <a:t>Basis for planning iterative development.</a:t>
            </a:r>
          </a:p>
          <a:p>
            <a:pPr marL="324829" lvl="1" indent="-216553">
              <a:buFontTx/>
              <a:buChar char="•"/>
            </a:pPr>
            <a:r>
              <a:rPr lang="en-US" sz="800"/>
              <a:t>Foundation for what is described in user manuals.</a:t>
            </a:r>
          </a:p>
          <a:p>
            <a:pPr marL="324829" lvl="1" indent="-216553">
              <a:buFontTx/>
              <a:buChar char="•"/>
            </a:pPr>
            <a:r>
              <a:rPr lang="en-US" sz="800"/>
              <a:t>Definition of ordering units. For example, a customer can get a system configured with a particular set of use cases.</a:t>
            </a:r>
          </a:p>
        </p:txBody>
      </p:sp>
      <p:sp>
        <p:nvSpPr>
          <p:cNvPr id="134148" name="Text Box 4"/>
          <p:cNvSpPr txBox="1">
            <a:spLocks noChangeArrowheads="1"/>
          </p:cNvSpPr>
          <p:nvPr/>
        </p:nvSpPr>
        <p:spPr bwMode="auto">
          <a:xfrm>
            <a:off x="445770" y="1224752"/>
            <a:ext cx="1733881"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704" tIns="50853" rIns="101704" bIns="50853"/>
          <a:lstStyle>
            <a:lvl1pPr defTabSz="909638" eaLnBrk="0" hangingPunct="0">
              <a:defRPr sz="1600">
                <a:solidFill>
                  <a:schemeClr val="tx2"/>
                </a:solidFill>
                <a:latin typeface="Times New Roman" pitchFamily="18" charset="0"/>
              </a:defRPr>
            </a:lvl1pPr>
            <a:lvl2pPr marL="742950" indent="-285750" defTabSz="909638" eaLnBrk="0" hangingPunct="0">
              <a:defRPr sz="1600">
                <a:solidFill>
                  <a:schemeClr val="tx2"/>
                </a:solidFill>
                <a:latin typeface="Times New Roman" pitchFamily="18" charset="0"/>
              </a:defRPr>
            </a:lvl2pPr>
            <a:lvl3pPr marL="1143000" indent="-228600" defTabSz="909638" eaLnBrk="0" hangingPunct="0">
              <a:defRPr sz="1600">
                <a:solidFill>
                  <a:schemeClr val="tx2"/>
                </a:solidFill>
                <a:latin typeface="Times New Roman" pitchFamily="18" charset="0"/>
              </a:defRPr>
            </a:lvl3pPr>
            <a:lvl4pPr marL="1600200" indent="-228600" defTabSz="909638" eaLnBrk="0" hangingPunct="0">
              <a:defRPr sz="1600">
                <a:solidFill>
                  <a:schemeClr val="tx2"/>
                </a:solidFill>
                <a:latin typeface="Times New Roman" pitchFamily="18" charset="0"/>
              </a:defRPr>
            </a:lvl4pPr>
            <a:lvl5pPr marL="2057400" indent="-228600" defTabSz="909638" eaLnBrk="0" hangingPunct="0">
              <a:defRPr sz="1600">
                <a:solidFill>
                  <a:schemeClr val="tx2"/>
                </a:solidFill>
                <a:latin typeface="Times New Roman" pitchFamily="18" charset="0"/>
              </a:defRPr>
            </a:lvl5pPr>
            <a:lvl6pPr marL="2514600" indent="-228600" defTabSz="909638" eaLnBrk="0" fontAlgn="base" hangingPunct="0">
              <a:spcBef>
                <a:spcPct val="0"/>
              </a:spcBef>
              <a:spcAft>
                <a:spcPct val="0"/>
              </a:spcAft>
              <a:defRPr sz="1600">
                <a:solidFill>
                  <a:schemeClr val="tx2"/>
                </a:solidFill>
                <a:latin typeface="Times New Roman" pitchFamily="18" charset="0"/>
              </a:defRPr>
            </a:lvl6pPr>
            <a:lvl7pPr marL="2971800" indent="-228600" defTabSz="909638" eaLnBrk="0" fontAlgn="base" hangingPunct="0">
              <a:spcBef>
                <a:spcPct val="0"/>
              </a:spcBef>
              <a:spcAft>
                <a:spcPct val="0"/>
              </a:spcAft>
              <a:defRPr sz="1600">
                <a:solidFill>
                  <a:schemeClr val="tx2"/>
                </a:solidFill>
                <a:latin typeface="Times New Roman" pitchFamily="18" charset="0"/>
              </a:defRPr>
            </a:lvl7pPr>
            <a:lvl8pPr marL="3429000" indent="-228600" defTabSz="909638" eaLnBrk="0" fontAlgn="base" hangingPunct="0">
              <a:spcBef>
                <a:spcPct val="0"/>
              </a:spcBef>
              <a:spcAft>
                <a:spcPct val="0"/>
              </a:spcAft>
              <a:defRPr sz="1600">
                <a:solidFill>
                  <a:schemeClr val="tx2"/>
                </a:solidFill>
                <a:latin typeface="Times New Roman" pitchFamily="18" charset="0"/>
              </a:defRPr>
            </a:lvl8pPr>
            <a:lvl9pPr marL="3886200" indent="-228600" defTabSz="909638"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r>
              <a:rPr lang="en-US" sz="900">
                <a:solidFill>
                  <a:schemeClr val="tx1"/>
                </a:solidFill>
              </a:rPr>
              <a:t>Use-case driven: The use cases serve as a unifying thread throughout system development.</a:t>
            </a:r>
          </a:p>
          <a:p>
            <a:pPr>
              <a:lnSpc>
                <a:spcPct val="87000"/>
              </a:lnSpc>
              <a:spcBef>
                <a:spcPct val="40000"/>
              </a:spcBef>
              <a:spcAft>
                <a:spcPts val="568"/>
              </a:spcAft>
            </a:pPr>
            <a:r>
              <a:rPr lang="en-US" sz="900">
                <a:solidFill>
                  <a:schemeClr val="tx1"/>
                </a:solidFill>
              </a:rPr>
              <a:t>The same use-case model is used in requirements, analysis and design, implementation, and test.</a:t>
            </a:r>
          </a:p>
        </p:txBody>
      </p:sp>
    </p:spTree>
    <p:extLst>
      <p:ext uri="{BB962C8B-B14F-4D97-AF65-F5344CB8AC3E}">
        <p14:creationId xmlns:p14="http://schemas.microsoft.com/office/powerpoint/2010/main" val="2572559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ChangeArrowheads="1"/>
          </p:cNvSpPr>
          <p:nvPr/>
        </p:nvSpPr>
        <p:spPr bwMode="auto">
          <a:xfrm>
            <a:off x="3879243" y="-93862"/>
            <a:ext cx="3026465" cy="53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135171" name="Rectangle 3"/>
          <p:cNvSpPr>
            <a:spLocks noChangeArrowheads="1"/>
          </p:cNvSpPr>
          <p:nvPr/>
        </p:nvSpPr>
        <p:spPr bwMode="auto">
          <a:xfrm>
            <a:off x="-47707" y="8670147"/>
            <a:ext cx="3026465" cy="5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567" tIns="43284" rIns="86567" bIns="43284" anchor="ctr"/>
          <a:lstStyle/>
          <a:p>
            <a:pPr algn="ctr" defTabSz="864708" eaLnBrk="0" hangingPunct="0">
              <a:lnSpc>
                <a:spcPct val="87000"/>
              </a:lnSpc>
              <a:spcBef>
                <a:spcPct val="30000"/>
              </a:spcBef>
            </a:pPr>
            <a:endParaRPr lang="en-US" sz="1900">
              <a:solidFill>
                <a:schemeClr val="bg2"/>
              </a:solidFill>
            </a:endParaRPr>
          </a:p>
        </p:txBody>
      </p:sp>
      <p:sp>
        <p:nvSpPr>
          <p:cNvPr id="135172" name="Rectangle 4"/>
          <p:cNvSpPr>
            <a:spLocks noChangeArrowheads="1"/>
          </p:cNvSpPr>
          <p:nvPr/>
        </p:nvSpPr>
        <p:spPr bwMode="auto">
          <a:xfrm>
            <a:off x="-47707" y="-93862"/>
            <a:ext cx="3026465" cy="53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567" tIns="43284" rIns="86567" bIns="43284" anchor="ctr"/>
          <a:lstStyle/>
          <a:p>
            <a:pPr algn="ctr" defTabSz="864708" eaLnBrk="0" hangingPunct="0">
              <a:lnSpc>
                <a:spcPct val="87000"/>
              </a:lnSpc>
              <a:spcBef>
                <a:spcPct val="30000"/>
              </a:spcBef>
            </a:pPr>
            <a:endParaRPr lang="en-US" sz="1900">
              <a:solidFill>
                <a:schemeClr val="bg2"/>
              </a:solidFill>
            </a:endParaRPr>
          </a:p>
        </p:txBody>
      </p:sp>
      <p:sp>
        <p:nvSpPr>
          <p:cNvPr id="135173" name="Rectangle 5"/>
          <p:cNvSpPr>
            <a:spLocks noGrp="1" noRot="1" noChangeAspect="1" noChangeArrowheads="1" noTextEdit="1"/>
          </p:cNvSpPr>
          <p:nvPr>
            <p:ph type="sldImg"/>
          </p:nvPr>
        </p:nvSpPr>
        <p:spPr>
          <a:xfrm>
            <a:off x="2592388" y="838200"/>
            <a:ext cx="4060825" cy="3046413"/>
          </a:xfrm>
          <a:ln/>
        </p:spPr>
      </p:sp>
      <p:sp>
        <p:nvSpPr>
          <p:cNvPr id="135174" name="Rectangle 6"/>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Use cases are a way to organize requirements from a user perspective. All the requirements for a user to accomplish a particular task are gathered together in a single use case. The benefits of use cases include:</a:t>
            </a:r>
          </a:p>
          <a:p>
            <a:pPr marL="216553" lvl="1" indent="-108276">
              <a:buFontTx/>
              <a:buChar char="•"/>
            </a:pPr>
            <a:r>
              <a:rPr lang="en-US" sz="800"/>
              <a:t>Use cases show why the system is needed. Use cases show what goals the users can accomplish by using the system.</a:t>
            </a:r>
          </a:p>
          <a:p>
            <a:pPr marL="216553" lvl="1" indent="-108276">
              <a:buFontTx/>
              <a:buChar char="•"/>
            </a:pPr>
            <a:r>
              <a:rPr lang="en-US" sz="800"/>
              <a:t>System requirements are placed in context. Each requirement is part of a logical sequence of actions to accomplish a goal of a user. </a:t>
            </a:r>
          </a:p>
          <a:p>
            <a:pPr marL="216553" lvl="1" indent="-108276">
              <a:buFontTx/>
              <a:buChar char="•"/>
            </a:pPr>
            <a:r>
              <a:rPr lang="en-US" sz="800"/>
              <a:t>Use cases are easy to understand. They express requirements from a user perspective and in the user’s own vocabulary. Traditional forms of requirements capture need some translation to make them accessibly by different stakeholders. When you translate something, information is often lost or misinterpreted. Use cases require no such translation. Therefore, they provide a more consistent and reliable form of requirement capture. </a:t>
            </a:r>
          </a:p>
          <a:p>
            <a:pPr marL="216553" lvl="1" indent="-108276">
              <a:buFontTx/>
              <a:buChar char="•"/>
            </a:pPr>
            <a:r>
              <a:rPr lang="en-US" sz="800"/>
              <a:t>Use cases are a means to communicate requirements between customers and developers to ensure that the system that is built is what the customer wants.</a:t>
            </a:r>
          </a:p>
        </p:txBody>
      </p:sp>
      <p:sp>
        <p:nvSpPr>
          <p:cNvPr id="135175" name="Rectangle 7"/>
          <p:cNvSpPr>
            <a:spLocks noChangeArrowheads="1"/>
          </p:cNvSpPr>
          <p:nvPr/>
        </p:nvSpPr>
        <p:spPr bwMode="auto">
          <a:xfrm>
            <a:off x="152069" y="1135430"/>
            <a:ext cx="2286994" cy="7575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20" tIns="44261" rIns="88520" bIns="44261"/>
          <a:lstStyle/>
          <a:p>
            <a:pPr defTabSz="878242" eaLnBrk="0" hangingPunct="0"/>
            <a:endParaRPr lang="en-AU" sz="900">
              <a:latin typeface="ZapfHumnst BT" pitchFamily="34" charset="0"/>
            </a:endParaRPr>
          </a:p>
        </p:txBody>
      </p:sp>
      <p:sp>
        <p:nvSpPr>
          <p:cNvPr id="135176" name="Rectangle 8"/>
          <p:cNvSpPr>
            <a:spLocks noChangeArrowheads="1"/>
          </p:cNvSpPr>
          <p:nvPr/>
        </p:nvSpPr>
        <p:spPr bwMode="auto">
          <a:xfrm>
            <a:off x="457697" y="1288336"/>
            <a:ext cx="1842715" cy="7572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20" tIns="44261" rIns="88520" bIns="44261"/>
          <a:lstStyle/>
          <a:p>
            <a:pPr defTabSz="878242" eaLnBrk="0" hangingPunct="0"/>
            <a:r>
              <a:rPr lang="en-AU" sz="900"/>
              <a:t>Point out that use cases help facilitate agreement among stakeholders.</a:t>
            </a:r>
          </a:p>
        </p:txBody>
      </p:sp>
      <p:sp>
        <p:nvSpPr>
          <p:cNvPr id="135177" name="Text Box 9"/>
          <p:cNvSpPr txBox="1">
            <a:spLocks noChangeArrowheads="1"/>
          </p:cNvSpPr>
          <p:nvPr/>
        </p:nvSpPr>
        <p:spPr bwMode="auto">
          <a:xfrm>
            <a:off x="445771" y="1224752"/>
            <a:ext cx="1736863"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97" tIns="51099" rIns="102197" bIns="51099"/>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5000"/>
              </a:lnSpc>
              <a:spcBef>
                <a:spcPct val="30000"/>
              </a:spcBef>
            </a:pPr>
            <a:endParaRPr lang="en-US" sz="900">
              <a:solidFill>
                <a:schemeClr val="tx1"/>
              </a:solidFill>
            </a:endParaRPr>
          </a:p>
        </p:txBody>
      </p:sp>
    </p:spTree>
    <p:extLst>
      <p:ext uri="{BB962C8B-B14F-4D97-AF65-F5344CB8AC3E}">
        <p14:creationId xmlns:p14="http://schemas.microsoft.com/office/powerpoint/2010/main" val="28476979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2571750" y="839788"/>
            <a:ext cx="4057650" cy="3044825"/>
          </a:xfrm>
          <a:ln/>
        </p:spPr>
      </p:sp>
      <p:sp>
        <p:nvSpPr>
          <p:cNvPr id="136195"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Use cases are used by many different roles, for many purposes: </a:t>
            </a:r>
          </a:p>
          <a:p>
            <a:pPr marL="216553" lvl="1" indent="-108276">
              <a:buFontTx/>
              <a:buChar char="•"/>
            </a:pPr>
            <a:r>
              <a:rPr lang="en-US" sz="800"/>
              <a:t>By </a:t>
            </a:r>
            <a:r>
              <a:rPr lang="en-US" sz="800" b="1"/>
              <a:t>customers</a:t>
            </a:r>
            <a:r>
              <a:rPr lang="en-US" sz="800"/>
              <a:t> to describe—or at least approve—the description of the system's behavior. </a:t>
            </a:r>
          </a:p>
          <a:p>
            <a:pPr marL="216553" lvl="1" indent="-108276">
              <a:buFontTx/>
              <a:buChar char="•"/>
            </a:pPr>
            <a:r>
              <a:rPr lang="en-US" sz="800"/>
              <a:t>By potential </a:t>
            </a:r>
            <a:r>
              <a:rPr lang="en-US" sz="800" b="1"/>
              <a:t>users</a:t>
            </a:r>
            <a:r>
              <a:rPr lang="en-US" sz="800"/>
              <a:t> to understand the system's behavior. </a:t>
            </a:r>
          </a:p>
          <a:p>
            <a:pPr marL="216553" lvl="1" indent="-108276">
              <a:buFontTx/>
              <a:buChar char="•"/>
            </a:pPr>
            <a:r>
              <a:rPr lang="en-US" sz="800"/>
              <a:t>By </a:t>
            </a:r>
            <a:r>
              <a:rPr lang="en-US" sz="800" b="1"/>
              <a:t>software architects</a:t>
            </a:r>
            <a:r>
              <a:rPr lang="en-US" sz="800"/>
              <a:t> to identify architecturally significant functionality. </a:t>
            </a:r>
          </a:p>
          <a:p>
            <a:pPr marL="216553" lvl="1" indent="-108276">
              <a:buFontTx/>
              <a:buChar char="•"/>
            </a:pPr>
            <a:r>
              <a:rPr lang="en-US" sz="800"/>
              <a:t>By people who </a:t>
            </a:r>
            <a:r>
              <a:rPr lang="en-US" sz="800" b="1"/>
              <a:t>analyze</a:t>
            </a:r>
            <a:r>
              <a:rPr lang="en-US" sz="800"/>
              <a:t>, </a:t>
            </a:r>
            <a:r>
              <a:rPr lang="en-US" sz="800" b="1"/>
              <a:t>design</a:t>
            </a:r>
            <a:r>
              <a:rPr lang="en-US" sz="800"/>
              <a:t>, and </a:t>
            </a:r>
            <a:r>
              <a:rPr lang="en-US" sz="800" b="1"/>
              <a:t>implement</a:t>
            </a:r>
            <a:r>
              <a:rPr lang="en-US" sz="800"/>
              <a:t> the system to understand the required system behavior and to refine the system definition. </a:t>
            </a:r>
          </a:p>
          <a:p>
            <a:pPr marL="216553" lvl="1" indent="-108276">
              <a:buFontTx/>
              <a:buChar char="•"/>
            </a:pPr>
            <a:r>
              <a:rPr lang="en-US" sz="800"/>
              <a:t>By </a:t>
            </a:r>
            <a:r>
              <a:rPr lang="en-US" sz="800" b="1"/>
              <a:t>designers</a:t>
            </a:r>
            <a:r>
              <a:rPr lang="en-US" sz="800"/>
              <a:t> to identify classes from the use cases' flows of events. </a:t>
            </a:r>
          </a:p>
          <a:p>
            <a:pPr marL="216553" lvl="1" indent="-108276">
              <a:buFontTx/>
              <a:buChar char="•"/>
            </a:pPr>
            <a:r>
              <a:rPr lang="en-US" sz="800"/>
              <a:t>By </a:t>
            </a:r>
            <a:r>
              <a:rPr lang="en-US" sz="800" b="1"/>
              <a:t>testers</a:t>
            </a:r>
            <a:r>
              <a:rPr lang="en-US" sz="800"/>
              <a:t> as a basis for identifying a subset of the required test cases. </a:t>
            </a:r>
          </a:p>
          <a:p>
            <a:pPr marL="216553" lvl="1" indent="-108276">
              <a:buFontTx/>
              <a:buChar char="•"/>
            </a:pPr>
            <a:r>
              <a:rPr lang="en-US" sz="800"/>
              <a:t>By </a:t>
            </a:r>
            <a:r>
              <a:rPr lang="en-US" sz="800" b="1"/>
              <a:t>managers</a:t>
            </a:r>
            <a:r>
              <a:rPr lang="en-US" sz="800"/>
              <a:t> to plan and assess the work for each iteration. </a:t>
            </a:r>
          </a:p>
          <a:p>
            <a:pPr marL="216553" lvl="1" indent="-108276">
              <a:buFontTx/>
              <a:buChar char="•"/>
            </a:pPr>
            <a:r>
              <a:rPr lang="en-US" sz="800"/>
              <a:t>By </a:t>
            </a:r>
            <a:r>
              <a:rPr lang="en-US" sz="800" b="1"/>
              <a:t>documentation writers</a:t>
            </a:r>
            <a:r>
              <a:rPr lang="en-US" sz="800"/>
              <a:t> to understand the system behavior as it should be described for users in the documentation (such as the system user guide). </a:t>
            </a:r>
          </a:p>
          <a:p>
            <a:pPr eaLnBrk="1" hangingPunct="1"/>
            <a:endParaRPr lang="en-US" sz="800"/>
          </a:p>
        </p:txBody>
      </p:sp>
      <p:sp>
        <p:nvSpPr>
          <p:cNvPr id="136196"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Point out that everyone on the team should care about use cases.</a:t>
            </a:r>
          </a:p>
        </p:txBody>
      </p:sp>
    </p:spTree>
    <p:extLst>
      <p:ext uri="{BB962C8B-B14F-4D97-AF65-F5344CB8AC3E}">
        <p14:creationId xmlns:p14="http://schemas.microsoft.com/office/powerpoint/2010/main" val="387056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xfrm>
            <a:off x="2571750" y="839788"/>
            <a:ext cx="4057650" cy="3044825"/>
          </a:xfrm>
          <a:ln/>
        </p:spPr>
      </p:sp>
      <p:sp>
        <p:nvSpPr>
          <p:cNvPr id="137219"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sz="800"/>
              <a:t>Use-case modeling does not replace your entire requirements management process.  It is part of the process. There are other requirements management tasks and activities in the requirements management process. Some of those tasks and activities have a direct impact on writing good use cases.</a:t>
            </a:r>
          </a:p>
          <a:p>
            <a:pPr eaLnBrk="1" hangingPunct="1">
              <a:lnSpc>
                <a:spcPct val="85000"/>
              </a:lnSpc>
            </a:pPr>
            <a:r>
              <a:rPr lang="en-US" sz="800"/>
              <a:t>The diagram above shows the Requirements discipline in the Rational Unified Process (RUP). Each activity represents a high-level goal to achieve for effective requirements management. </a:t>
            </a:r>
          </a:p>
          <a:p>
            <a:pPr eaLnBrk="1" hangingPunct="1">
              <a:lnSpc>
                <a:spcPct val="85000"/>
              </a:lnSpc>
            </a:pPr>
            <a:r>
              <a:rPr lang="en-US" sz="800" b="1"/>
              <a:t>Analyze the Problem</a:t>
            </a:r>
            <a:endParaRPr lang="en-US" sz="800"/>
          </a:p>
          <a:p>
            <a:pPr eaLnBrk="1" hangingPunct="1">
              <a:lnSpc>
                <a:spcPct val="85000"/>
              </a:lnSpc>
            </a:pPr>
            <a:r>
              <a:rPr lang="en-US" sz="800"/>
              <a:t>The purpose of this activity is to gain agreement on the problem being solved. Analysis of the problem involves identifying the stakeholders, defining the boundary of, and identifying the constraints imposed on the system.</a:t>
            </a:r>
          </a:p>
          <a:p>
            <a:pPr eaLnBrk="1" hangingPunct="1">
              <a:lnSpc>
                <a:spcPct val="85000"/>
              </a:lnSpc>
            </a:pPr>
            <a:r>
              <a:rPr lang="en-US" sz="800" b="1"/>
              <a:t>Understand Stakeholder Needs</a:t>
            </a:r>
          </a:p>
          <a:p>
            <a:pPr eaLnBrk="1" hangingPunct="1">
              <a:lnSpc>
                <a:spcPct val="85000"/>
              </a:lnSpc>
            </a:pPr>
            <a:r>
              <a:rPr lang="en-US" sz="800"/>
              <a:t>The purpose of this activity is to understand the needs of the primary project stakeholders by gathering information about the desired or envisaged product.</a:t>
            </a:r>
          </a:p>
          <a:p>
            <a:pPr eaLnBrk="1" hangingPunct="1">
              <a:lnSpc>
                <a:spcPct val="85000"/>
              </a:lnSpc>
            </a:pPr>
            <a:r>
              <a:rPr lang="en-US" sz="800" b="1"/>
              <a:t>Define the System</a:t>
            </a:r>
          </a:p>
          <a:p>
            <a:pPr eaLnBrk="1" hangingPunct="1">
              <a:lnSpc>
                <a:spcPct val="85000"/>
              </a:lnSpc>
            </a:pPr>
            <a:r>
              <a:rPr lang="en-US" sz="800"/>
              <a:t>The purpose of this activity is to begin converging on the scope of the high-level requirements by outlining the breadth of the detailed requirements for the system.</a:t>
            </a:r>
          </a:p>
          <a:p>
            <a:pPr eaLnBrk="1" hangingPunct="1">
              <a:lnSpc>
                <a:spcPct val="85000"/>
              </a:lnSpc>
            </a:pPr>
            <a:r>
              <a:rPr lang="en-US" sz="800" b="1"/>
              <a:t>Manage the Scope of the System</a:t>
            </a:r>
          </a:p>
          <a:p>
            <a:pPr eaLnBrk="1" hangingPunct="1">
              <a:lnSpc>
                <a:spcPct val="85000"/>
              </a:lnSpc>
            </a:pPr>
            <a:r>
              <a:rPr lang="en-US" sz="800"/>
              <a:t>The purpose of this activity is to make the scope of the system being developed as explicit as possible, and focus on a manageable body of requirements work for a development cycle. </a:t>
            </a:r>
          </a:p>
          <a:p>
            <a:pPr eaLnBrk="1" hangingPunct="1">
              <a:lnSpc>
                <a:spcPct val="85000"/>
              </a:lnSpc>
            </a:pPr>
            <a:r>
              <a:rPr lang="en-US" sz="800" b="1"/>
              <a:t>Refine the System</a:t>
            </a:r>
          </a:p>
          <a:p>
            <a:pPr eaLnBrk="1" hangingPunct="1">
              <a:lnSpc>
                <a:spcPct val="85000"/>
              </a:lnSpc>
            </a:pPr>
            <a:r>
              <a:rPr lang="en-US" sz="800"/>
              <a:t>The purpose of this activity is to further refine the requirements in order to capture the consensus understanding of the system definition. </a:t>
            </a:r>
          </a:p>
          <a:p>
            <a:pPr eaLnBrk="1" hangingPunct="1">
              <a:lnSpc>
                <a:spcPct val="85000"/>
              </a:lnSpc>
            </a:pPr>
            <a:r>
              <a:rPr lang="en-US" sz="800" b="1"/>
              <a:t>Manage Changing Requirements</a:t>
            </a:r>
          </a:p>
          <a:p>
            <a:pPr eaLnBrk="1" hangingPunct="1">
              <a:lnSpc>
                <a:spcPct val="85000"/>
              </a:lnSpc>
            </a:pPr>
            <a:r>
              <a:rPr lang="en-US" sz="800"/>
              <a:t>The purpose of this activity is to assess the impact of requested changes to the requirements, and manage the downstream impact of the approved changes.</a:t>
            </a:r>
          </a:p>
          <a:p>
            <a:pPr eaLnBrk="1" hangingPunct="1">
              <a:lnSpc>
                <a:spcPct val="85000"/>
              </a:lnSpc>
            </a:pPr>
            <a:endParaRPr lang="en-US" sz="800"/>
          </a:p>
        </p:txBody>
      </p:sp>
      <p:sp>
        <p:nvSpPr>
          <p:cNvPr id="137220"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This slide is animated. Click the mouse to show connection between use case writing process and the RUP RM Workflow.</a:t>
            </a:r>
          </a:p>
          <a:p>
            <a:pPr eaLnBrk="1" hangingPunct="1"/>
            <a:endParaRPr lang="en-US" sz="900">
              <a:solidFill>
                <a:schemeClr val="tx1"/>
              </a:solidFill>
            </a:endParaRPr>
          </a:p>
          <a:p>
            <a:pPr eaLnBrk="1" hangingPunct="1"/>
            <a:r>
              <a:rPr lang="en-US" sz="900">
                <a:solidFill>
                  <a:schemeClr val="tx1"/>
                </a:solidFill>
              </a:rPr>
              <a:t>In this course, we will focus on finding actors and use cases, outlining use case, and detailing use cases.</a:t>
            </a:r>
          </a:p>
          <a:p>
            <a:pPr eaLnBrk="1" hangingPunct="1"/>
            <a:endParaRPr lang="en-US" sz="900">
              <a:solidFill>
                <a:schemeClr val="tx1"/>
              </a:solidFill>
            </a:endParaRPr>
          </a:p>
          <a:p>
            <a:pPr eaLnBrk="1" hangingPunct="1"/>
            <a:r>
              <a:rPr lang="en-US" sz="900">
                <a:solidFill>
                  <a:schemeClr val="tx1"/>
                </a:solidFill>
              </a:rPr>
              <a:t>This course references RUP, but is not confined by RUP.</a:t>
            </a:r>
          </a:p>
          <a:p>
            <a:pPr eaLnBrk="1" hangingPunct="1"/>
            <a:endParaRPr lang="en-US" sz="900">
              <a:solidFill>
                <a:schemeClr val="tx1"/>
              </a:solidFill>
            </a:endParaRPr>
          </a:p>
          <a:p>
            <a:pPr eaLnBrk="1" hangingPunct="1">
              <a:lnSpc>
                <a:spcPct val="90000"/>
              </a:lnSpc>
              <a:spcBef>
                <a:spcPct val="30000"/>
              </a:spcBef>
            </a:pPr>
            <a:r>
              <a:rPr lang="en-US" sz="900">
                <a:solidFill>
                  <a:schemeClr val="tx1"/>
                </a:solidFill>
              </a:rPr>
              <a:t>Remind student that use-case modeling does not replace the entire requirements management process. It is part of the process. There are other requirements management tasks and activities in the requirements management process.  Some of them have direct impact on writing good use cases.</a:t>
            </a:r>
          </a:p>
          <a:p>
            <a:pPr eaLnBrk="1" hangingPunct="1"/>
            <a:endParaRPr lang="en-US" sz="900">
              <a:solidFill>
                <a:schemeClr val="tx1"/>
              </a:solidFill>
            </a:endParaRPr>
          </a:p>
          <a:p>
            <a:pPr eaLnBrk="1" hangingPunct="1"/>
            <a:endParaRPr lang="en-US" sz="900">
              <a:solidFill>
                <a:schemeClr val="tx1"/>
              </a:solidFill>
            </a:endParaRPr>
          </a:p>
          <a:p>
            <a:pPr eaLnBrk="1" hangingPunct="1"/>
            <a:r>
              <a:rPr lang="en-US" sz="900">
                <a:solidFill>
                  <a:schemeClr val="tx1"/>
                </a:solidFill>
              </a:rPr>
              <a:t>  </a:t>
            </a:r>
          </a:p>
        </p:txBody>
      </p:sp>
    </p:spTree>
    <p:extLst>
      <p:ext uri="{BB962C8B-B14F-4D97-AF65-F5344CB8AC3E}">
        <p14:creationId xmlns:p14="http://schemas.microsoft.com/office/powerpoint/2010/main" val="22003634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2571750" y="839788"/>
            <a:ext cx="4057650" cy="3044825"/>
          </a:xfrm>
          <a:ln/>
        </p:spPr>
      </p:sp>
      <p:sp>
        <p:nvSpPr>
          <p:cNvPr id="138243"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38244"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Answers to the questions can be found on the following slides:</a:t>
            </a:r>
          </a:p>
          <a:p>
            <a:pPr eaLnBrk="1" hangingPunct="1"/>
            <a:endParaRPr lang="en-US" sz="900">
              <a:solidFill>
                <a:schemeClr val="tx1"/>
              </a:solidFill>
            </a:endParaRPr>
          </a:p>
          <a:p>
            <a:pPr eaLnBrk="1" hangingPunct="1"/>
            <a:r>
              <a:rPr lang="en-US" sz="900">
                <a:solidFill>
                  <a:schemeClr val="tx1"/>
                </a:solidFill>
              </a:rPr>
              <a:t>What is an actor?: slide 4</a:t>
            </a:r>
          </a:p>
          <a:p>
            <a:pPr eaLnBrk="1" hangingPunct="1"/>
            <a:r>
              <a:rPr lang="en-US" sz="900">
                <a:solidFill>
                  <a:schemeClr val="tx1"/>
                </a:solidFill>
              </a:rPr>
              <a:t>What is a use case?: slide 5</a:t>
            </a:r>
          </a:p>
          <a:p>
            <a:pPr eaLnBrk="1" hangingPunct="1"/>
            <a:r>
              <a:rPr lang="en-US" sz="900">
                <a:solidFill>
                  <a:schemeClr val="tx1"/>
                </a:solidFill>
              </a:rPr>
              <a:t>What are some of the benefits of use cases: slide 7</a:t>
            </a:r>
          </a:p>
          <a:p>
            <a:pPr eaLnBrk="1" hangingPunct="1"/>
            <a:r>
              <a:rPr lang="en-US" sz="900">
                <a:solidFill>
                  <a:schemeClr val="tx1"/>
                </a:solidFill>
              </a:rPr>
              <a:t>What is a use-case model?: slide 12-13</a:t>
            </a:r>
          </a:p>
          <a:p>
            <a:pPr eaLnBrk="1" hangingPunct="1"/>
            <a:r>
              <a:rPr lang="en-US" sz="900">
                <a:solidFill>
                  <a:schemeClr val="tx1"/>
                </a:solidFill>
              </a:rPr>
              <a:t>What is a use-case diagram?: slide 14</a:t>
            </a:r>
          </a:p>
          <a:p>
            <a:pPr eaLnBrk="1" hangingPunct="1"/>
            <a:r>
              <a:rPr lang="en-US" sz="900">
                <a:solidFill>
                  <a:schemeClr val="tx1"/>
                </a:solidFill>
              </a:rPr>
              <a:t>What is a use-case specification?: slide 15</a:t>
            </a:r>
          </a:p>
          <a:p>
            <a:pPr eaLnBrk="1" hangingPunct="1"/>
            <a:r>
              <a:rPr lang="en-US" sz="900">
                <a:solidFill>
                  <a:schemeClr val="tx1"/>
                </a:solidFill>
              </a:rPr>
              <a:t>How does use-case modeling fit into the requirements management process?: slide 16</a:t>
            </a:r>
          </a:p>
          <a:p>
            <a:pPr eaLnBrk="1" hangingPunct="1"/>
            <a:r>
              <a:rPr lang="en-US" sz="900">
                <a:solidFill>
                  <a:schemeClr val="tx1"/>
                </a:solidFill>
              </a:rPr>
              <a:t>How does use-case modeling fit into the software development lifecycle?: slide 17</a:t>
            </a:r>
          </a:p>
        </p:txBody>
      </p:sp>
    </p:spTree>
    <p:extLst>
      <p:ext uri="{BB962C8B-B14F-4D97-AF65-F5344CB8AC3E}">
        <p14:creationId xmlns:p14="http://schemas.microsoft.com/office/powerpoint/2010/main" val="3708042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82760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xfrm>
            <a:off x="2571750" y="839788"/>
            <a:ext cx="4057650" cy="3044825"/>
          </a:xfrm>
          <a:ln/>
        </p:spPr>
      </p:sp>
      <p:sp>
        <p:nvSpPr>
          <p:cNvPr id="14029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485632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2571750" y="839788"/>
            <a:ext cx="4057650" cy="3044825"/>
          </a:xfrm>
          <a:ln/>
        </p:spPr>
      </p:sp>
      <p:sp>
        <p:nvSpPr>
          <p:cNvPr id="14131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To write use cases, you must find actors and use cases, outline the use cases, and then detail the use cases.</a:t>
            </a:r>
          </a:p>
          <a:p>
            <a:pPr eaLnBrk="1" hangingPunct="1"/>
            <a:r>
              <a:rPr lang="en-US" sz="800"/>
              <a:t>You must go through these activities, but the process is rarely as linear as the graphic suggests. Use</a:t>
            </a:r>
            <a:r>
              <a:rPr lang="en-US" sz="800">
                <a:solidFill>
                  <a:srgbClr val="CC0000"/>
                </a:solidFill>
              </a:rPr>
              <a:t>-</a:t>
            </a:r>
            <a:r>
              <a:rPr lang="en-US" sz="800"/>
              <a:t>case writing is an iterative process.</a:t>
            </a:r>
          </a:p>
        </p:txBody>
      </p:sp>
      <p:sp>
        <p:nvSpPr>
          <p:cNvPr id="141316"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Engage the students in a discussion about why a use case writing process is important.</a:t>
            </a:r>
          </a:p>
          <a:p>
            <a:pPr eaLnBrk="1" hangingPunct="1"/>
            <a:endParaRPr lang="en-US" sz="900">
              <a:solidFill>
                <a:schemeClr val="tx1"/>
              </a:solidFill>
            </a:endParaRPr>
          </a:p>
        </p:txBody>
      </p:sp>
    </p:spTree>
    <p:extLst>
      <p:ext uri="{BB962C8B-B14F-4D97-AF65-F5344CB8AC3E}">
        <p14:creationId xmlns:p14="http://schemas.microsoft.com/office/powerpoint/2010/main" val="37572796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xfrm>
            <a:off x="2571750" y="839788"/>
            <a:ext cx="4057650" cy="3044825"/>
          </a:xfrm>
          <a:ln/>
        </p:spPr>
      </p:sp>
      <p:sp>
        <p:nvSpPr>
          <p:cNvPr id="14233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In all but the most trivial of systems, use cases are not written in one sitting. As with any iterative process, a use case evolves from the spark of an idea to a fully detailed description of how your system behaves.</a:t>
            </a:r>
          </a:p>
          <a:p>
            <a:pPr marL="216553" lvl="1" indent="-108276"/>
            <a:r>
              <a:rPr lang="en-US" sz="800"/>
              <a:t>1. First, you find the actors of the system.</a:t>
            </a:r>
          </a:p>
          <a:p>
            <a:pPr marL="216553" lvl="1" indent="-108276"/>
            <a:r>
              <a:rPr lang="en-US" sz="800"/>
              <a:t>2. Next, you find and briefly describe the use case. A brief description describes the goal in two or three sentences. When finding use cases, you may find additional actors that require you to refine the list of actors.</a:t>
            </a:r>
          </a:p>
          <a:p>
            <a:pPr marL="216553" lvl="1" indent="-108276"/>
            <a:r>
              <a:rPr lang="en-US" sz="800"/>
              <a:t>3. The next stage of evolution is to outline the use case. This can be a bulleted list of just the basic flow. You may also choose to identify (not outline) possible alternate flows. This enables you to gain an understanding of the potential size and complexity of the use case. When outlining the use case, you may end up merging or splitting use cases.</a:t>
            </a:r>
          </a:p>
          <a:p>
            <a:pPr marL="216553" lvl="1" indent="-108276"/>
            <a:r>
              <a:rPr lang="en-US" sz="800"/>
              <a:t>4. Finally, you fully detail the use case, but iteratively. You identify particular flows for development in an iteration and then fully describe and implement just those flows. You then identify flows for subsequent iterations and fully detail and implement those during that iteration. At the end of the project, you have all of your use cases fully detailed.</a:t>
            </a:r>
          </a:p>
          <a:p>
            <a:pPr eaLnBrk="1" hangingPunct="1"/>
            <a:r>
              <a:rPr lang="en-US" sz="800"/>
              <a:t>Remember, the use case writing process is an iterative process. You will likely go through many cycles of refinement before you complete your use case.</a:t>
            </a:r>
          </a:p>
        </p:txBody>
      </p:sp>
      <p:sp>
        <p:nvSpPr>
          <p:cNvPr id="142340"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Explain that use case writing is an iterative process. It is rare that they will write complete and perfect use cases in one sitting.</a:t>
            </a:r>
          </a:p>
          <a:p>
            <a:pPr eaLnBrk="1" hangingPunct="1"/>
            <a:endParaRPr lang="en-US" sz="900">
              <a:solidFill>
                <a:schemeClr val="tx1"/>
              </a:solidFill>
            </a:endParaRPr>
          </a:p>
        </p:txBody>
      </p:sp>
    </p:spTree>
    <p:extLst>
      <p:ext uri="{BB962C8B-B14F-4D97-AF65-F5344CB8AC3E}">
        <p14:creationId xmlns:p14="http://schemas.microsoft.com/office/powerpoint/2010/main" val="2863042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2571750" y="839788"/>
            <a:ext cx="4057650" cy="3044825"/>
          </a:xfrm>
          <a:ln/>
        </p:spPr>
      </p:sp>
      <p:sp>
        <p:nvSpPr>
          <p:cNvPr id="14336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17283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a:xfrm>
            <a:off x="2571750" y="839788"/>
            <a:ext cx="4057650" cy="3044825"/>
          </a:xfrm>
          <a:ln/>
        </p:spPr>
      </p:sp>
      <p:sp>
        <p:nvSpPr>
          <p:cNvPr id="14438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Actors help to define the system boundary.  </a:t>
            </a:r>
          </a:p>
          <a:p>
            <a:pPr eaLnBrk="1" hangingPunct="1"/>
            <a:r>
              <a:rPr lang="en-US" sz="800"/>
              <a:t>If we are building the Order Entry System, the Accounts Receivable System that it interacts with is an actor. A Financial Analyst who uses the Account Receivable System, is not an actor to the Order Entry System.  </a:t>
            </a:r>
          </a:p>
          <a:p>
            <a:pPr eaLnBrk="1" hangingPunct="1"/>
            <a:r>
              <a:rPr lang="en-US" sz="800"/>
              <a:t>But, if we are building a larger system that combines the Order Entry System and the Accounts Receivable System, then the Financial Analyst is our actor, and the accounts receivable system is just a part of what we are building.</a:t>
            </a:r>
          </a:p>
          <a:p>
            <a:pPr eaLnBrk="1" hangingPunct="1"/>
            <a:endParaRPr lang="en-US" sz="800"/>
          </a:p>
        </p:txBody>
      </p:sp>
    </p:spTree>
    <p:extLst>
      <p:ext uri="{BB962C8B-B14F-4D97-AF65-F5344CB8AC3E}">
        <p14:creationId xmlns:p14="http://schemas.microsoft.com/office/powerpoint/2010/main" val="32910001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xfrm>
            <a:off x="2571750" y="839788"/>
            <a:ext cx="4057650" cy="3044825"/>
          </a:xfrm>
          <a:ln/>
        </p:spPr>
      </p:sp>
      <p:sp>
        <p:nvSpPr>
          <p:cNvPr id="14541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The difference between an actor and an individual system user is that an actor represents a particular class of user rather than an actual user. Several users can play the same role, meaning that they can be the same actors. In that case, each user constitutes an instance of the actor. However, in some situations, one person plays multiple roles modeled by several actors. </a:t>
            </a:r>
          </a:p>
        </p:txBody>
      </p:sp>
      <p:sp>
        <p:nvSpPr>
          <p:cNvPr id="145412" name="Text Box 4"/>
          <p:cNvSpPr txBox="1">
            <a:spLocks noChangeArrowheads="1"/>
          </p:cNvSpPr>
          <p:nvPr/>
        </p:nvSpPr>
        <p:spPr bwMode="auto">
          <a:xfrm>
            <a:off x="571004" y="1205070"/>
            <a:ext cx="1730899" cy="6824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180" tIns="51091" rIns="102180" bIns="51091"/>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endParaRPr lang="en-US" sz="900">
              <a:solidFill>
                <a:schemeClr val="tx1"/>
              </a:solidFill>
              <a:latin typeface="ZapfHumnst BT" pitchFamily="34" charset="0"/>
            </a:endParaRPr>
          </a:p>
        </p:txBody>
      </p:sp>
    </p:spTree>
    <p:extLst>
      <p:ext uri="{BB962C8B-B14F-4D97-AF65-F5344CB8AC3E}">
        <p14:creationId xmlns:p14="http://schemas.microsoft.com/office/powerpoint/2010/main" val="18984558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ChangeArrowheads="1"/>
          </p:cNvSpPr>
          <p:nvPr/>
        </p:nvSpPr>
        <p:spPr bwMode="auto">
          <a:xfrm>
            <a:off x="3879243" y="-93862"/>
            <a:ext cx="3027957" cy="5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146435" name="Rectangle 3"/>
          <p:cNvSpPr>
            <a:spLocks noChangeArrowheads="1"/>
          </p:cNvSpPr>
          <p:nvPr/>
        </p:nvSpPr>
        <p:spPr bwMode="auto">
          <a:xfrm>
            <a:off x="-49199" y="8667120"/>
            <a:ext cx="3027957" cy="5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560" tIns="43280" rIns="86560" bIns="43280" anchor="ctr"/>
          <a:lstStyle/>
          <a:p>
            <a:pPr algn="ctr" defTabSz="864708" eaLnBrk="0" hangingPunct="0">
              <a:lnSpc>
                <a:spcPct val="87000"/>
              </a:lnSpc>
              <a:spcBef>
                <a:spcPct val="30000"/>
              </a:spcBef>
            </a:pPr>
            <a:endParaRPr lang="en-US" sz="1900">
              <a:solidFill>
                <a:schemeClr val="bg2"/>
              </a:solidFill>
            </a:endParaRPr>
          </a:p>
        </p:txBody>
      </p:sp>
      <p:sp>
        <p:nvSpPr>
          <p:cNvPr id="146436" name="Rectangle 4"/>
          <p:cNvSpPr>
            <a:spLocks noChangeArrowheads="1"/>
          </p:cNvSpPr>
          <p:nvPr/>
        </p:nvSpPr>
        <p:spPr bwMode="auto">
          <a:xfrm>
            <a:off x="-49199" y="-93862"/>
            <a:ext cx="3027957" cy="5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560" tIns="43280" rIns="86560" bIns="43280" anchor="ctr"/>
          <a:lstStyle/>
          <a:p>
            <a:pPr algn="ctr" defTabSz="864708" eaLnBrk="0" hangingPunct="0">
              <a:lnSpc>
                <a:spcPct val="87000"/>
              </a:lnSpc>
              <a:spcBef>
                <a:spcPct val="30000"/>
              </a:spcBef>
            </a:pPr>
            <a:endParaRPr lang="en-US" sz="1900">
              <a:solidFill>
                <a:schemeClr val="bg2"/>
              </a:solidFill>
            </a:endParaRPr>
          </a:p>
        </p:txBody>
      </p:sp>
      <p:sp>
        <p:nvSpPr>
          <p:cNvPr id="146437" name="Rectangle 5"/>
          <p:cNvSpPr>
            <a:spLocks noChangeArrowheads="1"/>
          </p:cNvSpPr>
          <p:nvPr/>
        </p:nvSpPr>
        <p:spPr bwMode="auto">
          <a:xfrm>
            <a:off x="1973912" y="3052037"/>
            <a:ext cx="2886323" cy="50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146438" name="Rectangle 6"/>
          <p:cNvSpPr>
            <a:spLocks noGrp="1" noRot="1" noChangeAspect="1" noChangeArrowheads="1" noTextEdit="1"/>
          </p:cNvSpPr>
          <p:nvPr>
            <p:ph type="sldImg"/>
          </p:nvPr>
        </p:nvSpPr>
        <p:spPr>
          <a:xfrm>
            <a:off x="2571750" y="839788"/>
            <a:ext cx="4057650" cy="3044825"/>
          </a:xfrm>
          <a:ln/>
        </p:spPr>
      </p:sp>
      <p:sp>
        <p:nvSpPr>
          <p:cNvPr id="146439" name="Rectangle 7"/>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slide lists several questions to ask that can help find the actors in the system.</a:t>
            </a:r>
          </a:p>
          <a:p>
            <a:pPr eaLnBrk="1" hangingPunct="1"/>
            <a:r>
              <a:rPr lang="en-US" sz="800"/>
              <a:t>To fully understand the system's purpose, you must know who or what the system is for; that is, who or what use it. Different user types are represented as actors.</a:t>
            </a:r>
          </a:p>
        </p:txBody>
      </p:sp>
      <p:sp>
        <p:nvSpPr>
          <p:cNvPr id="146440" name="Rectangle 8"/>
          <p:cNvSpPr>
            <a:spLocks noChangeArrowheads="1"/>
          </p:cNvSpPr>
          <p:nvPr/>
        </p:nvSpPr>
        <p:spPr bwMode="auto">
          <a:xfrm>
            <a:off x="228104" y="1135431"/>
            <a:ext cx="2131943" cy="7345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14" tIns="44257" rIns="88514" bIns="44257"/>
          <a:lstStyle/>
          <a:p>
            <a:pPr defTabSz="878242" eaLnBrk="0" hangingPunct="0"/>
            <a:endParaRPr lang="en-US" sz="900">
              <a:latin typeface="ZapfHumnst BT" pitchFamily="34" charset="0"/>
            </a:endParaRPr>
          </a:p>
        </p:txBody>
      </p:sp>
      <p:sp>
        <p:nvSpPr>
          <p:cNvPr id="146441" name="Text Box 9"/>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r>
              <a:rPr lang="en-US" sz="900">
                <a:solidFill>
                  <a:schemeClr val="tx1"/>
                </a:solidFill>
              </a:rPr>
              <a:t>Point out that this is an important page. Suggest that the students put a sticky note on it so they can find it easily when they want to identify actors.</a:t>
            </a:r>
          </a:p>
          <a:p>
            <a:pPr>
              <a:lnSpc>
                <a:spcPct val="87000"/>
              </a:lnSpc>
              <a:spcBef>
                <a:spcPct val="40000"/>
              </a:spcBef>
              <a:spcAft>
                <a:spcPts val="568"/>
              </a:spcAft>
            </a:pPr>
            <a:r>
              <a:rPr lang="en-US" sz="900">
                <a:solidFill>
                  <a:schemeClr val="tx1"/>
                </a:solidFill>
              </a:rPr>
              <a:t>Remind students that an actor is a role. For a human actor, you should usually be able to name several different people who can act as a specific actor. Try to avoid an actor called “User,” rather try to figure out the role of that particular user.</a:t>
            </a:r>
          </a:p>
          <a:p>
            <a:pPr>
              <a:lnSpc>
                <a:spcPct val="87000"/>
              </a:lnSpc>
              <a:spcBef>
                <a:spcPct val="40000"/>
              </a:spcBef>
              <a:spcAft>
                <a:spcPts val="568"/>
              </a:spcAft>
            </a:pPr>
            <a:r>
              <a:rPr lang="en-US" sz="900">
                <a:solidFill>
                  <a:schemeClr val="tx1"/>
                </a:solidFill>
              </a:rPr>
              <a:t>One way to do this is to think of the actor in the context of the business that the system is supporting.</a:t>
            </a:r>
          </a:p>
        </p:txBody>
      </p:sp>
    </p:spTree>
    <p:extLst>
      <p:ext uri="{BB962C8B-B14F-4D97-AF65-F5344CB8AC3E}">
        <p14:creationId xmlns:p14="http://schemas.microsoft.com/office/powerpoint/2010/main" val="2618590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2571750" y="839788"/>
            <a:ext cx="4057650" cy="3044825"/>
          </a:xfrm>
          <a:ln/>
        </p:spPr>
      </p:sp>
      <p:sp>
        <p:nvSpPr>
          <p:cNvPr id="14745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Actor is a role, not a particular person or thing. The name of the actor should represent, as clearly as possible, the actor’s role.</a:t>
            </a:r>
          </a:p>
          <a:p>
            <a:pPr eaLnBrk="1" hangingPunct="1"/>
            <a:r>
              <a:rPr lang="en-US" sz="800"/>
              <a:t>Make sure that there is little risk of confusing one actor’s name with another at a future stage of the work. Also, try to avoid an actor called “User”, rather, try to figure out the role of that particular user.</a:t>
            </a:r>
          </a:p>
          <a:p>
            <a:pPr eaLnBrk="1" hangingPunct="1"/>
            <a:r>
              <a:rPr lang="en-US" sz="800"/>
              <a:t>In most instances, some person or some other system does something to trigger the start of the use case. If a use case in your system is initiated at a certain time, for example, at the end of the day or the end of the month, this can be modeled with a special actor, such as the “scheduler” or “time.” “Scheduler”, as opposed to “time”, is a useful name for such an actor because scheduler may be human or non-human. </a:t>
            </a:r>
          </a:p>
          <a:p>
            <a:pPr eaLnBrk="1" hangingPunct="1"/>
            <a:endParaRPr lang="en-US" sz="800"/>
          </a:p>
        </p:txBody>
      </p:sp>
    </p:spTree>
    <p:extLst>
      <p:ext uri="{BB962C8B-B14F-4D97-AF65-F5344CB8AC3E}">
        <p14:creationId xmlns:p14="http://schemas.microsoft.com/office/powerpoint/2010/main" val="40368845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2571750" y="839788"/>
            <a:ext cx="4057650" cy="3044825"/>
          </a:xfrm>
          <a:ln/>
        </p:spPr>
      </p:sp>
      <p:sp>
        <p:nvSpPr>
          <p:cNvPr id="14848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Define each actor by writing a brief description that includes the actor's area of responsibility and what the actor needs the system to do. Because actors represent things outside of the system, you don’t need to describe each actor in detail . </a:t>
            </a:r>
          </a:p>
          <a:p>
            <a:pPr eaLnBrk="1" hangingPunct="1"/>
            <a:r>
              <a:rPr lang="en-US" sz="800"/>
              <a:t>Include this information in each brief description for each actor:</a:t>
            </a:r>
          </a:p>
          <a:p>
            <a:pPr marL="216553" lvl="1" indent="-108276">
              <a:buFontTx/>
              <a:buChar char="•"/>
            </a:pPr>
            <a:r>
              <a:rPr lang="en-US" sz="800"/>
              <a:t>What or whom the actor represents</a:t>
            </a:r>
          </a:p>
          <a:p>
            <a:pPr marL="216553" lvl="1" indent="-108276">
              <a:buFontTx/>
              <a:buChar char="•"/>
            </a:pPr>
            <a:r>
              <a:rPr lang="en-US" sz="800"/>
              <a:t>Why the actor is needed</a:t>
            </a:r>
          </a:p>
          <a:p>
            <a:pPr marL="216553" lvl="1" indent="-108276">
              <a:buFontTx/>
              <a:buChar char="•"/>
            </a:pPr>
            <a:r>
              <a:rPr lang="en-US" sz="800"/>
              <a:t>What the actor’s area of responsibility is </a:t>
            </a:r>
          </a:p>
          <a:p>
            <a:pPr marL="216553" lvl="1" indent="-108276">
              <a:buFontTx/>
              <a:buChar char="•"/>
            </a:pPr>
            <a:r>
              <a:rPr lang="en-US" sz="800"/>
              <a:t>What interests the actor has in the system</a:t>
            </a:r>
          </a:p>
          <a:p>
            <a:pPr eaLnBrk="1" hangingPunct="1"/>
            <a:r>
              <a:rPr lang="en-US" sz="800"/>
              <a:t>Some information about the actors is also shown on use-case diagrams, which show the name of the actor and the actor’s relationships with use cases.</a:t>
            </a:r>
          </a:p>
        </p:txBody>
      </p:sp>
      <p:sp>
        <p:nvSpPr>
          <p:cNvPr id="148484" name="Text Box 4"/>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Emphasize that the actor name is a label that can be used to refer to it throughout the model. The brief description should clarify any ambiguity that the name might suggest.</a:t>
            </a:r>
          </a:p>
        </p:txBody>
      </p:sp>
    </p:spTree>
    <p:extLst>
      <p:ext uri="{BB962C8B-B14F-4D97-AF65-F5344CB8AC3E}">
        <p14:creationId xmlns:p14="http://schemas.microsoft.com/office/powerpoint/2010/main" val="41858089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2571750" y="839788"/>
            <a:ext cx="4057650" cy="3044825"/>
          </a:xfrm>
          <a:ln/>
        </p:spPr>
      </p:sp>
      <p:sp>
        <p:nvSpPr>
          <p:cNvPr id="14950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49508"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How do you find actors?: slide 8-10</a:t>
            </a:r>
          </a:p>
          <a:p>
            <a:pPr eaLnBrk="1" hangingPunct="1"/>
            <a:endParaRPr lang="en-US" sz="900">
              <a:solidFill>
                <a:schemeClr val="tx1"/>
              </a:solidFill>
            </a:endParaRPr>
          </a:p>
        </p:txBody>
      </p:sp>
    </p:spTree>
    <p:extLst>
      <p:ext uri="{BB962C8B-B14F-4D97-AF65-F5344CB8AC3E}">
        <p14:creationId xmlns:p14="http://schemas.microsoft.com/office/powerpoint/2010/main" val="35184330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2571750" y="839788"/>
            <a:ext cx="4057650" cy="3044825"/>
          </a:xfrm>
          <a:ln/>
        </p:spPr>
      </p:sp>
      <p:sp>
        <p:nvSpPr>
          <p:cNvPr id="15053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2808536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xfrm>
            <a:off x="2571750" y="839788"/>
            <a:ext cx="4057650" cy="3044825"/>
          </a:xfrm>
          <a:ln/>
        </p:spPr>
      </p:sp>
      <p:sp>
        <p:nvSpPr>
          <p:cNvPr id="15155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After you have identified the actors, finding the use cases is the next step in developing your use-case model. Use cases describe what an actor wants a system to do that provides some value to the actor. </a:t>
            </a:r>
          </a:p>
          <a:p>
            <a:pPr eaLnBrk="1" hangingPunct="1"/>
            <a:r>
              <a:rPr lang="en-US" sz="800"/>
              <a:t>Use this process to identify the use cases for each actor.</a:t>
            </a:r>
          </a:p>
          <a:p>
            <a:pPr eaLnBrk="1" hangingPunct="1"/>
            <a:r>
              <a:rPr lang="en-US" sz="800"/>
              <a:t>Start with the highest-priority actor.  For all actors, but individually, ask:</a:t>
            </a:r>
          </a:p>
          <a:p>
            <a:pPr marL="216553" lvl="1" indent="-108276">
              <a:buFontTx/>
              <a:buChar char="•"/>
            </a:pPr>
            <a:r>
              <a:rPr lang="en-US" sz="800"/>
              <a:t>What goals are they trying to achieve with the system?</a:t>
            </a:r>
          </a:p>
          <a:p>
            <a:pPr marL="216553" lvl="1" indent="-108276">
              <a:buFontTx/>
              <a:buChar char="•"/>
            </a:pPr>
            <a:r>
              <a:rPr lang="en-US" sz="800"/>
              <a:t>How will the solution help them do their jobs?</a:t>
            </a:r>
          </a:p>
          <a:p>
            <a:pPr marL="216553" lvl="1" indent="-108276">
              <a:buFontTx/>
              <a:buChar char="•"/>
            </a:pPr>
            <a:r>
              <a:rPr lang="en-US" sz="800"/>
              <a:t>How will the solution change their jobs?</a:t>
            </a:r>
          </a:p>
          <a:p>
            <a:pPr eaLnBrk="1" hangingPunct="1"/>
            <a:endParaRPr lang="en-US" sz="800"/>
          </a:p>
        </p:txBody>
      </p:sp>
      <p:sp>
        <p:nvSpPr>
          <p:cNvPr id="151556" name="Text Box 4"/>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AU" sz="900">
                <a:solidFill>
                  <a:schemeClr val="tx1"/>
                </a:solidFill>
              </a:rPr>
              <a:t>By searching for a goal instead of a task, you are forced to take a step back and look for the larger context.</a:t>
            </a:r>
          </a:p>
          <a:p>
            <a:pPr>
              <a:lnSpc>
                <a:spcPct val="87000"/>
              </a:lnSpc>
              <a:spcBef>
                <a:spcPct val="30000"/>
              </a:spcBef>
            </a:pPr>
            <a:r>
              <a:rPr lang="en-AU" sz="900">
                <a:solidFill>
                  <a:schemeClr val="tx1"/>
                </a:solidFill>
              </a:rPr>
              <a:t>You are more likely to avoid functional decomposition when searching for the goal or by being goal-oriented when identifying your use cases.</a:t>
            </a:r>
          </a:p>
          <a:p>
            <a:pPr>
              <a:lnSpc>
                <a:spcPct val="87000"/>
              </a:lnSpc>
              <a:spcBef>
                <a:spcPct val="30000"/>
              </a:spcBef>
            </a:pPr>
            <a:endParaRPr lang="en-AU" sz="900">
              <a:solidFill>
                <a:schemeClr val="tx1"/>
              </a:solidFill>
            </a:endParaRPr>
          </a:p>
          <a:p>
            <a:pPr>
              <a:lnSpc>
                <a:spcPct val="87000"/>
              </a:lnSpc>
              <a:spcBef>
                <a:spcPct val="30000"/>
              </a:spcBef>
            </a:pPr>
            <a:endParaRPr lang="en-AU" sz="900">
              <a:solidFill>
                <a:schemeClr val="tx1"/>
              </a:solidFill>
            </a:endParaRPr>
          </a:p>
        </p:txBody>
      </p:sp>
    </p:spTree>
    <p:extLst>
      <p:ext uri="{BB962C8B-B14F-4D97-AF65-F5344CB8AC3E}">
        <p14:creationId xmlns:p14="http://schemas.microsoft.com/office/powerpoint/2010/main" val="6308619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2571750" y="839788"/>
            <a:ext cx="4057650" cy="3044825"/>
          </a:xfrm>
          <a:ln/>
        </p:spPr>
      </p:sp>
      <p:sp>
        <p:nvSpPr>
          <p:cNvPr id="15257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sz="800"/>
              <a:t>This slide lists several questions that can help you find the use cases in your system. The best way to find use cases is to consider what each actor requires of the system. Go through all of the actors and identify the particular needs of each actor.</a:t>
            </a:r>
          </a:p>
          <a:p>
            <a:pPr eaLnBrk="1" hangingPunct="1">
              <a:lnSpc>
                <a:spcPct val="90000"/>
              </a:lnSpc>
            </a:pPr>
            <a:r>
              <a:rPr lang="en-US" sz="800"/>
              <a:t>When you have made your first list of use cases, verify that all required functionality has been addressed. Include special use cases for system startup, termination, or maintenance. Also, include use cases for automatically scheduled events. For example, a time-initiated job may run the payroll at midnight on the last day of each month. Use cases that concern automatically scheduled events are usually initiated by a special actor: the Scheduler.</a:t>
            </a:r>
          </a:p>
          <a:p>
            <a:pPr eaLnBrk="1" hangingPunct="1">
              <a:lnSpc>
                <a:spcPct val="90000"/>
              </a:lnSpc>
            </a:pPr>
            <a:r>
              <a:rPr lang="en-US" sz="800"/>
              <a:t>Try to keep all use cases at approximately the same level of importance. The notion of use-case levels as popularized by some authors is not recommended, because it can lead to a functionally decomposed system. </a:t>
            </a:r>
          </a:p>
          <a:p>
            <a:pPr eaLnBrk="1" hangingPunct="1">
              <a:lnSpc>
                <a:spcPct val="90000"/>
              </a:lnSpc>
            </a:pPr>
            <a:r>
              <a:rPr lang="en-US" sz="800"/>
              <a:t>These questions can help you get to the appropriate level of granularity (also see the definition of a use case). Ask yourself:</a:t>
            </a:r>
          </a:p>
          <a:p>
            <a:pPr marL="216553" lvl="1" indent="-108276">
              <a:lnSpc>
                <a:spcPct val="90000"/>
              </a:lnSpc>
              <a:buFontTx/>
              <a:buChar char="•"/>
            </a:pPr>
            <a:r>
              <a:rPr lang="en-US" sz="800"/>
              <a:t>Would you ever want to perform a particular activity as an end result in itself?</a:t>
            </a:r>
          </a:p>
          <a:p>
            <a:pPr marL="216553" lvl="1" indent="-108276">
              <a:lnSpc>
                <a:spcPct val="90000"/>
              </a:lnSpc>
              <a:buFontTx/>
              <a:buChar char="•"/>
            </a:pPr>
            <a:r>
              <a:rPr lang="en-US" sz="800"/>
              <a:t>Are there any activities that should be kept together, so you can review, modify, test, and document them together?</a:t>
            </a:r>
          </a:p>
          <a:p>
            <a:pPr marL="216553" lvl="1" indent="-108276">
              <a:lnSpc>
                <a:spcPct val="90000"/>
              </a:lnSpc>
              <a:buFontTx/>
              <a:buChar char="•"/>
            </a:pPr>
            <a:r>
              <a:rPr lang="en-US" sz="800"/>
              <a:t>Is the use case too complex? If it is, you may want to split it (a use-case report significantly longer than 10 pages may be a candidate).</a:t>
            </a:r>
          </a:p>
          <a:p>
            <a:pPr marL="216553" lvl="1" indent="-108276">
              <a:lnSpc>
                <a:spcPct val="90000"/>
              </a:lnSpc>
              <a:buFontTx/>
              <a:buChar char="•"/>
            </a:pPr>
            <a:r>
              <a:rPr lang="en-US" sz="800"/>
              <a:t>Does it deliver something of value to multiple actors? If so, it may be too large.</a:t>
            </a:r>
          </a:p>
          <a:p>
            <a:pPr marL="216553" lvl="1" indent="-108276">
              <a:lnSpc>
                <a:spcPct val="90000"/>
              </a:lnSpc>
              <a:buFontTx/>
              <a:buChar char="•"/>
            </a:pPr>
            <a:endParaRPr lang="en-US" sz="800"/>
          </a:p>
        </p:txBody>
      </p:sp>
      <p:sp>
        <p:nvSpPr>
          <p:cNvPr id="152580" name="Rectangle 4"/>
          <p:cNvSpPr>
            <a:spLocks noChangeArrowheads="1"/>
          </p:cNvSpPr>
          <p:nvPr/>
        </p:nvSpPr>
        <p:spPr bwMode="auto">
          <a:xfrm>
            <a:off x="228104" y="1214154"/>
            <a:ext cx="2131943" cy="7115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14" tIns="44257" rIns="88514" bIns="44257"/>
          <a:lstStyle/>
          <a:p>
            <a:pPr defTabSz="878242" eaLnBrk="0" hangingPunct="0">
              <a:lnSpc>
                <a:spcPct val="87000"/>
              </a:lnSpc>
              <a:spcBef>
                <a:spcPct val="30000"/>
              </a:spcBef>
            </a:pPr>
            <a:endParaRPr lang="en-US" sz="1900"/>
          </a:p>
        </p:txBody>
      </p:sp>
      <p:sp>
        <p:nvSpPr>
          <p:cNvPr id="152581" name="Text Box 5"/>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227013" indent="-112713"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r>
              <a:rPr lang="en-US" sz="900">
                <a:solidFill>
                  <a:schemeClr val="tx1"/>
                </a:solidFill>
              </a:rPr>
              <a:t>This is an important slide because it lists questions that help you identify use cases. Suggest that the students mark this slide for easy access later.</a:t>
            </a:r>
          </a:p>
          <a:p>
            <a:pPr>
              <a:lnSpc>
                <a:spcPct val="87000"/>
              </a:lnSpc>
              <a:spcBef>
                <a:spcPct val="40000"/>
              </a:spcBef>
              <a:spcAft>
                <a:spcPts val="568"/>
              </a:spcAft>
            </a:pPr>
            <a:r>
              <a:rPr lang="en-US" sz="900">
                <a:solidFill>
                  <a:schemeClr val="tx1"/>
                </a:solidFill>
              </a:rPr>
              <a:t>Remind the students of the definition of a use case. A use case is:</a:t>
            </a:r>
          </a:p>
          <a:p>
            <a:pPr lvl="1">
              <a:lnSpc>
                <a:spcPct val="87000"/>
              </a:lnSpc>
              <a:spcBef>
                <a:spcPct val="40000"/>
              </a:spcBef>
              <a:spcAft>
                <a:spcPts val="568"/>
              </a:spcAft>
              <a:buFontTx/>
              <a:buChar char="•"/>
            </a:pPr>
            <a:r>
              <a:rPr lang="en-US" sz="900">
                <a:solidFill>
                  <a:schemeClr val="tx1"/>
                </a:solidFill>
              </a:rPr>
              <a:t>the specification of a set of actions</a:t>
            </a:r>
          </a:p>
          <a:p>
            <a:pPr lvl="1">
              <a:lnSpc>
                <a:spcPct val="87000"/>
              </a:lnSpc>
              <a:spcBef>
                <a:spcPct val="40000"/>
              </a:spcBef>
              <a:spcAft>
                <a:spcPts val="568"/>
              </a:spcAft>
              <a:buFontTx/>
              <a:buChar char="•"/>
            </a:pPr>
            <a:r>
              <a:rPr lang="en-US" sz="900">
                <a:solidFill>
                  <a:schemeClr val="tx1"/>
                </a:solidFill>
              </a:rPr>
              <a:t>performed by a system</a:t>
            </a:r>
          </a:p>
          <a:p>
            <a:pPr lvl="1">
              <a:lnSpc>
                <a:spcPct val="87000"/>
              </a:lnSpc>
              <a:spcBef>
                <a:spcPct val="40000"/>
              </a:spcBef>
              <a:spcAft>
                <a:spcPts val="568"/>
              </a:spcAft>
              <a:buFontTx/>
              <a:buChar char="•"/>
            </a:pPr>
            <a:r>
              <a:rPr lang="en-US" sz="900">
                <a:solidFill>
                  <a:schemeClr val="tx1"/>
                </a:solidFill>
              </a:rPr>
              <a:t>which yields an observable result that is, typically,</a:t>
            </a:r>
          </a:p>
          <a:p>
            <a:pPr lvl="1">
              <a:lnSpc>
                <a:spcPct val="87000"/>
              </a:lnSpc>
              <a:spcBef>
                <a:spcPct val="40000"/>
              </a:spcBef>
              <a:spcAft>
                <a:spcPts val="568"/>
              </a:spcAft>
              <a:buFontTx/>
              <a:buChar char="•"/>
            </a:pPr>
            <a:r>
              <a:rPr lang="en-US" sz="900">
                <a:solidFill>
                  <a:schemeClr val="tx1"/>
                </a:solidFill>
              </a:rPr>
              <a:t>of value for one of more actors or other stakeholder of the system</a:t>
            </a:r>
          </a:p>
          <a:p>
            <a:pPr>
              <a:lnSpc>
                <a:spcPct val="87000"/>
              </a:lnSpc>
              <a:spcBef>
                <a:spcPct val="40000"/>
              </a:spcBef>
              <a:spcAft>
                <a:spcPts val="568"/>
              </a:spcAft>
            </a:pPr>
            <a:r>
              <a:rPr lang="en-US" sz="900">
                <a:solidFill>
                  <a:schemeClr val="tx1"/>
                </a:solidFill>
              </a:rPr>
              <a:t>Emphasize that the use cases are the goals of some actor. What does the actor want to accomplish with the help of the system?</a:t>
            </a:r>
          </a:p>
          <a:p>
            <a:pPr>
              <a:lnSpc>
                <a:spcPct val="87000"/>
              </a:lnSpc>
              <a:spcBef>
                <a:spcPct val="40000"/>
              </a:spcBef>
              <a:spcAft>
                <a:spcPts val="568"/>
              </a:spcAft>
            </a:pPr>
            <a:r>
              <a:rPr lang="en-US" sz="900">
                <a:solidFill>
                  <a:schemeClr val="tx1"/>
                </a:solidFill>
              </a:rPr>
              <a:t>In addition to the list of questions on the slide, mention other use cases not to forget (see Student Notes): </a:t>
            </a:r>
          </a:p>
          <a:p>
            <a:pPr lvl="1">
              <a:lnSpc>
                <a:spcPct val="85000"/>
              </a:lnSpc>
              <a:spcBef>
                <a:spcPct val="30000"/>
              </a:spcBef>
              <a:buFontTx/>
              <a:buChar char="•"/>
            </a:pPr>
            <a:r>
              <a:rPr lang="en-US" sz="900">
                <a:solidFill>
                  <a:schemeClr val="tx1"/>
                </a:solidFill>
              </a:rPr>
              <a:t>System startup</a:t>
            </a:r>
          </a:p>
          <a:p>
            <a:pPr lvl="1">
              <a:lnSpc>
                <a:spcPct val="85000"/>
              </a:lnSpc>
              <a:spcBef>
                <a:spcPct val="30000"/>
              </a:spcBef>
              <a:buFontTx/>
              <a:buChar char="•"/>
            </a:pPr>
            <a:r>
              <a:rPr lang="en-US" sz="900">
                <a:solidFill>
                  <a:schemeClr val="tx1"/>
                </a:solidFill>
              </a:rPr>
              <a:t>System termination</a:t>
            </a:r>
          </a:p>
          <a:p>
            <a:pPr lvl="1">
              <a:lnSpc>
                <a:spcPct val="85000"/>
              </a:lnSpc>
              <a:spcBef>
                <a:spcPct val="30000"/>
              </a:spcBef>
              <a:buFontTx/>
              <a:buChar char="•"/>
            </a:pPr>
            <a:r>
              <a:rPr lang="en-US" sz="900">
                <a:solidFill>
                  <a:schemeClr val="tx1"/>
                </a:solidFill>
              </a:rPr>
              <a:t>System maintenance </a:t>
            </a:r>
          </a:p>
          <a:p>
            <a:pPr lvl="1">
              <a:lnSpc>
                <a:spcPct val="85000"/>
              </a:lnSpc>
              <a:spcBef>
                <a:spcPct val="30000"/>
              </a:spcBef>
              <a:buFontTx/>
              <a:buChar char="•"/>
            </a:pPr>
            <a:r>
              <a:rPr lang="en-US" sz="900">
                <a:solidFill>
                  <a:schemeClr val="tx1"/>
                </a:solidFill>
              </a:rPr>
              <a:t>Automatically schedule events</a:t>
            </a:r>
          </a:p>
        </p:txBody>
      </p:sp>
    </p:spTree>
    <p:extLst>
      <p:ext uri="{BB962C8B-B14F-4D97-AF65-F5344CB8AC3E}">
        <p14:creationId xmlns:p14="http://schemas.microsoft.com/office/powerpoint/2010/main" val="19236024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xfrm>
            <a:off x="2571750" y="839788"/>
            <a:ext cx="4057650" cy="3044825"/>
          </a:xfrm>
          <a:ln/>
        </p:spPr>
      </p:sp>
      <p:sp>
        <p:nvSpPr>
          <p:cNvPr id="15360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53604" name="Text Box 4"/>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endParaRPr lang="en-US" sz="900">
              <a:solidFill>
                <a:schemeClr val="tx1"/>
              </a:solidFill>
            </a:endParaRPr>
          </a:p>
        </p:txBody>
      </p:sp>
      <p:sp>
        <p:nvSpPr>
          <p:cNvPr id="153605" name="Text Box 5"/>
          <p:cNvSpPr txBox="1">
            <a:spLocks noChangeArrowheads="1"/>
          </p:cNvSpPr>
          <p:nvPr/>
        </p:nvSpPr>
        <p:spPr bwMode="auto">
          <a:xfrm>
            <a:off x="594858" y="1376143"/>
            <a:ext cx="1738354" cy="682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AU" sz="900">
                <a:solidFill>
                  <a:schemeClr val="tx1"/>
                </a:solidFill>
              </a:rPr>
              <a:t>If </a:t>
            </a:r>
            <a:r>
              <a:rPr lang="en-AU" sz="900" i="1">
                <a:solidFill>
                  <a:schemeClr val="tx1"/>
                </a:solidFill>
              </a:rPr>
              <a:t>log in</a:t>
            </a:r>
            <a:r>
              <a:rPr lang="en-AU" sz="900">
                <a:solidFill>
                  <a:schemeClr val="tx1"/>
                </a:solidFill>
              </a:rPr>
              <a:t> is a separate use case, being logged in becomes a precondition to other use cases that requires login.  We will show an example of this in Module 4, when we introduce precondition.  </a:t>
            </a:r>
          </a:p>
          <a:p>
            <a:pPr>
              <a:lnSpc>
                <a:spcPct val="87000"/>
              </a:lnSpc>
              <a:spcBef>
                <a:spcPct val="30000"/>
              </a:spcBef>
            </a:pPr>
            <a:endParaRPr lang="en-AU" sz="900">
              <a:solidFill>
                <a:schemeClr val="tx1"/>
              </a:solidFill>
            </a:endParaRPr>
          </a:p>
          <a:p>
            <a:pPr>
              <a:lnSpc>
                <a:spcPct val="87000"/>
              </a:lnSpc>
              <a:spcBef>
                <a:spcPct val="30000"/>
              </a:spcBef>
            </a:pPr>
            <a:endParaRPr lang="en-AU" sz="900">
              <a:solidFill>
                <a:schemeClr val="tx1"/>
              </a:solidFill>
            </a:endParaRPr>
          </a:p>
        </p:txBody>
      </p:sp>
    </p:spTree>
    <p:extLst>
      <p:ext uri="{BB962C8B-B14F-4D97-AF65-F5344CB8AC3E}">
        <p14:creationId xmlns:p14="http://schemas.microsoft.com/office/powerpoint/2010/main" val="23628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2571750" y="839788"/>
            <a:ext cx="4057650" cy="3044825"/>
          </a:xfrm>
          <a:ln/>
        </p:spPr>
      </p:sp>
      <p:sp>
        <p:nvSpPr>
          <p:cNvPr id="15462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 CRUD use case is a Create, Read, Update, or Delete use case. Data management use cases such as these are another form of functional decomposition. Managing the data this way is usually part of some higher goal (typically, maintenance of information), which may mean that the data should be combined into a single use case. These CRUD use cases describe things that the system must do, but they are all related to one single use case that the student wants to do on the system: register for courses.</a:t>
            </a:r>
          </a:p>
        </p:txBody>
      </p:sp>
    </p:spTree>
    <p:extLst>
      <p:ext uri="{BB962C8B-B14F-4D97-AF65-F5344CB8AC3E}">
        <p14:creationId xmlns:p14="http://schemas.microsoft.com/office/powerpoint/2010/main" val="30809588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2571750" y="839788"/>
            <a:ext cx="4057650" cy="3044825"/>
          </a:xfrm>
          <a:ln/>
        </p:spPr>
      </p:sp>
      <p:sp>
        <p:nvSpPr>
          <p:cNvPr id="15565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Give each use case a name that indicates what an instance of the use case does. The name may need to be several words to be clearly understood.</a:t>
            </a:r>
          </a:p>
          <a:p>
            <a:pPr eaLnBrk="1" hangingPunct="1"/>
            <a:endParaRPr lang="en-US" sz="800"/>
          </a:p>
        </p:txBody>
      </p:sp>
    </p:spTree>
    <p:extLst>
      <p:ext uri="{BB962C8B-B14F-4D97-AF65-F5344CB8AC3E}">
        <p14:creationId xmlns:p14="http://schemas.microsoft.com/office/powerpoint/2010/main" val="13088536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a:xfrm>
            <a:off x="2571750" y="839788"/>
            <a:ext cx="4057650" cy="3044825"/>
          </a:xfrm>
          <a:ln/>
        </p:spPr>
      </p:sp>
      <p:sp>
        <p:nvSpPr>
          <p:cNvPr id="15667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information is necessary to describe the use case in the use-case model:</a:t>
            </a:r>
          </a:p>
          <a:p>
            <a:pPr marL="216553" lvl="1" indent="-108276">
              <a:buFontTx/>
              <a:buChar char="•"/>
            </a:pPr>
            <a:r>
              <a:rPr lang="en-US" sz="800" b="1"/>
              <a:t>Name:</a:t>
            </a:r>
            <a:r>
              <a:rPr lang="en-US" sz="800"/>
              <a:t> The name of the use case</a:t>
            </a:r>
          </a:p>
          <a:p>
            <a:pPr marL="216553" lvl="1" indent="-108276">
              <a:buFontTx/>
              <a:buChar char="•"/>
            </a:pPr>
            <a:r>
              <a:rPr lang="en-US" sz="800" b="1"/>
              <a:t>Brief description:</a:t>
            </a:r>
            <a:r>
              <a:rPr lang="en-US" sz="800"/>
              <a:t> A brief description of the purpose of the use case	</a:t>
            </a:r>
          </a:p>
          <a:p>
            <a:pPr marL="216553" lvl="1" indent="-108276">
              <a:buFontTx/>
              <a:buChar char="•"/>
            </a:pPr>
            <a:r>
              <a:rPr lang="en-US" sz="800" b="1"/>
              <a:t>Relationships:</a:t>
            </a:r>
            <a:r>
              <a:rPr lang="en-US" sz="800"/>
              <a:t> The relationship (communicates-association) in which the use case participates</a:t>
            </a:r>
          </a:p>
          <a:p>
            <a:pPr eaLnBrk="1" hangingPunct="1"/>
            <a:r>
              <a:rPr lang="en-US" sz="800"/>
              <a:t>Some information about the use cases is also shown on use-case diagrams in the use-case model. The use-case diagrams show the name</a:t>
            </a:r>
            <a:r>
              <a:rPr lang="en-US" sz="800">
                <a:solidFill>
                  <a:srgbClr val="3333FF"/>
                </a:solidFill>
              </a:rPr>
              <a:t>s</a:t>
            </a:r>
            <a:r>
              <a:rPr lang="en-US" sz="800"/>
              <a:t> of the use case</a:t>
            </a:r>
            <a:r>
              <a:rPr lang="en-US" sz="800">
                <a:solidFill>
                  <a:srgbClr val="3333FF"/>
                </a:solidFill>
              </a:rPr>
              <a:t>s</a:t>
            </a:r>
            <a:r>
              <a:rPr lang="en-US" sz="800"/>
              <a:t> and the relationships with actors.</a:t>
            </a:r>
          </a:p>
          <a:p>
            <a:pPr eaLnBrk="1" hangingPunct="1"/>
            <a:r>
              <a:rPr lang="en-US" sz="800"/>
              <a:t> </a:t>
            </a:r>
          </a:p>
        </p:txBody>
      </p:sp>
      <p:sp>
        <p:nvSpPr>
          <p:cNvPr id="156676" name="Rectangle 4"/>
          <p:cNvSpPr>
            <a:spLocks noChangeArrowheads="1"/>
          </p:cNvSpPr>
          <p:nvPr/>
        </p:nvSpPr>
        <p:spPr bwMode="auto">
          <a:xfrm>
            <a:off x="228104" y="1285308"/>
            <a:ext cx="2131943" cy="6517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14" tIns="44257" rIns="88514" bIns="44257"/>
          <a:lstStyle/>
          <a:p>
            <a:pPr defTabSz="878242" eaLnBrk="0" hangingPunct="0">
              <a:lnSpc>
                <a:spcPct val="87000"/>
              </a:lnSpc>
              <a:spcBef>
                <a:spcPct val="30000"/>
              </a:spcBef>
            </a:pPr>
            <a:endParaRPr lang="en-AU" sz="900">
              <a:latin typeface="ZapfHumnst BT" pitchFamily="34" charset="0"/>
            </a:endParaRPr>
          </a:p>
        </p:txBody>
      </p:sp>
      <p:sp>
        <p:nvSpPr>
          <p:cNvPr id="156677" name="Text Box 5"/>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endParaRPr lang="en-US" sz="900">
              <a:solidFill>
                <a:schemeClr val="tx1"/>
              </a:solidFill>
            </a:endParaRPr>
          </a:p>
        </p:txBody>
      </p:sp>
    </p:spTree>
    <p:extLst>
      <p:ext uri="{BB962C8B-B14F-4D97-AF65-F5344CB8AC3E}">
        <p14:creationId xmlns:p14="http://schemas.microsoft.com/office/powerpoint/2010/main" val="31766877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xfrm>
            <a:off x="2571750" y="839788"/>
            <a:ext cx="4057650" cy="3044825"/>
          </a:xfrm>
          <a:ln/>
        </p:spPr>
      </p:sp>
      <p:sp>
        <p:nvSpPr>
          <p:cNvPr id="15769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list of actor checkpoints is a summary of the list in the IBM</a:t>
            </a:r>
            <a:r>
              <a:rPr lang="en-US" sz="800" baseline="30000">
                <a:cs typeface="Times New Roman" pitchFamily="18" charset="0"/>
              </a:rPr>
              <a:t>® </a:t>
            </a:r>
            <a:r>
              <a:rPr lang="en-US" sz="800"/>
              <a:t>Rational Unified Process</a:t>
            </a:r>
            <a:r>
              <a:rPr lang="en-US" sz="800" baseline="30000">
                <a:cs typeface="Times New Roman" pitchFamily="18" charset="0"/>
              </a:rPr>
              <a:t>®</a:t>
            </a:r>
            <a:r>
              <a:rPr lang="en-US" sz="800"/>
              <a:t> (RUP </a:t>
            </a:r>
            <a:r>
              <a:rPr lang="en-US" sz="800" baseline="30000">
                <a:sym typeface="Symbol" pitchFamily="18" charset="2"/>
              </a:rPr>
              <a:t>)</a:t>
            </a:r>
            <a:r>
              <a:rPr lang="en-US" sz="800"/>
              <a:t>. </a:t>
            </a:r>
          </a:p>
        </p:txBody>
      </p:sp>
      <p:sp>
        <p:nvSpPr>
          <p:cNvPr id="157700" name="Text Box 4"/>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endParaRPr lang="en-US" sz="900">
              <a:solidFill>
                <a:schemeClr val="tx1"/>
              </a:solidFill>
            </a:endParaRPr>
          </a:p>
        </p:txBody>
      </p:sp>
    </p:spTree>
    <p:extLst>
      <p:ext uri="{BB962C8B-B14F-4D97-AF65-F5344CB8AC3E}">
        <p14:creationId xmlns:p14="http://schemas.microsoft.com/office/powerpoint/2010/main" val="8571413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xfrm>
            <a:off x="2571750" y="839788"/>
            <a:ext cx="4057650" cy="3044825"/>
          </a:xfrm>
          <a:ln/>
        </p:spPr>
      </p:sp>
      <p:sp>
        <p:nvSpPr>
          <p:cNvPr id="15872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list of use-case checkpoints is a summary of the list in the IBM</a:t>
            </a:r>
            <a:r>
              <a:rPr lang="en-US" sz="800" baseline="30000">
                <a:cs typeface="Times New Roman" pitchFamily="18" charset="0"/>
              </a:rPr>
              <a:t>® </a:t>
            </a:r>
            <a:r>
              <a:rPr lang="en-US" sz="800"/>
              <a:t>Rational Unified Process</a:t>
            </a:r>
            <a:r>
              <a:rPr lang="en-US" sz="800" baseline="30000">
                <a:cs typeface="Times New Roman" pitchFamily="18" charset="0"/>
              </a:rPr>
              <a:t>®</a:t>
            </a:r>
            <a:r>
              <a:rPr lang="en-US" sz="800"/>
              <a:t> (RUP </a:t>
            </a:r>
            <a:r>
              <a:rPr lang="en-US" sz="800" baseline="30000">
                <a:sym typeface="Symbol" pitchFamily="18" charset="2"/>
              </a:rPr>
              <a:t>)</a:t>
            </a:r>
            <a:r>
              <a:rPr lang="en-US" sz="800"/>
              <a:t>. </a:t>
            </a:r>
          </a:p>
        </p:txBody>
      </p:sp>
      <p:sp>
        <p:nvSpPr>
          <p:cNvPr id="158724" name="Text Box 4"/>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endParaRPr lang="en-US" sz="900">
              <a:solidFill>
                <a:schemeClr val="tx1"/>
              </a:solidFill>
            </a:endParaRPr>
          </a:p>
        </p:txBody>
      </p:sp>
    </p:spTree>
    <p:extLst>
      <p:ext uri="{BB962C8B-B14F-4D97-AF65-F5344CB8AC3E}">
        <p14:creationId xmlns:p14="http://schemas.microsoft.com/office/powerpoint/2010/main" val="40543141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2571750" y="839788"/>
            <a:ext cx="4057650" cy="3044825"/>
          </a:xfrm>
          <a:ln/>
        </p:spPr>
      </p:sp>
      <p:sp>
        <p:nvSpPr>
          <p:cNvPr id="15974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5098377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xfrm>
            <a:off x="2571750" y="839788"/>
            <a:ext cx="4057650" cy="3044825"/>
          </a:xfrm>
          <a:ln/>
        </p:spPr>
      </p:sp>
      <p:sp>
        <p:nvSpPr>
          <p:cNvPr id="16077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Relationships between actors and use cases are called communicates-associations. A communicates-association between an actor and a use case indicates that they interact: The actor participates in and communicates with the system containing the use case. A communicates-association is represented on UML diagrams as a solid line</a:t>
            </a:r>
            <a:r>
              <a:rPr lang="en-US" sz="800">
                <a:solidFill>
                  <a:srgbClr val="3333FF"/>
                </a:solidFill>
              </a:rPr>
              <a:t>.</a:t>
            </a:r>
            <a:endParaRPr lang="en-US" sz="800"/>
          </a:p>
          <a:p>
            <a:pPr eaLnBrk="1" hangingPunct="1"/>
            <a:endParaRPr lang="en-US" sz="800"/>
          </a:p>
        </p:txBody>
      </p:sp>
      <p:sp>
        <p:nvSpPr>
          <p:cNvPr id="160772" name="Rectangle 4"/>
          <p:cNvSpPr>
            <a:spLocks noChangeArrowheads="1"/>
          </p:cNvSpPr>
          <p:nvPr/>
        </p:nvSpPr>
        <p:spPr bwMode="auto">
          <a:xfrm>
            <a:off x="152068" y="1214154"/>
            <a:ext cx="2285504" cy="613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14" tIns="44257" rIns="88514" bIns="44257"/>
          <a:lstStyle/>
          <a:p>
            <a:pPr defTabSz="878242" eaLnBrk="0" hangingPunct="0">
              <a:lnSpc>
                <a:spcPct val="87000"/>
              </a:lnSpc>
              <a:spcBef>
                <a:spcPct val="30000"/>
              </a:spcBef>
            </a:pPr>
            <a:endParaRPr lang="en-US" sz="900">
              <a:latin typeface="ZapfHumnst BT" pitchFamily="34" charset="0"/>
            </a:endParaRPr>
          </a:p>
          <a:p>
            <a:pPr defTabSz="878242" eaLnBrk="0" hangingPunct="0">
              <a:lnSpc>
                <a:spcPct val="87000"/>
              </a:lnSpc>
              <a:spcBef>
                <a:spcPct val="30000"/>
              </a:spcBef>
            </a:pPr>
            <a:r>
              <a:rPr lang="en-US" sz="900">
                <a:latin typeface="ZapfHumnst BT" pitchFamily="34" charset="0"/>
              </a:rPr>
              <a:t> </a:t>
            </a:r>
          </a:p>
          <a:p>
            <a:pPr defTabSz="878242" eaLnBrk="0" hangingPunct="0">
              <a:lnSpc>
                <a:spcPct val="87000"/>
              </a:lnSpc>
              <a:spcBef>
                <a:spcPct val="30000"/>
              </a:spcBef>
            </a:pPr>
            <a:endParaRPr lang="en-US" sz="900">
              <a:latin typeface="ZapfHumnst BT" pitchFamily="34" charset="0"/>
            </a:endParaRPr>
          </a:p>
          <a:p>
            <a:pPr defTabSz="878242" eaLnBrk="0" hangingPunct="0">
              <a:lnSpc>
                <a:spcPct val="87000"/>
              </a:lnSpc>
              <a:spcBef>
                <a:spcPct val="30000"/>
              </a:spcBef>
            </a:pPr>
            <a:endParaRPr lang="en-US" sz="900">
              <a:latin typeface="ZapfHumnst BT" pitchFamily="34" charset="0"/>
            </a:endParaRPr>
          </a:p>
        </p:txBody>
      </p:sp>
      <p:sp>
        <p:nvSpPr>
          <p:cNvPr id="160773" name="Text Box 5"/>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pPr>
            <a:r>
              <a:rPr lang="en-US" sz="900">
                <a:solidFill>
                  <a:schemeClr val="tx1"/>
                </a:solidFill>
              </a:rPr>
              <a:t>This slide describes the relationship between actors and use cases. This relationship is indicated in a use-case diagram by a line.</a:t>
            </a:r>
          </a:p>
          <a:p>
            <a:pPr>
              <a:lnSpc>
                <a:spcPct val="87000"/>
              </a:lnSpc>
              <a:spcBef>
                <a:spcPct val="40000"/>
              </a:spcBef>
            </a:pPr>
            <a:r>
              <a:rPr lang="en-US" sz="900">
                <a:solidFill>
                  <a:schemeClr val="tx1"/>
                </a:solidFill>
              </a:rPr>
              <a:t>Actors and use cases are both classifiers in the UML. The rules governing the use of an association are the same for all classifiers, for example, classes.</a:t>
            </a:r>
          </a:p>
        </p:txBody>
      </p:sp>
    </p:spTree>
    <p:extLst>
      <p:ext uri="{BB962C8B-B14F-4D97-AF65-F5344CB8AC3E}">
        <p14:creationId xmlns:p14="http://schemas.microsoft.com/office/powerpoint/2010/main" val="34637532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ChangeArrowheads="1" noTextEdit="1"/>
          </p:cNvSpPr>
          <p:nvPr>
            <p:ph type="sldImg"/>
          </p:nvPr>
        </p:nvSpPr>
        <p:spPr>
          <a:xfrm>
            <a:off x="2571750" y="839788"/>
            <a:ext cx="4057650" cy="3044825"/>
          </a:xfrm>
          <a:ln/>
        </p:spPr>
      </p:sp>
      <p:sp>
        <p:nvSpPr>
          <p:cNvPr id="16179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 communicates-association is a two-way dialog. The relationship between an actor and a use case is represented on the diagram by a single line, which represents a whole dialog. For example, the relationship between the Student actor and the Register for Courses use case might include the whole dialog shown on the left side of this slide. The relationship between the Register for Courses use case and the Course Catalog System actor might include the whole dialog shown on the right side of this slide. </a:t>
            </a:r>
          </a:p>
          <a:p>
            <a:pPr eaLnBrk="1" hangingPunct="1"/>
            <a:r>
              <a:rPr lang="en-US" sz="800"/>
              <a:t>The dialogs are recorded in the Flows of Events in the Use-Case Specification. </a:t>
            </a:r>
          </a:p>
        </p:txBody>
      </p:sp>
      <p:sp>
        <p:nvSpPr>
          <p:cNvPr id="161796" name="Rectangle 4"/>
          <p:cNvSpPr>
            <a:spLocks noChangeArrowheads="1"/>
          </p:cNvSpPr>
          <p:nvPr/>
        </p:nvSpPr>
        <p:spPr bwMode="auto">
          <a:xfrm>
            <a:off x="152069" y="1214154"/>
            <a:ext cx="2207978" cy="560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514" tIns="44257" rIns="88514" bIns="44257"/>
          <a:lstStyle/>
          <a:p>
            <a:pPr defTabSz="878242" eaLnBrk="0" hangingPunct="0">
              <a:lnSpc>
                <a:spcPct val="87000"/>
              </a:lnSpc>
              <a:spcBef>
                <a:spcPct val="30000"/>
              </a:spcBef>
            </a:pPr>
            <a:endParaRPr lang="en-US" sz="1000">
              <a:latin typeface="ZapfHumnst BT" pitchFamily="34" charset="0"/>
            </a:endParaRPr>
          </a:p>
        </p:txBody>
      </p:sp>
      <p:sp>
        <p:nvSpPr>
          <p:cNvPr id="161797" name="Text Box 5"/>
          <p:cNvSpPr txBox="1">
            <a:spLocks noChangeArrowheads="1"/>
          </p:cNvSpPr>
          <p:nvPr/>
        </p:nvSpPr>
        <p:spPr bwMode="auto">
          <a:xfrm>
            <a:off x="444279" y="1224752"/>
            <a:ext cx="1736864"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89" tIns="51095" rIns="102189" bIns="51095"/>
          <a:lstStyle>
            <a:lvl1pPr defTabSz="912813" eaLnBrk="0" hangingPunct="0">
              <a:defRPr sz="1600">
                <a:solidFill>
                  <a:schemeClr val="tx2"/>
                </a:solidFill>
                <a:latin typeface="Times New Roman" pitchFamily="18" charset="0"/>
              </a:defRPr>
            </a:lvl1pPr>
            <a:lvl2pPr marL="742950" indent="-285750" defTabSz="912813" eaLnBrk="0" hangingPunct="0">
              <a:defRPr sz="1600">
                <a:solidFill>
                  <a:schemeClr val="tx2"/>
                </a:solidFill>
                <a:latin typeface="Times New Roman" pitchFamily="18" charset="0"/>
              </a:defRPr>
            </a:lvl2pPr>
            <a:lvl3pPr marL="1143000" indent="-228600" defTabSz="912813" eaLnBrk="0" hangingPunct="0">
              <a:defRPr sz="1600">
                <a:solidFill>
                  <a:schemeClr val="tx2"/>
                </a:solidFill>
                <a:latin typeface="Times New Roman" pitchFamily="18" charset="0"/>
              </a:defRPr>
            </a:lvl3pPr>
            <a:lvl4pPr marL="1600200" indent="-228600" defTabSz="912813" eaLnBrk="0" hangingPunct="0">
              <a:defRPr sz="1600">
                <a:solidFill>
                  <a:schemeClr val="tx2"/>
                </a:solidFill>
                <a:latin typeface="Times New Roman" pitchFamily="18" charset="0"/>
              </a:defRPr>
            </a:lvl4pPr>
            <a:lvl5pPr marL="2057400" indent="-228600" defTabSz="912813" eaLnBrk="0" hangingPunct="0">
              <a:defRPr sz="1600">
                <a:solidFill>
                  <a:schemeClr val="tx2"/>
                </a:solidFill>
                <a:latin typeface="Times New Roman" pitchFamily="18" charset="0"/>
              </a:defRPr>
            </a:lvl5pPr>
            <a:lvl6pPr marL="2514600" indent="-228600" defTabSz="912813" eaLnBrk="0" fontAlgn="base" hangingPunct="0">
              <a:spcBef>
                <a:spcPct val="0"/>
              </a:spcBef>
              <a:spcAft>
                <a:spcPct val="0"/>
              </a:spcAft>
              <a:defRPr sz="1600">
                <a:solidFill>
                  <a:schemeClr val="tx2"/>
                </a:solidFill>
                <a:latin typeface="Times New Roman" pitchFamily="18" charset="0"/>
              </a:defRPr>
            </a:lvl6pPr>
            <a:lvl7pPr marL="2971800" indent="-228600" defTabSz="912813" eaLnBrk="0" fontAlgn="base" hangingPunct="0">
              <a:spcBef>
                <a:spcPct val="0"/>
              </a:spcBef>
              <a:spcAft>
                <a:spcPct val="0"/>
              </a:spcAft>
              <a:defRPr sz="1600">
                <a:solidFill>
                  <a:schemeClr val="tx2"/>
                </a:solidFill>
                <a:latin typeface="Times New Roman" pitchFamily="18" charset="0"/>
              </a:defRPr>
            </a:lvl7pPr>
            <a:lvl8pPr marL="3429000" indent="-228600" defTabSz="912813" eaLnBrk="0" fontAlgn="base" hangingPunct="0">
              <a:spcBef>
                <a:spcPct val="0"/>
              </a:spcBef>
              <a:spcAft>
                <a:spcPct val="0"/>
              </a:spcAft>
              <a:defRPr sz="1600">
                <a:solidFill>
                  <a:schemeClr val="tx2"/>
                </a:solidFill>
                <a:latin typeface="Times New Roman" pitchFamily="18" charset="0"/>
              </a:defRPr>
            </a:lvl8pPr>
            <a:lvl9pPr marL="3886200" indent="-228600" defTabSz="912813"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spcAft>
                <a:spcPts val="568"/>
              </a:spcAft>
            </a:pPr>
            <a:r>
              <a:rPr lang="en-US" sz="900">
                <a:solidFill>
                  <a:schemeClr val="tx1"/>
                </a:solidFill>
              </a:rPr>
              <a:t>Emphasize that the use-case diagram is intended only to show the actors, use cases, and the relationships between them. But the relationships are spelled out in detail in the descriptions of use cases.</a:t>
            </a:r>
          </a:p>
        </p:txBody>
      </p:sp>
    </p:spTree>
    <p:extLst>
      <p:ext uri="{BB962C8B-B14F-4D97-AF65-F5344CB8AC3E}">
        <p14:creationId xmlns:p14="http://schemas.microsoft.com/office/powerpoint/2010/main" val="2196648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xfrm>
            <a:off x="2571750" y="839788"/>
            <a:ext cx="4057650" cy="3044825"/>
          </a:xfrm>
          <a:ln/>
        </p:spPr>
      </p:sp>
      <p:sp>
        <p:nvSpPr>
          <p:cNvPr id="16281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Here is an example that raises questions that need to be answered by the customer or user:</a:t>
            </a:r>
          </a:p>
          <a:p>
            <a:pPr marL="216553" lvl="1" indent="-108276">
              <a:buFontTx/>
              <a:buChar char="•"/>
            </a:pPr>
            <a:r>
              <a:rPr lang="en-US" sz="800"/>
              <a:t>Are the use cases too small?</a:t>
            </a:r>
          </a:p>
          <a:p>
            <a:pPr marL="216553" lvl="1" indent="-108276">
              <a:buFontTx/>
              <a:buChar char="•"/>
            </a:pPr>
            <a:r>
              <a:rPr lang="en-US" sz="800"/>
              <a:t>Does the diagram cover all activities? </a:t>
            </a:r>
          </a:p>
          <a:p>
            <a:pPr marL="216553" lvl="1" indent="-108276">
              <a:buFontTx/>
              <a:buChar char="•"/>
            </a:pPr>
            <a:r>
              <a:rPr lang="en-US" sz="800"/>
              <a:t>How do you know what is done in each use case?</a:t>
            </a:r>
          </a:p>
          <a:p>
            <a:pPr eaLnBrk="1" hangingPunct="1"/>
            <a:r>
              <a:rPr lang="en-US" sz="800"/>
              <a:t>You might notice that the Student and the Professor interact with the system during Close Registration. Does this mean that they have to be present when registration closes? No, it doesn’t. They are informed of the outcome through e-mail or postal mail. Another technique is to make the e-mail server or the postal service an actor. There is no right or wrong answer; both are correct. Use whichever method more clearly conveys your requirements.</a:t>
            </a:r>
          </a:p>
          <a:p>
            <a:pPr eaLnBrk="1" hangingPunct="1"/>
            <a:endParaRPr lang="en-US" sz="800"/>
          </a:p>
        </p:txBody>
      </p:sp>
      <p:sp>
        <p:nvSpPr>
          <p:cNvPr id="162820"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The example is not necessarily the best or only solution for the course registration system, but it is good for stimulating discussion.</a:t>
            </a:r>
          </a:p>
          <a:p>
            <a:pPr eaLnBrk="1" hangingPunct="1"/>
            <a:r>
              <a:rPr lang="en-US" sz="900">
                <a:solidFill>
                  <a:schemeClr val="tx1"/>
                </a:solidFill>
              </a:rPr>
              <a:t>Regarding the question “How do you know what is done in each use case?”, the answer is that you do not know from the diagram. This is a good lead-in for the need to develop the flow of events.</a:t>
            </a:r>
          </a:p>
          <a:p>
            <a:pPr eaLnBrk="1" hangingPunct="1"/>
            <a:r>
              <a:rPr lang="en-US" sz="900">
                <a:solidFill>
                  <a:schemeClr val="tx1"/>
                </a:solidFill>
              </a:rPr>
              <a:t>Reminder: Each use case is detailed in a use-case specification document.</a:t>
            </a:r>
          </a:p>
        </p:txBody>
      </p:sp>
    </p:spTree>
    <p:extLst>
      <p:ext uri="{BB962C8B-B14F-4D97-AF65-F5344CB8AC3E}">
        <p14:creationId xmlns:p14="http://schemas.microsoft.com/office/powerpoint/2010/main" val="29313328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ChangeArrowheads="1" noTextEdit="1"/>
          </p:cNvSpPr>
          <p:nvPr>
            <p:ph type="sldImg"/>
          </p:nvPr>
        </p:nvSpPr>
        <p:spPr>
          <a:xfrm>
            <a:off x="2571750" y="839788"/>
            <a:ext cx="4057650" cy="3044825"/>
          </a:xfrm>
          <a:ln/>
        </p:spPr>
      </p:sp>
      <p:sp>
        <p:nvSpPr>
          <p:cNvPr id="16384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63844"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How do you find use cases?: slide 16-20</a:t>
            </a:r>
          </a:p>
          <a:p>
            <a:pPr eaLnBrk="1" hangingPunct="1"/>
            <a:endParaRPr lang="en-US" sz="900">
              <a:solidFill>
                <a:schemeClr val="tx1"/>
              </a:solidFill>
            </a:endParaRPr>
          </a:p>
        </p:txBody>
      </p:sp>
    </p:spTree>
    <p:extLst>
      <p:ext uri="{BB962C8B-B14F-4D97-AF65-F5344CB8AC3E}">
        <p14:creationId xmlns:p14="http://schemas.microsoft.com/office/powerpoint/2010/main" val="3899632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7811568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8074734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840531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ln/>
        </p:spPr>
      </p:sp>
      <p:sp>
        <p:nvSpPr>
          <p:cNvPr id="167939"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8732320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2643992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ln/>
        </p:spPr>
      </p:sp>
      <p:sp>
        <p:nvSpPr>
          <p:cNvPr id="169987"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3940378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374256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457578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4929524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Rot="1" noChangeAspect="1" noChangeArrowheads="1" noTextEdit="1"/>
          </p:cNvSpPr>
          <p:nvPr>
            <p:ph type="sldImg"/>
          </p:nvPr>
        </p:nvSpPr>
        <p:spPr>
          <a:ln/>
        </p:spPr>
      </p:sp>
      <p:sp>
        <p:nvSpPr>
          <p:cNvPr id="174083"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678485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116945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a:xfrm>
            <a:off x="915394" y="4343401"/>
            <a:ext cx="5027212" cy="411328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0058143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2571750" y="839788"/>
            <a:ext cx="4057650" cy="3044825"/>
          </a:xfrm>
          <a:ln/>
        </p:spPr>
      </p:sp>
      <p:sp>
        <p:nvSpPr>
          <p:cNvPr id="17715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Turn to Exercise 2 in the Student Workbook.</a:t>
            </a:r>
          </a:p>
        </p:txBody>
      </p:sp>
      <p:sp>
        <p:nvSpPr>
          <p:cNvPr id="177156"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Refer students to Exercise 2 in the Student Workbook.</a:t>
            </a:r>
          </a:p>
          <a:p>
            <a:pPr eaLnBrk="1" hangingPunct="1"/>
            <a:endParaRPr lang="en-US" sz="900">
              <a:solidFill>
                <a:schemeClr val="tx1"/>
              </a:solidFill>
            </a:endParaRPr>
          </a:p>
          <a:p>
            <a:pPr eaLnBrk="1" hangingPunct="1"/>
            <a:r>
              <a:rPr lang="en-US" sz="900">
                <a:solidFill>
                  <a:schemeClr val="tx1"/>
                </a:solidFill>
              </a:rPr>
              <a:t>Instruct the students to work in groups on this exercise. </a:t>
            </a:r>
          </a:p>
          <a:p>
            <a:pPr eaLnBrk="1" hangingPunct="1"/>
            <a:endParaRPr lang="en-US" sz="900">
              <a:solidFill>
                <a:schemeClr val="tx1"/>
              </a:solidFill>
            </a:endParaRPr>
          </a:p>
          <a:p>
            <a:pPr eaLnBrk="1" hangingPunct="1"/>
            <a:r>
              <a:rPr lang="en-US" sz="900">
                <a:solidFill>
                  <a:schemeClr val="tx1"/>
                </a:solidFill>
              </a:rPr>
              <a:t>Refer to the lab instructions for further details on how to lead this exercise.</a:t>
            </a:r>
          </a:p>
          <a:p>
            <a:pPr eaLnBrk="1" hangingPunct="1"/>
            <a:endParaRPr lang="en-US" sz="900">
              <a:solidFill>
                <a:schemeClr val="tx1"/>
              </a:solidFill>
            </a:endParaRPr>
          </a:p>
          <a:p>
            <a:pPr eaLnBrk="1" hangingPunct="1"/>
            <a:r>
              <a:rPr lang="en-US" sz="900">
                <a:solidFill>
                  <a:schemeClr val="tx1"/>
                </a:solidFill>
              </a:rPr>
              <a:t>Some notes about the sample solution:</a:t>
            </a:r>
          </a:p>
          <a:p>
            <a:pPr eaLnBrk="1" hangingPunct="1"/>
            <a:r>
              <a:rPr lang="en-US" sz="900">
                <a:solidFill>
                  <a:schemeClr val="tx1"/>
                </a:solidFill>
              </a:rPr>
              <a:t>About the Break into Machine use case; The system boundary is the ATM machine itself. It would have sensors to detect tampering but these are within the system boundary (i.e., the system designer has the choice of how to best detect tampering.)</a:t>
            </a:r>
          </a:p>
        </p:txBody>
      </p:sp>
    </p:spTree>
    <p:extLst>
      <p:ext uri="{BB962C8B-B14F-4D97-AF65-F5344CB8AC3E}">
        <p14:creationId xmlns:p14="http://schemas.microsoft.com/office/powerpoint/2010/main" val="19593069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xfrm>
            <a:off x="2571750" y="839788"/>
            <a:ext cx="4057650" cy="3044825"/>
          </a:xfrm>
          <a:ln/>
        </p:spPr>
      </p:sp>
      <p:sp>
        <p:nvSpPr>
          <p:cNvPr id="17920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0816684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spect="1" noChangeArrowheads="1" noTextEdit="1"/>
          </p:cNvSpPr>
          <p:nvPr>
            <p:ph type="sldImg"/>
          </p:nvPr>
        </p:nvSpPr>
        <p:spPr>
          <a:xfrm>
            <a:off x="2571750" y="839788"/>
            <a:ext cx="4057650" cy="3044825"/>
          </a:xfrm>
          <a:ln/>
        </p:spPr>
      </p:sp>
      <p:sp>
        <p:nvSpPr>
          <p:cNvPr id="18022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Developing a use-case sequence of actions is an iterative process. Start by developing an outline or draft, such as the one on this page. Later, add the descriptions. The outlines are not official documents, but merely a start toward developing a document. </a:t>
            </a:r>
          </a:p>
          <a:p>
            <a:pPr eaLnBrk="1" hangingPunct="1"/>
            <a:r>
              <a:rPr lang="en-US" sz="800"/>
              <a:t>The basic flow shows the major steps in accomplishing the goal of the use case.</a:t>
            </a:r>
          </a:p>
          <a:p>
            <a:pPr eaLnBrk="1" hangingPunct="1"/>
            <a:r>
              <a:rPr lang="en-US" sz="800"/>
              <a:t> The alternative flows show alternatives behavior (what may go wrong and optional behavior). At this point in the process, it is enough to identify the most significant alternatives without describing them in detail.</a:t>
            </a:r>
          </a:p>
          <a:p>
            <a:pPr eaLnBrk="1" hangingPunct="1"/>
            <a:endParaRPr lang="en-US" sz="800"/>
          </a:p>
          <a:p>
            <a:pPr eaLnBrk="1" hangingPunct="1"/>
            <a:endParaRPr lang="en-US" sz="800"/>
          </a:p>
        </p:txBody>
      </p:sp>
      <p:sp>
        <p:nvSpPr>
          <p:cNvPr id="180228"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Structure the flow into steps with either bullets or numbers.</a:t>
            </a:r>
          </a:p>
          <a:p>
            <a:pPr>
              <a:lnSpc>
                <a:spcPct val="87000"/>
              </a:lnSpc>
              <a:spcBef>
                <a:spcPct val="30000"/>
              </a:spcBef>
            </a:pPr>
            <a:r>
              <a:rPr lang="en-US" sz="900">
                <a:solidFill>
                  <a:schemeClr val="tx1"/>
                </a:solidFill>
              </a:rPr>
              <a:t>Review the basic concepts for developing a use-case outline.</a:t>
            </a:r>
          </a:p>
          <a:p>
            <a:pPr>
              <a:lnSpc>
                <a:spcPct val="87000"/>
              </a:lnSpc>
              <a:spcBef>
                <a:spcPct val="30000"/>
              </a:spcBef>
            </a:pPr>
            <a:r>
              <a:rPr lang="en-US" sz="900">
                <a:solidFill>
                  <a:schemeClr val="tx1"/>
                </a:solidFill>
              </a:rPr>
              <a:t>See Student Notes.</a:t>
            </a:r>
          </a:p>
          <a:p>
            <a:pPr>
              <a:lnSpc>
                <a:spcPct val="87000"/>
              </a:lnSpc>
              <a:spcBef>
                <a:spcPct val="30000"/>
              </a:spcBef>
            </a:pPr>
            <a:endParaRPr lang="en-US" sz="900">
              <a:solidFill>
                <a:schemeClr val="tx1"/>
              </a:solidFill>
              <a:latin typeface="ZapfHumnst BT" pitchFamily="34" charset="0"/>
            </a:endParaRPr>
          </a:p>
        </p:txBody>
      </p:sp>
    </p:spTree>
    <p:extLst>
      <p:ext uri="{BB962C8B-B14F-4D97-AF65-F5344CB8AC3E}">
        <p14:creationId xmlns:p14="http://schemas.microsoft.com/office/powerpoint/2010/main" val="258958254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571750" y="839788"/>
            <a:ext cx="4057650" cy="3044825"/>
          </a:xfrm>
          <a:ln/>
        </p:spPr>
      </p:sp>
      <p:sp>
        <p:nvSpPr>
          <p:cNvPr id="18125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Reasons to outline your use cases:</a:t>
            </a:r>
          </a:p>
          <a:p>
            <a:pPr marL="324829" lvl="1" indent="-216553">
              <a:buFontTx/>
              <a:buChar char="•"/>
            </a:pPr>
            <a:r>
              <a:rPr lang="en-US" sz="800"/>
              <a:t>Iterative development reduces risk. For the same reason that you do not implement the whole system at once, you do not develop the detailed requirements all at once.</a:t>
            </a:r>
          </a:p>
          <a:p>
            <a:pPr marL="324829" lvl="1" indent="-216553">
              <a:buFontTx/>
              <a:buChar char="•"/>
            </a:pPr>
            <a:r>
              <a:rPr lang="en-US" sz="800"/>
              <a:t>Avoid writing too much detail too early.</a:t>
            </a:r>
          </a:p>
          <a:p>
            <a:pPr marL="324829" lvl="1" indent="-216553">
              <a:buFontTx/>
              <a:buChar char="•"/>
            </a:pPr>
            <a:r>
              <a:rPr lang="en-US" sz="800"/>
              <a:t>You do not know everything at first. Outlining helps you discover what you don’t know.</a:t>
            </a:r>
          </a:p>
          <a:p>
            <a:pPr marL="324829" lvl="1" indent="-216553">
              <a:buFontTx/>
              <a:buChar char="•"/>
            </a:pPr>
            <a:r>
              <a:rPr lang="en-US" sz="800"/>
              <a:t>Outlining use cases creates a rough draft to use as a starting point for fully specifying your use cases.</a:t>
            </a:r>
          </a:p>
          <a:p>
            <a:pPr marL="324829" lvl="1" indent="-216553">
              <a:buFontTx/>
              <a:buChar char="•"/>
            </a:pPr>
            <a:r>
              <a:rPr lang="en-US" sz="800"/>
              <a:t>Outlining helps determine whether the use case is too small on its own or too big to be just one use case. It might also help you decide whether the use case is actually more than just one use case. </a:t>
            </a:r>
          </a:p>
          <a:p>
            <a:pPr marL="324829" lvl="1" indent="-216553">
              <a:buFontTx/>
              <a:buChar char="•"/>
            </a:pPr>
            <a:r>
              <a:rPr lang="en-US" sz="800"/>
              <a:t>After you outline your steps, you might find that they really belong in another use case. Also, if the outline shows that the use case does not have much to it, it may not be a use case at all. </a:t>
            </a:r>
          </a:p>
          <a:p>
            <a:pPr marL="324829" lvl="1" indent="-216553">
              <a:buFontTx/>
              <a:buChar char="•"/>
            </a:pPr>
            <a:r>
              <a:rPr lang="en-US" sz="800"/>
              <a:t>Outlining adds value to finding all possible alternate flows.</a:t>
            </a:r>
          </a:p>
          <a:p>
            <a:pPr eaLnBrk="1" hangingPunct="1">
              <a:buFontTx/>
              <a:buChar char="•"/>
            </a:pPr>
            <a:endParaRPr lang="en-US" sz="800"/>
          </a:p>
        </p:txBody>
      </p:sp>
    </p:spTree>
    <p:extLst>
      <p:ext uri="{BB962C8B-B14F-4D97-AF65-F5344CB8AC3E}">
        <p14:creationId xmlns:p14="http://schemas.microsoft.com/office/powerpoint/2010/main" val="11931497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xfrm>
            <a:off x="2571750" y="839788"/>
            <a:ext cx="4057650" cy="3044825"/>
          </a:xfrm>
          <a:ln/>
        </p:spPr>
      </p:sp>
      <p:sp>
        <p:nvSpPr>
          <p:cNvPr id="18227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The outline of the flow of events for a use case has two main sections:</a:t>
            </a:r>
          </a:p>
          <a:p>
            <a:pPr marL="324829" lvl="1" indent="-216553">
              <a:buFont typeface="Wingdings" pitchFamily="2" charset="2"/>
              <a:buChar char="§"/>
            </a:pPr>
            <a:r>
              <a:rPr lang="en-US" sz="800"/>
              <a:t>Basic Flow of Events</a:t>
            </a:r>
          </a:p>
          <a:p>
            <a:pPr marL="324829" lvl="1" indent="-216553">
              <a:buFont typeface="Wingdings" pitchFamily="2" charset="2"/>
              <a:buChar char="§"/>
            </a:pPr>
            <a:r>
              <a:rPr lang="en-US" sz="800"/>
              <a:t>Alternative Flow of Events</a:t>
            </a:r>
          </a:p>
          <a:p>
            <a:pPr eaLnBrk="1" hangingPunct="1"/>
            <a:r>
              <a:rPr lang="en-US" sz="800"/>
              <a:t>The outline is used as a base when you start to write the full use-case specification.</a:t>
            </a:r>
          </a:p>
          <a:p>
            <a:pPr eaLnBrk="1" hangingPunct="1"/>
            <a:r>
              <a:rPr lang="en-US" sz="800"/>
              <a:t>Structure the flows in such a way that it is easy to follow the different scenarios and to be able to understand what happens when alternatives occur and where they pick up and finish.</a:t>
            </a:r>
          </a:p>
          <a:p>
            <a:pPr eaLnBrk="1" hangingPunct="1"/>
            <a:r>
              <a:rPr lang="en-US" sz="800"/>
              <a:t>The basic flow of events should be relatively short and easy to read, like a single story line. The basic flow should show the steps needed to achieve the main goal of the use case. </a:t>
            </a:r>
          </a:p>
          <a:p>
            <a:pPr eaLnBrk="1" hangingPunct="1"/>
            <a:r>
              <a:rPr lang="en-US" sz="800"/>
              <a:t>Most of the other details go into alternative flows. You can think of the alternative flows as “detours” from the basic flow of events, some that return to the basic flow of events and some that end the execution of the use case. In the diagram on the slide, the straight arrow represents the basic flow and the curves represent alternative paths in relation to the basic flow. Examples of different kinds of alternative flows for the Register for Courses use case are:</a:t>
            </a:r>
          </a:p>
          <a:p>
            <a:pPr marL="324829" lvl="1" indent="-216553">
              <a:buFont typeface="Wingdings" pitchFamily="2" charset="2"/>
              <a:buChar char="§"/>
            </a:pPr>
            <a:r>
              <a:rPr lang="en-US" sz="800"/>
              <a:t>Regular variants: Handle freshman enrollments differently.</a:t>
            </a:r>
          </a:p>
          <a:p>
            <a:pPr marL="324829" lvl="1" indent="-216553">
              <a:buFont typeface="Wingdings" pitchFamily="2" charset="2"/>
              <a:buChar char="§"/>
            </a:pPr>
            <a:r>
              <a:rPr lang="en-US" sz="800"/>
              <a:t>Odd cases: Handle registering for more than  25 credit hours differently.</a:t>
            </a:r>
          </a:p>
          <a:p>
            <a:pPr marL="324829" lvl="1" indent="-216553">
              <a:buFont typeface="Wingdings" pitchFamily="2" charset="2"/>
              <a:buChar char="§"/>
            </a:pPr>
            <a:r>
              <a:rPr lang="en-US" sz="800"/>
              <a:t>Exceptional (error) flows: Invalid student ID number.</a:t>
            </a:r>
          </a:p>
          <a:p>
            <a:pPr eaLnBrk="1" hangingPunct="1"/>
            <a:r>
              <a:rPr lang="en-US" sz="800"/>
              <a:t>Note</a:t>
            </a:r>
            <a:r>
              <a:rPr lang="en-US" sz="800" b="1"/>
              <a:t>: </a:t>
            </a:r>
            <a:r>
              <a:rPr lang="en-US" sz="800"/>
              <a:t>The diagram  on the slide is informational only and is not a valid UML diagram.</a:t>
            </a:r>
          </a:p>
        </p:txBody>
      </p:sp>
      <p:sp>
        <p:nvSpPr>
          <p:cNvPr id="182276"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This slide adds more depth about basic and alternative flows. Review some reasons to have alternative flows of events. </a:t>
            </a:r>
          </a:p>
          <a:p>
            <a:pPr>
              <a:lnSpc>
                <a:spcPct val="87000"/>
              </a:lnSpc>
              <a:spcBef>
                <a:spcPct val="30000"/>
              </a:spcBef>
            </a:pPr>
            <a:r>
              <a:rPr lang="en-US" sz="900">
                <a:solidFill>
                  <a:schemeClr val="tx1"/>
                </a:solidFill>
              </a:rPr>
              <a:t>Ask: “Why not just put all the descriptions of all the options into the basic flow of events?”</a:t>
            </a:r>
          </a:p>
          <a:p>
            <a:pPr>
              <a:lnSpc>
                <a:spcPct val="87000"/>
              </a:lnSpc>
              <a:spcBef>
                <a:spcPct val="30000"/>
              </a:spcBef>
            </a:pPr>
            <a:r>
              <a:rPr lang="en-US" sz="900">
                <a:solidFill>
                  <a:schemeClr val="tx1"/>
                </a:solidFill>
              </a:rPr>
              <a:t>Answer: Because it would be hard to read, like reading a flowchart in text form.</a:t>
            </a:r>
          </a:p>
          <a:p>
            <a:pPr>
              <a:lnSpc>
                <a:spcPct val="87000"/>
              </a:lnSpc>
              <a:spcBef>
                <a:spcPct val="30000"/>
              </a:spcBef>
            </a:pPr>
            <a:r>
              <a:rPr lang="en-US" sz="900">
                <a:solidFill>
                  <a:schemeClr val="tx1"/>
                </a:solidFill>
              </a:rPr>
              <a:t>The basic flow of events should be relatively short and very easy to read (like a single story). Typically, most of the other descriptions are located in alternative flows.</a:t>
            </a:r>
          </a:p>
          <a:p>
            <a:pPr>
              <a:lnSpc>
                <a:spcPct val="87000"/>
              </a:lnSpc>
              <a:spcBef>
                <a:spcPct val="30000"/>
              </a:spcBef>
            </a:pPr>
            <a:r>
              <a:rPr lang="en-US" sz="900">
                <a:solidFill>
                  <a:schemeClr val="tx1"/>
                </a:solidFill>
              </a:rPr>
              <a:t>A short example may help to illustrate the different kinds of alternative flows (see Student Notes).</a:t>
            </a:r>
          </a:p>
          <a:p>
            <a:pPr eaLnBrk="1" hangingPunct="1">
              <a:spcBef>
                <a:spcPct val="30000"/>
              </a:spcBef>
            </a:pPr>
            <a:endParaRPr lang="en-US" sz="900">
              <a:solidFill>
                <a:schemeClr val="tx1"/>
              </a:solidFill>
            </a:endParaRPr>
          </a:p>
          <a:p>
            <a:pPr>
              <a:lnSpc>
                <a:spcPct val="87000"/>
              </a:lnSpc>
              <a:spcBef>
                <a:spcPct val="30000"/>
              </a:spcBef>
            </a:pPr>
            <a:endParaRPr lang="en-US" sz="900">
              <a:solidFill>
                <a:schemeClr val="tx1"/>
              </a:solidFill>
            </a:endParaRPr>
          </a:p>
        </p:txBody>
      </p:sp>
    </p:spTree>
    <p:extLst>
      <p:ext uri="{BB962C8B-B14F-4D97-AF65-F5344CB8AC3E}">
        <p14:creationId xmlns:p14="http://schemas.microsoft.com/office/powerpoint/2010/main" val="17807271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Rot="1" noChangeAspect="1" noChangeArrowheads="1" noTextEdit="1"/>
          </p:cNvSpPr>
          <p:nvPr>
            <p:ph type="sldImg"/>
          </p:nvPr>
        </p:nvSpPr>
        <p:spPr>
          <a:xfrm>
            <a:off x="2571750" y="839788"/>
            <a:ext cx="4057650" cy="3044825"/>
          </a:xfrm>
          <a:ln/>
        </p:spPr>
      </p:sp>
      <p:sp>
        <p:nvSpPr>
          <p:cNvPr id="18329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Here is a list of questions to help you make decisions about the details in the flow of events.</a:t>
            </a:r>
          </a:p>
          <a:p>
            <a:pPr eaLnBrk="1" hangingPunct="1"/>
            <a:r>
              <a:rPr lang="en-US" sz="800"/>
              <a:t>Alternative flows describe how the system should behave when things go wrong or when unusual things happen. </a:t>
            </a:r>
          </a:p>
          <a:p>
            <a:pPr eaLnBrk="1" hangingPunct="1"/>
            <a:r>
              <a:rPr lang="en-US" sz="800"/>
              <a:t>When working on the alternative flows, questions regarding the behavior of the system are bound to surface. List these questions and have the system users answer what the system is supposed to do, and how they expect to interact with the system in each scenario. Understanding the alternatives is an important step in clarifying the requirements. </a:t>
            </a:r>
          </a:p>
          <a:p>
            <a:pPr eaLnBrk="1" hangingPunct="1"/>
            <a:r>
              <a:rPr lang="en-US" sz="800"/>
              <a:t>At this point in the process, however, it is enough to identify the alternatives without describing them in detail.</a:t>
            </a:r>
          </a:p>
          <a:p>
            <a:pPr eaLnBrk="1" hangingPunct="1"/>
            <a:endParaRPr lang="en-US" sz="800"/>
          </a:p>
          <a:p>
            <a:pPr eaLnBrk="1" hangingPunct="1"/>
            <a:endParaRPr lang="en-US"/>
          </a:p>
        </p:txBody>
      </p:sp>
      <p:sp>
        <p:nvSpPr>
          <p:cNvPr id="183300"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227013" indent="-112713"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buFont typeface="Wingdings" pitchFamily="2" charset="2"/>
              <a:buNone/>
            </a:pPr>
            <a:r>
              <a:rPr lang="en-US" sz="900">
                <a:solidFill>
                  <a:schemeClr val="tx1"/>
                </a:solidFill>
              </a:rPr>
              <a:t>This is a good list of questions for students to use in developing their own flow of events. Suggest that the students mark this page so they can find it easily.</a:t>
            </a:r>
          </a:p>
          <a:p>
            <a:pPr>
              <a:lnSpc>
                <a:spcPct val="87000"/>
              </a:lnSpc>
              <a:spcBef>
                <a:spcPct val="30000"/>
              </a:spcBef>
            </a:pPr>
            <a:r>
              <a:rPr lang="en-US" sz="900">
                <a:solidFill>
                  <a:schemeClr val="tx1"/>
                </a:solidFill>
              </a:rPr>
              <a:t>Use lots of examples to illustrate the differences between the types of alternative flows. There is a different question to identify each type.</a:t>
            </a:r>
          </a:p>
          <a:p>
            <a:pPr lvl="1">
              <a:lnSpc>
                <a:spcPct val="87000"/>
              </a:lnSpc>
              <a:spcBef>
                <a:spcPct val="30000"/>
              </a:spcBef>
              <a:buFontTx/>
              <a:buChar char="•"/>
            </a:pPr>
            <a:r>
              <a:rPr lang="en-US" sz="900">
                <a:solidFill>
                  <a:schemeClr val="tx1"/>
                </a:solidFill>
              </a:rPr>
              <a:t>What variations or options do we need to consider?</a:t>
            </a:r>
          </a:p>
          <a:p>
            <a:pPr lvl="1">
              <a:lnSpc>
                <a:spcPct val="87000"/>
              </a:lnSpc>
              <a:spcBef>
                <a:spcPct val="30000"/>
              </a:spcBef>
              <a:buFontTx/>
              <a:buChar char="•"/>
            </a:pPr>
            <a:r>
              <a:rPr lang="en-US" sz="900">
                <a:solidFill>
                  <a:schemeClr val="tx1"/>
                </a:solidFill>
              </a:rPr>
              <a:t>What unusual circumstances must be handled a bit differently?</a:t>
            </a:r>
          </a:p>
          <a:p>
            <a:pPr lvl="1">
              <a:lnSpc>
                <a:spcPct val="87000"/>
              </a:lnSpc>
              <a:spcBef>
                <a:spcPct val="30000"/>
              </a:spcBef>
              <a:buFontTx/>
              <a:buChar char="•"/>
            </a:pPr>
            <a:r>
              <a:rPr lang="en-US" sz="900">
                <a:solidFill>
                  <a:schemeClr val="tx1"/>
                </a:solidFill>
              </a:rPr>
              <a:t>What can go wrong?</a:t>
            </a:r>
          </a:p>
          <a:p>
            <a:pPr>
              <a:lnSpc>
                <a:spcPct val="87000"/>
              </a:lnSpc>
              <a:spcBef>
                <a:spcPct val="30000"/>
              </a:spcBef>
            </a:pPr>
            <a:r>
              <a:rPr lang="en-US" sz="900">
                <a:solidFill>
                  <a:schemeClr val="tx1"/>
                </a:solidFill>
              </a:rPr>
              <a:t>The point is to be able to identify all of the alternatives needed in a use case.</a:t>
            </a:r>
          </a:p>
          <a:p>
            <a:pPr>
              <a:lnSpc>
                <a:spcPct val="87000"/>
              </a:lnSpc>
              <a:spcBef>
                <a:spcPct val="30000"/>
              </a:spcBef>
              <a:buFont typeface="Wingdings" pitchFamily="2" charset="2"/>
              <a:buNone/>
            </a:pPr>
            <a:endParaRPr lang="en-US" sz="900">
              <a:solidFill>
                <a:schemeClr val="tx1"/>
              </a:solidFill>
            </a:endParaRPr>
          </a:p>
          <a:p>
            <a:pPr>
              <a:lnSpc>
                <a:spcPct val="87000"/>
              </a:lnSpc>
              <a:spcBef>
                <a:spcPct val="30000"/>
              </a:spcBef>
              <a:buFont typeface="Wingdings" pitchFamily="2" charset="2"/>
              <a:buNone/>
            </a:pPr>
            <a:endParaRPr lang="en-US" sz="900">
              <a:solidFill>
                <a:schemeClr val="tx1"/>
              </a:solidFill>
            </a:endParaRPr>
          </a:p>
        </p:txBody>
      </p:sp>
    </p:spTree>
    <p:extLst>
      <p:ext uri="{BB962C8B-B14F-4D97-AF65-F5344CB8AC3E}">
        <p14:creationId xmlns:p14="http://schemas.microsoft.com/office/powerpoint/2010/main" val="21814016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xfrm>
            <a:off x="2571750" y="839788"/>
            <a:ext cx="4057650" cy="3044825"/>
          </a:xfrm>
          <a:ln/>
        </p:spPr>
      </p:sp>
      <p:sp>
        <p:nvSpPr>
          <p:cNvPr id="18432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is an example of a step-by-step outline for the Register for Courses use case. The basic flow shows the major steps. The alternative flows show optional or conditional behavior.</a:t>
            </a:r>
          </a:p>
          <a:p>
            <a:pPr eaLnBrk="1" hangingPunct="1"/>
            <a:r>
              <a:rPr lang="en-US" sz="800"/>
              <a:t>Notice the level of detail in this example. Remember, this is just a brief step-by-step outline to help you understand what functions are contained in the use case. These steps are described further in a later module.</a:t>
            </a:r>
          </a:p>
          <a:p>
            <a:pPr eaLnBrk="1" hangingPunct="1"/>
            <a:endParaRPr lang="en-US" sz="800"/>
          </a:p>
          <a:p>
            <a:pPr eaLnBrk="1" hangingPunct="1"/>
            <a:endParaRPr lang="en-US"/>
          </a:p>
        </p:txBody>
      </p:sp>
      <p:sp>
        <p:nvSpPr>
          <p:cNvPr id="184324"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230188" indent="-11430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Go over the outline. This is a first draft for the use case;  you develop more detail later.</a:t>
            </a:r>
          </a:p>
          <a:p>
            <a:pPr>
              <a:lnSpc>
                <a:spcPct val="87000"/>
              </a:lnSpc>
              <a:spcBef>
                <a:spcPct val="30000"/>
              </a:spcBef>
            </a:pPr>
            <a:r>
              <a:rPr lang="en-US" sz="900">
                <a:solidFill>
                  <a:schemeClr val="tx1"/>
                </a:solidFill>
              </a:rPr>
              <a:t>Points for discussion:</a:t>
            </a:r>
          </a:p>
          <a:p>
            <a:pPr lvl="1">
              <a:lnSpc>
                <a:spcPct val="87000"/>
              </a:lnSpc>
              <a:spcBef>
                <a:spcPct val="30000"/>
              </a:spcBef>
              <a:buFontTx/>
              <a:buChar char="•"/>
            </a:pPr>
            <a:r>
              <a:rPr lang="en-US" sz="900">
                <a:solidFill>
                  <a:schemeClr val="tx1"/>
                </a:solidFill>
              </a:rPr>
              <a:t>What can you tell about the use case by looking at this outline?</a:t>
            </a:r>
          </a:p>
          <a:p>
            <a:pPr lvl="1">
              <a:lnSpc>
                <a:spcPct val="87000"/>
              </a:lnSpc>
              <a:spcBef>
                <a:spcPct val="30000"/>
              </a:spcBef>
              <a:buFontTx/>
              <a:buChar char="•"/>
            </a:pPr>
            <a:r>
              <a:rPr lang="en-US" sz="900">
                <a:solidFill>
                  <a:schemeClr val="tx1"/>
                </a:solidFill>
              </a:rPr>
              <a:t>What questions might you have about this use case that are still not defined?</a:t>
            </a:r>
          </a:p>
        </p:txBody>
      </p:sp>
    </p:spTree>
    <p:extLst>
      <p:ext uri="{BB962C8B-B14F-4D97-AF65-F5344CB8AC3E}">
        <p14:creationId xmlns:p14="http://schemas.microsoft.com/office/powerpoint/2010/main" val="1149740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ChangeArrowheads="1"/>
          </p:cNvSpPr>
          <p:nvPr/>
        </p:nvSpPr>
        <p:spPr bwMode="auto">
          <a:xfrm>
            <a:off x="3885207" y="-1514"/>
            <a:ext cx="297428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185347" name="Rectangle 3"/>
          <p:cNvSpPr>
            <a:spLocks noChangeArrowheads="1"/>
          </p:cNvSpPr>
          <p:nvPr/>
        </p:nvSpPr>
        <p:spPr bwMode="auto">
          <a:xfrm>
            <a:off x="-1491" y="-1514"/>
            <a:ext cx="297428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324" tIns="43162" rIns="86324" bIns="43162" anchor="ctr"/>
          <a:lstStyle/>
          <a:p>
            <a:pPr algn="ctr" defTabSz="863203" eaLnBrk="0" hangingPunct="0">
              <a:lnSpc>
                <a:spcPct val="87000"/>
              </a:lnSpc>
              <a:spcBef>
                <a:spcPct val="30000"/>
              </a:spcBef>
            </a:pPr>
            <a:endParaRPr lang="en-US" sz="1900">
              <a:solidFill>
                <a:srgbClr val="FFFF99"/>
              </a:solidFill>
            </a:endParaRPr>
          </a:p>
        </p:txBody>
      </p:sp>
      <p:sp>
        <p:nvSpPr>
          <p:cNvPr id="185348" name="Rectangle 4"/>
          <p:cNvSpPr>
            <a:spLocks noGrp="1" noRot="1" noChangeAspect="1" noChangeArrowheads="1" noTextEdit="1"/>
          </p:cNvSpPr>
          <p:nvPr>
            <p:ph type="sldImg"/>
          </p:nvPr>
        </p:nvSpPr>
        <p:spPr>
          <a:xfrm>
            <a:off x="2571750" y="839788"/>
            <a:ext cx="4057650" cy="3044825"/>
          </a:xfrm>
          <a:ln/>
        </p:spPr>
      </p:sp>
      <p:sp>
        <p:nvSpPr>
          <p:cNvPr id="185349" name="Rectangle 5"/>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 use-case scenario describes an instance of using the system (an instance of a use case). It is one path through a use case that flows from its beginning to one of its end points.</a:t>
            </a:r>
          </a:p>
          <a:p>
            <a:pPr eaLnBrk="1" hangingPunct="1"/>
            <a:r>
              <a:rPr lang="en-US" sz="800"/>
              <a:t>Each use case has a web of flows of events, with a scenario as just one description of a particular path through the web. The scenario might involve the basic flow and any number of alternative flows in any number of combinations.</a:t>
            </a:r>
          </a:p>
          <a:p>
            <a:pPr eaLnBrk="1" hangingPunct="1"/>
            <a:r>
              <a:rPr lang="en-US" sz="800" b="1"/>
              <a:t>Question: </a:t>
            </a:r>
            <a:r>
              <a:rPr lang="en-US" sz="800"/>
              <a:t>How many scenarios do you need? </a:t>
            </a:r>
          </a:p>
          <a:p>
            <a:pPr eaLnBrk="1" hangingPunct="1"/>
            <a:r>
              <a:rPr lang="en-US" sz="800" b="1"/>
              <a:t>Simple answer:</a:t>
            </a:r>
            <a:r>
              <a:rPr lang="en-US" sz="800"/>
              <a:t> As many as you need  to understand the system that you are developing.  </a:t>
            </a:r>
          </a:p>
        </p:txBody>
      </p:sp>
      <p:sp>
        <p:nvSpPr>
          <p:cNvPr id="185350" name="Text Box 6"/>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pPr>
            <a:r>
              <a:rPr lang="en-US" sz="900">
                <a:solidFill>
                  <a:schemeClr val="tx1"/>
                </a:solidFill>
              </a:rPr>
              <a:t>We talk about scenarios here in the course because sometimes when people find use cases they find use case scenarios first and end up merging these scenarios into a use case.</a:t>
            </a:r>
          </a:p>
          <a:p>
            <a:pPr>
              <a:lnSpc>
                <a:spcPct val="87000"/>
              </a:lnSpc>
              <a:spcBef>
                <a:spcPct val="40000"/>
              </a:spcBef>
            </a:pPr>
            <a:endParaRPr lang="en-US" sz="900">
              <a:solidFill>
                <a:schemeClr val="tx1"/>
              </a:solidFill>
            </a:endParaRPr>
          </a:p>
        </p:txBody>
      </p:sp>
    </p:spTree>
    <p:extLst>
      <p:ext uri="{BB962C8B-B14F-4D97-AF65-F5344CB8AC3E}">
        <p14:creationId xmlns:p14="http://schemas.microsoft.com/office/powerpoint/2010/main" val="27426385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571750" y="839788"/>
            <a:ext cx="4057650" cy="3044825"/>
          </a:xfrm>
          <a:ln/>
        </p:spPr>
      </p:sp>
      <p:sp>
        <p:nvSpPr>
          <p:cNvPr id="18637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b="1"/>
              <a:t>Note:</a:t>
            </a:r>
            <a:r>
              <a:rPr lang="en-US" sz="800"/>
              <a:t> The RUP use-case specification template contains a section for listing key scenarios. </a:t>
            </a:r>
          </a:p>
          <a:p>
            <a:pPr eaLnBrk="1" hangingPunct="1"/>
            <a:r>
              <a:rPr lang="en-US" sz="800"/>
              <a:t>Documenting scenarios is useful because, although you write </a:t>
            </a:r>
            <a:r>
              <a:rPr lang="en-US" sz="800" i="1"/>
              <a:t>flows</a:t>
            </a:r>
            <a:r>
              <a:rPr lang="en-US" sz="800"/>
              <a:t> (basic, alternative, subflows) in a use case, you implement and test </a:t>
            </a:r>
            <a:r>
              <a:rPr lang="en-US" sz="800" i="1"/>
              <a:t>scenarios</a:t>
            </a:r>
            <a:r>
              <a:rPr lang="en-US" sz="800"/>
              <a:t>.</a:t>
            </a:r>
          </a:p>
          <a:p>
            <a:pPr eaLnBrk="1" hangingPunct="1"/>
            <a:r>
              <a:rPr lang="en-US" sz="800"/>
              <a:t>Each scenario captures a family of test cases. Each test case in the family follows the same path through the use case, but uses different data values to ensure that all of the boundary conditions are tested.</a:t>
            </a:r>
          </a:p>
          <a:p>
            <a:pPr eaLnBrk="1" hangingPunct="1"/>
            <a:r>
              <a:rPr lang="en-US" sz="800"/>
              <a:t>In iterative development, when software architects propose the technical contents and the order of successive iterations, they select a certain number of architecturally significant scenarios and use cases to analyze and design first.</a:t>
            </a:r>
          </a:p>
          <a:p>
            <a:pPr eaLnBrk="1" hangingPunct="1"/>
            <a:r>
              <a:rPr lang="en-US" sz="800"/>
              <a:t>According to </a:t>
            </a:r>
            <a:r>
              <a:rPr lang="en-US" sz="800" i="1"/>
              <a:t>Use Case Modeling</a:t>
            </a:r>
            <a:r>
              <a:rPr lang="en-US" sz="800"/>
              <a:t>, a book by Kurt Bittner and Ian Spence, capturing scenarios is useful for these reasons:</a:t>
            </a:r>
          </a:p>
          <a:p>
            <a:pPr marL="324829" lvl="1" indent="-216553">
              <a:buFont typeface="Wingdings" pitchFamily="2" charset="2"/>
              <a:buChar char="§"/>
            </a:pPr>
            <a:r>
              <a:rPr lang="en-US" sz="800"/>
              <a:t>The scenarios will match your test cases.</a:t>
            </a:r>
          </a:p>
          <a:p>
            <a:pPr marL="324829" lvl="1" indent="-216553">
              <a:buFont typeface="Wingdings" pitchFamily="2" charset="2"/>
              <a:buChar char="§"/>
            </a:pPr>
            <a:r>
              <a:rPr lang="en-US" sz="800"/>
              <a:t>Scenarios are what actually gets performed, so they are useful for discussing what the system will do in practice.</a:t>
            </a:r>
          </a:p>
          <a:p>
            <a:pPr marL="324829" lvl="1" indent="-216553">
              <a:buFont typeface="Wingdings" pitchFamily="2" charset="2"/>
              <a:buChar char="§"/>
            </a:pPr>
            <a:r>
              <a:rPr lang="en-US" sz="800"/>
              <a:t>Scenarios are useful for analysis and design, because they help the developers think about how the system will be used.</a:t>
            </a:r>
          </a:p>
          <a:p>
            <a:pPr eaLnBrk="1" hangingPunct="1"/>
            <a:endParaRPr lang="en-US" sz="800"/>
          </a:p>
        </p:txBody>
      </p:sp>
      <p:sp>
        <p:nvSpPr>
          <p:cNvPr id="186372"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Scenarios, not use cases, map to test cases.</a:t>
            </a:r>
          </a:p>
          <a:p>
            <a:pPr>
              <a:lnSpc>
                <a:spcPct val="87000"/>
              </a:lnSpc>
              <a:spcBef>
                <a:spcPct val="40000"/>
              </a:spcBef>
            </a:pPr>
            <a:r>
              <a:rPr lang="en-US" sz="900">
                <a:solidFill>
                  <a:schemeClr val="tx1"/>
                </a:solidFill>
              </a:rPr>
              <a:t>When planning a project, we need to decide which use cases or which flows we plan on building in the current iteration. If you have enumerated the scenarios for a use case you can use those as a planning mechanism. You allocate a scenario to an iteration.</a:t>
            </a:r>
          </a:p>
          <a:p>
            <a:pPr>
              <a:lnSpc>
                <a:spcPct val="87000"/>
              </a:lnSpc>
              <a:spcBef>
                <a:spcPct val="40000"/>
              </a:spcBef>
            </a:pPr>
            <a:endParaRPr lang="en-US" sz="900">
              <a:solidFill>
                <a:schemeClr val="tx1"/>
              </a:solidFill>
            </a:endParaRPr>
          </a:p>
        </p:txBody>
      </p:sp>
    </p:spTree>
    <p:extLst>
      <p:ext uri="{BB962C8B-B14F-4D97-AF65-F5344CB8AC3E}">
        <p14:creationId xmlns:p14="http://schemas.microsoft.com/office/powerpoint/2010/main" val="246845353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xfrm>
            <a:off x="2571750" y="839788"/>
            <a:ext cx="4057650" cy="3044825"/>
          </a:xfrm>
          <a:ln/>
        </p:spPr>
      </p:sp>
      <p:sp>
        <p:nvSpPr>
          <p:cNvPr id="18739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Capture scenarios in a separate section of your use-case specification or as part of your test cases. The benefit of capturing the scenarios in the use-case specification is that all of the information required for analysis, design, and testing is then included with the use-case specification.</a:t>
            </a:r>
          </a:p>
          <a:p>
            <a:pPr eaLnBrk="1" hangingPunct="1"/>
            <a:r>
              <a:rPr lang="en-US" sz="800"/>
              <a:t>Give the scenario a descriptive name and list the flows (in order) that make up the scenario.</a:t>
            </a:r>
          </a:p>
          <a:p>
            <a:pPr eaLnBrk="1" hangingPunct="1"/>
            <a:r>
              <a:rPr lang="en-US" sz="800"/>
              <a:t>It’s a good practice to  elaborate the scenarios of the interesting and high-risk use cases. You can use scenarios to understand, as well as to validate, the use-case flows of events. </a:t>
            </a:r>
          </a:p>
          <a:p>
            <a:pPr eaLnBrk="1" hangingPunct="1"/>
            <a:r>
              <a:rPr lang="en-US" sz="800"/>
              <a:t>Some people write scenarios first and then extract use cases, but others find use cases first and validate those use cases by writing scenarios. Scenarios make excellent test cases.</a:t>
            </a:r>
          </a:p>
          <a:p>
            <a:pPr eaLnBrk="1" hangingPunct="1"/>
            <a:r>
              <a:rPr lang="en-US" sz="800"/>
              <a:t>Scenarios do not contain details of the system input or output data. That information forms part of your test cases.</a:t>
            </a:r>
          </a:p>
          <a:p>
            <a:pPr eaLnBrk="1" hangingPunct="1"/>
            <a:endParaRPr lang="en-US" sz="800"/>
          </a:p>
          <a:p>
            <a:pPr eaLnBrk="1" hangingPunct="1"/>
            <a:endParaRPr lang="en-US" sz="800"/>
          </a:p>
        </p:txBody>
      </p:sp>
      <p:sp>
        <p:nvSpPr>
          <p:cNvPr id="187396"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endParaRPr lang="en-US" sz="900">
              <a:solidFill>
                <a:schemeClr val="tx1"/>
              </a:solidFill>
            </a:endParaRPr>
          </a:p>
        </p:txBody>
      </p:sp>
    </p:spTree>
    <p:extLst>
      <p:ext uri="{BB962C8B-B14F-4D97-AF65-F5344CB8AC3E}">
        <p14:creationId xmlns:p14="http://schemas.microsoft.com/office/powerpoint/2010/main" val="4523457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2571750" y="839788"/>
            <a:ext cx="4057650" cy="3044825"/>
          </a:xfrm>
          <a:ln/>
        </p:spPr>
      </p:sp>
      <p:sp>
        <p:nvSpPr>
          <p:cNvPr id="18841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is an example of a step-by-step outline with some key scenarios identified for the Register for Courses use case. </a:t>
            </a:r>
          </a:p>
          <a:p>
            <a:pPr eaLnBrk="1" hangingPunct="1"/>
            <a:endParaRPr lang="en-US" sz="800"/>
          </a:p>
        </p:txBody>
      </p:sp>
    </p:spTree>
    <p:extLst>
      <p:ext uri="{BB962C8B-B14F-4D97-AF65-F5344CB8AC3E}">
        <p14:creationId xmlns:p14="http://schemas.microsoft.com/office/powerpoint/2010/main" val="3588451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xfrm>
            <a:off x="2571750" y="839788"/>
            <a:ext cx="4057650" cy="3044825"/>
          </a:xfrm>
          <a:ln/>
        </p:spPr>
      </p:sp>
      <p:sp>
        <p:nvSpPr>
          <p:cNvPr id="18944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list of use-case checkpoints is a summary of the list in the IBM</a:t>
            </a:r>
            <a:r>
              <a:rPr lang="en-US" sz="800" baseline="30000">
                <a:cs typeface="Times New Roman" pitchFamily="18" charset="0"/>
              </a:rPr>
              <a:t>® </a:t>
            </a:r>
            <a:r>
              <a:rPr lang="en-US" sz="800"/>
              <a:t>Rational Unified Process</a:t>
            </a:r>
            <a:r>
              <a:rPr lang="en-US" sz="800" baseline="30000">
                <a:cs typeface="Times New Roman" pitchFamily="18" charset="0"/>
              </a:rPr>
              <a:t>®</a:t>
            </a:r>
            <a:r>
              <a:rPr lang="en-US" sz="800"/>
              <a:t> (RUP</a:t>
            </a:r>
            <a:r>
              <a:rPr lang="en-US" sz="800" baseline="30000">
                <a:cs typeface="Times New Roman" pitchFamily="18" charset="0"/>
              </a:rPr>
              <a:t>®</a:t>
            </a:r>
            <a:r>
              <a:rPr lang="en-US" sz="800"/>
              <a:t>). </a:t>
            </a:r>
          </a:p>
          <a:p>
            <a:pPr eaLnBrk="1" hangingPunct="1"/>
            <a:endParaRPr lang="en-US" sz="800"/>
          </a:p>
        </p:txBody>
      </p:sp>
    </p:spTree>
    <p:extLst>
      <p:ext uri="{BB962C8B-B14F-4D97-AF65-F5344CB8AC3E}">
        <p14:creationId xmlns:p14="http://schemas.microsoft.com/office/powerpoint/2010/main" val="34599500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xfrm>
            <a:off x="2571750" y="839788"/>
            <a:ext cx="4057650" cy="3044825"/>
          </a:xfrm>
          <a:ln/>
        </p:spPr>
      </p:sp>
      <p:sp>
        <p:nvSpPr>
          <p:cNvPr id="19046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In the process of writing use cases, functional and non-functional requirements specific to a use case will be captured in the use-case specification.  For those that cannot be applied to specific use cases, you can put them in a document such as the Supplementary Specifications.</a:t>
            </a:r>
          </a:p>
          <a:p>
            <a:pPr eaLnBrk="1" hangingPunct="1"/>
            <a:r>
              <a:rPr lang="en-US" sz="800"/>
              <a:t>Although many of the functional requirements will be documented in use cases, there are some functional requirements that cannot be applied to specific use cases.  Among those are reporting, auditing, printing, security, licensing support or enforcement, and authentication requirements. Document these functional requirements in the Supplementary Specification.    </a:t>
            </a:r>
          </a:p>
        </p:txBody>
      </p:sp>
      <p:sp>
        <p:nvSpPr>
          <p:cNvPr id="190468"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In the process of writing use cases, functional and non-functional requirements specific to a use case will be captured in the use-case specification.  For those that cannot be applied to specific use cases, you can put them in the Supplementary Specifications.  </a:t>
            </a:r>
          </a:p>
        </p:txBody>
      </p:sp>
    </p:spTree>
    <p:extLst>
      <p:ext uri="{BB962C8B-B14F-4D97-AF65-F5344CB8AC3E}">
        <p14:creationId xmlns:p14="http://schemas.microsoft.com/office/powerpoint/2010/main" val="39040093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462213" y="833438"/>
            <a:ext cx="4038600" cy="3028950"/>
          </a:xfrm>
          <a:ln/>
        </p:spPr>
      </p:sp>
      <p:sp>
        <p:nvSpPr>
          <p:cNvPr id="191491" name="Rectangle 3"/>
          <p:cNvSpPr>
            <a:spLocks noGrp="1" noChangeArrowheads="1"/>
          </p:cNvSpPr>
          <p:nvPr>
            <p:ph type="body" idx="1"/>
          </p:nvPr>
        </p:nvSpPr>
        <p:spPr>
          <a:xfrm>
            <a:off x="2486770" y="4095120"/>
            <a:ext cx="3971677" cy="402245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fontAlgn="t" hangingPunct="1"/>
            <a:r>
              <a:rPr lang="en-US" sz="900">
                <a:latin typeface="ZapfHumnst BT" pitchFamily="34" charset="0"/>
              </a:rPr>
              <a:t>The workflow of a use case describes that which needs to be done by the system to provide the value the served actor is looking for. </a:t>
            </a:r>
          </a:p>
          <a:p>
            <a:pPr eaLnBrk="1" fontAlgn="t" hangingPunct="1"/>
            <a:r>
              <a:rPr lang="en-US" sz="900">
                <a:latin typeface="ZapfHumnst BT" pitchFamily="34" charset="0"/>
              </a:rPr>
              <a:t>It consists of a sequence of activities and actions that together produce something for the actor. </a:t>
            </a:r>
          </a:p>
          <a:p>
            <a:pPr eaLnBrk="1" fontAlgn="t" hangingPunct="1"/>
            <a:r>
              <a:rPr lang="en-US" sz="900">
                <a:latin typeface="ZapfHumnst BT" pitchFamily="34" charset="0"/>
              </a:rPr>
              <a:t>The workflow often consists of a basic flow and one or several alternative flows. </a:t>
            </a:r>
          </a:p>
          <a:p>
            <a:pPr eaLnBrk="1" fontAlgn="t" hangingPunct="1"/>
            <a:r>
              <a:rPr lang="en-US" sz="900">
                <a:latin typeface="ZapfHumnst BT" pitchFamily="34" charset="0"/>
              </a:rPr>
              <a:t>The structure of the workflow can be described graphically with the help of an activity diagram. </a:t>
            </a:r>
          </a:p>
        </p:txBody>
      </p:sp>
      <p:sp>
        <p:nvSpPr>
          <p:cNvPr id="191492" name="Text Box 4"/>
          <p:cNvSpPr txBox="1">
            <a:spLocks noChangeArrowheads="1"/>
          </p:cNvSpPr>
          <p:nvPr/>
        </p:nvSpPr>
        <p:spPr bwMode="auto">
          <a:xfrm>
            <a:off x="445771" y="1227780"/>
            <a:ext cx="1730899" cy="675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261" tIns="51131" rIns="102261" bIns="51131"/>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pPr>
            <a:r>
              <a:rPr lang="en-US" sz="900" i="1" u="sng">
                <a:solidFill>
                  <a:schemeClr val="tx1"/>
                </a:solidFill>
                <a:latin typeface="ZapfHumnst BT" pitchFamily="34" charset="0"/>
              </a:rPr>
              <a:t>The goal of this section is to introduce the students to the concept of an activity diagram.  You are not expected to teach them everything about this diagram at this time.</a:t>
            </a:r>
          </a:p>
          <a:p>
            <a:pPr>
              <a:lnSpc>
                <a:spcPct val="87000"/>
              </a:lnSpc>
              <a:spcBef>
                <a:spcPct val="40000"/>
              </a:spcBef>
            </a:pPr>
            <a:r>
              <a:rPr lang="en-US" sz="900">
                <a:solidFill>
                  <a:schemeClr val="tx1"/>
                </a:solidFill>
                <a:latin typeface="ZapfHumnst BT" pitchFamily="34" charset="0"/>
              </a:rPr>
              <a:t>Activity diagrams can also be used to model the workings of an operation, an object, business modeling, or anything that involves modeling the sequential steps in a computational process.  </a:t>
            </a:r>
          </a:p>
          <a:p>
            <a:pPr>
              <a:lnSpc>
                <a:spcPct val="87000"/>
              </a:lnSpc>
              <a:spcBef>
                <a:spcPct val="40000"/>
              </a:spcBef>
            </a:pPr>
            <a:r>
              <a:rPr lang="en-US" sz="900">
                <a:solidFill>
                  <a:schemeClr val="tx1"/>
                </a:solidFill>
                <a:latin typeface="ZapfHumnst BT" pitchFamily="34" charset="0"/>
              </a:rPr>
              <a:t>This course focuses on using activity diagrams to model the flow of events in a use case.</a:t>
            </a:r>
          </a:p>
        </p:txBody>
      </p:sp>
    </p:spTree>
    <p:extLst>
      <p:ext uri="{BB962C8B-B14F-4D97-AF65-F5344CB8AC3E}">
        <p14:creationId xmlns:p14="http://schemas.microsoft.com/office/powerpoint/2010/main" val="14233527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2462213" y="833438"/>
            <a:ext cx="4038600" cy="3028950"/>
          </a:xfrm>
          <a:ln/>
        </p:spPr>
      </p:sp>
      <p:sp>
        <p:nvSpPr>
          <p:cNvPr id="192515" name="Rectangle 3"/>
          <p:cNvSpPr>
            <a:spLocks noGrp="1" noChangeArrowheads="1"/>
          </p:cNvSpPr>
          <p:nvPr>
            <p:ph type="body" idx="1"/>
          </p:nvPr>
        </p:nvSpPr>
        <p:spPr>
          <a:xfrm>
            <a:off x="2486770" y="4095120"/>
            <a:ext cx="3971677" cy="402245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An activity is notated as an activity diagram. An activity definition is shown as a large rounded border containing a graph of node symbols and flow arrows representing the decomposition of the activity into its constituents. Activity preconditions and postconditions use the note notation with the keywords &lt;&lt;Precondition&gt;&gt; and &lt;&lt;Postcondition&gt;&gt; respectively.</a:t>
            </a:r>
          </a:p>
          <a:p>
            <a:pPr eaLnBrk="1" hangingPunct="1"/>
            <a:r>
              <a:rPr lang="en-US" sz="900">
                <a:latin typeface="ZapfHumnst BT" pitchFamily="34" charset="0"/>
              </a:rPr>
              <a:t>An action is a primitive activity which is the smallest computation that can be expressed. An action is an activity that </a:t>
            </a:r>
            <a:r>
              <a:rPr lang="en-US" sz="900" i="1">
                <a:latin typeface="ZapfHumnst BT" pitchFamily="34" charset="0"/>
              </a:rPr>
              <a:t>does </a:t>
            </a:r>
            <a:r>
              <a:rPr lang="en-US" sz="900">
                <a:latin typeface="ZapfHumnst BT" pitchFamily="34" charset="0"/>
              </a:rPr>
              <a:t>something to the state of the system or extracts information from it. An action is drawn as a rectangle with rounded corners. Action preconditions and postconditions use the note notation with the keywords &lt;&lt;localPrecondition&gt;&gt; and &lt;&lt;localPostcondition&gt;&gt; respectively.</a:t>
            </a:r>
          </a:p>
        </p:txBody>
      </p:sp>
      <p:sp>
        <p:nvSpPr>
          <p:cNvPr id="192516" name="Text Box 4"/>
          <p:cNvSpPr txBox="1">
            <a:spLocks noChangeArrowheads="1"/>
          </p:cNvSpPr>
          <p:nvPr/>
        </p:nvSpPr>
        <p:spPr bwMode="auto">
          <a:xfrm>
            <a:off x="445771" y="1227780"/>
            <a:ext cx="1730899" cy="675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261" tIns="51131" rIns="102261" bIns="51131"/>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900" i="1" u="sng">
                <a:solidFill>
                  <a:schemeClr val="tx1"/>
                </a:solidFill>
                <a:latin typeface="Arial" pitchFamily="34" charset="0"/>
              </a:rPr>
              <a:t>If a high-level activity is viewed as a tree of nested activities, the leaves of the tree are actions.</a:t>
            </a:r>
          </a:p>
          <a:p>
            <a:endParaRPr lang="en-US" sz="900">
              <a:solidFill>
                <a:schemeClr val="tx1"/>
              </a:solidFill>
              <a:latin typeface="Arial" pitchFamily="34" charset="0"/>
            </a:endParaRPr>
          </a:p>
          <a:p>
            <a:r>
              <a:rPr lang="en-US" sz="900">
                <a:solidFill>
                  <a:schemeClr val="tx1"/>
                </a:solidFill>
                <a:latin typeface="Arial" pitchFamily="34" charset="0"/>
              </a:rPr>
              <a:t>Actions include arithmetic and string functions, manipulations of objects and their values, communications among objects, and similar things.</a:t>
            </a:r>
          </a:p>
          <a:p>
            <a:pPr>
              <a:lnSpc>
                <a:spcPct val="87000"/>
              </a:lnSpc>
              <a:spcBef>
                <a:spcPct val="40000"/>
              </a:spcBef>
            </a:pPr>
            <a:endParaRPr lang="en-US" sz="900">
              <a:solidFill>
                <a:schemeClr val="tx1"/>
              </a:solidFill>
              <a:latin typeface="ZapfHumnst BT" pitchFamily="34" charset="0"/>
            </a:endParaRPr>
          </a:p>
          <a:p>
            <a:pPr>
              <a:lnSpc>
                <a:spcPct val="87000"/>
              </a:lnSpc>
              <a:spcBef>
                <a:spcPct val="40000"/>
              </a:spcBef>
            </a:pPr>
            <a:r>
              <a:rPr lang="en-US" sz="900">
                <a:solidFill>
                  <a:schemeClr val="tx1"/>
                </a:solidFill>
                <a:latin typeface="ZapfHumnst BT" pitchFamily="34" charset="0"/>
              </a:rPr>
              <a:t>Kinds of actions include:</a:t>
            </a:r>
          </a:p>
          <a:p>
            <a:pPr>
              <a:lnSpc>
                <a:spcPct val="87000"/>
              </a:lnSpc>
              <a:spcBef>
                <a:spcPct val="40000"/>
              </a:spcBef>
              <a:buFontTx/>
              <a:buChar char="•"/>
            </a:pPr>
            <a:r>
              <a:rPr lang="en-US" sz="900">
                <a:solidFill>
                  <a:schemeClr val="tx1"/>
                </a:solidFill>
                <a:latin typeface="ZapfHumnst BT" pitchFamily="34" charset="0"/>
              </a:rPr>
              <a:t> Accept call</a:t>
            </a:r>
          </a:p>
          <a:p>
            <a:pPr>
              <a:lnSpc>
                <a:spcPct val="87000"/>
              </a:lnSpc>
              <a:spcBef>
                <a:spcPct val="40000"/>
              </a:spcBef>
              <a:buFontTx/>
              <a:buChar char="•"/>
            </a:pPr>
            <a:r>
              <a:rPr lang="en-US" sz="900">
                <a:solidFill>
                  <a:schemeClr val="tx1"/>
                </a:solidFill>
                <a:latin typeface="ZapfHumnst BT" pitchFamily="34" charset="0"/>
              </a:rPr>
              <a:t> Accept event</a:t>
            </a:r>
          </a:p>
          <a:p>
            <a:pPr>
              <a:lnSpc>
                <a:spcPct val="87000"/>
              </a:lnSpc>
              <a:spcBef>
                <a:spcPct val="40000"/>
              </a:spcBef>
              <a:buFontTx/>
              <a:buChar char="•"/>
            </a:pPr>
            <a:r>
              <a:rPr lang="en-US" sz="900">
                <a:solidFill>
                  <a:schemeClr val="tx1"/>
                </a:solidFill>
                <a:latin typeface="ZapfHumnst BT" pitchFamily="34" charset="0"/>
              </a:rPr>
              <a:t> Apply function</a:t>
            </a:r>
          </a:p>
          <a:p>
            <a:pPr>
              <a:lnSpc>
                <a:spcPct val="87000"/>
              </a:lnSpc>
              <a:spcBef>
                <a:spcPct val="40000"/>
              </a:spcBef>
              <a:buFontTx/>
              <a:buChar char="•"/>
            </a:pPr>
            <a:r>
              <a:rPr lang="en-US" sz="900">
                <a:solidFill>
                  <a:schemeClr val="tx1"/>
                </a:solidFill>
                <a:latin typeface="ZapfHumnst BT" pitchFamily="34" charset="0"/>
              </a:rPr>
              <a:t> Broadcast event</a:t>
            </a:r>
          </a:p>
          <a:p>
            <a:pPr>
              <a:lnSpc>
                <a:spcPct val="87000"/>
              </a:lnSpc>
              <a:spcBef>
                <a:spcPct val="40000"/>
              </a:spcBef>
              <a:buFontTx/>
              <a:buChar char="•"/>
            </a:pPr>
            <a:r>
              <a:rPr lang="en-US" sz="900">
                <a:solidFill>
                  <a:schemeClr val="tx1"/>
                </a:solidFill>
                <a:latin typeface="ZapfHumnst BT" pitchFamily="34" charset="0"/>
              </a:rPr>
              <a:t> Call</a:t>
            </a:r>
          </a:p>
          <a:p>
            <a:pPr>
              <a:lnSpc>
                <a:spcPct val="87000"/>
              </a:lnSpc>
              <a:spcBef>
                <a:spcPct val="40000"/>
              </a:spcBef>
              <a:buFontTx/>
              <a:buChar char="•"/>
            </a:pPr>
            <a:r>
              <a:rPr lang="en-US" sz="900">
                <a:solidFill>
                  <a:schemeClr val="tx1"/>
                </a:solidFill>
                <a:latin typeface="ZapfHumnst BT" pitchFamily="34" charset="0"/>
              </a:rPr>
              <a:t> Create</a:t>
            </a:r>
          </a:p>
          <a:p>
            <a:pPr>
              <a:lnSpc>
                <a:spcPct val="87000"/>
              </a:lnSpc>
              <a:spcBef>
                <a:spcPct val="40000"/>
              </a:spcBef>
              <a:buFontTx/>
              <a:buChar char="•"/>
            </a:pPr>
            <a:r>
              <a:rPr lang="en-US" sz="900">
                <a:solidFill>
                  <a:schemeClr val="tx1"/>
                </a:solidFill>
                <a:latin typeface="ZapfHumnst BT" pitchFamily="34" charset="0"/>
              </a:rPr>
              <a:t> Destroy</a:t>
            </a:r>
          </a:p>
          <a:p>
            <a:pPr>
              <a:lnSpc>
                <a:spcPct val="87000"/>
              </a:lnSpc>
              <a:spcBef>
                <a:spcPct val="40000"/>
              </a:spcBef>
              <a:buFontTx/>
              <a:buChar char="•"/>
            </a:pPr>
            <a:r>
              <a:rPr lang="en-US" sz="900">
                <a:solidFill>
                  <a:schemeClr val="tx1"/>
                </a:solidFill>
                <a:latin typeface="ZapfHumnst BT" pitchFamily="34" charset="0"/>
              </a:rPr>
              <a:t> Raise exception</a:t>
            </a:r>
          </a:p>
          <a:p>
            <a:pPr>
              <a:lnSpc>
                <a:spcPct val="87000"/>
              </a:lnSpc>
              <a:spcBef>
                <a:spcPct val="40000"/>
              </a:spcBef>
              <a:buFontTx/>
              <a:buChar char="•"/>
            </a:pPr>
            <a:r>
              <a:rPr lang="en-US" sz="900">
                <a:solidFill>
                  <a:schemeClr val="tx1"/>
                </a:solidFill>
                <a:latin typeface="ZapfHumnst BT" pitchFamily="34" charset="0"/>
              </a:rPr>
              <a:t> Read</a:t>
            </a:r>
          </a:p>
          <a:p>
            <a:pPr>
              <a:lnSpc>
                <a:spcPct val="87000"/>
              </a:lnSpc>
              <a:spcBef>
                <a:spcPct val="40000"/>
              </a:spcBef>
              <a:buFontTx/>
              <a:buChar char="•"/>
            </a:pPr>
            <a:r>
              <a:rPr lang="en-US" sz="900">
                <a:solidFill>
                  <a:schemeClr val="tx1"/>
                </a:solidFill>
                <a:latin typeface="ZapfHumnst BT" pitchFamily="34" charset="0"/>
              </a:rPr>
              <a:t> Reply</a:t>
            </a:r>
          </a:p>
          <a:p>
            <a:pPr>
              <a:lnSpc>
                <a:spcPct val="87000"/>
              </a:lnSpc>
              <a:spcBef>
                <a:spcPct val="40000"/>
              </a:spcBef>
              <a:buFontTx/>
              <a:buChar char="•"/>
            </a:pPr>
            <a:r>
              <a:rPr lang="en-US" sz="900">
                <a:solidFill>
                  <a:schemeClr val="tx1"/>
                </a:solidFill>
                <a:latin typeface="ZapfHumnst BT" pitchFamily="34" charset="0"/>
              </a:rPr>
              <a:t> Return</a:t>
            </a:r>
          </a:p>
          <a:p>
            <a:pPr>
              <a:lnSpc>
                <a:spcPct val="87000"/>
              </a:lnSpc>
              <a:spcBef>
                <a:spcPct val="40000"/>
              </a:spcBef>
              <a:buFontTx/>
              <a:buChar char="•"/>
            </a:pPr>
            <a:r>
              <a:rPr lang="en-US" sz="900">
                <a:solidFill>
                  <a:schemeClr val="tx1"/>
                </a:solidFill>
                <a:latin typeface="ZapfHumnst BT" pitchFamily="34" charset="0"/>
              </a:rPr>
              <a:t> Send</a:t>
            </a:r>
          </a:p>
          <a:p>
            <a:pPr>
              <a:lnSpc>
                <a:spcPct val="87000"/>
              </a:lnSpc>
              <a:spcBef>
                <a:spcPct val="40000"/>
              </a:spcBef>
              <a:buFontTx/>
              <a:buChar char="•"/>
            </a:pPr>
            <a:r>
              <a:rPr lang="en-US" sz="900">
                <a:solidFill>
                  <a:schemeClr val="tx1"/>
                </a:solidFill>
                <a:latin typeface="ZapfHumnst BT" pitchFamily="34" charset="0"/>
              </a:rPr>
              <a:t> Time</a:t>
            </a:r>
          </a:p>
          <a:p>
            <a:pPr>
              <a:lnSpc>
                <a:spcPct val="87000"/>
              </a:lnSpc>
              <a:spcBef>
                <a:spcPct val="40000"/>
              </a:spcBef>
              <a:buFontTx/>
              <a:buChar char="•"/>
            </a:pPr>
            <a:r>
              <a:rPr lang="en-US" sz="900">
                <a:solidFill>
                  <a:schemeClr val="tx1"/>
                </a:solidFill>
                <a:latin typeface="ZapfHumnst BT" pitchFamily="34" charset="0"/>
              </a:rPr>
              <a:t> Write</a:t>
            </a:r>
          </a:p>
        </p:txBody>
      </p:sp>
    </p:spTree>
    <p:extLst>
      <p:ext uri="{BB962C8B-B14F-4D97-AF65-F5344CB8AC3E}">
        <p14:creationId xmlns:p14="http://schemas.microsoft.com/office/powerpoint/2010/main" val="240718674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462213" y="833438"/>
            <a:ext cx="4038600" cy="3028950"/>
          </a:xfrm>
          <a:ln/>
        </p:spPr>
      </p:sp>
      <p:sp>
        <p:nvSpPr>
          <p:cNvPr id="193539" name="Rectangle 3"/>
          <p:cNvSpPr>
            <a:spLocks noGrp="1" noChangeArrowheads="1"/>
          </p:cNvSpPr>
          <p:nvPr>
            <p:ph type="body" idx="1"/>
          </p:nvPr>
        </p:nvSpPr>
        <p:spPr>
          <a:xfrm>
            <a:off x="2486770" y="4095120"/>
            <a:ext cx="3971677" cy="402245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8276" indent="-108276" fontAlgn="t"/>
            <a:r>
              <a:rPr lang="en-US" sz="900">
                <a:latin typeface="ZapfHumnst BT" pitchFamily="34" charset="0"/>
              </a:rPr>
              <a:t>An activity diagram may include the following elements:</a:t>
            </a:r>
          </a:p>
          <a:p>
            <a:pPr marL="108276" indent="-108276" fontAlgn="t">
              <a:buFontTx/>
              <a:buChar char="•"/>
            </a:pPr>
            <a:r>
              <a:rPr lang="en-US" sz="900" b="1">
                <a:latin typeface="ZapfHumnst BT" pitchFamily="34" charset="0"/>
              </a:rPr>
              <a:t>Activity/Action</a:t>
            </a:r>
            <a:r>
              <a:rPr lang="en-US" sz="900">
                <a:latin typeface="ZapfHumnst BT" pitchFamily="34" charset="0"/>
              </a:rPr>
              <a:t> represents the performance of a step within the workflow. </a:t>
            </a:r>
          </a:p>
          <a:p>
            <a:pPr marL="108276" indent="-108276" fontAlgn="t">
              <a:buFontTx/>
              <a:buChar char="•"/>
            </a:pPr>
            <a:r>
              <a:rPr lang="en-US" sz="900" b="1">
                <a:latin typeface="ZapfHumnst BT" pitchFamily="34" charset="0"/>
              </a:rPr>
              <a:t>Transitions</a:t>
            </a:r>
            <a:r>
              <a:rPr lang="en-US" sz="900">
                <a:latin typeface="ZapfHumnst BT" pitchFamily="34" charset="0"/>
              </a:rPr>
              <a:t> show the activity/action that follows. </a:t>
            </a:r>
          </a:p>
          <a:p>
            <a:pPr marL="108276" indent="-108276" fontAlgn="t">
              <a:buFontTx/>
              <a:buChar char="•"/>
            </a:pPr>
            <a:r>
              <a:rPr lang="en-US" sz="900" b="1">
                <a:latin typeface="ZapfHumnst BT" pitchFamily="34" charset="0"/>
              </a:rPr>
              <a:t>Decisions</a:t>
            </a:r>
            <a:r>
              <a:rPr lang="en-US" sz="900">
                <a:latin typeface="ZapfHumnst BT" pitchFamily="34" charset="0"/>
              </a:rPr>
              <a:t> evaluate conditions defined by guard conditions. These guard conditions determine which of the alternative transitions will be made and, thus, which activities are performed. You may also use the decision icon to show where the threads merge again. Decisions and guard conditions allow you to show alternative threads in the workflow of a use case. </a:t>
            </a:r>
          </a:p>
          <a:p>
            <a:pPr marL="108276" indent="-108276" fontAlgn="t">
              <a:buFontTx/>
              <a:buChar char="•"/>
            </a:pPr>
            <a:r>
              <a:rPr lang="en-US" sz="900" b="1">
                <a:latin typeface="ZapfHumnst BT" pitchFamily="34" charset="0"/>
              </a:rPr>
              <a:t>Synchronization bars</a:t>
            </a:r>
            <a:r>
              <a:rPr lang="en-US" sz="900">
                <a:latin typeface="ZapfHumnst BT" pitchFamily="34" charset="0"/>
              </a:rPr>
              <a:t> show parallel sub-flows. They allow you to show concurrent threads in the workflow of a use case. </a:t>
            </a:r>
          </a:p>
        </p:txBody>
      </p:sp>
      <p:sp>
        <p:nvSpPr>
          <p:cNvPr id="193540" name="Text Box 4"/>
          <p:cNvSpPr txBox="1">
            <a:spLocks noChangeArrowheads="1"/>
          </p:cNvSpPr>
          <p:nvPr/>
        </p:nvSpPr>
        <p:spPr bwMode="auto">
          <a:xfrm>
            <a:off x="445771" y="1227780"/>
            <a:ext cx="1730899" cy="675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261" tIns="51131" rIns="102261" bIns="51131"/>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pPr>
            <a:r>
              <a:rPr lang="en-US" sz="900" i="1" u="sng">
                <a:solidFill>
                  <a:schemeClr val="tx1"/>
                </a:solidFill>
                <a:latin typeface="ZapfHumnst BT" pitchFamily="34" charset="0"/>
              </a:rPr>
              <a:t>Walk the students through the activity diagram and explain each component (decision, fork, join, and so on).</a:t>
            </a:r>
          </a:p>
        </p:txBody>
      </p:sp>
    </p:spTree>
    <p:extLst>
      <p:ext uri="{BB962C8B-B14F-4D97-AF65-F5344CB8AC3E}">
        <p14:creationId xmlns:p14="http://schemas.microsoft.com/office/powerpoint/2010/main" val="40167575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xfrm>
            <a:off x="2571750" y="839788"/>
            <a:ext cx="4057650" cy="3044825"/>
          </a:xfrm>
          <a:ln/>
        </p:spPr>
      </p:sp>
      <p:sp>
        <p:nvSpPr>
          <p:cNvPr id="19456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194564" name="Text Box 4"/>
          <p:cNvSpPr txBox="1">
            <a:spLocks noChangeArrowheads="1"/>
          </p:cNvSpPr>
          <p:nvPr/>
        </p:nvSpPr>
        <p:spPr bwMode="auto">
          <a:xfrm>
            <a:off x="381663" y="1220209"/>
            <a:ext cx="1982857" cy="685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What is the basic flow?: slide 6</a:t>
            </a:r>
          </a:p>
          <a:p>
            <a:pPr eaLnBrk="1" hangingPunct="1"/>
            <a:endParaRPr lang="en-US" sz="900">
              <a:solidFill>
                <a:schemeClr val="tx1"/>
              </a:solidFill>
            </a:endParaRPr>
          </a:p>
          <a:p>
            <a:pPr eaLnBrk="1" hangingPunct="1"/>
            <a:r>
              <a:rPr lang="en-US" sz="900">
                <a:solidFill>
                  <a:schemeClr val="tx1"/>
                </a:solidFill>
              </a:rPr>
              <a:t>What is an alternative flow?: slide 6</a:t>
            </a:r>
          </a:p>
          <a:p>
            <a:pPr eaLnBrk="1" hangingPunct="1"/>
            <a:endParaRPr lang="en-US" sz="900">
              <a:solidFill>
                <a:schemeClr val="tx1"/>
              </a:solidFill>
            </a:endParaRPr>
          </a:p>
          <a:p>
            <a:pPr eaLnBrk="1" hangingPunct="1"/>
            <a:r>
              <a:rPr lang="en-US" sz="900">
                <a:solidFill>
                  <a:schemeClr val="tx1"/>
                </a:solidFill>
              </a:rPr>
              <a:t>What is a scenario?: slide 9</a:t>
            </a:r>
          </a:p>
          <a:p>
            <a:pPr eaLnBrk="1" hangingPunct="1"/>
            <a:endParaRPr lang="en-US" sz="900">
              <a:solidFill>
                <a:schemeClr val="tx1"/>
              </a:solidFill>
            </a:endParaRPr>
          </a:p>
          <a:p>
            <a:pPr eaLnBrk="1" hangingPunct="1"/>
            <a:r>
              <a:rPr lang="en-US" sz="900">
                <a:solidFill>
                  <a:schemeClr val="tx1"/>
                </a:solidFill>
              </a:rPr>
              <a:t>Why do you capture a use-case scenario?: slide 10</a:t>
            </a:r>
          </a:p>
          <a:p>
            <a:pPr eaLnBrk="1" hangingPunct="1"/>
            <a:endParaRPr lang="en-US" sz="900">
              <a:solidFill>
                <a:schemeClr val="tx1"/>
              </a:solidFill>
            </a:endParaRPr>
          </a:p>
          <a:p>
            <a:pPr eaLnBrk="1" hangingPunct="1"/>
            <a:r>
              <a:rPr lang="en-US" sz="900">
                <a:solidFill>
                  <a:schemeClr val="tx1"/>
                </a:solidFill>
              </a:rPr>
              <a:t>Where do you collect requirements other than use cases?: slide 14</a:t>
            </a:r>
          </a:p>
        </p:txBody>
      </p:sp>
    </p:spTree>
    <p:extLst>
      <p:ext uri="{BB962C8B-B14F-4D97-AF65-F5344CB8AC3E}">
        <p14:creationId xmlns:p14="http://schemas.microsoft.com/office/powerpoint/2010/main" val="580374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571750" y="839788"/>
            <a:ext cx="4057650" cy="3044825"/>
          </a:xfrm>
          <a:ln/>
        </p:spPr>
      </p:sp>
      <p:sp>
        <p:nvSpPr>
          <p:cNvPr id="19558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Turn to Exercise 3 in the Student Workbook.</a:t>
            </a:r>
          </a:p>
        </p:txBody>
      </p:sp>
      <p:sp>
        <p:nvSpPr>
          <p:cNvPr id="195588" name="Text Box 4"/>
          <p:cNvSpPr txBox="1">
            <a:spLocks noChangeArrowheads="1"/>
          </p:cNvSpPr>
          <p:nvPr/>
        </p:nvSpPr>
        <p:spPr bwMode="auto">
          <a:xfrm>
            <a:off x="381663" y="1220209"/>
            <a:ext cx="1982857" cy="685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endParaRPr lang="en-US" sz="900">
              <a:solidFill>
                <a:schemeClr val="tx1"/>
              </a:solidFill>
            </a:endParaRPr>
          </a:p>
        </p:txBody>
      </p:sp>
      <p:sp>
        <p:nvSpPr>
          <p:cNvPr id="195589" name="Text Box 5"/>
          <p:cNvSpPr txBox="1">
            <a:spLocks noChangeArrowheads="1"/>
          </p:cNvSpPr>
          <p:nvPr/>
        </p:nvSpPr>
        <p:spPr bwMode="auto">
          <a:xfrm>
            <a:off x="381663" y="1220209"/>
            <a:ext cx="1982857" cy="685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Refer students to Exercise 3 in the Student Workbook.</a:t>
            </a:r>
          </a:p>
          <a:p>
            <a:pPr eaLnBrk="1" hangingPunct="1"/>
            <a:endParaRPr lang="en-US" sz="900">
              <a:solidFill>
                <a:schemeClr val="tx1"/>
              </a:solidFill>
            </a:endParaRPr>
          </a:p>
          <a:p>
            <a:pPr eaLnBrk="1" hangingPunct="1"/>
            <a:r>
              <a:rPr lang="en-US" sz="900">
                <a:solidFill>
                  <a:schemeClr val="tx1"/>
                </a:solidFill>
              </a:rPr>
              <a:t>In this exercise, the students will work in groups to outline the Withdraw Cash use case.</a:t>
            </a:r>
          </a:p>
          <a:p>
            <a:pPr eaLnBrk="1" hangingPunct="1"/>
            <a:endParaRPr lang="en-US" sz="900">
              <a:solidFill>
                <a:schemeClr val="tx1"/>
              </a:solidFill>
            </a:endParaRPr>
          </a:p>
          <a:p>
            <a:pPr eaLnBrk="1" hangingPunct="1"/>
            <a:r>
              <a:rPr lang="en-US" sz="900">
                <a:solidFill>
                  <a:schemeClr val="tx1"/>
                </a:solidFill>
              </a:rPr>
              <a:t>Refer to the exercise instructions for more details on how to lead this exercise.</a:t>
            </a:r>
          </a:p>
        </p:txBody>
      </p:sp>
    </p:spTree>
    <p:extLst>
      <p:ext uri="{BB962C8B-B14F-4D97-AF65-F5344CB8AC3E}">
        <p14:creationId xmlns:p14="http://schemas.microsoft.com/office/powerpoint/2010/main" val="294465616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2571750" y="839788"/>
            <a:ext cx="4057650" cy="3044825"/>
          </a:xfrm>
          <a:ln/>
        </p:spPr>
      </p:sp>
      <p:sp>
        <p:nvSpPr>
          <p:cNvPr id="19661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Detailing the use-case description is where the “real work” in use-case modeling occurs. The outline of the flow of events in each use case that you developed earlier lacks important details. The main purpose of detailing a use case is to elaborate</a:t>
            </a:r>
            <a:r>
              <a:rPr lang="en-US" sz="800">
                <a:solidFill>
                  <a:srgbClr val="CC0000"/>
                </a:solidFill>
              </a:rPr>
              <a:t> </a:t>
            </a:r>
            <a:r>
              <a:rPr lang="en-US" sz="800"/>
              <a:t>the step-by-step outline of the flow of events. </a:t>
            </a:r>
          </a:p>
          <a:p>
            <a:pPr eaLnBrk="1" hangingPunct="1"/>
            <a:r>
              <a:rPr lang="en-US" sz="800"/>
              <a:t>Without a detailed description of the flows of events, it is nearly impossible to implement a solution. The reason is that the use-case outline does not contain any real software requirements. Instead, the outline just contains</a:t>
            </a:r>
            <a:r>
              <a:rPr lang="en-US" sz="800">
                <a:solidFill>
                  <a:srgbClr val="CC0000"/>
                </a:solidFill>
              </a:rPr>
              <a:t> </a:t>
            </a:r>
            <a:r>
              <a:rPr lang="en-US" sz="800"/>
              <a:t>a high-level description of the flows.</a:t>
            </a:r>
          </a:p>
          <a:p>
            <a:pPr eaLnBrk="1" hangingPunct="1"/>
            <a:r>
              <a:rPr lang="en-US" sz="800"/>
              <a:t>The detailed flow of events includes what the actor does and what the system does in response. </a:t>
            </a:r>
          </a:p>
        </p:txBody>
      </p:sp>
    </p:spTree>
    <p:extLst>
      <p:ext uri="{BB962C8B-B14F-4D97-AF65-F5344CB8AC3E}">
        <p14:creationId xmlns:p14="http://schemas.microsoft.com/office/powerpoint/2010/main" val="83718705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Rot="1" noChangeAspect="1" noChangeArrowheads="1" noTextEdit="1"/>
          </p:cNvSpPr>
          <p:nvPr>
            <p:ph type="sldImg"/>
          </p:nvPr>
        </p:nvSpPr>
        <p:spPr>
          <a:xfrm>
            <a:off x="2571750" y="839788"/>
            <a:ext cx="4057650" cy="3044825"/>
          </a:xfrm>
          <a:ln/>
        </p:spPr>
      </p:sp>
      <p:sp>
        <p:nvSpPr>
          <p:cNvPr id="19763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is a template for a Use-Case Specification.</a:t>
            </a:r>
          </a:p>
          <a:p>
            <a:pPr eaLnBrk="1" hangingPunct="1"/>
            <a:r>
              <a:rPr lang="en-US" sz="800"/>
              <a:t>For each use case, start with the step-by-step outline and gradually add detail to each step. You want to understand what really happens so you do not miss anything. Typically, you begin with refining the basic flow, and then refine the alternative flows. </a:t>
            </a:r>
          </a:p>
          <a:p>
            <a:pPr eaLnBrk="1" hangingPunct="1"/>
            <a:r>
              <a:rPr lang="en-US" sz="800"/>
              <a:t>Work with system users to revise and detail the outline. Expect to revise the outline and the details many times.</a:t>
            </a:r>
          </a:p>
          <a:p>
            <a:pPr eaLnBrk="1" hangingPunct="1"/>
            <a:r>
              <a:rPr lang="en-US" sz="800"/>
              <a:t>There is no minimum or maximum size for a Use-Case Specification. It needs to be big enough to contain an unambiguous description of how the system behaves, yet short enough to be as concise as you can . Be sure that your description is complete and that you have answered all of the questions that people may have about the events in the use case. </a:t>
            </a:r>
          </a:p>
          <a:p>
            <a:pPr eaLnBrk="1" hangingPunct="1"/>
            <a:r>
              <a:rPr lang="en-US" sz="800"/>
              <a:t>The Use-Case Specification describes the details of a particular use case. In addition to the Flow of Events, there are other properties that detail a use case. It is best to  use a standard template for your use cases, such as the one shown here (from the IBM</a:t>
            </a:r>
            <a:r>
              <a:rPr lang="en-US" sz="800" baseline="30000">
                <a:cs typeface="Times New Roman" pitchFamily="18" charset="0"/>
              </a:rPr>
              <a:t>® </a:t>
            </a:r>
            <a:r>
              <a:rPr lang="en-US" sz="800"/>
              <a:t>Rational Unified Process</a:t>
            </a:r>
            <a:r>
              <a:rPr lang="en-US" sz="800" baseline="30000">
                <a:cs typeface="Times New Roman" pitchFamily="18" charset="0"/>
              </a:rPr>
              <a:t>®</a:t>
            </a:r>
            <a:r>
              <a:rPr lang="en-US" sz="800"/>
              <a:t>). Regardless of whether you have any properties within the section, use the standard outline.</a:t>
            </a:r>
          </a:p>
          <a:p>
            <a:pPr eaLnBrk="1" hangingPunct="1"/>
            <a:endParaRPr lang="en-US" sz="800"/>
          </a:p>
          <a:p>
            <a:pPr eaLnBrk="1" hangingPunct="1"/>
            <a:endParaRPr lang="en-US" sz="800"/>
          </a:p>
        </p:txBody>
      </p:sp>
      <p:sp>
        <p:nvSpPr>
          <p:cNvPr id="197636" name="Text Box 4"/>
          <p:cNvSpPr txBox="1">
            <a:spLocks noChangeArrowheads="1"/>
          </p:cNvSpPr>
          <p:nvPr/>
        </p:nvSpPr>
        <p:spPr bwMode="auto">
          <a:xfrm>
            <a:off x="444279" y="1227779"/>
            <a:ext cx="1730900"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Tell students that we encourage them to create use-case diagrams. However, if they do not have use case diagrams, they can add a section to the Use-Case Specification template to list actors related to the use case.</a:t>
            </a:r>
          </a:p>
        </p:txBody>
      </p:sp>
    </p:spTree>
    <p:extLst>
      <p:ext uri="{BB962C8B-B14F-4D97-AF65-F5344CB8AC3E}">
        <p14:creationId xmlns:p14="http://schemas.microsoft.com/office/powerpoint/2010/main" val="24741017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2571750" y="839788"/>
            <a:ext cx="4057650" cy="3044825"/>
          </a:xfrm>
          <a:ln/>
        </p:spPr>
      </p:sp>
      <p:sp>
        <p:nvSpPr>
          <p:cNvPr id="19865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559" tIns="43779" rIns="87559" bIns="43779"/>
          <a:lstStyle/>
          <a:p>
            <a:pPr eaLnBrk="1" hangingPunct="1"/>
            <a:r>
              <a:rPr lang="en-US" sz="800" i="1"/>
              <a:t>Use-case</a:t>
            </a:r>
            <a:r>
              <a:rPr lang="en-US" sz="800"/>
              <a:t> </a:t>
            </a:r>
            <a:r>
              <a:rPr lang="en-US" sz="800" i="1"/>
              <a:t>style</a:t>
            </a:r>
            <a:r>
              <a:rPr lang="en-US" sz="800"/>
              <a:t> refers to how the use case is structured.</a:t>
            </a:r>
          </a:p>
          <a:p>
            <a:pPr eaLnBrk="1" hangingPunct="1"/>
            <a:r>
              <a:rPr lang="en-US" sz="800"/>
              <a:t>There are many successful styles that can be adopted for writing use cases.</a:t>
            </a:r>
          </a:p>
          <a:p>
            <a:pPr eaLnBrk="1" hangingPunct="1"/>
            <a:r>
              <a:rPr lang="en-US" sz="800"/>
              <a:t>The style that you choose must make the use case easily understood by all audiences. It should be consistent across all use cases on a project and, ideally, consistent across all use cases in the organization.</a:t>
            </a:r>
          </a:p>
          <a:p>
            <a:pPr eaLnBrk="1" hangingPunct="1"/>
            <a:r>
              <a:rPr lang="en-US" sz="800"/>
              <a:t>This course uses the RUP style.</a:t>
            </a:r>
          </a:p>
          <a:p>
            <a:pPr eaLnBrk="1" hangingPunct="1"/>
            <a:endParaRPr lang="en-US" sz="800"/>
          </a:p>
        </p:txBody>
      </p:sp>
      <p:sp>
        <p:nvSpPr>
          <p:cNvPr id="198660"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230188" indent="-11430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People might bring up other use case styles such as:</a:t>
            </a:r>
          </a:p>
          <a:p>
            <a:pPr eaLnBrk="1" hangingPunct="1"/>
            <a:endParaRPr lang="en-US" sz="900">
              <a:solidFill>
                <a:schemeClr val="tx1"/>
              </a:solidFill>
            </a:endParaRPr>
          </a:p>
          <a:p>
            <a:pPr lvl="1" eaLnBrk="1" hangingPunct="1">
              <a:buFontTx/>
              <a:buChar char="•"/>
            </a:pPr>
            <a:r>
              <a:rPr lang="en-US" sz="900" b="1">
                <a:solidFill>
                  <a:schemeClr val="tx1"/>
                </a:solidFill>
              </a:rPr>
              <a:t>Tagged style</a:t>
            </a:r>
            <a:r>
              <a:rPr lang="en-US" sz="900">
                <a:solidFill>
                  <a:schemeClr val="tx1"/>
                </a:solidFill>
              </a:rPr>
              <a:t>: The tagged use case style is a popular format used by Bittner and Spence in </a:t>
            </a:r>
            <a:r>
              <a:rPr lang="en-US" sz="900" i="1">
                <a:solidFill>
                  <a:schemeClr val="tx1"/>
                </a:solidFill>
              </a:rPr>
              <a:t>Use Case Modeling</a:t>
            </a:r>
            <a:r>
              <a:rPr lang="en-US" sz="900">
                <a:solidFill>
                  <a:schemeClr val="tx1"/>
                </a:solidFill>
              </a:rPr>
              <a:t>. This style is very similar to the RUP style. The major difference is that the tagged style uses tags to refer to particular steps in the flows.</a:t>
            </a:r>
          </a:p>
          <a:p>
            <a:pPr lvl="1" eaLnBrk="1" hangingPunct="1">
              <a:buFontTx/>
              <a:buChar char="•"/>
            </a:pPr>
            <a:endParaRPr lang="en-US" sz="900">
              <a:solidFill>
                <a:schemeClr val="tx1"/>
              </a:solidFill>
            </a:endParaRPr>
          </a:p>
          <a:p>
            <a:pPr lvl="1" eaLnBrk="1" hangingPunct="1">
              <a:buFontTx/>
              <a:buChar char="•"/>
            </a:pPr>
            <a:r>
              <a:rPr lang="en-US" sz="900" b="1">
                <a:solidFill>
                  <a:schemeClr val="tx1"/>
                </a:solidFill>
              </a:rPr>
              <a:t>Table style</a:t>
            </a:r>
            <a:r>
              <a:rPr lang="en-US" sz="900">
                <a:solidFill>
                  <a:schemeClr val="tx1"/>
                </a:solidFill>
              </a:rPr>
              <a:t>:  The table style puts use cases into tables. It can be cumbersome and lead to overly detailed use cases. But, it can be very effective for enforcing consistency across use cases.</a:t>
            </a:r>
          </a:p>
          <a:p>
            <a:pPr lvl="1" eaLnBrk="1" hangingPunct="1">
              <a:buFontTx/>
              <a:buChar char="•"/>
            </a:pPr>
            <a:endParaRPr lang="en-US" sz="900" b="1">
              <a:solidFill>
                <a:schemeClr val="tx1"/>
              </a:solidFill>
            </a:endParaRPr>
          </a:p>
          <a:p>
            <a:pPr lvl="1" eaLnBrk="1" hangingPunct="1">
              <a:buFontTx/>
              <a:buChar char="•"/>
            </a:pPr>
            <a:r>
              <a:rPr lang="en-US" sz="900" b="1">
                <a:solidFill>
                  <a:schemeClr val="tx1"/>
                </a:solidFill>
              </a:rPr>
              <a:t>Cockburn style</a:t>
            </a:r>
            <a:r>
              <a:rPr lang="en-US" sz="900">
                <a:solidFill>
                  <a:schemeClr val="tx1"/>
                </a:solidFill>
              </a:rPr>
              <a:t>: The Cockburn style is a popular approach that defines different levels of use case starting at the high level (summary level) and moving through (user level) down to very detailed definitions.  It is very different from the RUP style.  </a:t>
            </a:r>
          </a:p>
        </p:txBody>
      </p:sp>
    </p:spTree>
    <p:extLst>
      <p:ext uri="{BB962C8B-B14F-4D97-AF65-F5344CB8AC3E}">
        <p14:creationId xmlns:p14="http://schemas.microsoft.com/office/powerpoint/2010/main" val="236639218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Rot="1" noChangeAspect="1" noChangeArrowheads="1" noTextEdit="1"/>
          </p:cNvSpPr>
          <p:nvPr>
            <p:ph type="sldImg"/>
          </p:nvPr>
        </p:nvSpPr>
        <p:spPr>
          <a:xfrm>
            <a:off x="2571750" y="839788"/>
            <a:ext cx="4057650" cy="3044825"/>
          </a:xfrm>
          <a:ln/>
        </p:spPr>
      </p:sp>
      <p:sp>
        <p:nvSpPr>
          <p:cNvPr id="19968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When you detail each step in the outline, be sure to describe the flow of events, not only what the system is doing. A suggestion for how to enforce this is to start every step with “When the [actor] ....” </a:t>
            </a:r>
          </a:p>
          <a:p>
            <a:pPr eaLnBrk="1" hangingPunct="1"/>
            <a:r>
              <a:rPr lang="en-US" sz="800"/>
              <a:t>When possible, make each step in the flow of events show a roundtrip of events, usually in the form of messages: </a:t>
            </a:r>
          </a:p>
          <a:p>
            <a:pPr marL="433106" lvl="1"/>
            <a:r>
              <a:rPr lang="en-US" sz="800"/>
              <a:t>What the actor does: &lt;Actor&gt; sends a message to &lt;System&gt;, and....</a:t>
            </a:r>
          </a:p>
          <a:p>
            <a:pPr marL="433106" lvl="1"/>
            <a:r>
              <a:rPr lang="en-US" sz="800"/>
              <a:t>What the system does in response: &lt;System&gt; sends a message to &lt;An Actor&gt;....</a:t>
            </a:r>
          </a:p>
          <a:p>
            <a:pPr eaLnBrk="1" hangingPunct="1"/>
            <a:r>
              <a:rPr lang="en-US" sz="800"/>
              <a:t>Making each step a roundtrip ensures testability, ensures adherence to the purpose of a use case, and makes sequence diagrams easier to develop and read. </a:t>
            </a:r>
          </a:p>
          <a:p>
            <a:pPr eaLnBrk="1" hangingPunct="1"/>
            <a:r>
              <a:rPr lang="en-US" sz="800"/>
              <a:t>Some interactions are system-controlled. That is, after the user’s request that begins the use case, the system controls the interaction: The system asks for information and the user supplies information, and so on. In these cases, a roundtrip within a step would begin with system actions and then have the user respond.</a:t>
            </a:r>
          </a:p>
        </p:txBody>
      </p:sp>
      <p:sp>
        <p:nvSpPr>
          <p:cNvPr id="199684" name="Text Box 4"/>
          <p:cNvSpPr txBox="1">
            <a:spLocks noChangeArrowheads="1"/>
          </p:cNvSpPr>
          <p:nvPr/>
        </p:nvSpPr>
        <p:spPr bwMode="auto">
          <a:xfrm>
            <a:off x="381663" y="1220209"/>
            <a:ext cx="1982857" cy="685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230188" indent="-11430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Review the example of a basic flow for the Register for Courses use case. </a:t>
            </a:r>
          </a:p>
          <a:p>
            <a:pPr eaLnBrk="1" hangingPunct="1"/>
            <a:endParaRPr lang="en-US" sz="900">
              <a:solidFill>
                <a:schemeClr val="tx1"/>
              </a:solidFill>
            </a:endParaRPr>
          </a:p>
          <a:p>
            <a:pPr eaLnBrk="1" hangingPunct="1"/>
            <a:r>
              <a:rPr lang="en-US" sz="900">
                <a:solidFill>
                  <a:schemeClr val="tx1"/>
                </a:solidFill>
              </a:rPr>
              <a:t>Detail the use case by defining the basic flow of events.</a:t>
            </a:r>
          </a:p>
          <a:p>
            <a:pPr lvl="1" eaLnBrk="1" hangingPunct="1">
              <a:buFontTx/>
              <a:buChar char="•"/>
            </a:pPr>
            <a:r>
              <a:rPr lang="en-US" sz="900">
                <a:solidFill>
                  <a:schemeClr val="tx1"/>
                </a:solidFill>
              </a:rPr>
              <a:t>Structure flow into steps.</a:t>
            </a:r>
          </a:p>
          <a:p>
            <a:pPr lvl="1" eaLnBrk="1" hangingPunct="1">
              <a:buFontTx/>
              <a:buChar char="•"/>
            </a:pPr>
            <a:r>
              <a:rPr lang="en-US" sz="900">
                <a:solidFill>
                  <a:schemeClr val="tx1"/>
                </a:solidFill>
              </a:rPr>
              <a:t>Number each step.</a:t>
            </a:r>
          </a:p>
          <a:p>
            <a:pPr lvl="1" eaLnBrk="1" hangingPunct="1">
              <a:buFontTx/>
              <a:buChar char="•"/>
            </a:pPr>
            <a:r>
              <a:rPr lang="en-US" sz="900">
                <a:solidFill>
                  <a:schemeClr val="tx1"/>
                </a:solidFill>
              </a:rPr>
              <a:t>Describe each step in 1-3 sentences.</a:t>
            </a:r>
          </a:p>
          <a:p>
            <a:pPr eaLnBrk="1" hangingPunct="1"/>
            <a:endParaRPr lang="en-US" sz="900">
              <a:solidFill>
                <a:schemeClr val="tx1"/>
              </a:solidFill>
            </a:endParaRPr>
          </a:p>
          <a:p>
            <a:pPr eaLnBrk="1" hangingPunct="1"/>
            <a:r>
              <a:rPr lang="en-US" sz="900">
                <a:solidFill>
                  <a:schemeClr val="tx1"/>
                </a:solidFill>
              </a:rPr>
              <a:t>Strive for roundtrip descriptions, but they are not always practical.</a:t>
            </a:r>
          </a:p>
        </p:txBody>
      </p:sp>
    </p:spTree>
    <p:extLst>
      <p:ext uri="{BB962C8B-B14F-4D97-AF65-F5344CB8AC3E}">
        <p14:creationId xmlns:p14="http://schemas.microsoft.com/office/powerpoint/2010/main" val="189785904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2571750" y="839788"/>
            <a:ext cx="4057650" cy="3044825"/>
          </a:xfrm>
          <a:ln/>
        </p:spPr>
      </p:sp>
      <p:sp>
        <p:nvSpPr>
          <p:cNvPr id="20070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559" tIns="43779" rIns="87559" bIns="43779"/>
          <a:lstStyle/>
          <a:p>
            <a:pPr eaLnBrk="1" hangingPunct="1"/>
            <a:r>
              <a:rPr lang="en-US" sz="800"/>
              <a:t>The description of the steps in a use case is structured text and should be consistent.</a:t>
            </a:r>
          </a:p>
          <a:p>
            <a:pPr eaLnBrk="1" hangingPunct="1"/>
            <a:r>
              <a:rPr lang="en-US" sz="800"/>
              <a:t>The distinction between </a:t>
            </a:r>
            <a:r>
              <a:rPr lang="en-US" sz="800" i="1"/>
              <a:t>chooses</a:t>
            </a:r>
            <a:r>
              <a:rPr lang="en-US" sz="800"/>
              <a:t> and </a:t>
            </a:r>
            <a:r>
              <a:rPr lang="en-US" sz="800" i="1"/>
              <a:t>decides</a:t>
            </a:r>
            <a:r>
              <a:rPr lang="en-US" sz="800"/>
              <a:t>: </a:t>
            </a:r>
          </a:p>
          <a:p>
            <a:pPr marL="324829" lvl="1" indent="-216553">
              <a:buFont typeface="Wingdings" pitchFamily="2" charset="2"/>
              <a:buChar char="§"/>
            </a:pPr>
            <a:r>
              <a:rPr lang="en-US" sz="800" i="1"/>
              <a:t>Decides</a:t>
            </a:r>
            <a:r>
              <a:rPr lang="en-US" sz="800"/>
              <a:t> can be totally unrelated to the system. For example, the Professor can decide to submit grades while  eating breakfast or while driving to campus. </a:t>
            </a:r>
          </a:p>
          <a:p>
            <a:pPr marL="324829" lvl="1" indent="-216553">
              <a:buFont typeface="Wingdings" pitchFamily="2" charset="2"/>
              <a:buChar char="§"/>
            </a:pPr>
            <a:r>
              <a:rPr lang="en-US" sz="800" i="1"/>
              <a:t>Chooses</a:t>
            </a:r>
            <a:r>
              <a:rPr lang="en-US" sz="800"/>
              <a:t>, on the other hand, implies an interaction with the system.</a:t>
            </a:r>
          </a:p>
        </p:txBody>
      </p:sp>
      <p:sp>
        <p:nvSpPr>
          <p:cNvPr id="200708"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endParaRPr lang="en-US" sz="900">
              <a:solidFill>
                <a:schemeClr val="tx1"/>
              </a:solidFill>
            </a:endParaRPr>
          </a:p>
        </p:txBody>
      </p:sp>
    </p:spTree>
    <p:extLst>
      <p:ext uri="{BB962C8B-B14F-4D97-AF65-F5344CB8AC3E}">
        <p14:creationId xmlns:p14="http://schemas.microsoft.com/office/powerpoint/2010/main" val="12509020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a:xfrm>
            <a:off x="2571750" y="839788"/>
            <a:ext cx="4057650" cy="3044825"/>
          </a:xfrm>
          <a:ln/>
        </p:spPr>
      </p:sp>
      <p:sp>
        <p:nvSpPr>
          <p:cNvPr id="20173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sz="800"/>
              <a:t>For the same reasons that organizations have coding standards to promote understanding and productivity, it is important to ensure consistency of the use case descriptions with use-case modeling guidelines.</a:t>
            </a:r>
          </a:p>
          <a:p>
            <a:pPr eaLnBrk="1" hangingPunct="1">
              <a:lnSpc>
                <a:spcPct val="90000"/>
              </a:lnSpc>
            </a:pPr>
            <a:r>
              <a:rPr lang="en-US" sz="800"/>
              <a:t>The structure of your use cases is one of the most important and overlooked features of your requirements set. Often, teams focus on structuring the model itself rather than  on the internal organization of the information within each specification.</a:t>
            </a:r>
          </a:p>
          <a:p>
            <a:pPr eaLnBrk="1" hangingPunct="1">
              <a:lnSpc>
                <a:spcPct val="90000"/>
              </a:lnSpc>
            </a:pPr>
            <a:r>
              <a:rPr lang="en-US" sz="800"/>
              <a:t>Your use-case modeling guidelines should describe acceptable use case styles. Things to consider standardizing are:</a:t>
            </a:r>
          </a:p>
          <a:p>
            <a:pPr marL="216553" lvl="1" indent="-108276">
              <a:lnSpc>
                <a:spcPct val="90000"/>
              </a:lnSpc>
              <a:buFontTx/>
              <a:buChar char="•"/>
            </a:pPr>
            <a:r>
              <a:rPr lang="en-US" sz="800"/>
              <a:t>General format of a flow</a:t>
            </a:r>
          </a:p>
          <a:p>
            <a:pPr marL="216553" lvl="1" indent="-108276">
              <a:lnSpc>
                <a:spcPct val="90000"/>
              </a:lnSpc>
              <a:buFontTx/>
              <a:buChar char="•"/>
            </a:pPr>
            <a:r>
              <a:rPr lang="en-US" sz="800"/>
              <a:t>Labeling and numbering conventions</a:t>
            </a:r>
          </a:p>
          <a:p>
            <a:pPr marL="216553" lvl="1" indent="-108276">
              <a:lnSpc>
                <a:spcPct val="90000"/>
              </a:lnSpc>
              <a:buFontTx/>
              <a:buChar char="•"/>
            </a:pPr>
            <a:r>
              <a:rPr lang="en-US" sz="800"/>
              <a:t>How to describe repeated behavior</a:t>
            </a:r>
          </a:p>
          <a:p>
            <a:pPr marL="216553" lvl="1" indent="-108276">
              <a:lnSpc>
                <a:spcPct val="90000"/>
              </a:lnSpc>
              <a:buFontTx/>
              <a:buChar char="•"/>
            </a:pPr>
            <a:r>
              <a:rPr lang="en-US" sz="800"/>
              <a:t>How to describe optional behavior</a:t>
            </a:r>
          </a:p>
          <a:p>
            <a:pPr marL="216553" lvl="1" indent="-108276">
              <a:lnSpc>
                <a:spcPct val="90000"/>
              </a:lnSpc>
              <a:buFontTx/>
              <a:buChar char="•"/>
            </a:pPr>
            <a:r>
              <a:rPr lang="en-US" sz="800"/>
              <a:t>How to describe data in forms</a:t>
            </a:r>
          </a:p>
          <a:p>
            <a:pPr marL="216553" lvl="1" indent="-108276">
              <a:lnSpc>
                <a:spcPct val="90000"/>
              </a:lnSpc>
              <a:buFontTx/>
              <a:buChar char="•"/>
            </a:pPr>
            <a:r>
              <a:rPr lang="en-US" sz="800"/>
              <a:t>How to map to business rules</a:t>
            </a:r>
          </a:p>
          <a:p>
            <a:pPr marL="216553" lvl="1" indent="-108276">
              <a:lnSpc>
                <a:spcPct val="90000"/>
              </a:lnSpc>
              <a:buFontTx/>
              <a:buChar char="•"/>
            </a:pPr>
            <a:r>
              <a:rPr lang="en-US" sz="800"/>
              <a:t>How to reuse behavior</a:t>
            </a:r>
          </a:p>
          <a:p>
            <a:pPr marL="216553" lvl="1" indent="-108276">
              <a:lnSpc>
                <a:spcPct val="90000"/>
              </a:lnSpc>
              <a:buFontTx/>
              <a:buChar char="•"/>
            </a:pPr>
            <a:r>
              <a:rPr lang="en-US" sz="800"/>
              <a:t>Whether descriptions of internal behavior are allowed</a:t>
            </a:r>
          </a:p>
          <a:p>
            <a:pPr marL="216553" lvl="1" indent="-108276">
              <a:lnSpc>
                <a:spcPct val="90000"/>
              </a:lnSpc>
              <a:buFontTx/>
              <a:buChar char="•"/>
            </a:pPr>
            <a:r>
              <a:rPr lang="en-US" sz="800"/>
              <a:t>Which features of your word processor  you will use to maintain internal cross-references</a:t>
            </a:r>
          </a:p>
          <a:p>
            <a:pPr marL="216553" lvl="1" indent="-108276">
              <a:lnSpc>
                <a:spcPct val="90000"/>
              </a:lnSpc>
              <a:buFontTx/>
              <a:buChar char="•"/>
            </a:pPr>
            <a:r>
              <a:rPr lang="en-US" sz="800"/>
              <a:t>Model structuring guidelines («include», «extend» and generalizations)</a:t>
            </a:r>
            <a:br>
              <a:rPr lang="en-US" sz="800"/>
            </a:br>
            <a:endParaRPr lang="en-US" sz="800"/>
          </a:p>
          <a:p>
            <a:pPr marL="216553" lvl="1" indent="-108276">
              <a:lnSpc>
                <a:spcPct val="90000"/>
              </a:lnSpc>
            </a:pPr>
            <a:r>
              <a:rPr lang="en-US" sz="800"/>
              <a:t>	</a:t>
            </a:r>
            <a:r>
              <a:rPr lang="en-US" sz="800" b="1"/>
              <a:t>Note:</a:t>
            </a:r>
            <a:r>
              <a:rPr lang="en-US" sz="800"/>
              <a:t> This course does not discuss model-structuring guidelines. Restructuring the use-case model takes place after you detail the use case. It is often done by the architect. </a:t>
            </a:r>
          </a:p>
        </p:txBody>
      </p:sp>
      <p:sp>
        <p:nvSpPr>
          <p:cNvPr id="201732"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324" tIns="43162" rIns="86324" bIns="43162"/>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People often think structuring the use case only deals with «include», «extend», and generalize. This is not the case.</a:t>
            </a:r>
          </a:p>
          <a:p>
            <a:pPr>
              <a:lnSpc>
                <a:spcPct val="87000"/>
              </a:lnSpc>
              <a:spcBef>
                <a:spcPct val="30000"/>
              </a:spcBef>
            </a:pPr>
            <a:r>
              <a:rPr lang="en-US" sz="900">
                <a:solidFill>
                  <a:schemeClr val="tx1"/>
                </a:solidFill>
              </a:rPr>
              <a:t>The internal structure of the use case text is by far the most important type of structuring you can perform.</a:t>
            </a:r>
          </a:p>
          <a:p>
            <a:pPr>
              <a:lnSpc>
                <a:spcPct val="87000"/>
              </a:lnSpc>
              <a:spcBef>
                <a:spcPct val="30000"/>
              </a:spcBef>
            </a:pPr>
            <a:r>
              <a:rPr lang="en-US" sz="900">
                <a:solidFill>
                  <a:schemeClr val="tx1"/>
                </a:solidFill>
              </a:rPr>
              <a:t>The internal structure deals with how you describe repetitive behavior, the use of conditional statements, numbering techniques, subflows, and internal cross references.</a:t>
            </a:r>
          </a:p>
          <a:p>
            <a:pPr>
              <a:lnSpc>
                <a:spcPct val="87000"/>
              </a:lnSpc>
              <a:spcBef>
                <a:spcPct val="30000"/>
              </a:spcBef>
            </a:pPr>
            <a:r>
              <a:rPr lang="en-US" sz="900">
                <a:solidFill>
                  <a:schemeClr val="tx1"/>
                </a:solidFill>
              </a:rPr>
              <a:t>You need a style that is going to make it easy to write and maintain the use-case descriptions, while at the same time making the life of the implementers and testers easier.</a:t>
            </a:r>
          </a:p>
        </p:txBody>
      </p:sp>
    </p:spTree>
    <p:extLst>
      <p:ext uri="{BB962C8B-B14F-4D97-AF65-F5344CB8AC3E}">
        <p14:creationId xmlns:p14="http://schemas.microsoft.com/office/powerpoint/2010/main" val="193410824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a:xfrm>
            <a:off x="2592388" y="838200"/>
            <a:ext cx="4060825" cy="3046413"/>
          </a:xfrm>
          <a:ln/>
        </p:spPr>
      </p:sp>
      <p:sp>
        <p:nvSpPr>
          <p:cNvPr id="20275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Use cases typically have a great deal of cross-referenced information within them. The overhead of maintaining this cross-referencing is what typically causes use cases to become out of date. To make maintenance easier, refer to a use case step by its label rather than by number. If you change the text of the label, then the location that references the label also needs to be updated.</a:t>
            </a:r>
          </a:p>
          <a:p>
            <a:pPr eaLnBrk="1" hangingPunct="1"/>
            <a:r>
              <a:rPr lang="en-US" sz="800"/>
              <a:t>Word processors and page layout software , such as Microsoft</a:t>
            </a:r>
            <a:r>
              <a:rPr lang="en-US" sz="800" baseline="30000"/>
              <a:t>®</a:t>
            </a:r>
            <a:r>
              <a:rPr lang="en-US" sz="800"/>
              <a:t> Word and Adobe</a:t>
            </a:r>
            <a:r>
              <a:rPr lang="en-US" sz="800" baseline="30000"/>
              <a:t>® </a:t>
            </a:r>
            <a:r>
              <a:rPr lang="en-US" sz="800"/>
              <a:t>FrameMaker</a:t>
            </a:r>
            <a:r>
              <a:rPr lang="en-US" sz="800" baseline="30000"/>
              <a:t>®</a:t>
            </a:r>
            <a:r>
              <a:rPr lang="en-US" sz="800"/>
              <a:t>, have book-marking and cross-referencing capabilities that can make the maintenance of cross-references easier. </a:t>
            </a:r>
          </a:p>
        </p:txBody>
      </p:sp>
      <p:sp>
        <p:nvSpPr>
          <p:cNvPr id="202756"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324" tIns="43162" rIns="86324" bIns="43162"/>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Instead of referring to a particular step by step number, we suggest that you refer the step by its label for easy maintenance.</a:t>
            </a:r>
            <a:r>
              <a:rPr lang="en-US" sz="900">
                <a:solidFill>
                  <a:schemeClr val="tx1"/>
                </a:solidFill>
                <a:latin typeface="ZapfHumnst BT" pitchFamily="34" charset="0"/>
              </a:rPr>
              <a:t>  </a:t>
            </a:r>
          </a:p>
        </p:txBody>
      </p:sp>
    </p:spTree>
    <p:extLst>
      <p:ext uri="{BB962C8B-B14F-4D97-AF65-F5344CB8AC3E}">
        <p14:creationId xmlns:p14="http://schemas.microsoft.com/office/powerpoint/2010/main" val="205412595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xfrm>
            <a:off x="2571750" y="839788"/>
            <a:ext cx="4057650" cy="3044825"/>
          </a:xfrm>
          <a:ln/>
        </p:spPr>
      </p:sp>
      <p:sp>
        <p:nvSpPr>
          <p:cNvPr id="20377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991802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ChangeArrowheads="1"/>
          </p:cNvSpPr>
          <p:nvPr/>
        </p:nvSpPr>
        <p:spPr bwMode="auto">
          <a:xfrm>
            <a:off x="3885207" y="-1514"/>
            <a:ext cx="297428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204803" name="Rectangle 3"/>
          <p:cNvSpPr>
            <a:spLocks noChangeArrowheads="1"/>
          </p:cNvSpPr>
          <p:nvPr/>
        </p:nvSpPr>
        <p:spPr bwMode="auto">
          <a:xfrm>
            <a:off x="-1491" y="8688315"/>
            <a:ext cx="297428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324" tIns="43162" rIns="86324" bIns="43162" anchor="ctr"/>
          <a:lstStyle/>
          <a:p>
            <a:pPr algn="ctr" defTabSz="863203" eaLnBrk="0" hangingPunct="0">
              <a:lnSpc>
                <a:spcPct val="87000"/>
              </a:lnSpc>
              <a:spcBef>
                <a:spcPct val="30000"/>
              </a:spcBef>
            </a:pPr>
            <a:endParaRPr lang="en-US" sz="900"/>
          </a:p>
        </p:txBody>
      </p:sp>
      <p:sp>
        <p:nvSpPr>
          <p:cNvPr id="204804" name="Rectangle 4"/>
          <p:cNvSpPr>
            <a:spLocks noChangeArrowheads="1"/>
          </p:cNvSpPr>
          <p:nvPr/>
        </p:nvSpPr>
        <p:spPr bwMode="auto">
          <a:xfrm>
            <a:off x="-1491" y="-1514"/>
            <a:ext cx="297428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324" tIns="43162" rIns="86324" bIns="43162" anchor="ctr"/>
          <a:lstStyle/>
          <a:p>
            <a:pPr algn="ctr" defTabSz="863203" eaLnBrk="0" hangingPunct="0">
              <a:lnSpc>
                <a:spcPct val="87000"/>
              </a:lnSpc>
              <a:spcBef>
                <a:spcPct val="30000"/>
              </a:spcBef>
            </a:pPr>
            <a:endParaRPr lang="en-US" sz="900"/>
          </a:p>
        </p:txBody>
      </p:sp>
      <p:sp>
        <p:nvSpPr>
          <p:cNvPr id="204805" name="Rectangle 5"/>
          <p:cNvSpPr>
            <a:spLocks noGrp="1" noRot="1" noChangeAspect="1" noChangeArrowheads="1" noTextEdit="1"/>
          </p:cNvSpPr>
          <p:nvPr>
            <p:ph type="sldImg"/>
          </p:nvPr>
        </p:nvSpPr>
        <p:spPr>
          <a:xfrm>
            <a:off x="2571750" y="839788"/>
            <a:ext cx="4057650" cy="3044825"/>
          </a:xfrm>
          <a:ln/>
        </p:spPr>
      </p:sp>
      <p:sp>
        <p:nvSpPr>
          <p:cNvPr id="204806" name="Rectangle 6"/>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sz="800"/>
              <a:t>There are always different ways to structure the text. The main goal is to make the document easy to read.</a:t>
            </a:r>
          </a:p>
          <a:p>
            <a:pPr eaLnBrk="1" hangingPunct="1">
              <a:lnSpc>
                <a:spcPct val="90000"/>
              </a:lnSpc>
            </a:pPr>
            <a:r>
              <a:rPr lang="en-US" sz="800"/>
              <a:t>Describe the alternative flows in their own section, not within the basic flow (although some people have found it useful to add pointers where these may be inserted for clarification purposes).</a:t>
            </a:r>
          </a:p>
          <a:p>
            <a:pPr eaLnBrk="1" hangingPunct="1">
              <a:lnSpc>
                <a:spcPct val="90000"/>
              </a:lnSpc>
            </a:pPr>
            <a:r>
              <a:rPr lang="en-US" sz="800"/>
              <a:t>This slide shows both specific and generic alternative flows from the Register for Course example. A </a:t>
            </a:r>
            <a:r>
              <a:rPr lang="en-US" sz="800" i="1"/>
              <a:t>specific</a:t>
            </a:r>
            <a:r>
              <a:rPr lang="en-US" sz="800"/>
              <a:t> alternative flow occurs at a specific step in the basic (or other) flow. A </a:t>
            </a:r>
            <a:r>
              <a:rPr lang="en-US" sz="800" i="1"/>
              <a:t>generic</a:t>
            </a:r>
            <a:r>
              <a:rPr lang="en-US" sz="800"/>
              <a:t> alternative flow can occur anywhere in another flow. </a:t>
            </a:r>
          </a:p>
          <a:p>
            <a:pPr eaLnBrk="1" hangingPunct="1">
              <a:lnSpc>
                <a:spcPct val="90000"/>
              </a:lnSpc>
            </a:pPr>
            <a:r>
              <a:rPr lang="en-US" sz="800"/>
              <a:t>For specific alternative flows, detail this information: </a:t>
            </a:r>
          </a:p>
          <a:p>
            <a:pPr marL="324829" lvl="1" indent="-108276">
              <a:lnSpc>
                <a:spcPct val="90000"/>
              </a:lnSpc>
              <a:buFontTx/>
              <a:buChar char="•"/>
            </a:pPr>
            <a:r>
              <a:rPr lang="en-US" sz="800"/>
              <a:t>The start location in the basic or another subflow where the alternative flow is triggered</a:t>
            </a:r>
          </a:p>
          <a:p>
            <a:pPr marL="433106" lvl="2">
              <a:lnSpc>
                <a:spcPct val="90000"/>
              </a:lnSpc>
            </a:pPr>
            <a:r>
              <a:rPr lang="en-US" sz="800"/>
              <a:t>Example: “In </a:t>
            </a:r>
            <a:r>
              <a:rPr lang="en-US" sz="800" i="1"/>
              <a:t>&lt;step name&gt;</a:t>
            </a:r>
            <a:r>
              <a:rPr lang="en-US" sz="800"/>
              <a:t> of the basic flow</a:t>
            </a:r>
            <a:r>
              <a:rPr lang="en-US" sz="800">
                <a:cs typeface="Times New Roman" pitchFamily="18" charset="0"/>
              </a:rPr>
              <a:t>…</a:t>
            </a:r>
            <a:r>
              <a:rPr lang="en-US" sz="800"/>
              <a:t>.”</a:t>
            </a:r>
          </a:p>
          <a:p>
            <a:pPr marL="324829" lvl="1" indent="-108276">
              <a:lnSpc>
                <a:spcPct val="90000"/>
              </a:lnSpc>
              <a:buFontTx/>
              <a:buChar char="•"/>
            </a:pPr>
            <a:r>
              <a:rPr lang="en-US" sz="800"/>
              <a:t>The condition that triggers its start</a:t>
            </a:r>
          </a:p>
          <a:p>
            <a:pPr marL="433106" lvl="2">
              <a:lnSpc>
                <a:spcPct val="90000"/>
              </a:lnSpc>
            </a:pPr>
            <a:r>
              <a:rPr lang="en-US" sz="800"/>
              <a:t>Example: “If the line goes down</a:t>
            </a:r>
            <a:r>
              <a:rPr lang="en-US" sz="800">
                <a:cs typeface="Times New Roman" pitchFamily="18" charset="0"/>
              </a:rPr>
              <a:t>…</a:t>
            </a:r>
            <a:r>
              <a:rPr lang="en-US" sz="800"/>
              <a:t>.” </a:t>
            </a:r>
          </a:p>
          <a:p>
            <a:pPr marL="324829" lvl="1" indent="-108276">
              <a:lnSpc>
                <a:spcPct val="90000"/>
              </a:lnSpc>
              <a:buFontTx/>
              <a:buChar char="•"/>
            </a:pPr>
            <a:r>
              <a:rPr lang="en-US" sz="800"/>
              <a:t>The actions taken in the alternative flow</a:t>
            </a:r>
          </a:p>
          <a:p>
            <a:pPr marL="324829" lvl="1" indent="-108276">
              <a:lnSpc>
                <a:spcPct val="90000"/>
              </a:lnSpc>
              <a:buFontTx/>
              <a:buChar char="•"/>
            </a:pPr>
            <a:r>
              <a:rPr lang="en-US" sz="800"/>
              <a:t>Where the basic flow or a subflow resumes after the alternative flow ends</a:t>
            </a:r>
          </a:p>
          <a:p>
            <a:pPr marL="433106" lvl="2">
              <a:lnSpc>
                <a:spcPct val="90000"/>
              </a:lnSpc>
            </a:pPr>
            <a:r>
              <a:rPr lang="en-US" sz="800"/>
              <a:t>Example: “Resume at </a:t>
            </a:r>
            <a:r>
              <a:rPr lang="en-US" sz="800" i="1"/>
              <a:t>&lt;step name&gt;</a:t>
            </a:r>
            <a:r>
              <a:rPr lang="en-US" sz="800"/>
              <a:t> of the basic flow.” </a:t>
            </a:r>
          </a:p>
          <a:p>
            <a:pPr marL="324829" lvl="1" indent="-108276">
              <a:lnSpc>
                <a:spcPct val="90000"/>
              </a:lnSpc>
              <a:buFontTx/>
              <a:buChar char="•"/>
            </a:pPr>
            <a:r>
              <a:rPr lang="en-US" sz="800"/>
              <a:t>If the use case ends in the alternative flow, state in the alternative flow that “The use case ends</a:t>
            </a:r>
            <a:r>
              <a:rPr lang="en-US" sz="800">
                <a:cs typeface="Times New Roman" pitchFamily="18" charset="0"/>
              </a:rPr>
              <a:t>….</a:t>
            </a:r>
            <a:r>
              <a:rPr lang="en-US" sz="800"/>
              <a:t>”</a:t>
            </a:r>
          </a:p>
          <a:p>
            <a:pPr eaLnBrk="1" hangingPunct="1">
              <a:lnSpc>
                <a:spcPct val="90000"/>
              </a:lnSpc>
            </a:pPr>
            <a:r>
              <a:rPr lang="en-US" sz="800"/>
              <a:t>For generic alternative flows, there is no start location, because a generic alternative flow can begin anywhere.</a:t>
            </a:r>
          </a:p>
        </p:txBody>
      </p:sp>
      <p:sp>
        <p:nvSpPr>
          <p:cNvPr id="204807" name="Text Box 7"/>
          <p:cNvSpPr txBox="1">
            <a:spLocks noChangeArrowheads="1"/>
          </p:cNvSpPr>
          <p:nvPr/>
        </p:nvSpPr>
        <p:spPr bwMode="auto">
          <a:xfrm>
            <a:off x="444279" y="1227779"/>
            <a:ext cx="1730900"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911" tIns="50955" rIns="101911" bIns="5095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40000"/>
              </a:spcBef>
            </a:pPr>
            <a:r>
              <a:rPr lang="en-US" sz="900">
                <a:solidFill>
                  <a:schemeClr val="tx1"/>
                </a:solidFill>
              </a:rPr>
              <a:t>Describe the process of defining alternative flows.</a:t>
            </a:r>
          </a:p>
          <a:p>
            <a:pPr>
              <a:lnSpc>
                <a:spcPct val="87000"/>
              </a:lnSpc>
              <a:spcBef>
                <a:spcPct val="40000"/>
              </a:spcBef>
            </a:pPr>
            <a:r>
              <a:rPr lang="en-US" sz="900">
                <a:solidFill>
                  <a:schemeClr val="tx1"/>
                </a:solidFill>
              </a:rPr>
              <a:t>Use one section for each alternative flow.</a:t>
            </a:r>
          </a:p>
          <a:p>
            <a:pPr>
              <a:lnSpc>
                <a:spcPct val="87000"/>
              </a:lnSpc>
              <a:spcBef>
                <a:spcPct val="40000"/>
              </a:spcBef>
            </a:pPr>
            <a:r>
              <a:rPr lang="en-US" sz="900">
                <a:solidFill>
                  <a:schemeClr val="tx1"/>
                </a:solidFill>
              </a:rPr>
              <a:t>A specific alternative flow occurs at a specific step in the basic  (or other) flow.</a:t>
            </a:r>
          </a:p>
          <a:p>
            <a:pPr>
              <a:lnSpc>
                <a:spcPct val="87000"/>
              </a:lnSpc>
              <a:spcBef>
                <a:spcPct val="40000"/>
              </a:spcBef>
            </a:pPr>
            <a:r>
              <a:rPr lang="en-US" sz="900">
                <a:solidFill>
                  <a:schemeClr val="tx1"/>
                </a:solidFill>
              </a:rPr>
              <a:t>A generic alternative flow can occur anywhere in another flow.</a:t>
            </a:r>
          </a:p>
          <a:p>
            <a:pPr>
              <a:lnSpc>
                <a:spcPct val="87000"/>
              </a:lnSpc>
              <a:spcBef>
                <a:spcPct val="40000"/>
              </a:spcBef>
            </a:pPr>
            <a:r>
              <a:rPr lang="en-US" sz="900" b="1">
                <a:solidFill>
                  <a:schemeClr val="tx1"/>
                </a:solidFill>
              </a:rPr>
              <a:t>Ask</a:t>
            </a:r>
            <a:r>
              <a:rPr lang="en-US" sz="900">
                <a:solidFill>
                  <a:schemeClr val="tx1"/>
                </a:solidFill>
              </a:rPr>
              <a:t>: Which examples of alternative flows on this slide are specific and which are generic?</a:t>
            </a:r>
          </a:p>
          <a:p>
            <a:pPr>
              <a:lnSpc>
                <a:spcPct val="87000"/>
              </a:lnSpc>
              <a:spcBef>
                <a:spcPct val="40000"/>
              </a:spcBef>
            </a:pPr>
            <a:r>
              <a:rPr lang="en-US" sz="900" b="1">
                <a:solidFill>
                  <a:schemeClr val="tx1"/>
                </a:solidFill>
              </a:rPr>
              <a:t> </a:t>
            </a:r>
          </a:p>
        </p:txBody>
      </p:sp>
    </p:spTree>
    <p:extLst>
      <p:ext uri="{BB962C8B-B14F-4D97-AF65-F5344CB8AC3E}">
        <p14:creationId xmlns:p14="http://schemas.microsoft.com/office/powerpoint/2010/main" val="11858134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xfrm>
            <a:off x="2571750" y="839788"/>
            <a:ext cx="4057650" cy="3044825"/>
          </a:xfrm>
          <a:ln/>
        </p:spPr>
      </p:sp>
      <p:sp>
        <p:nvSpPr>
          <p:cNvPr id="20582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You can use activity diagrams to visualize the flows, but they’re time-consuming to create .</a:t>
            </a:r>
          </a:p>
        </p:txBody>
      </p:sp>
      <p:sp>
        <p:nvSpPr>
          <p:cNvPr id="205828"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lIns="86324" tIns="43162" rIns="86324" bIns="43162"/>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While activity diagrams provide a nice way to visualize flow of events, they quickly become messy and difficult to maintain. Activity diagrams also take longer to develop (and therefore cost more) than a use case because most authors spend too much time making sure everything is lined up and no lines cross on the diagram.</a:t>
            </a:r>
          </a:p>
          <a:p>
            <a:pPr>
              <a:lnSpc>
                <a:spcPct val="87000"/>
              </a:lnSpc>
              <a:spcBef>
                <a:spcPct val="30000"/>
              </a:spcBef>
            </a:pPr>
            <a:r>
              <a:rPr lang="en-US" sz="900">
                <a:solidFill>
                  <a:schemeClr val="tx1"/>
                </a:solidFill>
              </a:rPr>
              <a:t>In most cases activity diagrams are not required.</a:t>
            </a:r>
          </a:p>
          <a:p>
            <a:pPr>
              <a:lnSpc>
                <a:spcPct val="87000"/>
              </a:lnSpc>
              <a:spcBef>
                <a:spcPct val="30000"/>
              </a:spcBef>
            </a:pPr>
            <a:r>
              <a:rPr lang="en-US" sz="900">
                <a:solidFill>
                  <a:schemeClr val="tx1"/>
                </a:solidFill>
              </a:rPr>
              <a:t>Tell the students that it is up to them when they create diagrams to represent a use case flow of events. They can choose what works for them.</a:t>
            </a:r>
          </a:p>
        </p:txBody>
      </p:sp>
      <p:grpSp>
        <p:nvGrpSpPr>
          <p:cNvPr id="205829" name="Group 5"/>
          <p:cNvGrpSpPr>
            <a:grpSpLocks/>
          </p:cNvGrpSpPr>
          <p:nvPr/>
        </p:nvGrpSpPr>
        <p:grpSpPr bwMode="auto">
          <a:xfrm>
            <a:off x="2831162" y="4797573"/>
            <a:ext cx="3505034" cy="2157317"/>
            <a:chOff x="1035" y="577"/>
            <a:chExt cx="3690" cy="3422"/>
          </a:xfrm>
        </p:grpSpPr>
        <p:pic>
          <p:nvPicPr>
            <p:cNvPr id="20583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 y="579"/>
              <a:ext cx="3690" cy="3420"/>
            </a:xfrm>
            <a:prstGeom prst="rect">
              <a:avLst/>
            </a:prstGeom>
            <a:noFill/>
            <a:ln w="9525">
              <a:solidFill>
                <a:schemeClr val="tx1"/>
              </a:solidFill>
              <a:miter lim="800000"/>
              <a:headEnd type="none" w="sm" len="sm"/>
              <a:tailEnd/>
            </a:ln>
            <a:extLst>
              <a:ext uri="{909E8E84-426E-40DD-AFC4-6F175D3DCCD1}">
                <a14:hiddenFill xmlns:a14="http://schemas.microsoft.com/office/drawing/2010/main">
                  <a:solidFill>
                    <a:srgbClr val="FFFFFF"/>
                  </a:solidFill>
                </a14:hiddenFill>
              </a:ext>
            </a:extLst>
          </p:spPr>
        </p:pic>
        <p:sp>
          <p:nvSpPr>
            <p:cNvPr id="205833" name="Rectangle 7"/>
            <p:cNvSpPr>
              <a:spLocks noChangeArrowheads="1"/>
            </p:cNvSpPr>
            <p:nvPr/>
          </p:nvSpPr>
          <p:spPr bwMode="auto">
            <a:xfrm>
              <a:off x="1035" y="577"/>
              <a:ext cx="3690" cy="320"/>
            </a:xfrm>
            <a:prstGeom prst="rect">
              <a:avLst/>
            </a:prstGeom>
            <a:solidFill>
              <a:srgbClr val="DDDDDD"/>
            </a:solidFill>
            <a:ln w="9525">
              <a:solidFill>
                <a:schemeClr val="tx1"/>
              </a:solidFill>
              <a:miter lim="800000"/>
              <a:headEnd type="none" w="sm" len="sm"/>
              <a:tailEnd/>
            </a:ln>
          </p:spPr>
          <p:txBody>
            <a:bodyPr wrap="none" lIns="92430" tIns="46214" rIns="92430" bIns="46214" anchor="ctr"/>
            <a:lstStyle/>
            <a:p>
              <a:pPr defTabSz="875234" eaLnBrk="0" hangingPunct="0"/>
              <a:r>
                <a:rPr lang="en-US" sz="800" b="1">
                  <a:solidFill>
                    <a:schemeClr val="bg2"/>
                  </a:solidFill>
                  <a:latin typeface="Arial Narrow" pitchFamily="34" charset="0"/>
                </a:rPr>
                <a:t>Trading</a:t>
              </a:r>
              <a:br>
                <a:rPr lang="en-US" sz="800" b="1">
                  <a:solidFill>
                    <a:schemeClr val="bg2"/>
                  </a:solidFill>
                  <a:latin typeface="Arial Narrow" pitchFamily="34" charset="0"/>
                </a:rPr>
              </a:br>
              <a:r>
                <a:rPr lang="en-US" sz="800" b="1">
                  <a:solidFill>
                    <a:schemeClr val="bg2"/>
                  </a:solidFill>
                  <a:latin typeface="Arial Narrow" pitchFamily="34" charset="0"/>
                </a:rPr>
                <a:t>Customers</a:t>
              </a:r>
              <a:r>
                <a:rPr lang="en-US" sz="800" b="1">
                  <a:solidFill>
                    <a:schemeClr val="bg2"/>
                  </a:solidFill>
                </a:rPr>
                <a:t> </a:t>
              </a:r>
            </a:p>
          </p:txBody>
        </p:sp>
        <p:sp>
          <p:nvSpPr>
            <p:cNvPr id="205834" name="Line 8"/>
            <p:cNvSpPr>
              <a:spLocks noChangeShapeType="1"/>
            </p:cNvSpPr>
            <p:nvPr/>
          </p:nvSpPr>
          <p:spPr bwMode="auto">
            <a:xfrm flipV="1">
              <a:off x="1874" y="577"/>
              <a:ext cx="0" cy="338"/>
            </a:xfrm>
            <a:prstGeom prst="line">
              <a:avLst/>
            </a:prstGeom>
            <a:noFill/>
            <a:ln w="952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205835" name="Line 9"/>
            <p:cNvSpPr>
              <a:spLocks noChangeShapeType="1"/>
            </p:cNvSpPr>
            <p:nvPr/>
          </p:nvSpPr>
          <p:spPr bwMode="auto">
            <a:xfrm flipH="1" flipV="1">
              <a:off x="3877" y="583"/>
              <a:ext cx="0" cy="333"/>
            </a:xfrm>
            <a:prstGeom prst="line">
              <a:avLst/>
            </a:prstGeom>
            <a:noFill/>
            <a:ln w="952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5830" name="Text Box 10"/>
          <p:cNvSpPr txBox="1">
            <a:spLocks noChangeArrowheads="1"/>
          </p:cNvSpPr>
          <p:nvPr/>
        </p:nvSpPr>
        <p:spPr bwMode="auto">
          <a:xfrm>
            <a:off x="4102873" y="4797573"/>
            <a:ext cx="608275" cy="21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559" tIns="43779" rIns="87559" bIns="43779">
            <a:spAutoFit/>
          </a:bodyPr>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800">
                <a:solidFill>
                  <a:schemeClr val="tx1"/>
                </a:solidFill>
                <a:latin typeface="Arial Narrow" pitchFamily="34" charset="0"/>
              </a:rPr>
              <a:t>System</a:t>
            </a:r>
          </a:p>
        </p:txBody>
      </p:sp>
      <p:sp>
        <p:nvSpPr>
          <p:cNvPr id="205831" name="Text Box 11"/>
          <p:cNvSpPr txBox="1">
            <a:spLocks noChangeArrowheads="1"/>
          </p:cNvSpPr>
          <p:nvPr/>
        </p:nvSpPr>
        <p:spPr bwMode="auto">
          <a:xfrm>
            <a:off x="5599707" y="4721877"/>
            <a:ext cx="606784" cy="333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559" tIns="43779" rIns="87559" bIns="43779">
            <a:spAutoFit/>
          </a:bodyPr>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800">
                <a:solidFill>
                  <a:schemeClr val="tx1"/>
                </a:solidFill>
                <a:latin typeface="Arial Narrow" pitchFamily="34" charset="0"/>
              </a:rPr>
              <a:t>Quote</a:t>
            </a:r>
            <a:br>
              <a:rPr lang="en-US" sz="800">
                <a:solidFill>
                  <a:schemeClr val="tx1"/>
                </a:solidFill>
                <a:latin typeface="Arial Narrow" pitchFamily="34" charset="0"/>
              </a:rPr>
            </a:br>
            <a:r>
              <a:rPr lang="en-US" sz="800">
                <a:solidFill>
                  <a:schemeClr val="tx1"/>
                </a:solidFill>
                <a:latin typeface="Arial Narrow" pitchFamily="34" charset="0"/>
              </a:rPr>
              <a:t>System</a:t>
            </a:r>
          </a:p>
        </p:txBody>
      </p:sp>
    </p:spTree>
    <p:extLst>
      <p:ext uri="{BB962C8B-B14F-4D97-AF65-F5344CB8AC3E}">
        <p14:creationId xmlns:p14="http://schemas.microsoft.com/office/powerpoint/2010/main" val="15702367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xfrm>
            <a:off x="2571750" y="839788"/>
            <a:ext cx="4057650" cy="3044825"/>
          </a:xfrm>
          <a:ln/>
        </p:spPr>
      </p:sp>
      <p:sp>
        <p:nvSpPr>
          <p:cNvPr id="20685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 complex flow of events should be further structured into subflows. The main goal should be to improve the readability of the text. </a:t>
            </a:r>
            <a:r>
              <a:rPr lang="en-GB" sz="800"/>
              <a:t>Subflows can be invoked many times from many places. </a:t>
            </a:r>
            <a:r>
              <a:rPr lang="en-US" sz="800"/>
              <a:t>Remember that the use case can perform subflows in optional sequences, in loops, or even several at the same time.</a:t>
            </a:r>
          </a:p>
          <a:p>
            <a:pPr eaLnBrk="1" hangingPunct="1"/>
            <a:r>
              <a:rPr lang="en-US" sz="800"/>
              <a:t>The difference between an alternative flow and a subflow is that </a:t>
            </a:r>
            <a:r>
              <a:rPr lang="en-US" sz="800" i="1"/>
              <a:t>alternative</a:t>
            </a:r>
            <a:r>
              <a:rPr lang="en-US" sz="800"/>
              <a:t> flows are insert themselves into another flow. The flow it inserts itself into has no knowledge of the alternative flow. An alternative flow may also resume at any place within the use case.</a:t>
            </a:r>
          </a:p>
          <a:p>
            <a:pPr eaLnBrk="1" hangingPunct="1"/>
            <a:r>
              <a:rPr lang="en-US" sz="800"/>
              <a:t>A subflow is explicitly called from a flow. When a subflow completes, it always returns to the line </a:t>
            </a:r>
            <a:r>
              <a:rPr lang="en-US" sz="800" i="1"/>
              <a:t>after</a:t>
            </a:r>
            <a:r>
              <a:rPr lang="en-US" sz="800"/>
              <a:t> the line that it was called from. It is similar in concept to a subroutine call in some programming languages.</a:t>
            </a:r>
          </a:p>
          <a:p>
            <a:pPr eaLnBrk="1" hangingPunct="1"/>
            <a:r>
              <a:rPr lang="en-US" sz="800"/>
              <a:t>Subflows are not listed as part of a scenario. By definition, if the calling flow is in the scenario, the subflow is also in the scenario.</a:t>
            </a:r>
          </a:p>
          <a:p>
            <a:pPr eaLnBrk="1" hangingPunct="1"/>
            <a:r>
              <a:rPr lang="en-US" sz="800"/>
              <a:t>As with any other flow, a subflow may have alternative flows.</a:t>
            </a:r>
          </a:p>
        </p:txBody>
      </p:sp>
      <p:sp>
        <p:nvSpPr>
          <p:cNvPr id="206852"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324" tIns="43162" rIns="86324" bIns="43162"/>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One way you can describe a subflow to students with a programming background is to use the analogy of a subroutine call. You call a subflow, and when it completes, it always returns to the line after the call.</a:t>
            </a:r>
          </a:p>
          <a:p>
            <a:pPr>
              <a:lnSpc>
                <a:spcPct val="87000"/>
              </a:lnSpc>
              <a:spcBef>
                <a:spcPct val="30000"/>
              </a:spcBef>
            </a:pPr>
            <a:r>
              <a:rPr lang="en-US" sz="900">
                <a:solidFill>
                  <a:schemeClr val="tx1"/>
                </a:solidFill>
              </a:rPr>
              <a:t>This graphic conveys some concepts related to use case flows. However, it is not an official modeling representation, so do not over analyze the graphic.</a:t>
            </a:r>
          </a:p>
        </p:txBody>
      </p:sp>
    </p:spTree>
    <p:extLst>
      <p:ext uri="{BB962C8B-B14F-4D97-AF65-F5344CB8AC3E}">
        <p14:creationId xmlns:p14="http://schemas.microsoft.com/office/powerpoint/2010/main" val="174537361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spect="1" noChangeArrowheads="1" noTextEdit="1"/>
          </p:cNvSpPr>
          <p:nvPr>
            <p:ph type="sldImg"/>
          </p:nvPr>
        </p:nvSpPr>
        <p:spPr>
          <a:xfrm>
            <a:off x="2571750" y="839788"/>
            <a:ext cx="4057650" cy="3044825"/>
          </a:xfrm>
          <a:ln/>
        </p:spPr>
      </p:sp>
      <p:sp>
        <p:nvSpPr>
          <p:cNvPr id="20787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This is an example of how to write a subflow. Notice that subflows are in a separate section  in the Use-Case Specification. In this style, the subflow names have an identifier in front of them (S1, S2 , and so on) to help identify them as subflows.</a:t>
            </a:r>
          </a:p>
          <a:p>
            <a:pPr eaLnBrk="1" hangingPunct="1"/>
            <a:r>
              <a:rPr lang="en-US" sz="800"/>
              <a:t>Unlike alternative flows, subflows do not need a line that says where they return to, because they always return to the line after the line from which they were called. </a:t>
            </a:r>
          </a:p>
          <a:p>
            <a:pPr eaLnBrk="1" hangingPunct="1"/>
            <a:r>
              <a:rPr lang="en-US" sz="800"/>
              <a:t>In this example, when the subflow </a:t>
            </a:r>
            <a:r>
              <a:rPr lang="en-US" sz="800" b="1"/>
              <a:t>S1: Obtain Course Information</a:t>
            </a:r>
            <a:r>
              <a:rPr lang="en-US" sz="800"/>
              <a:t> completes, the flow will resume at </a:t>
            </a:r>
            <a:r>
              <a:rPr lang="en-US" sz="800" b="1"/>
              <a:t>4. Select Courses</a:t>
            </a:r>
            <a:r>
              <a:rPr lang="en-US" sz="800"/>
              <a:t>.</a:t>
            </a:r>
          </a:p>
        </p:txBody>
      </p:sp>
      <p:sp>
        <p:nvSpPr>
          <p:cNvPr id="207876" name="Text Box 4"/>
          <p:cNvSpPr txBox="1">
            <a:spLocks noChangeArrowheads="1"/>
          </p:cNvSpPr>
          <p:nvPr/>
        </p:nvSpPr>
        <p:spPr bwMode="auto">
          <a:xfrm>
            <a:off x="444279" y="1227779"/>
            <a:ext cx="1735372"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324" tIns="43162" rIns="86324" bIns="43162"/>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The example on the slide serves as an example of how to write a subflow. You would normally choose a more complex flow to factor into a subflow. </a:t>
            </a:r>
          </a:p>
        </p:txBody>
      </p:sp>
    </p:spTree>
    <p:extLst>
      <p:ext uri="{BB962C8B-B14F-4D97-AF65-F5344CB8AC3E}">
        <p14:creationId xmlns:p14="http://schemas.microsoft.com/office/powerpoint/2010/main" val="207710392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ChangeArrowheads="1"/>
          </p:cNvSpPr>
          <p:nvPr/>
        </p:nvSpPr>
        <p:spPr bwMode="auto">
          <a:xfrm>
            <a:off x="3885207" y="-1514"/>
            <a:ext cx="297428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621" tIns="43311" rIns="86621" bIns="43311" anchor="ctr"/>
          <a:lstStyle/>
          <a:p>
            <a:endParaRPr lang="en-US"/>
          </a:p>
        </p:txBody>
      </p:sp>
      <p:sp>
        <p:nvSpPr>
          <p:cNvPr id="208899" name="Rectangle 3"/>
          <p:cNvSpPr>
            <a:spLocks noChangeArrowheads="1"/>
          </p:cNvSpPr>
          <p:nvPr/>
        </p:nvSpPr>
        <p:spPr bwMode="auto">
          <a:xfrm>
            <a:off x="-1491" y="8688315"/>
            <a:ext cx="297428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324" tIns="43162" rIns="86324" bIns="43162" anchor="ctr"/>
          <a:lstStyle/>
          <a:p>
            <a:pPr algn="ctr" defTabSz="863203" eaLnBrk="0" hangingPunct="0">
              <a:lnSpc>
                <a:spcPct val="87000"/>
              </a:lnSpc>
              <a:spcBef>
                <a:spcPct val="30000"/>
              </a:spcBef>
            </a:pPr>
            <a:endParaRPr lang="en-US" sz="900"/>
          </a:p>
        </p:txBody>
      </p:sp>
      <p:sp>
        <p:nvSpPr>
          <p:cNvPr id="208900" name="Rectangle 4"/>
          <p:cNvSpPr>
            <a:spLocks noChangeArrowheads="1"/>
          </p:cNvSpPr>
          <p:nvPr/>
        </p:nvSpPr>
        <p:spPr bwMode="auto">
          <a:xfrm>
            <a:off x="-1491" y="-1514"/>
            <a:ext cx="2974285"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324" tIns="43162" rIns="86324" bIns="43162" anchor="ctr"/>
          <a:lstStyle/>
          <a:p>
            <a:pPr algn="ctr" defTabSz="863203" eaLnBrk="0" hangingPunct="0">
              <a:lnSpc>
                <a:spcPct val="87000"/>
              </a:lnSpc>
              <a:spcBef>
                <a:spcPct val="30000"/>
              </a:spcBef>
            </a:pPr>
            <a:endParaRPr lang="en-US" sz="900"/>
          </a:p>
        </p:txBody>
      </p:sp>
      <p:sp>
        <p:nvSpPr>
          <p:cNvPr id="208901" name="Rectangle 5"/>
          <p:cNvSpPr>
            <a:spLocks noGrp="1" noRot="1" noChangeAspect="1" noChangeArrowheads="1" noTextEdit="1"/>
          </p:cNvSpPr>
          <p:nvPr>
            <p:ph type="sldImg"/>
          </p:nvPr>
        </p:nvSpPr>
        <p:spPr>
          <a:xfrm>
            <a:off x="2571750" y="839788"/>
            <a:ext cx="4057650" cy="3044825"/>
          </a:xfrm>
          <a:ln/>
        </p:spPr>
      </p:sp>
      <p:sp>
        <p:nvSpPr>
          <p:cNvPr id="208902" name="Rectangle 6"/>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 precondition for a use case is a condition in the system that must be true before the use case can begin. For example, the list of course offerings must be available before a student can register for courses. Otherwise, the student could not select from the course list.</a:t>
            </a:r>
          </a:p>
          <a:p>
            <a:pPr eaLnBrk="1" hangingPunct="1"/>
            <a:r>
              <a:rPr lang="en-US" sz="800"/>
              <a:t>A precondition is not the event that starts the use case. For example, if a use case is written in such a way that logging on to the system is the first event in the use case, then logging on is not a precondition. But if a use case is written so that logging on must happen before the use case begins, then “The user has logged on to the system” would be a precondition.</a:t>
            </a:r>
          </a:p>
          <a:p>
            <a:pPr eaLnBrk="1" hangingPunct="1"/>
            <a:r>
              <a:rPr lang="en-US" sz="800"/>
              <a:t>Preconditions reduce the need for validation inside the use-case flows. In this example, you do not need to test whether  the course offerings are available anywhere in the use-case flows of events, because, by definition, they must have been available or the use case could not execute.</a:t>
            </a:r>
          </a:p>
          <a:p>
            <a:pPr eaLnBrk="1" hangingPunct="1"/>
            <a:r>
              <a:rPr lang="en-US" sz="800"/>
              <a:t>Preconditions do not describe things outside of the system. For example, “The customer has a valid PIN” would be an invalid precondition. Validating the PIN is something that the system does in the use case.</a:t>
            </a:r>
          </a:p>
          <a:p>
            <a:pPr eaLnBrk="1" hangingPunct="1"/>
            <a:r>
              <a:rPr lang="en-US" sz="800"/>
              <a:t>Preconditions are optional. They are used only if they are needed for clarification.</a:t>
            </a:r>
          </a:p>
          <a:p>
            <a:pPr eaLnBrk="1" hangingPunct="1"/>
            <a:r>
              <a:rPr lang="en-US" sz="800" b="1"/>
              <a:t>Note:</a:t>
            </a:r>
            <a:r>
              <a:rPr lang="en-US" sz="800"/>
              <a:t> Preconditions can also be used at the beginning of an alternative flow or subflow. More commonly, they are used only on the basic flow. An example of using a precondition on an alternative flow is to describe security. If only certain actors can perform a given flow, you could attach a precondition to that flow to ensure that the user has the appropriate authentication to perform the flow.</a:t>
            </a:r>
          </a:p>
        </p:txBody>
      </p:sp>
      <p:sp>
        <p:nvSpPr>
          <p:cNvPr id="208903" name="Rectangle 7"/>
          <p:cNvSpPr>
            <a:spLocks noChangeArrowheads="1"/>
          </p:cNvSpPr>
          <p:nvPr/>
        </p:nvSpPr>
        <p:spPr bwMode="auto">
          <a:xfrm>
            <a:off x="228104" y="1135430"/>
            <a:ext cx="2209469" cy="7121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272" tIns="44137" rIns="88272" bIns="44137"/>
          <a:lstStyle/>
          <a:p>
            <a:pPr defTabSz="876738" eaLnBrk="0" hangingPunct="0"/>
            <a:endParaRPr lang="en-US" sz="900"/>
          </a:p>
        </p:txBody>
      </p:sp>
      <p:sp>
        <p:nvSpPr>
          <p:cNvPr id="208904" name="Text Box 8"/>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There is no need to state the obvious pre or post conditions.  </a:t>
            </a:r>
          </a:p>
        </p:txBody>
      </p:sp>
    </p:spTree>
    <p:extLst>
      <p:ext uri="{BB962C8B-B14F-4D97-AF65-F5344CB8AC3E}">
        <p14:creationId xmlns:p14="http://schemas.microsoft.com/office/powerpoint/2010/main" val="416286003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Rot="1" noChangeAspect="1" noChangeArrowheads="1" noTextEdit="1"/>
          </p:cNvSpPr>
          <p:nvPr>
            <p:ph type="sldImg"/>
          </p:nvPr>
        </p:nvSpPr>
        <p:spPr>
          <a:xfrm>
            <a:off x="2571750" y="839788"/>
            <a:ext cx="4057650" cy="3044825"/>
          </a:xfrm>
          <a:ln/>
        </p:spPr>
      </p:sp>
      <p:sp>
        <p:nvSpPr>
          <p:cNvPr id="20992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 postcondition defines the state that the system is in at the end of a use case.  In many cases, you can omit the postcondition entirely when the result of the use case is obvious or when there is no significant state change in the system.  </a:t>
            </a:r>
          </a:p>
          <a:p>
            <a:pPr eaLnBrk="1" hangingPunct="1"/>
            <a:r>
              <a:rPr lang="en-US" sz="800"/>
              <a:t>When you need to call attention to the different conditions that may exist when a use case completes, you can enumerate all the postconditions.  </a:t>
            </a:r>
          </a:p>
          <a:p>
            <a:pPr eaLnBrk="1" hangingPunct="1"/>
            <a:r>
              <a:rPr lang="en-US" sz="800"/>
              <a:t>Postconditions can be a powerful tool for developing use cases. You must first define what the use case is supposed to achieve (the postcondition). Then describe the different ways to reach this condition (the flow of events needed).</a:t>
            </a:r>
          </a:p>
          <a:p>
            <a:pPr eaLnBrk="1" hangingPunct="1"/>
            <a:endParaRPr lang="en-US" sz="800"/>
          </a:p>
          <a:p>
            <a:pPr eaLnBrk="1" hangingPunct="1"/>
            <a:endParaRPr lang="en-US"/>
          </a:p>
        </p:txBody>
      </p:sp>
    </p:spTree>
    <p:extLst>
      <p:ext uri="{BB962C8B-B14F-4D97-AF65-F5344CB8AC3E}">
        <p14:creationId xmlns:p14="http://schemas.microsoft.com/office/powerpoint/2010/main" val="126692252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ChangeArrowheads="1" noTextEdit="1"/>
          </p:cNvSpPr>
          <p:nvPr>
            <p:ph type="sldImg"/>
          </p:nvPr>
        </p:nvSpPr>
        <p:spPr>
          <a:xfrm>
            <a:off x="2571750" y="839788"/>
            <a:ext cx="4057650" cy="3044825"/>
          </a:xfrm>
          <a:ln/>
        </p:spPr>
      </p:sp>
      <p:sp>
        <p:nvSpPr>
          <p:cNvPr id="210947"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As described in </a:t>
            </a:r>
            <a:r>
              <a:rPr lang="en-US" sz="800" b="1" i="1"/>
              <a:t>Use Case Modeling</a:t>
            </a:r>
            <a:r>
              <a:rPr lang="en-US" sz="800"/>
              <a:t> by Kurt Bittner and Ian Spence:</a:t>
            </a:r>
          </a:p>
          <a:p>
            <a:pPr marL="216553" lvl="1"/>
            <a:r>
              <a:rPr lang="en-US" sz="800"/>
              <a:t>“Use cases do not directly communicate with one another. The only way for use cases to interact is via the state of the underlying system. Use cases can check the state of the system at any time, or wait for the state of the system to change, or can even be dependent on the state of the system via the use of preconditions.”</a:t>
            </a:r>
          </a:p>
          <a:p>
            <a:pPr eaLnBrk="1" hangingPunct="1"/>
            <a:r>
              <a:rPr lang="en-US" sz="800"/>
              <a:t>For example, you may have a use case called Manage Session that handles authenticating users when they log on and then creates a session based on their user profiles. When they log off the system, the use case cancels the session. This use case starts with a precondition that there are no current active sessions in the system. When it authenticates the user, it sets the system state to “active session”.  The use case then waits until the user logs off. When the user logs off, it changes the system state to “no active session”.</a:t>
            </a:r>
          </a:p>
          <a:p>
            <a:pPr eaLnBrk="1" hangingPunct="1"/>
            <a:r>
              <a:rPr lang="en-US" sz="800"/>
              <a:t>To ensure that the user has logged onto the system before you start another use case, you would use a precondition of “There is an active session in the system”. (Note: </a:t>
            </a:r>
            <a:r>
              <a:rPr lang="en-US" sz="800" b="1"/>
              <a:t>active session</a:t>
            </a:r>
            <a:r>
              <a:rPr lang="en-US" sz="800"/>
              <a:t> should be in your glossary.) This effectively ensures that the Manage Session use case runs before the other use case.</a:t>
            </a:r>
          </a:p>
          <a:p>
            <a:pPr eaLnBrk="1" hangingPunct="1"/>
            <a:r>
              <a:rPr lang="en-US" sz="800"/>
              <a:t>Preconditions can test only the state of the system. For example, you cannot have a precondition that states “Use Case A must have been executed before Use Case B can begin.”</a:t>
            </a:r>
          </a:p>
        </p:txBody>
      </p:sp>
    </p:spTree>
    <p:extLst>
      <p:ext uri="{BB962C8B-B14F-4D97-AF65-F5344CB8AC3E}">
        <p14:creationId xmlns:p14="http://schemas.microsoft.com/office/powerpoint/2010/main" val="242694812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Rot="1" noChangeAspect="1" noChangeArrowheads="1" noTextEdit="1"/>
          </p:cNvSpPr>
          <p:nvPr>
            <p:ph type="sldImg"/>
          </p:nvPr>
        </p:nvSpPr>
        <p:spPr>
          <a:xfrm>
            <a:off x="2571750" y="839788"/>
            <a:ext cx="4057650" cy="3044825"/>
          </a:xfrm>
          <a:ln/>
        </p:spPr>
      </p:sp>
      <p:sp>
        <p:nvSpPr>
          <p:cNvPr id="211971"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Special requirements are requirements related to this use case that are not covered by the flow of events but that could influence the design of the system. These are usually nonfunctional constraints for the use case, such as reliability and performance. </a:t>
            </a:r>
          </a:p>
          <a:p>
            <a:pPr eaLnBrk="1" hangingPunct="1"/>
            <a:r>
              <a:rPr lang="en-US" sz="800"/>
              <a:t>Extension points name a set of places in the flow of events where extensions can be attached. </a:t>
            </a:r>
          </a:p>
          <a:p>
            <a:pPr eaLnBrk="1" hangingPunct="1"/>
            <a:r>
              <a:rPr lang="en-US" sz="800"/>
              <a:t>Additional information can be included if it helps to clarify the use case. For example, you can use interaction or activity diagrams to help clarify the flow of events.</a:t>
            </a:r>
          </a:p>
        </p:txBody>
      </p:sp>
      <p:sp>
        <p:nvSpPr>
          <p:cNvPr id="211972" name="Text Box 4"/>
          <p:cNvSpPr txBox="1">
            <a:spLocks noChangeArrowheads="1"/>
          </p:cNvSpPr>
          <p:nvPr/>
        </p:nvSpPr>
        <p:spPr bwMode="auto">
          <a:xfrm>
            <a:off x="444280" y="1227779"/>
            <a:ext cx="1917258" cy="6817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324" tIns="43162" rIns="86324" bIns="43162"/>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The optional properties are used only if there are items of that kind to discuss. For example, there may be no special requirements. These are the rest of the properties of a use case. </a:t>
            </a:r>
          </a:p>
          <a:p>
            <a:pPr>
              <a:lnSpc>
                <a:spcPct val="87000"/>
              </a:lnSpc>
              <a:spcBef>
                <a:spcPct val="30000"/>
              </a:spcBef>
            </a:pPr>
            <a:r>
              <a:rPr lang="en-US" sz="900">
                <a:solidFill>
                  <a:schemeClr val="tx1"/>
                </a:solidFill>
              </a:rPr>
              <a:t>Extension points are related to the &lt;&lt;extend&gt;&gt; relationship between use cases.  This course does not discuss &lt;&lt;include&gt;&gt;, &lt;&lt;extend&gt;&gt;, and generalization relationships and restructuring the use-case model. Restructuring the use-case model takes place after you detail the use case.  It is often done by architect.</a:t>
            </a:r>
          </a:p>
          <a:p>
            <a:pPr>
              <a:lnSpc>
                <a:spcPct val="87000"/>
              </a:lnSpc>
              <a:spcBef>
                <a:spcPct val="30000"/>
              </a:spcBef>
            </a:pPr>
            <a:endParaRPr lang="en-US" sz="900">
              <a:solidFill>
                <a:schemeClr val="tx1"/>
              </a:solidFill>
            </a:endParaRPr>
          </a:p>
          <a:p>
            <a:pPr>
              <a:lnSpc>
                <a:spcPct val="87000"/>
              </a:lnSpc>
              <a:spcBef>
                <a:spcPct val="30000"/>
              </a:spcBef>
            </a:pPr>
            <a:endParaRPr lang="en-US" sz="900">
              <a:solidFill>
                <a:schemeClr val="tx1"/>
              </a:solidFill>
            </a:endParaRPr>
          </a:p>
        </p:txBody>
      </p:sp>
    </p:spTree>
    <p:extLst>
      <p:ext uri="{BB962C8B-B14F-4D97-AF65-F5344CB8AC3E}">
        <p14:creationId xmlns:p14="http://schemas.microsoft.com/office/powerpoint/2010/main" val="299065016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spect="1" noChangeArrowheads="1" noTextEdit="1"/>
          </p:cNvSpPr>
          <p:nvPr>
            <p:ph type="sldImg"/>
          </p:nvPr>
        </p:nvSpPr>
        <p:spPr>
          <a:xfrm>
            <a:off x="2571750" y="839788"/>
            <a:ext cx="4057650" cy="3044825"/>
          </a:xfrm>
          <a:ln/>
        </p:spPr>
      </p:sp>
      <p:sp>
        <p:nvSpPr>
          <p:cNvPr id="212995"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Alternative flows always:</a:t>
            </a:r>
          </a:p>
          <a:p>
            <a:pPr marL="324829" lvl="1" indent="-216553">
              <a:buFontTx/>
              <a:buChar char="•"/>
            </a:pPr>
            <a:r>
              <a:rPr lang="en-US" sz="800"/>
              <a:t>Say where they start.</a:t>
            </a:r>
          </a:p>
          <a:p>
            <a:pPr marL="324829" lvl="1" indent="-216553">
              <a:buFontTx/>
              <a:buChar char="•"/>
            </a:pPr>
            <a:r>
              <a:rPr lang="en-US" sz="800"/>
              <a:t>Say what caused them to start.</a:t>
            </a:r>
          </a:p>
          <a:p>
            <a:pPr marL="324829" lvl="1" indent="-216553">
              <a:buFontTx/>
              <a:buChar char="•"/>
            </a:pPr>
            <a:r>
              <a:rPr lang="en-US" sz="800"/>
              <a:t>Say what happens.</a:t>
            </a:r>
          </a:p>
          <a:p>
            <a:pPr marL="324829" lvl="1" indent="-216553">
              <a:buFontTx/>
              <a:buChar char="•"/>
            </a:pPr>
            <a:r>
              <a:rPr lang="en-US" sz="800"/>
              <a:t>Say where the use case resumes or say that it ends.</a:t>
            </a:r>
          </a:p>
        </p:txBody>
      </p:sp>
      <p:sp>
        <p:nvSpPr>
          <p:cNvPr id="212996" name="Text Box 4"/>
          <p:cNvSpPr txBox="1">
            <a:spLocks noChangeArrowheads="1"/>
          </p:cNvSpPr>
          <p:nvPr/>
        </p:nvSpPr>
        <p:spPr bwMode="auto">
          <a:xfrm>
            <a:off x="454716" y="1233835"/>
            <a:ext cx="1984347" cy="685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endParaRPr lang="en-US" sz="900">
              <a:solidFill>
                <a:schemeClr val="tx1"/>
              </a:solidFill>
            </a:endParaRPr>
          </a:p>
        </p:txBody>
      </p:sp>
    </p:spTree>
    <p:extLst>
      <p:ext uri="{BB962C8B-B14F-4D97-AF65-F5344CB8AC3E}">
        <p14:creationId xmlns:p14="http://schemas.microsoft.com/office/powerpoint/2010/main" val="250804024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Rot="1" noChangeAspect="1" noChangeArrowheads="1" noTextEdit="1"/>
          </p:cNvSpPr>
          <p:nvPr>
            <p:ph type="sldImg"/>
          </p:nvPr>
        </p:nvSpPr>
        <p:spPr>
          <a:xfrm>
            <a:off x="2571750" y="839788"/>
            <a:ext cx="4057650" cy="3044825"/>
          </a:xfrm>
          <a:ln/>
        </p:spPr>
      </p:sp>
      <p:sp>
        <p:nvSpPr>
          <p:cNvPr id="214019"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5170376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Rot="1" noChangeAspect="1" noChangeArrowheads="1" noTextEdit="1"/>
          </p:cNvSpPr>
          <p:nvPr>
            <p:ph type="sldImg"/>
          </p:nvPr>
        </p:nvSpPr>
        <p:spPr>
          <a:xfrm>
            <a:off x="2571750" y="839788"/>
            <a:ext cx="4057650" cy="3044825"/>
          </a:xfrm>
          <a:ln/>
        </p:spPr>
      </p:sp>
      <p:sp>
        <p:nvSpPr>
          <p:cNvPr id="215043" name="Rectangle 3"/>
          <p:cNvSpPr>
            <a:spLocks noGrp="1" noChangeArrowheads="1"/>
          </p:cNvSpPr>
          <p:nvPr>
            <p:ph type="body" idx="1"/>
          </p:nvPr>
        </p:nvSpPr>
        <p:spPr>
          <a:xfrm>
            <a:off x="2549387" y="4113286"/>
            <a:ext cx="407752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215044" name="Text Box 4"/>
          <p:cNvSpPr txBox="1">
            <a:spLocks noChangeArrowheads="1"/>
          </p:cNvSpPr>
          <p:nvPr/>
        </p:nvSpPr>
        <p:spPr bwMode="auto">
          <a:xfrm>
            <a:off x="381663" y="1220209"/>
            <a:ext cx="1982857" cy="685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0" tIns="61290" rIns="61290" bIns="61290"/>
          <a:lstStyle>
            <a:lvl1pPr defTabSz="923925" eaLnBrk="0" hangingPunct="0">
              <a:defRPr sz="1600">
                <a:solidFill>
                  <a:schemeClr val="tx2"/>
                </a:solidFill>
                <a:latin typeface="Times New Roman" pitchFamily="18" charset="0"/>
              </a:defRPr>
            </a:lvl1pPr>
            <a:lvl2pPr marL="742950" indent="-285750"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What are the steps to detailing a use case?: slide 7</a:t>
            </a:r>
          </a:p>
          <a:p>
            <a:pPr eaLnBrk="1" hangingPunct="1"/>
            <a:endParaRPr lang="en-US" sz="900">
              <a:solidFill>
                <a:schemeClr val="tx1"/>
              </a:solidFill>
            </a:endParaRPr>
          </a:p>
          <a:p>
            <a:pPr eaLnBrk="1" hangingPunct="1"/>
            <a:r>
              <a:rPr lang="en-US" sz="900">
                <a:solidFill>
                  <a:schemeClr val="tx1"/>
                </a:solidFill>
              </a:rPr>
              <a:t>What are some best practices in phrasing use case steps? slide 8</a:t>
            </a:r>
          </a:p>
          <a:p>
            <a:pPr eaLnBrk="1" hangingPunct="1"/>
            <a:endParaRPr lang="en-US" sz="900">
              <a:solidFill>
                <a:schemeClr val="tx1"/>
              </a:solidFill>
            </a:endParaRPr>
          </a:p>
          <a:p>
            <a:pPr eaLnBrk="1" hangingPunct="1"/>
            <a:r>
              <a:rPr lang="en-US" sz="900">
                <a:solidFill>
                  <a:schemeClr val="tx1"/>
                </a:solidFill>
              </a:rPr>
              <a:t>What is a subflow and when should you use one?: slides 14, 15</a:t>
            </a:r>
          </a:p>
          <a:p>
            <a:pPr eaLnBrk="1" hangingPunct="1"/>
            <a:endParaRPr lang="en-US" sz="900">
              <a:solidFill>
                <a:schemeClr val="tx1"/>
              </a:solidFill>
            </a:endParaRPr>
          </a:p>
          <a:p>
            <a:pPr eaLnBrk="1" hangingPunct="1"/>
            <a:r>
              <a:rPr lang="en-US" sz="900">
                <a:solidFill>
                  <a:schemeClr val="tx1"/>
                </a:solidFill>
              </a:rPr>
              <a:t>What are pre- and postconditions and when should you use them?: slides 16-18</a:t>
            </a:r>
          </a:p>
        </p:txBody>
      </p:sp>
    </p:spTree>
    <p:extLst>
      <p:ext uri="{BB962C8B-B14F-4D97-AF65-F5344CB8AC3E}">
        <p14:creationId xmlns:p14="http://schemas.microsoft.com/office/powerpoint/2010/main" val="379486564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Rot="1" noChangeAspect="1" noChangeArrowheads="1" noTextEdit="1"/>
          </p:cNvSpPr>
          <p:nvPr>
            <p:ph type="sldImg"/>
          </p:nvPr>
        </p:nvSpPr>
        <p:spPr>
          <a:xfrm>
            <a:off x="2592388" y="838200"/>
            <a:ext cx="4060825" cy="3046413"/>
          </a:xfrm>
          <a:ln/>
        </p:spPr>
      </p:sp>
      <p:sp>
        <p:nvSpPr>
          <p:cNvPr id="216067"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How much of the functional requirements do you specify with use cases? It varies from project to project. Some projects have many use cases, other projects do not. It depends on whether or not the system behaviors can be captured in a sequence of actions.</a:t>
            </a:r>
          </a:p>
        </p:txBody>
      </p:sp>
      <p:sp>
        <p:nvSpPr>
          <p:cNvPr id="216068" name="Text Box 4"/>
          <p:cNvSpPr txBox="1">
            <a:spLocks noChangeArrowheads="1"/>
          </p:cNvSpPr>
          <p:nvPr/>
        </p:nvSpPr>
        <p:spPr bwMode="auto">
          <a:xfrm>
            <a:off x="445771" y="1224752"/>
            <a:ext cx="1736863"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6331" tIns="43165" rIns="86331" bIns="43165"/>
          <a:lstStyle>
            <a:lvl1pPr defTabSz="911225" eaLnBrk="0" hangingPunct="0">
              <a:defRPr sz="1600">
                <a:solidFill>
                  <a:schemeClr val="tx2"/>
                </a:solidFill>
                <a:latin typeface="Times New Roman" pitchFamily="18" charset="0"/>
              </a:defRPr>
            </a:lvl1pPr>
            <a:lvl2pPr marL="742950" indent="-285750" defTabSz="911225" eaLnBrk="0" hangingPunct="0">
              <a:defRPr sz="1600">
                <a:solidFill>
                  <a:schemeClr val="tx2"/>
                </a:solidFill>
                <a:latin typeface="Times New Roman" pitchFamily="18" charset="0"/>
              </a:defRPr>
            </a:lvl2pPr>
            <a:lvl3pPr marL="1143000" indent="-228600" defTabSz="911225" eaLnBrk="0" hangingPunct="0">
              <a:defRPr sz="1600">
                <a:solidFill>
                  <a:schemeClr val="tx2"/>
                </a:solidFill>
                <a:latin typeface="Times New Roman" pitchFamily="18" charset="0"/>
              </a:defRPr>
            </a:lvl3pPr>
            <a:lvl4pPr marL="1600200" indent="-228600" defTabSz="911225" eaLnBrk="0" hangingPunct="0">
              <a:defRPr sz="1600">
                <a:solidFill>
                  <a:schemeClr val="tx2"/>
                </a:solidFill>
                <a:latin typeface="Times New Roman" pitchFamily="18" charset="0"/>
              </a:defRPr>
            </a:lvl4pPr>
            <a:lvl5pPr marL="2057400" indent="-228600" defTabSz="911225" eaLnBrk="0" hangingPunct="0">
              <a:defRPr sz="1600">
                <a:solidFill>
                  <a:schemeClr val="tx2"/>
                </a:solidFill>
                <a:latin typeface="Times New Roman" pitchFamily="18" charset="0"/>
              </a:defRPr>
            </a:lvl5pPr>
            <a:lvl6pPr marL="2514600" indent="-228600" defTabSz="911225" eaLnBrk="0" fontAlgn="base" hangingPunct="0">
              <a:spcBef>
                <a:spcPct val="0"/>
              </a:spcBef>
              <a:spcAft>
                <a:spcPct val="0"/>
              </a:spcAft>
              <a:defRPr sz="1600">
                <a:solidFill>
                  <a:schemeClr val="tx2"/>
                </a:solidFill>
                <a:latin typeface="Times New Roman" pitchFamily="18" charset="0"/>
              </a:defRPr>
            </a:lvl6pPr>
            <a:lvl7pPr marL="2971800" indent="-228600" defTabSz="911225" eaLnBrk="0" fontAlgn="base" hangingPunct="0">
              <a:spcBef>
                <a:spcPct val="0"/>
              </a:spcBef>
              <a:spcAft>
                <a:spcPct val="0"/>
              </a:spcAft>
              <a:defRPr sz="1600">
                <a:solidFill>
                  <a:schemeClr val="tx2"/>
                </a:solidFill>
                <a:latin typeface="Times New Roman" pitchFamily="18" charset="0"/>
              </a:defRPr>
            </a:lvl7pPr>
            <a:lvl8pPr marL="3429000" indent="-228600" defTabSz="911225" eaLnBrk="0" fontAlgn="base" hangingPunct="0">
              <a:spcBef>
                <a:spcPct val="0"/>
              </a:spcBef>
              <a:spcAft>
                <a:spcPct val="0"/>
              </a:spcAft>
              <a:defRPr sz="1600">
                <a:solidFill>
                  <a:schemeClr val="tx2"/>
                </a:solidFill>
                <a:latin typeface="Times New Roman" pitchFamily="18" charset="0"/>
              </a:defRPr>
            </a:lvl8pPr>
            <a:lvl9pPr marL="3886200" indent="-228600" defTabSz="911225"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rPr>
              <a:t>Use cases have the advantage of showing a whole sequence of system behaviors, which gives a </a:t>
            </a:r>
            <a:r>
              <a:rPr lang="en-US" sz="900" b="1">
                <a:solidFill>
                  <a:schemeClr val="tx1"/>
                </a:solidFill>
              </a:rPr>
              <a:t>context</a:t>
            </a:r>
            <a:r>
              <a:rPr lang="en-US" sz="900">
                <a:solidFill>
                  <a:schemeClr val="tx1"/>
                </a:solidFill>
              </a:rPr>
              <a:t> to each requirement of what the system should do. However, there may be situations where use cases are not appropriate. </a:t>
            </a:r>
          </a:p>
          <a:p>
            <a:pPr>
              <a:lnSpc>
                <a:spcPct val="87000"/>
              </a:lnSpc>
              <a:spcBef>
                <a:spcPct val="30000"/>
              </a:spcBef>
            </a:pPr>
            <a:endParaRPr lang="en-US" sz="900">
              <a:solidFill>
                <a:schemeClr val="tx1"/>
              </a:solidFill>
            </a:endParaRPr>
          </a:p>
          <a:p>
            <a:pPr>
              <a:lnSpc>
                <a:spcPct val="87000"/>
              </a:lnSpc>
              <a:spcBef>
                <a:spcPct val="30000"/>
              </a:spcBef>
            </a:pPr>
            <a:r>
              <a:rPr lang="en-US" sz="900">
                <a:solidFill>
                  <a:schemeClr val="tx1"/>
                </a:solidFill>
              </a:rPr>
              <a:t>Nonfunctional requirements, such as performance requirements, are almost always specified with declarative statements. </a:t>
            </a:r>
          </a:p>
        </p:txBody>
      </p:sp>
    </p:spTree>
    <p:extLst>
      <p:ext uri="{BB962C8B-B14F-4D97-AF65-F5344CB8AC3E}">
        <p14:creationId xmlns:p14="http://schemas.microsoft.com/office/powerpoint/2010/main" val="112449082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spect="1" noChangeArrowheads="1" noTextEdit="1"/>
          </p:cNvSpPr>
          <p:nvPr>
            <p:ph type="sldImg"/>
          </p:nvPr>
        </p:nvSpPr>
        <p:spPr>
          <a:xfrm>
            <a:off x="2571750" y="839788"/>
            <a:ext cx="4057650" cy="3044825"/>
          </a:xfrm>
          <a:ln/>
        </p:spPr>
      </p:sp>
      <p:sp>
        <p:nvSpPr>
          <p:cNvPr id="217091" name="Rectangle 3"/>
          <p:cNvSpPr>
            <a:spLocks noGrp="1" noChangeArrowheads="1"/>
          </p:cNvSpPr>
          <p:nvPr>
            <p:ph type="body" idx="1"/>
          </p:nvPr>
        </p:nvSpPr>
        <p:spPr>
          <a:xfrm>
            <a:off x="2547897" y="4113286"/>
            <a:ext cx="4079019" cy="40391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800"/>
              <a:t>Functional decomposition is breaking down a problem into small, isolated parts. The parts work together to provide the functionality of the system. Often, the parts do not make sense in isolation because they lose their context.</a:t>
            </a:r>
          </a:p>
          <a:p>
            <a:pPr eaLnBrk="1" hangingPunct="1"/>
            <a:r>
              <a:rPr lang="en-US" sz="800"/>
              <a:t>Use cases allow you to capture requirements at the same level of detail as functional decomposition, but the requirements are put into context with one another. Use cases enable you to develop requirements that are more likely to be understood by your stakeholders, and that deliver end-to-end functionality of the system.</a:t>
            </a:r>
          </a:p>
        </p:txBody>
      </p:sp>
      <p:sp>
        <p:nvSpPr>
          <p:cNvPr id="217092" name="Text Box 4"/>
          <p:cNvSpPr txBox="1">
            <a:spLocks noChangeArrowheads="1"/>
          </p:cNvSpPr>
          <p:nvPr/>
        </p:nvSpPr>
        <p:spPr bwMode="auto">
          <a:xfrm>
            <a:off x="456206" y="1232321"/>
            <a:ext cx="198434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296" tIns="61296" rIns="61296" bIns="61296"/>
          <a:lstStyle>
            <a:lvl1pPr defTabSz="923925" eaLnBrk="0" hangingPunct="0">
              <a:defRPr sz="1600">
                <a:solidFill>
                  <a:schemeClr val="tx2"/>
                </a:solidFill>
                <a:latin typeface="Times New Roman" pitchFamily="18" charset="0"/>
              </a:defRPr>
            </a:lvl1pPr>
            <a:lvl2pPr marL="231775" indent="-115888" defTabSz="923925" eaLnBrk="0" hangingPunct="0">
              <a:defRPr sz="1600">
                <a:solidFill>
                  <a:schemeClr val="tx2"/>
                </a:solidFill>
                <a:latin typeface="Times New Roman" pitchFamily="18" charset="0"/>
              </a:defRPr>
            </a:lvl2pPr>
            <a:lvl3pPr marL="1143000" indent="-228600" defTabSz="923925" eaLnBrk="0" hangingPunct="0">
              <a:defRPr sz="1600">
                <a:solidFill>
                  <a:schemeClr val="tx2"/>
                </a:solidFill>
                <a:latin typeface="Times New Roman" pitchFamily="18" charset="0"/>
              </a:defRPr>
            </a:lvl3pPr>
            <a:lvl4pPr marL="1600200" indent="-228600" defTabSz="923925" eaLnBrk="0" hangingPunct="0">
              <a:defRPr sz="1600">
                <a:solidFill>
                  <a:schemeClr val="tx2"/>
                </a:solidFill>
                <a:latin typeface="Times New Roman" pitchFamily="18" charset="0"/>
              </a:defRPr>
            </a:lvl4pPr>
            <a:lvl5pPr marL="2057400" indent="-228600" defTabSz="923925" eaLnBrk="0" hangingPunct="0">
              <a:defRPr sz="1600">
                <a:solidFill>
                  <a:schemeClr val="tx2"/>
                </a:solidFill>
                <a:latin typeface="Times New Roman" pitchFamily="18" charset="0"/>
              </a:defRPr>
            </a:lvl5pPr>
            <a:lvl6pPr marL="2514600" indent="-228600" defTabSz="923925" eaLnBrk="0" fontAlgn="base" hangingPunct="0">
              <a:spcBef>
                <a:spcPct val="0"/>
              </a:spcBef>
              <a:spcAft>
                <a:spcPct val="0"/>
              </a:spcAft>
              <a:defRPr sz="1600">
                <a:solidFill>
                  <a:schemeClr val="tx2"/>
                </a:solidFill>
                <a:latin typeface="Times New Roman" pitchFamily="18" charset="0"/>
              </a:defRPr>
            </a:lvl6pPr>
            <a:lvl7pPr marL="2971800" indent="-228600" defTabSz="923925" eaLnBrk="0" fontAlgn="base" hangingPunct="0">
              <a:spcBef>
                <a:spcPct val="0"/>
              </a:spcBef>
              <a:spcAft>
                <a:spcPct val="0"/>
              </a:spcAft>
              <a:defRPr sz="1600">
                <a:solidFill>
                  <a:schemeClr val="tx2"/>
                </a:solidFill>
                <a:latin typeface="Times New Roman" pitchFamily="18" charset="0"/>
              </a:defRPr>
            </a:lvl7pPr>
            <a:lvl8pPr marL="3429000" indent="-228600" defTabSz="923925" eaLnBrk="0" fontAlgn="base" hangingPunct="0">
              <a:spcBef>
                <a:spcPct val="0"/>
              </a:spcBef>
              <a:spcAft>
                <a:spcPct val="0"/>
              </a:spcAft>
              <a:defRPr sz="1600">
                <a:solidFill>
                  <a:schemeClr val="tx2"/>
                </a:solidFill>
                <a:latin typeface="Times New Roman" pitchFamily="18" charset="0"/>
              </a:defRPr>
            </a:lvl8pPr>
            <a:lvl9pPr marL="3886200" indent="-228600" defTabSz="923925"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900">
                <a:solidFill>
                  <a:schemeClr val="tx1"/>
                </a:solidFill>
              </a:rPr>
              <a:t>If necessary, explain what a user interface specification or a system design specification is.</a:t>
            </a:r>
          </a:p>
          <a:p>
            <a:pPr eaLnBrk="1" hangingPunct="1"/>
            <a:endParaRPr lang="en-US" sz="900">
              <a:solidFill>
                <a:schemeClr val="tx1"/>
              </a:solidFill>
            </a:endParaRPr>
          </a:p>
          <a:p>
            <a:pPr eaLnBrk="1" hangingPunct="1"/>
            <a:r>
              <a:rPr lang="en-US" sz="900">
                <a:solidFill>
                  <a:schemeClr val="tx1"/>
                </a:solidFill>
              </a:rPr>
              <a:t>A word of common sense…</a:t>
            </a:r>
          </a:p>
          <a:p>
            <a:pPr lvl="1" eaLnBrk="1" hangingPunct="1">
              <a:buFontTx/>
              <a:buChar char="•"/>
            </a:pPr>
            <a:r>
              <a:rPr lang="en-US" sz="900">
                <a:solidFill>
                  <a:schemeClr val="tx1"/>
                </a:solidFill>
              </a:rPr>
              <a:t>Calling something a use case should mean something.</a:t>
            </a:r>
          </a:p>
          <a:p>
            <a:pPr lvl="1" eaLnBrk="1" hangingPunct="1">
              <a:buFontTx/>
              <a:buChar char="•"/>
            </a:pPr>
            <a:r>
              <a:rPr lang="en-US" sz="900">
                <a:solidFill>
                  <a:schemeClr val="tx1"/>
                </a:solidFill>
              </a:rPr>
              <a:t>Many people write anything they want and call it a use case</a:t>
            </a:r>
          </a:p>
          <a:p>
            <a:pPr lvl="1" eaLnBrk="1" hangingPunct="1">
              <a:buFontTx/>
              <a:buChar char="•"/>
            </a:pPr>
            <a:r>
              <a:rPr lang="en-US" sz="900">
                <a:solidFill>
                  <a:schemeClr val="tx1"/>
                </a:solidFill>
              </a:rPr>
              <a:t>When you suggest that it is not really a use case they say “well, it worked”</a:t>
            </a:r>
          </a:p>
          <a:p>
            <a:pPr eaLnBrk="1" hangingPunct="1"/>
            <a:endParaRPr lang="en-US" sz="900">
              <a:solidFill>
                <a:schemeClr val="tx1"/>
              </a:solidFill>
            </a:endParaRPr>
          </a:p>
        </p:txBody>
      </p:sp>
    </p:spTree>
    <p:extLst>
      <p:ext uri="{BB962C8B-B14F-4D97-AF65-F5344CB8AC3E}">
        <p14:creationId xmlns:p14="http://schemas.microsoft.com/office/powerpoint/2010/main" val="41888720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spect="1" noChangeArrowheads="1" noTextEdit="1"/>
          </p:cNvSpPr>
          <p:nvPr>
            <p:ph type="sldImg"/>
          </p:nvPr>
        </p:nvSpPr>
        <p:spPr>
          <a:xfrm>
            <a:off x="2465388" y="833438"/>
            <a:ext cx="4040187" cy="3030537"/>
          </a:xfrm>
          <a:ln/>
        </p:spPr>
      </p:sp>
      <p:sp>
        <p:nvSpPr>
          <p:cNvPr id="218115" name="Rectangle 3"/>
          <p:cNvSpPr>
            <a:spLocks noGrp="1" noChangeArrowheads="1"/>
          </p:cNvSpPr>
          <p:nvPr>
            <p:ph type="body" idx="1"/>
          </p:nvPr>
        </p:nvSpPr>
        <p:spPr>
          <a:xfrm>
            <a:off x="2485280" y="4090578"/>
            <a:ext cx="3973167" cy="40179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Humans deal with complex problems by breaking them up into small manageable pieces. The solutions to these pieces are then assembled to provide a complete solution to the original problem. When applied to computer science, this is called functional decomposition.</a:t>
            </a:r>
          </a:p>
          <a:p>
            <a:pPr eaLnBrk="1" hangingPunct="1"/>
            <a:r>
              <a:rPr lang="en-US" sz="900">
                <a:latin typeface="ZapfHumnst BT" pitchFamily="34" charset="0"/>
              </a:rPr>
              <a:t>This microscopic approach means that the requirements for these pieces lose their context. The greater the number of smaller pieces you have, the greater the number of interfaces you need between these pieces and the greater the potential for misfit.</a:t>
            </a:r>
          </a:p>
          <a:p>
            <a:pPr eaLnBrk="1" hangingPunct="1"/>
            <a:r>
              <a:rPr lang="en-US" sz="900">
                <a:latin typeface="ZapfHumnst BT" pitchFamily="34" charset="0"/>
              </a:rPr>
              <a:t>Use cases allow you to capture your requirements in a macroscopic form. They still contain the same level of detail as functional decomposition, but the requirements are put into context with each other and thus provide a technique that enables you to develop requirements that are more likely to be understood by your stakeholders as well as enabling you to deliver end-to-end functionality of the system.</a:t>
            </a:r>
          </a:p>
          <a:p>
            <a:pPr eaLnBrk="1" hangingPunct="1"/>
            <a:endParaRPr lang="en-US" sz="900">
              <a:latin typeface="ZapfHumnst BT" pitchFamily="34" charset="0"/>
            </a:endParaRPr>
          </a:p>
          <a:p>
            <a:pPr eaLnBrk="1" hangingPunct="1"/>
            <a:endParaRPr lang="en-US" sz="900">
              <a:latin typeface="ZapfHumnst BT" pitchFamily="34" charset="0"/>
            </a:endParaRPr>
          </a:p>
        </p:txBody>
      </p:sp>
      <p:sp>
        <p:nvSpPr>
          <p:cNvPr id="218116" name="Text Box 4"/>
          <p:cNvSpPr txBox="1">
            <a:spLocks noChangeArrowheads="1"/>
          </p:cNvSpPr>
          <p:nvPr/>
        </p:nvSpPr>
        <p:spPr bwMode="auto">
          <a:xfrm>
            <a:off x="445771" y="1224752"/>
            <a:ext cx="1735372"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99" tIns="51100" rIns="102199" bIns="51100"/>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US" sz="900">
                <a:solidFill>
                  <a:schemeClr val="tx1"/>
                </a:solidFill>
                <a:latin typeface="ZapfHumnst BT" pitchFamily="34" charset="0"/>
                <a:cs typeface="Times New Roman" pitchFamily="18" charset="0"/>
              </a:rPr>
              <a:t>If we allow use cases to be used to model functional decomposition, we are no longer gathering requirements but architecting the system. We have other techniques to do this that are far better than use cases. Also, our use cases is no longer the focus of Project Management, User Interface Design, System Understanding, Functional Test, User Documentation, and so on. So you have "helped" the Designers (if you are lucky… but with poor requirements) at the expense of everything else that is great about Use Cases.</a:t>
            </a:r>
            <a:r>
              <a:rPr lang="en-US" sz="900">
                <a:solidFill>
                  <a:schemeClr val="tx1"/>
                </a:solidFill>
                <a:latin typeface="ZapfHumnst BT" pitchFamily="34" charset="0"/>
              </a:rPr>
              <a:t> </a:t>
            </a:r>
          </a:p>
        </p:txBody>
      </p:sp>
    </p:spTree>
    <p:extLst>
      <p:ext uri="{BB962C8B-B14F-4D97-AF65-F5344CB8AC3E}">
        <p14:creationId xmlns:p14="http://schemas.microsoft.com/office/powerpoint/2010/main" val="370029631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spect="1" noChangeArrowheads="1" noTextEdit="1"/>
          </p:cNvSpPr>
          <p:nvPr>
            <p:ph type="sldImg"/>
          </p:nvPr>
        </p:nvSpPr>
        <p:spPr>
          <a:xfrm>
            <a:off x="2465388" y="833438"/>
            <a:ext cx="4040187" cy="3030537"/>
          </a:xfrm>
          <a:ln/>
        </p:spPr>
      </p:sp>
      <p:sp>
        <p:nvSpPr>
          <p:cNvPr id="219139" name="Rectangle 3"/>
          <p:cNvSpPr>
            <a:spLocks noGrp="1" noChangeArrowheads="1"/>
          </p:cNvSpPr>
          <p:nvPr>
            <p:ph type="body" idx="1"/>
          </p:nvPr>
        </p:nvSpPr>
        <p:spPr>
          <a:xfrm>
            <a:off x="2485280" y="4090578"/>
            <a:ext cx="3973167" cy="40179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The diagram is an example of functional decomposition. The use cases look like a laundry list of steps that the actor performs instead of goals the actor is trying to achieve. In order to withdraw cash from the system, the actor needs to perform these use cases in a particular order. There is no way to show this required sequence. </a:t>
            </a:r>
          </a:p>
          <a:p>
            <a:pPr eaLnBrk="1" hangingPunct="1"/>
            <a:r>
              <a:rPr lang="en-US" sz="900">
                <a:latin typeface="ZapfHumnst BT" pitchFamily="34" charset="0"/>
              </a:rPr>
              <a:t>One of the biggest advantages of use cases over functional decomposition is that the requirements in the use cases have context. In the example, the requirements lose their context and their implementation becomes more difficult.</a:t>
            </a:r>
          </a:p>
          <a:p>
            <a:pPr eaLnBrk="1" hangingPunct="1"/>
            <a:r>
              <a:rPr lang="en-US" sz="900">
                <a:latin typeface="ZapfHumnst BT" pitchFamily="34" charset="0"/>
              </a:rPr>
              <a:t>What is often not realized about functional decomposition is that the pain is not felt during the requirements gathering activities. Instead it is felt by the implementers and testers of the system. This is because the implementers do not see the relationship between the requirements and testers that are testing use cases end up writing more test cases.</a:t>
            </a:r>
          </a:p>
          <a:p>
            <a:pPr eaLnBrk="1" hangingPunct="1"/>
            <a:r>
              <a:rPr lang="en-US" sz="900">
                <a:latin typeface="ZapfHumnst BT" pitchFamily="34" charset="0"/>
              </a:rPr>
              <a:t>The problems caused by this approach are:</a:t>
            </a:r>
          </a:p>
          <a:p>
            <a:pPr marL="324829" lvl="1" indent="-108276">
              <a:spcBef>
                <a:spcPct val="0"/>
              </a:spcBef>
              <a:buFontTx/>
              <a:buChar char="•"/>
            </a:pPr>
            <a:r>
              <a:rPr lang="en-US" sz="900">
                <a:latin typeface="ZapfHumnst BT" pitchFamily="34" charset="0"/>
              </a:rPr>
              <a:t>The requirements have no context, so they are harder to understand.</a:t>
            </a:r>
          </a:p>
          <a:p>
            <a:pPr marL="324829" lvl="1" indent="-108276">
              <a:spcBef>
                <a:spcPct val="0"/>
              </a:spcBef>
              <a:buFontTx/>
              <a:buChar char="•"/>
            </a:pPr>
            <a:r>
              <a:rPr lang="en-US" sz="900">
                <a:latin typeface="ZapfHumnst BT" pitchFamily="34" charset="0"/>
              </a:rPr>
              <a:t>Stakeholders have to read and cross-reference more isolated pieces of information, resulting in a more fragmented development and implementation experience.</a:t>
            </a:r>
          </a:p>
          <a:p>
            <a:pPr marL="324829" lvl="1" indent="-108276">
              <a:spcBef>
                <a:spcPct val="0"/>
              </a:spcBef>
              <a:buFontTx/>
              <a:buChar char="•"/>
            </a:pPr>
            <a:r>
              <a:rPr lang="en-US" sz="900">
                <a:latin typeface="ZapfHumnst BT" pitchFamily="34" charset="0"/>
              </a:rPr>
              <a:t>The goals of the actor are ambiguous. </a:t>
            </a:r>
          </a:p>
          <a:p>
            <a:pPr marL="324829" lvl="1" indent="-108276">
              <a:spcBef>
                <a:spcPct val="0"/>
              </a:spcBef>
              <a:buFontTx/>
              <a:buChar char="•"/>
            </a:pPr>
            <a:r>
              <a:rPr lang="en-US" sz="900">
                <a:latin typeface="ZapfHumnst BT" pitchFamily="34" charset="0"/>
              </a:rPr>
              <a:t>Implementers cannot see the relationship between the requirements. </a:t>
            </a:r>
          </a:p>
          <a:p>
            <a:pPr marL="324829" lvl="1" indent="-108276">
              <a:spcBef>
                <a:spcPct val="0"/>
              </a:spcBef>
              <a:buFontTx/>
              <a:buChar char="•"/>
            </a:pPr>
            <a:r>
              <a:rPr lang="en-US" sz="900">
                <a:latin typeface="ZapfHumnst BT" pitchFamily="34" charset="0"/>
              </a:rPr>
              <a:t>Testers have to write more test scripts (one per use case). These test scripts are “partial tests” because there is no end-to-end description of what the system must do.</a:t>
            </a:r>
          </a:p>
          <a:p>
            <a:pPr eaLnBrk="1" hangingPunct="1"/>
            <a:endParaRPr lang="en-US" sz="900">
              <a:latin typeface="ZapfHumnst BT" pitchFamily="34" charset="0"/>
            </a:endParaRPr>
          </a:p>
        </p:txBody>
      </p:sp>
    </p:spTree>
    <p:extLst>
      <p:ext uri="{BB962C8B-B14F-4D97-AF65-F5344CB8AC3E}">
        <p14:creationId xmlns:p14="http://schemas.microsoft.com/office/powerpoint/2010/main" val="171837027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a:xfrm>
            <a:off x="2463800" y="833438"/>
            <a:ext cx="4038600" cy="3030537"/>
          </a:xfrm>
          <a:ln/>
        </p:spPr>
      </p:sp>
      <p:sp>
        <p:nvSpPr>
          <p:cNvPr id="220163" name="Rectangle 3"/>
          <p:cNvSpPr>
            <a:spLocks noGrp="1" noChangeArrowheads="1"/>
          </p:cNvSpPr>
          <p:nvPr>
            <p:ph type="body" idx="1"/>
          </p:nvPr>
        </p:nvSpPr>
        <p:spPr>
          <a:xfrm>
            <a:off x="2485280" y="4090578"/>
            <a:ext cx="3973167" cy="40179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a:latin typeface="ZapfHumnst BT" pitchFamily="34" charset="0"/>
              </a:rPr>
              <a:t>Use cases are not functional decomposition. You want to avoid functional decomposition. Use cases describe the complete use of the system to achieve a goal. </a:t>
            </a:r>
          </a:p>
          <a:p>
            <a:pPr eaLnBrk="1" hangingPunct="1"/>
            <a:r>
              <a:rPr lang="en-US" sz="900">
                <a:latin typeface="ZapfHumnst BT" pitchFamily="34" charset="0"/>
              </a:rPr>
              <a:t>“Small” names are usually a symptom of too small use cases, tiny things that are operations. Nobody understands what the system can do for them by reading a lot of small, tiny bits that are not in context or in order.</a:t>
            </a:r>
          </a:p>
          <a:p>
            <a:r>
              <a:rPr lang="en-US" sz="900">
                <a:latin typeface="ZapfHumnst BT" pitchFamily="34" charset="0"/>
              </a:rPr>
              <a:t>From a requirements analyst’s point of view, functional decomposition may not appear to be a serious problem. Problems with functional decomposition manifest themselves later in the lifecycle, particularly in the project schedule.</a:t>
            </a:r>
          </a:p>
          <a:p>
            <a:r>
              <a:rPr lang="en-US" sz="900">
                <a:latin typeface="ZapfHumnst BT" pitchFamily="34" charset="0"/>
              </a:rPr>
              <a:t>If you have a functional decomposition, there will be more use cases to analyze, resulting in more code. More code means more bugs.</a:t>
            </a:r>
          </a:p>
          <a:p>
            <a:r>
              <a:rPr lang="en-US" sz="900">
                <a:latin typeface="ZapfHumnst BT" pitchFamily="34" charset="0"/>
              </a:rPr>
              <a:t>A functional decomposition may also affect your testing team, resulting in more test cases.</a:t>
            </a:r>
          </a:p>
          <a:p>
            <a:r>
              <a:rPr lang="en-US" sz="900">
                <a:latin typeface="ZapfHumnst BT" pitchFamily="34" charset="0"/>
              </a:rPr>
              <a:t>The sum of these means that your project takes longer.</a:t>
            </a:r>
          </a:p>
          <a:p>
            <a:pPr eaLnBrk="1" hangingPunct="1"/>
            <a:endParaRPr lang="en-US" sz="900">
              <a:latin typeface="ZapfHumnst BT" pitchFamily="34" charset="0"/>
            </a:endParaRPr>
          </a:p>
          <a:p>
            <a:pPr eaLnBrk="1" hangingPunct="1"/>
            <a:endParaRPr lang="en-US" sz="900">
              <a:latin typeface="ZapfHumnst BT" pitchFamily="34" charset="0"/>
            </a:endParaRPr>
          </a:p>
          <a:p>
            <a:pPr eaLnBrk="1" hangingPunct="1"/>
            <a:endParaRPr lang="en-US" sz="900">
              <a:latin typeface="ZapfHumnst BT" pitchFamily="34" charset="0"/>
            </a:endParaRPr>
          </a:p>
        </p:txBody>
      </p:sp>
      <p:sp>
        <p:nvSpPr>
          <p:cNvPr id="220164" name="Text Box 4"/>
          <p:cNvSpPr txBox="1">
            <a:spLocks noChangeArrowheads="1"/>
          </p:cNvSpPr>
          <p:nvPr/>
        </p:nvSpPr>
        <p:spPr bwMode="auto">
          <a:xfrm>
            <a:off x="445771" y="1224752"/>
            <a:ext cx="1735372" cy="682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199" tIns="51100" rIns="102199" bIns="51100"/>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nSpc>
                <a:spcPct val="87000"/>
              </a:lnSpc>
              <a:spcBef>
                <a:spcPct val="30000"/>
              </a:spcBef>
            </a:pPr>
            <a:r>
              <a:rPr lang="en-AU" sz="900">
                <a:solidFill>
                  <a:schemeClr val="tx1"/>
                </a:solidFill>
                <a:latin typeface="ZapfHumnst BT" pitchFamily="34" charset="0"/>
              </a:rPr>
              <a:t>See student notes.</a:t>
            </a:r>
          </a:p>
          <a:p>
            <a:pPr>
              <a:lnSpc>
                <a:spcPct val="87000"/>
              </a:lnSpc>
              <a:spcBef>
                <a:spcPct val="30000"/>
              </a:spcBef>
            </a:pPr>
            <a:r>
              <a:rPr lang="en-AU" sz="900">
                <a:solidFill>
                  <a:schemeClr val="tx1"/>
                </a:solidFill>
                <a:latin typeface="ZapfHumnst BT" pitchFamily="34" charset="0"/>
              </a:rPr>
              <a:t>Point out that the RUP checkpoints can help guide you through identification of good use cases. This is covered on the next slide.</a:t>
            </a:r>
          </a:p>
          <a:p>
            <a:pPr>
              <a:lnSpc>
                <a:spcPct val="87000"/>
              </a:lnSpc>
              <a:spcBef>
                <a:spcPct val="30000"/>
              </a:spcBef>
            </a:pPr>
            <a:endParaRPr lang="en-US" sz="900">
              <a:solidFill>
                <a:schemeClr val="tx1"/>
              </a:solidFill>
              <a:latin typeface="ZapfHumnst BT" pitchFamily="34" charset="0"/>
            </a:endParaRPr>
          </a:p>
        </p:txBody>
      </p:sp>
    </p:spTree>
    <p:extLst>
      <p:ext uri="{BB962C8B-B14F-4D97-AF65-F5344CB8AC3E}">
        <p14:creationId xmlns:p14="http://schemas.microsoft.com/office/powerpoint/2010/main" val="3462445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3794" name="Rectangle 2"/>
          <p:cNvSpPr>
            <a:spLocks noChangeArrowheads="1"/>
          </p:cNvSpPr>
          <p:nvPr/>
        </p:nvSpPr>
        <p:spPr bwMode="gray">
          <a:xfrm>
            <a:off x="0" y="0"/>
            <a:ext cx="9144000" cy="5157788"/>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795" name="Rectangle 3"/>
          <p:cNvSpPr>
            <a:spLocks noChangeArrowheads="1"/>
          </p:cNvSpPr>
          <p:nvPr/>
        </p:nvSpPr>
        <p:spPr bwMode="gray">
          <a:xfrm>
            <a:off x="1262063" y="0"/>
            <a:ext cx="2362200" cy="4953000"/>
          </a:xfrm>
          <a:prstGeom prst="rect">
            <a:avLst/>
          </a:prstGeom>
          <a:gradFill rotWithShape="1">
            <a:gsLst>
              <a:gs pos="0">
                <a:schemeClr val="accent1"/>
              </a:gs>
              <a:gs pos="100000">
                <a:schemeClr val="accent1">
                  <a:gamma/>
                  <a:shade val="72549"/>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6" name="Rectangle 4"/>
          <p:cNvSpPr>
            <a:spLocks noChangeArrowheads="1"/>
          </p:cNvSpPr>
          <p:nvPr/>
        </p:nvSpPr>
        <p:spPr bwMode="gray">
          <a:xfrm>
            <a:off x="304800" y="2400300"/>
            <a:ext cx="8458200" cy="1104900"/>
          </a:xfrm>
          <a:prstGeom prst="rect">
            <a:avLst/>
          </a:prstGeom>
          <a:gradFill rotWithShape="1">
            <a:gsLst>
              <a:gs pos="0">
                <a:schemeClr val="tx1"/>
              </a:gs>
              <a:gs pos="100000">
                <a:schemeClr val="accent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7" name="Rectangle 5"/>
          <p:cNvSpPr>
            <a:spLocks noGrp="1" noChangeArrowheads="1"/>
          </p:cNvSpPr>
          <p:nvPr>
            <p:ph type="ctrTitle"/>
          </p:nvPr>
        </p:nvSpPr>
        <p:spPr>
          <a:xfrm>
            <a:off x="457200" y="2590800"/>
            <a:ext cx="8229600" cy="685800"/>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defRPr sz="4400"/>
            </a:lvl1pPr>
          </a:lstStyle>
          <a:p>
            <a:pPr lvl="0"/>
            <a:r>
              <a:rPr lang="en-US" noProof="0"/>
              <a:t>Click to edit Master title style</a:t>
            </a:r>
          </a:p>
        </p:txBody>
      </p:sp>
      <p:sp>
        <p:nvSpPr>
          <p:cNvPr id="33798" name="Rectangle 6"/>
          <p:cNvSpPr>
            <a:spLocks noGrp="1" noChangeArrowheads="1"/>
          </p:cNvSpPr>
          <p:nvPr>
            <p:ph type="subTitle" idx="1"/>
          </p:nvPr>
        </p:nvSpPr>
        <p:spPr>
          <a:xfrm>
            <a:off x="1828800" y="3733800"/>
            <a:ext cx="5867400" cy="457200"/>
          </a:xfrm>
        </p:spPr>
        <p:txBody>
          <a:bodyPr/>
          <a:lstStyle>
            <a:lvl1pPr marL="0" indent="0" algn="ctr">
              <a:buFont typeface="Wingdings" pitchFamily="2" charset="2"/>
              <a:buNone/>
              <a:defRPr b="1">
                <a:solidFill>
                  <a:schemeClr val="bg1"/>
                </a:solidFill>
              </a:defRPr>
            </a:lvl1pPr>
          </a:lstStyle>
          <a:p>
            <a:pPr lvl="0"/>
            <a:r>
              <a:rPr lang="en-US" noProof="0"/>
              <a:t>Click to edit Master subtitle style</a:t>
            </a:r>
          </a:p>
        </p:txBody>
      </p:sp>
      <p:sp>
        <p:nvSpPr>
          <p:cNvPr id="33799" name="Rectangle 7"/>
          <p:cNvSpPr>
            <a:spLocks noGrp="1" noChangeArrowheads="1"/>
          </p:cNvSpPr>
          <p:nvPr>
            <p:ph type="dt" sz="half" idx="2"/>
          </p:nvPr>
        </p:nvSpPr>
        <p:spPr bwMode="auto">
          <a:xfrm>
            <a:off x="457200" y="6400800"/>
            <a:ext cx="2133600" cy="320675"/>
          </a:xfrm>
        </p:spPr>
        <p:txBody>
          <a:bodyPr/>
          <a:lstStyle>
            <a:lvl1pPr>
              <a:defRPr>
                <a:solidFill>
                  <a:schemeClr val="tx1"/>
                </a:solidFill>
              </a:defRPr>
            </a:lvl1pPr>
          </a:lstStyle>
          <a:p>
            <a:fld id="{D544A49A-8E05-4E09-B911-84DA3E960AD4}" type="datetime7">
              <a:rPr lang="fr-FR" smtClean="0"/>
              <a:t>sept.-16</a:t>
            </a:fld>
            <a:endParaRPr lang="en-US"/>
          </a:p>
        </p:txBody>
      </p:sp>
      <p:sp>
        <p:nvSpPr>
          <p:cNvPr id="33800" name="Rectangle 8"/>
          <p:cNvSpPr>
            <a:spLocks noGrp="1" noChangeArrowheads="1"/>
          </p:cNvSpPr>
          <p:nvPr>
            <p:ph type="ftr" sz="quarter" idx="3"/>
          </p:nvPr>
        </p:nvSpPr>
        <p:spPr bwMode="auto">
          <a:xfrm>
            <a:off x="3124200" y="6400800"/>
            <a:ext cx="2895600" cy="320675"/>
          </a:xfrm>
        </p:spPr>
        <p:txBody>
          <a:bodyPr/>
          <a:lstStyle>
            <a:lvl1pPr>
              <a:defRPr>
                <a:solidFill>
                  <a:schemeClr val="tx1"/>
                </a:solidFill>
              </a:defRPr>
            </a:lvl1pPr>
          </a:lstStyle>
          <a:p>
            <a:endParaRPr lang="en-US"/>
          </a:p>
        </p:txBody>
      </p:sp>
      <p:sp>
        <p:nvSpPr>
          <p:cNvPr id="33801" name="Rectangle 9"/>
          <p:cNvSpPr>
            <a:spLocks noGrp="1" noChangeArrowheads="1"/>
          </p:cNvSpPr>
          <p:nvPr>
            <p:ph type="sldNum" sz="quarter" idx="4"/>
          </p:nvPr>
        </p:nvSpPr>
        <p:spPr bwMode="auto">
          <a:xfrm>
            <a:off x="6553200" y="6400800"/>
            <a:ext cx="2133600" cy="320675"/>
          </a:xfrm>
        </p:spPr>
        <p:txBody>
          <a:bodyPr/>
          <a:lstStyle>
            <a:lvl1pPr>
              <a:defRPr>
                <a:solidFill>
                  <a:schemeClr val="tx1"/>
                </a:solidFill>
              </a:defRPr>
            </a:lvl1pPr>
          </a:lstStyle>
          <a:p>
            <a:fld id="{333C615C-EBA2-46CC-BC7D-62072C64C651}" type="slidenum">
              <a:rPr lang="en-US"/>
              <a:pPr/>
              <a:t>‹#›</a:t>
            </a:fld>
            <a:endParaRPr lang="en-US"/>
          </a:p>
        </p:txBody>
      </p:sp>
      <p:pic>
        <p:nvPicPr>
          <p:cNvPr id="3380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3490913"/>
            <a:ext cx="1258888" cy="1438275"/>
          </a:xfrm>
          <a:prstGeom prst="rect">
            <a:avLst/>
          </a:prstGeom>
          <a:noFill/>
          <a:extLst>
            <a:ext uri="{909E8E84-426E-40DD-AFC4-6F175D3DCCD1}">
              <a14:hiddenFill xmlns:a14="http://schemas.microsoft.com/office/drawing/2010/main">
                <a:solidFill>
                  <a:srgbClr val="FFFFFF"/>
                </a:solidFill>
              </a14:hiddenFill>
            </a:ext>
          </a:extLst>
        </p:spPr>
      </p:pic>
      <p:sp>
        <p:nvSpPr>
          <p:cNvPr id="33804" name="Rectangle 12"/>
          <p:cNvSpPr>
            <a:spLocks noChangeArrowheads="1"/>
          </p:cNvSpPr>
          <p:nvPr/>
        </p:nvSpPr>
        <p:spPr bwMode="gray">
          <a:xfrm>
            <a:off x="1276350" y="4941888"/>
            <a:ext cx="7867650" cy="21748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6" name="Rectangle 14"/>
          <p:cNvSpPr>
            <a:spLocks noChangeArrowheads="1"/>
          </p:cNvSpPr>
          <p:nvPr/>
        </p:nvSpPr>
        <p:spPr bwMode="gray">
          <a:xfrm>
            <a:off x="304800" y="304800"/>
            <a:ext cx="8534400" cy="43434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7" name="Rectangle 15"/>
          <p:cNvSpPr>
            <a:spLocks noChangeArrowheads="1"/>
          </p:cNvSpPr>
          <p:nvPr/>
        </p:nvSpPr>
        <p:spPr bwMode="gray">
          <a:xfrm>
            <a:off x="7391400" y="914400"/>
            <a:ext cx="1600200" cy="14478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8" name="Rectangle 16"/>
          <p:cNvSpPr>
            <a:spLocks noChangeArrowheads="1"/>
          </p:cNvSpPr>
          <p:nvPr/>
        </p:nvSpPr>
        <p:spPr bwMode="gray">
          <a:xfrm>
            <a:off x="8305800" y="0"/>
            <a:ext cx="76200" cy="17526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wipe(down)">
                                      <p:cBhvr>
                                        <p:cTn id="7" dur="500"/>
                                        <p:tgtEl>
                                          <p:spTgt spid="33795"/>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796"/>
                                        </p:tgtEl>
                                        <p:attrNameLst>
                                          <p:attrName>style.visibility</p:attrName>
                                        </p:attrNameLst>
                                      </p:cBhvr>
                                      <p:to>
                                        <p:strVal val="visible"/>
                                      </p:to>
                                    </p:set>
                                    <p:animEffect transition="in" filter="wipe(left)">
                                      <p:cBhvr>
                                        <p:cTn id="11" dur="500"/>
                                        <p:tgtEl>
                                          <p:spTgt spid="33796"/>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3808"/>
                                        </p:tgtEl>
                                        <p:attrNameLst>
                                          <p:attrName>style.visibility</p:attrName>
                                        </p:attrNameLst>
                                      </p:cBhvr>
                                      <p:to>
                                        <p:strVal val="visible"/>
                                      </p:to>
                                    </p:set>
                                    <p:animEffect transition="in" filter="wipe(up)">
                                      <p:cBhvr>
                                        <p:cTn id="15" dur="500"/>
                                        <p:tgtEl>
                                          <p:spTgt spid="3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p:bldP spid="33796" grpId="0" animBg="1"/>
      <p:bldP spid="3380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9EDB3397-FCEE-4AD3-B361-FFB97D85497E}" type="datetime7">
              <a:rPr lang="fr-FR" smtClean="0"/>
              <a:t>sept.-16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ED05017-923D-480E-B02E-B52739184DCA}" type="slidenum">
              <a:rPr lang="en-US"/>
              <a:pPr/>
              <a:t>‹#›</a:t>
            </a:fld>
            <a:endParaRPr lang="en-US"/>
          </a:p>
        </p:txBody>
      </p:sp>
    </p:spTree>
    <p:extLst>
      <p:ext uri="{BB962C8B-B14F-4D97-AF65-F5344CB8AC3E}">
        <p14:creationId xmlns:p14="http://schemas.microsoft.com/office/powerpoint/2010/main" val="294696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C8ACBB9-67CB-44E0-B7B5-7CFFAA66AABB}" type="datetime7">
              <a:rPr lang="fr-FR" smtClean="0"/>
              <a:t>sept.-16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A1EE7F9-147D-4E63-8B38-2BBD2CC7557E}" type="slidenum">
              <a:rPr lang="en-US"/>
              <a:pPr/>
              <a:t>‹#›</a:t>
            </a:fld>
            <a:endParaRPr lang="en-US"/>
          </a:p>
        </p:txBody>
      </p:sp>
    </p:spTree>
    <p:extLst>
      <p:ext uri="{BB962C8B-B14F-4D97-AF65-F5344CB8AC3E}">
        <p14:creationId xmlns:p14="http://schemas.microsoft.com/office/powerpoint/2010/main" val="2936098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C6903021-A419-4226-B29A-9C1ED7DF8EEC}" type="datetime7">
              <a:rPr lang="fr-FR" smtClean="0"/>
              <a:t>sept.-16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1FB5BBA-1566-418C-A412-9831C24F915D}" type="slidenum">
              <a:rPr lang="en-US"/>
              <a:pPr/>
              <a:t>‹#›</a:t>
            </a:fld>
            <a:endParaRPr lang="en-US"/>
          </a:p>
        </p:txBody>
      </p:sp>
    </p:spTree>
    <p:extLst>
      <p:ext uri="{BB962C8B-B14F-4D97-AF65-F5344CB8AC3E}">
        <p14:creationId xmlns:p14="http://schemas.microsoft.com/office/powerpoint/2010/main" val="322445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fld id="{3806B1FB-6A4A-449C-AB24-FFF304E69578}" type="datetime7">
              <a:rPr lang="fr-FR" smtClean="0"/>
              <a:t>sept.-16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31C962EE-4F72-47A2-8E33-F1A5BA904EC4}" type="slidenum">
              <a:rPr lang="en-US"/>
              <a:pPr/>
              <a:t>‹#›</a:t>
            </a:fld>
            <a:endParaRPr lang="en-US"/>
          </a:p>
        </p:txBody>
      </p:sp>
    </p:spTree>
    <p:extLst>
      <p:ext uri="{BB962C8B-B14F-4D97-AF65-F5344CB8AC3E}">
        <p14:creationId xmlns:p14="http://schemas.microsoft.com/office/powerpoint/2010/main" val="2666387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4C8B7661-B2C0-45C3-8211-EB3213D30794}" type="datetime7">
              <a:rPr lang="fr-FR" smtClean="0"/>
              <a:t>sept.-16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27392B6C-813E-42DE-A59C-034281A964AB}" type="slidenum">
              <a:rPr lang="en-US"/>
              <a:pPr/>
              <a:t>‹#›</a:t>
            </a:fld>
            <a:endParaRPr lang="en-US"/>
          </a:p>
        </p:txBody>
      </p:sp>
    </p:spTree>
    <p:extLst>
      <p:ext uri="{BB962C8B-B14F-4D97-AF65-F5344CB8AC3E}">
        <p14:creationId xmlns:p14="http://schemas.microsoft.com/office/powerpoint/2010/main" val="2868186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AC18E1C-8AD9-4B8A-8BB6-2E81BD0DD70B}" type="datetime7">
              <a:rPr lang="fr-FR" smtClean="0"/>
              <a:t>sept.-16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CAE9F565-9CED-44CF-A8BB-DE6FF94C1889}" type="slidenum">
              <a:rPr lang="en-US"/>
              <a:pPr/>
              <a:t>‹#›</a:t>
            </a:fld>
            <a:endParaRPr lang="en-US"/>
          </a:p>
        </p:txBody>
      </p:sp>
    </p:spTree>
    <p:extLst>
      <p:ext uri="{BB962C8B-B14F-4D97-AF65-F5344CB8AC3E}">
        <p14:creationId xmlns:p14="http://schemas.microsoft.com/office/powerpoint/2010/main" val="211916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726D7622-25B3-4029-BAFF-CA53D00B4095}" type="datetime7">
              <a:rPr lang="fr-FR" smtClean="0"/>
              <a:t>sept.-16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A39EE02-CCFC-4178-9551-AB0359A6C111}" type="slidenum">
              <a:rPr lang="en-US"/>
              <a:pPr/>
              <a:t>‹#›</a:t>
            </a:fld>
            <a:endParaRPr lang="en-US"/>
          </a:p>
        </p:txBody>
      </p:sp>
    </p:spTree>
    <p:extLst>
      <p:ext uri="{BB962C8B-B14F-4D97-AF65-F5344CB8AC3E}">
        <p14:creationId xmlns:p14="http://schemas.microsoft.com/office/powerpoint/2010/main" val="286426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C9296F2B-EC2B-4656-9CBF-D5AB6CDA88F5}" type="datetime7">
              <a:rPr lang="fr-FR" smtClean="0"/>
              <a:t>sept.-16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64010C0-49AE-4354-B692-F35F1557EA2A}" type="slidenum">
              <a:rPr lang="en-US"/>
              <a:pPr/>
              <a:t>‹#›</a:t>
            </a:fld>
            <a:endParaRPr lang="en-US"/>
          </a:p>
        </p:txBody>
      </p:sp>
    </p:spTree>
    <p:extLst>
      <p:ext uri="{BB962C8B-B14F-4D97-AF65-F5344CB8AC3E}">
        <p14:creationId xmlns:p14="http://schemas.microsoft.com/office/powerpoint/2010/main" val="374998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7793A2F-D36C-4CED-A9A8-30BA709E1560}" type="datetime7">
              <a:rPr lang="fr-FR" smtClean="0"/>
              <a:t>sept.-16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F4E1D1A-11F1-45A2-B3FB-7B5B55B51778}" type="slidenum">
              <a:rPr lang="en-US"/>
              <a:pPr/>
              <a:t>‹#›</a:t>
            </a:fld>
            <a:endParaRPr lang="en-US"/>
          </a:p>
        </p:txBody>
      </p:sp>
    </p:spTree>
    <p:extLst>
      <p:ext uri="{BB962C8B-B14F-4D97-AF65-F5344CB8AC3E}">
        <p14:creationId xmlns:p14="http://schemas.microsoft.com/office/powerpoint/2010/main" val="2005945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6191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6191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1131E5D-8C58-4D6A-B4D7-D623E76FBBA5}" type="datetime7">
              <a:rPr lang="fr-FR" smtClean="0"/>
              <a:t>sept.-16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9D229CF-2D15-42ED-9BDC-770ECDB1C8A8}" type="slidenum">
              <a:rPr lang="en-US"/>
              <a:pPr/>
              <a:t>‹#›</a:t>
            </a:fld>
            <a:endParaRPr lang="en-US"/>
          </a:p>
        </p:txBody>
      </p:sp>
    </p:spTree>
    <p:extLst>
      <p:ext uri="{BB962C8B-B14F-4D97-AF65-F5344CB8AC3E}">
        <p14:creationId xmlns:p14="http://schemas.microsoft.com/office/powerpoint/2010/main" val="1900172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49338" y="188913"/>
            <a:ext cx="7910512" cy="501650"/>
          </a:xfrm>
        </p:spPr>
        <p:txBody>
          <a:bodyPr/>
          <a:lstStyle/>
          <a:p>
            <a:r>
              <a:rPr lang="en-US"/>
              <a:t>Click to edit Master title style</a:t>
            </a:r>
          </a:p>
        </p:txBody>
      </p:sp>
      <p:sp>
        <p:nvSpPr>
          <p:cNvPr id="3" name="Text Placeholder 2"/>
          <p:cNvSpPr>
            <a:spLocks noGrp="1"/>
          </p:cNvSpPr>
          <p:nvPr>
            <p:ph type="body" sz="half" idx="1"/>
          </p:nvPr>
        </p:nvSpPr>
        <p:spPr>
          <a:xfrm>
            <a:off x="184150" y="1052513"/>
            <a:ext cx="4311650"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052513"/>
            <a:ext cx="4311650"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792538"/>
            <a:ext cx="4311650" cy="2589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F7908C36-DB33-42B8-BEE6-E6FBED082EFA}" type="datetime7">
              <a:rPr lang="fr-FR" smtClean="0"/>
              <a:t>sept.-16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8" name="Rectangle 6"/>
          <p:cNvSpPr>
            <a:spLocks noGrp="1" noChangeArrowheads="1"/>
          </p:cNvSpPr>
          <p:nvPr>
            <p:ph type="sldNum" sz="quarter" idx="12"/>
          </p:nvPr>
        </p:nvSpPr>
        <p:spPr>
          <a:ln/>
        </p:spPr>
        <p:txBody>
          <a:bodyPr/>
          <a:lstStyle>
            <a:lvl1pPr>
              <a:defRPr/>
            </a:lvl1pPr>
          </a:lstStyle>
          <a:p>
            <a:pPr>
              <a:defRPr/>
            </a:pPr>
            <a:fld id="{BFEFE68E-2141-4FA7-923A-02FC5ED7D5B9}" type="slidenum">
              <a:rPr lang="en-US"/>
              <a:pPr>
                <a:defRPr/>
              </a:pPr>
              <a:t>‹#›</a:t>
            </a:fld>
            <a:endParaRPr lang="en-US"/>
          </a:p>
        </p:txBody>
      </p:sp>
    </p:spTree>
    <p:extLst>
      <p:ext uri="{BB962C8B-B14F-4D97-AF65-F5344CB8AC3E}">
        <p14:creationId xmlns:p14="http://schemas.microsoft.com/office/powerpoint/2010/main" val="3573872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049338" y="188913"/>
            <a:ext cx="7910512" cy="501650"/>
          </a:xfrm>
        </p:spPr>
        <p:txBody>
          <a:bodyPr/>
          <a:lstStyle/>
          <a:p>
            <a:r>
              <a:rPr lang="en-US"/>
              <a:t>Click to edit Master title style</a:t>
            </a:r>
          </a:p>
        </p:txBody>
      </p:sp>
      <p:sp>
        <p:nvSpPr>
          <p:cNvPr id="3" name="Content Placeholder 2"/>
          <p:cNvSpPr>
            <a:spLocks noGrp="1"/>
          </p:cNvSpPr>
          <p:nvPr>
            <p:ph sz="half" idx="1"/>
          </p:nvPr>
        </p:nvSpPr>
        <p:spPr>
          <a:xfrm>
            <a:off x="184150" y="1052513"/>
            <a:ext cx="8775700"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84150" y="3792538"/>
            <a:ext cx="8775700" cy="2589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96FC1E26-AF7B-456D-BC3E-15F942E97FA6}" type="datetime7">
              <a:rPr lang="fr-FR" smtClean="0"/>
              <a:t>sept.-16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FEC80843-F527-40E5-AEF7-F2BF9CB1A5D7}" type="slidenum">
              <a:rPr lang="en-US"/>
              <a:pPr>
                <a:defRPr/>
              </a:pPr>
              <a:t>‹#›</a:t>
            </a:fld>
            <a:endParaRPr lang="en-US"/>
          </a:p>
        </p:txBody>
      </p:sp>
    </p:spTree>
    <p:extLst>
      <p:ext uri="{BB962C8B-B14F-4D97-AF65-F5344CB8AC3E}">
        <p14:creationId xmlns:p14="http://schemas.microsoft.com/office/powerpoint/2010/main" val="707280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49338" y="188913"/>
            <a:ext cx="7910512" cy="501650"/>
          </a:xfrm>
        </p:spPr>
        <p:txBody>
          <a:bodyPr/>
          <a:lstStyle/>
          <a:p>
            <a:r>
              <a:rPr lang="en-US"/>
              <a:t>Click to edit Master title style</a:t>
            </a:r>
          </a:p>
        </p:txBody>
      </p:sp>
      <p:sp>
        <p:nvSpPr>
          <p:cNvPr id="3" name="Text Placeholder 2"/>
          <p:cNvSpPr>
            <a:spLocks noGrp="1"/>
          </p:cNvSpPr>
          <p:nvPr>
            <p:ph type="body" sz="half" idx="1"/>
          </p:nvPr>
        </p:nvSpPr>
        <p:spPr>
          <a:xfrm>
            <a:off x="184150" y="1052513"/>
            <a:ext cx="4311650"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52513"/>
            <a:ext cx="4311650"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014485E9-AB7F-4DEC-88B6-B642B01FB1E6}" type="datetime7">
              <a:rPr lang="fr-FR" smtClean="0"/>
              <a:t>sept.-16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DBF0D3E2-D141-4F40-B95C-01950E48E834}" type="slidenum">
              <a:rPr lang="en-US"/>
              <a:pPr>
                <a:defRPr/>
              </a:pPr>
              <a:t>‹#›</a:t>
            </a:fld>
            <a:endParaRPr lang="en-US"/>
          </a:p>
        </p:txBody>
      </p:sp>
    </p:spTree>
    <p:extLst>
      <p:ext uri="{BB962C8B-B14F-4D97-AF65-F5344CB8AC3E}">
        <p14:creationId xmlns:p14="http://schemas.microsoft.com/office/powerpoint/2010/main" val="4276747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049338" y="188913"/>
            <a:ext cx="7910512" cy="501650"/>
          </a:xfrm>
        </p:spPr>
        <p:txBody>
          <a:bodyPr/>
          <a:lstStyle/>
          <a:p>
            <a:r>
              <a:rPr lang="en-US"/>
              <a:t>Click to edit Master title style</a:t>
            </a:r>
          </a:p>
        </p:txBody>
      </p:sp>
      <p:sp>
        <p:nvSpPr>
          <p:cNvPr id="3" name="ClipArt Placeholder 2"/>
          <p:cNvSpPr>
            <a:spLocks noGrp="1"/>
          </p:cNvSpPr>
          <p:nvPr>
            <p:ph type="clipArt" sz="half" idx="1"/>
          </p:nvPr>
        </p:nvSpPr>
        <p:spPr>
          <a:xfrm>
            <a:off x="184150" y="1052513"/>
            <a:ext cx="4311650" cy="5329237"/>
          </a:xfrm>
        </p:spPr>
        <p:txBody>
          <a:bodyPr/>
          <a:lstStyle/>
          <a:p>
            <a:pPr lvl="0"/>
            <a:endParaRPr lang="en-US" noProof="0"/>
          </a:p>
        </p:txBody>
      </p:sp>
      <p:sp>
        <p:nvSpPr>
          <p:cNvPr id="4" name="Text Placeholder 3"/>
          <p:cNvSpPr>
            <a:spLocks noGrp="1"/>
          </p:cNvSpPr>
          <p:nvPr>
            <p:ph type="body" sz="half" idx="2"/>
          </p:nvPr>
        </p:nvSpPr>
        <p:spPr>
          <a:xfrm>
            <a:off x="4648200" y="1052513"/>
            <a:ext cx="4311650"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57155805-591F-4337-BE98-F4862D12813A}" type="datetime7">
              <a:rPr lang="fr-FR" smtClean="0"/>
              <a:t>sept.-16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9E7EBC0B-640B-421E-9F39-768C81E9035E}" type="slidenum">
              <a:rPr lang="en-US"/>
              <a:pPr>
                <a:defRPr/>
              </a:pPr>
              <a:t>‹#›</a:t>
            </a:fld>
            <a:endParaRPr lang="en-US"/>
          </a:p>
        </p:txBody>
      </p:sp>
    </p:spTree>
    <p:extLst>
      <p:ext uri="{BB962C8B-B14F-4D97-AF65-F5344CB8AC3E}">
        <p14:creationId xmlns:p14="http://schemas.microsoft.com/office/powerpoint/2010/main" val="1212804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049338" y="188913"/>
            <a:ext cx="7910512" cy="501650"/>
          </a:xfrm>
        </p:spPr>
        <p:txBody>
          <a:bodyPr/>
          <a:lstStyle/>
          <a:p>
            <a:r>
              <a:rPr lang="en-US"/>
              <a:t>Click to edit Master title style</a:t>
            </a:r>
          </a:p>
        </p:txBody>
      </p:sp>
      <p:sp>
        <p:nvSpPr>
          <p:cNvPr id="3" name="Text Placeholder 2"/>
          <p:cNvSpPr>
            <a:spLocks noGrp="1"/>
          </p:cNvSpPr>
          <p:nvPr>
            <p:ph type="body" sz="half" idx="1"/>
          </p:nvPr>
        </p:nvSpPr>
        <p:spPr>
          <a:xfrm>
            <a:off x="184150" y="1052513"/>
            <a:ext cx="4311650"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052513"/>
            <a:ext cx="4311650" cy="5329237"/>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fld id="{8967B0B9-01C3-4E3E-BC0C-3AC3F24AA0EF}" type="datetime7">
              <a:rPr lang="fr-FR" smtClean="0"/>
              <a:t>sept.-16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1B50D9FB-BC40-4AF9-B100-CBB86E8BC229}" type="slidenum">
              <a:rPr lang="en-US"/>
              <a:pPr>
                <a:defRPr/>
              </a:pPr>
              <a:t>‹#›</a:t>
            </a:fld>
            <a:endParaRPr lang="en-US"/>
          </a:p>
        </p:txBody>
      </p:sp>
    </p:spTree>
    <p:extLst>
      <p:ext uri="{BB962C8B-B14F-4D97-AF65-F5344CB8AC3E}">
        <p14:creationId xmlns:p14="http://schemas.microsoft.com/office/powerpoint/2010/main" val="1481846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tint val="39216"/>
                <a:invGamma/>
              </a:schemeClr>
            </a:gs>
          </a:gsLst>
          <a:lin ang="5400000" scaled="1"/>
        </a:gradFill>
        <a:effectLst/>
      </p:bgPr>
    </p:bg>
    <p:spTree>
      <p:nvGrpSpPr>
        <p:cNvPr id="1" name=""/>
        <p:cNvGrpSpPr/>
        <p:nvPr/>
      </p:nvGrpSpPr>
      <p:grpSpPr>
        <a:xfrm>
          <a:off x="0" y="0"/>
          <a:ext cx="0" cy="0"/>
          <a:chOff x="0" y="0"/>
          <a:chExt cx="0" cy="0"/>
        </a:xfrm>
      </p:grpSpPr>
      <p:sp>
        <p:nvSpPr>
          <p:cNvPr id="32770" name="Rectangle 2"/>
          <p:cNvSpPr>
            <a:spLocks noChangeArrowheads="1"/>
          </p:cNvSpPr>
          <p:nvPr/>
        </p:nvSpPr>
        <p:spPr bwMode="gray">
          <a:xfrm>
            <a:off x="0" y="9525"/>
            <a:ext cx="9144000" cy="10287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1" name="Rectangle 3"/>
          <p:cNvSpPr>
            <a:spLocks noChangeArrowheads="1"/>
          </p:cNvSpPr>
          <p:nvPr/>
        </p:nvSpPr>
        <p:spPr bwMode="gray">
          <a:xfrm>
            <a:off x="1447800" y="0"/>
            <a:ext cx="7696200" cy="87947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2" name="Rectangle 4"/>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3" name="Rectangle 5"/>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4" name="Rectangle 6"/>
          <p:cNvSpPr>
            <a:spLocks noChangeArrowheads="1"/>
          </p:cNvSpPr>
          <p:nvPr/>
        </p:nvSpPr>
        <p:spPr bwMode="gray">
          <a:xfrm>
            <a:off x="8686800" y="0"/>
            <a:ext cx="76200" cy="6096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5" name="Rectangle 7"/>
          <p:cNvSpPr>
            <a:spLocks noGrp="1" noChangeArrowheads="1"/>
          </p:cNvSpPr>
          <p:nvPr>
            <p:ph type="body" idx="1"/>
          </p:nvPr>
        </p:nvSpPr>
        <p:spPr bwMode="gray">
          <a:xfrm>
            <a:off x="457200" y="1371600"/>
            <a:ext cx="8229600" cy="502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776" name="Rectangle 8"/>
          <p:cNvSpPr>
            <a:spLocks noGrp="1" noChangeArrowheads="1"/>
          </p:cNvSpPr>
          <p:nvPr>
            <p:ph type="dt" sz="half" idx="2"/>
          </p:nvPr>
        </p:nvSpPr>
        <p:spPr bwMode="gray">
          <a:xfrm>
            <a:off x="457200" y="652145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accent1"/>
                </a:solidFill>
              </a:defRPr>
            </a:lvl1pPr>
          </a:lstStyle>
          <a:p>
            <a:fld id="{D1D40AFB-E7E7-451E-A6F6-E40389A29A0E}" type="datetime7">
              <a:rPr lang="fr-FR" smtClean="0"/>
              <a:t>sept.-16</a:t>
            </a:fld>
            <a:endParaRPr lang="en-US"/>
          </a:p>
        </p:txBody>
      </p:sp>
      <p:sp>
        <p:nvSpPr>
          <p:cNvPr id="32777" name="Rectangle 9"/>
          <p:cNvSpPr>
            <a:spLocks noGrp="1" noChangeArrowheads="1"/>
          </p:cNvSpPr>
          <p:nvPr>
            <p:ph type="ftr" sz="quarter" idx="3"/>
          </p:nvPr>
        </p:nvSpPr>
        <p:spPr bwMode="gray">
          <a:xfrm>
            <a:off x="3124200" y="6521450"/>
            <a:ext cx="2895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accent1"/>
                </a:solidFill>
              </a:defRPr>
            </a:lvl1pPr>
          </a:lstStyle>
          <a:p>
            <a:endParaRPr lang="en-US"/>
          </a:p>
        </p:txBody>
      </p:sp>
      <p:sp>
        <p:nvSpPr>
          <p:cNvPr id="32778" name="Rectangle 10"/>
          <p:cNvSpPr>
            <a:spLocks noGrp="1" noChangeArrowheads="1"/>
          </p:cNvSpPr>
          <p:nvPr>
            <p:ph type="sldNum" sz="quarter" idx="4"/>
          </p:nvPr>
        </p:nvSpPr>
        <p:spPr bwMode="gray">
          <a:xfrm>
            <a:off x="6553200" y="6521450"/>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chemeClr val="accent1"/>
                </a:solidFill>
              </a:defRPr>
            </a:lvl1pPr>
          </a:lstStyle>
          <a:p>
            <a:fld id="{5BC5FE45-4BCF-4403-A33E-1F96EDA88A11}" type="slidenum">
              <a:rPr lang="en-US"/>
              <a:pPr/>
              <a:t>‹#›</a:t>
            </a:fld>
            <a:endParaRPr lang="en-US"/>
          </a:p>
        </p:txBody>
      </p:sp>
      <p:sp>
        <p:nvSpPr>
          <p:cNvPr id="32779" name="Rectangle 11"/>
          <p:cNvSpPr>
            <a:spLocks noChangeArrowheads="1"/>
          </p:cNvSpPr>
          <p:nvPr/>
        </p:nvSpPr>
        <p:spPr bwMode="gray">
          <a:xfrm>
            <a:off x="0" y="0"/>
            <a:ext cx="1447800" cy="10668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2780" name="Picture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extLst>
            <a:ext uri="{909E8E84-426E-40DD-AFC4-6F175D3DCCD1}">
              <a14:hiddenFill xmlns:a14="http://schemas.microsoft.com/office/drawing/2010/main">
                <a:solidFill>
                  <a:srgbClr val="FFFFFF"/>
                </a:solidFill>
              </a14:hiddenFill>
            </a:ext>
          </a:extLst>
        </p:spPr>
      </p:pic>
      <p:sp>
        <p:nvSpPr>
          <p:cNvPr id="32781" name="Rectangle 13"/>
          <p:cNvSpPr>
            <a:spLocks noChangeArrowheads="1"/>
          </p:cNvSpPr>
          <p:nvPr/>
        </p:nvSpPr>
        <p:spPr bwMode="gray">
          <a:xfrm>
            <a:off x="0" y="1035050"/>
            <a:ext cx="1447800" cy="228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2" name="Rectangle 14"/>
          <p:cNvSpPr>
            <a:spLocks noGrp="1" noChangeArrowheads="1"/>
          </p:cNvSpPr>
          <p:nvPr>
            <p:ph type="title"/>
          </p:nvPr>
        </p:nvSpPr>
        <p:spPr bwMode="gray">
          <a:xfrm>
            <a:off x="1447800" y="206375"/>
            <a:ext cx="6858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wipe(left)">
                                      <p:cBhvr>
                                        <p:cTn id="7" dur="500"/>
                                        <p:tgtEl>
                                          <p:spTgt spid="32772"/>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2774"/>
                                        </p:tgtEl>
                                        <p:attrNameLst>
                                          <p:attrName>style.visibility</p:attrName>
                                        </p:attrNameLst>
                                      </p:cBhvr>
                                      <p:to>
                                        <p:strVal val="visible"/>
                                      </p:to>
                                    </p:set>
                                    <p:animEffect transition="in" filter="wipe(up)">
                                      <p:cBhvr>
                                        <p:cTn id="11" dur="50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4" grpId="0" animBg="1"/>
    </p:bldLst>
  </p:timing>
  <p:hf hdr="0" ftr="0" dt="0"/>
  <p:txStyles>
    <p:titleStyle>
      <a:lvl1pPr algn="ctr" rtl="0" fontAlgn="base">
        <a:spcBef>
          <a:spcPct val="0"/>
        </a:spcBef>
        <a:spcAft>
          <a:spcPct val="0"/>
        </a:spcAft>
        <a:defRPr sz="3200">
          <a:solidFill>
            <a:schemeClr val="bg1"/>
          </a:solidFill>
          <a:latin typeface="+mj-lt"/>
          <a:ea typeface="+mj-ea"/>
          <a:cs typeface="+mj-cs"/>
        </a:defRPr>
      </a:lvl1pPr>
      <a:lvl2pPr algn="ctr" rtl="0" fontAlgn="base">
        <a:spcBef>
          <a:spcPct val="0"/>
        </a:spcBef>
        <a:spcAft>
          <a:spcPct val="0"/>
        </a:spcAft>
        <a:defRPr sz="3200">
          <a:solidFill>
            <a:schemeClr val="bg1"/>
          </a:solidFill>
          <a:latin typeface="Arial" pitchFamily="34" charset="0"/>
        </a:defRPr>
      </a:lvl2pPr>
      <a:lvl3pPr algn="ctr" rtl="0" fontAlgn="base">
        <a:spcBef>
          <a:spcPct val="0"/>
        </a:spcBef>
        <a:spcAft>
          <a:spcPct val="0"/>
        </a:spcAft>
        <a:defRPr sz="3200">
          <a:solidFill>
            <a:schemeClr val="bg1"/>
          </a:solidFill>
          <a:latin typeface="Arial" pitchFamily="34" charset="0"/>
        </a:defRPr>
      </a:lvl3pPr>
      <a:lvl4pPr algn="ctr" rtl="0" fontAlgn="base">
        <a:spcBef>
          <a:spcPct val="0"/>
        </a:spcBef>
        <a:spcAft>
          <a:spcPct val="0"/>
        </a:spcAft>
        <a:defRPr sz="3200">
          <a:solidFill>
            <a:schemeClr val="bg1"/>
          </a:solidFill>
          <a:latin typeface="Arial" pitchFamily="34" charset="0"/>
        </a:defRPr>
      </a:lvl4pPr>
      <a:lvl5pPr algn="ctr" rtl="0" fontAlgn="base">
        <a:spcBef>
          <a:spcPct val="0"/>
        </a:spcBef>
        <a:spcAft>
          <a:spcPct val="0"/>
        </a:spcAft>
        <a:defRPr sz="3200">
          <a:solidFill>
            <a:schemeClr val="bg1"/>
          </a:solidFill>
          <a:latin typeface="Arial" pitchFamily="34" charset="0"/>
        </a:defRPr>
      </a:lvl5pPr>
      <a:lvl6pPr marL="457200" algn="ctr" rtl="0" fontAlgn="base">
        <a:spcBef>
          <a:spcPct val="0"/>
        </a:spcBef>
        <a:spcAft>
          <a:spcPct val="0"/>
        </a:spcAft>
        <a:defRPr sz="3200">
          <a:solidFill>
            <a:schemeClr val="bg1"/>
          </a:solidFill>
          <a:latin typeface="Arial" pitchFamily="34" charset="0"/>
        </a:defRPr>
      </a:lvl6pPr>
      <a:lvl7pPr marL="914400" algn="ctr" rtl="0" fontAlgn="base">
        <a:spcBef>
          <a:spcPct val="0"/>
        </a:spcBef>
        <a:spcAft>
          <a:spcPct val="0"/>
        </a:spcAft>
        <a:defRPr sz="3200">
          <a:solidFill>
            <a:schemeClr val="bg1"/>
          </a:solidFill>
          <a:latin typeface="Arial" pitchFamily="34" charset="0"/>
        </a:defRPr>
      </a:lvl7pPr>
      <a:lvl8pPr marL="1371600" algn="ctr" rtl="0" fontAlgn="base">
        <a:spcBef>
          <a:spcPct val="0"/>
        </a:spcBef>
        <a:spcAft>
          <a:spcPct val="0"/>
        </a:spcAft>
        <a:defRPr sz="3200">
          <a:solidFill>
            <a:schemeClr val="bg1"/>
          </a:solidFill>
          <a:latin typeface="Arial" pitchFamily="34" charset="0"/>
        </a:defRPr>
      </a:lvl8pPr>
      <a:lvl9pPr marL="1828800" algn="ctr" rtl="0" fontAlgn="base">
        <a:spcBef>
          <a:spcPct val="0"/>
        </a:spcBef>
        <a:spcAft>
          <a:spcPct val="0"/>
        </a:spcAft>
        <a:defRPr sz="3200">
          <a:solidFill>
            <a:schemeClr val="bg1"/>
          </a:solidFill>
          <a:latin typeface="Arial" pitchFamily="34" charset="0"/>
        </a:defRPr>
      </a:lvl9pPr>
    </p:titleStyle>
    <p:bodyStyle>
      <a:lvl1pPr marL="342900" indent="-342900" algn="l" rtl="0" fontAlgn="base">
        <a:spcBef>
          <a:spcPct val="20000"/>
        </a:spcBef>
        <a:spcAft>
          <a:spcPct val="0"/>
        </a:spcAft>
        <a:buFont typeface="Wingdings" pitchFamily="2" charset="2"/>
        <a:buChar char="v"/>
        <a:defRPr sz="2400">
          <a:solidFill>
            <a:srgbClr val="000000"/>
          </a:solidFill>
          <a:latin typeface="+mn-lt"/>
          <a:ea typeface="+mn-ea"/>
          <a:cs typeface="+mn-cs"/>
        </a:defRPr>
      </a:lvl1pPr>
      <a:lvl2pPr marL="742950" indent="-285750" algn="l" rtl="0" fontAlgn="base">
        <a:spcBef>
          <a:spcPct val="20000"/>
        </a:spcBef>
        <a:spcAft>
          <a:spcPct val="0"/>
        </a:spcAft>
        <a:buClr>
          <a:schemeClr val="accent1"/>
        </a:buClr>
        <a:buSzPct val="50000"/>
        <a:buFont typeface="Wingdings 2" pitchFamily="18" charset="2"/>
        <a:buChar char=""/>
        <a:defRPr sz="2400">
          <a:solidFill>
            <a:srgbClr val="000000"/>
          </a:solidFill>
          <a:latin typeface="+mn-lt"/>
        </a:defRPr>
      </a:lvl2pPr>
      <a:lvl3pPr marL="1143000" indent="-228600" algn="l" rtl="0" fontAlgn="base">
        <a:spcBef>
          <a:spcPct val="20000"/>
        </a:spcBef>
        <a:spcAft>
          <a:spcPct val="0"/>
        </a:spcAft>
        <a:buClr>
          <a:schemeClr val="hlink"/>
        </a:buClr>
        <a:buFont typeface="Wingdings" pitchFamily="2" charset="2"/>
        <a:buChar char="§"/>
        <a:defRPr sz="2000">
          <a:solidFill>
            <a:srgbClr val="000000"/>
          </a:solidFill>
          <a:latin typeface="+mn-lt"/>
        </a:defRPr>
      </a:lvl3pPr>
      <a:lvl4pPr marL="1600200" indent="-228600" algn="l" rtl="0" fontAlgn="base">
        <a:spcBef>
          <a:spcPct val="20000"/>
        </a:spcBef>
        <a:spcAft>
          <a:spcPct val="0"/>
        </a:spcAft>
        <a:buClr>
          <a:schemeClr val="folHlink"/>
        </a:buClr>
        <a:buSzPct val="60000"/>
        <a:buFont typeface="Wingdings 2" pitchFamily="18" charset="2"/>
        <a:buChar char=""/>
        <a:defRPr>
          <a:solidFill>
            <a:srgbClr val="000000"/>
          </a:solidFill>
          <a:latin typeface="+mn-lt"/>
        </a:defRPr>
      </a:lvl4pPr>
      <a:lvl5pPr marL="2057400" indent="-228600" algn="l" rtl="0" fontAlgn="base">
        <a:spcBef>
          <a:spcPct val="20000"/>
        </a:spcBef>
        <a:spcAft>
          <a:spcPct val="0"/>
        </a:spcAft>
        <a:buFont typeface="Wingdings" pitchFamily="2" charset="2"/>
        <a:buChar char="§"/>
        <a:defRPr>
          <a:solidFill>
            <a:srgbClr val="000000"/>
          </a:solidFill>
          <a:latin typeface="+mn-lt"/>
        </a:defRPr>
      </a:lvl5pPr>
      <a:lvl6pPr marL="2514600" indent="-228600" algn="l" rtl="0" fontAlgn="base">
        <a:spcBef>
          <a:spcPct val="20000"/>
        </a:spcBef>
        <a:spcAft>
          <a:spcPct val="0"/>
        </a:spcAft>
        <a:buFont typeface="Wingdings" pitchFamily="2" charset="2"/>
        <a:buChar char="§"/>
        <a:defRPr>
          <a:solidFill>
            <a:srgbClr val="000000"/>
          </a:solidFill>
          <a:latin typeface="+mn-lt"/>
        </a:defRPr>
      </a:lvl6pPr>
      <a:lvl7pPr marL="2971800" indent="-228600" algn="l" rtl="0" fontAlgn="base">
        <a:spcBef>
          <a:spcPct val="20000"/>
        </a:spcBef>
        <a:spcAft>
          <a:spcPct val="0"/>
        </a:spcAft>
        <a:buFont typeface="Wingdings" pitchFamily="2" charset="2"/>
        <a:buChar char="§"/>
        <a:defRPr>
          <a:solidFill>
            <a:srgbClr val="000000"/>
          </a:solidFill>
          <a:latin typeface="+mn-lt"/>
        </a:defRPr>
      </a:lvl7pPr>
      <a:lvl8pPr marL="3429000" indent="-228600" algn="l" rtl="0" fontAlgn="base">
        <a:spcBef>
          <a:spcPct val="20000"/>
        </a:spcBef>
        <a:spcAft>
          <a:spcPct val="0"/>
        </a:spcAft>
        <a:buFont typeface="Wingdings" pitchFamily="2" charset="2"/>
        <a:buChar char="§"/>
        <a:defRPr>
          <a:solidFill>
            <a:srgbClr val="000000"/>
          </a:solidFill>
          <a:latin typeface="+mn-lt"/>
        </a:defRPr>
      </a:lvl8pPr>
      <a:lvl9pPr marL="3886200" indent="-228600" algn="l" rtl="0" fontAlgn="base">
        <a:spcBef>
          <a:spcPct val="20000"/>
        </a:spcBef>
        <a:spcAft>
          <a:spcPct val="0"/>
        </a:spcAft>
        <a:buFont typeface="Wingdings" pitchFamily="2" charset="2"/>
        <a:buChar char="§"/>
        <a:defRPr>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w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0.xml"/><Relationship Id="rId7"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8.wmf"/><Relationship Id="rId4"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oleObject" Target="../embeddings/oleObject17.bin"/><Relationship Id="rId3" Type="http://schemas.openxmlformats.org/officeDocument/2006/relationships/notesSlide" Target="../notesSlides/notesSlide45.xml"/><Relationship Id="rId7" Type="http://schemas.openxmlformats.org/officeDocument/2006/relationships/image" Target="../media/image19.wmf"/><Relationship Id="rId12"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11.bin"/><Relationship Id="rId11" Type="http://schemas.openxmlformats.org/officeDocument/2006/relationships/oleObject" Target="../embeddings/oleObject15.bin"/><Relationship Id="rId5" Type="http://schemas.openxmlformats.org/officeDocument/2006/relationships/image" Target="../media/image18.wmf"/><Relationship Id="rId10" Type="http://schemas.openxmlformats.org/officeDocument/2006/relationships/oleObject" Target="../embeddings/oleObject14.bin"/><Relationship Id="rId4" Type="http://schemas.openxmlformats.org/officeDocument/2006/relationships/oleObject" Target="../embeddings/oleObject10.bin"/><Relationship Id="rId9"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0.emf"/><Relationship Id="rId4" Type="http://schemas.openxmlformats.org/officeDocument/2006/relationships/oleObject" Target="../embeddings/oleObject18.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1.emf"/><Relationship Id="rId4" Type="http://schemas.openxmlformats.org/officeDocument/2006/relationships/oleObject" Target="../embeddings/oleObject19.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2.emf"/><Relationship Id="rId4" Type="http://schemas.openxmlformats.org/officeDocument/2006/relationships/oleObject" Target="../embeddings/oleObject20.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4.xml"/><Relationship Id="rId1" Type="http://schemas.openxmlformats.org/officeDocument/2006/relationships/tags" Target="../tags/tag10.xml"/><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4.xml"/><Relationship Id="rId1" Type="http://schemas.openxmlformats.org/officeDocument/2006/relationships/tags" Target="../tags/tag16.xml"/><Relationship Id="rId4" Type="http://schemas.openxmlformats.org/officeDocument/2006/relationships/image" Target="../media/image23.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4.xml"/><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p:txBody>
          <a:bodyPr/>
          <a:lstStyle/>
          <a:p>
            <a:r>
              <a:rPr lang="en-US" sz="3600" b="1" dirty="0">
                <a:effectLst>
                  <a:outerShdw blurRad="38100" dist="38100" dir="2700000" algn="tl">
                    <a:srgbClr val="C0C0C0"/>
                  </a:outerShdw>
                </a:effectLst>
              </a:rPr>
              <a:t>Requirement Modeling</a:t>
            </a:r>
          </a:p>
        </p:txBody>
      </p:sp>
      <p:sp>
        <p:nvSpPr>
          <p:cNvPr id="12" name="Rectangle 5"/>
          <p:cNvSpPr>
            <a:spLocks noChangeArrowheads="1"/>
          </p:cNvSpPr>
          <p:nvPr/>
        </p:nvSpPr>
        <p:spPr bwMode="gray">
          <a:xfrm>
            <a:off x="4147296" y="35814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Font typeface="Wingdings" pitchFamily="2" charset="2"/>
              <a:buNone/>
            </a:pPr>
            <a:r>
              <a:rPr lang="en-US" sz="2000" b="1" dirty="0">
                <a:solidFill>
                  <a:srgbClr val="FFFFFF"/>
                </a:solidFill>
              </a:rPr>
              <a:t>Assoc. Prof. TRAN Minh </a:t>
            </a:r>
            <a:r>
              <a:rPr lang="en-US" sz="2000" b="1" dirty="0" err="1">
                <a:solidFill>
                  <a:srgbClr val="FFFFFF"/>
                </a:solidFill>
              </a:rPr>
              <a:t>Triet</a:t>
            </a:r>
            <a:endParaRPr lang="en-US" sz="2000" b="1" dirty="0">
              <a:solidFill>
                <a:srgbClr val="FFFFFF"/>
              </a:solidFill>
            </a:endParaRPr>
          </a:p>
          <a:p>
            <a:pPr algn="ctr">
              <a:spcBef>
                <a:spcPct val="20000"/>
              </a:spcBef>
              <a:buFont typeface="Wingdings" pitchFamily="2" charset="2"/>
              <a:buNone/>
            </a:pPr>
            <a:r>
              <a:rPr lang="en-US" sz="2000" b="1" dirty="0">
                <a:solidFill>
                  <a:srgbClr val="FFFFFF"/>
                </a:solidFill>
              </a:rPr>
              <a:t>Department of Software Engineering</a:t>
            </a:r>
            <a:endParaRPr lang="en-US" sz="2000" dirty="0">
              <a:solidFill>
                <a:srgbClr val="FFFFFF"/>
              </a:solidFill>
            </a:endParaRPr>
          </a:p>
        </p:txBody>
      </p:sp>
      <p:sp>
        <p:nvSpPr>
          <p:cNvPr id="9" name="Rectangle 8"/>
          <p:cNvSpPr/>
          <p:nvPr/>
        </p:nvSpPr>
        <p:spPr>
          <a:xfrm>
            <a:off x="3838252" y="5791200"/>
            <a:ext cx="5305748" cy="523220"/>
          </a:xfrm>
          <a:prstGeom prst="rect">
            <a:avLst/>
          </a:prstGeom>
          <a:noFill/>
        </p:spPr>
        <p:txBody>
          <a:bodyPr wrap="none" lIns="91440" tIns="45720" rIns="91440" bIns="45720">
            <a:spAutoFit/>
          </a:bodyPr>
          <a:lstStyle/>
          <a:p>
            <a:r>
              <a:rPr lang="en-US" sz="2800" b="1" dirty="0">
                <a:ln w="10541" cmpd="sng">
                  <a:solidFill>
                    <a:srgbClr val="3167D3">
                      <a:shade val="88000"/>
                      <a:satMod val="110000"/>
                    </a:srgbClr>
                  </a:solidFill>
                  <a:prstDash val="solid"/>
                </a:ln>
                <a:gradFill>
                  <a:gsLst>
                    <a:gs pos="0">
                      <a:srgbClr val="3167D3">
                        <a:tint val="40000"/>
                        <a:satMod val="250000"/>
                      </a:srgbClr>
                    </a:gs>
                    <a:gs pos="9000">
                      <a:srgbClr val="3167D3">
                        <a:tint val="52000"/>
                        <a:satMod val="300000"/>
                      </a:srgbClr>
                    </a:gs>
                    <a:gs pos="50000">
                      <a:srgbClr val="3167D3">
                        <a:shade val="20000"/>
                        <a:satMod val="300000"/>
                      </a:srgbClr>
                    </a:gs>
                    <a:gs pos="79000">
                      <a:srgbClr val="3167D3">
                        <a:tint val="52000"/>
                        <a:satMod val="300000"/>
                      </a:srgbClr>
                    </a:gs>
                    <a:gs pos="100000">
                      <a:srgbClr val="3167D3">
                        <a:tint val="40000"/>
                        <a:satMod val="250000"/>
                      </a:srgbClr>
                    </a:gs>
                  </a:gsLst>
                  <a:lin ang="5400000"/>
                </a:gradFill>
                <a:effectLst>
                  <a:outerShdw blurRad="38100" dist="38100" dir="2700000" algn="tl">
                    <a:srgbClr val="000000">
                      <a:alpha val="43137"/>
                    </a:srgbClr>
                  </a:outerShdw>
                </a:effectLst>
              </a:rPr>
              <a:t>Software Analysis and Design</a:t>
            </a:r>
          </a:p>
        </p:txBody>
      </p:sp>
      <p:sp>
        <p:nvSpPr>
          <p:cNvPr id="13" name="TextBox 12"/>
          <p:cNvSpPr txBox="1"/>
          <p:nvPr/>
        </p:nvSpPr>
        <p:spPr>
          <a:xfrm>
            <a:off x="2388454" y="383130"/>
            <a:ext cx="4367093" cy="707886"/>
          </a:xfrm>
          <a:prstGeom prst="rect">
            <a:avLst/>
          </a:prstGeom>
          <a:noFill/>
        </p:spPr>
        <p:txBody>
          <a:bodyPr wrap="none" rtlCol="0">
            <a:spAutoFit/>
          </a:bodyPr>
          <a:lstStyle/>
          <a:p>
            <a:pPr algn="ctr"/>
            <a:r>
              <a:rPr lang="en-US" sz="2000" b="1" dirty="0">
                <a:solidFill>
                  <a:schemeClr val="bg1"/>
                </a:solidFill>
              </a:rPr>
              <a:t>University of Science, VNU-HCM</a:t>
            </a:r>
          </a:p>
          <a:p>
            <a:pPr algn="ctr"/>
            <a:r>
              <a:rPr lang="en-US" sz="2000" b="1" dirty="0">
                <a:solidFill>
                  <a:schemeClr val="bg1"/>
                </a:solidFill>
              </a:rPr>
              <a:t>Faculty of Information Technology</a:t>
            </a: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5449956"/>
            <a:ext cx="1534813" cy="1205707"/>
          </a:xfrm>
          <a:prstGeom prst="rect">
            <a:avLst/>
          </a:prstGeom>
        </p:spPr>
      </p:pic>
    </p:spTree>
    <p:extLst>
      <p:ext uri="{BB962C8B-B14F-4D97-AF65-F5344CB8AC3E}">
        <p14:creationId xmlns:p14="http://schemas.microsoft.com/office/powerpoint/2010/main" val="74060891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pPr eaLnBrk="1" hangingPunct="1">
              <a:defRPr/>
            </a:pPr>
            <a:r>
              <a:rPr lang="en-US" sz="2800" dirty="0"/>
              <a:t>Introduction to Requirement Process</a:t>
            </a:r>
          </a:p>
        </p:txBody>
      </p:sp>
      <p:sp>
        <p:nvSpPr>
          <p:cNvPr id="15366" name="Line 3"/>
          <p:cNvSpPr>
            <a:spLocks noChangeShapeType="1"/>
          </p:cNvSpPr>
          <p:nvPr/>
        </p:nvSpPr>
        <p:spPr bwMode="auto">
          <a:xfrm rot="16899415" flipH="1">
            <a:off x="4559300" y="2997200"/>
            <a:ext cx="88900" cy="298450"/>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15367" name="Line 4"/>
          <p:cNvSpPr>
            <a:spLocks noChangeShapeType="1"/>
          </p:cNvSpPr>
          <p:nvPr/>
        </p:nvSpPr>
        <p:spPr bwMode="auto">
          <a:xfrm rot="16899415" flipV="1">
            <a:off x="6829426" y="3808412"/>
            <a:ext cx="106362" cy="280987"/>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326661" name="AutoShape 5"/>
          <p:cNvSpPr>
            <a:spLocks noChangeArrowheads="1"/>
          </p:cNvSpPr>
          <p:nvPr/>
        </p:nvSpPr>
        <p:spPr bwMode="auto">
          <a:xfrm>
            <a:off x="690563" y="1452562"/>
            <a:ext cx="3284537" cy="3657600"/>
          </a:xfrm>
          <a:prstGeom prst="triangle">
            <a:avLst>
              <a:gd name="adj" fmla="val 49204"/>
            </a:avLst>
          </a:prstGeom>
          <a:solidFill>
            <a:srgbClr val="99CC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endParaRPr lang="en-US" sz="2000">
              <a:latin typeface="+mj-lt"/>
            </a:endParaRPr>
          </a:p>
        </p:txBody>
      </p:sp>
      <p:sp>
        <p:nvSpPr>
          <p:cNvPr id="15369" name="Rectangle 6"/>
          <p:cNvSpPr>
            <a:spLocks noChangeArrowheads="1"/>
          </p:cNvSpPr>
          <p:nvPr/>
        </p:nvSpPr>
        <p:spPr bwMode="auto">
          <a:xfrm>
            <a:off x="4821238" y="3434024"/>
            <a:ext cx="1735137" cy="418576"/>
          </a:xfrm>
          <a:prstGeom prst="rect">
            <a:avLst/>
          </a:prstGeom>
          <a:gradFill rotWithShape="0">
            <a:gsLst>
              <a:gs pos="0">
                <a:srgbClr val="259425"/>
              </a:gs>
              <a:gs pos="50000">
                <a:srgbClr val="33CC33"/>
              </a:gs>
              <a:gs pos="100000">
                <a:srgbClr val="259425"/>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33CC33"/>
            </a:extrusionClr>
          </a:sp3d>
        </p:spPr>
        <p:txBody>
          <a:bodyPr lIns="109728" tIns="54864" rIns="109728" bIns="54864" anchor="ctr">
            <a:spAutoFit/>
            <a:flatTx/>
          </a:bodyPr>
          <a:lstStyle/>
          <a:p>
            <a:endParaRPr lang="en-US" sz="2000">
              <a:latin typeface="+mj-lt"/>
            </a:endParaRPr>
          </a:p>
        </p:txBody>
      </p:sp>
      <p:sp>
        <p:nvSpPr>
          <p:cNvPr id="15370" name="Text Box 7"/>
          <p:cNvSpPr txBox="1">
            <a:spLocks noChangeArrowheads="1"/>
          </p:cNvSpPr>
          <p:nvPr/>
        </p:nvSpPr>
        <p:spPr bwMode="auto">
          <a:xfrm>
            <a:off x="4752975" y="3268662"/>
            <a:ext cx="18780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The system to be built</a:t>
            </a:r>
          </a:p>
        </p:txBody>
      </p:sp>
      <p:sp>
        <p:nvSpPr>
          <p:cNvPr id="326664" name="Text Box 8"/>
          <p:cNvSpPr txBox="1">
            <a:spLocks noChangeArrowheads="1"/>
          </p:cNvSpPr>
          <p:nvPr/>
        </p:nvSpPr>
        <p:spPr bwMode="auto">
          <a:xfrm>
            <a:off x="1773238" y="2382837"/>
            <a:ext cx="1144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Needs</a:t>
            </a:r>
          </a:p>
        </p:txBody>
      </p:sp>
      <p:sp>
        <p:nvSpPr>
          <p:cNvPr id="326665" name="Text Box 9"/>
          <p:cNvSpPr txBox="1">
            <a:spLocks noChangeArrowheads="1"/>
          </p:cNvSpPr>
          <p:nvPr/>
        </p:nvSpPr>
        <p:spPr bwMode="auto">
          <a:xfrm>
            <a:off x="1071563" y="4189412"/>
            <a:ext cx="26130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Software</a:t>
            </a:r>
          </a:p>
          <a:p>
            <a:pPr algn="ctr"/>
            <a:r>
              <a:rPr lang="fr-FR" sz="2000">
                <a:latin typeface="+mj-lt"/>
              </a:rPr>
              <a:t>Requirements</a:t>
            </a:r>
          </a:p>
        </p:txBody>
      </p:sp>
      <p:sp>
        <p:nvSpPr>
          <p:cNvPr id="15373" name="AutoShape 10"/>
          <p:cNvSpPr>
            <a:spLocks noChangeArrowheads="1"/>
          </p:cNvSpPr>
          <p:nvPr/>
        </p:nvSpPr>
        <p:spPr bwMode="auto">
          <a:xfrm flipV="1">
            <a:off x="3248025" y="5661025"/>
            <a:ext cx="4459288" cy="811212"/>
          </a:xfrm>
          <a:custGeom>
            <a:avLst/>
            <a:gdLst>
              <a:gd name="T0" fmla="*/ 4205769 w 21600"/>
              <a:gd name="T1" fmla="*/ 405606 h 21600"/>
              <a:gd name="T2" fmla="*/ 2229644 w 21600"/>
              <a:gd name="T3" fmla="*/ 811212 h 21600"/>
              <a:gd name="T4" fmla="*/ 253519 w 21600"/>
              <a:gd name="T5" fmla="*/ 405606 h 21600"/>
              <a:gd name="T6" fmla="*/ 2229644 w 21600"/>
              <a:gd name="T7" fmla="*/ 0 h 21600"/>
              <a:gd name="T8" fmla="*/ 0 60000 65536"/>
              <a:gd name="T9" fmla="*/ 0 60000 65536"/>
              <a:gd name="T10" fmla="*/ 0 60000 65536"/>
              <a:gd name="T11" fmla="*/ 0 60000 65536"/>
              <a:gd name="T12" fmla="*/ 3028 w 21600"/>
              <a:gd name="T13" fmla="*/ 3028 h 21600"/>
              <a:gd name="T14" fmla="*/ 18572 w 21600"/>
              <a:gd name="T15" fmla="*/ 18572 h 21600"/>
            </a:gdLst>
            <a:ahLst/>
            <a:cxnLst>
              <a:cxn ang="T8">
                <a:pos x="T0" y="T1"/>
              </a:cxn>
              <a:cxn ang="T9">
                <a:pos x="T2" y="T3"/>
              </a:cxn>
              <a:cxn ang="T10">
                <a:pos x="T4" y="T5"/>
              </a:cxn>
              <a:cxn ang="T11">
                <a:pos x="T6" y="T7"/>
              </a:cxn>
            </a:cxnLst>
            <a:rect l="T12" t="T13" r="T14" b="T15"/>
            <a:pathLst>
              <a:path w="21600" h="21600">
                <a:moveTo>
                  <a:pt x="0" y="0"/>
                </a:moveTo>
                <a:lnTo>
                  <a:pt x="2456" y="21600"/>
                </a:lnTo>
                <a:lnTo>
                  <a:pt x="19144" y="21600"/>
                </a:lnTo>
                <a:lnTo>
                  <a:pt x="21600" y="0"/>
                </a:lnTo>
                <a:close/>
              </a:path>
            </a:pathLst>
          </a:custGeom>
          <a:solidFill>
            <a:srgbClr val="99CC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endParaRPr lang="en-US" sz="2000">
              <a:latin typeface="+mj-lt"/>
            </a:endParaRPr>
          </a:p>
        </p:txBody>
      </p:sp>
      <p:sp>
        <p:nvSpPr>
          <p:cNvPr id="15374" name="AutoShape 11"/>
          <p:cNvSpPr>
            <a:spLocks noChangeArrowheads="1"/>
          </p:cNvSpPr>
          <p:nvPr/>
        </p:nvSpPr>
        <p:spPr bwMode="auto">
          <a:xfrm flipV="1">
            <a:off x="1536700" y="5546725"/>
            <a:ext cx="4459288" cy="839787"/>
          </a:xfrm>
          <a:custGeom>
            <a:avLst/>
            <a:gdLst>
              <a:gd name="T0" fmla="*/ 4205769 w 21600"/>
              <a:gd name="T1" fmla="*/ 419894 h 21600"/>
              <a:gd name="T2" fmla="*/ 2229644 w 21600"/>
              <a:gd name="T3" fmla="*/ 839787 h 21600"/>
              <a:gd name="T4" fmla="*/ 253519 w 21600"/>
              <a:gd name="T5" fmla="*/ 419894 h 21600"/>
              <a:gd name="T6" fmla="*/ 2229644 w 21600"/>
              <a:gd name="T7" fmla="*/ 0 h 21600"/>
              <a:gd name="T8" fmla="*/ 0 60000 65536"/>
              <a:gd name="T9" fmla="*/ 0 60000 65536"/>
              <a:gd name="T10" fmla="*/ 0 60000 65536"/>
              <a:gd name="T11" fmla="*/ 0 60000 65536"/>
              <a:gd name="T12" fmla="*/ 3028 w 21600"/>
              <a:gd name="T13" fmla="*/ 3028 h 21600"/>
              <a:gd name="T14" fmla="*/ 18572 w 21600"/>
              <a:gd name="T15" fmla="*/ 18572 h 21600"/>
            </a:gdLst>
            <a:ahLst/>
            <a:cxnLst>
              <a:cxn ang="T8">
                <a:pos x="T0" y="T1"/>
              </a:cxn>
              <a:cxn ang="T9">
                <a:pos x="T2" y="T3"/>
              </a:cxn>
              <a:cxn ang="T10">
                <a:pos x="T4" y="T5"/>
              </a:cxn>
              <a:cxn ang="T11">
                <a:pos x="T6" y="T7"/>
              </a:cxn>
            </a:cxnLst>
            <a:rect l="T12" t="T13" r="T14" b="T15"/>
            <a:pathLst>
              <a:path w="21600" h="21600">
                <a:moveTo>
                  <a:pt x="0" y="0"/>
                </a:moveTo>
                <a:lnTo>
                  <a:pt x="2456" y="21600"/>
                </a:lnTo>
                <a:lnTo>
                  <a:pt x="19144" y="21600"/>
                </a:lnTo>
                <a:lnTo>
                  <a:pt x="21600" y="0"/>
                </a:lnTo>
                <a:close/>
              </a:path>
            </a:pathLst>
          </a:custGeom>
          <a:solidFill>
            <a:srgbClr val="99CC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endParaRPr lang="en-US" sz="2000">
              <a:latin typeface="+mj-lt"/>
            </a:endParaRPr>
          </a:p>
        </p:txBody>
      </p:sp>
      <p:sp>
        <p:nvSpPr>
          <p:cNvPr id="15375" name="AutoShape 12"/>
          <p:cNvSpPr>
            <a:spLocks noChangeArrowheads="1"/>
          </p:cNvSpPr>
          <p:nvPr/>
        </p:nvSpPr>
        <p:spPr bwMode="auto">
          <a:xfrm flipV="1">
            <a:off x="76200" y="5372100"/>
            <a:ext cx="4487863" cy="811212"/>
          </a:xfrm>
          <a:custGeom>
            <a:avLst/>
            <a:gdLst>
              <a:gd name="T0" fmla="*/ 4232720 w 21600"/>
              <a:gd name="T1" fmla="*/ 405606 h 21600"/>
              <a:gd name="T2" fmla="*/ 2243932 w 21600"/>
              <a:gd name="T3" fmla="*/ 811212 h 21600"/>
              <a:gd name="T4" fmla="*/ 255143 w 21600"/>
              <a:gd name="T5" fmla="*/ 405606 h 21600"/>
              <a:gd name="T6" fmla="*/ 2243932 w 21600"/>
              <a:gd name="T7" fmla="*/ 0 h 21600"/>
              <a:gd name="T8" fmla="*/ 0 60000 65536"/>
              <a:gd name="T9" fmla="*/ 0 60000 65536"/>
              <a:gd name="T10" fmla="*/ 0 60000 65536"/>
              <a:gd name="T11" fmla="*/ 0 60000 65536"/>
              <a:gd name="T12" fmla="*/ 3028 w 21600"/>
              <a:gd name="T13" fmla="*/ 3028 h 21600"/>
              <a:gd name="T14" fmla="*/ 18572 w 21600"/>
              <a:gd name="T15" fmla="*/ 18572 h 21600"/>
            </a:gdLst>
            <a:ahLst/>
            <a:cxnLst>
              <a:cxn ang="T8">
                <a:pos x="T0" y="T1"/>
              </a:cxn>
              <a:cxn ang="T9">
                <a:pos x="T2" y="T3"/>
              </a:cxn>
              <a:cxn ang="T10">
                <a:pos x="T4" y="T5"/>
              </a:cxn>
              <a:cxn ang="T11">
                <a:pos x="T6" y="T7"/>
              </a:cxn>
            </a:cxnLst>
            <a:rect l="T12" t="T13" r="T14" b="T15"/>
            <a:pathLst>
              <a:path w="21600" h="21600">
                <a:moveTo>
                  <a:pt x="0" y="0"/>
                </a:moveTo>
                <a:lnTo>
                  <a:pt x="2456" y="21600"/>
                </a:lnTo>
                <a:lnTo>
                  <a:pt x="19144" y="21600"/>
                </a:lnTo>
                <a:lnTo>
                  <a:pt x="21600" y="0"/>
                </a:lnTo>
                <a:close/>
              </a:path>
            </a:pathLst>
          </a:custGeom>
          <a:solidFill>
            <a:srgbClr val="99CC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endParaRPr lang="en-US" sz="2000">
              <a:latin typeface="+mj-lt"/>
            </a:endParaRPr>
          </a:p>
        </p:txBody>
      </p:sp>
      <p:sp>
        <p:nvSpPr>
          <p:cNvPr id="15376" name="Text Box 13"/>
          <p:cNvSpPr txBox="1">
            <a:spLocks noChangeArrowheads="1"/>
          </p:cNvSpPr>
          <p:nvPr/>
        </p:nvSpPr>
        <p:spPr bwMode="auto">
          <a:xfrm>
            <a:off x="4438650" y="5670550"/>
            <a:ext cx="1338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Design</a:t>
            </a:r>
          </a:p>
        </p:txBody>
      </p:sp>
      <p:sp>
        <p:nvSpPr>
          <p:cNvPr id="15377" name="Text Box 14"/>
          <p:cNvSpPr txBox="1">
            <a:spLocks noChangeArrowheads="1"/>
          </p:cNvSpPr>
          <p:nvPr/>
        </p:nvSpPr>
        <p:spPr bwMode="auto">
          <a:xfrm>
            <a:off x="733425" y="5503862"/>
            <a:ext cx="3044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Test Procedures</a:t>
            </a:r>
          </a:p>
        </p:txBody>
      </p:sp>
      <p:sp>
        <p:nvSpPr>
          <p:cNvPr id="15378" name="Text Box 15"/>
          <p:cNvSpPr txBox="1">
            <a:spLocks noChangeArrowheads="1"/>
          </p:cNvSpPr>
          <p:nvPr/>
        </p:nvSpPr>
        <p:spPr bwMode="auto">
          <a:xfrm>
            <a:off x="6135688" y="5654675"/>
            <a:ext cx="11668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User Doc</a:t>
            </a:r>
          </a:p>
        </p:txBody>
      </p:sp>
      <p:sp>
        <p:nvSpPr>
          <p:cNvPr id="15379" name="Text Box 16"/>
          <p:cNvSpPr txBox="1">
            <a:spLocks noChangeArrowheads="1"/>
          </p:cNvSpPr>
          <p:nvPr/>
        </p:nvSpPr>
        <p:spPr bwMode="auto">
          <a:xfrm>
            <a:off x="1458913" y="3273425"/>
            <a:ext cx="1809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a:latin typeface="+mj-lt"/>
              </a:rPr>
              <a:t>Features</a:t>
            </a:r>
          </a:p>
        </p:txBody>
      </p:sp>
      <p:sp>
        <p:nvSpPr>
          <p:cNvPr id="326673" name="Line 17"/>
          <p:cNvSpPr>
            <a:spLocks noChangeShapeType="1"/>
          </p:cNvSpPr>
          <p:nvPr/>
        </p:nvSpPr>
        <p:spPr bwMode="auto">
          <a:xfrm flipV="1">
            <a:off x="1298575" y="3843337"/>
            <a:ext cx="2135188" cy="0"/>
          </a:xfrm>
          <a:prstGeom prst="line">
            <a:avLst/>
          </a:prstGeom>
          <a:noFill/>
          <a:ln w="28575">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15381" name="Text Box 18"/>
          <p:cNvSpPr txBox="1">
            <a:spLocks noChangeArrowheads="1"/>
          </p:cNvSpPr>
          <p:nvPr/>
        </p:nvSpPr>
        <p:spPr bwMode="auto">
          <a:xfrm>
            <a:off x="6443663" y="4195762"/>
            <a:ext cx="24685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r"/>
            <a:r>
              <a:rPr lang="fr-FR" sz="2000" i="1">
                <a:solidFill>
                  <a:schemeClr val="tx1"/>
                </a:solidFill>
                <a:latin typeface="+mj-lt"/>
              </a:rPr>
              <a:t>Solution Space</a:t>
            </a:r>
          </a:p>
        </p:txBody>
      </p:sp>
      <p:sp>
        <p:nvSpPr>
          <p:cNvPr id="326675" name="Line 19"/>
          <p:cNvSpPr>
            <a:spLocks noChangeShapeType="1"/>
          </p:cNvSpPr>
          <p:nvPr/>
        </p:nvSpPr>
        <p:spPr bwMode="auto">
          <a:xfrm flipV="1">
            <a:off x="3005138" y="2843212"/>
            <a:ext cx="5749925" cy="1588"/>
          </a:xfrm>
          <a:prstGeom prst="line">
            <a:avLst/>
          </a:prstGeom>
          <a:noFill/>
          <a:ln w="38100">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15383" name="Text Box 20"/>
          <p:cNvSpPr txBox="1">
            <a:spLocks noChangeArrowheads="1"/>
          </p:cNvSpPr>
          <p:nvPr/>
        </p:nvSpPr>
        <p:spPr bwMode="auto">
          <a:xfrm>
            <a:off x="6396038" y="1398587"/>
            <a:ext cx="2441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r"/>
            <a:r>
              <a:rPr lang="fr-FR" sz="2000" i="1" dirty="0" err="1">
                <a:solidFill>
                  <a:schemeClr val="tx1"/>
                </a:solidFill>
                <a:latin typeface="+mj-lt"/>
              </a:rPr>
              <a:t>Problem</a:t>
            </a:r>
            <a:r>
              <a:rPr lang="fr-FR" sz="2000" i="1" dirty="0">
                <a:solidFill>
                  <a:schemeClr val="tx1"/>
                </a:solidFill>
                <a:latin typeface="+mj-lt"/>
              </a:rPr>
              <a:t> </a:t>
            </a:r>
            <a:r>
              <a:rPr lang="fr-FR" sz="2000" i="1" dirty="0" err="1">
                <a:solidFill>
                  <a:schemeClr val="tx1"/>
                </a:solidFill>
                <a:latin typeface="+mj-lt"/>
              </a:rPr>
              <a:t>Space</a:t>
            </a:r>
            <a:endParaRPr lang="fr-FR" sz="2000" i="1" dirty="0">
              <a:solidFill>
                <a:schemeClr val="tx1"/>
              </a:solidFill>
              <a:latin typeface="+mj-lt"/>
            </a:endParaRPr>
          </a:p>
        </p:txBody>
      </p:sp>
      <p:sp>
        <p:nvSpPr>
          <p:cNvPr id="326677" name="Line 21"/>
          <p:cNvSpPr>
            <a:spLocks noChangeShapeType="1"/>
          </p:cNvSpPr>
          <p:nvPr/>
        </p:nvSpPr>
        <p:spPr bwMode="auto">
          <a:xfrm>
            <a:off x="2319338" y="1462087"/>
            <a:ext cx="1624012" cy="3608388"/>
          </a:xfrm>
          <a:prstGeom prst="line">
            <a:avLst/>
          </a:prstGeom>
          <a:noFill/>
          <a:ln w="38100">
            <a:solidFill>
              <a:schemeClr val="bg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15385" name="Line 22"/>
          <p:cNvSpPr>
            <a:spLocks noChangeShapeType="1"/>
          </p:cNvSpPr>
          <p:nvPr/>
        </p:nvSpPr>
        <p:spPr bwMode="auto">
          <a:xfrm flipH="1">
            <a:off x="6759575" y="3133725"/>
            <a:ext cx="279400" cy="165100"/>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grpSp>
        <p:nvGrpSpPr>
          <p:cNvPr id="15386" name="Group 23"/>
          <p:cNvGrpSpPr>
            <a:grpSpLocks noChangeAspect="1"/>
          </p:cNvGrpSpPr>
          <p:nvPr/>
        </p:nvGrpSpPr>
        <p:grpSpPr bwMode="auto">
          <a:xfrm>
            <a:off x="4194175" y="2949575"/>
            <a:ext cx="292100" cy="369887"/>
            <a:chOff x="7654" y="3380"/>
            <a:chExt cx="554" cy="754"/>
          </a:xfrm>
        </p:grpSpPr>
        <p:sp>
          <p:nvSpPr>
            <p:cNvPr id="15443" name="Oval 24"/>
            <p:cNvSpPr>
              <a:spLocks noChangeAspect="1" noChangeArrowheads="1"/>
            </p:cNvSpPr>
            <p:nvPr/>
          </p:nvSpPr>
          <p:spPr bwMode="auto">
            <a:xfrm>
              <a:off x="7805" y="3380"/>
              <a:ext cx="253" cy="248"/>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sp>
          <p:nvSpPr>
            <p:cNvPr id="15444" name="Line 25"/>
            <p:cNvSpPr>
              <a:spLocks noChangeAspect="1" noChangeShapeType="1"/>
            </p:cNvSpPr>
            <p:nvPr/>
          </p:nvSpPr>
          <p:spPr bwMode="auto">
            <a:xfrm>
              <a:off x="7931" y="3630"/>
              <a:ext cx="1" cy="23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45" name="Line 26"/>
            <p:cNvSpPr>
              <a:spLocks noChangeAspect="1" noChangeShapeType="1"/>
            </p:cNvSpPr>
            <p:nvPr/>
          </p:nvSpPr>
          <p:spPr bwMode="auto">
            <a:xfrm>
              <a:off x="7731" y="3695"/>
              <a:ext cx="401"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46" name="Freeform 27"/>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grpSp>
      <p:grpSp>
        <p:nvGrpSpPr>
          <p:cNvPr id="15387" name="Group 28"/>
          <p:cNvGrpSpPr>
            <a:grpSpLocks noChangeAspect="1"/>
          </p:cNvGrpSpPr>
          <p:nvPr/>
        </p:nvGrpSpPr>
        <p:grpSpPr bwMode="auto">
          <a:xfrm>
            <a:off x="4192588" y="3711575"/>
            <a:ext cx="304800" cy="384175"/>
            <a:chOff x="7654" y="3380"/>
            <a:chExt cx="554" cy="754"/>
          </a:xfrm>
        </p:grpSpPr>
        <p:sp>
          <p:nvSpPr>
            <p:cNvPr id="15439" name="Oval 29"/>
            <p:cNvSpPr>
              <a:spLocks noChangeAspect="1" noChangeArrowheads="1"/>
            </p:cNvSpPr>
            <p:nvPr/>
          </p:nvSpPr>
          <p:spPr bwMode="auto">
            <a:xfrm>
              <a:off x="7805" y="3380"/>
              <a:ext cx="253" cy="248"/>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sp>
          <p:nvSpPr>
            <p:cNvPr id="15440" name="Line 30"/>
            <p:cNvSpPr>
              <a:spLocks noChangeAspect="1" noChangeShapeType="1"/>
            </p:cNvSpPr>
            <p:nvPr/>
          </p:nvSpPr>
          <p:spPr bwMode="auto">
            <a:xfrm>
              <a:off x="7931" y="3630"/>
              <a:ext cx="1" cy="23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41" name="Line 31"/>
            <p:cNvSpPr>
              <a:spLocks noChangeAspect="1" noChangeShapeType="1"/>
            </p:cNvSpPr>
            <p:nvPr/>
          </p:nvSpPr>
          <p:spPr bwMode="auto">
            <a:xfrm>
              <a:off x="7731" y="3695"/>
              <a:ext cx="401"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42" name="Freeform 32"/>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grpSp>
      <p:grpSp>
        <p:nvGrpSpPr>
          <p:cNvPr id="15388" name="Group 33"/>
          <p:cNvGrpSpPr>
            <a:grpSpLocks noChangeAspect="1"/>
          </p:cNvGrpSpPr>
          <p:nvPr/>
        </p:nvGrpSpPr>
        <p:grpSpPr bwMode="auto">
          <a:xfrm>
            <a:off x="7104063" y="2967037"/>
            <a:ext cx="292100" cy="369888"/>
            <a:chOff x="7654" y="3380"/>
            <a:chExt cx="554" cy="754"/>
          </a:xfrm>
        </p:grpSpPr>
        <p:sp>
          <p:nvSpPr>
            <p:cNvPr id="15435" name="Oval 34"/>
            <p:cNvSpPr>
              <a:spLocks noChangeAspect="1" noChangeArrowheads="1"/>
            </p:cNvSpPr>
            <p:nvPr/>
          </p:nvSpPr>
          <p:spPr bwMode="auto">
            <a:xfrm>
              <a:off x="7805" y="3380"/>
              <a:ext cx="253" cy="248"/>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sp>
          <p:nvSpPr>
            <p:cNvPr id="15436" name="Line 35"/>
            <p:cNvSpPr>
              <a:spLocks noChangeAspect="1" noChangeShapeType="1"/>
            </p:cNvSpPr>
            <p:nvPr/>
          </p:nvSpPr>
          <p:spPr bwMode="auto">
            <a:xfrm>
              <a:off x="7931" y="3630"/>
              <a:ext cx="1" cy="23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37" name="Line 36"/>
            <p:cNvSpPr>
              <a:spLocks noChangeAspect="1" noChangeShapeType="1"/>
            </p:cNvSpPr>
            <p:nvPr/>
          </p:nvSpPr>
          <p:spPr bwMode="auto">
            <a:xfrm>
              <a:off x="7731" y="3695"/>
              <a:ext cx="401"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38" name="Freeform 37"/>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grpSp>
      <p:grpSp>
        <p:nvGrpSpPr>
          <p:cNvPr id="15389" name="Group 38"/>
          <p:cNvGrpSpPr>
            <a:grpSpLocks noChangeAspect="1"/>
          </p:cNvGrpSpPr>
          <p:nvPr/>
        </p:nvGrpSpPr>
        <p:grpSpPr bwMode="auto">
          <a:xfrm>
            <a:off x="7010400" y="3851275"/>
            <a:ext cx="292100" cy="369887"/>
            <a:chOff x="7654" y="3380"/>
            <a:chExt cx="554" cy="754"/>
          </a:xfrm>
        </p:grpSpPr>
        <p:sp>
          <p:nvSpPr>
            <p:cNvPr id="15431" name="Oval 39"/>
            <p:cNvSpPr>
              <a:spLocks noChangeAspect="1" noChangeArrowheads="1"/>
            </p:cNvSpPr>
            <p:nvPr/>
          </p:nvSpPr>
          <p:spPr bwMode="auto">
            <a:xfrm>
              <a:off x="7805" y="3380"/>
              <a:ext cx="253" cy="248"/>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sp>
          <p:nvSpPr>
            <p:cNvPr id="15432" name="Line 40"/>
            <p:cNvSpPr>
              <a:spLocks noChangeAspect="1" noChangeShapeType="1"/>
            </p:cNvSpPr>
            <p:nvPr/>
          </p:nvSpPr>
          <p:spPr bwMode="auto">
            <a:xfrm>
              <a:off x="7931" y="3630"/>
              <a:ext cx="1" cy="23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33" name="Line 41"/>
            <p:cNvSpPr>
              <a:spLocks noChangeAspect="1" noChangeShapeType="1"/>
            </p:cNvSpPr>
            <p:nvPr/>
          </p:nvSpPr>
          <p:spPr bwMode="auto">
            <a:xfrm>
              <a:off x="7731" y="3695"/>
              <a:ext cx="401"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000">
                <a:latin typeface="+mj-lt"/>
              </a:endParaRPr>
            </a:p>
          </p:txBody>
        </p:sp>
        <p:sp>
          <p:nvSpPr>
            <p:cNvPr id="15434" name="Freeform 42"/>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latin typeface="+mj-lt"/>
              </a:endParaRPr>
            </a:p>
          </p:txBody>
        </p:sp>
      </p:grpSp>
      <p:sp>
        <p:nvSpPr>
          <p:cNvPr id="15390" name="Line 43"/>
          <p:cNvSpPr>
            <a:spLocks noChangeShapeType="1"/>
          </p:cNvSpPr>
          <p:nvPr/>
        </p:nvSpPr>
        <p:spPr bwMode="auto">
          <a:xfrm rot="-4700585">
            <a:off x="4503738" y="3763962"/>
            <a:ext cx="209550" cy="228600"/>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326700" name="Line 44"/>
          <p:cNvSpPr>
            <a:spLocks noChangeShapeType="1"/>
          </p:cNvSpPr>
          <p:nvPr/>
        </p:nvSpPr>
        <p:spPr bwMode="auto">
          <a:xfrm>
            <a:off x="1743075" y="2835275"/>
            <a:ext cx="1179513" cy="12700"/>
          </a:xfrm>
          <a:prstGeom prst="line">
            <a:avLst/>
          </a:prstGeom>
          <a:noFill/>
          <a:ln w="28575">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326701" name="Line 45"/>
          <p:cNvSpPr>
            <a:spLocks noChangeShapeType="1"/>
          </p:cNvSpPr>
          <p:nvPr/>
        </p:nvSpPr>
        <p:spPr bwMode="auto">
          <a:xfrm flipV="1">
            <a:off x="3432175" y="3719512"/>
            <a:ext cx="127000" cy="82550"/>
          </a:xfrm>
          <a:prstGeom prst="line">
            <a:avLst/>
          </a:prstGeom>
          <a:noFill/>
          <a:ln w="28575">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326702" name="Line 46"/>
          <p:cNvSpPr>
            <a:spLocks noChangeShapeType="1"/>
          </p:cNvSpPr>
          <p:nvPr/>
        </p:nvSpPr>
        <p:spPr bwMode="auto">
          <a:xfrm flipV="1">
            <a:off x="2960688" y="2730500"/>
            <a:ext cx="127000" cy="82550"/>
          </a:xfrm>
          <a:prstGeom prst="line">
            <a:avLst/>
          </a:prstGeom>
          <a:noFill/>
          <a:ln w="28575">
            <a:solidFill>
              <a:schemeClr val="tx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mj-lt"/>
            </a:endParaRPr>
          </a:p>
        </p:txBody>
      </p:sp>
      <p:sp>
        <p:nvSpPr>
          <p:cNvPr id="15394" name="Freeform 47"/>
          <p:cNvSpPr>
            <a:spLocks/>
          </p:cNvSpPr>
          <p:nvPr/>
        </p:nvSpPr>
        <p:spPr bwMode="auto">
          <a:xfrm rot="324232">
            <a:off x="3406775" y="3357562"/>
            <a:ext cx="509588" cy="679450"/>
          </a:xfrm>
          <a:custGeom>
            <a:avLst/>
            <a:gdLst>
              <a:gd name="T0" fmla="*/ 0 w 321"/>
              <a:gd name="T1" fmla="*/ 0 h 585"/>
              <a:gd name="T2" fmla="*/ 209 w 321"/>
              <a:gd name="T3" fmla="*/ 79 h 585"/>
              <a:gd name="T4" fmla="*/ 314 w 321"/>
              <a:gd name="T5" fmla="*/ 393 h 585"/>
              <a:gd name="T6" fmla="*/ 253 w 321"/>
              <a:gd name="T7" fmla="*/ 585 h 585"/>
              <a:gd name="T8" fmla="*/ 0 60000 65536"/>
              <a:gd name="T9" fmla="*/ 0 60000 65536"/>
              <a:gd name="T10" fmla="*/ 0 60000 65536"/>
              <a:gd name="T11" fmla="*/ 0 60000 65536"/>
              <a:gd name="T12" fmla="*/ 0 w 321"/>
              <a:gd name="T13" fmla="*/ 0 h 585"/>
              <a:gd name="T14" fmla="*/ 321 w 321"/>
              <a:gd name="T15" fmla="*/ 585 h 585"/>
            </a:gdLst>
            <a:ahLst/>
            <a:cxnLst>
              <a:cxn ang="T8">
                <a:pos x="T0" y="T1"/>
              </a:cxn>
              <a:cxn ang="T9">
                <a:pos x="T2" y="T3"/>
              </a:cxn>
              <a:cxn ang="T10">
                <a:pos x="T4" y="T5"/>
              </a:cxn>
              <a:cxn ang="T11">
                <a:pos x="T6" y="T7"/>
              </a:cxn>
            </a:cxnLst>
            <a:rect l="T12" t="T13" r="T14" b="T15"/>
            <a:pathLst>
              <a:path w="321" h="585">
                <a:moveTo>
                  <a:pt x="0" y="0"/>
                </a:moveTo>
                <a:cubicBezTo>
                  <a:pt x="78" y="7"/>
                  <a:pt x="157" y="14"/>
                  <a:pt x="209" y="79"/>
                </a:cubicBezTo>
                <a:cubicBezTo>
                  <a:pt x="261" y="144"/>
                  <a:pt x="307" y="309"/>
                  <a:pt x="314" y="393"/>
                </a:cubicBezTo>
                <a:cubicBezTo>
                  <a:pt x="321" y="477"/>
                  <a:pt x="287" y="531"/>
                  <a:pt x="253" y="585"/>
                </a:cubicBezTo>
              </a:path>
            </a:pathLst>
          </a:custGeom>
          <a:noFill/>
          <a:ln w="28575">
            <a:solidFill>
              <a:schemeClr val="tx2"/>
            </a:solidFill>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lIns="107950" tIns="53975" rIns="107950" bIns="53975"/>
          <a:lstStyle/>
          <a:p>
            <a:endParaRPr lang="en-US" sz="2000">
              <a:latin typeface="+mj-lt"/>
            </a:endParaRPr>
          </a:p>
        </p:txBody>
      </p:sp>
      <p:sp>
        <p:nvSpPr>
          <p:cNvPr id="15395" name="Freeform 48"/>
          <p:cNvSpPr>
            <a:spLocks/>
          </p:cNvSpPr>
          <p:nvPr/>
        </p:nvSpPr>
        <p:spPr bwMode="auto">
          <a:xfrm rot="324232">
            <a:off x="2944813" y="2360612"/>
            <a:ext cx="509587" cy="679450"/>
          </a:xfrm>
          <a:custGeom>
            <a:avLst/>
            <a:gdLst>
              <a:gd name="T0" fmla="*/ 0 w 321"/>
              <a:gd name="T1" fmla="*/ 0 h 585"/>
              <a:gd name="T2" fmla="*/ 209 w 321"/>
              <a:gd name="T3" fmla="*/ 79 h 585"/>
              <a:gd name="T4" fmla="*/ 314 w 321"/>
              <a:gd name="T5" fmla="*/ 393 h 585"/>
              <a:gd name="T6" fmla="*/ 253 w 321"/>
              <a:gd name="T7" fmla="*/ 585 h 585"/>
              <a:gd name="T8" fmla="*/ 0 60000 65536"/>
              <a:gd name="T9" fmla="*/ 0 60000 65536"/>
              <a:gd name="T10" fmla="*/ 0 60000 65536"/>
              <a:gd name="T11" fmla="*/ 0 60000 65536"/>
              <a:gd name="T12" fmla="*/ 0 w 321"/>
              <a:gd name="T13" fmla="*/ 0 h 585"/>
              <a:gd name="T14" fmla="*/ 321 w 321"/>
              <a:gd name="T15" fmla="*/ 585 h 585"/>
            </a:gdLst>
            <a:ahLst/>
            <a:cxnLst>
              <a:cxn ang="T8">
                <a:pos x="T0" y="T1"/>
              </a:cxn>
              <a:cxn ang="T9">
                <a:pos x="T2" y="T3"/>
              </a:cxn>
              <a:cxn ang="T10">
                <a:pos x="T4" y="T5"/>
              </a:cxn>
              <a:cxn ang="T11">
                <a:pos x="T6" y="T7"/>
              </a:cxn>
            </a:cxnLst>
            <a:rect l="T12" t="T13" r="T14" b="T15"/>
            <a:pathLst>
              <a:path w="321" h="585">
                <a:moveTo>
                  <a:pt x="0" y="0"/>
                </a:moveTo>
                <a:cubicBezTo>
                  <a:pt x="78" y="7"/>
                  <a:pt x="157" y="14"/>
                  <a:pt x="209" y="79"/>
                </a:cubicBezTo>
                <a:cubicBezTo>
                  <a:pt x="261" y="144"/>
                  <a:pt x="307" y="309"/>
                  <a:pt x="314" y="393"/>
                </a:cubicBezTo>
                <a:cubicBezTo>
                  <a:pt x="321" y="477"/>
                  <a:pt x="287" y="531"/>
                  <a:pt x="253" y="585"/>
                </a:cubicBezTo>
              </a:path>
            </a:pathLst>
          </a:custGeom>
          <a:noFill/>
          <a:ln w="28575">
            <a:solidFill>
              <a:schemeClr val="tx2"/>
            </a:solidFill>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lIns="107950" tIns="53975" rIns="107950" bIns="53975"/>
          <a:lstStyle/>
          <a:p>
            <a:endParaRPr lang="en-US" sz="2000">
              <a:latin typeface="+mj-lt"/>
            </a:endParaRPr>
          </a:p>
        </p:txBody>
      </p:sp>
      <p:sp>
        <p:nvSpPr>
          <p:cNvPr id="15396" name="Freeform 49"/>
          <p:cNvSpPr>
            <a:spLocks/>
          </p:cNvSpPr>
          <p:nvPr/>
        </p:nvSpPr>
        <p:spPr bwMode="auto">
          <a:xfrm rot="324232">
            <a:off x="4064000" y="4697412"/>
            <a:ext cx="509588" cy="679450"/>
          </a:xfrm>
          <a:custGeom>
            <a:avLst/>
            <a:gdLst>
              <a:gd name="T0" fmla="*/ 0 w 321"/>
              <a:gd name="T1" fmla="*/ 0 h 585"/>
              <a:gd name="T2" fmla="*/ 209 w 321"/>
              <a:gd name="T3" fmla="*/ 79 h 585"/>
              <a:gd name="T4" fmla="*/ 314 w 321"/>
              <a:gd name="T5" fmla="*/ 393 h 585"/>
              <a:gd name="T6" fmla="*/ 253 w 321"/>
              <a:gd name="T7" fmla="*/ 585 h 585"/>
              <a:gd name="T8" fmla="*/ 0 60000 65536"/>
              <a:gd name="T9" fmla="*/ 0 60000 65536"/>
              <a:gd name="T10" fmla="*/ 0 60000 65536"/>
              <a:gd name="T11" fmla="*/ 0 60000 65536"/>
              <a:gd name="T12" fmla="*/ 0 w 321"/>
              <a:gd name="T13" fmla="*/ 0 h 585"/>
              <a:gd name="T14" fmla="*/ 321 w 321"/>
              <a:gd name="T15" fmla="*/ 585 h 585"/>
            </a:gdLst>
            <a:ahLst/>
            <a:cxnLst>
              <a:cxn ang="T8">
                <a:pos x="T0" y="T1"/>
              </a:cxn>
              <a:cxn ang="T9">
                <a:pos x="T2" y="T3"/>
              </a:cxn>
              <a:cxn ang="T10">
                <a:pos x="T4" y="T5"/>
              </a:cxn>
              <a:cxn ang="T11">
                <a:pos x="T6" y="T7"/>
              </a:cxn>
            </a:cxnLst>
            <a:rect l="T12" t="T13" r="T14" b="T15"/>
            <a:pathLst>
              <a:path w="321" h="585">
                <a:moveTo>
                  <a:pt x="0" y="0"/>
                </a:moveTo>
                <a:cubicBezTo>
                  <a:pt x="78" y="7"/>
                  <a:pt x="157" y="14"/>
                  <a:pt x="209" y="79"/>
                </a:cubicBezTo>
                <a:cubicBezTo>
                  <a:pt x="261" y="144"/>
                  <a:pt x="307" y="309"/>
                  <a:pt x="314" y="393"/>
                </a:cubicBezTo>
                <a:cubicBezTo>
                  <a:pt x="321" y="477"/>
                  <a:pt x="287" y="531"/>
                  <a:pt x="253" y="585"/>
                </a:cubicBezTo>
              </a:path>
            </a:pathLst>
          </a:custGeom>
          <a:noFill/>
          <a:ln w="28575">
            <a:solidFill>
              <a:schemeClr val="tx2"/>
            </a:solidFill>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lIns="107950" tIns="53975" rIns="107950" bIns="53975"/>
          <a:lstStyle/>
          <a:p>
            <a:endParaRPr lang="en-US" sz="2000">
              <a:latin typeface="+mj-lt"/>
            </a:endParaRPr>
          </a:p>
        </p:txBody>
      </p:sp>
      <p:sp>
        <p:nvSpPr>
          <p:cNvPr id="15397" name="Freeform 50"/>
          <p:cNvSpPr>
            <a:spLocks/>
          </p:cNvSpPr>
          <p:nvPr/>
        </p:nvSpPr>
        <p:spPr bwMode="auto">
          <a:xfrm>
            <a:off x="4486275" y="4940300"/>
            <a:ext cx="749300" cy="442912"/>
          </a:xfrm>
          <a:custGeom>
            <a:avLst/>
            <a:gdLst>
              <a:gd name="T0" fmla="*/ 0 w 472"/>
              <a:gd name="T1" fmla="*/ 0 h 279"/>
              <a:gd name="T2" fmla="*/ 332 w 472"/>
              <a:gd name="T3" fmla="*/ 79 h 279"/>
              <a:gd name="T4" fmla="*/ 472 w 472"/>
              <a:gd name="T5" fmla="*/ 279 h 279"/>
              <a:gd name="T6" fmla="*/ 0 60000 65536"/>
              <a:gd name="T7" fmla="*/ 0 60000 65536"/>
              <a:gd name="T8" fmla="*/ 0 60000 65536"/>
              <a:gd name="T9" fmla="*/ 0 w 472"/>
              <a:gd name="T10" fmla="*/ 0 h 279"/>
              <a:gd name="T11" fmla="*/ 472 w 472"/>
              <a:gd name="T12" fmla="*/ 279 h 279"/>
            </a:gdLst>
            <a:ahLst/>
            <a:cxnLst>
              <a:cxn ang="T6">
                <a:pos x="T0" y="T1"/>
              </a:cxn>
              <a:cxn ang="T7">
                <a:pos x="T2" y="T3"/>
              </a:cxn>
              <a:cxn ang="T8">
                <a:pos x="T4" y="T5"/>
              </a:cxn>
            </a:cxnLst>
            <a:rect l="T9" t="T10" r="T11" b="T12"/>
            <a:pathLst>
              <a:path w="472" h="279">
                <a:moveTo>
                  <a:pt x="0" y="0"/>
                </a:moveTo>
                <a:cubicBezTo>
                  <a:pt x="126" y="16"/>
                  <a:pt x="253" y="32"/>
                  <a:pt x="332" y="79"/>
                </a:cubicBezTo>
                <a:cubicBezTo>
                  <a:pt x="411" y="126"/>
                  <a:pt x="441" y="202"/>
                  <a:pt x="472" y="279"/>
                </a:cubicBezTo>
              </a:path>
            </a:pathLst>
          </a:custGeom>
          <a:noFill/>
          <a:ln w="28575">
            <a:solidFill>
              <a:schemeClr val="tx2"/>
            </a:solidFill>
            <a:round/>
            <a:headEnd/>
            <a:tailEnd type="arrow" w="med" len="med"/>
          </a:ln>
          <a:extLst>
            <a:ext uri="{909E8E84-426E-40DD-AFC4-6F175D3DCCD1}">
              <a14:hiddenFill xmlns:a14="http://schemas.microsoft.com/office/drawing/2010/main">
                <a:solidFill>
                  <a:srgbClr val="FFFFFF"/>
                </a:solidFill>
              </a14:hiddenFill>
            </a:ext>
          </a:extLst>
        </p:spPr>
        <p:txBody>
          <a:bodyPr lIns="107950" tIns="53975" rIns="107950" bIns="53975"/>
          <a:lstStyle/>
          <a:p>
            <a:endParaRPr lang="en-US" sz="2000">
              <a:latin typeface="+mj-lt"/>
            </a:endParaRPr>
          </a:p>
        </p:txBody>
      </p:sp>
      <p:sp>
        <p:nvSpPr>
          <p:cNvPr id="15398" name="Freeform 51"/>
          <p:cNvSpPr>
            <a:spLocks/>
          </p:cNvSpPr>
          <p:nvPr/>
        </p:nvSpPr>
        <p:spPr bwMode="auto">
          <a:xfrm>
            <a:off x="4843463" y="4984750"/>
            <a:ext cx="1649412" cy="407987"/>
          </a:xfrm>
          <a:custGeom>
            <a:avLst/>
            <a:gdLst>
              <a:gd name="T0" fmla="*/ 0 w 1039"/>
              <a:gd name="T1" fmla="*/ 21 h 257"/>
              <a:gd name="T2" fmla="*/ 698 w 1039"/>
              <a:gd name="T3" fmla="*/ 39 h 257"/>
              <a:gd name="T4" fmla="*/ 1039 w 1039"/>
              <a:gd name="T5" fmla="*/ 257 h 257"/>
              <a:gd name="T6" fmla="*/ 0 60000 65536"/>
              <a:gd name="T7" fmla="*/ 0 60000 65536"/>
              <a:gd name="T8" fmla="*/ 0 60000 65536"/>
              <a:gd name="T9" fmla="*/ 0 w 1039"/>
              <a:gd name="T10" fmla="*/ 0 h 257"/>
              <a:gd name="T11" fmla="*/ 1039 w 1039"/>
              <a:gd name="T12" fmla="*/ 257 h 257"/>
            </a:gdLst>
            <a:ahLst/>
            <a:cxnLst>
              <a:cxn ang="T6">
                <a:pos x="T0" y="T1"/>
              </a:cxn>
              <a:cxn ang="T7">
                <a:pos x="T2" y="T3"/>
              </a:cxn>
              <a:cxn ang="T8">
                <a:pos x="T4" y="T5"/>
              </a:cxn>
            </a:cxnLst>
            <a:rect l="T9" t="T10" r="T11" b="T12"/>
            <a:pathLst>
              <a:path w="1039" h="257">
                <a:moveTo>
                  <a:pt x="0" y="21"/>
                </a:moveTo>
                <a:cubicBezTo>
                  <a:pt x="262" y="10"/>
                  <a:pt x="525" y="0"/>
                  <a:pt x="698" y="39"/>
                </a:cubicBezTo>
                <a:cubicBezTo>
                  <a:pt x="871" y="78"/>
                  <a:pt x="979" y="218"/>
                  <a:pt x="1039" y="257"/>
                </a:cubicBezTo>
              </a:path>
            </a:pathLst>
          </a:custGeom>
          <a:noFill/>
          <a:ln w="28575">
            <a:solidFill>
              <a:schemeClr val="tx2"/>
            </a:solidFill>
            <a:round/>
            <a:headEnd/>
            <a:tailEnd type="arrow" w="med" len="med"/>
          </a:ln>
          <a:extLst>
            <a:ext uri="{909E8E84-426E-40DD-AFC4-6F175D3DCCD1}">
              <a14:hiddenFill xmlns:a14="http://schemas.microsoft.com/office/drawing/2010/main">
                <a:solidFill>
                  <a:srgbClr val="FFFFFF"/>
                </a:solidFill>
              </a14:hiddenFill>
            </a:ext>
          </a:extLst>
        </p:spPr>
        <p:txBody>
          <a:bodyPr lIns="107950" tIns="53975" rIns="107950" bIns="53975"/>
          <a:lstStyle/>
          <a:p>
            <a:endParaRPr lang="en-US" sz="2000">
              <a:latin typeface="+mj-lt"/>
            </a:endParaRPr>
          </a:p>
        </p:txBody>
      </p:sp>
      <p:sp>
        <p:nvSpPr>
          <p:cNvPr id="15399" name="Text Box 52"/>
          <p:cNvSpPr txBox="1">
            <a:spLocks noChangeArrowheads="1"/>
          </p:cNvSpPr>
          <p:nvPr/>
        </p:nvSpPr>
        <p:spPr bwMode="auto">
          <a:xfrm>
            <a:off x="5538788" y="4625975"/>
            <a:ext cx="19970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fr-FR" sz="2000">
                <a:latin typeface="+mj-lt"/>
              </a:rPr>
              <a:t>Traceability</a:t>
            </a:r>
          </a:p>
        </p:txBody>
      </p:sp>
      <p:sp>
        <p:nvSpPr>
          <p:cNvPr id="15400" name="Line 53"/>
          <p:cNvSpPr>
            <a:spLocks noChangeShapeType="1"/>
          </p:cNvSpPr>
          <p:nvPr/>
        </p:nvSpPr>
        <p:spPr bwMode="auto">
          <a:xfrm>
            <a:off x="4033838" y="5391150"/>
            <a:ext cx="487362" cy="788987"/>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lIns="107950" tIns="53975" rIns="107950" bIns="53975"/>
          <a:lstStyle/>
          <a:p>
            <a:endParaRPr lang="en-US" sz="2000">
              <a:latin typeface="+mj-lt"/>
            </a:endParaRPr>
          </a:p>
        </p:txBody>
      </p:sp>
      <p:sp>
        <p:nvSpPr>
          <p:cNvPr id="15401" name="Line 54"/>
          <p:cNvSpPr>
            <a:spLocks noChangeShapeType="1"/>
          </p:cNvSpPr>
          <p:nvPr/>
        </p:nvSpPr>
        <p:spPr bwMode="auto">
          <a:xfrm>
            <a:off x="5448300" y="5543550"/>
            <a:ext cx="468313" cy="808037"/>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lIns="107950" tIns="53975" rIns="107950" bIns="53975"/>
          <a:lstStyle/>
          <a:p>
            <a:endParaRPr lang="en-US" sz="2000">
              <a:latin typeface="+mj-lt"/>
            </a:endParaRPr>
          </a:p>
        </p:txBody>
      </p:sp>
      <p:sp>
        <p:nvSpPr>
          <p:cNvPr id="15402" name="Line 55"/>
          <p:cNvSpPr>
            <a:spLocks noChangeShapeType="1"/>
          </p:cNvSpPr>
          <p:nvPr/>
        </p:nvSpPr>
        <p:spPr bwMode="auto">
          <a:xfrm>
            <a:off x="7172325" y="5681662"/>
            <a:ext cx="487363" cy="788988"/>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lIns="107950" tIns="53975" rIns="107950" bIns="53975"/>
          <a:lstStyle/>
          <a:p>
            <a:endParaRPr lang="en-US" sz="2000">
              <a:latin typeface="+mj-lt"/>
            </a:endParaRPr>
          </a:p>
        </p:txBody>
      </p:sp>
      <p:grpSp>
        <p:nvGrpSpPr>
          <p:cNvPr id="15403" name="Group 56"/>
          <p:cNvGrpSpPr>
            <a:grpSpLocks/>
          </p:cNvGrpSpPr>
          <p:nvPr/>
        </p:nvGrpSpPr>
        <p:grpSpPr bwMode="auto">
          <a:xfrm>
            <a:off x="4241800" y="1160462"/>
            <a:ext cx="2298700" cy="1435100"/>
            <a:chOff x="2672" y="520"/>
            <a:chExt cx="1448" cy="904"/>
          </a:xfrm>
        </p:grpSpPr>
        <p:grpSp>
          <p:nvGrpSpPr>
            <p:cNvPr id="15404" name="Group 57"/>
            <p:cNvGrpSpPr>
              <a:grpSpLocks/>
            </p:cNvGrpSpPr>
            <p:nvPr/>
          </p:nvGrpSpPr>
          <p:grpSpPr bwMode="auto">
            <a:xfrm>
              <a:off x="2728" y="520"/>
              <a:ext cx="1392" cy="856"/>
              <a:chOff x="2848" y="512"/>
              <a:chExt cx="1392" cy="856"/>
            </a:xfrm>
          </p:grpSpPr>
          <p:sp>
            <p:nvSpPr>
              <p:cNvPr id="15418" name="Oval 58"/>
              <p:cNvSpPr>
                <a:spLocks noChangeArrowheads="1"/>
              </p:cNvSpPr>
              <p:nvPr/>
            </p:nvSpPr>
            <p:spPr bwMode="auto">
              <a:xfrm>
                <a:off x="3056" y="528"/>
                <a:ext cx="568" cy="392"/>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9" name="Oval 59"/>
              <p:cNvSpPr>
                <a:spLocks noChangeArrowheads="1"/>
              </p:cNvSpPr>
              <p:nvPr/>
            </p:nvSpPr>
            <p:spPr bwMode="auto">
              <a:xfrm>
                <a:off x="3472" y="800"/>
                <a:ext cx="504" cy="288"/>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0" name="Oval 60"/>
              <p:cNvSpPr>
                <a:spLocks noChangeArrowheads="1"/>
              </p:cNvSpPr>
              <p:nvPr/>
            </p:nvSpPr>
            <p:spPr bwMode="auto">
              <a:xfrm>
                <a:off x="3568" y="896"/>
                <a:ext cx="504" cy="288"/>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1" name="Oval 61"/>
              <p:cNvSpPr>
                <a:spLocks noChangeArrowheads="1"/>
              </p:cNvSpPr>
              <p:nvPr/>
            </p:nvSpPr>
            <p:spPr bwMode="auto">
              <a:xfrm>
                <a:off x="3416" y="992"/>
                <a:ext cx="504" cy="288"/>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2" name="Oval 62"/>
              <p:cNvSpPr>
                <a:spLocks noChangeArrowheads="1"/>
              </p:cNvSpPr>
              <p:nvPr/>
            </p:nvSpPr>
            <p:spPr bwMode="auto">
              <a:xfrm>
                <a:off x="3224" y="888"/>
                <a:ext cx="504" cy="288"/>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3" name="Oval 63"/>
              <p:cNvSpPr>
                <a:spLocks noChangeArrowheads="1"/>
              </p:cNvSpPr>
              <p:nvPr/>
            </p:nvSpPr>
            <p:spPr bwMode="auto">
              <a:xfrm>
                <a:off x="3208" y="1008"/>
                <a:ext cx="712" cy="360"/>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4" name="Oval 64"/>
              <p:cNvSpPr>
                <a:spLocks noChangeArrowheads="1"/>
              </p:cNvSpPr>
              <p:nvPr/>
            </p:nvSpPr>
            <p:spPr bwMode="auto">
              <a:xfrm>
                <a:off x="2904" y="824"/>
                <a:ext cx="688" cy="424"/>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5" name="Oval 65"/>
              <p:cNvSpPr>
                <a:spLocks noChangeArrowheads="1"/>
              </p:cNvSpPr>
              <p:nvPr/>
            </p:nvSpPr>
            <p:spPr bwMode="auto">
              <a:xfrm>
                <a:off x="2848" y="712"/>
                <a:ext cx="608" cy="368"/>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6" name="Oval 66"/>
              <p:cNvSpPr>
                <a:spLocks noChangeArrowheads="1"/>
              </p:cNvSpPr>
              <p:nvPr/>
            </p:nvSpPr>
            <p:spPr bwMode="auto">
              <a:xfrm>
                <a:off x="3344" y="512"/>
                <a:ext cx="544" cy="360"/>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7" name="Oval 67"/>
              <p:cNvSpPr>
                <a:spLocks noChangeArrowheads="1"/>
              </p:cNvSpPr>
              <p:nvPr/>
            </p:nvSpPr>
            <p:spPr bwMode="auto">
              <a:xfrm>
                <a:off x="3640" y="624"/>
                <a:ext cx="512" cy="328"/>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8" name="Oval 68"/>
              <p:cNvSpPr>
                <a:spLocks noChangeArrowheads="1"/>
              </p:cNvSpPr>
              <p:nvPr/>
            </p:nvSpPr>
            <p:spPr bwMode="auto">
              <a:xfrm>
                <a:off x="3736" y="816"/>
                <a:ext cx="504" cy="432"/>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29" name="Oval 69"/>
              <p:cNvSpPr>
                <a:spLocks noChangeArrowheads="1"/>
              </p:cNvSpPr>
              <p:nvPr/>
            </p:nvSpPr>
            <p:spPr bwMode="auto">
              <a:xfrm>
                <a:off x="3008" y="624"/>
                <a:ext cx="1088" cy="640"/>
              </a:xfrm>
              <a:prstGeom prst="ellipse">
                <a:avLst/>
              </a:prstGeom>
              <a:solidFill>
                <a:schemeClr val="folHlink"/>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30" name="Text Box 70"/>
              <p:cNvSpPr txBox="1">
                <a:spLocks noChangeArrowheads="1"/>
              </p:cNvSpPr>
              <p:nvPr/>
            </p:nvSpPr>
            <p:spPr bwMode="auto">
              <a:xfrm>
                <a:off x="3104" y="787"/>
                <a:ext cx="966" cy="252"/>
              </a:xfrm>
              <a:prstGeom prst="rect">
                <a:avLst/>
              </a:prstGeom>
              <a:solidFill>
                <a:schemeClr val="folHlink"/>
              </a:solidFill>
              <a:ln w="31750">
                <a:solidFill>
                  <a:schemeClr val="hlink"/>
                </a:solidFill>
                <a:miter lim="800000"/>
                <a:headEnd type="none" w="sm" len="sm"/>
                <a:tailEnd type="none" w="sm" len="sm"/>
              </a:ln>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b="1">
                    <a:solidFill>
                      <a:srgbClr val="000000"/>
                    </a:solidFill>
                    <a:latin typeface="+mj-lt"/>
                  </a:rPr>
                  <a:t>Problem</a:t>
                </a:r>
              </a:p>
            </p:txBody>
          </p:sp>
        </p:grpSp>
        <p:sp>
          <p:nvSpPr>
            <p:cNvPr id="15405" name="Oval 71"/>
            <p:cNvSpPr>
              <a:spLocks noChangeArrowheads="1"/>
            </p:cNvSpPr>
            <p:nvPr/>
          </p:nvSpPr>
          <p:spPr bwMode="auto">
            <a:xfrm>
              <a:off x="2880" y="584"/>
              <a:ext cx="568" cy="392"/>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06" name="Oval 72"/>
            <p:cNvSpPr>
              <a:spLocks noChangeArrowheads="1"/>
            </p:cNvSpPr>
            <p:nvPr/>
          </p:nvSpPr>
          <p:spPr bwMode="auto">
            <a:xfrm>
              <a:off x="3296" y="856"/>
              <a:ext cx="504" cy="288"/>
            </a:xfrm>
            <a:prstGeom prst="ellipse">
              <a:avLst/>
            </a:pr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7950" tIns="53975" rIns="107950" bIns="53975" anchor="ctr"/>
            <a:lstStyle/>
            <a:p>
              <a:endParaRPr lang="en-US" sz="2000">
                <a:solidFill>
                  <a:srgbClr val="000000"/>
                </a:solidFill>
                <a:latin typeface="+mj-lt"/>
              </a:endParaRPr>
            </a:p>
          </p:txBody>
        </p:sp>
        <p:sp>
          <p:nvSpPr>
            <p:cNvPr id="15407" name="Oval 73"/>
            <p:cNvSpPr>
              <a:spLocks noChangeArrowheads="1"/>
            </p:cNvSpPr>
            <p:nvPr/>
          </p:nvSpPr>
          <p:spPr bwMode="auto">
            <a:xfrm>
              <a:off x="3392" y="952"/>
              <a:ext cx="504" cy="288"/>
            </a:xfrm>
            <a:prstGeom prst="ellipse">
              <a:avLst/>
            </a:pr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7950" tIns="53975" rIns="107950" bIns="53975" anchor="ctr"/>
            <a:lstStyle/>
            <a:p>
              <a:endParaRPr lang="en-US" sz="2000">
                <a:solidFill>
                  <a:srgbClr val="000000"/>
                </a:solidFill>
                <a:latin typeface="+mj-lt"/>
              </a:endParaRPr>
            </a:p>
          </p:txBody>
        </p:sp>
        <p:sp>
          <p:nvSpPr>
            <p:cNvPr id="15408" name="Oval 74"/>
            <p:cNvSpPr>
              <a:spLocks noChangeArrowheads="1"/>
            </p:cNvSpPr>
            <p:nvPr/>
          </p:nvSpPr>
          <p:spPr bwMode="auto">
            <a:xfrm>
              <a:off x="3240" y="1048"/>
              <a:ext cx="504" cy="288"/>
            </a:xfrm>
            <a:prstGeom prst="ellipse">
              <a:avLst/>
            </a:pr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7950" tIns="53975" rIns="107950" bIns="53975" anchor="ctr"/>
            <a:lstStyle/>
            <a:p>
              <a:endParaRPr lang="en-US" sz="2000">
                <a:solidFill>
                  <a:srgbClr val="000000"/>
                </a:solidFill>
                <a:latin typeface="+mj-lt"/>
              </a:endParaRPr>
            </a:p>
          </p:txBody>
        </p:sp>
        <p:sp>
          <p:nvSpPr>
            <p:cNvPr id="15409" name="Oval 75"/>
            <p:cNvSpPr>
              <a:spLocks noChangeArrowheads="1"/>
            </p:cNvSpPr>
            <p:nvPr/>
          </p:nvSpPr>
          <p:spPr bwMode="auto">
            <a:xfrm>
              <a:off x="3048" y="944"/>
              <a:ext cx="504" cy="288"/>
            </a:xfrm>
            <a:prstGeom prst="ellipse">
              <a:avLst/>
            </a:pr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wrap="none" lIns="107950" tIns="53975" rIns="107950" bIns="53975" anchor="ctr"/>
            <a:lstStyle/>
            <a:p>
              <a:endParaRPr lang="en-US" sz="2000">
                <a:solidFill>
                  <a:srgbClr val="000000"/>
                </a:solidFill>
                <a:latin typeface="+mj-lt"/>
              </a:endParaRPr>
            </a:p>
          </p:txBody>
        </p:sp>
        <p:sp>
          <p:nvSpPr>
            <p:cNvPr id="15410" name="Oval 76"/>
            <p:cNvSpPr>
              <a:spLocks noChangeArrowheads="1"/>
            </p:cNvSpPr>
            <p:nvPr/>
          </p:nvSpPr>
          <p:spPr bwMode="auto">
            <a:xfrm>
              <a:off x="3032" y="1064"/>
              <a:ext cx="712" cy="360"/>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1" name="Oval 77"/>
            <p:cNvSpPr>
              <a:spLocks noChangeArrowheads="1"/>
            </p:cNvSpPr>
            <p:nvPr/>
          </p:nvSpPr>
          <p:spPr bwMode="auto">
            <a:xfrm>
              <a:off x="2728" y="880"/>
              <a:ext cx="688" cy="424"/>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2" name="Oval 78"/>
            <p:cNvSpPr>
              <a:spLocks noChangeArrowheads="1"/>
            </p:cNvSpPr>
            <p:nvPr/>
          </p:nvSpPr>
          <p:spPr bwMode="auto">
            <a:xfrm>
              <a:off x="2672" y="768"/>
              <a:ext cx="608" cy="368"/>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3" name="Oval 79"/>
            <p:cNvSpPr>
              <a:spLocks noChangeArrowheads="1"/>
            </p:cNvSpPr>
            <p:nvPr/>
          </p:nvSpPr>
          <p:spPr bwMode="auto">
            <a:xfrm>
              <a:off x="3168" y="568"/>
              <a:ext cx="544" cy="360"/>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4" name="Oval 80"/>
            <p:cNvSpPr>
              <a:spLocks noChangeArrowheads="1"/>
            </p:cNvSpPr>
            <p:nvPr/>
          </p:nvSpPr>
          <p:spPr bwMode="auto">
            <a:xfrm>
              <a:off x="3464" y="680"/>
              <a:ext cx="512" cy="328"/>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5" name="Oval 81"/>
            <p:cNvSpPr>
              <a:spLocks noChangeArrowheads="1"/>
            </p:cNvSpPr>
            <p:nvPr/>
          </p:nvSpPr>
          <p:spPr bwMode="auto">
            <a:xfrm>
              <a:off x="3560" y="872"/>
              <a:ext cx="504" cy="432"/>
            </a:xfrm>
            <a:prstGeom prst="ellipse">
              <a:avLst/>
            </a:prstGeom>
            <a:solidFill>
              <a:srgbClr val="FFCC66"/>
            </a:solidFill>
            <a:ln w="9525">
              <a:solidFill>
                <a:schemeClr val="hlink"/>
              </a:solidFill>
              <a:round/>
              <a:headEnd/>
              <a:tailEnd/>
            </a:ln>
          </p:spPr>
          <p:txBody>
            <a:bodyPr wrap="none" lIns="107950" tIns="53975" rIns="107950" bIns="53975" anchor="ctr"/>
            <a:lstStyle/>
            <a:p>
              <a:endParaRPr lang="en-US" sz="2000">
                <a:solidFill>
                  <a:srgbClr val="000000"/>
                </a:solidFill>
                <a:latin typeface="+mj-lt"/>
              </a:endParaRPr>
            </a:p>
          </p:txBody>
        </p:sp>
        <p:sp>
          <p:nvSpPr>
            <p:cNvPr id="15416" name="Oval 82"/>
            <p:cNvSpPr>
              <a:spLocks noChangeArrowheads="1"/>
            </p:cNvSpPr>
            <p:nvPr/>
          </p:nvSpPr>
          <p:spPr bwMode="auto">
            <a:xfrm>
              <a:off x="2832" y="680"/>
              <a:ext cx="1088" cy="640"/>
            </a:xfrm>
            <a:prstGeom prst="ellipse">
              <a:avLst/>
            </a:prstGeom>
            <a:gradFill rotWithShape="0">
              <a:gsLst>
                <a:gs pos="0">
                  <a:schemeClr val="accent1"/>
                </a:gs>
                <a:gs pos="100000">
                  <a:srgbClr val="FFCC66"/>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lIns="107950" tIns="53975" rIns="107950" bIns="53975" anchor="ctr"/>
            <a:lstStyle/>
            <a:p>
              <a:endParaRPr lang="en-US" sz="2000">
                <a:solidFill>
                  <a:srgbClr val="000000"/>
                </a:solidFill>
                <a:latin typeface="+mj-lt"/>
              </a:endParaRPr>
            </a:p>
          </p:txBody>
        </p:sp>
        <p:sp>
          <p:nvSpPr>
            <p:cNvPr id="15417" name="Text Box 83"/>
            <p:cNvSpPr txBox="1">
              <a:spLocks noChangeArrowheads="1"/>
            </p:cNvSpPr>
            <p:nvPr/>
          </p:nvSpPr>
          <p:spPr bwMode="auto">
            <a:xfrm>
              <a:off x="2928" y="843"/>
              <a:ext cx="96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fr-FR" sz="2000" b="1">
                  <a:solidFill>
                    <a:srgbClr val="000000"/>
                  </a:solidFill>
                  <a:latin typeface="+mj-lt"/>
                </a:rPr>
                <a:t>Problem</a:t>
              </a:r>
            </a:p>
          </p:txBody>
        </p:sp>
      </p:grpSp>
      <p:sp>
        <p:nvSpPr>
          <p:cNvPr id="2" name="Slide Number Placeholder 1"/>
          <p:cNvSpPr>
            <a:spLocks noGrp="1"/>
          </p:cNvSpPr>
          <p:nvPr>
            <p:ph type="sldNum" sz="quarter" idx="12"/>
          </p:nvPr>
        </p:nvSpPr>
        <p:spPr/>
        <p:txBody>
          <a:bodyPr/>
          <a:lstStyle/>
          <a:p>
            <a:fld id="{27392B6C-813E-42DE-A59C-034281A964AB}" type="slidenum">
              <a:rPr lang="en-US" smtClean="0"/>
              <a:pPr/>
              <a:t>2</a:t>
            </a:fld>
            <a:endParaRPr lang="en-US"/>
          </a:p>
        </p:txBody>
      </p:sp>
    </p:spTree>
    <p:extLst>
      <p:ext uri="{BB962C8B-B14F-4D97-AF65-F5344CB8AC3E}">
        <p14:creationId xmlns:p14="http://schemas.microsoft.com/office/powerpoint/2010/main" val="8939234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326673"/>
                                        </p:tgtEl>
                                        <p:attrNameLst>
                                          <p:attrName>style.visibility</p:attrName>
                                        </p:attrNameLst>
                                      </p:cBhvr>
                                      <p:to>
                                        <p:strVal val="visible"/>
                                      </p:to>
                                    </p:set>
                                  </p:childTnLst>
                                </p:cTn>
                              </p:par>
                            </p:childTnLst>
                          </p:cTn>
                        </p:par>
                        <p:par>
                          <p:cTn id="7" fill="hold" nodeType="afterGroup">
                            <p:stCondLst>
                              <p:cond delay="1500"/>
                            </p:stCondLst>
                            <p:childTnLst>
                              <p:par>
                                <p:cTn id="8" presetID="1" presetClass="entr" presetSubtype="0" fill="hold" grpId="0" nodeType="afterEffect">
                                  <p:stCondLst>
                                    <p:cond delay="1000"/>
                                  </p:stCondLst>
                                  <p:childTnLst>
                                    <p:set>
                                      <p:cBhvr>
                                        <p:cTn id="9" dur="1" fill="hold">
                                          <p:stCondLst>
                                            <p:cond delay="499"/>
                                          </p:stCondLst>
                                        </p:cTn>
                                        <p:tgtEl>
                                          <p:spTgt spid="326675"/>
                                        </p:tgtEl>
                                        <p:attrNameLst>
                                          <p:attrName>style.visibility</p:attrName>
                                        </p:attrNameLst>
                                      </p:cBhvr>
                                      <p:to>
                                        <p:strVal val="visible"/>
                                      </p:to>
                                    </p:set>
                                  </p:childTnLst>
                                </p:cTn>
                              </p:par>
                            </p:childTnLst>
                          </p:cTn>
                        </p:par>
                        <p:par>
                          <p:cTn id="10" fill="hold" nodeType="afterGroup">
                            <p:stCondLst>
                              <p:cond delay="3000"/>
                            </p:stCondLst>
                            <p:childTnLst>
                              <p:par>
                                <p:cTn id="11" presetID="1" presetClass="entr" presetSubtype="0" fill="hold" grpId="0" nodeType="afterEffect">
                                  <p:stCondLst>
                                    <p:cond delay="1000"/>
                                  </p:stCondLst>
                                  <p:childTnLst>
                                    <p:set>
                                      <p:cBhvr>
                                        <p:cTn id="12" dur="1" fill="hold">
                                          <p:stCondLst>
                                            <p:cond delay="499"/>
                                          </p:stCondLst>
                                        </p:cTn>
                                        <p:tgtEl>
                                          <p:spTgt spid="326700"/>
                                        </p:tgtEl>
                                        <p:attrNameLst>
                                          <p:attrName>style.visibility</p:attrName>
                                        </p:attrNameLst>
                                      </p:cBhvr>
                                      <p:to>
                                        <p:strVal val="visible"/>
                                      </p:to>
                                    </p:set>
                                  </p:childTnLst>
                                </p:cTn>
                              </p:par>
                            </p:childTnLst>
                          </p:cTn>
                        </p:par>
                        <p:par>
                          <p:cTn id="13" fill="hold" nodeType="afterGroup">
                            <p:stCondLst>
                              <p:cond delay="4500"/>
                            </p:stCondLst>
                            <p:childTnLst>
                              <p:par>
                                <p:cTn id="14" presetID="1" presetClass="entr" presetSubtype="0" fill="hold" grpId="0" nodeType="afterEffect">
                                  <p:stCondLst>
                                    <p:cond delay="1000"/>
                                  </p:stCondLst>
                                  <p:childTnLst>
                                    <p:set>
                                      <p:cBhvr>
                                        <p:cTn id="15" dur="1" fill="hold">
                                          <p:stCondLst>
                                            <p:cond delay="499"/>
                                          </p:stCondLst>
                                        </p:cTn>
                                        <p:tgtEl>
                                          <p:spTgt spid="326701"/>
                                        </p:tgtEl>
                                        <p:attrNameLst>
                                          <p:attrName>style.visibility</p:attrName>
                                        </p:attrNameLst>
                                      </p:cBhvr>
                                      <p:to>
                                        <p:strVal val="visible"/>
                                      </p:to>
                                    </p:set>
                                  </p:childTnLst>
                                </p:cTn>
                              </p:par>
                            </p:childTnLst>
                          </p:cTn>
                        </p:par>
                        <p:par>
                          <p:cTn id="16" fill="hold" nodeType="afterGroup">
                            <p:stCondLst>
                              <p:cond delay="6000"/>
                            </p:stCondLst>
                            <p:childTnLst>
                              <p:par>
                                <p:cTn id="17" presetID="1" presetClass="entr" presetSubtype="0" fill="hold" grpId="0" nodeType="afterEffect">
                                  <p:stCondLst>
                                    <p:cond delay="1000"/>
                                  </p:stCondLst>
                                  <p:childTnLst>
                                    <p:set>
                                      <p:cBhvr>
                                        <p:cTn id="18" dur="1" fill="hold">
                                          <p:stCondLst>
                                            <p:cond delay="499"/>
                                          </p:stCondLst>
                                        </p:cTn>
                                        <p:tgtEl>
                                          <p:spTgt spid="326702"/>
                                        </p:tgtEl>
                                        <p:attrNameLst>
                                          <p:attrName>style.visibility</p:attrName>
                                        </p:attrNameLst>
                                      </p:cBhvr>
                                      <p:to>
                                        <p:strVal val="visible"/>
                                      </p:to>
                                    </p:set>
                                  </p:childTnLst>
                                </p:cTn>
                              </p:par>
                            </p:childTnLst>
                          </p:cTn>
                        </p:par>
                        <p:par>
                          <p:cTn id="19" fill="hold" nodeType="afterGroup">
                            <p:stCondLst>
                              <p:cond delay="7500"/>
                            </p:stCondLst>
                            <p:childTnLst>
                              <p:par>
                                <p:cTn id="20" presetID="2" presetClass="entr" presetSubtype="1" fill="hold" grpId="0" nodeType="afterEffect">
                                  <p:stCondLst>
                                    <p:cond delay="1000"/>
                                  </p:stCondLst>
                                  <p:childTnLst>
                                    <p:set>
                                      <p:cBhvr>
                                        <p:cTn id="21" dur="1" fill="hold">
                                          <p:stCondLst>
                                            <p:cond delay="0"/>
                                          </p:stCondLst>
                                        </p:cTn>
                                        <p:tgtEl>
                                          <p:spTgt spid="326661"/>
                                        </p:tgtEl>
                                        <p:attrNameLst>
                                          <p:attrName>style.visibility</p:attrName>
                                        </p:attrNameLst>
                                      </p:cBhvr>
                                      <p:to>
                                        <p:strVal val="visible"/>
                                      </p:to>
                                    </p:set>
                                    <p:anim calcmode="lin" valueType="num">
                                      <p:cBhvr additive="base">
                                        <p:cTn id="22" dur="500" fill="hold"/>
                                        <p:tgtEl>
                                          <p:spTgt spid="326661"/>
                                        </p:tgtEl>
                                        <p:attrNameLst>
                                          <p:attrName>ppt_x</p:attrName>
                                        </p:attrNameLst>
                                      </p:cBhvr>
                                      <p:tavLst>
                                        <p:tav tm="0">
                                          <p:val>
                                            <p:strVal val="#ppt_x"/>
                                          </p:val>
                                        </p:tav>
                                        <p:tav tm="100000">
                                          <p:val>
                                            <p:strVal val="#ppt_x"/>
                                          </p:val>
                                        </p:tav>
                                      </p:tavLst>
                                    </p:anim>
                                    <p:anim calcmode="lin" valueType="num">
                                      <p:cBhvr additive="base">
                                        <p:cTn id="23" dur="500" fill="hold"/>
                                        <p:tgtEl>
                                          <p:spTgt spid="326661"/>
                                        </p:tgtEl>
                                        <p:attrNameLst>
                                          <p:attrName>ppt_y</p:attrName>
                                        </p:attrNameLst>
                                      </p:cBhvr>
                                      <p:tavLst>
                                        <p:tav tm="0">
                                          <p:val>
                                            <p:strVal val="0-#ppt_h/2"/>
                                          </p:val>
                                        </p:tav>
                                        <p:tav tm="100000">
                                          <p:val>
                                            <p:strVal val="#ppt_y"/>
                                          </p:val>
                                        </p:tav>
                                      </p:tavLst>
                                    </p:anim>
                                  </p:childTnLst>
                                </p:cTn>
                              </p:par>
                            </p:childTnLst>
                          </p:cTn>
                        </p:par>
                        <p:par>
                          <p:cTn id="24" fill="hold" nodeType="afterGroup">
                            <p:stCondLst>
                              <p:cond delay="9000"/>
                            </p:stCondLst>
                            <p:childTnLst>
                              <p:par>
                                <p:cTn id="25" presetID="2" presetClass="entr" presetSubtype="8" fill="hold" grpId="0" nodeType="afterEffect">
                                  <p:stCondLst>
                                    <p:cond delay="1000"/>
                                  </p:stCondLst>
                                  <p:childTnLst>
                                    <p:set>
                                      <p:cBhvr>
                                        <p:cTn id="26" dur="1" fill="hold">
                                          <p:stCondLst>
                                            <p:cond delay="0"/>
                                          </p:stCondLst>
                                        </p:cTn>
                                        <p:tgtEl>
                                          <p:spTgt spid="326664"/>
                                        </p:tgtEl>
                                        <p:attrNameLst>
                                          <p:attrName>style.visibility</p:attrName>
                                        </p:attrNameLst>
                                      </p:cBhvr>
                                      <p:to>
                                        <p:strVal val="visible"/>
                                      </p:to>
                                    </p:set>
                                    <p:anim calcmode="lin" valueType="num">
                                      <p:cBhvr additive="base">
                                        <p:cTn id="27" dur="500" fill="hold"/>
                                        <p:tgtEl>
                                          <p:spTgt spid="326664"/>
                                        </p:tgtEl>
                                        <p:attrNameLst>
                                          <p:attrName>ppt_x</p:attrName>
                                        </p:attrNameLst>
                                      </p:cBhvr>
                                      <p:tavLst>
                                        <p:tav tm="0">
                                          <p:val>
                                            <p:strVal val="0-#ppt_w/2"/>
                                          </p:val>
                                        </p:tav>
                                        <p:tav tm="100000">
                                          <p:val>
                                            <p:strVal val="#ppt_x"/>
                                          </p:val>
                                        </p:tav>
                                      </p:tavLst>
                                    </p:anim>
                                    <p:anim calcmode="lin" valueType="num">
                                      <p:cBhvr additive="base">
                                        <p:cTn id="28" dur="500" fill="hold"/>
                                        <p:tgtEl>
                                          <p:spTgt spid="326664"/>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10500"/>
                            </p:stCondLst>
                            <p:childTnLst>
                              <p:par>
                                <p:cTn id="30" presetID="2" presetClass="entr" presetSubtype="8" fill="hold" grpId="0" nodeType="afterEffect">
                                  <p:stCondLst>
                                    <p:cond delay="1000"/>
                                  </p:stCondLst>
                                  <p:childTnLst>
                                    <p:set>
                                      <p:cBhvr>
                                        <p:cTn id="31" dur="1" fill="hold">
                                          <p:stCondLst>
                                            <p:cond delay="0"/>
                                          </p:stCondLst>
                                        </p:cTn>
                                        <p:tgtEl>
                                          <p:spTgt spid="326665"/>
                                        </p:tgtEl>
                                        <p:attrNameLst>
                                          <p:attrName>style.visibility</p:attrName>
                                        </p:attrNameLst>
                                      </p:cBhvr>
                                      <p:to>
                                        <p:strVal val="visible"/>
                                      </p:to>
                                    </p:set>
                                    <p:anim calcmode="lin" valueType="num">
                                      <p:cBhvr additive="base">
                                        <p:cTn id="32" dur="500" fill="hold"/>
                                        <p:tgtEl>
                                          <p:spTgt spid="326665"/>
                                        </p:tgtEl>
                                        <p:attrNameLst>
                                          <p:attrName>ppt_x</p:attrName>
                                        </p:attrNameLst>
                                      </p:cBhvr>
                                      <p:tavLst>
                                        <p:tav tm="0">
                                          <p:val>
                                            <p:strVal val="0-#ppt_w/2"/>
                                          </p:val>
                                        </p:tav>
                                        <p:tav tm="100000">
                                          <p:val>
                                            <p:strVal val="#ppt_x"/>
                                          </p:val>
                                        </p:tav>
                                      </p:tavLst>
                                    </p:anim>
                                    <p:anim calcmode="lin" valueType="num">
                                      <p:cBhvr additive="base">
                                        <p:cTn id="33" dur="500" fill="hold"/>
                                        <p:tgtEl>
                                          <p:spTgt spid="326665"/>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326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61" grpId="0" animBg="1"/>
      <p:bldP spid="326664" grpId="0" autoUpdateAnimBg="0"/>
      <p:bldP spid="326665" grpId="0" autoUpdateAnimBg="0"/>
      <p:bldP spid="326673" grpId="0" animBg="1"/>
      <p:bldP spid="326675" grpId="0" animBg="1"/>
      <p:bldP spid="326677" grpId="0" animBg="1"/>
      <p:bldP spid="326700" grpId="0" animBg="1"/>
      <p:bldP spid="326701" grpId="0" animBg="1"/>
      <p:bldP spid="32670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pPr eaLnBrk="1" hangingPunct="1">
              <a:defRPr/>
            </a:pPr>
            <a:r>
              <a:rPr lang="en-US" sz="2800" dirty="0"/>
              <a:t>Definitions</a:t>
            </a:r>
          </a:p>
        </p:txBody>
      </p:sp>
      <p:sp>
        <p:nvSpPr>
          <p:cNvPr id="16390" name="Rectangle 3"/>
          <p:cNvSpPr>
            <a:spLocks noGrp="1" noChangeArrowheads="1"/>
          </p:cNvSpPr>
          <p:nvPr>
            <p:ph type="body" idx="1"/>
          </p:nvPr>
        </p:nvSpPr>
        <p:spPr/>
        <p:txBody>
          <a:bodyPr/>
          <a:lstStyle/>
          <a:p>
            <a:pPr marL="339725" indent="-339725" eaLnBrk="1" hangingPunct="1"/>
            <a:r>
              <a:rPr lang="en-US" sz="2000" dirty="0"/>
              <a:t>Requirement</a:t>
            </a:r>
          </a:p>
          <a:p>
            <a:pPr marL="682625" lvl="1" indent="-228600" eaLnBrk="1" hangingPunct="1"/>
            <a:r>
              <a:rPr lang="en-US" sz="2000" dirty="0"/>
              <a:t>A condition or capability to which the system must conform.</a:t>
            </a:r>
          </a:p>
          <a:p>
            <a:pPr marL="339725" indent="-339725" eaLnBrk="1" hangingPunct="1"/>
            <a:r>
              <a:rPr lang="en-US" sz="2000" dirty="0"/>
              <a:t>Requirements management</a:t>
            </a:r>
          </a:p>
          <a:p>
            <a:pPr marL="682625" lvl="1" indent="-228600" eaLnBrk="1" hangingPunct="1"/>
            <a:r>
              <a:rPr lang="en-US" sz="2000" dirty="0"/>
              <a:t>A systematic approach to:</a:t>
            </a:r>
          </a:p>
          <a:p>
            <a:pPr marL="1025525" lvl="2" eaLnBrk="1" hangingPunct="1"/>
            <a:r>
              <a:rPr lang="en-US" dirty="0"/>
              <a:t>Eliciting, organizing, and documenting requirements. </a:t>
            </a:r>
          </a:p>
          <a:p>
            <a:pPr marL="1025525" lvl="2" eaLnBrk="1" hangingPunct="1"/>
            <a:r>
              <a:rPr lang="en-US" dirty="0"/>
              <a:t>Establishing and maintaining agreement between customer/user and the project team on the changing requirements. </a:t>
            </a:r>
          </a:p>
        </p:txBody>
      </p:sp>
      <p:sp>
        <p:nvSpPr>
          <p:cNvPr id="2" name="Slide Number Placeholder 1"/>
          <p:cNvSpPr>
            <a:spLocks noGrp="1"/>
          </p:cNvSpPr>
          <p:nvPr>
            <p:ph type="sldNum" sz="quarter" idx="12"/>
          </p:nvPr>
        </p:nvSpPr>
        <p:spPr/>
        <p:txBody>
          <a:bodyPr/>
          <a:lstStyle/>
          <a:p>
            <a:fld id="{DED05017-923D-480E-B02E-B52739184DCA}" type="slidenum">
              <a:rPr lang="en-US" smtClean="0"/>
              <a:pPr/>
              <a:t>3</a:t>
            </a:fld>
            <a:endParaRPr lang="en-US"/>
          </a:p>
        </p:txBody>
      </p:sp>
    </p:spTree>
    <p:extLst>
      <p:ext uri="{BB962C8B-B14F-4D97-AF65-F5344CB8AC3E}">
        <p14:creationId xmlns:p14="http://schemas.microsoft.com/office/powerpoint/2010/main" val="423732478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1187450" y="133350"/>
            <a:ext cx="7888288" cy="533400"/>
          </a:xfrm>
        </p:spPr>
        <p:txBody>
          <a:bodyPr lIns="92075" tIns="46038" rIns="92075" bIns="46038"/>
          <a:lstStyle/>
          <a:p>
            <a:pPr eaLnBrk="1" hangingPunct="1">
              <a:lnSpc>
                <a:spcPts val="3400"/>
              </a:lnSpc>
              <a:defRPr/>
            </a:pPr>
            <a:r>
              <a:rPr lang="en-US" sz="2800" dirty="0"/>
              <a:t>What Do Software Requirements Specify?</a:t>
            </a:r>
            <a:endParaRPr lang="en-US" sz="2800" b="0" dirty="0"/>
          </a:p>
        </p:txBody>
      </p:sp>
      <p:sp>
        <p:nvSpPr>
          <p:cNvPr id="17414" name="Line 3"/>
          <p:cNvSpPr>
            <a:spLocks noChangeShapeType="1"/>
          </p:cNvSpPr>
          <p:nvPr/>
        </p:nvSpPr>
        <p:spPr bwMode="auto">
          <a:xfrm flipV="1">
            <a:off x="1524000" y="2827338"/>
            <a:ext cx="1143000" cy="35560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sz="2000"/>
          </a:p>
        </p:txBody>
      </p:sp>
      <p:sp>
        <p:nvSpPr>
          <p:cNvPr id="17415" name="Line 4"/>
          <p:cNvSpPr>
            <a:spLocks noChangeShapeType="1"/>
          </p:cNvSpPr>
          <p:nvPr/>
        </p:nvSpPr>
        <p:spPr bwMode="auto">
          <a:xfrm flipV="1">
            <a:off x="1552575" y="2471738"/>
            <a:ext cx="1219200" cy="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sz="2000"/>
          </a:p>
        </p:txBody>
      </p:sp>
      <p:sp>
        <p:nvSpPr>
          <p:cNvPr id="17416" name="Line 5"/>
          <p:cNvSpPr>
            <a:spLocks noChangeShapeType="1"/>
          </p:cNvSpPr>
          <p:nvPr/>
        </p:nvSpPr>
        <p:spPr bwMode="auto">
          <a:xfrm>
            <a:off x="1557338" y="1633538"/>
            <a:ext cx="1143000" cy="58420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sz="2000"/>
          </a:p>
        </p:txBody>
      </p:sp>
      <p:sp>
        <p:nvSpPr>
          <p:cNvPr id="17417" name="AutoShape 6"/>
          <p:cNvSpPr>
            <a:spLocks noChangeArrowheads="1"/>
          </p:cNvSpPr>
          <p:nvPr/>
        </p:nvSpPr>
        <p:spPr bwMode="auto">
          <a:xfrm>
            <a:off x="5557838" y="2397125"/>
            <a:ext cx="1423987" cy="273050"/>
          </a:xfrm>
          <a:prstGeom prst="rightArrow">
            <a:avLst>
              <a:gd name="adj1" fmla="val 47204"/>
              <a:gd name="adj2" fmla="val 193297"/>
            </a:avLst>
          </a:prstGeom>
          <a:solidFill>
            <a:schemeClr val="accent1"/>
          </a:solidFill>
          <a:ln w="50800">
            <a:solidFill>
              <a:schemeClr val="accent1"/>
            </a:solidFill>
            <a:miter lim="800000"/>
            <a:headEnd/>
            <a:tailEnd/>
          </a:ln>
        </p:spPr>
        <p:txBody>
          <a:bodyPr wrap="none" anchor="ctr"/>
          <a:lstStyle/>
          <a:p>
            <a:endParaRPr lang="en-US" sz="2000"/>
          </a:p>
        </p:txBody>
      </p:sp>
      <p:sp>
        <p:nvSpPr>
          <p:cNvPr id="17418" name="Rectangle 7"/>
          <p:cNvSpPr>
            <a:spLocks noChangeArrowheads="1"/>
          </p:cNvSpPr>
          <p:nvPr/>
        </p:nvSpPr>
        <p:spPr bwMode="auto">
          <a:xfrm>
            <a:off x="249238" y="2154238"/>
            <a:ext cx="88325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2000">
                <a:solidFill>
                  <a:schemeClr val="tx1"/>
                </a:solidFill>
              </a:rPr>
              <a:t>Inputs</a:t>
            </a:r>
          </a:p>
        </p:txBody>
      </p:sp>
      <p:sp>
        <p:nvSpPr>
          <p:cNvPr id="17419" name="Rectangle 8"/>
          <p:cNvSpPr>
            <a:spLocks noChangeArrowheads="1"/>
          </p:cNvSpPr>
          <p:nvPr/>
        </p:nvSpPr>
        <p:spPr bwMode="auto">
          <a:xfrm>
            <a:off x="7170738" y="2243138"/>
            <a:ext cx="108202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2000">
                <a:solidFill>
                  <a:schemeClr val="tx1"/>
                </a:solidFill>
              </a:rPr>
              <a:t>Outputs</a:t>
            </a:r>
          </a:p>
        </p:txBody>
      </p:sp>
      <p:sp>
        <p:nvSpPr>
          <p:cNvPr id="17420" name="Rectangle 9"/>
          <p:cNvSpPr>
            <a:spLocks noChangeArrowheads="1"/>
          </p:cNvSpPr>
          <p:nvPr/>
        </p:nvSpPr>
        <p:spPr bwMode="auto">
          <a:xfrm>
            <a:off x="752475" y="3871913"/>
            <a:ext cx="1298432"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2000">
                <a:solidFill>
                  <a:schemeClr val="tx1"/>
                </a:solidFill>
              </a:rPr>
              <a:t>Functions</a:t>
            </a:r>
          </a:p>
        </p:txBody>
      </p:sp>
      <p:sp>
        <p:nvSpPr>
          <p:cNvPr id="17421" name="Rectangle 10"/>
          <p:cNvSpPr>
            <a:spLocks noChangeArrowheads="1"/>
          </p:cNvSpPr>
          <p:nvPr/>
        </p:nvSpPr>
        <p:spPr bwMode="auto">
          <a:xfrm>
            <a:off x="2913063" y="4384675"/>
            <a:ext cx="2348400" cy="101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2000">
                <a:solidFill>
                  <a:schemeClr val="tx1"/>
                </a:solidFill>
              </a:rPr>
              <a:t>Non-Functional </a:t>
            </a:r>
            <a:br>
              <a:rPr lang="en-US" sz="2000">
                <a:solidFill>
                  <a:schemeClr val="tx1"/>
                </a:solidFill>
              </a:rPr>
            </a:br>
            <a:r>
              <a:rPr lang="en-US" sz="2000">
                <a:solidFill>
                  <a:schemeClr val="tx1"/>
                </a:solidFill>
              </a:rPr>
              <a:t>Requirements</a:t>
            </a:r>
          </a:p>
          <a:p>
            <a:pPr eaLnBrk="0" hangingPunct="0"/>
            <a:r>
              <a:rPr lang="en-US" sz="2000">
                <a:solidFill>
                  <a:schemeClr val="tx1"/>
                </a:solidFill>
              </a:rPr>
              <a:t>(E.g. Performance)</a:t>
            </a:r>
          </a:p>
        </p:txBody>
      </p:sp>
      <p:sp>
        <p:nvSpPr>
          <p:cNvPr id="17422" name="Arc 11"/>
          <p:cNvSpPr>
            <a:spLocks/>
          </p:cNvSpPr>
          <p:nvPr/>
        </p:nvSpPr>
        <p:spPr bwMode="auto">
          <a:xfrm>
            <a:off x="3922713" y="3227388"/>
            <a:ext cx="1343025" cy="1108075"/>
          </a:xfrm>
          <a:custGeom>
            <a:avLst/>
            <a:gdLst>
              <a:gd name="T0" fmla="*/ 1343025 w 22164"/>
              <a:gd name="T1" fmla="*/ 1107716 h 21600"/>
              <a:gd name="T2" fmla="*/ 0 w 22164"/>
              <a:gd name="T3" fmla="*/ 0 h 21600"/>
              <a:gd name="T4" fmla="*/ 1308849 w 22164"/>
              <a:gd name="T5" fmla="*/ 0 h 21600"/>
              <a:gd name="T6" fmla="*/ 0 60000 65536"/>
              <a:gd name="T7" fmla="*/ 0 60000 65536"/>
              <a:gd name="T8" fmla="*/ 0 60000 65536"/>
              <a:gd name="T9" fmla="*/ 0 w 22164"/>
              <a:gd name="T10" fmla="*/ 0 h 21600"/>
              <a:gd name="T11" fmla="*/ 22164 w 22164"/>
              <a:gd name="T12" fmla="*/ 21600 h 21600"/>
            </a:gdLst>
            <a:ahLst/>
            <a:cxnLst>
              <a:cxn ang="T6">
                <a:pos x="T0" y="T1"/>
              </a:cxn>
              <a:cxn ang="T7">
                <a:pos x="T2" y="T3"/>
              </a:cxn>
              <a:cxn ang="T8">
                <a:pos x="T4" y="T5"/>
              </a:cxn>
            </a:cxnLst>
            <a:rect l="T9" t="T10" r="T11" b="T12"/>
            <a:pathLst>
              <a:path w="22164" h="21600" fill="none" extrusionOk="0">
                <a:moveTo>
                  <a:pt x="22163" y="21592"/>
                </a:moveTo>
                <a:cubicBezTo>
                  <a:pt x="21976" y="21597"/>
                  <a:pt x="21788" y="21599"/>
                  <a:pt x="21600" y="21600"/>
                </a:cubicBezTo>
                <a:cubicBezTo>
                  <a:pt x="9670" y="21600"/>
                  <a:pt x="0" y="11929"/>
                  <a:pt x="0" y="0"/>
                </a:cubicBezTo>
              </a:path>
              <a:path w="22164" h="21600" stroke="0" extrusionOk="0">
                <a:moveTo>
                  <a:pt x="22163" y="21592"/>
                </a:moveTo>
                <a:cubicBezTo>
                  <a:pt x="21976" y="21597"/>
                  <a:pt x="21788" y="21599"/>
                  <a:pt x="21600" y="21600"/>
                </a:cubicBezTo>
                <a:cubicBezTo>
                  <a:pt x="9670" y="21600"/>
                  <a:pt x="0" y="11929"/>
                  <a:pt x="0" y="0"/>
                </a:cubicBezTo>
                <a:lnTo>
                  <a:pt x="21600" y="0"/>
                </a:lnTo>
                <a:close/>
              </a:path>
            </a:pathLst>
          </a:custGeom>
          <a:noFill/>
          <a:ln w="50800" cap="rnd">
            <a:solidFill>
              <a:srgbClr val="FAF8CC"/>
            </a:solidFill>
            <a:prstDash val="sysDot"/>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000"/>
          </a:p>
        </p:txBody>
      </p:sp>
      <p:sp>
        <p:nvSpPr>
          <p:cNvPr id="17423" name="Rectangle 12"/>
          <p:cNvSpPr>
            <a:spLocks noChangeArrowheads="1"/>
          </p:cNvSpPr>
          <p:nvPr/>
        </p:nvSpPr>
        <p:spPr bwMode="auto">
          <a:xfrm>
            <a:off x="5810250" y="3667125"/>
            <a:ext cx="235320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2000">
                <a:solidFill>
                  <a:schemeClr val="tx1"/>
                </a:solidFill>
              </a:rPr>
              <a:t>Design Constraints</a:t>
            </a:r>
          </a:p>
        </p:txBody>
      </p:sp>
      <p:grpSp>
        <p:nvGrpSpPr>
          <p:cNvPr id="17424" name="Group 13"/>
          <p:cNvGrpSpPr>
            <a:grpSpLocks/>
          </p:cNvGrpSpPr>
          <p:nvPr/>
        </p:nvGrpSpPr>
        <p:grpSpPr bwMode="auto">
          <a:xfrm>
            <a:off x="5686425" y="4124325"/>
            <a:ext cx="3009900" cy="1608138"/>
            <a:chOff x="3477" y="2752"/>
            <a:chExt cx="1896" cy="1013"/>
          </a:xfrm>
        </p:grpSpPr>
        <p:sp>
          <p:nvSpPr>
            <p:cNvPr id="17430" name="Rectangle 14"/>
            <p:cNvSpPr>
              <a:spLocks noChangeArrowheads="1"/>
            </p:cNvSpPr>
            <p:nvPr/>
          </p:nvSpPr>
          <p:spPr bwMode="auto">
            <a:xfrm>
              <a:off x="5110" y="3295"/>
              <a:ext cx="17" cy="187"/>
            </a:xfrm>
            <a:prstGeom prst="rect">
              <a:avLst/>
            </a:prstGeom>
            <a:solidFill>
              <a:srgbClr val="114FFB"/>
            </a:solidFill>
            <a:ln w="9525">
              <a:solidFill>
                <a:schemeClr val="accent1"/>
              </a:solidFill>
              <a:miter lim="800000"/>
              <a:headEnd/>
              <a:tailEnd/>
            </a:ln>
          </p:spPr>
          <p:txBody>
            <a:bodyPr/>
            <a:lstStyle/>
            <a:p>
              <a:endParaRPr lang="en-US" sz="2000"/>
            </a:p>
          </p:txBody>
        </p:sp>
        <p:sp>
          <p:nvSpPr>
            <p:cNvPr id="17431" name="Rectangle 15"/>
            <p:cNvSpPr>
              <a:spLocks noChangeArrowheads="1"/>
            </p:cNvSpPr>
            <p:nvPr/>
          </p:nvSpPr>
          <p:spPr bwMode="auto">
            <a:xfrm>
              <a:off x="4437" y="3289"/>
              <a:ext cx="16" cy="188"/>
            </a:xfrm>
            <a:prstGeom prst="rect">
              <a:avLst/>
            </a:prstGeom>
            <a:solidFill>
              <a:srgbClr val="114FFB"/>
            </a:solidFill>
            <a:ln w="9525">
              <a:solidFill>
                <a:schemeClr val="accent1"/>
              </a:solidFill>
              <a:miter lim="800000"/>
              <a:headEnd/>
              <a:tailEnd/>
            </a:ln>
          </p:spPr>
          <p:txBody>
            <a:bodyPr/>
            <a:lstStyle/>
            <a:p>
              <a:endParaRPr lang="en-US" sz="2000"/>
            </a:p>
          </p:txBody>
        </p:sp>
        <p:sp>
          <p:nvSpPr>
            <p:cNvPr id="17432" name="Rectangle 16"/>
            <p:cNvSpPr>
              <a:spLocks noChangeArrowheads="1"/>
            </p:cNvSpPr>
            <p:nvPr/>
          </p:nvSpPr>
          <p:spPr bwMode="auto">
            <a:xfrm>
              <a:off x="4398" y="3109"/>
              <a:ext cx="17" cy="187"/>
            </a:xfrm>
            <a:prstGeom prst="rect">
              <a:avLst/>
            </a:prstGeom>
            <a:solidFill>
              <a:srgbClr val="114FFB"/>
            </a:solidFill>
            <a:ln w="9525">
              <a:solidFill>
                <a:schemeClr val="accent1"/>
              </a:solidFill>
              <a:miter lim="800000"/>
              <a:headEnd/>
              <a:tailEnd/>
            </a:ln>
          </p:spPr>
          <p:txBody>
            <a:bodyPr/>
            <a:lstStyle/>
            <a:p>
              <a:endParaRPr lang="en-US" sz="2000"/>
            </a:p>
          </p:txBody>
        </p:sp>
        <p:sp>
          <p:nvSpPr>
            <p:cNvPr id="17433" name="Rectangle 17"/>
            <p:cNvSpPr>
              <a:spLocks noChangeArrowheads="1"/>
            </p:cNvSpPr>
            <p:nvPr/>
          </p:nvSpPr>
          <p:spPr bwMode="auto">
            <a:xfrm>
              <a:off x="3789" y="3291"/>
              <a:ext cx="17" cy="188"/>
            </a:xfrm>
            <a:prstGeom prst="rect">
              <a:avLst/>
            </a:prstGeom>
            <a:solidFill>
              <a:srgbClr val="114FFB"/>
            </a:solidFill>
            <a:ln w="9525">
              <a:solidFill>
                <a:schemeClr val="accent1"/>
              </a:solidFill>
              <a:miter lim="800000"/>
              <a:headEnd/>
              <a:tailEnd/>
            </a:ln>
          </p:spPr>
          <p:txBody>
            <a:bodyPr/>
            <a:lstStyle/>
            <a:p>
              <a:endParaRPr lang="en-US" sz="2000"/>
            </a:p>
          </p:txBody>
        </p:sp>
        <p:sp>
          <p:nvSpPr>
            <p:cNvPr id="17434" name="Rectangle 18"/>
            <p:cNvSpPr>
              <a:spLocks noChangeArrowheads="1"/>
            </p:cNvSpPr>
            <p:nvPr/>
          </p:nvSpPr>
          <p:spPr bwMode="auto">
            <a:xfrm>
              <a:off x="3701" y="3105"/>
              <a:ext cx="17" cy="187"/>
            </a:xfrm>
            <a:prstGeom prst="rect">
              <a:avLst/>
            </a:prstGeom>
            <a:solidFill>
              <a:srgbClr val="114FFB"/>
            </a:solidFill>
            <a:ln w="9525">
              <a:solidFill>
                <a:schemeClr val="accent1"/>
              </a:solidFill>
              <a:miter lim="800000"/>
              <a:headEnd/>
              <a:tailEnd/>
            </a:ln>
          </p:spPr>
          <p:txBody>
            <a:bodyPr/>
            <a:lstStyle/>
            <a:p>
              <a:endParaRPr lang="en-US" sz="2000"/>
            </a:p>
          </p:txBody>
        </p:sp>
        <p:sp>
          <p:nvSpPr>
            <p:cNvPr id="17435" name="Rectangle 19"/>
            <p:cNvSpPr>
              <a:spLocks noChangeArrowheads="1"/>
            </p:cNvSpPr>
            <p:nvPr/>
          </p:nvSpPr>
          <p:spPr bwMode="auto">
            <a:xfrm>
              <a:off x="4477" y="3034"/>
              <a:ext cx="469" cy="17"/>
            </a:xfrm>
            <a:prstGeom prst="rect">
              <a:avLst/>
            </a:prstGeom>
            <a:solidFill>
              <a:srgbClr val="114FFB"/>
            </a:solidFill>
            <a:ln w="9525">
              <a:solidFill>
                <a:schemeClr val="accent1"/>
              </a:solidFill>
              <a:miter lim="800000"/>
              <a:headEnd/>
              <a:tailEnd/>
            </a:ln>
          </p:spPr>
          <p:txBody>
            <a:bodyPr/>
            <a:lstStyle/>
            <a:p>
              <a:endParaRPr lang="en-US" sz="2000"/>
            </a:p>
          </p:txBody>
        </p:sp>
        <p:sp>
          <p:nvSpPr>
            <p:cNvPr id="17436" name="Rectangle 20"/>
            <p:cNvSpPr>
              <a:spLocks noChangeArrowheads="1"/>
            </p:cNvSpPr>
            <p:nvPr/>
          </p:nvSpPr>
          <p:spPr bwMode="auto">
            <a:xfrm>
              <a:off x="3627" y="3286"/>
              <a:ext cx="1711" cy="17"/>
            </a:xfrm>
            <a:prstGeom prst="rect">
              <a:avLst/>
            </a:prstGeom>
            <a:solidFill>
              <a:srgbClr val="114FFB"/>
            </a:solidFill>
            <a:ln w="9525">
              <a:solidFill>
                <a:schemeClr val="accent1"/>
              </a:solidFill>
              <a:miter lim="800000"/>
              <a:headEnd/>
              <a:tailEnd/>
            </a:ln>
          </p:spPr>
          <p:txBody>
            <a:bodyPr/>
            <a:lstStyle/>
            <a:p>
              <a:endParaRPr lang="en-US" sz="2000"/>
            </a:p>
          </p:txBody>
        </p:sp>
        <p:grpSp>
          <p:nvGrpSpPr>
            <p:cNvPr id="17437" name="Group 21"/>
            <p:cNvGrpSpPr>
              <a:grpSpLocks/>
            </p:cNvGrpSpPr>
            <p:nvPr/>
          </p:nvGrpSpPr>
          <p:grpSpPr bwMode="auto">
            <a:xfrm>
              <a:off x="3605" y="3397"/>
              <a:ext cx="413" cy="368"/>
              <a:chOff x="3688" y="3512"/>
              <a:chExt cx="413" cy="368"/>
            </a:xfrm>
          </p:grpSpPr>
          <p:grpSp>
            <p:nvGrpSpPr>
              <p:cNvPr id="17508" name="Group 22"/>
              <p:cNvGrpSpPr>
                <a:grpSpLocks/>
              </p:cNvGrpSpPr>
              <p:nvPr/>
            </p:nvGrpSpPr>
            <p:grpSpPr bwMode="auto">
              <a:xfrm>
                <a:off x="3705" y="3742"/>
                <a:ext cx="378" cy="116"/>
                <a:chOff x="3705" y="3742"/>
                <a:chExt cx="378" cy="116"/>
              </a:xfrm>
            </p:grpSpPr>
            <p:sp>
              <p:nvSpPr>
                <p:cNvPr id="17521" name="Rectangle 23"/>
                <p:cNvSpPr>
                  <a:spLocks noChangeArrowheads="1"/>
                </p:cNvSpPr>
                <p:nvPr/>
              </p:nvSpPr>
              <p:spPr bwMode="auto">
                <a:xfrm>
                  <a:off x="3705" y="3742"/>
                  <a:ext cx="378" cy="116"/>
                </a:xfrm>
                <a:prstGeom prst="rect">
                  <a:avLst/>
                </a:prstGeom>
                <a:solidFill>
                  <a:srgbClr val="FFFFFF"/>
                </a:solidFill>
                <a:ln w="6350">
                  <a:solidFill>
                    <a:srgbClr val="000000"/>
                  </a:solidFill>
                  <a:miter lim="800000"/>
                  <a:headEnd/>
                  <a:tailEnd/>
                </a:ln>
              </p:spPr>
              <p:txBody>
                <a:bodyPr/>
                <a:lstStyle/>
                <a:p>
                  <a:endParaRPr lang="en-US" sz="2000"/>
                </a:p>
              </p:txBody>
            </p:sp>
            <p:sp>
              <p:nvSpPr>
                <p:cNvPr id="17522" name="Rectangle 24"/>
                <p:cNvSpPr>
                  <a:spLocks noChangeArrowheads="1"/>
                </p:cNvSpPr>
                <p:nvPr/>
              </p:nvSpPr>
              <p:spPr bwMode="auto">
                <a:xfrm>
                  <a:off x="3915" y="3762"/>
                  <a:ext cx="131" cy="53"/>
                </a:xfrm>
                <a:prstGeom prst="rect">
                  <a:avLst/>
                </a:prstGeom>
                <a:solidFill>
                  <a:srgbClr val="808080"/>
                </a:solidFill>
                <a:ln w="6350">
                  <a:solidFill>
                    <a:srgbClr val="000000"/>
                  </a:solidFill>
                  <a:miter lim="800000"/>
                  <a:headEnd/>
                  <a:tailEnd/>
                </a:ln>
              </p:spPr>
              <p:txBody>
                <a:bodyPr/>
                <a:lstStyle/>
                <a:p>
                  <a:endParaRPr lang="en-US" sz="2000"/>
                </a:p>
              </p:txBody>
            </p:sp>
          </p:grpSp>
          <p:grpSp>
            <p:nvGrpSpPr>
              <p:cNvPr id="17509" name="Group 25"/>
              <p:cNvGrpSpPr>
                <a:grpSpLocks/>
              </p:cNvGrpSpPr>
              <p:nvPr/>
            </p:nvGrpSpPr>
            <p:grpSpPr bwMode="auto">
              <a:xfrm>
                <a:off x="3688" y="3806"/>
                <a:ext cx="413" cy="74"/>
                <a:chOff x="3688" y="3806"/>
                <a:chExt cx="413" cy="74"/>
              </a:xfrm>
            </p:grpSpPr>
            <p:sp>
              <p:nvSpPr>
                <p:cNvPr id="17518" name="Freeform 26"/>
                <p:cNvSpPr>
                  <a:spLocks/>
                </p:cNvSpPr>
                <p:nvPr/>
              </p:nvSpPr>
              <p:spPr bwMode="auto">
                <a:xfrm>
                  <a:off x="3688" y="3806"/>
                  <a:ext cx="413" cy="74"/>
                </a:xfrm>
                <a:custGeom>
                  <a:avLst/>
                  <a:gdLst>
                    <a:gd name="T0" fmla="*/ 155 w 1241"/>
                    <a:gd name="T1" fmla="*/ 0 h 223"/>
                    <a:gd name="T2" fmla="*/ 1090 w 1241"/>
                    <a:gd name="T3" fmla="*/ 0 h 223"/>
                    <a:gd name="T4" fmla="*/ 1238 w 1241"/>
                    <a:gd name="T5" fmla="*/ 201 h 223"/>
                    <a:gd name="T6" fmla="*/ 1241 w 1241"/>
                    <a:gd name="T7" fmla="*/ 210 h 223"/>
                    <a:gd name="T8" fmla="*/ 1235 w 1241"/>
                    <a:gd name="T9" fmla="*/ 218 h 223"/>
                    <a:gd name="T10" fmla="*/ 1226 w 1241"/>
                    <a:gd name="T11" fmla="*/ 223 h 223"/>
                    <a:gd name="T12" fmla="*/ 18 w 1241"/>
                    <a:gd name="T13" fmla="*/ 223 h 223"/>
                    <a:gd name="T14" fmla="*/ 7 w 1241"/>
                    <a:gd name="T15" fmla="*/ 217 h 223"/>
                    <a:gd name="T16" fmla="*/ 0 w 1241"/>
                    <a:gd name="T17" fmla="*/ 207 h 223"/>
                    <a:gd name="T18" fmla="*/ 2 w 1241"/>
                    <a:gd name="T19" fmla="*/ 196 h 223"/>
                    <a:gd name="T20" fmla="*/ 155 w 1241"/>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41"/>
                    <a:gd name="T34" fmla="*/ 0 h 223"/>
                    <a:gd name="T35" fmla="*/ 1241 w 1241"/>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41" h="223">
                      <a:moveTo>
                        <a:pt x="155" y="0"/>
                      </a:moveTo>
                      <a:lnTo>
                        <a:pt x="1090" y="0"/>
                      </a:lnTo>
                      <a:lnTo>
                        <a:pt x="1238" y="201"/>
                      </a:lnTo>
                      <a:lnTo>
                        <a:pt x="1241" y="210"/>
                      </a:lnTo>
                      <a:lnTo>
                        <a:pt x="1235" y="218"/>
                      </a:lnTo>
                      <a:lnTo>
                        <a:pt x="1226" y="223"/>
                      </a:lnTo>
                      <a:lnTo>
                        <a:pt x="18" y="223"/>
                      </a:lnTo>
                      <a:lnTo>
                        <a:pt x="7" y="217"/>
                      </a:lnTo>
                      <a:lnTo>
                        <a:pt x="0" y="207"/>
                      </a:lnTo>
                      <a:lnTo>
                        <a:pt x="2" y="196"/>
                      </a:lnTo>
                      <a:lnTo>
                        <a:pt x="155" y="0"/>
                      </a:lnTo>
                      <a:close/>
                    </a:path>
                  </a:pathLst>
                </a:custGeom>
                <a:solidFill>
                  <a:srgbClr val="FFFFFF"/>
                </a:solidFill>
                <a:ln w="6350">
                  <a:solidFill>
                    <a:srgbClr val="000000"/>
                  </a:solidFill>
                  <a:round/>
                  <a:headEnd/>
                  <a:tailEnd/>
                </a:ln>
              </p:spPr>
              <p:txBody>
                <a:bodyPr/>
                <a:lstStyle/>
                <a:p>
                  <a:endParaRPr lang="en-US" sz="2000"/>
                </a:p>
              </p:txBody>
            </p:sp>
            <p:sp>
              <p:nvSpPr>
                <p:cNvPr id="17519" name="Freeform 27"/>
                <p:cNvSpPr>
                  <a:spLocks/>
                </p:cNvSpPr>
                <p:nvPr/>
              </p:nvSpPr>
              <p:spPr bwMode="auto">
                <a:xfrm>
                  <a:off x="3711" y="3821"/>
                  <a:ext cx="275" cy="47"/>
                </a:xfrm>
                <a:custGeom>
                  <a:avLst/>
                  <a:gdLst>
                    <a:gd name="T0" fmla="*/ 111 w 824"/>
                    <a:gd name="T1" fmla="*/ 0 h 141"/>
                    <a:gd name="T2" fmla="*/ 785 w 824"/>
                    <a:gd name="T3" fmla="*/ 0 h 141"/>
                    <a:gd name="T4" fmla="*/ 824 w 824"/>
                    <a:gd name="T5" fmla="*/ 141 h 141"/>
                    <a:gd name="T6" fmla="*/ 0 w 824"/>
                    <a:gd name="T7" fmla="*/ 141 h 141"/>
                    <a:gd name="T8" fmla="*/ 111 w 824"/>
                    <a:gd name="T9" fmla="*/ 0 h 141"/>
                    <a:gd name="T10" fmla="*/ 0 60000 65536"/>
                    <a:gd name="T11" fmla="*/ 0 60000 65536"/>
                    <a:gd name="T12" fmla="*/ 0 60000 65536"/>
                    <a:gd name="T13" fmla="*/ 0 60000 65536"/>
                    <a:gd name="T14" fmla="*/ 0 60000 65536"/>
                    <a:gd name="T15" fmla="*/ 0 w 824"/>
                    <a:gd name="T16" fmla="*/ 0 h 141"/>
                    <a:gd name="T17" fmla="*/ 824 w 824"/>
                    <a:gd name="T18" fmla="*/ 141 h 141"/>
                  </a:gdLst>
                  <a:ahLst/>
                  <a:cxnLst>
                    <a:cxn ang="T10">
                      <a:pos x="T0" y="T1"/>
                    </a:cxn>
                    <a:cxn ang="T11">
                      <a:pos x="T2" y="T3"/>
                    </a:cxn>
                    <a:cxn ang="T12">
                      <a:pos x="T4" y="T5"/>
                    </a:cxn>
                    <a:cxn ang="T13">
                      <a:pos x="T6" y="T7"/>
                    </a:cxn>
                    <a:cxn ang="T14">
                      <a:pos x="T8" y="T9"/>
                    </a:cxn>
                  </a:cxnLst>
                  <a:rect l="T15" t="T16" r="T17" b="T18"/>
                  <a:pathLst>
                    <a:path w="824" h="141">
                      <a:moveTo>
                        <a:pt x="111" y="0"/>
                      </a:moveTo>
                      <a:lnTo>
                        <a:pt x="785" y="0"/>
                      </a:lnTo>
                      <a:lnTo>
                        <a:pt x="824" y="141"/>
                      </a:lnTo>
                      <a:lnTo>
                        <a:pt x="0" y="141"/>
                      </a:lnTo>
                      <a:lnTo>
                        <a:pt x="111" y="0"/>
                      </a:lnTo>
                      <a:close/>
                    </a:path>
                  </a:pathLst>
                </a:custGeom>
                <a:solidFill>
                  <a:srgbClr val="FFFFFF"/>
                </a:solidFill>
                <a:ln w="6350">
                  <a:solidFill>
                    <a:srgbClr val="000000"/>
                  </a:solidFill>
                  <a:round/>
                  <a:headEnd/>
                  <a:tailEnd/>
                </a:ln>
              </p:spPr>
              <p:txBody>
                <a:bodyPr/>
                <a:lstStyle/>
                <a:p>
                  <a:endParaRPr lang="en-US" sz="2000"/>
                </a:p>
              </p:txBody>
            </p:sp>
            <p:sp>
              <p:nvSpPr>
                <p:cNvPr id="17520" name="Freeform 28"/>
                <p:cNvSpPr>
                  <a:spLocks/>
                </p:cNvSpPr>
                <p:nvPr/>
              </p:nvSpPr>
              <p:spPr bwMode="auto">
                <a:xfrm>
                  <a:off x="3994" y="3821"/>
                  <a:ext cx="84" cy="47"/>
                </a:xfrm>
                <a:custGeom>
                  <a:avLst/>
                  <a:gdLst>
                    <a:gd name="T0" fmla="*/ 0 w 250"/>
                    <a:gd name="T1" fmla="*/ 0 h 141"/>
                    <a:gd name="T2" fmla="*/ 147 w 250"/>
                    <a:gd name="T3" fmla="*/ 0 h 141"/>
                    <a:gd name="T4" fmla="*/ 250 w 250"/>
                    <a:gd name="T5" fmla="*/ 141 h 141"/>
                    <a:gd name="T6" fmla="*/ 47 w 250"/>
                    <a:gd name="T7" fmla="*/ 141 h 141"/>
                    <a:gd name="T8" fmla="*/ 0 w 250"/>
                    <a:gd name="T9" fmla="*/ 0 h 141"/>
                    <a:gd name="T10" fmla="*/ 0 60000 65536"/>
                    <a:gd name="T11" fmla="*/ 0 60000 65536"/>
                    <a:gd name="T12" fmla="*/ 0 60000 65536"/>
                    <a:gd name="T13" fmla="*/ 0 60000 65536"/>
                    <a:gd name="T14" fmla="*/ 0 60000 65536"/>
                    <a:gd name="T15" fmla="*/ 0 w 250"/>
                    <a:gd name="T16" fmla="*/ 0 h 141"/>
                    <a:gd name="T17" fmla="*/ 250 w 250"/>
                    <a:gd name="T18" fmla="*/ 141 h 141"/>
                  </a:gdLst>
                  <a:ahLst/>
                  <a:cxnLst>
                    <a:cxn ang="T10">
                      <a:pos x="T0" y="T1"/>
                    </a:cxn>
                    <a:cxn ang="T11">
                      <a:pos x="T2" y="T3"/>
                    </a:cxn>
                    <a:cxn ang="T12">
                      <a:pos x="T4" y="T5"/>
                    </a:cxn>
                    <a:cxn ang="T13">
                      <a:pos x="T6" y="T7"/>
                    </a:cxn>
                    <a:cxn ang="T14">
                      <a:pos x="T8" y="T9"/>
                    </a:cxn>
                  </a:cxnLst>
                  <a:rect l="T15" t="T16" r="T17" b="T18"/>
                  <a:pathLst>
                    <a:path w="250" h="141">
                      <a:moveTo>
                        <a:pt x="0" y="0"/>
                      </a:moveTo>
                      <a:lnTo>
                        <a:pt x="147" y="0"/>
                      </a:lnTo>
                      <a:lnTo>
                        <a:pt x="250" y="141"/>
                      </a:lnTo>
                      <a:lnTo>
                        <a:pt x="47" y="141"/>
                      </a:lnTo>
                      <a:lnTo>
                        <a:pt x="0" y="0"/>
                      </a:lnTo>
                      <a:close/>
                    </a:path>
                  </a:pathLst>
                </a:custGeom>
                <a:solidFill>
                  <a:srgbClr val="FFFFFF"/>
                </a:solidFill>
                <a:ln w="6350">
                  <a:solidFill>
                    <a:srgbClr val="000000"/>
                  </a:solidFill>
                  <a:round/>
                  <a:headEnd/>
                  <a:tailEnd/>
                </a:ln>
              </p:spPr>
              <p:txBody>
                <a:bodyPr/>
                <a:lstStyle/>
                <a:p>
                  <a:endParaRPr lang="en-US" sz="2000"/>
                </a:p>
              </p:txBody>
            </p:sp>
          </p:grpSp>
          <p:grpSp>
            <p:nvGrpSpPr>
              <p:cNvPr id="17510" name="Group 29"/>
              <p:cNvGrpSpPr>
                <a:grpSpLocks/>
              </p:cNvGrpSpPr>
              <p:nvPr/>
            </p:nvGrpSpPr>
            <p:grpSpPr bwMode="auto">
              <a:xfrm>
                <a:off x="3757" y="3512"/>
                <a:ext cx="275" cy="226"/>
                <a:chOff x="3757" y="3512"/>
                <a:chExt cx="275" cy="226"/>
              </a:xfrm>
            </p:grpSpPr>
            <p:sp>
              <p:nvSpPr>
                <p:cNvPr id="17511" name="Rectangle 30"/>
                <p:cNvSpPr>
                  <a:spLocks noChangeArrowheads="1"/>
                </p:cNvSpPr>
                <p:nvPr/>
              </p:nvSpPr>
              <p:spPr bwMode="auto">
                <a:xfrm>
                  <a:off x="3757" y="3512"/>
                  <a:ext cx="275" cy="226"/>
                </a:xfrm>
                <a:prstGeom prst="rect">
                  <a:avLst/>
                </a:prstGeom>
                <a:solidFill>
                  <a:srgbClr val="FFFFFF"/>
                </a:solidFill>
                <a:ln w="6350">
                  <a:solidFill>
                    <a:srgbClr val="000000"/>
                  </a:solidFill>
                  <a:miter lim="800000"/>
                  <a:headEnd/>
                  <a:tailEnd/>
                </a:ln>
              </p:spPr>
              <p:txBody>
                <a:bodyPr/>
                <a:lstStyle/>
                <a:p>
                  <a:endParaRPr lang="en-US" sz="2000"/>
                </a:p>
              </p:txBody>
            </p:sp>
            <p:sp>
              <p:nvSpPr>
                <p:cNvPr id="17512" name="Rectangle 31"/>
                <p:cNvSpPr>
                  <a:spLocks noChangeArrowheads="1"/>
                </p:cNvSpPr>
                <p:nvPr/>
              </p:nvSpPr>
              <p:spPr bwMode="auto">
                <a:xfrm>
                  <a:off x="3775" y="3531"/>
                  <a:ext cx="239" cy="191"/>
                </a:xfrm>
                <a:prstGeom prst="rect">
                  <a:avLst/>
                </a:prstGeom>
                <a:solidFill>
                  <a:srgbClr val="114FFB"/>
                </a:solidFill>
                <a:ln w="6350">
                  <a:solidFill>
                    <a:srgbClr val="000000"/>
                  </a:solidFill>
                  <a:miter lim="800000"/>
                  <a:headEnd/>
                  <a:tailEnd/>
                </a:ln>
              </p:spPr>
              <p:txBody>
                <a:bodyPr/>
                <a:lstStyle/>
                <a:p>
                  <a:endParaRPr lang="en-US" sz="2000"/>
                </a:p>
              </p:txBody>
            </p:sp>
            <p:sp>
              <p:nvSpPr>
                <p:cNvPr id="17513" name="Rectangle 32"/>
                <p:cNvSpPr>
                  <a:spLocks noChangeArrowheads="1"/>
                </p:cNvSpPr>
                <p:nvPr/>
              </p:nvSpPr>
              <p:spPr bwMode="auto">
                <a:xfrm>
                  <a:off x="3980" y="3531"/>
                  <a:ext cx="33" cy="191"/>
                </a:xfrm>
                <a:prstGeom prst="rect">
                  <a:avLst/>
                </a:prstGeom>
                <a:solidFill>
                  <a:srgbClr val="FFFFFF"/>
                </a:solidFill>
                <a:ln w="6350">
                  <a:solidFill>
                    <a:srgbClr val="000000"/>
                  </a:solidFill>
                  <a:miter lim="800000"/>
                  <a:headEnd/>
                  <a:tailEnd/>
                </a:ln>
              </p:spPr>
              <p:txBody>
                <a:bodyPr/>
                <a:lstStyle/>
                <a:p>
                  <a:endParaRPr lang="en-US" sz="2000"/>
                </a:p>
              </p:txBody>
            </p:sp>
            <p:sp>
              <p:nvSpPr>
                <p:cNvPr id="17514" name="Rectangle 33"/>
                <p:cNvSpPr>
                  <a:spLocks noChangeArrowheads="1"/>
                </p:cNvSpPr>
                <p:nvPr/>
              </p:nvSpPr>
              <p:spPr bwMode="auto">
                <a:xfrm>
                  <a:off x="3989" y="3541"/>
                  <a:ext cx="15" cy="12"/>
                </a:xfrm>
                <a:prstGeom prst="rect">
                  <a:avLst/>
                </a:prstGeom>
                <a:solidFill>
                  <a:srgbClr val="FFFFFF"/>
                </a:solidFill>
                <a:ln w="6350">
                  <a:solidFill>
                    <a:srgbClr val="000000"/>
                  </a:solidFill>
                  <a:miter lim="800000"/>
                  <a:headEnd/>
                  <a:tailEnd/>
                </a:ln>
              </p:spPr>
              <p:txBody>
                <a:bodyPr/>
                <a:lstStyle/>
                <a:p>
                  <a:endParaRPr lang="en-US" sz="2000"/>
                </a:p>
              </p:txBody>
            </p:sp>
            <p:sp>
              <p:nvSpPr>
                <p:cNvPr id="17515" name="Oval 34"/>
                <p:cNvSpPr>
                  <a:spLocks noChangeArrowheads="1"/>
                </p:cNvSpPr>
                <p:nvPr/>
              </p:nvSpPr>
              <p:spPr bwMode="auto">
                <a:xfrm>
                  <a:off x="3990" y="3624"/>
                  <a:ext cx="12" cy="12"/>
                </a:xfrm>
                <a:prstGeom prst="ellipse">
                  <a:avLst/>
                </a:prstGeom>
                <a:solidFill>
                  <a:srgbClr val="FFFFFF"/>
                </a:solidFill>
                <a:ln w="6350">
                  <a:solidFill>
                    <a:srgbClr val="000000"/>
                  </a:solidFill>
                  <a:round/>
                  <a:headEnd/>
                  <a:tailEnd/>
                </a:ln>
              </p:spPr>
              <p:txBody>
                <a:bodyPr/>
                <a:lstStyle/>
                <a:p>
                  <a:endParaRPr lang="en-US" sz="2000"/>
                </a:p>
              </p:txBody>
            </p:sp>
            <p:sp>
              <p:nvSpPr>
                <p:cNvPr id="17516" name="Oval 35"/>
                <p:cNvSpPr>
                  <a:spLocks noChangeArrowheads="1"/>
                </p:cNvSpPr>
                <p:nvPr/>
              </p:nvSpPr>
              <p:spPr bwMode="auto">
                <a:xfrm>
                  <a:off x="3990" y="3659"/>
                  <a:ext cx="12" cy="12"/>
                </a:xfrm>
                <a:prstGeom prst="ellipse">
                  <a:avLst/>
                </a:prstGeom>
                <a:solidFill>
                  <a:srgbClr val="FFFFFF"/>
                </a:solidFill>
                <a:ln w="6350">
                  <a:solidFill>
                    <a:srgbClr val="000000"/>
                  </a:solidFill>
                  <a:round/>
                  <a:headEnd/>
                  <a:tailEnd/>
                </a:ln>
              </p:spPr>
              <p:txBody>
                <a:bodyPr/>
                <a:lstStyle/>
                <a:p>
                  <a:endParaRPr lang="en-US" sz="2000"/>
                </a:p>
              </p:txBody>
            </p:sp>
            <p:sp>
              <p:nvSpPr>
                <p:cNvPr id="17517" name="Oval 36"/>
                <p:cNvSpPr>
                  <a:spLocks noChangeArrowheads="1"/>
                </p:cNvSpPr>
                <p:nvPr/>
              </p:nvSpPr>
              <p:spPr bwMode="auto">
                <a:xfrm>
                  <a:off x="3990" y="3692"/>
                  <a:ext cx="12" cy="12"/>
                </a:xfrm>
                <a:prstGeom prst="ellipse">
                  <a:avLst/>
                </a:prstGeom>
                <a:solidFill>
                  <a:srgbClr val="FFFFFF"/>
                </a:solidFill>
                <a:ln w="6350">
                  <a:solidFill>
                    <a:srgbClr val="000000"/>
                  </a:solidFill>
                  <a:round/>
                  <a:headEnd/>
                  <a:tailEnd/>
                </a:ln>
              </p:spPr>
              <p:txBody>
                <a:bodyPr/>
                <a:lstStyle/>
                <a:p>
                  <a:endParaRPr lang="en-US" sz="2000"/>
                </a:p>
              </p:txBody>
            </p:sp>
          </p:grpSp>
        </p:grpSp>
        <p:grpSp>
          <p:nvGrpSpPr>
            <p:cNvPr id="17438" name="Group 37"/>
            <p:cNvGrpSpPr>
              <a:grpSpLocks/>
            </p:cNvGrpSpPr>
            <p:nvPr/>
          </p:nvGrpSpPr>
          <p:grpSpPr bwMode="auto">
            <a:xfrm>
              <a:off x="4238" y="3003"/>
              <a:ext cx="330" cy="120"/>
              <a:chOff x="4321" y="3118"/>
              <a:chExt cx="330" cy="120"/>
            </a:xfrm>
          </p:grpSpPr>
          <p:sp>
            <p:nvSpPr>
              <p:cNvPr id="17500" name="Rectangle 38"/>
              <p:cNvSpPr>
                <a:spLocks noChangeArrowheads="1"/>
              </p:cNvSpPr>
              <p:nvPr/>
            </p:nvSpPr>
            <p:spPr bwMode="auto">
              <a:xfrm>
                <a:off x="4321" y="3123"/>
                <a:ext cx="330" cy="115"/>
              </a:xfrm>
              <a:prstGeom prst="rect">
                <a:avLst/>
              </a:prstGeom>
              <a:solidFill>
                <a:srgbClr val="C0C0C0"/>
              </a:solidFill>
              <a:ln w="6350">
                <a:solidFill>
                  <a:srgbClr val="000000"/>
                </a:solidFill>
                <a:miter lim="800000"/>
                <a:headEnd/>
                <a:tailEnd/>
              </a:ln>
            </p:spPr>
            <p:txBody>
              <a:bodyPr/>
              <a:lstStyle/>
              <a:p>
                <a:endParaRPr lang="en-US" sz="2000"/>
              </a:p>
            </p:txBody>
          </p:sp>
          <p:sp>
            <p:nvSpPr>
              <p:cNvPr id="17501" name="Rectangle 39"/>
              <p:cNvSpPr>
                <a:spLocks noChangeArrowheads="1"/>
              </p:cNvSpPr>
              <p:nvPr/>
            </p:nvSpPr>
            <p:spPr bwMode="auto">
              <a:xfrm>
                <a:off x="4322" y="3202"/>
                <a:ext cx="328"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grpSp>
            <p:nvGrpSpPr>
              <p:cNvPr id="17502" name="Group 40"/>
              <p:cNvGrpSpPr>
                <a:grpSpLocks/>
              </p:cNvGrpSpPr>
              <p:nvPr/>
            </p:nvGrpSpPr>
            <p:grpSpPr bwMode="auto">
              <a:xfrm>
                <a:off x="4516" y="3210"/>
                <a:ext cx="83" cy="27"/>
                <a:chOff x="4516" y="3210"/>
                <a:chExt cx="83" cy="27"/>
              </a:xfrm>
            </p:grpSpPr>
            <p:sp>
              <p:nvSpPr>
                <p:cNvPr id="17504" name="Rectangle 41"/>
                <p:cNvSpPr>
                  <a:spLocks noChangeArrowheads="1"/>
                </p:cNvSpPr>
                <p:nvPr/>
              </p:nvSpPr>
              <p:spPr bwMode="auto">
                <a:xfrm>
                  <a:off x="4516" y="3210"/>
                  <a:ext cx="9" cy="2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505" name="Rectangle 42"/>
                <p:cNvSpPr>
                  <a:spLocks noChangeArrowheads="1"/>
                </p:cNvSpPr>
                <p:nvPr/>
              </p:nvSpPr>
              <p:spPr bwMode="auto">
                <a:xfrm>
                  <a:off x="4542" y="3210"/>
                  <a:ext cx="9" cy="2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506" name="Rectangle 43"/>
                <p:cNvSpPr>
                  <a:spLocks noChangeArrowheads="1"/>
                </p:cNvSpPr>
                <p:nvPr/>
              </p:nvSpPr>
              <p:spPr bwMode="auto">
                <a:xfrm>
                  <a:off x="4567" y="3210"/>
                  <a:ext cx="8" cy="2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507" name="Rectangle 44"/>
                <p:cNvSpPr>
                  <a:spLocks noChangeArrowheads="1"/>
                </p:cNvSpPr>
                <p:nvPr/>
              </p:nvSpPr>
              <p:spPr bwMode="auto">
                <a:xfrm>
                  <a:off x="4590" y="3210"/>
                  <a:ext cx="9" cy="2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grpSp>
          <p:sp>
            <p:nvSpPr>
              <p:cNvPr id="17503" name="Rectangle 45"/>
              <p:cNvSpPr>
                <a:spLocks noChangeArrowheads="1"/>
              </p:cNvSpPr>
              <p:nvPr/>
            </p:nvSpPr>
            <p:spPr bwMode="auto">
              <a:xfrm>
                <a:off x="4363" y="3118"/>
                <a:ext cx="7" cy="3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grpSp>
        <p:grpSp>
          <p:nvGrpSpPr>
            <p:cNvPr id="17439" name="Group 46"/>
            <p:cNvGrpSpPr>
              <a:grpSpLocks/>
            </p:cNvGrpSpPr>
            <p:nvPr/>
          </p:nvGrpSpPr>
          <p:grpSpPr bwMode="auto">
            <a:xfrm>
              <a:off x="4891" y="2876"/>
              <a:ext cx="482" cy="247"/>
              <a:chOff x="4974" y="2991"/>
              <a:chExt cx="482" cy="247"/>
            </a:xfrm>
          </p:grpSpPr>
          <p:grpSp>
            <p:nvGrpSpPr>
              <p:cNvPr id="17489" name="Group 47"/>
              <p:cNvGrpSpPr>
                <a:grpSpLocks/>
              </p:cNvGrpSpPr>
              <p:nvPr/>
            </p:nvGrpSpPr>
            <p:grpSpPr bwMode="auto">
              <a:xfrm>
                <a:off x="4974" y="2991"/>
                <a:ext cx="482" cy="247"/>
                <a:chOff x="4974" y="2991"/>
                <a:chExt cx="482" cy="247"/>
              </a:xfrm>
            </p:grpSpPr>
            <p:sp>
              <p:nvSpPr>
                <p:cNvPr id="17493" name="Rectangle 48"/>
                <p:cNvSpPr>
                  <a:spLocks noChangeArrowheads="1"/>
                </p:cNvSpPr>
                <p:nvPr/>
              </p:nvSpPr>
              <p:spPr bwMode="auto">
                <a:xfrm>
                  <a:off x="4997" y="3122"/>
                  <a:ext cx="379" cy="116"/>
                </a:xfrm>
                <a:prstGeom prst="rect">
                  <a:avLst/>
                </a:prstGeom>
                <a:solidFill>
                  <a:srgbClr val="FFFFFF"/>
                </a:solidFill>
                <a:ln w="6350">
                  <a:solidFill>
                    <a:srgbClr val="000000"/>
                  </a:solidFill>
                  <a:miter lim="800000"/>
                  <a:headEnd/>
                  <a:tailEnd/>
                </a:ln>
              </p:spPr>
              <p:txBody>
                <a:bodyPr/>
                <a:lstStyle/>
                <a:p>
                  <a:endParaRPr lang="en-US" sz="2000"/>
                </a:p>
              </p:txBody>
            </p:sp>
            <p:sp>
              <p:nvSpPr>
                <p:cNvPr id="17494" name="Rectangle 49"/>
                <p:cNvSpPr>
                  <a:spLocks noChangeArrowheads="1"/>
                </p:cNvSpPr>
                <p:nvPr/>
              </p:nvSpPr>
              <p:spPr bwMode="auto">
                <a:xfrm>
                  <a:off x="5034" y="3196"/>
                  <a:ext cx="305" cy="41"/>
                </a:xfrm>
                <a:prstGeom prst="rect">
                  <a:avLst/>
                </a:prstGeom>
                <a:solidFill>
                  <a:srgbClr val="FFFFFF"/>
                </a:solidFill>
                <a:ln w="6350">
                  <a:solidFill>
                    <a:srgbClr val="000000"/>
                  </a:solidFill>
                  <a:miter lim="800000"/>
                  <a:headEnd/>
                  <a:tailEnd/>
                </a:ln>
              </p:spPr>
              <p:txBody>
                <a:bodyPr/>
                <a:lstStyle/>
                <a:p>
                  <a:endParaRPr lang="en-US" sz="2000"/>
                </a:p>
              </p:txBody>
            </p:sp>
            <p:sp>
              <p:nvSpPr>
                <p:cNvPr id="17495" name="Freeform 50"/>
                <p:cNvSpPr>
                  <a:spLocks/>
                </p:cNvSpPr>
                <p:nvPr/>
              </p:nvSpPr>
              <p:spPr bwMode="auto">
                <a:xfrm>
                  <a:off x="4982" y="3003"/>
                  <a:ext cx="418" cy="119"/>
                </a:xfrm>
                <a:custGeom>
                  <a:avLst/>
                  <a:gdLst>
                    <a:gd name="T0" fmla="*/ 0 w 1254"/>
                    <a:gd name="T1" fmla="*/ 288 h 357"/>
                    <a:gd name="T2" fmla="*/ 52 w 1254"/>
                    <a:gd name="T3" fmla="*/ 357 h 357"/>
                    <a:gd name="T4" fmla="*/ 1180 w 1254"/>
                    <a:gd name="T5" fmla="*/ 357 h 357"/>
                    <a:gd name="T6" fmla="*/ 1254 w 1254"/>
                    <a:gd name="T7" fmla="*/ 288 h 357"/>
                    <a:gd name="T8" fmla="*/ 1254 w 1254"/>
                    <a:gd name="T9" fmla="*/ 0 h 357"/>
                    <a:gd name="T10" fmla="*/ 0 w 1254"/>
                    <a:gd name="T11" fmla="*/ 0 h 357"/>
                    <a:gd name="T12" fmla="*/ 0 w 1254"/>
                    <a:gd name="T13" fmla="*/ 288 h 357"/>
                    <a:gd name="T14" fmla="*/ 0 60000 65536"/>
                    <a:gd name="T15" fmla="*/ 0 60000 65536"/>
                    <a:gd name="T16" fmla="*/ 0 60000 65536"/>
                    <a:gd name="T17" fmla="*/ 0 60000 65536"/>
                    <a:gd name="T18" fmla="*/ 0 60000 65536"/>
                    <a:gd name="T19" fmla="*/ 0 60000 65536"/>
                    <a:gd name="T20" fmla="*/ 0 60000 65536"/>
                    <a:gd name="T21" fmla="*/ 0 w 1254"/>
                    <a:gd name="T22" fmla="*/ 0 h 357"/>
                    <a:gd name="T23" fmla="*/ 1254 w 1254"/>
                    <a:gd name="T24" fmla="*/ 357 h 3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4" h="357">
                      <a:moveTo>
                        <a:pt x="0" y="288"/>
                      </a:moveTo>
                      <a:lnTo>
                        <a:pt x="52" y="357"/>
                      </a:lnTo>
                      <a:lnTo>
                        <a:pt x="1180" y="357"/>
                      </a:lnTo>
                      <a:lnTo>
                        <a:pt x="1254" y="288"/>
                      </a:lnTo>
                      <a:lnTo>
                        <a:pt x="1254" y="0"/>
                      </a:lnTo>
                      <a:lnTo>
                        <a:pt x="0" y="0"/>
                      </a:lnTo>
                      <a:lnTo>
                        <a:pt x="0" y="288"/>
                      </a:lnTo>
                      <a:close/>
                    </a:path>
                  </a:pathLst>
                </a:custGeom>
                <a:solidFill>
                  <a:srgbClr val="FFFFFF"/>
                </a:solidFill>
                <a:ln w="6350">
                  <a:solidFill>
                    <a:srgbClr val="000000"/>
                  </a:solidFill>
                  <a:round/>
                  <a:headEnd/>
                  <a:tailEnd/>
                </a:ln>
              </p:spPr>
              <p:txBody>
                <a:bodyPr/>
                <a:lstStyle/>
                <a:p>
                  <a:endParaRPr lang="en-US" sz="2000"/>
                </a:p>
              </p:txBody>
            </p:sp>
            <p:sp>
              <p:nvSpPr>
                <p:cNvPr id="17496" name="Rectangle 51"/>
                <p:cNvSpPr>
                  <a:spLocks noChangeArrowheads="1"/>
                </p:cNvSpPr>
                <p:nvPr/>
              </p:nvSpPr>
              <p:spPr bwMode="auto">
                <a:xfrm>
                  <a:off x="4974" y="3183"/>
                  <a:ext cx="24" cy="21"/>
                </a:xfrm>
                <a:prstGeom prst="rect">
                  <a:avLst/>
                </a:prstGeom>
                <a:solidFill>
                  <a:srgbClr val="FFFFFF"/>
                </a:solidFill>
                <a:ln w="6350">
                  <a:solidFill>
                    <a:srgbClr val="000000"/>
                  </a:solidFill>
                  <a:miter lim="800000"/>
                  <a:headEnd/>
                  <a:tailEnd/>
                </a:ln>
              </p:spPr>
              <p:txBody>
                <a:bodyPr/>
                <a:lstStyle/>
                <a:p>
                  <a:endParaRPr lang="en-US" sz="2000"/>
                </a:p>
              </p:txBody>
            </p:sp>
            <p:sp>
              <p:nvSpPr>
                <p:cNvPr id="17497" name="Line 52"/>
                <p:cNvSpPr>
                  <a:spLocks noChangeShapeType="1"/>
                </p:cNvSpPr>
                <p:nvPr/>
              </p:nvSpPr>
              <p:spPr bwMode="auto">
                <a:xfrm>
                  <a:off x="4982" y="3021"/>
                  <a:ext cx="42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000"/>
                </a:p>
              </p:txBody>
            </p:sp>
            <p:sp>
              <p:nvSpPr>
                <p:cNvPr id="17498" name="Rectangle 53"/>
                <p:cNvSpPr>
                  <a:spLocks noChangeArrowheads="1"/>
                </p:cNvSpPr>
                <p:nvPr/>
              </p:nvSpPr>
              <p:spPr bwMode="auto">
                <a:xfrm>
                  <a:off x="5087" y="2991"/>
                  <a:ext cx="302" cy="13"/>
                </a:xfrm>
                <a:prstGeom prst="rect">
                  <a:avLst/>
                </a:prstGeom>
                <a:solidFill>
                  <a:srgbClr val="FFFFFF"/>
                </a:solidFill>
                <a:ln w="6350">
                  <a:solidFill>
                    <a:srgbClr val="000000"/>
                  </a:solidFill>
                  <a:miter lim="800000"/>
                  <a:headEnd/>
                  <a:tailEnd/>
                </a:ln>
              </p:spPr>
              <p:txBody>
                <a:bodyPr/>
                <a:lstStyle/>
                <a:p>
                  <a:endParaRPr lang="en-US" sz="2000"/>
                </a:p>
              </p:txBody>
            </p:sp>
            <p:sp>
              <p:nvSpPr>
                <p:cNvPr id="17499" name="Freeform 54"/>
                <p:cNvSpPr>
                  <a:spLocks/>
                </p:cNvSpPr>
                <p:nvPr/>
              </p:nvSpPr>
              <p:spPr bwMode="auto">
                <a:xfrm>
                  <a:off x="5375" y="3140"/>
                  <a:ext cx="81" cy="39"/>
                </a:xfrm>
                <a:custGeom>
                  <a:avLst/>
                  <a:gdLst>
                    <a:gd name="T0" fmla="*/ 0 w 244"/>
                    <a:gd name="T1" fmla="*/ 68 h 115"/>
                    <a:gd name="T2" fmla="*/ 244 w 244"/>
                    <a:gd name="T3" fmla="*/ 0 h 115"/>
                    <a:gd name="T4" fmla="*/ 244 w 244"/>
                    <a:gd name="T5" fmla="*/ 42 h 115"/>
                    <a:gd name="T6" fmla="*/ 0 w 244"/>
                    <a:gd name="T7" fmla="*/ 115 h 115"/>
                    <a:gd name="T8" fmla="*/ 0 w 244"/>
                    <a:gd name="T9" fmla="*/ 68 h 115"/>
                    <a:gd name="T10" fmla="*/ 0 60000 65536"/>
                    <a:gd name="T11" fmla="*/ 0 60000 65536"/>
                    <a:gd name="T12" fmla="*/ 0 60000 65536"/>
                    <a:gd name="T13" fmla="*/ 0 60000 65536"/>
                    <a:gd name="T14" fmla="*/ 0 60000 65536"/>
                    <a:gd name="T15" fmla="*/ 0 w 244"/>
                    <a:gd name="T16" fmla="*/ 0 h 115"/>
                    <a:gd name="T17" fmla="*/ 244 w 244"/>
                    <a:gd name="T18" fmla="*/ 115 h 115"/>
                  </a:gdLst>
                  <a:ahLst/>
                  <a:cxnLst>
                    <a:cxn ang="T10">
                      <a:pos x="T0" y="T1"/>
                    </a:cxn>
                    <a:cxn ang="T11">
                      <a:pos x="T2" y="T3"/>
                    </a:cxn>
                    <a:cxn ang="T12">
                      <a:pos x="T4" y="T5"/>
                    </a:cxn>
                    <a:cxn ang="T13">
                      <a:pos x="T6" y="T7"/>
                    </a:cxn>
                    <a:cxn ang="T14">
                      <a:pos x="T8" y="T9"/>
                    </a:cxn>
                  </a:cxnLst>
                  <a:rect l="T15" t="T16" r="T17" b="T18"/>
                  <a:pathLst>
                    <a:path w="244" h="115">
                      <a:moveTo>
                        <a:pt x="0" y="68"/>
                      </a:moveTo>
                      <a:lnTo>
                        <a:pt x="244" y="0"/>
                      </a:lnTo>
                      <a:lnTo>
                        <a:pt x="244" y="42"/>
                      </a:lnTo>
                      <a:lnTo>
                        <a:pt x="0" y="115"/>
                      </a:lnTo>
                      <a:lnTo>
                        <a:pt x="0" y="68"/>
                      </a:lnTo>
                      <a:close/>
                    </a:path>
                  </a:pathLst>
                </a:custGeom>
                <a:solidFill>
                  <a:srgbClr val="FFFFFF"/>
                </a:solidFill>
                <a:ln w="6350">
                  <a:solidFill>
                    <a:srgbClr val="000000"/>
                  </a:solidFill>
                  <a:round/>
                  <a:headEnd/>
                  <a:tailEnd/>
                </a:ln>
              </p:spPr>
              <p:txBody>
                <a:bodyPr/>
                <a:lstStyle/>
                <a:p>
                  <a:endParaRPr lang="en-US" sz="2000"/>
                </a:p>
              </p:txBody>
            </p:sp>
          </p:grpSp>
          <p:grpSp>
            <p:nvGrpSpPr>
              <p:cNvPr id="17490" name="Group 55"/>
              <p:cNvGrpSpPr>
                <a:grpSpLocks/>
              </p:cNvGrpSpPr>
              <p:nvPr/>
            </p:nvGrpSpPr>
            <p:grpSpPr bwMode="auto">
              <a:xfrm>
                <a:off x="5018" y="3037"/>
                <a:ext cx="25" cy="27"/>
                <a:chOff x="5018" y="3037"/>
                <a:chExt cx="25" cy="27"/>
              </a:xfrm>
            </p:grpSpPr>
            <p:sp>
              <p:nvSpPr>
                <p:cNvPr id="17491" name="Rectangle 56"/>
                <p:cNvSpPr>
                  <a:spLocks noChangeArrowheads="1"/>
                </p:cNvSpPr>
                <p:nvPr/>
              </p:nvSpPr>
              <p:spPr bwMode="auto">
                <a:xfrm>
                  <a:off x="5019" y="3038"/>
                  <a:ext cx="23" cy="26"/>
                </a:xfrm>
                <a:prstGeom prst="rect">
                  <a:avLst/>
                </a:prstGeom>
                <a:solidFill>
                  <a:srgbClr val="FFFFFF"/>
                </a:solidFill>
                <a:ln w="6350">
                  <a:solidFill>
                    <a:srgbClr val="000000"/>
                  </a:solidFill>
                  <a:miter lim="800000"/>
                  <a:headEnd/>
                  <a:tailEnd/>
                </a:ln>
              </p:spPr>
              <p:txBody>
                <a:bodyPr/>
                <a:lstStyle/>
                <a:p>
                  <a:endParaRPr lang="en-US" sz="2000"/>
                </a:p>
              </p:txBody>
            </p:sp>
            <p:sp>
              <p:nvSpPr>
                <p:cNvPr id="17492" name="Freeform 57"/>
                <p:cNvSpPr>
                  <a:spLocks/>
                </p:cNvSpPr>
                <p:nvPr/>
              </p:nvSpPr>
              <p:spPr bwMode="auto">
                <a:xfrm>
                  <a:off x="5018" y="3037"/>
                  <a:ext cx="25" cy="27"/>
                </a:xfrm>
                <a:custGeom>
                  <a:avLst/>
                  <a:gdLst>
                    <a:gd name="T0" fmla="*/ 72 w 74"/>
                    <a:gd name="T1" fmla="*/ 15 h 81"/>
                    <a:gd name="T2" fmla="*/ 10 w 74"/>
                    <a:gd name="T3" fmla="*/ 15 h 81"/>
                    <a:gd name="T4" fmla="*/ 10 w 74"/>
                    <a:gd name="T5" fmla="*/ 81 h 81"/>
                    <a:gd name="T6" fmla="*/ 0 w 74"/>
                    <a:gd name="T7" fmla="*/ 81 h 81"/>
                    <a:gd name="T8" fmla="*/ 0 w 74"/>
                    <a:gd name="T9" fmla="*/ 0 h 81"/>
                    <a:gd name="T10" fmla="*/ 74 w 74"/>
                    <a:gd name="T11" fmla="*/ 0 h 81"/>
                    <a:gd name="T12" fmla="*/ 72 w 74"/>
                    <a:gd name="T13" fmla="*/ 15 h 81"/>
                    <a:gd name="T14" fmla="*/ 0 60000 65536"/>
                    <a:gd name="T15" fmla="*/ 0 60000 65536"/>
                    <a:gd name="T16" fmla="*/ 0 60000 65536"/>
                    <a:gd name="T17" fmla="*/ 0 60000 65536"/>
                    <a:gd name="T18" fmla="*/ 0 60000 65536"/>
                    <a:gd name="T19" fmla="*/ 0 60000 65536"/>
                    <a:gd name="T20" fmla="*/ 0 60000 65536"/>
                    <a:gd name="T21" fmla="*/ 0 w 74"/>
                    <a:gd name="T22" fmla="*/ 0 h 81"/>
                    <a:gd name="T23" fmla="*/ 74 w 74"/>
                    <a:gd name="T24" fmla="*/ 81 h 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 h="81">
                      <a:moveTo>
                        <a:pt x="72" y="15"/>
                      </a:moveTo>
                      <a:lnTo>
                        <a:pt x="10" y="15"/>
                      </a:lnTo>
                      <a:lnTo>
                        <a:pt x="10" y="81"/>
                      </a:lnTo>
                      <a:lnTo>
                        <a:pt x="0" y="81"/>
                      </a:lnTo>
                      <a:lnTo>
                        <a:pt x="0" y="0"/>
                      </a:lnTo>
                      <a:lnTo>
                        <a:pt x="74" y="0"/>
                      </a:lnTo>
                      <a:lnTo>
                        <a:pt x="72"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000"/>
                </a:p>
              </p:txBody>
            </p:sp>
          </p:grpSp>
        </p:grpSp>
        <p:grpSp>
          <p:nvGrpSpPr>
            <p:cNvPr id="17440" name="Group 58"/>
            <p:cNvGrpSpPr>
              <a:grpSpLocks/>
            </p:cNvGrpSpPr>
            <p:nvPr/>
          </p:nvGrpSpPr>
          <p:grpSpPr bwMode="auto">
            <a:xfrm>
              <a:off x="3477" y="2752"/>
              <a:ext cx="531" cy="371"/>
              <a:chOff x="3560" y="2867"/>
              <a:chExt cx="531" cy="371"/>
            </a:xfrm>
          </p:grpSpPr>
          <p:sp>
            <p:nvSpPr>
              <p:cNvPr id="17473" name="Freeform 59"/>
              <p:cNvSpPr>
                <a:spLocks/>
              </p:cNvSpPr>
              <p:nvPr/>
            </p:nvSpPr>
            <p:spPr bwMode="auto">
              <a:xfrm>
                <a:off x="3872" y="3103"/>
                <a:ext cx="113" cy="54"/>
              </a:xfrm>
              <a:custGeom>
                <a:avLst/>
                <a:gdLst>
                  <a:gd name="T0" fmla="*/ 0 w 340"/>
                  <a:gd name="T1" fmla="*/ 16 h 160"/>
                  <a:gd name="T2" fmla="*/ 127 w 340"/>
                  <a:gd name="T3" fmla="*/ 0 h 160"/>
                  <a:gd name="T4" fmla="*/ 155 w 340"/>
                  <a:gd name="T5" fmla="*/ 5 h 160"/>
                  <a:gd name="T6" fmla="*/ 177 w 340"/>
                  <a:gd name="T7" fmla="*/ 20 h 160"/>
                  <a:gd name="T8" fmla="*/ 207 w 340"/>
                  <a:gd name="T9" fmla="*/ 98 h 160"/>
                  <a:gd name="T10" fmla="*/ 227 w 340"/>
                  <a:gd name="T11" fmla="*/ 129 h 160"/>
                  <a:gd name="T12" fmla="*/ 243 w 340"/>
                  <a:gd name="T13" fmla="*/ 144 h 160"/>
                  <a:gd name="T14" fmla="*/ 261 w 340"/>
                  <a:gd name="T15" fmla="*/ 151 h 160"/>
                  <a:gd name="T16" fmla="*/ 287 w 340"/>
                  <a:gd name="T17" fmla="*/ 156 h 160"/>
                  <a:gd name="T18" fmla="*/ 340 w 340"/>
                  <a:gd name="T19" fmla="*/ 160 h 1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0"/>
                  <a:gd name="T31" fmla="*/ 0 h 160"/>
                  <a:gd name="T32" fmla="*/ 340 w 340"/>
                  <a:gd name="T33" fmla="*/ 160 h 1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0" h="160">
                    <a:moveTo>
                      <a:pt x="0" y="16"/>
                    </a:moveTo>
                    <a:lnTo>
                      <a:pt x="127" y="0"/>
                    </a:lnTo>
                    <a:lnTo>
                      <a:pt x="155" y="5"/>
                    </a:lnTo>
                    <a:lnTo>
                      <a:pt x="177" y="20"/>
                    </a:lnTo>
                    <a:lnTo>
                      <a:pt x="207" y="98"/>
                    </a:lnTo>
                    <a:lnTo>
                      <a:pt x="227" y="129"/>
                    </a:lnTo>
                    <a:lnTo>
                      <a:pt x="243" y="144"/>
                    </a:lnTo>
                    <a:lnTo>
                      <a:pt x="261" y="151"/>
                    </a:lnTo>
                    <a:lnTo>
                      <a:pt x="287" y="156"/>
                    </a:lnTo>
                    <a:lnTo>
                      <a:pt x="340" y="16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2000"/>
              </a:p>
            </p:txBody>
          </p:sp>
          <p:grpSp>
            <p:nvGrpSpPr>
              <p:cNvPr id="17474" name="Group 60"/>
              <p:cNvGrpSpPr>
                <a:grpSpLocks/>
              </p:cNvGrpSpPr>
              <p:nvPr/>
            </p:nvGrpSpPr>
            <p:grpSpPr bwMode="auto">
              <a:xfrm>
                <a:off x="3560" y="2983"/>
                <a:ext cx="413" cy="255"/>
                <a:chOff x="3560" y="2983"/>
                <a:chExt cx="413" cy="255"/>
              </a:xfrm>
            </p:grpSpPr>
            <p:grpSp>
              <p:nvGrpSpPr>
                <p:cNvPr id="17482" name="Group 61"/>
                <p:cNvGrpSpPr>
                  <a:grpSpLocks/>
                </p:cNvGrpSpPr>
                <p:nvPr/>
              </p:nvGrpSpPr>
              <p:grpSpPr bwMode="auto">
                <a:xfrm>
                  <a:off x="3560" y="3164"/>
                  <a:ext cx="413" cy="74"/>
                  <a:chOff x="3560" y="3164"/>
                  <a:chExt cx="413" cy="74"/>
                </a:xfrm>
              </p:grpSpPr>
              <p:sp>
                <p:nvSpPr>
                  <p:cNvPr id="17486" name="Freeform 62"/>
                  <p:cNvSpPr>
                    <a:spLocks/>
                  </p:cNvSpPr>
                  <p:nvPr/>
                </p:nvSpPr>
                <p:spPr bwMode="auto">
                  <a:xfrm>
                    <a:off x="3560" y="3164"/>
                    <a:ext cx="413" cy="74"/>
                  </a:xfrm>
                  <a:custGeom>
                    <a:avLst/>
                    <a:gdLst>
                      <a:gd name="T0" fmla="*/ 154 w 1240"/>
                      <a:gd name="T1" fmla="*/ 0 h 222"/>
                      <a:gd name="T2" fmla="*/ 1090 w 1240"/>
                      <a:gd name="T3" fmla="*/ 0 h 222"/>
                      <a:gd name="T4" fmla="*/ 1238 w 1240"/>
                      <a:gd name="T5" fmla="*/ 201 h 222"/>
                      <a:gd name="T6" fmla="*/ 1240 w 1240"/>
                      <a:gd name="T7" fmla="*/ 211 h 222"/>
                      <a:gd name="T8" fmla="*/ 1234 w 1240"/>
                      <a:gd name="T9" fmla="*/ 219 h 222"/>
                      <a:gd name="T10" fmla="*/ 1225 w 1240"/>
                      <a:gd name="T11" fmla="*/ 222 h 222"/>
                      <a:gd name="T12" fmla="*/ 18 w 1240"/>
                      <a:gd name="T13" fmla="*/ 222 h 222"/>
                      <a:gd name="T14" fmla="*/ 6 w 1240"/>
                      <a:gd name="T15" fmla="*/ 218 h 222"/>
                      <a:gd name="T16" fmla="*/ 0 w 1240"/>
                      <a:gd name="T17" fmla="*/ 208 h 222"/>
                      <a:gd name="T18" fmla="*/ 3 w 1240"/>
                      <a:gd name="T19" fmla="*/ 197 h 222"/>
                      <a:gd name="T20" fmla="*/ 154 w 124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40"/>
                      <a:gd name="T34" fmla="*/ 0 h 222"/>
                      <a:gd name="T35" fmla="*/ 1240 w 124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40" h="222">
                        <a:moveTo>
                          <a:pt x="154" y="0"/>
                        </a:moveTo>
                        <a:lnTo>
                          <a:pt x="1090" y="0"/>
                        </a:lnTo>
                        <a:lnTo>
                          <a:pt x="1238" y="201"/>
                        </a:lnTo>
                        <a:lnTo>
                          <a:pt x="1240" y="211"/>
                        </a:lnTo>
                        <a:lnTo>
                          <a:pt x="1234" y="219"/>
                        </a:lnTo>
                        <a:lnTo>
                          <a:pt x="1225" y="222"/>
                        </a:lnTo>
                        <a:lnTo>
                          <a:pt x="18" y="222"/>
                        </a:lnTo>
                        <a:lnTo>
                          <a:pt x="6" y="218"/>
                        </a:lnTo>
                        <a:lnTo>
                          <a:pt x="0" y="208"/>
                        </a:lnTo>
                        <a:lnTo>
                          <a:pt x="3" y="197"/>
                        </a:lnTo>
                        <a:lnTo>
                          <a:pt x="154" y="0"/>
                        </a:lnTo>
                        <a:close/>
                      </a:path>
                    </a:pathLst>
                  </a:custGeom>
                  <a:solidFill>
                    <a:srgbClr val="FFFFFF"/>
                  </a:solidFill>
                  <a:ln w="6350">
                    <a:solidFill>
                      <a:srgbClr val="000000"/>
                    </a:solidFill>
                    <a:round/>
                    <a:headEnd/>
                    <a:tailEnd/>
                  </a:ln>
                </p:spPr>
                <p:txBody>
                  <a:bodyPr/>
                  <a:lstStyle/>
                  <a:p>
                    <a:endParaRPr lang="en-US" sz="2000"/>
                  </a:p>
                </p:txBody>
              </p:sp>
              <p:sp>
                <p:nvSpPr>
                  <p:cNvPr id="17487" name="Freeform 63"/>
                  <p:cNvSpPr>
                    <a:spLocks/>
                  </p:cNvSpPr>
                  <p:nvPr/>
                </p:nvSpPr>
                <p:spPr bwMode="auto">
                  <a:xfrm>
                    <a:off x="3583" y="3180"/>
                    <a:ext cx="275" cy="47"/>
                  </a:xfrm>
                  <a:custGeom>
                    <a:avLst/>
                    <a:gdLst>
                      <a:gd name="T0" fmla="*/ 111 w 824"/>
                      <a:gd name="T1" fmla="*/ 0 h 142"/>
                      <a:gd name="T2" fmla="*/ 785 w 824"/>
                      <a:gd name="T3" fmla="*/ 0 h 142"/>
                      <a:gd name="T4" fmla="*/ 824 w 824"/>
                      <a:gd name="T5" fmla="*/ 142 h 142"/>
                      <a:gd name="T6" fmla="*/ 0 w 824"/>
                      <a:gd name="T7" fmla="*/ 142 h 142"/>
                      <a:gd name="T8" fmla="*/ 111 w 824"/>
                      <a:gd name="T9" fmla="*/ 0 h 142"/>
                      <a:gd name="T10" fmla="*/ 0 60000 65536"/>
                      <a:gd name="T11" fmla="*/ 0 60000 65536"/>
                      <a:gd name="T12" fmla="*/ 0 60000 65536"/>
                      <a:gd name="T13" fmla="*/ 0 60000 65536"/>
                      <a:gd name="T14" fmla="*/ 0 60000 65536"/>
                      <a:gd name="T15" fmla="*/ 0 w 824"/>
                      <a:gd name="T16" fmla="*/ 0 h 142"/>
                      <a:gd name="T17" fmla="*/ 824 w 824"/>
                      <a:gd name="T18" fmla="*/ 142 h 142"/>
                    </a:gdLst>
                    <a:ahLst/>
                    <a:cxnLst>
                      <a:cxn ang="T10">
                        <a:pos x="T0" y="T1"/>
                      </a:cxn>
                      <a:cxn ang="T11">
                        <a:pos x="T2" y="T3"/>
                      </a:cxn>
                      <a:cxn ang="T12">
                        <a:pos x="T4" y="T5"/>
                      </a:cxn>
                      <a:cxn ang="T13">
                        <a:pos x="T6" y="T7"/>
                      </a:cxn>
                      <a:cxn ang="T14">
                        <a:pos x="T8" y="T9"/>
                      </a:cxn>
                    </a:cxnLst>
                    <a:rect l="T15" t="T16" r="T17" b="T18"/>
                    <a:pathLst>
                      <a:path w="824" h="142">
                        <a:moveTo>
                          <a:pt x="111" y="0"/>
                        </a:moveTo>
                        <a:lnTo>
                          <a:pt x="785" y="0"/>
                        </a:lnTo>
                        <a:lnTo>
                          <a:pt x="824" y="142"/>
                        </a:lnTo>
                        <a:lnTo>
                          <a:pt x="0" y="142"/>
                        </a:lnTo>
                        <a:lnTo>
                          <a:pt x="111" y="0"/>
                        </a:lnTo>
                        <a:close/>
                      </a:path>
                    </a:pathLst>
                  </a:custGeom>
                  <a:solidFill>
                    <a:srgbClr val="FFFFFF"/>
                  </a:solidFill>
                  <a:ln w="6350">
                    <a:solidFill>
                      <a:srgbClr val="000000"/>
                    </a:solidFill>
                    <a:round/>
                    <a:headEnd/>
                    <a:tailEnd/>
                  </a:ln>
                </p:spPr>
                <p:txBody>
                  <a:bodyPr/>
                  <a:lstStyle/>
                  <a:p>
                    <a:endParaRPr lang="en-US" sz="2000"/>
                  </a:p>
                </p:txBody>
              </p:sp>
              <p:sp>
                <p:nvSpPr>
                  <p:cNvPr id="17488" name="Freeform 64"/>
                  <p:cNvSpPr>
                    <a:spLocks/>
                  </p:cNvSpPr>
                  <p:nvPr/>
                </p:nvSpPr>
                <p:spPr bwMode="auto">
                  <a:xfrm>
                    <a:off x="3866" y="3180"/>
                    <a:ext cx="84" cy="47"/>
                  </a:xfrm>
                  <a:custGeom>
                    <a:avLst/>
                    <a:gdLst>
                      <a:gd name="T0" fmla="*/ 0 w 250"/>
                      <a:gd name="T1" fmla="*/ 0 h 142"/>
                      <a:gd name="T2" fmla="*/ 148 w 250"/>
                      <a:gd name="T3" fmla="*/ 0 h 142"/>
                      <a:gd name="T4" fmla="*/ 250 w 250"/>
                      <a:gd name="T5" fmla="*/ 142 h 142"/>
                      <a:gd name="T6" fmla="*/ 47 w 250"/>
                      <a:gd name="T7" fmla="*/ 142 h 142"/>
                      <a:gd name="T8" fmla="*/ 0 w 250"/>
                      <a:gd name="T9" fmla="*/ 0 h 142"/>
                      <a:gd name="T10" fmla="*/ 0 60000 65536"/>
                      <a:gd name="T11" fmla="*/ 0 60000 65536"/>
                      <a:gd name="T12" fmla="*/ 0 60000 65536"/>
                      <a:gd name="T13" fmla="*/ 0 60000 65536"/>
                      <a:gd name="T14" fmla="*/ 0 60000 65536"/>
                      <a:gd name="T15" fmla="*/ 0 w 250"/>
                      <a:gd name="T16" fmla="*/ 0 h 142"/>
                      <a:gd name="T17" fmla="*/ 250 w 250"/>
                      <a:gd name="T18" fmla="*/ 142 h 142"/>
                    </a:gdLst>
                    <a:ahLst/>
                    <a:cxnLst>
                      <a:cxn ang="T10">
                        <a:pos x="T0" y="T1"/>
                      </a:cxn>
                      <a:cxn ang="T11">
                        <a:pos x="T2" y="T3"/>
                      </a:cxn>
                      <a:cxn ang="T12">
                        <a:pos x="T4" y="T5"/>
                      </a:cxn>
                      <a:cxn ang="T13">
                        <a:pos x="T6" y="T7"/>
                      </a:cxn>
                      <a:cxn ang="T14">
                        <a:pos x="T8" y="T9"/>
                      </a:cxn>
                    </a:cxnLst>
                    <a:rect l="T15" t="T16" r="T17" b="T18"/>
                    <a:pathLst>
                      <a:path w="250" h="142">
                        <a:moveTo>
                          <a:pt x="0" y="0"/>
                        </a:moveTo>
                        <a:lnTo>
                          <a:pt x="148" y="0"/>
                        </a:lnTo>
                        <a:lnTo>
                          <a:pt x="250" y="142"/>
                        </a:lnTo>
                        <a:lnTo>
                          <a:pt x="47" y="142"/>
                        </a:lnTo>
                        <a:lnTo>
                          <a:pt x="0" y="0"/>
                        </a:lnTo>
                        <a:close/>
                      </a:path>
                    </a:pathLst>
                  </a:custGeom>
                  <a:solidFill>
                    <a:srgbClr val="FFFFFF"/>
                  </a:solidFill>
                  <a:ln w="6350">
                    <a:solidFill>
                      <a:srgbClr val="000000"/>
                    </a:solidFill>
                    <a:round/>
                    <a:headEnd/>
                    <a:tailEnd/>
                  </a:ln>
                </p:spPr>
                <p:txBody>
                  <a:bodyPr/>
                  <a:lstStyle/>
                  <a:p>
                    <a:endParaRPr lang="en-US" sz="2000"/>
                  </a:p>
                </p:txBody>
              </p:sp>
            </p:grpSp>
            <p:sp>
              <p:nvSpPr>
                <p:cNvPr id="17483" name="Rectangle 65"/>
                <p:cNvSpPr>
                  <a:spLocks noChangeArrowheads="1"/>
                </p:cNvSpPr>
                <p:nvPr/>
              </p:nvSpPr>
              <p:spPr bwMode="auto">
                <a:xfrm>
                  <a:off x="3654" y="2983"/>
                  <a:ext cx="224" cy="178"/>
                </a:xfrm>
                <a:prstGeom prst="rect">
                  <a:avLst/>
                </a:prstGeom>
                <a:solidFill>
                  <a:srgbClr val="FFFFFF"/>
                </a:solidFill>
                <a:ln w="6350">
                  <a:solidFill>
                    <a:srgbClr val="000000"/>
                  </a:solidFill>
                  <a:miter lim="800000"/>
                  <a:headEnd/>
                  <a:tailEnd/>
                </a:ln>
              </p:spPr>
              <p:txBody>
                <a:bodyPr/>
                <a:lstStyle/>
                <a:p>
                  <a:endParaRPr lang="en-US" sz="2000"/>
                </a:p>
              </p:txBody>
            </p:sp>
            <p:sp>
              <p:nvSpPr>
                <p:cNvPr id="17484" name="Rectangle 66"/>
                <p:cNvSpPr>
                  <a:spLocks noChangeArrowheads="1"/>
                </p:cNvSpPr>
                <p:nvPr/>
              </p:nvSpPr>
              <p:spPr bwMode="auto">
                <a:xfrm>
                  <a:off x="3685" y="3007"/>
                  <a:ext cx="162" cy="123"/>
                </a:xfrm>
                <a:prstGeom prst="rect">
                  <a:avLst/>
                </a:prstGeom>
                <a:solidFill>
                  <a:srgbClr val="114FFB"/>
                </a:solidFill>
                <a:ln w="6350">
                  <a:solidFill>
                    <a:srgbClr val="000000"/>
                  </a:solidFill>
                  <a:miter lim="800000"/>
                  <a:headEnd/>
                  <a:tailEnd/>
                </a:ln>
              </p:spPr>
              <p:txBody>
                <a:bodyPr/>
                <a:lstStyle/>
                <a:p>
                  <a:endParaRPr lang="en-US" sz="2000"/>
                </a:p>
              </p:txBody>
            </p:sp>
            <p:sp>
              <p:nvSpPr>
                <p:cNvPr id="17485" name="Rectangle 67"/>
                <p:cNvSpPr>
                  <a:spLocks noChangeArrowheads="1"/>
                </p:cNvSpPr>
                <p:nvPr/>
              </p:nvSpPr>
              <p:spPr bwMode="auto">
                <a:xfrm>
                  <a:off x="3828" y="3141"/>
                  <a:ext cx="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grpSp>
          <p:sp>
            <p:nvSpPr>
              <p:cNvPr id="17475" name="Rectangle 68"/>
              <p:cNvSpPr>
                <a:spLocks noChangeArrowheads="1"/>
              </p:cNvSpPr>
              <p:nvPr/>
            </p:nvSpPr>
            <p:spPr bwMode="auto">
              <a:xfrm>
                <a:off x="3977" y="2867"/>
                <a:ext cx="114" cy="354"/>
              </a:xfrm>
              <a:prstGeom prst="rect">
                <a:avLst/>
              </a:prstGeom>
              <a:solidFill>
                <a:srgbClr val="FFFFFF"/>
              </a:solidFill>
              <a:ln w="6350">
                <a:solidFill>
                  <a:srgbClr val="000000"/>
                </a:solidFill>
                <a:miter lim="800000"/>
                <a:headEnd/>
                <a:tailEnd/>
              </a:ln>
            </p:spPr>
            <p:txBody>
              <a:bodyPr/>
              <a:lstStyle/>
              <a:p>
                <a:endParaRPr lang="en-US" sz="2000"/>
              </a:p>
            </p:txBody>
          </p:sp>
          <p:sp>
            <p:nvSpPr>
              <p:cNvPr id="17476" name="Rectangle 69"/>
              <p:cNvSpPr>
                <a:spLocks noChangeArrowheads="1"/>
              </p:cNvSpPr>
              <p:nvPr/>
            </p:nvSpPr>
            <p:spPr bwMode="auto">
              <a:xfrm>
                <a:off x="4007" y="2898"/>
                <a:ext cx="68" cy="101"/>
              </a:xfrm>
              <a:prstGeom prst="rect">
                <a:avLst/>
              </a:prstGeom>
              <a:solidFill>
                <a:srgbClr val="FFFFFF"/>
              </a:solidFill>
              <a:ln w="6350">
                <a:solidFill>
                  <a:srgbClr val="000000"/>
                </a:solidFill>
                <a:miter lim="800000"/>
                <a:headEnd/>
                <a:tailEnd/>
              </a:ln>
            </p:spPr>
            <p:txBody>
              <a:bodyPr/>
              <a:lstStyle/>
              <a:p>
                <a:endParaRPr lang="en-US" sz="2000"/>
              </a:p>
            </p:txBody>
          </p:sp>
          <p:sp>
            <p:nvSpPr>
              <p:cNvPr id="17477" name="Rectangle 70"/>
              <p:cNvSpPr>
                <a:spLocks noChangeArrowheads="1"/>
              </p:cNvSpPr>
              <p:nvPr/>
            </p:nvSpPr>
            <p:spPr bwMode="auto">
              <a:xfrm>
                <a:off x="4074" y="2998"/>
                <a:ext cx="4" cy="22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478" name="Rectangle 71"/>
              <p:cNvSpPr>
                <a:spLocks noChangeArrowheads="1"/>
              </p:cNvSpPr>
              <p:nvPr/>
            </p:nvSpPr>
            <p:spPr bwMode="auto">
              <a:xfrm>
                <a:off x="4014" y="2926"/>
                <a:ext cx="20" cy="4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479" name="Rectangle 72"/>
              <p:cNvSpPr>
                <a:spLocks noChangeArrowheads="1"/>
              </p:cNvSpPr>
              <p:nvPr/>
            </p:nvSpPr>
            <p:spPr bwMode="auto">
              <a:xfrm>
                <a:off x="4022" y="2898"/>
                <a:ext cx="5"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480" name="Rectangle 73"/>
              <p:cNvSpPr>
                <a:spLocks noChangeArrowheads="1"/>
              </p:cNvSpPr>
              <p:nvPr/>
            </p:nvSpPr>
            <p:spPr bwMode="auto">
              <a:xfrm>
                <a:off x="4062" y="2918"/>
                <a:ext cx="12" cy="2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sp>
            <p:nvSpPr>
              <p:cNvPr id="17481" name="Rectangle 74"/>
              <p:cNvSpPr>
                <a:spLocks noChangeArrowheads="1"/>
              </p:cNvSpPr>
              <p:nvPr/>
            </p:nvSpPr>
            <p:spPr bwMode="auto">
              <a:xfrm>
                <a:off x="4062" y="2957"/>
                <a:ext cx="11" cy="2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a:p>
            </p:txBody>
          </p:sp>
        </p:grpSp>
        <p:grpSp>
          <p:nvGrpSpPr>
            <p:cNvPr id="17441" name="Group 75"/>
            <p:cNvGrpSpPr>
              <a:grpSpLocks/>
            </p:cNvGrpSpPr>
            <p:nvPr/>
          </p:nvGrpSpPr>
          <p:grpSpPr bwMode="auto">
            <a:xfrm>
              <a:off x="4246" y="3397"/>
              <a:ext cx="413" cy="368"/>
              <a:chOff x="4329" y="3512"/>
              <a:chExt cx="413" cy="368"/>
            </a:xfrm>
          </p:grpSpPr>
          <p:grpSp>
            <p:nvGrpSpPr>
              <p:cNvPr id="17458" name="Group 76"/>
              <p:cNvGrpSpPr>
                <a:grpSpLocks/>
              </p:cNvGrpSpPr>
              <p:nvPr/>
            </p:nvGrpSpPr>
            <p:grpSpPr bwMode="auto">
              <a:xfrm>
                <a:off x="4346" y="3742"/>
                <a:ext cx="379" cy="116"/>
                <a:chOff x="4346" y="3742"/>
                <a:chExt cx="379" cy="116"/>
              </a:xfrm>
            </p:grpSpPr>
            <p:sp>
              <p:nvSpPr>
                <p:cNvPr id="17471" name="Rectangle 77"/>
                <p:cNvSpPr>
                  <a:spLocks noChangeArrowheads="1"/>
                </p:cNvSpPr>
                <p:nvPr/>
              </p:nvSpPr>
              <p:spPr bwMode="auto">
                <a:xfrm>
                  <a:off x="4346" y="3742"/>
                  <a:ext cx="379" cy="116"/>
                </a:xfrm>
                <a:prstGeom prst="rect">
                  <a:avLst/>
                </a:prstGeom>
                <a:solidFill>
                  <a:srgbClr val="FFFFFF"/>
                </a:solidFill>
                <a:ln w="6350">
                  <a:solidFill>
                    <a:srgbClr val="000000"/>
                  </a:solidFill>
                  <a:miter lim="800000"/>
                  <a:headEnd/>
                  <a:tailEnd/>
                </a:ln>
              </p:spPr>
              <p:txBody>
                <a:bodyPr/>
                <a:lstStyle/>
                <a:p>
                  <a:endParaRPr lang="en-US" sz="2000"/>
                </a:p>
              </p:txBody>
            </p:sp>
            <p:sp>
              <p:nvSpPr>
                <p:cNvPr id="17472" name="Rectangle 78"/>
                <p:cNvSpPr>
                  <a:spLocks noChangeArrowheads="1"/>
                </p:cNvSpPr>
                <p:nvPr/>
              </p:nvSpPr>
              <p:spPr bwMode="auto">
                <a:xfrm>
                  <a:off x="4557" y="3762"/>
                  <a:ext cx="130" cy="53"/>
                </a:xfrm>
                <a:prstGeom prst="rect">
                  <a:avLst/>
                </a:prstGeom>
                <a:solidFill>
                  <a:srgbClr val="808080"/>
                </a:solidFill>
                <a:ln w="6350">
                  <a:solidFill>
                    <a:srgbClr val="000000"/>
                  </a:solidFill>
                  <a:miter lim="800000"/>
                  <a:headEnd/>
                  <a:tailEnd/>
                </a:ln>
              </p:spPr>
              <p:txBody>
                <a:bodyPr/>
                <a:lstStyle/>
                <a:p>
                  <a:endParaRPr lang="en-US" sz="2000"/>
                </a:p>
              </p:txBody>
            </p:sp>
          </p:grpSp>
          <p:grpSp>
            <p:nvGrpSpPr>
              <p:cNvPr id="17459" name="Group 79"/>
              <p:cNvGrpSpPr>
                <a:grpSpLocks/>
              </p:cNvGrpSpPr>
              <p:nvPr/>
            </p:nvGrpSpPr>
            <p:grpSpPr bwMode="auto">
              <a:xfrm>
                <a:off x="4329" y="3806"/>
                <a:ext cx="413" cy="74"/>
                <a:chOff x="4329" y="3806"/>
                <a:chExt cx="413" cy="74"/>
              </a:xfrm>
            </p:grpSpPr>
            <p:sp>
              <p:nvSpPr>
                <p:cNvPr id="17468" name="Freeform 80"/>
                <p:cNvSpPr>
                  <a:spLocks/>
                </p:cNvSpPr>
                <p:nvPr/>
              </p:nvSpPr>
              <p:spPr bwMode="auto">
                <a:xfrm>
                  <a:off x="4329" y="3806"/>
                  <a:ext cx="413" cy="74"/>
                </a:xfrm>
                <a:custGeom>
                  <a:avLst/>
                  <a:gdLst>
                    <a:gd name="T0" fmla="*/ 155 w 1240"/>
                    <a:gd name="T1" fmla="*/ 0 h 223"/>
                    <a:gd name="T2" fmla="*/ 1090 w 1240"/>
                    <a:gd name="T3" fmla="*/ 0 h 223"/>
                    <a:gd name="T4" fmla="*/ 1237 w 1240"/>
                    <a:gd name="T5" fmla="*/ 201 h 223"/>
                    <a:gd name="T6" fmla="*/ 1240 w 1240"/>
                    <a:gd name="T7" fmla="*/ 210 h 223"/>
                    <a:gd name="T8" fmla="*/ 1234 w 1240"/>
                    <a:gd name="T9" fmla="*/ 218 h 223"/>
                    <a:gd name="T10" fmla="*/ 1224 w 1240"/>
                    <a:gd name="T11" fmla="*/ 223 h 223"/>
                    <a:gd name="T12" fmla="*/ 16 w 1240"/>
                    <a:gd name="T13" fmla="*/ 223 h 223"/>
                    <a:gd name="T14" fmla="*/ 7 w 1240"/>
                    <a:gd name="T15" fmla="*/ 217 h 223"/>
                    <a:gd name="T16" fmla="*/ 0 w 1240"/>
                    <a:gd name="T17" fmla="*/ 207 h 223"/>
                    <a:gd name="T18" fmla="*/ 1 w 1240"/>
                    <a:gd name="T19" fmla="*/ 196 h 223"/>
                    <a:gd name="T20" fmla="*/ 155 w 124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40"/>
                    <a:gd name="T34" fmla="*/ 0 h 223"/>
                    <a:gd name="T35" fmla="*/ 1240 w 124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40" h="223">
                      <a:moveTo>
                        <a:pt x="155" y="0"/>
                      </a:moveTo>
                      <a:lnTo>
                        <a:pt x="1090" y="0"/>
                      </a:lnTo>
                      <a:lnTo>
                        <a:pt x="1237" y="201"/>
                      </a:lnTo>
                      <a:lnTo>
                        <a:pt x="1240" y="210"/>
                      </a:lnTo>
                      <a:lnTo>
                        <a:pt x="1234" y="218"/>
                      </a:lnTo>
                      <a:lnTo>
                        <a:pt x="1224" y="223"/>
                      </a:lnTo>
                      <a:lnTo>
                        <a:pt x="16" y="223"/>
                      </a:lnTo>
                      <a:lnTo>
                        <a:pt x="7" y="217"/>
                      </a:lnTo>
                      <a:lnTo>
                        <a:pt x="0" y="207"/>
                      </a:lnTo>
                      <a:lnTo>
                        <a:pt x="1" y="196"/>
                      </a:lnTo>
                      <a:lnTo>
                        <a:pt x="155" y="0"/>
                      </a:lnTo>
                      <a:close/>
                    </a:path>
                  </a:pathLst>
                </a:custGeom>
                <a:solidFill>
                  <a:srgbClr val="FFFFFF"/>
                </a:solidFill>
                <a:ln w="6350">
                  <a:solidFill>
                    <a:srgbClr val="000000"/>
                  </a:solidFill>
                  <a:round/>
                  <a:headEnd/>
                  <a:tailEnd/>
                </a:ln>
              </p:spPr>
              <p:txBody>
                <a:bodyPr/>
                <a:lstStyle/>
                <a:p>
                  <a:endParaRPr lang="en-US" sz="2000"/>
                </a:p>
              </p:txBody>
            </p:sp>
            <p:sp>
              <p:nvSpPr>
                <p:cNvPr id="17469" name="Freeform 81"/>
                <p:cNvSpPr>
                  <a:spLocks/>
                </p:cNvSpPr>
                <p:nvPr/>
              </p:nvSpPr>
              <p:spPr bwMode="auto">
                <a:xfrm>
                  <a:off x="4352" y="3821"/>
                  <a:ext cx="275" cy="47"/>
                </a:xfrm>
                <a:custGeom>
                  <a:avLst/>
                  <a:gdLst>
                    <a:gd name="T0" fmla="*/ 111 w 825"/>
                    <a:gd name="T1" fmla="*/ 0 h 141"/>
                    <a:gd name="T2" fmla="*/ 786 w 825"/>
                    <a:gd name="T3" fmla="*/ 0 h 141"/>
                    <a:gd name="T4" fmla="*/ 825 w 825"/>
                    <a:gd name="T5" fmla="*/ 141 h 141"/>
                    <a:gd name="T6" fmla="*/ 0 w 825"/>
                    <a:gd name="T7" fmla="*/ 141 h 141"/>
                    <a:gd name="T8" fmla="*/ 111 w 825"/>
                    <a:gd name="T9" fmla="*/ 0 h 141"/>
                    <a:gd name="T10" fmla="*/ 0 60000 65536"/>
                    <a:gd name="T11" fmla="*/ 0 60000 65536"/>
                    <a:gd name="T12" fmla="*/ 0 60000 65536"/>
                    <a:gd name="T13" fmla="*/ 0 60000 65536"/>
                    <a:gd name="T14" fmla="*/ 0 60000 65536"/>
                    <a:gd name="T15" fmla="*/ 0 w 825"/>
                    <a:gd name="T16" fmla="*/ 0 h 141"/>
                    <a:gd name="T17" fmla="*/ 825 w 825"/>
                    <a:gd name="T18" fmla="*/ 141 h 141"/>
                  </a:gdLst>
                  <a:ahLst/>
                  <a:cxnLst>
                    <a:cxn ang="T10">
                      <a:pos x="T0" y="T1"/>
                    </a:cxn>
                    <a:cxn ang="T11">
                      <a:pos x="T2" y="T3"/>
                    </a:cxn>
                    <a:cxn ang="T12">
                      <a:pos x="T4" y="T5"/>
                    </a:cxn>
                    <a:cxn ang="T13">
                      <a:pos x="T6" y="T7"/>
                    </a:cxn>
                    <a:cxn ang="T14">
                      <a:pos x="T8" y="T9"/>
                    </a:cxn>
                  </a:cxnLst>
                  <a:rect l="T15" t="T16" r="T17" b="T18"/>
                  <a:pathLst>
                    <a:path w="825" h="141">
                      <a:moveTo>
                        <a:pt x="111" y="0"/>
                      </a:moveTo>
                      <a:lnTo>
                        <a:pt x="786" y="0"/>
                      </a:lnTo>
                      <a:lnTo>
                        <a:pt x="825" y="141"/>
                      </a:lnTo>
                      <a:lnTo>
                        <a:pt x="0" y="141"/>
                      </a:lnTo>
                      <a:lnTo>
                        <a:pt x="111" y="0"/>
                      </a:lnTo>
                      <a:close/>
                    </a:path>
                  </a:pathLst>
                </a:custGeom>
                <a:solidFill>
                  <a:srgbClr val="FFFFFF"/>
                </a:solidFill>
                <a:ln w="6350">
                  <a:solidFill>
                    <a:srgbClr val="000000"/>
                  </a:solidFill>
                  <a:round/>
                  <a:headEnd/>
                  <a:tailEnd/>
                </a:ln>
              </p:spPr>
              <p:txBody>
                <a:bodyPr/>
                <a:lstStyle/>
                <a:p>
                  <a:endParaRPr lang="en-US" sz="2000"/>
                </a:p>
              </p:txBody>
            </p:sp>
            <p:sp>
              <p:nvSpPr>
                <p:cNvPr id="17470" name="Freeform 82"/>
                <p:cNvSpPr>
                  <a:spLocks/>
                </p:cNvSpPr>
                <p:nvPr/>
              </p:nvSpPr>
              <p:spPr bwMode="auto">
                <a:xfrm>
                  <a:off x="4635" y="3821"/>
                  <a:ext cx="84" cy="47"/>
                </a:xfrm>
                <a:custGeom>
                  <a:avLst/>
                  <a:gdLst>
                    <a:gd name="T0" fmla="*/ 0 w 251"/>
                    <a:gd name="T1" fmla="*/ 0 h 141"/>
                    <a:gd name="T2" fmla="*/ 148 w 251"/>
                    <a:gd name="T3" fmla="*/ 0 h 141"/>
                    <a:gd name="T4" fmla="*/ 251 w 251"/>
                    <a:gd name="T5" fmla="*/ 141 h 141"/>
                    <a:gd name="T6" fmla="*/ 46 w 251"/>
                    <a:gd name="T7" fmla="*/ 141 h 141"/>
                    <a:gd name="T8" fmla="*/ 0 w 251"/>
                    <a:gd name="T9" fmla="*/ 0 h 141"/>
                    <a:gd name="T10" fmla="*/ 0 60000 65536"/>
                    <a:gd name="T11" fmla="*/ 0 60000 65536"/>
                    <a:gd name="T12" fmla="*/ 0 60000 65536"/>
                    <a:gd name="T13" fmla="*/ 0 60000 65536"/>
                    <a:gd name="T14" fmla="*/ 0 60000 65536"/>
                    <a:gd name="T15" fmla="*/ 0 w 251"/>
                    <a:gd name="T16" fmla="*/ 0 h 141"/>
                    <a:gd name="T17" fmla="*/ 251 w 251"/>
                    <a:gd name="T18" fmla="*/ 141 h 141"/>
                  </a:gdLst>
                  <a:ahLst/>
                  <a:cxnLst>
                    <a:cxn ang="T10">
                      <a:pos x="T0" y="T1"/>
                    </a:cxn>
                    <a:cxn ang="T11">
                      <a:pos x="T2" y="T3"/>
                    </a:cxn>
                    <a:cxn ang="T12">
                      <a:pos x="T4" y="T5"/>
                    </a:cxn>
                    <a:cxn ang="T13">
                      <a:pos x="T6" y="T7"/>
                    </a:cxn>
                    <a:cxn ang="T14">
                      <a:pos x="T8" y="T9"/>
                    </a:cxn>
                  </a:cxnLst>
                  <a:rect l="T15" t="T16" r="T17" b="T18"/>
                  <a:pathLst>
                    <a:path w="251" h="141">
                      <a:moveTo>
                        <a:pt x="0" y="0"/>
                      </a:moveTo>
                      <a:lnTo>
                        <a:pt x="148" y="0"/>
                      </a:lnTo>
                      <a:lnTo>
                        <a:pt x="251" y="141"/>
                      </a:lnTo>
                      <a:lnTo>
                        <a:pt x="46" y="141"/>
                      </a:lnTo>
                      <a:lnTo>
                        <a:pt x="0" y="0"/>
                      </a:lnTo>
                      <a:close/>
                    </a:path>
                  </a:pathLst>
                </a:custGeom>
                <a:solidFill>
                  <a:srgbClr val="FFFFFF"/>
                </a:solidFill>
                <a:ln w="6350">
                  <a:solidFill>
                    <a:srgbClr val="000000"/>
                  </a:solidFill>
                  <a:round/>
                  <a:headEnd/>
                  <a:tailEnd/>
                </a:ln>
              </p:spPr>
              <p:txBody>
                <a:bodyPr/>
                <a:lstStyle/>
                <a:p>
                  <a:endParaRPr lang="en-US" sz="2000"/>
                </a:p>
              </p:txBody>
            </p:sp>
          </p:grpSp>
          <p:grpSp>
            <p:nvGrpSpPr>
              <p:cNvPr id="17460" name="Group 83"/>
              <p:cNvGrpSpPr>
                <a:grpSpLocks/>
              </p:cNvGrpSpPr>
              <p:nvPr/>
            </p:nvGrpSpPr>
            <p:grpSpPr bwMode="auto">
              <a:xfrm>
                <a:off x="4399" y="3512"/>
                <a:ext cx="274" cy="226"/>
                <a:chOff x="4399" y="3512"/>
                <a:chExt cx="274" cy="226"/>
              </a:xfrm>
            </p:grpSpPr>
            <p:sp>
              <p:nvSpPr>
                <p:cNvPr id="17461" name="Rectangle 84"/>
                <p:cNvSpPr>
                  <a:spLocks noChangeArrowheads="1"/>
                </p:cNvSpPr>
                <p:nvPr/>
              </p:nvSpPr>
              <p:spPr bwMode="auto">
                <a:xfrm>
                  <a:off x="4399" y="3512"/>
                  <a:ext cx="274" cy="226"/>
                </a:xfrm>
                <a:prstGeom prst="rect">
                  <a:avLst/>
                </a:prstGeom>
                <a:solidFill>
                  <a:srgbClr val="FFFFFF"/>
                </a:solidFill>
                <a:ln w="6350">
                  <a:solidFill>
                    <a:srgbClr val="000000"/>
                  </a:solidFill>
                  <a:miter lim="800000"/>
                  <a:headEnd/>
                  <a:tailEnd/>
                </a:ln>
              </p:spPr>
              <p:txBody>
                <a:bodyPr/>
                <a:lstStyle/>
                <a:p>
                  <a:endParaRPr lang="en-US" sz="2000"/>
                </a:p>
              </p:txBody>
            </p:sp>
            <p:sp>
              <p:nvSpPr>
                <p:cNvPr id="17462" name="Rectangle 85"/>
                <p:cNvSpPr>
                  <a:spLocks noChangeArrowheads="1"/>
                </p:cNvSpPr>
                <p:nvPr/>
              </p:nvSpPr>
              <p:spPr bwMode="auto">
                <a:xfrm>
                  <a:off x="4416" y="3531"/>
                  <a:ext cx="239" cy="191"/>
                </a:xfrm>
                <a:prstGeom prst="rect">
                  <a:avLst/>
                </a:prstGeom>
                <a:solidFill>
                  <a:srgbClr val="114FFB"/>
                </a:solidFill>
                <a:ln w="6350">
                  <a:solidFill>
                    <a:srgbClr val="000000"/>
                  </a:solidFill>
                  <a:miter lim="800000"/>
                  <a:headEnd/>
                  <a:tailEnd/>
                </a:ln>
              </p:spPr>
              <p:txBody>
                <a:bodyPr/>
                <a:lstStyle/>
                <a:p>
                  <a:endParaRPr lang="en-US" sz="2000"/>
                </a:p>
              </p:txBody>
            </p:sp>
            <p:sp>
              <p:nvSpPr>
                <p:cNvPr id="17463" name="Rectangle 86"/>
                <p:cNvSpPr>
                  <a:spLocks noChangeArrowheads="1"/>
                </p:cNvSpPr>
                <p:nvPr/>
              </p:nvSpPr>
              <p:spPr bwMode="auto">
                <a:xfrm>
                  <a:off x="4621" y="3531"/>
                  <a:ext cx="34" cy="191"/>
                </a:xfrm>
                <a:prstGeom prst="rect">
                  <a:avLst/>
                </a:prstGeom>
                <a:solidFill>
                  <a:srgbClr val="FFFFFF"/>
                </a:solidFill>
                <a:ln w="6350">
                  <a:solidFill>
                    <a:srgbClr val="000000"/>
                  </a:solidFill>
                  <a:miter lim="800000"/>
                  <a:headEnd/>
                  <a:tailEnd/>
                </a:ln>
              </p:spPr>
              <p:txBody>
                <a:bodyPr/>
                <a:lstStyle/>
                <a:p>
                  <a:endParaRPr lang="en-US" sz="2000"/>
                </a:p>
              </p:txBody>
            </p:sp>
            <p:sp>
              <p:nvSpPr>
                <p:cNvPr id="17464" name="Rectangle 87"/>
                <p:cNvSpPr>
                  <a:spLocks noChangeArrowheads="1"/>
                </p:cNvSpPr>
                <p:nvPr/>
              </p:nvSpPr>
              <p:spPr bwMode="auto">
                <a:xfrm>
                  <a:off x="4629" y="3541"/>
                  <a:ext cx="17" cy="12"/>
                </a:xfrm>
                <a:prstGeom prst="rect">
                  <a:avLst/>
                </a:prstGeom>
                <a:solidFill>
                  <a:srgbClr val="FFFFFF"/>
                </a:solidFill>
                <a:ln w="6350">
                  <a:solidFill>
                    <a:srgbClr val="000000"/>
                  </a:solidFill>
                  <a:miter lim="800000"/>
                  <a:headEnd/>
                  <a:tailEnd/>
                </a:ln>
              </p:spPr>
              <p:txBody>
                <a:bodyPr/>
                <a:lstStyle/>
                <a:p>
                  <a:endParaRPr lang="en-US" sz="2000"/>
                </a:p>
              </p:txBody>
            </p:sp>
            <p:sp>
              <p:nvSpPr>
                <p:cNvPr id="17465" name="Oval 88"/>
                <p:cNvSpPr>
                  <a:spLocks noChangeArrowheads="1"/>
                </p:cNvSpPr>
                <p:nvPr/>
              </p:nvSpPr>
              <p:spPr bwMode="auto">
                <a:xfrm>
                  <a:off x="4631" y="3624"/>
                  <a:ext cx="12" cy="12"/>
                </a:xfrm>
                <a:prstGeom prst="ellipse">
                  <a:avLst/>
                </a:prstGeom>
                <a:solidFill>
                  <a:srgbClr val="FFFFFF"/>
                </a:solidFill>
                <a:ln w="6350">
                  <a:solidFill>
                    <a:srgbClr val="000000"/>
                  </a:solidFill>
                  <a:round/>
                  <a:headEnd/>
                  <a:tailEnd/>
                </a:ln>
              </p:spPr>
              <p:txBody>
                <a:bodyPr/>
                <a:lstStyle/>
                <a:p>
                  <a:endParaRPr lang="en-US" sz="2000"/>
                </a:p>
              </p:txBody>
            </p:sp>
            <p:sp>
              <p:nvSpPr>
                <p:cNvPr id="17466" name="Oval 89"/>
                <p:cNvSpPr>
                  <a:spLocks noChangeArrowheads="1"/>
                </p:cNvSpPr>
                <p:nvPr/>
              </p:nvSpPr>
              <p:spPr bwMode="auto">
                <a:xfrm>
                  <a:off x="4631" y="3659"/>
                  <a:ext cx="12" cy="12"/>
                </a:xfrm>
                <a:prstGeom prst="ellipse">
                  <a:avLst/>
                </a:prstGeom>
                <a:solidFill>
                  <a:srgbClr val="FFFFFF"/>
                </a:solidFill>
                <a:ln w="6350">
                  <a:solidFill>
                    <a:srgbClr val="000000"/>
                  </a:solidFill>
                  <a:round/>
                  <a:headEnd/>
                  <a:tailEnd/>
                </a:ln>
              </p:spPr>
              <p:txBody>
                <a:bodyPr/>
                <a:lstStyle/>
                <a:p>
                  <a:endParaRPr lang="en-US" sz="2000"/>
                </a:p>
              </p:txBody>
            </p:sp>
            <p:sp>
              <p:nvSpPr>
                <p:cNvPr id="17467" name="Oval 90"/>
                <p:cNvSpPr>
                  <a:spLocks noChangeArrowheads="1"/>
                </p:cNvSpPr>
                <p:nvPr/>
              </p:nvSpPr>
              <p:spPr bwMode="auto">
                <a:xfrm>
                  <a:off x="4631" y="3692"/>
                  <a:ext cx="12" cy="12"/>
                </a:xfrm>
                <a:prstGeom prst="ellipse">
                  <a:avLst/>
                </a:prstGeom>
                <a:solidFill>
                  <a:srgbClr val="FFFFFF"/>
                </a:solidFill>
                <a:ln w="6350">
                  <a:solidFill>
                    <a:srgbClr val="000000"/>
                  </a:solidFill>
                  <a:round/>
                  <a:headEnd/>
                  <a:tailEnd/>
                </a:ln>
              </p:spPr>
              <p:txBody>
                <a:bodyPr/>
                <a:lstStyle/>
                <a:p>
                  <a:endParaRPr lang="en-US" sz="2000"/>
                </a:p>
              </p:txBody>
            </p:sp>
          </p:grpSp>
        </p:grpSp>
        <p:grpSp>
          <p:nvGrpSpPr>
            <p:cNvPr id="17442" name="Group 91"/>
            <p:cNvGrpSpPr>
              <a:grpSpLocks/>
            </p:cNvGrpSpPr>
            <p:nvPr/>
          </p:nvGrpSpPr>
          <p:grpSpPr bwMode="auto">
            <a:xfrm>
              <a:off x="4917" y="3397"/>
              <a:ext cx="413" cy="368"/>
              <a:chOff x="5000" y="3512"/>
              <a:chExt cx="413" cy="368"/>
            </a:xfrm>
          </p:grpSpPr>
          <p:grpSp>
            <p:nvGrpSpPr>
              <p:cNvPr id="17443" name="Group 92"/>
              <p:cNvGrpSpPr>
                <a:grpSpLocks/>
              </p:cNvGrpSpPr>
              <p:nvPr/>
            </p:nvGrpSpPr>
            <p:grpSpPr bwMode="auto">
              <a:xfrm>
                <a:off x="5017" y="3742"/>
                <a:ext cx="379" cy="116"/>
                <a:chOff x="5017" y="3742"/>
                <a:chExt cx="379" cy="116"/>
              </a:xfrm>
            </p:grpSpPr>
            <p:sp>
              <p:nvSpPr>
                <p:cNvPr id="17456" name="Rectangle 93"/>
                <p:cNvSpPr>
                  <a:spLocks noChangeArrowheads="1"/>
                </p:cNvSpPr>
                <p:nvPr/>
              </p:nvSpPr>
              <p:spPr bwMode="auto">
                <a:xfrm>
                  <a:off x="5017" y="3742"/>
                  <a:ext cx="379" cy="116"/>
                </a:xfrm>
                <a:prstGeom prst="rect">
                  <a:avLst/>
                </a:prstGeom>
                <a:solidFill>
                  <a:srgbClr val="FFFFFF"/>
                </a:solidFill>
                <a:ln w="6350">
                  <a:solidFill>
                    <a:srgbClr val="000000"/>
                  </a:solidFill>
                  <a:miter lim="800000"/>
                  <a:headEnd/>
                  <a:tailEnd/>
                </a:ln>
              </p:spPr>
              <p:txBody>
                <a:bodyPr/>
                <a:lstStyle/>
                <a:p>
                  <a:endParaRPr lang="en-US" sz="2000"/>
                </a:p>
              </p:txBody>
            </p:sp>
            <p:sp>
              <p:nvSpPr>
                <p:cNvPr id="17457" name="Rectangle 94"/>
                <p:cNvSpPr>
                  <a:spLocks noChangeArrowheads="1"/>
                </p:cNvSpPr>
                <p:nvPr/>
              </p:nvSpPr>
              <p:spPr bwMode="auto">
                <a:xfrm>
                  <a:off x="5228" y="3762"/>
                  <a:ext cx="131" cy="53"/>
                </a:xfrm>
                <a:prstGeom prst="rect">
                  <a:avLst/>
                </a:prstGeom>
                <a:solidFill>
                  <a:srgbClr val="808080"/>
                </a:solidFill>
                <a:ln w="6350">
                  <a:solidFill>
                    <a:srgbClr val="000000"/>
                  </a:solidFill>
                  <a:miter lim="800000"/>
                  <a:headEnd/>
                  <a:tailEnd/>
                </a:ln>
              </p:spPr>
              <p:txBody>
                <a:bodyPr/>
                <a:lstStyle/>
                <a:p>
                  <a:endParaRPr lang="en-US" sz="2000"/>
                </a:p>
              </p:txBody>
            </p:sp>
          </p:grpSp>
          <p:grpSp>
            <p:nvGrpSpPr>
              <p:cNvPr id="17444" name="Group 95"/>
              <p:cNvGrpSpPr>
                <a:grpSpLocks/>
              </p:cNvGrpSpPr>
              <p:nvPr/>
            </p:nvGrpSpPr>
            <p:grpSpPr bwMode="auto">
              <a:xfrm>
                <a:off x="5000" y="3806"/>
                <a:ext cx="413" cy="74"/>
                <a:chOff x="5000" y="3806"/>
                <a:chExt cx="413" cy="74"/>
              </a:xfrm>
            </p:grpSpPr>
            <p:sp>
              <p:nvSpPr>
                <p:cNvPr id="17453" name="Freeform 96"/>
                <p:cNvSpPr>
                  <a:spLocks/>
                </p:cNvSpPr>
                <p:nvPr/>
              </p:nvSpPr>
              <p:spPr bwMode="auto">
                <a:xfrm>
                  <a:off x="5000" y="3806"/>
                  <a:ext cx="413" cy="74"/>
                </a:xfrm>
                <a:custGeom>
                  <a:avLst/>
                  <a:gdLst>
                    <a:gd name="T0" fmla="*/ 155 w 1240"/>
                    <a:gd name="T1" fmla="*/ 0 h 223"/>
                    <a:gd name="T2" fmla="*/ 1090 w 1240"/>
                    <a:gd name="T3" fmla="*/ 0 h 223"/>
                    <a:gd name="T4" fmla="*/ 1238 w 1240"/>
                    <a:gd name="T5" fmla="*/ 201 h 223"/>
                    <a:gd name="T6" fmla="*/ 1240 w 1240"/>
                    <a:gd name="T7" fmla="*/ 210 h 223"/>
                    <a:gd name="T8" fmla="*/ 1236 w 1240"/>
                    <a:gd name="T9" fmla="*/ 218 h 223"/>
                    <a:gd name="T10" fmla="*/ 1226 w 1240"/>
                    <a:gd name="T11" fmla="*/ 223 h 223"/>
                    <a:gd name="T12" fmla="*/ 16 w 1240"/>
                    <a:gd name="T13" fmla="*/ 223 h 223"/>
                    <a:gd name="T14" fmla="*/ 7 w 1240"/>
                    <a:gd name="T15" fmla="*/ 217 h 223"/>
                    <a:gd name="T16" fmla="*/ 0 w 1240"/>
                    <a:gd name="T17" fmla="*/ 207 h 223"/>
                    <a:gd name="T18" fmla="*/ 3 w 1240"/>
                    <a:gd name="T19" fmla="*/ 196 h 223"/>
                    <a:gd name="T20" fmla="*/ 155 w 124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40"/>
                    <a:gd name="T34" fmla="*/ 0 h 223"/>
                    <a:gd name="T35" fmla="*/ 1240 w 124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40" h="223">
                      <a:moveTo>
                        <a:pt x="155" y="0"/>
                      </a:moveTo>
                      <a:lnTo>
                        <a:pt x="1090" y="0"/>
                      </a:lnTo>
                      <a:lnTo>
                        <a:pt x="1238" y="201"/>
                      </a:lnTo>
                      <a:lnTo>
                        <a:pt x="1240" y="210"/>
                      </a:lnTo>
                      <a:lnTo>
                        <a:pt x="1236" y="218"/>
                      </a:lnTo>
                      <a:lnTo>
                        <a:pt x="1226" y="223"/>
                      </a:lnTo>
                      <a:lnTo>
                        <a:pt x="16" y="223"/>
                      </a:lnTo>
                      <a:lnTo>
                        <a:pt x="7" y="217"/>
                      </a:lnTo>
                      <a:lnTo>
                        <a:pt x="0" y="207"/>
                      </a:lnTo>
                      <a:lnTo>
                        <a:pt x="3" y="196"/>
                      </a:lnTo>
                      <a:lnTo>
                        <a:pt x="155" y="0"/>
                      </a:lnTo>
                      <a:close/>
                    </a:path>
                  </a:pathLst>
                </a:custGeom>
                <a:solidFill>
                  <a:srgbClr val="FFFFFF"/>
                </a:solidFill>
                <a:ln w="6350">
                  <a:solidFill>
                    <a:srgbClr val="000000"/>
                  </a:solidFill>
                  <a:round/>
                  <a:headEnd/>
                  <a:tailEnd/>
                </a:ln>
              </p:spPr>
              <p:txBody>
                <a:bodyPr/>
                <a:lstStyle/>
                <a:p>
                  <a:endParaRPr lang="en-US" sz="2000"/>
                </a:p>
              </p:txBody>
            </p:sp>
            <p:sp>
              <p:nvSpPr>
                <p:cNvPr id="17454" name="Freeform 97"/>
                <p:cNvSpPr>
                  <a:spLocks/>
                </p:cNvSpPr>
                <p:nvPr/>
              </p:nvSpPr>
              <p:spPr bwMode="auto">
                <a:xfrm>
                  <a:off x="5023" y="3821"/>
                  <a:ext cx="275" cy="47"/>
                </a:xfrm>
                <a:custGeom>
                  <a:avLst/>
                  <a:gdLst>
                    <a:gd name="T0" fmla="*/ 111 w 825"/>
                    <a:gd name="T1" fmla="*/ 0 h 141"/>
                    <a:gd name="T2" fmla="*/ 785 w 825"/>
                    <a:gd name="T3" fmla="*/ 0 h 141"/>
                    <a:gd name="T4" fmla="*/ 825 w 825"/>
                    <a:gd name="T5" fmla="*/ 141 h 141"/>
                    <a:gd name="T6" fmla="*/ 0 w 825"/>
                    <a:gd name="T7" fmla="*/ 141 h 141"/>
                    <a:gd name="T8" fmla="*/ 111 w 825"/>
                    <a:gd name="T9" fmla="*/ 0 h 141"/>
                    <a:gd name="T10" fmla="*/ 0 60000 65536"/>
                    <a:gd name="T11" fmla="*/ 0 60000 65536"/>
                    <a:gd name="T12" fmla="*/ 0 60000 65536"/>
                    <a:gd name="T13" fmla="*/ 0 60000 65536"/>
                    <a:gd name="T14" fmla="*/ 0 60000 65536"/>
                    <a:gd name="T15" fmla="*/ 0 w 825"/>
                    <a:gd name="T16" fmla="*/ 0 h 141"/>
                    <a:gd name="T17" fmla="*/ 825 w 825"/>
                    <a:gd name="T18" fmla="*/ 141 h 141"/>
                  </a:gdLst>
                  <a:ahLst/>
                  <a:cxnLst>
                    <a:cxn ang="T10">
                      <a:pos x="T0" y="T1"/>
                    </a:cxn>
                    <a:cxn ang="T11">
                      <a:pos x="T2" y="T3"/>
                    </a:cxn>
                    <a:cxn ang="T12">
                      <a:pos x="T4" y="T5"/>
                    </a:cxn>
                    <a:cxn ang="T13">
                      <a:pos x="T6" y="T7"/>
                    </a:cxn>
                    <a:cxn ang="T14">
                      <a:pos x="T8" y="T9"/>
                    </a:cxn>
                  </a:cxnLst>
                  <a:rect l="T15" t="T16" r="T17" b="T18"/>
                  <a:pathLst>
                    <a:path w="825" h="141">
                      <a:moveTo>
                        <a:pt x="111" y="0"/>
                      </a:moveTo>
                      <a:lnTo>
                        <a:pt x="785" y="0"/>
                      </a:lnTo>
                      <a:lnTo>
                        <a:pt x="825" y="141"/>
                      </a:lnTo>
                      <a:lnTo>
                        <a:pt x="0" y="141"/>
                      </a:lnTo>
                      <a:lnTo>
                        <a:pt x="111" y="0"/>
                      </a:lnTo>
                      <a:close/>
                    </a:path>
                  </a:pathLst>
                </a:custGeom>
                <a:solidFill>
                  <a:srgbClr val="FFFFFF"/>
                </a:solidFill>
                <a:ln w="6350">
                  <a:solidFill>
                    <a:srgbClr val="000000"/>
                  </a:solidFill>
                  <a:round/>
                  <a:headEnd/>
                  <a:tailEnd/>
                </a:ln>
              </p:spPr>
              <p:txBody>
                <a:bodyPr/>
                <a:lstStyle/>
                <a:p>
                  <a:endParaRPr lang="en-US" sz="2000"/>
                </a:p>
              </p:txBody>
            </p:sp>
            <p:sp>
              <p:nvSpPr>
                <p:cNvPr id="17455" name="Freeform 98"/>
                <p:cNvSpPr>
                  <a:spLocks/>
                </p:cNvSpPr>
                <p:nvPr/>
              </p:nvSpPr>
              <p:spPr bwMode="auto">
                <a:xfrm>
                  <a:off x="5306" y="3821"/>
                  <a:ext cx="84" cy="47"/>
                </a:xfrm>
                <a:custGeom>
                  <a:avLst/>
                  <a:gdLst>
                    <a:gd name="T0" fmla="*/ 0 w 251"/>
                    <a:gd name="T1" fmla="*/ 0 h 141"/>
                    <a:gd name="T2" fmla="*/ 148 w 251"/>
                    <a:gd name="T3" fmla="*/ 0 h 141"/>
                    <a:gd name="T4" fmla="*/ 251 w 251"/>
                    <a:gd name="T5" fmla="*/ 141 h 141"/>
                    <a:gd name="T6" fmla="*/ 46 w 251"/>
                    <a:gd name="T7" fmla="*/ 141 h 141"/>
                    <a:gd name="T8" fmla="*/ 0 w 251"/>
                    <a:gd name="T9" fmla="*/ 0 h 141"/>
                    <a:gd name="T10" fmla="*/ 0 60000 65536"/>
                    <a:gd name="T11" fmla="*/ 0 60000 65536"/>
                    <a:gd name="T12" fmla="*/ 0 60000 65536"/>
                    <a:gd name="T13" fmla="*/ 0 60000 65536"/>
                    <a:gd name="T14" fmla="*/ 0 60000 65536"/>
                    <a:gd name="T15" fmla="*/ 0 w 251"/>
                    <a:gd name="T16" fmla="*/ 0 h 141"/>
                    <a:gd name="T17" fmla="*/ 251 w 251"/>
                    <a:gd name="T18" fmla="*/ 141 h 141"/>
                  </a:gdLst>
                  <a:ahLst/>
                  <a:cxnLst>
                    <a:cxn ang="T10">
                      <a:pos x="T0" y="T1"/>
                    </a:cxn>
                    <a:cxn ang="T11">
                      <a:pos x="T2" y="T3"/>
                    </a:cxn>
                    <a:cxn ang="T12">
                      <a:pos x="T4" y="T5"/>
                    </a:cxn>
                    <a:cxn ang="T13">
                      <a:pos x="T6" y="T7"/>
                    </a:cxn>
                    <a:cxn ang="T14">
                      <a:pos x="T8" y="T9"/>
                    </a:cxn>
                  </a:cxnLst>
                  <a:rect l="T15" t="T16" r="T17" b="T18"/>
                  <a:pathLst>
                    <a:path w="251" h="141">
                      <a:moveTo>
                        <a:pt x="0" y="0"/>
                      </a:moveTo>
                      <a:lnTo>
                        <a:pt x="148" y="0"/>
                      </a:lnTo>
                      <a:lnTo>
                        <a:pt x="251" y="141"/>
                      </a:lnTo>
                      <a:lnTo>
                        <a:pt x="46" y="141"/>
                      </a:lnTo>
                      <a:lnTo>
                        <a:pt x="0" y="0"/>
                      </a:lnTo>
                      <a:close/>
                    </a:path>
                  </a:pathLst>
                </a:custGeom>
                <a:solidFill>
                  <a:srgbClr val="FFFFFF"/>
                </a:solidFill>
                <a:ln w="6350">
                  <a:solidFill>
                    <a:srgbClr val="000000"/>
                  </a:solidFill>
                  <a:round/>
                  <a:headEnd/>
                  <a:tailEnd/>
                </a:ln>
              </p:spPr>
              <p:txBody>
                <a:bodyPr/>
                <a:lstStyle/>
                <a:p>
                  <a:endParaRPr lang="en-US" sz="2000"/>
                </a:p>
              </p:txBody>
            </p:sp>
          </p:grpSp>
          <p:grpSp>
            <p:nvGrpSpPr>
              <p:cNvPr id="17445" name="Group 99"/>
              <p:cNvGrpSpPr>
                <a:grpSpLocks/>
              </p:cNvGrpSpPr>
              <p:nvPr/>
            </p:nvGrpSpPr>
            <p:grpSpPr bwMode="auto">
              <a:xfrm>
                <a:off x="5070" y="3512"/>
                <a:ext cx="275" cy="226"/>
                <a:chOff x="5070" y="3512"/>
                <a:chExt cx="275" cy="226"/>
              </a:xfrm>
            </p:grpSpPr>
            <p:sp>
              <p:nvSpPr>
                <p:cNvPr id="17446" name="Rectangle 100"/>
                <p:cNvSpPr>
                  <a:spLocks noChangeArrowheads="1"/>
                </p:cNvSpPr>
                <p:nvPr/>
              </p:nvSpPr>
              <p:spPr bwMode="auto">
                <a:xfrm>
                  <a:off x="5070" y="3512"/>
                  <a:ext cx="275" cy="226"/>
                </a:xfrm>
                <a:prstGeom prst="rect">
                  <a:avLst/>
                </a:prstGeom>
                <a:solidFill>
                  <a:srgbClr val="FFFFFF"/>
                </a:solidFill>
                <a:ln w="6350">
                  <a:solidFill>
                    <a:srgbClr val="000000"/>
                  </a:solidFill>
                  <a:miter lim="800000"/>
                  <a:headEnd/>
                  <a:tailEnd/>
                </a:ln>
              </p:spPr>
              <p:txBody>
                <a:bodyPr/>
                <a:lstStyle/>
                <a:p>
                  <a:endParaRPr lang="en-US" sz="2000"/>
                </a:p>
              </p:txBody>
            </p:sp>
            <p:sp>
              <p:nvSpPr>
                <p:cNvPr id="17447" name="Rectangle 101"/>
                <p:cNvSpPr>
                  <a:spLocks noChangeArrowheads="1"/>
                </p:cNvSpPr>
                <p:nvPr/>
              </p:nvSpPr>
              <p:spPr bwMode="auto">
                <a:xfrm>
                  <a:off x="5087" y="3531"/>
                  <a:ext cx="240" cy="191"/>
                </a:xfrm>
                <a:prstGeom prst="rect">
                  <a:avLst/>
                </a:prstGeom>
                <a:solidFill>
                  <a:srgbClr val="114FFB"/>
                </a:solidFill>
                <a:ln w="6350">
                  <a:solidFill>
                    <a:srgbClr val="000000"/>
                  </a:solidFill>
                  <a:miter lim="800000"/>
                  <a:headEnd/>
                  <a:tailEnd/>
                </a:ln>
              </p:spPr>
              <p:txBody>
                <a:bodyPr/>
                <a:lstStyle/>
                <a:p>
                  <a:endParaRPr lang="en-US" sz="2000"/>
                </a:p>
              </p:txBody>
            </p:sp>
            <p:sp>
              <p:nvSpPr>
                <p:cNvPr id="17448" name="Rectangle 102"/>
                <p:cNvSpPr>
                  <a:spLocks noChangeArrowheads="1"/>
                </p:cNvSpPr>
                <p:nvPr/>
              </p:nvSpPr>
              <p:spPr bwMode="auto">
                <a:xfrm>
                  <a:off x="5293" y="3531"/>
                  <a:ext cx="33" cy="191"/>
                </a:xfrm>
                <a:prstGeom prst="rect">
                  <a:avLst/>
                </a:prstGeom>
                <a:solidFill>
                  <a:srgbClr val="FFFFFF"/>
                </a:solidFill>
                <a:ln w="6350">
                  <a:solidFill>
                    <a:srgbClr val="000000"/>
                  </a:solidFill>
                  <a:miter lim="800000"/>
                  <a:headEnd/>
                  <a:tailEnd/>
                </a:ln>
              </p:spPr>
              <p:txBody>
                <a:bodyPr/>
                <a:lstStyle/>
                <a:p>
                  <a:endParaRPr lang="en-US" sz="2000"/>
                </a:p>
              </p:txBody>
            </p:sp>
            <p:sp>
              <p:nvSpPr>
                <p:cNvPr id="17449" name="Rectangle 103"/>
                <p:cNvSpPr>
                  <a:spLocks noChangeArrowheads="1"/>
                </p:cNvSpPr>
                <p:nvPr/>
              </p:nvSpPr>
              <p:spPr bwMode="auto">
                <a:xfrm>
                  <a:off x="5301" y="3541"/>
                  <a:ext cx="16" cy="12"/>
                </a:xfrm>
                <a:prstGeom prst="rect">
                  <a:avLst/>
                </a:prstGeom>
                <a:solidFill>
                  <a:srgbClr val="FFFFFF"/>
                </a:solidFill>
                <a:ln w="6350">
                  <a:solidFill>
                    <a:srgbClr val="000000"/>
                  </a:solidFill>
                  <a:miter lim="800000"/>
                  <a:headEnd/>
                  <a:tailEnd/>
                </a:ln>
              </p:spPr>
              <p:txBody>
                <a:bodyPr/>
                <a:lstStyle/>
                <a:p>
                  <a:endParaRPr lang="en-US" sz="2000"/>
                </a:p>
              </p:txBody>
            </p:sp>
            <p:sp>
              <p:nvSpPr>
                <p:cNvPr id="17450" name="Oval 104"/>
                <p:cNvSpPr>
                  <a:spLocks noChangeArrowheads="1"/>
                </p:cNvSpPr>
                <p:nvPr/>
              </p:nvSpPr>
              <p:spPr bwMode="auto">
                <a:xfrm>
                  <a:off x="5302" y="3624"/>
                  <a:ext cx="12" cy="12"/>
                </a:xfrm>
                <a:prstGeom prst="ellipse">
                  <a:avLst/>
                </a:prstGeom>
                <a:solidFill>
                  <a:srgbClr val="FFFFFF"/>
                </a:solidFill>
                <a:ln w="6350">
                  <a:solidFill>
                    <a:srgbClr val="000000"/>
                  </a:solidFill>
                  <a:round/>
                  <a:headEnd/>
                  <a:tailEnd/>
                </a:ln>
              </p:spPr>
              <p:txBody>
                <a:bodyPr/>
                <a:lstStyle/>
                <a:p>
                  <a:endParaRPr lang="en-US" sz="2000"/>
                </a:p>
              </p:txBody>
            </p:sp>
            <p:sp>
              <p:nvSpPr>
                <p:cNvPr id="17451" name="Oval 105"/>
                <p:cNvSpPr>
                  <a:spLocks noChangeArrowheads="1"/>
                </p:cNvSpPr>
                <p:nvPr/>
              </p:nvSpPr>
              <p:spPr bwMode="auto">
                <a:xfrm>
                  <a:off x="5302" y="3659"/>
                  <a:ext cx="12" cy="12"/>
                </a:xfrm>
                <a:prstGeom prst="ellipse">
                  <a:avLst/>
                </a:prstGeom>
                <a:solidFill>
                  <a:srgbClr val="FFFFFF"/>
                </a:solidFill>
                <a:ln w="6350">
                  <a:solidFill>
                    <a:srgbClr val="000000"/>
                  </a:solidFill>
                  <a:round/>
                  <a:headEnd/>
                  <a:tailEnd/>
                </a:ln>
              </p:spPr>
              <p:txBody>
                <a:bodyPr/>
                <a:lstStyle/>
                <a:p>
                  <a:endParaRPr lang="en-US" sz="2000"/>
                </a:p>
              </p:txBody>
            </p:sp>
            <p:sp>
              <p:nvSpPr>
                <p:cNvPr id="17452" name="Oval 106"/>
                <p:cNvSpPr>
                  <a:spLocks noChangeArrowheads="1"/>
                </p:cNvSpPr>
                <p:nvPr/>
              </p:nvSpPr>
              <p:spPr bwMode="auto">
                <a:xfrm>
                  <a:off x="5302" y="3692"/>
                  <a:ext cx="12" cy="12"/>
                </a:xfrm>
                <a:prstGeom prst="ellipse">
                  <a:avLst/>
                </a:prstGeom>
                <a:solidFill>
                  <a:srgbClr val="FFFFFF"/>
                </a:solidFill>
                <a:ln w="6350">
                  <a:solidFill>
                    <a:srgbClr val="000000"/>
                  </a:solidFill>
                  <a:round/>
                  <a:headEnd/>
                  <a:tailEnd/>
                </a:ln>
              </p:spPr>
              <p:txBody>
                <a:bodyPr/>
                <a:lstStyle/>
                <a:p>
                  <a:endParaRPr lang="en-US" sz="2000"/>
                </a:p>
              </p:txBody>
            </p:sp>
          </p:grpSp>
        </p:grpSp>
      </p:grpSp>
      <p:sp>
        <p:nvSpPr>
          <p:cNvPr id="17425" name="Arc 107"/>
          <p:cNvSpPr>
            <a:spLocks/>
          </p:cNvSpPr>
          <p:nvPr/>
        </p:nvSpPr>
        <p:spPr bwMode="auto">
          <a:xfrm rot="-7243434">
            <a:off x="2613819" y="3093244"/>
            <a:ext cx="381000" cy="1103312"/>
          </a:xfrm>
          <a:custGeom>
            <a:avLst/>
            <a:gdLst>
              <a:gd name="T0" fmla="*/ 381000 w 21600"/>
              <a:gd name="T1" fmla="*/ 1103312 h 34758"/>
              <a:gd name="T2" fmla="*/ 78846 w 21600"/>
              <a:gd name="T3" fmla="*/ 0 h 34758"/>
              <a:gd name="T4" fmla="*/ 381000 w 21600"/>
              <a:gd name="T5" fmla="*/ 417670 h 34758"/>
              <a:gd name="T6" fmla="*/ 0 60000 65536"/>
              <a:gd name="T7" fmla="*/ 0 60000 65536"/>
              <a:gd name="T8" fmla="*/ 0 60000 65536"/>
              <a:gd name="T9" fmla="*/ 0 w 21600"/>
              <a:gd name="T10" fmla="*/ 0 h 34758"/>
              <a:gd name="T11" fmla="*/ 21600 w 21600"/>
              <a:gd name="T12" fmla="*/ 34758 h 34758"/>
            </a:gdLst>
            <a:ahLst/>
            <a:cxnLst>
              <a:cxn ang="T6">
                <a:pos x="T0" y="T1"/>
              </a:cxn>
              <a:cxn ang="T7">
                <a:pos x="T2" y="T3"/>
              </a:cxn>
              <a:cxn ang="T8">
                <a:pos x="T4" y="T5"/>
              </a:cxn>
            </a:cxnLst>
            <a:rect l="T9" t="T10" r="T11" b="T12"/>
            <a:pathLst>
              <a:path w="21600" h="34758" fill="none" extrusionOk="0">
                <a:moveTo>
                  <a:pt x="21600" y="34758"/>
                </a:moveTo>
                <a:cubicBezTo>
                  <a:pt x="9670" y="34758"/>
                  <a:pt x="0" y="25087"/>
                  <a:pt x="0" y="13158"/>
                </a:cubicBezTo>
                <a:cubicBezTo>
                  <a:pt x="-1" y="8399"/>
                  <a:pt x="1571" y="3773"/>
                  <a:pt x="4470" y="0"/>
                </a:cubicBezTo>
              </a:path>
              <a:path w="21600" h="34758" stroke="0" extrusionOk="0">
                <a:moveTo>
                  <a:pt x="21600" y="34758"/>
                </a:moveTo>
                <a:cubicBezTo>
                  <a:pt x="9670" y="34758"/>
                  <a:pt x="0" y="25087"/>
                  <a:pt x="0" y="13158"/>
                </a:cubicBezTo>
                <a:cubicBezTo>
                  <a:pt x="-1" y="8399"/>
                  <a:pt x="1571" y="3773"/>
                  <a:pt x="4470" y="0"/>
                </a:cubicBezTo>
                <a:lnTo>
                  <a:pt x="21600" y="13158"/>
                </a:lnTo>
                <a:close/>
              </a:path>
            </a:pathLst>
          </a:custGeom>
          <a:noFill/>
          <a:ln w="50800" cap="rnd">
            <a:solidFill>
              <a:srgbClr val="FAF8CC"/>
            </a:solidFill>
            <a:prstDash val="sysDot"/>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000"/>
          </a:p>
        </p:txBody>
      </p:sp>
      <p:sp>
        <p:nvSpPr>
          <p:cNvPr id="17426" name="Rectangle 108"/>
          <p:cNvSpPr>
            <a:spLocks noChangeArrowheads="1"/>
          </p:cNvSpPr>
          <p:nvPr/>
        </p:nvSpPr>
        <p:spPr bwMode="auto">
          <a:xfrm>
            <a:off x="6372225" y="5829300"/>
            <a:ext cx="2481449" cy="4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p>
            <a:pPr eaLnBrk="0" hangingPunct="0"/>
            <a:r>
              <a:rPr lang="en-US" sz="2000">
                <a:solidFill>
                  <a:schemeClr val="tx1"/>
                </a:solidFill>
              </a:rPr>
              <a:t>(E.g. Environments)</a:t>
            </a:r>
          </a:p>
        </p:txBody>
      </p:sp>
      <p:grpSp>
        <p:nvGrpSpPr>
          <p:cNvPr id="17427" name="Group 109"/>
          <p:cNvGrpSpPr>
            <a:grpSpLocks/>
          </p:cNvGrpSpPr>
          <p:nvPr/>
        </p:nvGrpSpPr>
        <p:grpSpPr bwMode="auto">
          <a:xfrm>
            <a:off x="2916238" y="1633538"/>
            <a:ext cx="2311400" cy="1549400"/>
            <a:chOff x="1837" y="1029"/>
            <a:chExt cx="1456" cy="976"/>
          </a:xfrm>
        </p:grpSpPr>
        <p:sp>
          <p:nvSpPr>
            <p:cNvPr id="330862" name="AutoShape 110"/>
            <p:cNvSpPr>
              <a:spLocks noChangeArrowheads="1"/>
            </p:cNvSpPr>
            <p:nvPr/>
          </p:nvSpPr>
          <p:spPr bwMode="auto">
            <a:xfrm>
              <a:off x="1837" y="1029"/>
              <a:ext cx="1456" cy="976"/>
            </a:xfrm>
            <a:prstGeom prst="cube">
              <a:avLst>
                <a:gd name="adj" fmla="val 24995"/>
              </a:avLst>
            </a:prstGeom>
            <a:gradFill rotWithShape="0">
              <a:gsLst>
                <a:gs pos="0">
                  <a:srgbClr val="33CC33">
                    <a:gamma/>
                    <a:shade val="46275"/>
                    <a:invGamma/>
                  </a:srgbClr>
                </a:gs>
                <a:gs pos="50000">
                  <a:srgbClr val="33CC33"/>
                </a:gs>
                <a:gs pos="100000">
                  <a:srgbClr val="33CC33">
                    <a:gamma/>
                    <a:shade val="46275"/>
                    <a:invGamma/>
                  </a:srgbClr>
                </a:gs>
              </a:gsLst>
              <a:lin ang="5400000" scaled="1"/>
            </a:gradFill>
            <a:ln w="50800">
              <a:solidFill>
                <a:schemeClr val="folHlink"/>
              </a:solidFill>
              <a:miter lim="800000"/>
              <a:headEnd/>
              <a:tailEnd/>
            </a:ln>
            <a:effectLst>
              <a:outerShdw dist="107763" dir="2700000" algn="ctr" rotWithShape="0">
                <a:schemeClr val="bg2"/>
              </a:outerShdw>
            </a:effectLst>
          </p:spPr>
          <p:txBody>
            <a:bodyPr wrap="none" anchor="ctr"/>
            <a:lstStyle/>
            <a:p>
              <a:pPr>
                <a:defRPr/>
              </a:pPr>
              <a:endParaRPr lang="en-US" sz="2000"/>
            </a:p>
          </p:txBody>
        </p:sp>
        <p:sp>
          <p:nvSpPr>
            <p:cNvPr id="17429" name="Rectangle 111"/>
            <p:cNvSpPr>
              <a:spLocks noChangeArrowheads="1"/>
            </p:cNvSpPr>
            <p:nvPr/>
          </p:nvSpPr>
          <p:spPr bwMode="auto">
            <a:xfrm>
              <a:off x="1895" y="1453"/>
              <a:ext cx="11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en-US" sz="2000" b="1"/>
                <a:t>System</a:t>
              </a:r>
            </a:p>
          </p:txBody>
        </p:sp>
      </p:grpSp>
      <p:sp>
        <p:nvSpPr>
          <p:cNvPr id="2" name="Slide Number Placeholder 1"/>
          <p:cNvSpPr>
            <a:spLocks noGrp="1"/>
          </p:cNvSpPr>
          <p:nvPr>
            <p:ph type="sldNum" sz="quarter" idx="12"/>
          </p:nvPr>
        </p:nvSpPr>
        <p:spPr/>
        <p:txBody>
          <a:bodyPr/>
          <a:lstStyle/>
          <a:p>
            <a:fld id="{27392B6C-813E-42DE-A59C-034281A964AB}" type="slidenum">
              <a:rPr lang="en-US" smtClean="0"/>
              <a:pPr/>
              <a:t>4</a:t>
            </a:fld>
            <a:endParaRPr lang="en-US"/>
          </a:p>
        </p:txBody>
      </p:sp>
    </p:spTree>
    <p:extLst>
      <p:ext uri="{BB962C8B-B14F-4D97-AF65-F5344CB8AC3E}">
        <p14:creationId xmlns:p14="http://schemas.microsoft.com/office/powerpoint/2010/main" val="343656088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800" dirty="0"/>
              <a:t>UML in Context of Requirement Modeling</a:t>
            </a:r>
          </a:p>
        </p:txBody>
      </p:sp>
      <p:pic>
        <p:nvPicPr>
          <p:cNvPr id="415746" name="Picture 2" descr="RUP_grab"/>
          <p:cNvPicPr>
            <a:picLocks noChangeAspect="1" noChangeArrowheads="1"/>
          </p:cNvPicPr>
          <p:nvPr/>
        </p:nvPicPr>
        <p:blipFill>
          <a:blip r:embed="rId3"/>
          <a:srcRect/>
          <a:stretch>
            <a:fillRect/>
          </a:stretch>
        </p:blipFill>
        <p:spPr bwMode="auto">
          <a:xfrm>
            <a:off x="2682875" y="1598613"/>
            <a:ext cx="6119813" cy="4192587"/>
          </a:xfrm>
          <a:prstGeom prst="rect">
            <a:avLst/>
          </a:prstGeom>
          <a:noFill/>
          <a:ln w="9525">
            <a:solidFill>
              <a:schemeClr val="bg2"/>
            </a:solidFill>
            <a:miter lim="800000"/>
            <a:headEnd/>
            <a:tailEnd/>
          </a:ln>
          <a:effectLst>
            <a:outerShdw dist="71842" dir="2700000" algn="ctr" rotWithShape="0">
              <a:srgbClr val="808080">
                <a:alpha val="50000"/>
              </a:srgbClr>
            </a:outerShdw>
          </a:effectLst>
        </p:spPr>
      </p:pic>
      <p:sp>
        <p:nvSpPr>
          <p:cNvPr id="415747" name="Rectangle 3"/>
          <p:cNvSpPr>
            <a:spLocks noChangeArrowheads="1"/>
          </p:cNvSpPr>
          <p:nvPr/>
        </p:nvSpPr>
        <p:spPr bwMode="auto">
          <a:xfrm>
            <a:off x="1258888" y="76200"/>
            <a:ext cx="7816850" cy="533400"/>
          </a:xfrm>
          <a:prstGeom prst="rect">
            <a:avLst/>
          </a:prstGeom>
          <a:noFill/>
          <a:ln w="9525">
            <a:noFill/>
            <a:miter lim="800000"/>
            <a:headEnd/>
            <a:tailEnd/>
          </a:ln>
          <a:effectLst/>
        </p:spPr>
        <p:txBody>
          <a:bodyPr lIns="92075" tIns="46038" rIns="92075" bIns="46038" anchor="ctr"/>
          <a:lstStyle/>
          <a:p>
            <a:pPr>
              <a:buClr>
                <a:srgbClr val="73E1FF"/>
              </a:buClr>
              <a:defRPr/>
            </a:pPr>
            <a:endParaRPr lang="en-US" sz="2800" b="1" dirty="0">
              <a:solidFill>
                <a:schemeClr val="tx1"/>
              </a:solidFill>
              <a:effectLst>
                <a:outerShdw blurRad="38100" dist="38100" dir="2700000" algn="tl">
                  <a:srgbClr val="C0C0C0"/>
                </a:outerShdw>
              </a:effectLst>
            </a:endParaRPr>
          </a:p>
        </p:txBody>
      </p:sp>
      <p:grpSp>
        <p:nvGrpSpPr>
          <p:cNvPr id="2" name="Group 5"/>
          <p:cNvGrpSpPr>
            <a:grpSpLocks/>
          </p:cNvGrpSpPr>
          <p:nvPr/>
        </p:nvGrpSpPr>
        <p:grpSpPr bwMode="auto">
          <a:xfrm>
            <a:off x="2393950" y="2695575"/>
            <a:ext cx="6619875" cy="215900"/>
            <a:chOff x="2872" y="1104"/>
            <a:chExt cx="2680" cy="176"/>
          </a:xfrm>
        </p:grpSpPr>
        <p:sp>
          <p:nvSpPr>
            <p:cNvPr id="18445" name="Rectangle 6"/>
            <p:cNvSpPr>
              <a:spLocks noChangeArrowheads="1"/>
            </p:cNvSpPr>
            <p:nvPr/>
          </p:nvSpPr>
          <p:spPr bwMode="auto">
            <a:xfrm>
              <a:off x="2872" y="1104"/>
              <a:ext cx="2680" cy="176"/>
            </a:xfrm>
            <a:prstGeom prst="rect">
              <a:avLst/>
            </a:prstGeom>
            <a:noFill/>
            <a:ln w="762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endParaRPr lang="en-US"/>
            </a:p>
          </p:txBody>
        </p:sp>
        <p:sp>
          <p:nvSpPr>
            <p:cNvPr id="18446" name="Rectangle 7"/>
            <p:cNvSpPr>
              <a:spLocks noChangeArrowheads="1"/>
            </p:cNvSpPr>
            <p:nvPr/>
          </p:nvSpPr>
          <p:spPr bwMode="auto">
            <a:xfrm>
              <a:off x="2872" y="1104"/>
              <a:ext cx="2680" cy="176"/>
            </a:xfrm>
            <a:prstGeom prst="rect">
              <a:avLst/>
            </a:prstGeom>
            <a:noFill/>
            <a:ln w="5715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endParaRPr lang="en-US"/>
            </a:p>
          </p:txBody>
        </p:sp>
      </p:grpSp>
      <p:grpSp>
        <p:nvGrpSpPr>
          <p:cNvPr id="3" name="Group 10"/>
          <p:cNvGrpSpPr>
            <a:grpSpLocks/>
          </p:cNvGrpSpPr>
          <p:nvPr/>
        </p:nvGrpSpPr>
        <p:grpSpPr bwMode="auto">
          <a:xfrm>
            <a:off x="2393950" y="2406650"/>
            <a:ext cx="6619875" cy="215900"/>
            <a:chOff x="2872" y="1104"/>
            <a:chExt cx="2680" cy="176"/>
          </a:xfrm>
        </p:grpSpPr>
        <p:sp>
          <p:nvSpPr>
            <p:cNvPr id="18443" name="Rectangle 11"/>
            <p:cNvSpPr>
              <a:spLocks noChangeArrowheads="1"/>
            </p:cNvSpPr>
            <p:nvPr/>
          </p:nvSpPr>
          <p:spPr bwMode="auto">
            <a:xfrm>
              <a:off x="2872" y="1104"/>
              <a:ext cx="2680" cy="176"/>
            </a:xfrm>
            <a:prstGeom prst="rect">
              <a:avLst/>
            </a:prstGeom>
            <a:noFill/>
            <a:ln w="762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endParaRPr lang="en-US"/>
            </a:p>
          </p:txBody>
        </p:sp>
        <p:sp>
          <p:nvSpPr>
            <p:cNvPr id="18444" name="Rectangle 12"/>
            <p:cNvSpPr>
              <a:spLocks noChangeArrowheads="1"/>
            </p:cNvSpPr>
            <p:nvPr/>
          </p:nvSpPr>
          <p:spPr bwMode="auto">
            <a:xfrm>
              <a:off x="2872" y="1104"/>
              <a:ext cx="2680" cy="176"/>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endParaRPr lang="en-US"/>
            </a:p>
          </p:txBody>
        </p:sp>
      </p:grpSp>
      <p:sp>
        <p:nvSpPr>
          <p:cNvPr id="18441" name="AutoShape 13"/>
          <p:cNvSpPr>
            <a:spLocks/>
          </p:cNvSpPr>
          <p:nvPr/>
        </p:nvSpPr>
        <p:spPr bwMode="auto">
          <a:xfrm>
            <a:off x="228600" y="1543050"/>
            <a:ext cx="2233613" cy="719138"/>
          </a:xfrm>
          <a:prstGeom prst="borderCallout2">
            <a:avLst>
              <a:gd name="adj1" fmla="val 15894"/>
              <a:gd name="adj2" fmla="val 103412"/>
              <a:gd name="adj3" fmla="val 15894"/>
              <a:gd name="adj4" fmla="val 119903"/>
              <a:gd name="adj5" fmla="val 96028"/>
              <a:gd name="adj6" fmla="val 137028"/>
            </a:avLst>
          </a:prstGeom>
          <a:noFill/>
          <a:ln w="25400" algn="ctr">
            <a:solidFill>
              <a:srgbClr val="FF1E0D"/>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sz="2000" b="1" dirty="0"/>
              <a:t>Business Use-case Modeling</a:t>
            </a:r>
          </a:p>
        </p:txBody>
      </p:sp>
      <p:sp>
        <p:nvSpPr>
          <p:cNvPr id="18442" name="AutoShape 14"/>
          <p:cNvSpPr>
            <a:spLocks/>
          </p:cNvSpPr>
          <p:nvPr/>
        </p:nvSpPr>
        <p:spPr bwMode="auto">
          <a:xfrm>
            <a:off x="228600" y="3054350"/>
            <a:ext cx="2233613" cy="719138"/>
          </a:xfrm>
          <a:prstGeom prst="borderCallout2">
            <a:avLst>
              <a:gd name="adj1" fmla="val 15894"/>
              <a:gd name="adj2" fmla="val 103412"/>
              <a:gd name="adj3" fmla="val 15894"/>
              <a:gd name="adj4" fmla="val 121106"/>
              <a:gd name="adj5" fmla="val -35764"/>
              <a:gd name="adj6" fmla="val 139519"/>
            </a:avLst>
          </a:prstGeom>
          <a:noFill/>
          <a:ln w="25400" algn="ctr">
            <a:solidFill>
              <a:srgbClr val="FF1E0D"/>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sz="2000" b="1" dirty="0"/>
              <a:t>System Use-case Modeling</a:t>
            </a:r>
          </a:p>
        </p:txBody>
      </p:sp>
      <p:sp>
        <p:nvSpPr>
          <p:cNvPr id="4" name="Slide Number Placeholder 3"/>
          <p:cNvSpPr>
            <a:spLocks noGrp="1"/>
          </p:cNvSpPr>
          <p:nvPr>
            <p:ph type="sldNum" sz="quarter" idx="12"/>
          </p:nvPr>
        </p:nvSpPr>
        <p:spPr/>
        <p:txBody>
          <a:bodyPr/>
          <a:lstStyle/>
          <a:p>
            <a:fld id="{DED05017-923D-480E-B02E-B52739184DCA}" type="slidenum">
              <a:rPr lang="en-US" smtClean="0"/>
              <a:pPr/>
              <a:t>5</a:t>
            </a:fld>
            <a:endParaRPr lang="en-US"/>
          </a:p>
        </p:txBody>
      </p:sp>
    </p:spTree>
    <p:extLst>
      <p:ext uri="{BB962C8B-B14F-4D97-AF65-F5344CB8AC3E}">
        <p14:creationId xmlns:p14="http://schemas.microsoft.com/office/powerpoint/2010/main" val="26049815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ctrTitle"/>
          </p:nvPr>
        </p:nvSpPr>
        <p:spPr/>
        <p:txBody>
          <a:bodyPr/>
          <a:lstStyle/>
          <a:p>
            <a:r>
              <a:rPr lang="fr-FR"/>
              <a:t>Use-case Modeling</a:t>
            </a:r>
            <a:endParaRPr lang="fr-FR" dirty="0"/>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4"/>
          </p:nvPr>
        </p:nvSpPr>
        <p:spPr>
          <a:xfrm>
            <a:off x="6553200" y="6553200"/>
            <a:ext cx="2133600" cy="320675"/>
          </a:xfrm>
        </p:spPr>
        <p:txBody>
          <a:bodyPr/>
          <a:lstStyle/>
          <a:p>
            <a:fld id="{333C615C-EBA2-46CC-BC7D-62072C64C651}" type="slidenum">
              <a:rPr lang="en-US" smtClean="0">
                <a:solidFill>
                  <a:srgbClr val="0070C0"/>
                </a:solidFill>
              </a:rPr>
              <a:pPr/>
              <a:t>6</a:t>
            </a:fld>
            <a:endParaRPr lang="en-US">
              <a:solidFill>
                <a:srgbClr val="0070C0"/>
              </a:solidFill>
            </a:endParaRPr>
          </a:p>
        </p:txBody>
      </p:sp>
    </p:spTree>
    <p:extLst>
      <p:ext uri="{BB962C8B-B14F-4D97-AF65-F5344CB8AC3E}">
        <p14:creationId xmlns:p14="http://schemas.microsoft.com/office/powerpoint/2010/main" val="3796852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eaLnBrk="1" hangingPunct="1">
              <a:defRPr/>
            </a:pPr>
            <a:r>
              <a:rPr lang="en-US"/>
              <a:t>Objectives</a:t>
            </a:r>
          </a:p>
        </p:txBody>
      </p:sp>
      <p:sp>
        <p:nvSpPr>
          <p:cNvPr id="20486" name="Rectangle 3"/>
          <p:cNvSpPr>
            <a:spLocks noGrp="1" noChangeArrowheads="1"/>
          </p:cNvSpPr>
          <p:nvPr>
            <p:ph type="body" idx="1"/>
          </p:nvPr>
        </p:nvSpPr>
        <p:spPr/>
        <p:txBody>
          <a:bodyPr/>
          <a:lstStyle/>
          <a:p>
            <a:pPr eaLnBrk="1" hangingPunct="1"/>
            <a:r>
              <a:rPr lang="en-US" sz="2000" dirty="0"/>
              <a:t>When you complete this module, you should be able to:</a:t>
            </a:r>
          </a:p>
          <a:p>
            <a:pPr marL="798513" lvl="1" indent="-341313" eaLnBrk="1" hangingPunct="1"/>
            <a:r>
              <a:rPr lang="en-US" sz="2000" dirty="0"/>
              <a:t>Define actor, use case, and use-case model</a:t>
            </a:r>
          </a:p>
          <a:p>
            <a:pPr marL="798513" lvl="1" indent="-341313" eaLnBrk="1" hangingPunct="1"/>
            <a:r>
              <a:rPr lang="en-US" sz="2000" dirty="0"/>
              <a:t>List the benefits of use cases</a:t>
            </a:r>
          </a:p>
          <a:p>
            <a:pPr marL="798513" lvl="1" indent="-341313" eaLnBrk="1" hangingPunct="1"/>
            <a:r>
              <a:rPr lang="en-US" sz="2000" dirty="0"/>
              <a:t>Explain how use cases fit into a requirements management process and the software development lifecycle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a:t>
            </a:fld>
            <a:endParaRPr lang="en-US"/>
          </a:p>
        </p:txBody>
      </p:sp>
    </p:spTree>
    <p:custDataLst>
      <p:tags r:id="rId1"/>
    </p:custDataLst>
    <p:extLst>
      <p:ext uri="{BB962C8B-B14F-4D97-AF65-F5344CB8AC3E}">
        <p14:creationId xmlns:p14="http://schemas.microsoft.com/office/powerpoint/2010/main" val="419439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Grp="1" noChangeAspect="1"/>
          </p:cNvGraphicFramePr>
          <p:nvPr>
            <p:ph sz="quarter" idx="2"/>
          </p:nvPr>
        </p:nvGraphicFramePr>
        <p:xfrm>
          <a:off x="5768975" y="2555875"/>
          <a:ext cx="2678113" cy="2592388"/>
        </p:xfrm>
        <a:graphic>
          <a:graphicData uri="http://schemas.openxmlformats.org/presentationml/2006/ole">
            <mc:AlternateContent xmlns:mc="http://schemas.openxmlformats.org/markup-compatibility/2006">
              <mc:Choice xmlns:v="urn:schemas-microsoft-com:vml" Requires="v">
                <p:oleObj spid="_x0000_s9302" name="Photo Editor Photo" r:id="rId4" imgW="2857899" imgH="2857899" progId="MSPhotoEd.3">
                  <p:embed/>
                </p:oleObj>
              </mc:Choice>
              <mc:Fallback>
                <p:oleObj name="Photo Editor Photo" r:id="rId4" imgW="2857899" imgH="2857899" progId="MSPhotoEd.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8975" y="2555875"/>
                        <a:ext cx="2678113"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7843" name="Rectangle 3"/>
          <p:cNvSpPr>
            <a:spLocks noGrp="1" noChangeArrowheads="1"/>
          </p:cNvSpPr>
          <p:nvPr>
            <p:ph type="title"/>
          </p:nvPr>
        </p:nvSpPr>
        <p:spPr/>
        <p:txBody>
          <a:bodyPr/>
          <a:lstStyle/>
          <a:p>
            <a:pPr eaLnBrk="1" hangingPunct="1">
              <a:defRPr/>
            </a:pPr>
            <a:r>
              <a:rPr lang="en-US" sz="2800" dirty="0"/>
              <a:t>Use cases involve a shift in thinking</a:t>
            </a:r>
          </a:p>
        </p:txBody>
      </p:sp>
      <p:sp>
        <p:nvSpPr>
          <p:cNvPr id="1034" name="Rectangle 4"/>
          <p:cNvSpPr>
            <a:spLocks noGrp="1" noChangeArrowheads="1"/>
          </p:cNvSpPr>
          <p:nvPr>
            <p:ph type="body" sz="half" idx="1"/>
          </p:nvPr>
        </p:nvSpPr>
        <p:spPr>
          <a:xfrm>
            <a:off x="319088" y="1327150"/>
            <a:ext cx="3716337" cy="1649413"/>
          </a:xfrm>
        </p:spPr>
        <p:txBody>
          <a:bodyPr/>
          <a:lstStyle/>
          <a:p>
            <a:pPr marL="0" indent="0" algn="ctr" eaLnBrk="1" hangingPunct="1">
              <a:buFont typeface="Wingdings" pitchFamily="2" charset="2"/>
              <a:buNone/>
            </a:pPr>
            <a:r>
              <a:rPr lang="en-US" sz="2000" dirty="0"/>
              <a:t>From a focus on the function of a system </a:t>
            </a:r>
          </a:p>
        </p:txBody>
      </p:sp>
      <p:graphicFrame>
        <p:nvGraphicFramePr>
          <p:cNvPr id="1027" name="Object 5"/>
          <p:cNvGraphicFramePr>
            <a:graphicFrameLocks noGrp="1" noChangeAspect="1"/>
          </p:cNvGraphicFramePr>
          <p:nvPr>
            <p:ph sz="quarter" idx="3"/>
          </p:nvPr>
        </p:nvGraphicFramePr>
        <p:xfrm>
          <a:off x="1514475" y="2700338"/>
          <a:ext cx="1541463" cy="2593975"/>
        </p:xfrm>
        <a:graphic>
          <a:graphicData uri="http://schemas.openxmlformats.org/presentationml/2006/ole">
            <mc:AlternateContent xmlns:mc="http://schemas.openxmlformats.org/markup-compatibility/2006">
              <mc:Choice xmlns:v="urn:schemas-microsoft-com:vml" Requires="v">
                <p:oleObj spid="_x0000_s9303" name="Photo Editor Photo" r:id="rId6" imgW="2095793" imgH="3638095" progId="MSPhotoEd.3">
                  <p:embed/>
                </p:oleObj>
              </mc:Choice>
              <mc:Fallback>
                <p:oleObj name="Photo Editor Photo" r:id="rId6" imgW="2095793" imgH="3638095" progId="MSPhotoEd.3">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4475" y="2700338"/>
                        <a:ext cx="1541463" cy="259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5" name="AutoShape 6"/>
          <p:cNvSpPr>
            <a:spLocks noChangeArrowheads="1"/>
          </p:cNvSpPr>
          <p:nvPr/>
        </p:nvSpPr>
        <p:spPr bwMode="auto">
          <a:xfrm>
            <a:off x="3657600" y="3352800"/>
            <a:ext cx="1219200" cy="609600"/>
          </a:xfrm>
          <a:prstGeom prst="notchedRightArrow">
            <a:avLst>
              <a:gd name="adj1" fmla="val 50000"/>
              <a:gd name="adj2" fmla="val 50000"/>
            </a:avLst>
          </a:prstGeom>
          <a:solidFill>
            <a:schemeClr val="tx1"/>
          </a:solidFill>
          <a:ln w="9525">
            <a:solidFill>
              <a:schemeClr val="tx1"/>
            </a:solidFill>
            <a:miter lim="800000"/>
            <a:headEnd/>
            <a:tailEnd/>
          </a:ln>
        </p:spPr>
        <p:txBody>
          <a:bodyPr wrap="none" anchor="ctr"/>
          <a:lstStyle/>
          <a:p>
            <a:endParaRPr lang="en-US"/>
          </a:p>
        </p:txBody>
      </p:sp>
      <p:sp>
        <p:nvSpPr>
          <p:cNvPr id="1036" name="Rectangle 7"/>
          <p:cNvSpPr>
            <a:spLocks noChangeArrowheads="1"/>
          </p:cNvSpPr>
          <p:nvPr/>
        </p:nvSpPr>
        <p:spPr bwMode="auto">
          <a:xfrm>
            <a:off x="4876800" y="1157287"/>
            <a:ext cx="3795713"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30000"/>
              </a:lnSpc>
              <a:spcBef>
                <a:spcPct val="30000"/>
              </a:spcBef>
              <a:buClr>
                <a:schemeClr val="tx1"/>
              </a:buClr>
              <a:buSzPct val="70000"/>
              <a:buFont typeface="Wingdings" pitchFamily="2" charset="2"/>
              <a:buNone/>
            </a:pPr>
            <a:r>
              <a:rPr lang="en-US" sz="2000" dirty="0"/>
              <a:t>To a focus on the value a system must deliver for its stakeholders</a:t>
            </a:r>
          </a:p>
        </p:txBody>
      </p:sp>
      <p:graphicFrame>
        <p:nvGraphicFramePr>
          <p:cNvPr id="1028" name="Object 8"/>
          <p:cNvGraphicFramePr>
            <a:graphicFrameLocks noChangeAspect="1"/>
          </p:cNvGraphicFramePr>
          <p:nvPr/>
        </p:nvGraphicFramePr>
        <p:xfrm>
          <a:off x="6656388" y="4267200"/>
          <a:ext cx="2335212" cy="2381250"/>
        </p:xfrm>
        <a:graphic>
          <a:graphicData uri="http://schemas.openxmlformats.org/presentationml/2006/ole">
            <mc:AlternateContent xmlns:mc="http://schemas.openxmlformats.org/markup-compatibility/2006">
              <mc:Choice xmlns:v="urn:schemas-microsoft-com:vml" Requires="v">
                <p:oleObj spid="_x0000_s9304" name="Photo Editor Photo" r:id="rId8" imgW="2857899" imgH="2914286" progId="MSPhotoEd.3">
                  <p:embed/>
                </p:oleObj>
              </mc:Choice>
              <mc:Fallback>
                <p:oleObj name="Photo Editor Photo" r:id="rId8" imgW="2857899" imgH="2914286" progId="MSPhotoEd.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56388" y="4267200"/>
                        <a:ext cx="2335212"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 name="Object 9"/>
          <p:cNvGraphicFramePr>
            <a:graphicFrameLocks noChangeAspect="1"/>
          </p:cNvGraphicFramePr>
          <p:nvPr/>
        </p:nvGraphicFramePr>
        <p:xfrm>
          <a:off x="4876800" y="3581400"/>
          <a:ext cx="2362200" cy="2305050"/>
        </p:xfrm>
        <a:graphic>
          <a:graphicData uri="http://schemas.openxmlformats.org/presentationml/2006/ole">
            <mc:AlternateContent xmlns:mc="http://schemas.openxmlformats.org/markup-compatibility/2006">
              <mc:Choice xmlns:v="urn:schemas-microsoft-com:vml" Requires="v">
                <p:oleObj spid="_x0000_s9305" name="Photo Editor Photo" r:id="rId10" imgW="2362530" imgH="2305372" progId="MSPhotoEd.3">
                  <p:embed/>
                </p:oleObj>
              </mc:Choice>
              <mc:Fallback>
                <p:oleObj name="Photo Editor Photo" r:id="rId10" imgW="2362530" imgH="2305372" progId="MSPhotoEd.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6800" y="3581400"/>
                        <a:ext cx="236220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BFEFE68E-2141-4FA7-923A-02FC5ED7D5B9}" type="slidenum">
              <a:rPr lang="en-US" smtClean="0"/>
              <a:pPr>
                <a:defRPr/>
              </a:pPr>
              <a:t>8</a:t>
            </a:fld>
            <a:endParaRPr lang="en-US"/>
          </a:p>
        </p:txBody>
      </p:sp>
    </p:spTree>
    <p:extLst>
      <p:ext uri="{BB962C8B-B14F-4D97-AF65-F5344CB8AC3E}">
        <p14:creationId xmlns:p14="http://schemas.microsoft.com/office/powerpoint/2010/main" val="1483758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eaLnBrk="1" hangingPunct="1">
              <a:defRPr/>
            </a:pPr>
            <a:r>
              <a:rPr lang="en-US" sz="2800" dirty="0"/>
              <a:t>What Is Use-Case Modeling?</a:t>
            </a:r>
          </a:p>
        </p:txBody>
      </p:sp>
      <p:sp>
        <p:nvSpPr>
          <p:cNvPr id="2055" name="Rectangle 3"/>
          <p:cNvSpPr>
            <a:spLocks noGrp="1" noChangeArrowheads="1"/>
          </p:cNvSpPr>
          <p:nvPr>
            <p:ph type="body" idx="1"/>
          </p:nvPr>
        </p:nvSpPr>
        <p:spPr/>
        <p:txBody>
          <a:bodyPr/>
          <a:lstStyle/>
          <a:p>
            <a:pPr marL="339725" indent="-339725" eaLnBrk="1" hangingPunct="1"/>
            <a:r>
              <a:rPr lang="en-US" sz="2000" dirty="0"/>
              <a:t>Links stakeholder needs to software requirements.</a:t>
            </a:r>
          </a:p>
          <a:p>
            <a:pPr marL="339725" indent="-339725" eaLnBrk="1" hangingPunct="1"/>
            <a:r>
              <a:rPr lang="en-US" sz="2000" dirty="0"/>
              <a:t>Defines clear boundaries of a system.</a:t>
            </a:r>
          </a:p>
          <a:p>
            <a:pPr marL="339725" indent="-339725" eaLnBrk="1" hangingPunct="1"/>
            <a:r>
              <a:rPr lang="en-US" sz="2000" dirty="0"/>
              <a:t>Captures and communicates the desired behavior of the system.</a:t>
            </a:r>
          </a:p>
          <a:p>
            <a:pPr marL="339725" indent="-339725" eaLnBrk="1" hangingPunct="1"/>
            <a:r>
              <a:rPr lang="en-US" sz="2000" dirty="0"/>
              <a:t>Identifies who or what interacts with the system.</a:t>
            </a:r>
          </a:p>
          <a:p>
            <a:pPr marL="339725" indent="-339725" eaLnBrk="1" hangingPunct="1"/>
            <a:r>
              <a:rPr lang="en-US" sz="2000" dirty="0"/>
              <a:t>Validates/verifies requirements.</a:t>
            </a:r>
          </a:p>
          <a:p>
            <a:pPr marL="339725" indent="-339725" eaLnBrk="1" hangingPunct="1"/>
            <a:r>
              <a:rPr lang="en-US" sz="2000" dirty="0"/>
              <a:t>Is a planning instrument.</a:t>
            </a:r>
          </a:p>
        </p:txBody>
      </p:sp>
      <p:sp>
        <p:nvSpPr>
          <p:cNvPr id="2056" name="Rectangle 4"/>
          <p:cNvSpPr>
            <a:spLocks noChangeArrowheads="1"/>
          </p:cNvSpPr>
          <p:nvPr/>
        </p:nvSpPr>
        <p:spPr bwMode="auto">
          <a:xfrm>
            <a:off x="4765675" y="5905500"/>
            <a:ext cx="1131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algn="ctr" defTabSz="661988" eaLnBrk="0" hangingPunct="0"/>
            <a:r>
              <a:rPr lang="en-US" sz="1400" b="1"/>
              <a:t>Use Case 2 </a:t>
            </a:r>
          </a:p>
          <a:p>
            <a:pPr algn="ctr" defTabSz="661988" eaLnBrk="0" hangingPunct="0"/>
            <a:r>
              <a:rPr lang="en-US" sz="1400" b="1"/>
              <a:t>Specification</a:t>
            </a:r>
          </a:p>
        </p:txBody>
      </p:sp>
      <p:graphicFrame>
        <p:nvGraphicFramePr>
          <p:cNvPr id="2050" name="Object 5"/>
          <p:cNvGraphicFramePr>
            <a:graphicFrameLocks/>
          </p:cNvGraphicFramePr>
          <p:nvPr/>
        </p:nvGraphicFramePr>
        <p:xfrm>
          <a:off x="5033963" y="4997450"/>
          <a:ext cx="639762" cy="911225"/>
        </p:xfrm>
        <a:graphic>
          <a:graphicData uri="http://schemas.openxmlformats.org/presentationml/2006/ole">
            <mc:AlternateContent xmlns:mc="http://schemas.openxmlformats.org/markup-compatibility/2006">
              <mc:Choice xmlns:v="urn:schemas-microsoft-com:vml" Requires="v">
                <p:oleObj spid="_x0000_s10263" name="CorelDRAW 6.0" r:id="rId4" imgW="357120" imgH="465120" progId="CorelDRAW.Graphic.6">
                  <p:embed/>
                </p:oleObj>
              </mc:Choice>
              <mc:Fallback>
                <p:oleObj name="CorelDRAW 6.0" r:id="rId4" imgW="357120" imgH="46512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963" y="4997450"/>
                        <a:ext cx="639762"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057" name="Group 6"/>
          <p:cNvGrpSpPr>
            <a:grpSpLocks/>
          </p:cNvGrpSpPr>
          <p:nvPr/>
        </p:nvGrpSpPr>
        <p:grpSpPr bwMode="auto">
          <a:xfrm>
            <a:off x="8123238" y="4308475"/>
            <a:ext cx="985837" cy="763588"/>
            <a:chOff x="1525" y="1008"/>
            <a:chExt cx="921" cy="572"/>
          </a:xfrm>
        </p:grpSpPr>
        <p:grpSp>
          <p:nvGrpSpPr>
            <p:cNvPr id="2065" name="Group 7"/>
            <p:cNvGrpSpPr>
              <a:grpSpLocks noChangeAspect="1"/>
            </p:cNvGrpSpPr>
            <p:nvPr/>
          </p:nvGrpSpPr>
          <p:grpSpPr bwMode="auto">
            <a:xfrm>
              <a:off x="1847" y="1008"/>
              <a:ext cx="264" cy="333"/>
              <a:chOff x="7654" y="3380"/>
              <a:chExt cx="554" cy="754"/>
            </a:xfrm>
          </p:grpSpPr>
          <p:sp>
            <p:nvSpPr>
              <p:cNvPr id="2067" name="Oval 8"/>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8" name="Line 9"/>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9" name="Line 10"/>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0" name="Freeform 11"/>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066" name="Text Box 12"/>
            <p:cNvSpPr txBox="1">
              <a:spLocks noChangeAspect="1" noChangeArrowheads="1"/>
            </p:cNvSpPr>
            <p:nvPr/>
          </p:nvSpPr>
          <p:spPr bwMode="auto">
            <a:xfrm>
              <a:off x="1525" y="1328"/>
              <a:ext cx="9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lg" len="lg"/>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b="1"/>
                <a:t>   Actor 2</a:t>
              </a:r>
            </a:p>
          </p:txBody>
        </p:sp>
      </p:grpSp>
      <p:sp>
        <p:nvSpPr>
          <p:cNvPr id="2058" name="Rectangle 13"/>
          <p:cNvSpPr>
            <a:spLocks noChangeArrowheads="1"/>
          </p:cNvSpPr>
          <p:nvPr/>
        </p:nvSpPr>
        <p:spPr bwMode="auto">
          <a:xfrm>
            <a:off x="6084888" y="4025900"/>
            <a:ext cx="1781175" cy="2244725"/>
          </a:xfrm>
          <a:prstGeom prst="rect">
            <a:avLst/>
          </a:prstGeom>
          <a:solidFill>
            <a:srgbClr val="EAEAEA"/>
          </a:solidFill>
          <a:ln w="28575">
            <a:solidFill>
              <a:schemeClr val="bg2"/>
            </a:solidFill>
            <a:miter lim="800000"/>
            <a:headEnd/>
            <a:tailEnd/>
          </a:ln>
        </p:spPr>
        <p:txBody>
          <a:bodyPr wrap="none" anchor="ctr"/>
          <a:lstStyle/>
          <a:p>
            <a:endParaRPr lang="en-US"/>
          </a:p>
        </p:txBody>
      </p:sp>
      <p:sp>
        <p:nvSpPr>
          <p:cNvPr id="2059" name="Oval 14"/>
          <p:cNvSpPr>
            <a:spLocks noChangeAspect="1" noChangeArrowheads="1"/>
          </p:cNvSpPr>
          <p:nvPr/>
        </p:nvSpPr>
        <p:spPr bwMode="auto">
          <a:xfrm>
            <a:off x="6391275" y="4298950"/>
            <a:ext cx="1130300" cy="334963"/>
          </a:xfrm>
          <a:prstGeom prst="ellipse">
            <a:avLst/>
          </a:prstGeom>
          <a:solidFill>
            <a:schemeClr val="accent1"/>
          </a:solidFill>
          <a:ln w="28575">
            <a:solidFill>
              <a:schemeClr val="bg2"/>
            </a:solidFill>
            <a:round/>
            <a:headEnd type="none" w="sm" len="sm"/>
            <a:tailEnd type="none" w="lg" len="lg"/>
          </a:ln>
        </p:spPr>
        <p:txBody>
          <a:bodyPr wrap="none" anchor="ctr"/>
          <a:lstStyle/>
          <a:p>
            <a:pPr algn="ctr" eaLnBrk="0" hangingPunct="0">
              <a:spcBef>
                <a:spcPts val="1000"/>
              </a:spcBef>
            </a:pPr>
            <a:r>
              <a:rPr lang="en-US" sz="1400" b="1"/>
              <a:t>Use case 1</a:t>
            </a:r>
          </a:p>
        </p:txBody>
      </p:sp>
      <p:sp>
        <p:nvSpPr>
          <p:cNvPr id="2060" name="Line 15"/>
          <p:cNvSpPr>
            <a:spLocks noChangeShapeType="1"/>
          </p:cNvSpPr>
          <p:nvPr/>
        </p:nvSpPr>
        <p:spPr bwMode="auto">
          <a:xfrm flipV="1">
            <a:off x="7526338" y="4675188"/>
            <a:ext cx="863600" cy="404812"/>
          </a:xfrm>
          <a:prstGeom prst="line">
            <a:avLst/>
          </a:prstGeom>
          <a:noFill/>
          <a:ln w="28575">
            <a:solidFill>
              <a:schemeClr val="folHlink"/>
            </a:solidFill>
            <a:round/>
            <a:headEnd type="arrow"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1" name="Freeform 16"/>
          <p:cNvSpPr>
            <a:spLocks/>
          </p:cNvSpPr>
          <p:nvPr/>
        </p:nvSpPr>
        <p:spPr bwMode="auto">
          <a:xfrm>
            <a:off x="5673725" y="5243513"/>
            <a:ext cx="768350" cy="392112"/>
          </a:xfrm>
          <a:custGeom>
            <a:avLst/>
            <a:gdLst>
              <a:gd name="T0" fmla="*/ 459 w 459"/>
              <a:gd name="T1" fmla="*/ 0 h 356"/>
              <a:gd name="T2" fmla="*/ 209 w 459"/>
              <a:gd name="T3" fmla="*/ 300 h 356"/>
              <a:gd name="T4" fmla="*/ 0 w 459"/>
              <a:gd name="T5" fmla="*/ 334 h 356"/>
              <a:gd name="T6" fmla="*/ 0 60000 65536"/>
              <a:gd name="T7" fmla="*/ 0 60000 65536"/>
              <a:gd name="T8" fmla="*/ 0 60000 65536"/>
              <a:gd name="T9" fmla="*/ 0 w 459"/>
              <a:gd name="T10" fmla="*/ 0 h 356"/>
              <a:gd name="T11" fmla="*/ 459 w 459"/>
              <a:gd name="T12" fmla="*/ 356 h 356"/>
            </a:gdLst>
            <a:ahLst/>
            <a:cxnLst>
              <a:cxn ang="T6">
                <a:pos x="T0" y="T1"/>
              </a:cxn>
              <a:cxn ang="T7">
                <a:pos x="T2" y="T3"/>
              </a:cxn>
              <a:cxn ang="T8">
                <a:pos x="T4" y="T5"/>
              </a:cxn>
            </a:cxnLst>
            <a:rect l="T9" t="T10" r="T11" b="T12"/>
            <a:pathLst>
              <a:path w="459" h="356">
                <a:moveTo>
                  <a:pt x="459" y="0"/>
                </a:moveTo>
                <a:cubicBezTo>
                  <a:pt x="372" y="122"/>
                  <a:pt x="285" y="244"/>
                  <a:pt x="209" y="300"/>
                </a:cubicBezTo>
                <a:cubicBezTo>
                  <a:pt x="133" y="356"/>
                  <a:pt x="35" y="328"/>
                  <a:pt x="0" y="334"/>
                </a:cubicBezTo>
              </a:path>
            </a:pathLst>
          </a:custGeom>
          <a:noFill/>
          <a:ln w="28575">
            <a:solidFill>
              <a:srgbClr val="FF7C8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lIns="107950" tIns="53975" rIns="107950" bIns="53975"/>
          <a:lstStyle/>
          <a:p>
            <a:endParaRPr lang="en-US"/>
          </a:p>
        </p:txBody>
      </p:sp>
      <p:sp>
        <p:nvSpPr>
          <p:cNvPr id="2062" name="Text Box 17"/>
          <p:cNvSpPr txBox="1">
            <a:spLocks noChangeArrowheads="1"/>
          </p:cNvSpPr>
          <p:nvPr/>
        </p:nvSpPr>
        <p:spPr bwMode="auto">
          <a:xfrm>
            <a:off x="6542088" y="3694113"/>
            <a:ext cx="87788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t>Model</a:t>
            </a:r>
          </a:p>
        </p:txBody>
      </p:sp>
      <p:sp>
        <p:nvSpPr>
          <p:cNvPr id="2063" name="Oval 18"/>
          <p:cNvSpPr>
            <a:spLocks noChangeAspect="1" noChangeArrowheads="1"/>
          </p:cNvSpPr>
          <p:nvPr/>
        </p:nvSpPr>
        <p:spPr bwMode="auto">
          <a:xfrm>
            <a:off x="6400800" y="4975225"/>
            <a:ext cx="1130300" cy="334963"/>
          </a:xfrm>
          <a:prstGeom prst="ellipse">
            <a:avLst/>
          </a:prstGeom>
          <a:solidFill>
            <a:schemeClr val="accent1"/>
          </a:solidFill>
          <a:ln w="28575">
            <a:solidFill>
              <a:schemeClr val="bg2"/>
            </a:solidFill>
            <a:round/>
            <a:headEnd type="none" w="sm" len="sm"/>
            <a:tailEnd type="none" w="lg" len="lg"/>
          </a:ln>
        </p:spPr>
        <p:txBody>
          <a:bodyPr wrap="none" anchor="ctr"/>
          <a:lstStyle/>
          <a:p>
            <a:pPr algn="ctr" eaLnBrk="0" hangingPunct="0">
              <a:spcBef>
                <a:spcPts val="1000"/>
              </a:spcBef>
            </a:pPr>
            <a:r>
              <a:rPr lang="en-US" sz="1400" b="1"/>
              <a:t>Use case 2</a:t>
            </a:r>
          </a:p>
        </p:txBody>
      </p:sp>
      <p:sp>
        <p:nvSpPr>
          <p:cNvPr id="2064" name="Oval 19"/>
          <p:cNvSpPr>
            <a:spLocks noChangeAspect="1" noChangeArrowheads="1"/>
          </p:cNvSpPr>
          <p:nvPr/>
        </p:nvSpPr>
        <p:spPr bwMode="auto">
          <a:xfrm>
            <a:off x="6391275" y="5651500"/>
            <a:ext cx="1130300" cy="334963"/>
          </a:xfrm>
          <a:prstGeom prst="ellipse">
            <a:avLst/>
          </a:prstGeom>
          <a:solidFill>
            <a:schemeClr val="accent1"/>
          </a:solidFill>
          <a:ln w="28575">
            <a:solidFill>
              <a:schemeClr val="bg2"/>
            </a:solidFill>
            <a:round/>
            <a:headEnd type="none" w="sm" len="sm"/>
            <a:tailEnd type="none" w="lg" len="lg"/>
          </a:ln>
        </p:spPr>
        <p:txBody>
          <a:bodyPr wrap="none" anchor="ctr"/>
          <a:lstStyle/>
          <a:p>
            <a:pPr algn="ctr" eaLnBrk="0" hangingPunct="0">
              <a:spcBef>
                <a:spcPts val="1000"/>
              </a:spcBef>
            </a:pPr>
            <a:r>
              <a:rPr lang="en-US" sz="1400" b="1"/>
              <a:t>Use case 3</a:t>
            </a:r>
          </a:p>
        </p:txBody>
      </p:sp>
      <p:sp>
        <p:nvSpPr>
          <p:cNvPr id="2" name="Slide Number Placeholder 1"/>
          <p:cNvSpPr>
            <a:spLocks noGrp="1"/>
          </p:cNvSpPr>
          <p:nvPr>
            <p:ph type="sldNum" sz="quarter" idx="12"/>
          </p:nvPr>
        </p:nvSpPr>
        <p:spPr/>
        <p:txBody>
          <a:bodyPr/>
          <a:lstStyle/>
          <a:p>
            <a:fld id="{DED05017-923D-480E-B02E-B52739184DCA}" type="slidenum">
              <a:rPr lang="en-US" smtClean="0"/>
              <a:pPr/>
              <a:t>9</a:t>
            </a:fld>
            <a:endParaRPr lang="en-US"/>
          </a:p>
        </p:txBody>
      </p:sp>
    </p:spTree>
    <p:extLst>
      <p:ext uri="{BB962C8B-B14F-4D97-AF65-F5344CB8AC3E}">
        <p14:creationId xmlns:p14="http://schemas.microsoft.com/office/powerpoint/2010/main" val="2095222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1" name="Rectangle 2"/>
          <p:cNvSpPr>
            <a:spLocks noChangeArrowheads="1"/>
          </p:cNvSpPr>
          <p:nvPr/>
        </p:nvSpPr>
        <p:spPr bwMode="auto">
          <a:xfrm>
            <a:off x="4779963" y="1509712"/>
            <a:ext cx="2590800" cy="2825750"/>
          </a:xfrm>
          <a:prstGeom prst="rect">
            <a:avLst/>
          </a:prstGeom>
          <a:solidFill>
            <a:srgbClr val="EAEAEA"/>
          </a:solidFill>
          <a:ln w="19050">
            <a:solidFill>
              <a:schemeClr val="bg2"/>
            </a:solidFill>
            <a:miter lim="800000"/>
            <a:headEnd/>
            <a:tailEnd/>
          </a:ln>
        </p:spPr>
        <p:txBody>
          <a:bodyPr wrap="none" anchor="ctr"/>
          <a:lstStyle/>
          <a:p>
            <a:endParaRPr lang="en-US">
              <a:latin typeface="+mj-lt"/>
            </a:endParaRPr>
          </a:p>
        </p:txBody>
      </p:sp>
      <p:sp>
        <p:nvSpPr>
          <p:cNvPr id="3082" name="Oval 3"/>
          <p:cNvSpPr>
            <a:spLocks noChangeAspect="1" noChangeArrowheads="1"/>
          </p:cNvSpPr>
          <p:nvPr/>
        </p:nvSpPr>
        <p:spPr bwMode="auto">
          <a:xfrm>
            <a:off x="5416550" y="1854200"/>
            <a:ext cx="1300163" cy="420687"/>
          </a:xfrm>
          <a:prstGeom prst="ellipse">
            <a:avLst/>
          </a:prstGeom>
          <a:solidFill>
            <a:schemeClr val="accent1"/>
          </a:solidFill>
          <a:ln w="28575">
            <a:solidFill>
              <a:schemeClr val="bg2"/>
            </a:solidFill>
            <a:round/>
            <a:headEnd type="none" w="sm" len="sm"/>
            <a:tailEnd type="none" w="lg" len="lg"/>
          </a:ln>
        </p:spPr>
        <p:txBody>
          <a:bodyPr wrap="none" anchor="ctr"/>
          <a:lstStyle/>
          <a:p>
            <a:pPr algn="ctr" eaLnBrk="0" hangingPunct="0">
              <a:spcBef>
                <a:spcPts val="1000"/>
              </a:spcBef>
            </a:pPr>
            <a:r>
              <a:rPr lang="en-US" sz="1400" b="1">
                <a:latin typeface="+mj-lt"/>
              </a:rPr>
              <a:t>Use case 1</a:t>
            </a:r>
          </a:p>
        </p:txBody>
      </p:sp>
      <p:sp>
        <p:nvSpPr>
          <p:cNvPr id="3083" name="Oval 4"/>
          <p:cNvSpPr>
            <a:spLocks noChangeAspect="1" noChangeArrowheads="1"/>
          </p:cNvSpPr>
          <p:nvPr/>
        </p:nvSpPr>
        <p:spPr bwMode="auto">
          <a:xfrm>
            <a:off x="5429250" y="2705100"/>
            <a:ext cx="1273175" cy="420687"/>
          </a:xfrm>
          <a:prstGeom prst="ellipse">
            <a:avLst/>
          </a:prstGeom>
          <a:solidFill>
            <a:schemeClr val="accent1"/>
          </a:solidFill>
          <a:ln w="28575">
            <a:solidFill>
              <a:schemeClr val="bg2"/>
            </a:solidFill>
            <a:round/>
            <a:headEnd type="none" w="sm" len="sm"/>
            <a:tailEnd type="none" w="lg" len="lg"/>
          </a:ln>
        </p:spPr>
        <p:txBody>
          <a:bodyPr wrap="none" anchor="ctr"/>
          <a:lstStyle/>
          <a:p>
            <a:pPr algn="ctr" eaLnBrk="0" hangingPunct="0">
              <a:spcBef>
                <a:spcPts val="1000"/>
              </a:spcBef>
            </a:pPr>
            <a:r>
              <a:rPr lang="en-US" sz="1400" b="1">
                <a:latin typeface="+mj-lt"/>
              </a:rPr>
              <a:t>Use case 2</a:t>
            </a:r>
          </a:p>
        </p:txBody>
      </p:sp>
      <p:sp>
        <p:nvSpPr>
          <p:cNvPr id="3084" name="Oval 5"/>
          <p:cNvSpPr>
            <a:spLocks noChangeAspect="1" noChangeArrowheads="1"/>
          </p:cNvSpPr>
          <p:nvPr/>
        </p:nvSpPr>
        <p:spPr bwMode="auto">
          <a:xfrm>
            <a:off x="5416550" y="3556000"/>
            <a:ext cx="1328738" cy="422275"/>
          </a:xfrm>
          <a:prstGeom prst="ellipse">
            <a:avLst/>
          </a:prstGeom>
          <a:solidFill>
            <a:schemeClr val="accent1"/>
          </a:solidFill>
          <a:ln w="28575">
            <a:solidFill>
              <a:schemeClr val="bg2"/>
            </a:solidFill>
            <a:round/>
            <a:headEnd type="none" w="sm" len="sm"/>
            <a:tailEnd type="none" w="lg" len="lg"/>
          </a:ln>
        </p:spPr>
        <p:txBody>
          <a:bodyPr wrap="none" anchor="ctr"/>
          <a:lstStyle/>
          <a:p>
            <a:pPr algn="ctr" eaLnBrk="0" hangingPunct="0">
              <a:spcBef>
                <a:spcPts val="1000"/>
              </a:spcBef>
            </a:pPr>
            <a:r>
              <a:rPr lang="en-US" sz="1400" b="1">
                <a:latin typeface="+mj-lt"/>
              </a:rPr>
              <a:t>Use case 3</a:t>
            </a:r>
          </a:p>
        </p:txBody>
      </p:sp>
      <p:sp>
        <p:nvSpPr>
          <p:cNvPr id="582662" name="Rectangle 6"/>
          <p:cNvSpPr>
            <a:spLocks noGrp="1" noChangeArrowheads="1"/>
          </p:cNvSpPr>
          <p:nvPr>
            <p:ph type="title"/>
          </p:nvPr>
        </p:nvSpPr>
        <p:spPr/>
        <p:txBody>
          <a:bodyPr/>
          <a:lstStyle/>
          <a:p>
            <a:pPr eaLnBrk="1" hangingPunct="1">
              <a:defRPr/>
            </a:pPr>
            <a:r>
              <a:rPr lang="en-US" sz="2800" dirty="0"/>
              <a:t>A Use-Case Model is Mostly Text</a:t>
            </a:r>
          </a:p>
        </p:txBody>
      </p:sp>
      <p:grpSp>
        <p:nvGrpSpPr>
          <p:cNvPr id="3086" name="Group 7"/>
          <p:cNvGrpSpPr>
            <a:grpSpLocks/>
          </p:cNvGrpSpPr>
          <p:nvPr/>
        </p:nvGrpSpPr>
        <p:grpSpPr bwMode="auto">
          <a:xfrm>
            <a:off x="236538" y="1397000"/>
            <a:ext cx="2409825" cy="1900237"/>
            <a:chOff x="0" y="1068"/>
            <a:chExt cx="1518" cy="1197"/>
          </a:xfrm>
        </p:grpSpPr>
        <p:sp>
          <p:nvSpPr>
            <p:cNvPr id="3122" name="Rectangle 8"/>
            <p:cNvSpPr>
              <a:spLocks noChangeArrowheads="1"/>
            </p:cNvSpPr>
            <p:nvPr/>
          </p:nvSpPr>
          <p:spPr bwMode="auto">
            <a:xfrm>
              <a:off x="0" y="1523"/>
              <a:ext cx="1518" cy="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defTabSz="661988" eaLnBrk="0" hangingPunct="0"/>
              <a:r>
                <a:rPr lang="en-US" sz="1800"/>
                <a:t>Use-Case-Model Survey</a:t>
              </a:r>
            </a:p>
            <a:p>
              <a:pPr defTabSz="661988" eaLnBrk="0" hangingPunct="0"/>
              <a:r>
                <a:rPr lang="en-US" sz="1800"/>
                <a:t>- survey description </a:t>
              </a:r>
            </a:p>
            <a:p>
              <a:pPr defTabSz="661988" eaLnBrk="0" hangingPunct="0"/>
              <a:r>
                <a:rPr lang="en-US" sz="1800"/>
                <a:t>- list of all actors</a:t>
              </a:r>
            </a:p>
            <a:p>
              <a:pPr defTabSz="661988" eaLnBrk="0" hangingPunct="0"/>
              <a:r>
                <a:rPr lang="en-US" sz="1800"/>
                <a:t>- list of all use cases</a:t>
              </a:r>
            </a:p>
          </p:txBody>
        </p:sp>
        <p:graphicFrame>
          <p:nvGraphicFramePr>
            <p:cNvPr id="3077" name="Object 9"/>
            <p:cNvGraphicFramePr>
              <a:graphicFrameLocks/>
            </p:cNvGraphicFramePr>
            <p:nvPr/>
          </p:nvGraphicFramePr>
          <p:xfrm>
            <a:off x="519" y="1068"/>
            <a:ext cx="336" cy="432"/>
          </p:xfrm>
          <a:graphic>
            <a:graphicData uri="http://schemas.openxmlformats.org/presentationml/2006/ole">
              <mc:AlternateContent xmlns:mc="http://schemas.openxmlformats.org/markup-compatibility/2006">
                <mc:Choice xmlns:v="urn:schemas-microsoft-com:vml" Requires="v">
                  <p:oleObj spid="_x0000_s11354" name="CorelDRAW 6.0" r:id="rId4" imgW="357120" imgH="465120" progId="CorelDRAW.Graphic.6">
                    <p:embed/>
                  </p:oleObj>
                </mc:Choice>
                <mc:Fallback>
                  <p:oleObj name="CorelDRAW 6.0" r:id="rId4" imgW="357120" imgH="46512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 y="1068"/>
                          <a:ext cx="33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87" name="Group 10"/>
          <p:cNvGrpSpPr>
            <a:grpSpLocks/>
          </p:cNvGrpSpPr>
          <p:nvPr/>
        </p:nvGrpSpPr>
        <p:grpSpPr bwMode="auto">
          <a:xfrm>
            <a:off x="2889250" y="4835525"/>
            <a:ext cx="1793875" cy="1608137"/>
            <a:chOff x="1820" y="2897"/>
            <a:chExt cx="1130" cy="1013"/>
          </a:xfrm>
        </p:grpSpPr>
        <p:sp>
          <p:nvSpPr>
            <p:cNvPr id="3121" name="Rectangle 11"/>
            <p:cNvSpPr>
              <a:spLocks noChangeArrowheads="1"/>
            </p:cNvSpPr>
            <p:nvPr/>
          </p:nvSpPr>
          <p:spPr bwMode="auto">
            <a:xfrm>
              <a:off x="1820" y="3341"/>
              <a:ext cx="1130"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defTabSz="661988" eaLnBrk="0" hangingPunct="0"/>
              <a:r>
                <a:rPr lang="en-US" sz="1800"/>
                <a:t>Use-Case 2 Spec</a:t>
              </a:r>
            </a:p>
            <a:p>
              <a:pPr defTabSz="661988" eaLnBrk="0" hangingPunct="0"/>
              <a:r>
                <a:rPr lang="en-US" sz="1800"/>
                <a:t>- brief description</a:t>
              </a:r>
            </a:p>
            <a:p>
              <a:pPr defTabSz="661988" eaLnBrk="0" hangingPunct="0"/>
              <a:r>
                <a:rPr lang="en-US" sz="1800"/>
                <a:t>- flow of events</a:t>
              </a:r>
            </a:p>
          </p:txBody>
        </p:sp>
        <p:graphicFrame>
          <p:nvGraphicFramePr>
            <p:cNvPr id="3076" name="Object 12"/>
            <p:cNvGraphicFramePr>
              <a:graphicFrameLocks/>
            </p:cNvGraphicFramePr>
            <p:nvPr/>
          </p:nvGraphicFramePr>
          <p:xfrm>
            <a:off x="2194" y="2897"/>
            <a:ext cx="336" cy="432"/>
          </p:xfrm>
          <a:graphic>
            <a:graphicData uri="http://schemas.openxmlformats.org/presentationml/2006/ole">
              <mc:AlternateContent xmlns:mc="http://schemas.openxmlformats.org/markup-compatibility/2006">
                <mc:Choice xmlns:v="urn:schemas-microsoft-com:vml" Requires="v">
                  <p:oleObj spid="_x0000_s11355" name="CorelDRAW 6.0" r:id="rId6" imgW="357120" imgH="465120" progId="CorelDRAW.Graphic.6">
                    <p:embed/>
                  </p:oleObj>
                </mc:Choice>
                <mc:Fallback>
                  <p:oleObj name="CorelDRAW 6.0" r:id="rId6" imgW="357120" imgH="46512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4" y="2897"/>
                          <a:ext cx="33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88" name="Group 13"/>
          <p:cNvGrpSpPr>
            <a:grpSpLocks/>
          </p:cNvGrpSpPr>
          <p:nvPr/>
        </p:nvGrpSpPr>
        <p:grpSpPr bwMode="auto">
          <a:xfrm>
            <a:off x="5205413" y="4811712"/>
            <a:ext cx="1793875" cy="1665288"/>
            <a:chOff x="3327" y="3072"/>
            <a:chExt cx="1130" cy="1049"/>
          </a:xfrm>
        </p:grpSpPr>
        <p:sp>
          <p:nvSpPr>
            <p:cNvPr id="3120" name="Rectangle 14"/>
            <p:cNvSpPr>
              <a:spLocks noChangeArrowheads="1"/>
            </p:cNvSpPr>
            <p:nvPr/>
          </p:nvSpPr>
          <p:spPr bwMode="auto">
            <a:xfrm>
              <a:off x="3327" y="3552"/>
              <a:ext cx="1130"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defTabSz="661988" eaLnBrk="0" hangingPunct="0"/>
              <a:r>
                <a:rPr lang="en-US" sz="1800"/>
                <a:t>Use-Case 3 Spec</a:t>
              </a:r>
            </a:p>
            <a:p>
              <a:pPr defTabSz="661988" eaLnBrk="0" hangingPunct="0"/>
              <a:r>
                <a:rPr lang="en-US" sz="1800"/>
                <a:t>- brief description</a:t>
              </a:r>
            </a:p>
            <a:p>
              <a:pPr defTabSz="661988" eaLnBrk="0" hangingPunct="0"/>
              <a:r>
                <a:rPr lang="en-US" sz="1800"/>
                <a:t>- flow of events</a:t>
              </a:r>
            </a:p>
          </p:txBody>
        </p:sp>
        <p:graphicFrame>
          <p:nvGraphicFramePr>
            <p:cNvPr id="3075" name="Object 15"/>
            <p:cNvGraphicFramePr>
              <a:graphicFrameLocks/>
            </p:cNvGraphicFramePr>
            <p:nvPr/>
          </p:nvGraphicFramePr>
          <p:xfrm>
            <a:off x="3696" y="3072"/>
            <a:ext cx="336" cy="432"/>
          </p:xfrm>
          <a:graphic>
            <a:graphicData uri="http://schemas.openxmlformats.org/presentationml/2006/ole">
              <mc:AlternateContent xmlns:mc="http://schemas.openxmlformats.org/markup-compatibility/2006">
                <mc:Choice xmlns:v="urn:schemas-microsoft-com:vml" Requires="v">
                  <p:oleObj spid="_x0000_s11356" name="CorelDRAW 6.0" r:id="rId7" imgW="357120" imgH="465120" progId="CorelDRAW.Graphic.6">
                    <p:embed/>
                  </p:oleObj>
                </mc:Choice>
                <mc:Fallback>
                  <p:oleObj name="CorelDRAW 6.0" r:id="rId7" imgW="357120" imgH="46512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3072"/>
                          <a:ext cx="33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89" name="Group 16"/>
          <p:cNvGrpSpPr>
            <a:grpSpLocks/>
          </p:cNvGrpSpPr>
          <p:nvPr/>
        </p:nvGrpSpPr>
        <p:grpSpPr bwMode="auto">
          <a:xfrm>
            <a:off x="3282951" y="1720851"/>
            <a:ext cx="892176" cy="846138"/>
            <a:chOff x="1702" y="1008"/>
            <a:chExt cx="562" cy="533"/>
          </a:xfrm>
        </p:grpSpPr>
        <p:grpSp>
          <p:nvGrpSpPr>
            <p:cNvPr id="3114" name="Group 17"/>
            <p:cNvGrpSpPr>
              <a:grpSpLocks noChangeAspect="1"/>
            </p:cNvGrpSpPr>
            <p:nvPr/>
          </p:nvGrpSpPr>
          <p:grpSpPr bwMode="auto">
            <a:xfrm>
              <a:off x="1847" y="1008"/>
              <a:ext cx="264" cy="333"/>
              <a:chOff x="7654" y="3380"/>
              <a:chExt cx="554" cy="754"/>
            </a:xfrm>
          </p:grpSpPr>
          <p:sp>
            <p:nvSpPr>
              <p:cNvPr id="3116" name="Oval 18"/>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3117" name="Line 19"/>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18" name="Line 20"/>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19" name="Freeform 21"/>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grpSp>
        <p:sp>
          <p:nvSpPr>
            <p:cNvPr id="3115" name="Text Box 22"/>
            <p:cNvSpPr txBox="1">
              <a:spLocks noChangeAspect="1" noChangeArrowheads="1"/>
            </p:cNvSpPr>
            <p:nvPr/>
          </p:nvSpPr>
          <p:spPr bwMode="auto">
            <a:xfrm>
              <a:off x="1702" y="1328"/>
              <a:ext cx="56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lg" len="lg"/>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b="1">
                  <a:latin typeface="+mj-lt"/>
                </a:rPr>
                <a:t>Actor 1</a:t>
              </a:r>
              <a:endParaRPr lang="en-US">
                <a:latin typeface="+mj-lt"/>
              </a:endParaRPr>
            </a:p>
          </p:txBody>
        </p:sp>
      </p:grpSp>
      <p:sp>
        <p:nvSpPr>
          <p:cNvPr id="3090" name="Line 23"/>
          <p:cNvSpPr>
            <a:spLocks noChangeShapeType="1"/>
          </p:cNvSpPr>
          <p:nvPr/>
        </p:nvSpPr>
        <p:spPr bwMode="auto">
          <a:xfrm>
            <a:off x="4049713" y="2020887"/>
            <a:ext cx="1174750" cy="4763"/>
          </a:xfrm>
          <a:prstGeom prst="line">
            <a:avLst/>
          </a:prstGeom>
          <a:noFill/>
          <a:ln w="28575">
            <a:solidFill>
              <a:schemeClr val="folHlink"/>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latin typeface="+mj-lt"/>
            </a:endParaRPr>
          </a:p>
        </p:txBody>
      </p:sp>
      <p:sp>
        <p:nvSpPr>
          <p:cNvPr id="3091" name="Line 24"/>
          <p:cNvSpPr>
            <a:spLocks noChangeShapeType="1"/>
          </p:cNvSpPr>
          <p:nvPr/>
        </p:nvSpPr>
        <p:spPr bwMode="auto">
          <a:xfrm>
            <a:off x="6770688" y="2119312"/>
            <a:ext cx="1184275" cy="260350"/>
          </a:xfrm>
          <a:prstGeom prst="line">
            <a:avLst/>
          </a:prstGeom>
          <a:noFill/>
          <a:ln w="28575">
            <a:solidFill>
              <a:schemeClr val="folHlink"/>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latin typeface="+mj-lt"/>
            </a:endParaRPr>
          </a:p>
        </p:txBody>
      </p:sp>
      <p:grpSp>
        <p:nvGrpSpPr>
          <p:cNvPr id="3092" name="Group 25"/>
          <p:cNvGrpSpPr>
            <a:grpSpLocks/>
          </p:cNvGrpSpPr>
          <p:nvPr/>
        </p:nvGrpSpPr>
        <p:grpSpPr bwMode="auto">
          <a:xfrm>
            <a:off x="7794626" y="2109788"/>
            <a:ext cx="1057276" cy="846138"/>
            <a:chOff x="1652" y="1008"/>
            <a:chExt cx="666" cy="533"/>
          </a:xfrm>
        </p:grpSpPr>
        <p:grpSp>
          <p:nvGrpSpPr>
            <p:cNvPr id="3108" name="Group 26"/>
            <p:cNvGrpSpPr>
              <a:grpSpLocks noChangeAspect="1"/>
            </p:cNvGrpSpPr>
            <p:nvPr/>
          </p:nvGrpSpPr>
          <p:grpSpPr bwMode="auto">
            <a:xfrm>
              <a:off x="1847" y="1008"/>
              <a:ext cx="264" cy="333"/>
              <a:chOff x="7654" y="3380"/>
              <a:chExt cx="554" cy="754"/>
            </a:xfrm>
          </p:grpSpPr>
          <p:sp>
            <p:nvSpPr>
              <p:cNvPr id="3110" name="Oval 27"/>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3111" name="Line 28"/>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12" name="Line 29"/>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13" name="Freeform 30"/>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grpSp>
        <p:sp>
          <p:nvSpPr>
            <p:cNvPr id="3109" name="Text Box 31"/>
            <p:cNvSpPr txBox="1">
              <a:spLocks noChangeAspect="1" noChangeArrowheads="1"/>
            </p:cNvSpPr>
            <p:nvPr/>
          </p:nvSpPr>
          <p:spPr bwMode="auto">
            <a:xfrm>
              <a:off x="1652" y="1328"/>
              <a:ext cx="6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lg" len="lg"/>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b="1">
                  <a:latin typeface="+mj-lt"/>
                </a:rPr>
                <a:t>   Actor 2</a:t>
              </a:r>
            </a:p>
          </p:txBody>
        </p:sp>
      </p:grpSp>
      <p:grpSp>
        <p:nvGrpSpPr>
          <p:cNvPr id="3093" name="Group 32"/>
          <p:cNvGrpSpPr>
            <a:grpSpLocks/>
          </p:cNvGrpSpPr>
          <p:nvPr/>
        </p:nvGrpSpPr>
        <p:grpSpPr bwMode="auto">
          <a:xfrm>
            <a:off x="7880351" y="3735388"/>
            <a:ext cx="892176" cy="846138"/>
            <a:chOff x="1701" y="1008"/>
            <a:chExt cx="562" cy="533"/>
          </a:xfrm>
        </p:grpSpPr>
        <p:grpSp>
          <p:nvGrpSpPr>
            <p:cNvPr id="3102" name="Group 33"/>
            <p:cNvGrpSpPr>
              <a:grpSpLocks noChangeAspect="1"/>
            </p:cNvGrpSpPr>
            <p:nvPr/>
          </p:nvGrpSpPr>
          <p:grpSpPr bwMode="auto">
            <a:xfrm>
              <a:off x="1847" y="1008"/>
              <a:ext cx="264" cy="333"/>
              <a:chOff x="7654" y="3380"/>
              <a:chExt cx="554" cy="754"/>
            </a:xfrm>
          </p:grpSpPr>
          <p:sp>
            <p:nvSpPr>
              <p:cNvPr id="3104" name="Oval 34"/>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3105" name="Line 35"/>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06" name="Line 36"/>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07" name="Freeform 37"/>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grpSp>
        <p:sp>
          <p:nvSpPr>
            <p:cNvPr id="3103" name="Text Box 38"/>
            <p:cNvSpPr txBox="1">
              <a:spLocks noChangeAspect="1" noChangeArrowheads="1"/>
            </p:cNvSpPr>
            <p:nvPr/>
          </p:nvSpPr>
          <p:spPr bwMode="auto">
            <a:xfrm>
              <a:off x="1701" y="1328"/>
              <a:ext cx="56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lg" len="lg"/>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b="1">
                  <a:latin typeface="+mj-lt"/>
                </a:rPr>
                <a:t>Actor 3</a:t>
              </a:r>
            </a:p>
          </p:txBody>
        </p:sp>
      </p:grpSp>
      <p:cxnSp>
        <p:nvCxnSpPr>
          <p:cNvPr id="3094" name="AutoShape 39"/>
          <p:cNvCxnSpPr>
            <a:cxnSpLocks noChangeShapeType="1"/>
          </p:cNvCxnSpPr>
          <p:nvPr/>
        </p:nvCxnSpPr>
        <p:spPr bwMode="auto">
          <a:xfrm flipV="1">
            <a:off x="1549400" y="2132012"/>
            <a:ext cx="3871913" cy="3078163"/>
          </a:xfrm>
          <a:prstGeom prst="curvedConnector3">
            <a:avLst>
              <a:gd name="adj1" fmla="val 50185"/>
            </a:avLst>
          </a:prstGeom>
          <a:noFill/>
          <a:ln w="28575">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3095" name="AutoShape 40"/>
          <p:cNvCxnSpPr>
            <a:cxnSpLocks noChangeShapeType="1"/>
          </p:cNvCxnSpPr>
          <p:nvPr/>
        </p:nvCxnSpPr>
        <p:spPr bwMode="auto">
          <a:xfrm flipV="1">
            <a:off x="3978275" y="2916237"/>
            <a:ext cx="1398588" cy="2262188"/>
          </a:xfrm>
          <a:prstGeom prst="curvedConnector3">
            <a:avLst>
              <a:gd name="adj1" fmla="val 50509"/>
            </a:avLst>
          </a:prstGeom>
          <a:noFill/>
          <a:ln w="28575">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3096" name="AutoShape 41"/>
          <p:cNvCxnSpPr>
            <a:cxnSpLocks noChangeShapeType="1"/>
          </p:cNvCxnSpPr>
          <p:nvPr/>
        </p:nvCxnSpPr>
        <p:spPr bwMode="auto">
          <a:xfrm flipH="1" flipV="1">
            <a:off x="6122988" y="4043362"/>
            <a:ext cx="192087" cy="987425"/>
          </a:xfrm>
          <a:prstGeom prst="curvedConnector4">
            <a:avLst>
              <a:gd name="adj1" fmla="val -119009"/>
              <a:gd name="adj2" fmla="val 67361"/>
            </a:avLst>
          </a:prstGeom>
          <a:noFill/>
          <a:ln w="28575">
            <a:solidFill>
              <a:schemeClr val="folHlink"/>
            </a:solidFill>
            <a:prstDash val="dash"/>
            <a:round/>
            <a:headEnd/>
            <a:tailEnd/>
          </a:ln>
          <a:extLst>
            <a:ext uri="{909E8E84-426E-40DD-AFC4-6F175D3DCCD1}">
              <a14:hiddenFill xmlns:a14="http://schemas.microsoft.com/office/drawing/2010/main">
                <a:noFill/>
              </a14:hiddenFill>
            </a:ext>
          </a:extLst>
        </p:spPr>
      </p:cxnSp>
      <p:grpSp>
        <p:nvGrpSpPr>
          <p:cNvPr id="3097" name="Group 42"/>
          <p:cNvGrpSpPr>
            <a:grpSpLocks/>
          </p:cNvGrpSpPr>
          <p:nvPr/>
        </p:nvGrpSpPr>
        <p:grpSpPr bwMode="auto">
          <a:xfrm>
            <a:off x="604838" y="4800600"/>
            <a:ext cx="1851025" cy="1617662"/>
            <a:chOff x="316" y="1722"/>
            <a:chExt cx="1166" cy="1019"/>
          </a:xfrm>
        </p:grpSpPr>
        <p:graphicFrame>
          <p:nvGraphicFramePr>
            <p:cNvPr id="3074" name="Object 43"/>
            <p:cNvGraphicFramePr>
              <a:graphicFrameLocks/>
            </p:cNvGraphicFramePr>
            <p:nvPr/>
          </p:nvGraphicFramePr>
          <p:xfrm>
            <a:off x="563" y="1722"/>
            <a:ext cx="336" cy="432"/>
          </p:xfrm>
          <a:graphic>
            <a:graphicData uri="http://schemas.openxmlformats.org/presentationml/2006/ole">
              <mc:AlternateContent xmlns:mc="http://schemas.openxmlformats.org/markup-compatibility/2006">
                <mc:Choice xmlns:v="urn:schemas-microsoft-com:vml" Requires="v">
                  <p:oleObj spid="_x0000_s11357" name="CorelDRAW 6.0" r:id="rId8" imgW="357120" imgH="465120" progId="CorelDRAW.Graphic.6">
                    <p:embed/>
                  </p:oleObj>
                </mc:Choice>
                <mc:Fallback>
                  <p:oleObj name="CorelDRAW 6.0" r:id="rId8" imgW="357120" imgH="46512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 y="1722"/>
                          <a:ext cx="33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01" name="Rectangle 44"/>
            <p:cNvSpPr>
              <a:spLocks noChangeArrowheads="1"/>
            </p:cNvSpPr>
            <p:nvPr/>
          </p:nvSpPr>
          <p:spPr bwMode="auto">
            <a:xfrm>
              <a:off x="316" y="2172"/>
              <a:ext cx="1166"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defTabSz="661988" eaLnBrk="0" hangingPunct="0"/>
              <a:r>
                <a:rPr lang="en-US" sz="1800"/>
                <a:t>Use-Case 1 Spec</a:t>
              </a:r>
            </a:p>
            <a:p>
              <a:pPr defTabSz="661988" eaLnBrk="0" hangingPunct="0"/>
              <a:r>
                <a:rPr lang="en-US" sz="1800"/>
                <a:t>- brief description </a:t>
              </a:r>
            </a:p>
            <a:p>
              <a:pPr defTabSz="661988" eaLnBrk="0" hangingPunct="0"/>
              <a:r>
                <a:rPr lang="en-US" sz="1800"/>
                <a:t>- flow of events</a:t>
              </a:r>
            </a:p>
          </p:txBody>
        </p:sp>
      </p:grpSp>
      <p:sp>
        <p:nvSpPr>
          <p:cNvPr id="3098" name="Rectangle 45"/>
          <p:cNvSpPr>
            <a:spLocks noChangeArrowheads="1"/>
          </p:cNvSpPr>
          <p:nvPr/>
        </p:nvSpPr>
        <p:spPr bwMode="auto">
          <a:xfrm>
            <a:off x="5299075" y="1122362"/>
            <a:ext cx="1524457" cy="38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eaLnBrk="0" hangingPunct="0"/>
            <a:r>
              <a:rPr lang="en-US" sz="2000">
                <a:latin typeface="+mj-lt"/>
              </a:rPr>
              <a:t>The System</a:t>
            </a:r>
          </a:p>
        </p:txBody>
      </p:sp>
      <p:sp>
        <p:nvSpPr>
          <p:cNvPr id="3099" name="Line 46"/>
          <p:cNvSpPr>
            <a:spLocks noChangeShapeType="1"/>
          </p:cNvSpPr>
          <p:nvPr/>
        </p:nvSpPr>
        <p:spPr bwMode="auto">
          <a:xfrm flipH="1">
            <a:off x="6761163" y="2776537"/>
            <a:ext cx="1047750" cy="120650"/>
          </a:xfrm>
          <a:prstGeom prst="line">
            <a:avLst/>
          </a:prstGeom>
          <a:noFill/>
          <a:ln w="28575">
            <a:solidFill>
              <a:schemeClr val="folHlink"/>
            </a:solidFill>
            <a:round/>
            <a:headEnd/>
            <a:tailEnd type="arrow" w="med" len="med"/>
          </a:ln>
          <a:extLst>
            <a:ext uri="{909E8E84-426E-40DD-AFC4-6F175D3DCCD1}">
              <a14:hiddenFill xmlns:a14="http://schemas.microsoft.com/office/drawing/2010/main">
                <a:noFill/>
              </a14:hiddenFill>
            </a:ext>
          </a:extLst>
        </p:spPr>
        <p:txBody>
          <a:bodyPr lIns="107950" tIns="53975" rIns="107950" bIns="53975"/>
          <a:lstStyle/>
          <a:p>
            <a:endParaRPr lang="en-US">
              <a:latin typeface="+mj-lt"/>
            </a:endParaRPr>
          </a:p>
        </p:txBody>
      </p:sp>
      <p:sp>
        <p:nvSpPr>
          <p:cNvPr id="3100" name="Line 47"/>
          <p:cNvSpPr>
            <a:spLocks noChangeShapeType="1"/>
          </p:cNvSpPr>
          <p:nvPr/>
        </p:nvSpPr>
        <p:spPr bwMode="auto">
          <a:xfrm flipH="1" flipV="1">
            <a:off x="6848475" y="3797300"/>
            <a:ext cx="1185863" cy="204787"/>
          </a:xfrm>
          <a:prstGeom prst="line">
            <a:avLst/>
          </a:prstGeom>
          <a:noFill/>
          <a:ln w="28575">
            <a:solidFill>
              <a:schemeClr val="folHlink"/>
            </a:solidFill>
            <a:round/>
            <a:headEnd/>
            <a:tailEnd type="arrow" w="med" len="med"/>
          </a:ln>
          <a:extLst>
            <a:ext uri="{909E8E84-426E-40DD-AFC4-6F175D3DCCD1}">
              <a14:hiddenFill xmlns:a14="http://schemas.microsoft.com/office/drawing/2010/main">
                <a:noFill/>
              </a14:hiddenFill>
            </a:ext>
          </a:extLst>
        </p:spPr>
        <p:txBody>
          <a:bodyPr lIns="107950" tIns="53975" rIns="107950" bIns="53975"/>
          <a:lstStyle/>
          <a:p>
            <a:endParaRPr lang="en-US">
              <a:latin typeface="+mj-lt"/>
            </a:endParaRPr>
          </a:p>
        </p:txBody>
      </p:sp>
      <p:sp>
        <p:nvSpPr>
          <p:cNvPr id="2" name="Slide Number Placeholder 1"/>
          <p:cNvSpPr>
            <a:spLocks noGrp="1"/>
          </p:cNvSpPr>
          <p:nvPr>
            <p:ph type="sldNum" sz="quarter" idx="12"/>
          </p:nvPr>
        </p:nvSpPr>
        <p:spPr/>
        <p:txBody>
          <a:bodyPr/>
          <a:lstStyle/>
          <a:p>
            <a:fld id="{27392B6C-813E-42DE-A59C-034281A964AB}" type="slidenum">
              <a:rPr lang="en-US" smtClean="0"/>
              <a:pPr/>
              <a:t>10</a:t>
            </a:fld>
            <a:endParaRPr lang="en-US"/>
          </a:p>
        </p:txBody>
      </p:sp>
    </p:spTree>
    <p:extLst>
      <p:ext uri="{BB962C8B-B14F-4D97-AF65-F5344CB8AC3E}">
        <p14:creationId xmlns:p14="http://schemas.microsoft.com/office/powerpoint/2010/main" val="2466168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pPr eaLnBrk="1" hangingPunct="1">
              <a:defRPr/>
            </a:pPr>
            <a:r>
              <a:rPr lang="en-US" sz="2800" dirty="0"/>
              <a:t>Major Use-Case Modeling Elements</a:t>
            </a:r>
          </a:p>
        </p:txBody>
      </p:sp>
      <p:sp>
        <p:nvSpPr>
          <p:cNvPr id="21510" name="Rectangle 3"/>
          <p:cNvSpPr>
            <a:spLocks noChangeArrowheads="1"/>
          </p:cNvSpPr>
          <p:nvPr/>
        </p:nvSpPr>
        <p:spPr bwMode="auto">
          <a:xfrm>
            <a:off x="4683125" y="1052513"/>
            <a:ext cx="4168775" cy="504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lstStyle/>
          <a:p>
            <a:pPr algn="just">
              <a:lnSpc>
                <a:spcPct val="130000"/>
              </a:lnSpc>
              <a:spcBef>
                <a:spcPct val="30000"/>
              </a:spcBef>
              <a:buClr>
                <a:schemeClr val="tx1"/>
              </a:buClr>
              <a:buSzPct val="70000"/>
              <a:buFont typeface="Wingdings" pitchFamily="2" charset="2"/>
              <a:buNone/>
            </a:pPr>
            <a:r>
              <a:rPr lang="en-US" sz="2000" i="1" u="sng"/>
              <a:t>Actor</a:t>
            </a:r>
            <a:endParaRPr lang="en-US" sz="2000" b="1" i="1" u="sng"/>
          </a:p>
          <a:p>
            <a:pPr algn="just">
              <a:lnSpc>
                <a:spcPct val="130000"/>
              </a:lnSpc>
              <a:spcBef>
                <a:spcPct val="30000"/>
              </a:spcBef>
              <a:buClr>
                <a:schemeClr val="tx1"/>
              </a:buClr>
              <a:buSzPct val="70000"/>
              <a:buFont typeface="Wingdings" pitchFamily="2" charset="2"/>
              <a:buNone/>
            </a:pPr>
            <a:r>
              <a:rPr lang="en-US" sz="2000"/>
              <a:t>Someone/something outside the system, acting in a role that interacts with the system</a:t>
            </a:r>
          </a:p>
          <a:p>
            <a:pPr algn="just">
              <a:lnSpc>
                <a:spcPct val="130000"/>
              </a:lnSpc>
              <a:spcBef>
                <a:spcPct val="30000"/>
              </a:spcBef>
              <a:buClr>
                <a:schemeClr val="tx1"/>
              </a:buClr>
              <a:buSzPct val="70000"/>
              <a:buFont typeface="Wingdings" pitchFamily="2" charset="2"/>
              <a:buNone/>
            </a:pPr>
            <a:endParaRPr lang="en-US" sz="2000"/>
          </a:p>
          <a:p>
            <a:pPr algn="just">
              <a:lnSpc>
                <a:spcPct val="130000"/>
              </a:lnSpc>
              <a:spcBef>
                <a:spcPct val="30000"/>
              </a:spcBef>
              <a:buClr>
                <a:schemeClr val="tx1"/>
              </a:buClr>
              <a:buSzPct val="70000"/>
              <a:buFont typeface="Wingdings" pitchFamily="2" charset="2"/>
              <a:buNone/>
            </a:pPr>
            <a:r>
              <a:rPr lang="en-US" sz="2000" i="1" u="sng"/>
              <a:t>Use case</a:t>
            </a:r>
          </a:p>
          <a:p>
            <a:pPr algn="just">
              <a:lnSpc>
                <a:spcPct val="130000"/>
              </a:lnSpc>
              <a:spcBef>
                <a:spcPct val="30000"/>
              </a:spcBef>
              <a:buClr>
                <a:schemeClr val="tx1"/>
              </a:buClr>
              <a:buSzPct val="70000"/>
              <a:buFont typeface="Wingdings" pitchFamily="2" charset="2"/>
              <a:buNone/>
            </a:pPr>
            <a:r>
              <a:rPr lang="en-US" sz="2000"/>
              <a:t>Represents something of value that the system does for its actors</a:t>
            </a:r>
          </a:p>
        </p:txBody>
      </p:sp>
      <p:grpSp>
        <p:nvGrpSpPr>
          <p:cNvPr id="21511" name="Group 12"/>
          <p:cNvGrpSpPr>
            <a:grpSpLocks/>
          </p:cNvGrpSpPr>
          <p:nvPr/>
        </p:nvGrpSpPr>
        <p:grpSpPr bwMode="auto">
          <a:xfrm>
            <a:off x="1616075" y="1717675"/>
            <a:ext cx="1230313" cy="1100138"/>
            <a:chOff x="1018" y="1082"/>
            <a:chExt cx="775" cy="693"/>
          </a:xfrm>
        </p:grpSpPr>
        <p:sp>
          <p:nvSpPr>
            <p:cNvPr id="21513" name="Rectangle 5"/>
            <p:cNvSpPr>
              <a:spLocks noChangeArrowheads="1"/>
            </p:cNvSpPr>
            <p:nvPr/>
          </p:nvSpPr>
          <p:spPr bwMode="auto">
            <a:xfrm>
              <a:off x="1018" y="1525"/>
              <a:ext cx="7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2075" tIns="46038" rIns="92075" bIns="46038">
              <a:spAutoFit/>
            </a:bodyPr>
            <a:lstStyle/>
            <a:p>
              <a:pPr algn="ctr" eaLnBrk="0" hangingPunct="0"/>
              <a:r>
                <a:rPr lang="en-US" sz="2000"/>
                <a:t>Actor</a:t>
              </a:r>
            </a:p>
          </p:txBody>
        </p:sp>
        <p:sp>
          <p:nvSpPr>
            <p:cNvPr id="21514" name="Freeform 6"/>
            <p:cNvSpPr>
              <a:spLocks/>
            </p:cNvSpPr>
            <p:nvPr/>
          </p:nvSpPr>
          <p:spPr bwMode="auto">
            <a:xfrm>
              <a:off x="1317" y="1082"/>
              <a:ext cx="203" cy="158"/>
            </a:xfrm>
            <a:custGeom>
              <a:avLst/>
              <a:gdLst>
                <a:gd name="T0" fmla="*/ 101 w 203"/>
                <a:gd name="T1" fmla="*/ 0 h 158"/>
                <a:gd name="T2" fmla="*/ 121 w 203"/>
                <a:gd name="T3" fmla="*/ 0 h 158"/>
                <a:gd name="T4" fmla="*/ 140 w 203"/>
                <a:gd name="T5" fmla="*/ 4 h 158"/>
                <a:gd name="T6" fmla="*/ 155 w 203"/>
                <a:gd name="T7" fmla="*/ 12 h 158"/>
                <a:gd name="T8" fmla="*/ 169 w 203"/>
                <a:gd name="T9" fmla="*/ 23 h 158"/>
                <a:gd name="T10" fmla="*/ 183 w 203"/>
                <a:gd name="T11" fmla="*/ 35 h 158"/>
                <a:gd name="T12" fmla="*/ 193 w 203"/>
                <a:gd name="T13" fmla="*/ 47 h 158"/>
                <a:gd name="T14" fmla="*/ 198 w 203"/>
                <a:gd name="T15" fmla="*/ 62 h 158"/>
                <a:gd name="T16" fmla="*/ 203 w 203"/>
                <a:gd name="T17" fmla="*/ 81 h 158"/>
                <a:gd name="T18" fmla="*/ 198 w 203"/>
                <a:gd name="T19" fmla="*/ 97 h 158"/>
                <a:gd name="T20" fmla="*/ 193 w 203"/>
                <a:gd name="T21" fmla="*/ 112 h 158"/>
                <a:gd name="T22" fmla="*/ 183 w 203"/>
                <a:gd name="T23" fmla="*/ 124 h 158"/>
                <a:gd name="T24" fmla="*/ 169 w 203"/>
                <a:gd name="T25" fmla="*/ 135 h 158"/>
                <a:gd name="T26" fmla="*/ 155 w 203"/>
                <a:gd name="T27" fmla="*/ 147 h 158"/>
                <a:gd name="T28" fmla="*/ 140 w 203"/>
                <a:gd name="T29" fmla="*/ 154 h 158"/>
                <a:gd name="T30" fmla="*/ 121 w 203"/>
                <a:gd name="T31" fmla="*/ 158 h 158"/>
                <a:gd name="T32" fmla="*/ 101 w 203"/>
                <a:gd name="T33" fmla="*/ 158 h 158"/>
                <a:gd name="T34" fmla="*/ 77 w 203"/>
                <a:gd name="T35" fmla="*/ 158 h 158"/>
                <a:gd name="T36" fmla="*/ 58 w 203"/>
                <a:gd name="T37" fmla="*/ 154 h 158"/>
                <a:gd name="T38" fmla="*/ 43 w 203"/>
                <a:gd name="T39" fmla="*/ 147 h 158"/>
                <a:gd name="T40" fmla="*/ 29 w 203"/>
                <a:gd name="T41" fmla="*/ 135 h 158"/>
                <a:gd name="T42" fmla="*/ 14 w 203"/>
                <a:gd name="T43" fmla="*/ 124 h 158"/>
                <a:gd name="T44" fmla="*/ 5 w 203"/>
                <a:gd name="T45" fmla="*/ 112 h 158"/>
                <a:gd name="T46" fmla="*/ 0 w 203"/>
                <a:gd name="T47" fmla="*/ 97 h 158"/>
                <a:gd name="T48" fmla="*/ 0 w 203"/>
                <a:gd name="T49" fmla="*/ 81 h 158"/>
                <a:gd name="T50" fmla="*/ 0 w 203"/>
                <a:gd name="T51" fmla="*/ 62 h 158"/>
                <a:gd name="T52" fmla="*/ 5 w 203"/>
                <a:gd name="T53" fmla="*/ 47 h 158"/>
                <a:gd name="T54" fmla="*/ 14 w 203"/>
                <a:gd name="T55" fmla="*/ 35 h 158"/>
                <a:gd name="T56" fmla="*/ 29 w 203"/>
                <a:gd name="T57" fmla="*/ 23 h 158"/>
                <a:gd name="T58" fmla="*/ 43 w 203"/>
                <a:gd name="T59" fmla="*/ 12 h 158"/>
                <a:gd name="T60" fmla="*/ 58 w 203"/>
                <a:gd name="T61" fmla="*/ 4 h 158"/>
                <a:gd name="T62" fmla="*/ 77 w 203"/>
                <a:gd name="T63" fmla="*/ 0 h 158"/>
                <a:gd name="T64" fmla="*/ 101 w 203"/>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3"/>
                <a:gd name="T100" fmla="*/ 0 h 158"/>
                <a:gd name="T101" fmla="*/ 203 w 203"/>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3" h="158">
                  <a:moveTo>
                    <a:pt x="101" y="0"/>
                  </a:moveTo>
                  <a:lnTo>
                    <a:pt x="121" y="0"/>
                  </a:lnTo>
                  <a:lnTo>
                    <a:pt x="140" y="4"/>
                  </a:lnTo>
                  <a:lnTo>
                    <a:pt x="155" y="12"/>
                  </a:lnTo>
                  <a:lnTo>
                    <a:pt x="169" y="23"/>
                  </a:lnTo>
                  <a:lnTo>
                    <a:pt x="183" y="35"/>
                  </a:lnTo>
                  <a:lnTo>
                    <a:pt x="193" y="47"/>
                  </a:lnTo>
                  <a:lnTo>
                    <a:pt x="198" y="62"/>
                  </a:lnTo>
                  <a:lnTo>
                    <a:pt x="203" y="81"/>
                  </a:lnTo>
                  <a:lnTo>
                    <a:pt x="198" y="97"/>
                  </a:lnTo>
                  <a:lnTo>
                    <a:pt x="193" y="112"/>
                  </a:lnTo>
                  <a:lnTo>
                    <a:pt x="183" y="124"/>
                  </a:lnTo>
                  <a:lnTo>
                    <a:pt x="169" y="135"/>
                  </a:lnTo>
                  <a:lnTo>
                    <a:pt x="155" y="147"/>
                  </a:lnTo>
                  <a:lnTo>
                    <a:pt x="140" y="154"/>
                  </a:lnTo>
                  <a:lnTo>
                    <a:pt x="121" y="158"/>
                  </a:lnTo>
                  <a:lnTo>
                    <a:pt x="101" y="158"/>
                  </a:lnTo>
                  <a:lnTo>
                    <a:pt x="77" y="158"/>
                  </a:lnTo>
                  <a:lnTo>
                    <a:pt x="58" y="154"/>
                  </a:lnTo>
                  <a:lnTo>
                    <a:pt x="43" y="147"/>
                  </a:lnTo>
                  <a:lnTo>
                    <a:pt x="29" y="135"/>
                  </a:lnTo>
                  <a:lnTo>
                    <a:pt x="14" y="124"/>
                  </a:lnTo>
                  <a:lnTo>
                    <a:pt x="5" y="112"/>
                  </a:lnTo>
                  <a:lnTo>
                    <a:pt x="0" y="97"/>
                  </a:lnTo>
                  <a:lnTo>
                    <a:pt x="0" y="81"/>
                  </a:lnTo>
                  <a:lnTo>
                    <a:pt x="0" y="62"/>
                  </a:lnTo>
                  <a:lnTo>
                    <a:pt x="5" y="47"/>
                  </a:lnTo>
                  <a:lnTo>
                    <a:pt x="14" y="35"/>
                  </a:lnTo>
                  <a:lnTo>
                    <a:pt x="29" y="23"/>
                  </a:lnTo>
                  <a:lnTo>
                    <a:pt x="43" y="12"/>
                  </a:lnTo>
                  <a:lnTo>
                    <a:pt x="58" y="4"/>
                  </a:lnTo>
                  <a:lnTo>
                    <a:pt x="77" y="0"/>
                  </a:lnTo>
                  <a:lnTo>
                    <a:pt x="10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15" name="Freeform 7"/>
            <p:cNvSpPr>
              <a:spLocks/>
            </p:cNvSpPr>
            <p:nvPr/>
          </p:nvSpPr>
          <p:spPr bwMode="auto">
            <a:xfrm>
              <a:off x="1317" y="1082"/>
              <a:ext cx="203" cy="158"/>
            </a:xfrm>
            <a:custGeom>
              <a:avLst/>
              <a:gdLst>
                <a:gd name="T0" fmla="*/ 101 w 203"/>
                <a:gd name="T1" fmla="*/ 0 h 158"/>
                <a:gd name="T2" fmla="*/ 121 w 203"/>
                <a:gd name="T3" fmla="*/ 0 h 158"/>
                <a:gd name="T4" fmla="*/ 140 w 203"/>
                <a:gd name="T5" fmla="*/ 4 h 158"/>
                <a:gd name="T6" fmla="*/ 155 w 203"/>
                <a:gd name="T7" fmla="*/ 12 h 158"/>
                <a:gd name="T8" fmla="*/ 169 w 203"/>
                <a:gd name="T9" fmla="*/ 23 h 158"/>
                <a:gd name="T10" fmla="*/ 183 w 203"/>
                <a:gd name="T11" fmla="*/ 35 h 158"/>
                <a:gd name="T12" fmla="*/ 193 w 203"/>
                <a:gd name="T13" fmla="*/ 47 h 158"/>
                <a:gd name="T14" fmla="*/ 198 w 203"/>
                <a:gd name="T15" fmla="*/ 62 h 158"/>
                <a:gd name="T16" fmla="*/ 203 w 203"/>
                <a:gd name="T17" fmla="*/ 81 h 158"/>
                <a:gd name="T18" fmla="*/ 198 w 203"/>
                <a:gd name="T19" fmla="*/ 97 h 158"/>
                <a:gd name="T20" fmla="*/ 193 w 203"/>
                <a:gd name="T21" fmla="*/ 112 h 158"/>
                <a:gd name="T22" fmla="*/ 183 w 203"/>
                <a:gd name="T23" fmla="*/ 124 h 158"/>
                <a:gd name="T24" fmla="*/ 169 w 203"/>
                <a:gd name="T25" fmla="*/ 135 h 158"/>
                <a:gd name="T26" fmla="*/ 155 w 203"/>
                <a:gd name="T27" fmla="*/ 147 h 158"/>
                <a:gd name="T28" fmla="*/ 140 w 203"/>
                <a:gd name="T29" fmla="*/ 154 h 158"/>
                <a:gd name="T30" fmla="*/ 121 w 203"/>
                <a:gd name="T31" fmla="*/ 158 h 158"/>
                <a:gd name="T32" fmla="*/ 101 w 203"/>
                <a:gd name="T33" fmla="*/ 158 h 158"/>
                <a:gd name="T34" fmla="*/ 77 w 203"/>
                <a:gd name="T35" fmla="*/ 158 h 158"/>
                <a:gd name="T36" fmla="*/ 58 w 203"/>
                <a:gd name="T37" fmla="*/ 154 h 158"/>
                <a:gd name="T38" fmla="*/ 43 w 203"/>
                <a:gd name="T39" fmla="*/ 147 h 158"/>
                <a:gd name="T40" fmla="*/ 29 w 203"/>
                <a:gd name="T41" fmla="*/ 135 h 158"/>
                <a:gd name="T42" fmla="*/ 14 w 203"/>
                <a:gd name="T43" fmla="*/ 124 h 158"/>
                <a:gd name="T44" fmla="*/ 5 w 203"/>
                <a:gd name="T45" fmla="*/ 112 h 158"/>
                <a:gd name="T46" fmla="*/ 0 w 203"/>
                <a:gd name="T47" fmla="*/ 97 h 158"/>
                <a:gd name="T48" fmla="*/ 0 w 203"/>
                <a:gd name="T49" fmla="*/ 81 h 158"/>
                <a:gd name="T50" fmla="*/ 0 w 203"/>
                <a:gd name="T51" fmla="*/ 62 h 158"/>
                <a:gd name="T52" fmla="*/ 5 w 203"/>
                <a:gd name="T53" fmla="*/ 47 h 158"/>
                <a:gd name="T54" fmla="*/ 14 w 203"/>
                <a:gd name="T55" fmla="*/ 35 h 158"/>
                <a:gd name="T56" fmla="*/ 29 w 203"/>
                <a:gd name="T57" fmla="*/ 23 h 158"/>
                <a:gd name="T58" fmla="*/ 43 w 203"/>
                <a:gd name="T59" fmla="*/ 12 h 158"/>
                <a:gd name="T60" fmla="*/ 58 w 203"/>
                <a:gd name="T61" fmla="*/ 4 h 158"/>
                <a:gd name="T62" fmla="*/ 77 w 203"/>
                <a:gd name="T63" fmla="*/ 0 h 158"/>
                <a:gd name="T64" fmla="*/ 101 w 203"/>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3"/>
                <a:gd name="T100" fmla="*/ 0 h 158"/>
                <a:gd name="T101" fmla="*/ 203 w 203"/>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3" h="158">
                  <a:moveTo>
                    <a:pt x="101" y="0"/>
                  </a:moveTo>
                  <a:lnTo>
                    <a:pt x="121" y="0"/>
                  </a:lnTo>
                  <a:lnTo>
                    <a:pt x="140" y="4"/>
                  </a:lnTo>
                  <a:lnTo>
                    <a:pt x="155" y="12"/>
                  </a:lnTo>
                  <a:lnTo>
                    <a:pt x="169" y="23"/>
                  </a:lnTo>
                  <a:lnTo>
                    <a:pt x="183" y="35"/>
                  </a:lnTo>
                  <a:lnTo>
                    <a:pt x="193" y="47"/>
                  </a:lnTo>
                  <a:lnTo>
                    <a:pt x="198" y="62"/>
                  </a:lnTo>
                  <a:lnTo>
                    <a:pt x="203" y="81"/>
                  </a:lnTo>
                  <a:lnTo>
                    <a:pt x="198" y="97"/>
                  </a:lnTo>
                  <a:lnTo>
                    <a:pt x="193" y="112"/>
                  </a:lnTo>
                  <a:lnTo>
                    <a:pt x="183" y="124"/>
                  </a:lnTo>
                  <a:lnTo>
                    <a:pt x="169" y="135"/>
                  </a:lnTo>
                  <a:lnTo>
                    <a:pt x="155" y="147"/>
                  </a:lnTo>
                  <a:lnTo>
                    <a:pt x="140" y="154"/>
                  </a:lnTo>
                  <a:lnTo>
                    <a:pt x="121" y="158"/>
                  </a:lnTo>
                  <a:lnTo>
                    <a:pt x="101" y="158"/>
                  </a:lnTo>
                  <a:lnTo>
                    <a:pt x="77" y="158"/>
                  </a:lnTo>
                  <a:lnTo>
                    <a:pt x="58" y="154"/>
                  </a:lnTo>
                  <a:lnTo>
                    <a:pt x="43" y="147"/>
                  </a:lnTo>
                  <a:lnTo>
                    <a:pt x="29" y="135"/>
                  </a:lnTo>
                  <a:lnTo>
                    <a:pt x="14" y="124"/>
                  </a:lnTo>
                  <a:lnTo>
                    <a:pt x="5" y="112"/>
                  </a:lnTo>
                  <a:lnTo>
                    <a:pt x="0" y="97"/>
                  </a:lnTo>
                  <a:lnTo>
                    <a:pt x="0" y="81"/>
                  </a:lnTo>
                  <a:lnTo>
                    <a:pt x="0" y="62"/>
                  </a:lnTo>
                  <a:lnTo>
                    <a:pt x="5" y="47"/>
                  </a:lnTo>
                  <a:lnTo>
                    <a:pt x="14" y="35"/>
                  </a:lnTo>
                  <a:lnTo>
                    <a:pt x="29" y="23"/>
                  </a:lnTo>
                  <a:lnTo>
                    <a:pt x="43" y="12"/>
                  </a:lnTo>
                  <a:lnTo>
                    <a:pt x="58" y="4"/>
                  </a:lnTo>
                  <a:lnTo>
                    <a:pt x="77" y="0"/>
                  </a:lnTo>
                  <a:lnTo>
                    <a:pt x="101"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16" name="Line 8"/>
            <p:cNvSpPr>
              <a:spLocks noChangeShapeType="1"/>
            </p:cNvSpPr>
            <p:nvPr/>
          </p:nvSpPr>
          <p:spPr bwMode="auto">
            <a:xfrm>
              <a:off x="1278" y="1287"/>
              <a:ext cx="280"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7" name="Freeform 9"/>
            <p:cNvSpPr>
              <a:spLocks/>
            </p:cNvSpPr>
            <p:nvPr/>
          </p:nvSpPr>
          <p:spPr bwMode="auto">
            <a:xfrm>
              <a:off x="1201" y="1244"/>
              <a:ext cx="213" cy="309"/>
            </a:xfrm>
            <a:custGeom>
              <a:avLst/>
              <a:gdLst>
                <a:gd name="T0" fmla="*/ 213 w 213"/>
                <a:gd name="T1" fmla="*/ 0 h 309"/>
                <a:gd name="T2" fmla="*/ 213 w 213"/>
                <a:gd name="T3" fmla="*/ 143 h 309"/>
                <a:gd name="T4" fmla="*/ 0 w 213"/>
                <a:gd name="T5" fmla="*/ 309 h 309"/>
                <a:gd name="T6" fmla="*/ 0 60000 65536"/>
                <a:gd name="T7" fmla="*/ 0 60000 65536"/>
                <a:gd name="T8" fmla="*/ 0 60000 65536"/>
                <a:gd name="T9" fmla="*/ 0 w 213"/>
                <a:gd name="T10" fmla="*/ 0 h 309"/>
                <a:gd name="T11" fmla="*/ 213 w 213"/>
                <a:gd name="T12" fmla="*/ 309 h 309"/>
              </a:gdLst>
              <a:ahLst/>
              <a:cxnLst>
                <a:cxn ang="T6">
                  <a:pos x="T0" y="T1"/>
                </a:cxn>
                <a:cxn ang="T7">
                  <a:pos x="T2" y="T3"/>
                </a:cxn>
                <a:cxn ang="T8">
                  <a:pos x="T4" y="T5"/>
                </a:cxn>
              </a:cxnLst>
              <a:rect l="T9" t="T10" r="T11" b="T12"/>
              <a:pathLst>
                <a:path w="213" h="309">
                  <a:moveTo>
                    <a:pt x="213" y="0"/>
                  </a:moveTo>
                  <a:lnTo>
                    <a:pt x="213" y="143"/>
                  </a:lnTo>
                  <a:lnTo>
                    <a:pt x="0" y="309"/>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18" name="Line 10"/>
            <p:cNvSpPr>
              <a:spLocks noChangeShapeType="1"/>
            </p:cNvSpPr>
            <p:nvPr/>
          </p:nvSpPr>
          <p:spPr bwMode="auto">
            <a:xfrm>
              <a:off x="1414" y="1383"/>
              <a:ext cx="212" cy="1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12" name="Oval 11"/>
          <p:cNvSpPr>
            <a:spLocks noChangeArrowheads="1"/>
          </p:cNvSpPr>
          <p:nvPr/>
        </p:nvSpPr>
        <p:spPr bwMode="auto">
          <a:xfrm>
            <a:off x="1241425" y="3624263"/>
            <a:ext cx="2276475" cy="700087"/>
          </a:xfrm>
          <a:prstGeom prst="ellipse">
            <a:avLst/>
          </a:prstGeom>
          <a:solidFill>
            <a:srgbClr val="DDDDDD"/>
          </a:solidFill>
          <a:ln w="28575">
            <a:solidFill>
              <a:schemeClr val="tx1"/>
            </a:solidFill>
            <a:round/>
            <a:headEnd/>
            <a:tailEnd/>
          </a:ln>
        </p:spPr>
        <p:txBody>
          <a:bodyPr wrap="none" lIns="107950" tIns="53975" rIns="107950" bIns="53975" anchor="ctr"/>
          <a:lstStyle/>
          <a:p>
            <a:pPr algn="ctr" eaLnBrk="0" hangingPunct="0"/>
            <a:r>
              <a:rPr lang="en-US" sz="2000"/>
              <a:t>Use Case</a:t>
            </a:r>
          </a:p>
        </p:txBody>
      </p:sp>
      <p:sp>
        <p:nvSpPr>
          <p:cNvPr id="2" name="Slide Number Placeholder 1"/>
          <p:cNvSpPr>
            <a:spLocks noGrp="1"/>
          </p:cNvSpPr>
          <p:nvPr>
            <p:ph type="sldNum" sz="quarter" idx="12"/>
          </p:nvPr>
        </p:nvSpPr>
        <p:spPr/>
        <p:txBody>
          <a:bodyPr/>
          <a:lstStyle/>
          <a:p>
            <a:fld id="{27392B6C-813E-42DE-A59C-034281A964AB}" type="slidenum">
              <a:rPr lang="en-US" smtClean="0"/>
              <a:pPr/>
              <a:t>11</a:t>
            </a:fld>
            <a:endParaRPr lang="en-US"/>
          </a:p>
        </p:txBody>
      </p:sp>
    </p:spTree>
    <p:extLst>
      <p:ext uri="{BB962C8B-B14F-4D97-AF65-F5344CB8AC3E}">
        <p14:creationId xmlns:p14="http://schemas.microsoft.com/office/powerpoint/2010/main" val="15799889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eaLnBrk="1" hangingPunct="1">
              <a:defRPr/>
            </a:pPr>
            <a:r>
              <a:rPr lang="en-US" sz="2800"/>
              <a:t>Actor</a:t>
            </a:r>
          </a:p>
        </p:txBody>
      </p:sp>
      <p:sp>
        <p:nvSpPr>
          <p:cNvPr id="22534" name="Rectangle 3"/>
          <p:cNvSpPr>
            <a:spLocks noGrp="1" noChangeArrowheads="1"/>
          </p:cNvSpPr>
          <p:nvPr>
            <p:ph type="body" idx="1"/>
          </p:nvPr>
        </p:nvSpPr>
        <p:spPr/>
        <p:txBody>
          <a:bodyPr/>
          <a:lstStyle/>
          <a:p>
            <a:pPr marL="230188" indent="-230188" eaLnBrk="1" hangingPunct="1"/>
            <a:r>
              <a:rPr lang="en-US" sz="2000" dirty="0"/>
              <a:t>An </a:t>
            </a:r>
            <a:r>
              <a:rPr lang="en-US" sz="2000" dirty="0">
                <a:solidFill>
                  <a:srgbClr val="006699"/>
                </a:solidFill>
              </a:rPr>
              <a:t>actor</a:t>
            </a:r>
            <a:r>
              <a:rPr lang="en-US" sz="2000" dirty="0"/>
              <a:t> represents a role that a human, hardware device, or another system can play in relation to the system</a:t>
            </a:r>
          </a:p>
          <a:p>
            <a:pPr marL="230188" indent="-230188" eaLnBrk="1" hangingPunct="1"/>
            <a:r>
              <a:rPr lang="en-US" sz="2000" dirty="0"/>
              <a:t>An actor is external to the system</a:t>
            </a:r>
          </a:p>
          <a:p>
            <a:pPr marL="230188" indent="-230188" eaLnBrk="1" hangingPunct="1"/>
            <a:r>
              <a:rPr lang="en-US" sz="2000" dirty="0"/>
              <a:t>A complete set of actors describes all of the ways in which outside users communicate with the system</a:t>
            </a:r>
          </a:p>
          <a:p>
            <a:pPr marL="230188" indent="-230188" eaLnBrk="1" hangingPunct="1">
              <a:buFont typeface="Wingdings" pitchFamily="2" charset="2"/>
              <a:buNone/>
            </a:pPr>
            <a:endParaRPr lang="en-US" sz="2000" dirty="0"/>
          </a:p>
        </p:txBody>
      </p:sp>
      <p:grpSp>
        <p:nvGrpSpPr>
          <p:cNvPr id="22535" name="Group 4"/>
          <p:cNvGrpSpPr>
            <a:grpSpLocks/>
          </p:cNvGrpSpPr>
          <p:nvPr/>
        </p:nvGrpSpPr>
        <p:grpSpPr bwMode="auto">
          <a:xfrm>
            <a:off x="3657600" y="4419600"/>
            <a:ext cx="1600200" cy="1520825"/>
            <a:chOff x="768" y="2256"/>
            <a:chExt cx="775" cy="636"/>
          </a:xfrm>
        </p:grpSpPr>
        <p:sp>
          <p:nvSpPr>
            <p:cNvPr id="22536" name="Rectangle 5"/>
            <p:cNvSpPr>
              <a:spLocks noChangeArrowheads="1"/>
            </p:cNvSpPr>
            <p:nvPr/>
          </p:nvSpPr>
          <p:spPr bwMode="auto">
            <a:xfrm>
              <a:off x="768" y="2726"/>
              <a:ext cx="775"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2075" tIns="46038" rIns="92075" bIns="46038">
              <a:spAutoFit/>
            </a:bodyPr>
            <a:lstStyle/>
            <a:p>
              <a:pPr algn="ctr" eaLnBrk="0" hangingPunct="0"/>
              <a:r>
                <a:rPr lang="en-US" sz="2000">
                  <a:solidFill>
                    <a:schemeClr val="tx1"/>
                  </a:solidFill>
                  <a:latin typeface="Arial" pitchFamily="34" charset="0"/>
                </a:rPr>
                <a:t>Actor</a:t>
              </a:r>
            </a:p>
          </p:txBody>
        </p:sp>
        <p:sp>
          <p:nvSpPr>
            <p:cNvPr id="22537" name="Freeform 6"/>
            <p:cNvSpPr>
              <a:spLocks/>
            </p:cNvSpPr>
            <p:nvPr/>
          </p:nvSpPr>
          <p:spPr bwMode="auto">
            <a:xfrm>
              <a:off x="1067" y="2256"/>
              <a:ext cx="203" cy="158"/>
            </a:xfrm>
            <a:custGeom>
              <a:avLst/>
              <a:gdLst>
                <a:gd name="T0" fmla="*/ 101 w 203"/>
                <a:gd name="T1" fmla="*/ 0 h 158"/>
                <a:gd name="T2" fmla="*/ 121 w 203"/>
                <a:gd name="T3" fmla="*/ 0 h 158"/>
                <a:gd name="T4" fmla="*/ 140 w 203"/>
                <a:gd name="T5" fmla="*/ 4 h 158"/>
                <a:gd name="T6" fmla="*/ 155 w 203"/>
                <a:gd name="T7" fmla="*/ 12 h 158"/>
                <a:gd name="T8" fmla="*/ 169 w 203"/>
                <a:gd name="T9" fmla="*/ 23 h 158"/>
                <a:gd name="T10" fmla="*/ 183 w 203"/>
                <a:gd name="T11" fmla="*/ 35 h 158"/>
                <a:gd name="T12" fmla="*/ 193 w 203"/>
                <a:gd name="T13" fmla="*/ 47 h 158"/>
                <a:gd name="T14" fmla="*/ 198 w 203"/>
                <a:gd name="T15" fmla="*/ 62 h 158"/>
                <a:gd name="T16" fmla="*/ 203 w 203"/>
                <a:gd name="T17" fmla="*/ 81 h 158"/>
                <a:gd name="T18" fmla="*/ 198 w 203"/>
                <a:gd name="T19" fmla="*/ 97 h 158"/>
                <a:gd name="T20" fmla="*/ 193 w 203"/>
                <a:gd name="T21" fmla="*/ 112 h 158"/>
                <a:gd name="T22" fmla="*/ 183 w 203"/>
                <a:gd name="T23" fmla="*/ 124 h 158"/>
                <a:gd name="T24" fmla="*/ 169 w 203"/>
                <a:gd name="T25" fmla="*/ 135 h 158"/>
                <a:gd name="T26" fmla="*/ 155 w 203"/>
                <a:gd name="T27" fmla="*/ 147 h 158"/>
                <a:gd name="T28" fmla="*/ 140 w 203"/>
                <a:gd name="T29" fmla="*/ 154 h 158"/>
                <a:gd name="T30" fmla="*/ 121 w 203"/>
                <a:gd name="T31" fmla="*/ 158 h 158"/>
                <a:gd name="T32" fmla="*/ 101 w 203"/>
                <a:gd name="T33" fmla="*/ 158 h 158"/>
                <a:gd name="T34" fmla="*/ 77 w 203"/>
                <a:gd name="T35" fmla="*/ 158 h 158"/>
                <a:gd name="T36" fmla="*/ 58 w 203"/>
                <a:gd name="T37" fmla="*/ 154 h 158"/>
                <a:gd name="T38" fmla="*/ 43 w 203"/>
                <a:gd name="T39" fmla="*/ 147 h 158"/>
                <a:gd name="T40" fmla="*/ 29 w 203"/>
                <a:gd name="T41" fmla="*/ 135 h 158"/>
                <a:gd name="T42" fmla="*/ 14 w 203"/>
                <a:gd name="T43" fmla="*/ 124 h 158"/>
                <a:gd name="T44" fmla="*/ 5 w 203"/>
                <a:gd name="T45" fmla="*/ 112 h 158"/>
                <a:gd name="T46" fmla="*/ 0 w 203"/>
                <a:gd name="T47" fmla="*/ 97 h 158"/>
                <a:gd name="T48" fmla="*/ 0 w 203"/>
                <a:gd name="T49" fmla="*/ 81 h 158"/>
                <a:gd name="T50" fmla="*/ 0 w 203"/>
                <a:gd name="T51" fmla="*/ 62 h 158"/>
                <a:gd name="T52" fmla="*/ 5 w 203"/>
                <a:gd name="T53" fmla="*/ 47 h 158"/>
                <a:gd name="T54" fmla="*/ 14 w 203"/>
                <a:gd name="T55" fmla="*/ 35 h 158"/>
                <a:gd name="T56" fmla="*/ 29 w 203"/>
                <a:gd name="T57" fmla="*/ 23 h 158"/>
                <a:gd name="T58" fmla="*/ 43 w 203"/>
                <a:gd name="T59" fmla="*/ 12 h 158"/>
                <a:gd name="T60" fmla="*/ 58 w 203"/>
                <a:gd name="T61" fmla="*/ 4 h 158"/>
                <a:gd name="T62" fmla="*/ 77 w 203"/>
                <a:gd name="T63" fmla="*/ 0 h 158"/>
                <a:gd name="T64" fmla="*/ 101 w 203"/>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3"/>
                <a:gd name="T100" fmla="*/ 0 h 158"/>
                <a:gd name="T101" fmla="*/ 203 w 203"/>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3" h="158">
                  <a:moveTo>
                    <a:pt x="101" y="0"/>
                  </a:moveTo>
                  <a:lnTo>
                    <a:pt x="121" y="0"/>
                  </a:lnTo>
                  <a:lnTo>
                    <a:pt x="140" y="4"/>
                  </a:lnTo>
                  <a:lnTo>
                    <a:pt x="155" y="12"/>
                  </a:lnTo>
                  <a:lnTo>
                    <a:pt x="169" y="23"/>
                  </a:lnTo>
                  <a:lnTo>
                    <a:pt x="183" y="35"/>
                  </a:lnTo>
                  <a:lnTo>
                    <a:pt x="193" y="47"/>
                  </a:lnTo>
                  <a:lnTo>
                    <a:pt x="198" y="62"/>
                  </a:lnTo>
                  <a:lnTo>
                    <a:pt x="203" y="81"/>
                  </a:lnTo>
                  <a:lnTo>
                    <a:pt x="198" y="97"/>
                  </a:lnTo>
                  <a:lnTo>
                    <a:pt x="193" y="112"/>
                  </a:lnTo>
                  <a:lnTo>
                    <a:pt x="183" y="124"/>
                  </a:lnTo>
                  <a:lnTo>
                    <a:pt x="169" y="135"/>
                  </a:lnTo>
                  <a:lnTo>
                    <a:pt x="155" y="147"/>
                  </a:lnTo>
                  <a:lnTo>
                    <a:pt x="140" y="154"/>
                  </a:lnTo>
                  <a:lnTo>
                    <a:pt x="121" y="158"/>
                  </a:lnTo>
                  <a:lnTo>
                    <a:pt x="101" y="158"/>
                  </a:lnTo>
                  <a:lnTo>
                    <a:pt x="77" y="158"/>
                  </a:lnTo>
                  <a:lnTo>
                    <a:pt x="58" y="154"/>
                  </a:lnTo>
                  <a:lnTo>
                    <a:pt x="43" y="147"/>
                  </a:lnTo>
                  <a:lnTo>
                    <a:pt x="29" y="135"/>
                  </a:lnTo>
                  <a:lnTo>
                    <a:pt x="14" y="124"/>
                  </a:lnTo>
                  <a:lnTo>
                    <a:pt x="5" y="112"/>
                  </a:lnTo>
                  <a:lnTo>
                    <a:pt x="0" y="97"/>
                  </a:lnTo>
                  <a:lnTo>
                    <a:pt x="0" y="81"/>
                  </a:lnTo>
                  <a:lnTo>
                    <a:pt x="0" y="62"/>
                  </a:lnTo>
                  <a:lnTo>
                    <a:pt x="5" y="47"/>
                  </a:lnTo>
                  <a:lnTo>
                    <a:pt x="14" y="35"/>
                  </a:lnTo>
                  <a:lnTo>
                    <a:pt x="29" y="23"/>
                  </a:lnTo>
                  <a:lnTo>
                    <a:pt x="43" y="12"/>
                  </a:lnTo>
                  <a:lnTo>
                    <a:pt x="58" y="4"/>
                  </a:lnTo>
                  <a:lnTo>
                    <a:pt x="77" y="0"/>
                  </a:lnTo>
                  <a:lnTo>
                    <a:pt x="10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38" name="Freeform 7"/>
            <p:cNvSpPr>
              <a:spLocks/>
            </p:cNvSpPr>
            <p:nvPr/>
          </p:nvSpPr>
          <p:spPr bwMode="auto">
            <a:xfrm>
              <a:off x="1067" y="2256"/>
              <a:ext cx="203" cy="158"/>
            </a:xfrm>
            <a:custGeom>
              <a:avLst/>
              <a:gdLst>
                <a:gd name="T0" fmla="*/ 101 w 203"/>
                <a:gd name="T1" fmla="*/ 0 h 158"/>
                <a:gd name="T2" fmla="*/ 121 w 203"/>
                <a:gd name="T3" fmla="*/ 0 h 158"/>
                <a:gd name="T4" fmla="*/ 140 w 203"/>
                <a:gd name="T5" fmla="*/ 4 h 158"/>
                <a:gd name="T6" fmla="*/ 155 w 203"/>
                <a:gd name="T7" fmla="*/ 12 h 158"/>
                <a:gd name="T8" fmla="*/ 169 w 203"/>
                <a:gd name="T9" fmla="*/ 23 h 158"/>
                <a:gd name="T10" fmla="*/ 183 w 203"/>
                <a:gd name="T11" fmla="*/ 35 h 158"/>
                <a:gd name="T12" fmla="*/ 193 w 203"/>
                <a:gd name="T13" fmla="*/ 47 h 158"/>
                <a:gd name="T14" fmla="*/ 198 w 203"/>
                <a:gd name="T15" fmla="*/ 62 h 158"/>
                <a:gd name="T16" fmla="*/ 203 w 203"/>
                <a:gd name="T17" fmla="*/ 81 h 158"/>
                <a:gd name="T18" fmla="*/ 198 w 203"/>
                <a:gd name="T19" fmla="*/ 97 h 158"/>
                <a:gd name="T20" fmla="*/ 193 w 203"/>
                <a:gd name="T21" fmla="*/ 112 h 158"/>
                <a:gd name="T22" fmla="*/ 183 w 203"/>
                <a:gd name="T23" fmla="*/ 124 h 158"/>
                <a:gd name="T24" fmla="*/ 169 w 203"/>
                <a:gd name="T25" fmla="*/ 135 h 158"/>
                <a:gd name="T26" fmla="*/ 155 w 203"/>
                <a:gd name="T27" fmla="*/ 147 h 158"/>
                <a:gd name="T28" fmla="*/ 140 w 203"/>
                <a:gd name="T29" fmla="*/ 154 h 158"/>
                <a:gd name="T30" fmla="*/ 121 w 203"/>
                <a:gd name="T31" fmla="*/ 158 h 158"/>
                <a:gd name="T32" fmla="*/ 101 w 203"/>
                <a:gd name="T33" fmla="*/ 158 h 158"/>
                <a:gd name="T34" fmla="*/ 77 w 203"/>
                <a:gd name="T35" fmla="*/ 158 h 158"/>
                <a:gd name="T36" fmla="*/ 58 w 203"/>
                <a:gd name="T37" fmla="*/ 154 h 158"/>
                <a:gd name="T38" fmla="*/ 43 w 203"/>
                <a:gd name="T39" fmla="*/ 147 h 158"/>
                <a:gd name="T40" fmla="*/ 29 w 203"/>
                <a:gd name="T41" fmla="*/ 135 h 158"/>
                <a:gd name="T42" fmla="*/ 14 w 203"/>
                <a:gd name="T43" fmla="*/ 124 h 158"/>
                <a:gd name="T44" fmla="*/ 5 w 203"/>
                <a:gd name="T45" fmla="*/ 112 h 158"/>
                <a:gd name="T46" fmla="*/ 0 w 203"/>
                <a:gd name="T47" fmla="*/ 97 h 158"/>
                <a:gd name="T48" fmla="*/ 0 w 203"/>
                <a:gd name="T49" fmla="*/ 81 h 158"/>
                <a:gd name="T50" fmla="*/ 0 w 203"/>
                <a:gd name="T51" fmla="*/ 62 h 158"/>
                <a:gd name="T52" fmla="*/ 5 w 203"/>
                <a:gd name="T53" fmla="*/ 47 h 158"/>
                <a:gd name="T54" fmla="*/ 14 w 203"/>
                <a:gd name="T55" fmla="*/ 35 h 158"/>
                <a:gd name="T56" fmla="*/ 29 w 203"/>
                <a:gd name="T57" fmla="*/ 23 h 158"/>
                <a:gd name="T58" fmla="*/ 43 w 203"/>
                <a:gd name="T59" fmla="*/ 12 h 158"/>
                <a:gd name="T60" fmla="*/ 58 w 203"/>
                <a:gd name="T61" fmla="*/ 4 h 158"/>
                <a:gd name="T62" fmla="*/ 77 w 203"/>
                <a:gd name="T63" fmla="*/ 0 h 158"/>
                <a:gd name="T64" fmla="*/ 101 w 203"/>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3"/>
                <a:gd name="T100" fmla="*/ 0 h 158"/>
                <a:gd name="T101" fmla="*/ 203 w 203"/>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3" h="158">
                  <a:moveTo>
                    <a:pt x="101" y="0"/>
                  </a:moveTo>
                  <a:lnTo>
                    <a:pt x="121" y="0"/>
                  </a:lnTo>
                  <a:lnTo>
                    <a:pt x="140" y="4"/>
                  </a:lnTo>
                  <a:lnTo>
                    <a:pt x="155" y="12"/>
                  </a:lnTo>
                  <a:lnTo>
                    <a:pt x="169" y="23"/>
                  </a:lnTo>
                  <a:lnTo>
                    <a:pt x="183" y="35"/>
                  </a:lnTo>
                  <a:lnTo>
                    <a:pt x="193" y="47"/>
                  </a:lnTo>
                  <a:lnTo>
                    <a:pt x="198" y="62"/>
                  </a:lnTo>
                  <a:lnTo>
                    <a:pt x="203" y="81"/>
                  </a:lnTo>
                  <a:lnTo>
                    <a:pt x="198" y="97"/>
                  </a:lnTo>
                  <a:lnTo>
                    <a:pt x="193" y="112"/>
                  </a:lnTo>
                  <a:lnTo>
                    <a:pt x="183" y="124"/>
                  </a:lnTo>
                  <a:lnTo>
                    <a:pt x="169" y="135"/>
                  </a:lnTo>
                  <a:lnTo>
                    <a:pt x="155" y="147"/>
                  </a:lnTo>
                  <a:lnTo>
                    <a:pt x="140" y="154"/>
                  </a:lnTo>
                  <a:lnTo>
                    <a:pt x="121" y="158"/>
                  </a:lnTo>
                  <a:lnTo>
                    <a:pt x="101" y="158"/>
                  </a:lnTo>
                  <a:lnTo>
                    <a:pt x="77" y="158"/>
                  </a:lnTo>
                  <a:lnTo>
                    <a:pt x="58" y="154"/>
                  </a:lnTo>
                  <a:lnTo>
                    <a:pt x="43" y="147"/>
                  </a:lnTo>
                  <a:lnTo>
                    <a:pt x="29" y="135"/>
                  </a:lnTo>
                  <a:lnTo>
                    <a:pt x="14" y="124"/>
                  </a:lnTo>
                  <a:lnTo>
                    <a:pt x="5" y="112"/>
                  </a:lnTo>
                  <a:lnTo>
                    <a:pt x="0" y="97"/>
                  </a:lnTo>
                  <a:lnTo>
                    <a:pt x="0" y="81"/>
                  </a:lnTo>
                  <a:lnTo>
                    <a:pt x="0" y="62"/>
                  </a:lnTo>
                  <a:lnTo>
                    <a:pt x="5" y="47"/>
                  </a:lnTo>
                  <a:lnTo>
                    <a:pt x="14" y="35"/>
                  </a:lnTo>
                  <a:lnTo>
                    <a:pt x="29" y="23"/>
                  </a:lnTo>
                  <a:lnTo>
                    <a:pt x="43" y="12"/>
                  </a:lnTo>
                  <a:lnTo>
                    <a:pt x="58" y="4"/>
                  </a:lnTo>
                  <a:lnTo>
                    <a:pt x="77" y="0"/>
                  </a:lnTo>
                  <a:lnTo>
                    <a:pt x="101"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39" name="Line 8"/>
            <p:cNvSpPr>
              <a:spLocks noChangeShapeType="1"/>
            </p:cNvSpPr>
            <p:nvPr/>
          </p:nvSpPr>
          <p:spPr bwMode="auto">
            <a:xfrm>
              <a:off x="1028" y="2461"/>
              <a:ext cx="280"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0" name="Freeform 9"/>
            <p:cNvSpPr>
              <a:spLocks/>
            </p:cNvSpPr>
            <p:nvPr/>
          </p:nvSpPr>
          <p:spPr bwMode="auto">
            <a:xfrm>
              <a:off x="951" y="2418"/>
              <a:ext cx="213" cy="309"/>
            </a:xfrm>
            <a:custGeom>
              <a:avLst/>
              <a:gdLst>
                <a:gd name="T0" fmla="*/ 213 w 213"/>
                <a:gd name="T1" fmla="*/ 0 h 309"/>
                <a:gd name="T2" fmla="*/ 213 w 213"/>
                <a:gd name="T3" fmla="*/ 143 h 309"/>
                <a:gd name="T4" fmla="*/ 0 w 213"/>
                <a:gd name="T5" fmla="*/ 309 h 309"/>
                <a:gd name="T6" fmla="*/ 0 60000 65536"/>
                <a:gd name="T7" fmla="*/ 0 60000 65536"/>
                <a:gd name="T8" fmla="*/ 0 60000 65536"/>
                <a:gd name="T9" fmla="*/ 0 w 213"/>
                <a:gd name="T10" fmla="*/ 0 h 309"/>
                <a:gd name="T11" fmla="*/ 213 w 213"/>
                <a:gd name="T12" fmla="*/ 309 h 309"/>
              </a:gdLst>
              <a:ahLst/>
              <a:cxnLst>
                <a:cxn ang="T6">
                  <a:pos x="T0" y="T1"/>
                </a:cxn>
                <a:cxn ang="T7">
                  <a:pos x="T2" y="T3"/>
                </a:cxn>
                <a:cxn ang="T8">
                  <a:pos x="T4" y="T5"/>
                </a:cxn>
              </a:cxnLst>
              <a:rect l="T9" t="T10" r="T11" b="T12"/>
              <a:pathLst>
                <a:path w="213" h="309">
                  <a:moveTo>
                    <a:pt x="213" y="0"/>
                  </a:moveTo>
                  <a:lnTo>
                    <a:pt x="213" y="143"/>
                  </a:lnTo>
                  <a:lnTo>
                    <a:pt x="0" y="309"/>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41" name="Line 10"/>
            <p:cNvSpPr>
              <a:spLocks noChangeShapeType="1"/>
            </p:cNvSpPr>
            <p:nvPr/>
          </p:nvSpPr>
          <p:spPr bwMode="auto">
            <a:xfrm>
              <a:off x="1164" y="2557"/>
              <a:ext cx="212" cy="1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12</a:t>
            </a:fld>
            <a:endParaRPr lang="en-US"/>
          </a:p>
        </p:txBody>
      </p:sp>
    </p:spTree>
    <p:custDataLst>
      <p:tags r:id="rId1"/>
    </p:custDataLst>
    <p:extLst>
      <p:ext uri="{BB962C8B-B14F-4D97-AF65-F5344CB8AC3E}">
        <p14:creationId xmlns:p14="http://schemas.microsoft.com/office/powerpoint/2010/main" val="3188781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ChangeArrowheads="1"/>
          </p:cNvSpPr>
          <p:nvPr/>
        </p:nvSpPr>
        <p:spPr bwMode="auto">
          <a:xfrm>
            <a:off x="703263" y="6248400"/>
            <a:ext cx="189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atin typeface="+mj-lt"/>
            </a:endParaRPr>
          </a:p>
        </p:txBody>
      </p:sp>
      <p:sp>
        <p:nvSpPr>
          <p:cNvPr id="23558" name="Rectangle 3"/>
          <p:cNvSpPr>
            <a:spLocks noChangeArrowheads="1"/>
          </p:cNvSpPr>
          <p:nvPr/>
        </p:nvSpPr>
        <p:spPr bwMode="auto">
          <a:xfrm>
            <a:off x="3165475" y="6248400"/>
            <a:ext cx="2813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atin typeface="+mj-lt"/>
            </a:endParaRPr>
          </a:p>
        </p:txBody>
      </p:sp>
      <p:sp>
        <p:nvSpPr>
          <p:cNvPr id="351236" name="Rectangle 4"/>
          <p:cNvSpPr>
            <a:spLocks noGrp="1" noChangeArrowheads="1"/>
          </p:cNvSpPr>
          <p:nvPr>
            <p:ph type="title"/>
          </p:nvPr>
        </p:nvSpPr>
        <p:spPr/>
        <p:txBody>
          <a:bodyPr/>
          <a:lstStyle/>
          <a:p>
            <a:pPr eaLnBrk="1" hangingPunct="1">
              <a:defRPr/>
            </a:pPr>
            <a:r>
              <a:rPr lang="en-US" sz="2800" dirty="0"/>
              <a:t>What Is a Use Case?</a:t>
            </a:r>
          </a:p>
        </p:txBody>
      </p:sp>
      <p:sp>
        <p:nvSpPr>
          <p:cNvPr id="351237" name="Text Box 5"/>
          <p:cNvSpPr txBox="1">
            <a:spLocks noChangeArrowheads="1"/>
          </p:cNvSpPr>
          <p:nvPr/>
        </p:nvSpPr>
        <p:spPr bwMode="auto">
          <a:xfrm>
            <a:off x="2222500" y="3354388"/>
            <a:ext cx="3608360" cy="4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latin typeface="+mj-lt"/>
              </a:rPr>
              <a:t>defines a sequence of actions</a:t>
            </a:r>
          </a:p>
        </p:txBody>
      </p:sp>
      <p:sp>
        <p:nvSpPr>
          <p:cNvPr id="351238" name="Text Box 6"/>
          <p:cNvSpPr txBox="1">
            <a:spLocks noChangeArrowheads="1"/>
          </p:cNvSpPr>
          <p:nvPr/>
        </p:nvSpPr>
        <p:spPr bwMode="auto">
          <a:xfrm>
            <a:off x="2222500" y="3949700"/>
            <a:ext cx="2821285" cy="4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latin typeface="+mj-lt"/>
              </a:rPr>
              <a:t>performed by a system</a:t>
            </a:r>
          </a:p>
        </p:txBody>
      </p:sp>
      <p:sp>
        <p:nvSpPr>
          <p:cNvPr id="351239" name="Text Box 7"/>
          <p:cNvSpPr txBox="1">
            <a:spLocks noChangeArrowheads="1"/>
          </p:cNvSpPr>
          <p:nvPr/>
        </p:nvSpPr>
        <p:spPr bwMode="auto">
          <a:xfrm>
            <a:off x="2222500" y="4545013"/>
            <a:ext cx="4789773" cy="4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latin typeface="+mj-lt"/>
              </a:rPr>
              <a:t>that yields an observable result of value </a:t>
            </a:r>
          </a:p>
        </p:txBody>
      </p:sp>
      <p:sp>
        <p:nvSpPr>
          <p:cNvPr id="351240" name="Text Box 8"/>
          <p:cNvSpPr txBox="1">
            <a:spLocks noChangeArrowheads="1"/>
          </p:cNvSpPr>
          <p:nvPr/>
        </p:nvSpPr>
        <p:spPr bwMode="auto">
          <a:xfrm>
            <a:off x="2222500" y="5140325"/>
            <a:ext cx="1483035" cy="4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latin typeface="+mj-lt"/>
              </a:rPr>
              <a:t>to an actor.</a:t>
            </a:r>
          </a:p>
        </p:txBody>
      </p:sp>
      <p:sp>
        <p:nvSpPr>
          <p:cNvPr id="351241" name="Text Box 9"/>
          <p:cNvSpPr txBox="1">
            <a:spLocks noChangeArrowheads="1"/>
          </p:cNvSpPr>
          <p:nvPr/>
        </p:nvSpPr>
        <p:spPr bwMode="auto">
          <a:xfrm>
            <a:off x="304800" y="3403600"/>
            <a:ext cx="1471813" cy="4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lnSpc>
                <a:spcPct val="80000"/>
              </a:lnSpc>
              <a:spcBef>
                <a:spcPct val="30000"/>
              </a:spcBef>
              <a:buClr>
                <a:srgbClr val="FFFF99"/>
              </a:buClr>
              <a:buFont typeface="Wingdings" pitchFamily="2" charset="2"/>
              <a:buNone/>
            </a:pPr>
            <a:r>
              <a:rPr lang="en-US" sz="2000">
                <a:latin typeface="+mj-lt"/>
              </a:rPr>
              <a:t>A use case</a:t>
            </a:r>
          </a:p>
          <a:p>
            <a:endParaRPr lang="en-US" sz="800">
              <a:latin typeface="+mj-lt"/>
            </a:endParaRPr>
          </a:p>
        </p:txBody>
      </p:sp>
      <p:sp>
        <p:nvSpPr>
          <p:cNvPr id="23565" name="Oval 10"/>
          <p:cNvSpPr>
            <a:spLocks noChangeArrowheads="1"/>
          </p:cNvSpPr>
          <p:nvPr/>
        </p:nvSpPr>
        <p:spPr bwMode="auto">
          <a:xfrm>
            <a:off x="2946400" y="1262063"/>
            <a:ext cx="2994025" cy="798512"/>
          </a:xfrm>
          <a:prstGeom prst="ellipse">
            <a:avLst/>
          </a:prstGeom>
          <a:solidFill>
            <a:srgbClr val="DDDDDD"/>
          </a:solidFill>
          <a:ln w="38100">
            <a:solidFill>
              <a:schemeClr val="tx1"/>
            </a:solidFill>
            <a:round/>
            <a:headEnd/>
            <a:tailEnd/>
          </a:ln>
        </p:spPr>
        <p:txBody>
          <a:bodyPr wrap="none" lIns="107950" tIns="53975" rIns="107950" bIns="53975" anchor="ctr"/>
          <a:lstStyle/>
          <a:p>
            <a:pPr algn="ctr" eaLnBrk="0" hangingPunct="0"/>
            <a:r>
              <a:rPr lang="en-US" sz="2800" dirty="0">
                <a:solidFill>
                  <a:srgbClr val="000000"/>
                </a:solidFill>
                <a:latin typeface="+mj-lt"/>
              </a:rPr>
              <a:t>Use Case Name</a:t>
            </a:r>
          </a:p>
        </p:txBody>
      </p:sp>
      <p:sp>
        <p:nvSpPr>
          <p:cNvPr id="2" name="Slide Number Placeholder 1"/>
          <p:cNvSpPr>
            <a:spLocks noGrp="1"/>
          </p:cNvSpPr>
          <p:nvPr>
            <p:ph type="sldNum" sz="quarter" idx="12"/>
          </p:nvPr>
        </p:nvSpPr>
        <p:spPr/>
        <p:txBody>
          <a:bodyPr/>
          <a:lstStyle/>
          <a:p>
            <a:pPr>
              <a:defRPr/>
            </a:pPr>
            <a:fld id="{FEC80843-F527-40E5-AEF7-F2BF9CB1A5D7}" type="slidenum">
              <a:rPr lang="en-US" smtClean="0"/>
              <a:pPr>
                <a:defRPr/>
              </a:pPr>
              <a:t>13</a:t>
            </a:fld>
            <a:endParaRPr lang="en-US"/>
          </a:p>
        </p:txBody>
      </p:sp>
    </p:spTree>
    <p:extLst>
      <p:ext uri="{BB962C8B-B14F-4D97-AF65-F5344CB8AC3E}">
        <p14:creationId xmlns:p14="http://schemas.microsoft.com/office/powerpoint/2010/main" val="2815735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51241"/>
                                        </p:tgtEl>
                                        <p:attrNameLst>
                                          <p:attrName>style.visibility</p:attrName>
                                        </p:attrNameLst>
                                      </p:cBhvr>
                                      <p:to>
                                        <p:strVal val="visible"/>
                                      </p:to>
                                    </p:set>
                                    <p:animEffect transition="in" filter="wipe(left)">
                                      <p:cBhvr>
                                        <p:cTn id="7" dur="500"/>
                                        <p:tgtEl>
                                          <p:spTgt spid="351241"/>
                                        </p:tgtEl>
                                      </p:cBhvr>
                                    </p:animEffect>
                                  </p:childTnLst>
                                  <p:subTnLst>
                                    <p:animClr clrSpc="rgb" dir="cw">
                                      <p:cBhvr override="childStyle">
                                        <p:cTn dur="1" fill="hold" display="0" masterRel="nextClick" afterEffect="1"/>
                                        <p:tgtEl>
                                          <p:spTgt spid="351241"/>
                                        </p:tgtEl>
                                        <p:attrNameLst>
                                          <p:attrName>ppt_c</p:attrName>
                                        </p:attrNameLst>
                                      </p:cBhvr>
                                      <p:to>
                                        <a:srgbClr val="FFFF99"/>
                                      </p:to>
                                    </p:animClr>
                                  </p:subTnLst>
                                </p:cTn>
                              </p:par>
                            </p:childTnLst>
                          </p:cTn>
                        </p:par>
                        <p:par>
                          <p:cTn id="8" fill="hold" nodeType="afterGroup">
                            <p:stCondLst>
                              <p:cond delay="2500"/>
                            </p:stCondLst>
                            <p:childTnLst>
                              <p:par>
                                <p:cTn id="9" presetID="22" presetClass="entr" presetSubtype="8" fill="hold" grpId="0" nodeType="afterEffect">
                                  <p:stCondLst>
                                    <p:cond delay="1000"/>
                                  </p:stCondLst>
                                  <p:childTnLst>
                                    <p:set>
                                      <p:cBhvr>
                                        <p:cTn id="10" dur="1" fill="hold">
                                          <p:stCondLst>
                                            <p:cond delay="0"/>
                                          </p:stCondLst>
                                        </p:cTn>
                                        <p:tgtEl>
                                          <p:spTgt spid="351237"/>
                                        </p:tgtEl>
                                        <p:attrNameLst>
                                          <p:attrName>style.visibility</p:attrName>
                                        </p:attrNameLst>
                                      </p:cBhvr>
                                      <p:to>
                                        <p:strVal val="visible"/>
                                      </p:to>
                                    </p:set>
                                    <p:animEffect transition="in" filter="wipe(left)">
                                      <p:cBhvr>
                                        <p:cTn id="11" dur="500"/>
                                        <p:tgtEl>
                                          <p:spTgt spid="351237"/>
                                        </p:tgtEl>
                                      </p:cBhvr>
                                    </p:animEffect>
                                  </p:childTnLst>
                                  <p:subTnLst>
                                    <p:animClr clrSpc="rgb" dir="cw">
                                      <p:cBhvr override="childStyle">
                                        <p:cTn dur="1" fill="hold" display="0" masterRel="nextClick" afterEffect="1"/>
                                        <p:tgtEl>
                                          <p:spTgt spid="351237"/>
                                        </p:tgtEl>
                                        <p:attrNameLst>
                                          <p:attrName>ppt_c</p:attrName>
                                        </p:attrNameLst>
                                      </p:cBhvr>
                                      <p:to>
                                        <a:srgbClr val="FFFF99"/>
                                      </p:to>
                                    </p:animClr>
                                  </p:subTnLst>
                                </p:cTn>
                              </p:par>
                            </p:childTnLst>
                          </p:cTn>
                        </p:par>
                        <p:par>
                          <p:cTn id="12" fill="hold" nodeType="afterGroup">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351238"/>
                                        </p:tgtEl>
                                        <p:attrNameLst>
                                          <p:attrName>style.visibility</p:attrName>
                                        </p:attrNameLst>
                                      </p:cBhvr>
                                      <p:to>
                                        <p:strVal val="visible"/>
                                      </p:to>
                                    </p:set>
                                    <p:animEffect transition="in" filter="wipe(left)">
                                      <p:cBhvr>
                                        <p:cTn id="15" dur="500"/>
                                        <p:tgtEl>
                                          <p:spTgt spid="351238"/>
                                        </p:tgtEl>
                                      </p:cBhvr>
                                    </p:animEffect>
                                  </p:childTnLst>
                                  <p:subTnLst>
                                    <p:animClr clrSpc="rgb" dir="cw">
                                      <p:cBhvr override="childStyle">
                                        <p:cTn dur="1" fill="hold" display="0" masterRel="nextClick" afterEffect="1"/>
                                        <p:tgtEl>
                                          <p:spTgt spid="351238"/>
                                        </p:tgtEl>
                                        <p:attrNameLst>
                                          <p:attrName>ppt_c</p:attrName>
                                        </p:attrNameLst>
                                      </p:cBhvr>
                                      <p:to>
                                        <a:srgbClr val="FFFF99"/>
                                      </p:to>
                                    </p:animClr>
                                  </p:subTnLst>
                                </p:cTn>
                              </p:par>
                            </p:childTnLst>
                          </p:cTn>
                        </p:par>
                        <p:par>
                          <p:cTn id="16" fill="hold" nodeType="afterGroup">
                            <p:stCondLst>
                              <p:cond delay="5500"/>
                            </p:stCondLst>
                            <p:childTnLst>
                              <p:par>
                                <p:cTn id="17" presetID="22" presetClass="entr" presetSubtype="8" fill="hold" grpId="0" nodeType="afterEffect">
                                  <p:stCondLst>
                                    <p:cond delay="1000"/>
                                  </p:stCondLst>
                                  <p:childTnLst>
                                    <p:set>
                                      <p:cBhvr>
                                        <p:cTn id="18" dur="1" fill="hold">
                                          <p:stCondLst>
                                            <p:cond delay="0"/>
                                          </p:stCondLst>
                                        </p:cTn>
                                        <p:tgtEl>
                                          <p:spTgt spid="351239"/>
                                        </p:tgtEl>
                                        <p:attrNameLst>
                                          <p:attrName>style.visibility</p:attrName>
                                        </p:attrNameLst>
                                      </p:cBhvr>
                                      <p:to>
                                        <p:strVal val="visible"/>
                                      </p:to>
                                    </p:set>
                                    <p:animEffect transition="in" filter="wipe(left)">
                                      <p:cBhvr>
                                        <p:cTn id="19" dur="500"/>
                                        <p:tgtEl>
                                          <p:spTgt spid="351239"/>
                                        </p:tgtEl>
                                      </p:cBhvr>
                                    </p:animEffect>
                                  </p:childTnLst>
                                  <p:subTnLst>
                                    <p:animClr clrSpc="rgb" dir="cw">
                                      <p:cBhvr override="childStyle">
                                        <p:cTn dur="1" fill="hold" display="0" masterRel="nextClick" afterEffect="1"/>
                                        <p:tgtEl>
                                          <p:spTgt spid="351239"/>
                                        </p:tgtEl>
                                        <p:attrNameLst>
                                          <p:attrName>ppt_c</p:attrName>
                                        </p:attrNameLst>
                                      </p:cBhvr>
                                      <p:to>
                                        <a:srgbClr val="FFFF99"/>
                                      </p:to>
                                    </p:animClr>
                                  </p:subTnLst>
                                </p:cTn>
                              </p:par>
                            </p:childTnLst>
                          </p:cTn>
                        </p:par>
                        <p:par>
                          <p:cTn id="20" fill="hold" nodeType="afterGroup">
                            <p:stCondLst>
                              <p:cond delay="7000"/>
                            </p:stCondLst>
                            <p:childTnLst>
                              <p:par>
                                <p:cTn id="21" presetID="22" presetClass="entr" presetSubtype="8" fill="hold" grpId="0" nodeType="afterEffect">
                                  <p:stCondLst>
                                    <p:cond delay="1000"/>
                                  </p:stCondLst>
                                  <p:childTnLst>
                                    <p:set>
                                      <p:cBhvr>
                                        <p:cTn id="22" dur="1" fill="hold">
                                          <p:stCondLst>
                                            <p:cond delay="0"/>
                                          </p:stCondLst>
                                        </p:cTn>
                                        <p:tgtEl>
                                          <p:spTgt spid="351240"/>
                                        </p:tgtEl>
                                        <p:attrNameLst>
                                          <p:attrName>style.visibility</p:attrName>
                                        </p:attrNameLst>
                                      </p:cBhvr>
                                      <p:to>
                                        <p:strVal val="visible"/>
                                      </p:to>
                                    </p:set>
                                    <p:animEffect transition="in" filter="wipe(left)">
                                      <p:cBhvr>
                                        <p:cTn id="23" dur="500"/>
                                        <p:tgtEl>
                                          <p:spTgt spid="351240"/>
                                        </p:tgtEl>
                                      </p:cBhvr>
                                    </p:animEffect>
                                  </p:childTnLst>
                                  <p:subTnLst>
                                    <p:animClr clrSpc="rgb" dir="cw">
                                      <p:cBhvr override="childStyle">
                                        <p:cTn dur="1" fill="hold" display="0" masterRel="nextClick" afterEffect="1"/>
                                        <p:tgtEl>
                                          <p:spTgt spid="351240"/>
                                        </p:tgtEl>
                                        <p:attrNameLst>
                                          <p:attrName>ppt_c</p:attrName>
                                        </p:attrNameLst>
                                      </p:cBhvr>
                                      <p:to>
                                        <a:srgbClr val="FFFF99"/>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7" grpId="0" autoUpdateAnimBg="0"/>
      <p:bldP spid="351238" grpId="0" autoUpdateAnimBg="0"/>
      <p:bldP spid="351239" grpId="0" autoUpdateAnimBg="0"/>
      <p:bldP spid="351240" grpId="0" autoUpdateAnimBg="0"/>
      <p:bldP spid="35124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pPr eaLnBrk="1" hangingPunct="1">
              <a:defRPr/>
            </a:pPr>
            <a:r>
              <a:rPr lang="en-US" sz="2800" dirty="0"/>
              <a:t>Use cases contain software requirements</a:t>
            </a:r>
          </a:p>
        </p:txBody>
      </p:sp>
      <p:sp>
        <p:nvSpPr>
          <p:cNvPr id="24582" name="Rectangle 3"/>
          <p:cNvSpPr>
            <a:spLocks noGrp="1" noChangeArrowheads="1"/>
          </p:cNvSpPr>
          <p:nvPr>
            <p:ph type="body" idx="1"/>
          </p:nvPr>
        </p:nvSpPr>
        <p:spPr/>
        <p:txBody>
          <a:bodyPr/>
          <a:lstStyle/>
          <a:p>
            <a:pPr marL="465138" indent="-465138" eaLnBrk="1" hangingPunct="1">
              <a:lnSpc>
                <a:spcPct val="100000"/>
              </a:lnSpc>
            </a:pPr>
            <a:r>
              <a:rPr lang="en-US" sz="2000" dirty="0"/>
              <a:t>Each use case </a:t>
            </a:r>
          </a:p>
          <a:p>
            <a:pPr marL="917575" lvl="1" indent="-338138" eaLnBrk="1" hangingPunct="1">
              <a:lnSpc>
                <a:spcPct val="100000"/>
              </a:lnSpc>
            </a:pPr>
            <a:r>
              <a:rPr lang="en-US" sz="2000" dirty="0"/>
              <a:t>Is a coherent unit of functionality provided by a system </a:t>
            </a:r>
          </a:p>
          <a:p>
            <a:pPr marL="917575" lvl="1" indent="-338138" eaLnBrk="1" hangingPunct="1">
              <a:lnSpc>
                <a:spcPct val="100000"/>
              </a:lnSpc>
            </a:pPr>
            <a:r>
              <a:rPr lang="en-US" sz="2000" dirty="0"/>
              <a:t>Describes sequences of actions that the system takes to deliver something of value to an actor</a:t>
            </a:r>
          </a:p>
          <a:p>
            <a:pPr marL="917575" lvl="1" indent="-338138" eaLnBrk="1" hangingPunct="1">
              <a:lnSpc>
                <a:spcPct val="100000"/>
              </a:lnSpc>
            </a:pPr>
            <a:r>
              <a:rPr lang="en-US" sz="2000" dirty="0"/>
              <a:t>Models a dialog between the system and actors</a:t>
            </a:r>
          </a:p>
          <a:p>
            <a:pPr marL="917575" lvl="1" indent="-338138" eaLnBrk="1" hangingPunct="1">
              <a:lnSpc>
                <a:spcPct val="100000"/>
              </a:lnSpc>
            </a:pPr>
            <a:r>
              <a:rPr lang="en-US" sz="2000" dirty="0"/>
              <a:t>Is a complete and meaningful flow of events from the perspective of a particular actor</a:t>
            </a:r>
          </a:p>
        </p:txBody>
      </p:sp>
      <p:grpSp>
        <p:nvGrpSpPr>
          <p:cNvPr id="24583" name="Group 4"/>
          <p:cNvGrpSpPr>
            <a:grpSpLocks/>
          </p:cNvGrpSpPr>
          <p:nvPr/>
        </p:nvGrpSpPr>
        <p:grpSpPr bwMode="auto">
          <a:xfrm>
            <a:off x="2087563" y="4765675"/>
            <a:ext cx="508000" cy="639763"/>
            <a:chOff x="7654" y="3380"/>
            <a:chExt cx="554" cy="754"/>
          </a:xfrm>
        </p:grpSpPr>
        <p:sp>
          <p:nvSpPr>
            <p:cNvPr id="24594" name="Oval 5"/>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95" name="Line 6"/>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6" name="Line 7"/>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7" name="Freeform 8"/>
            <p:cNvSpPr>
              <a:spLocks/>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4584" name="Oval 9"/>
          <p:cNvSpPr>
            <a:spLocks noChangeArrowheads="1"/>
          </p:cNvSpPr>
          <p:nvPr/>
        </p:nvSpPr>
        <p:spPr bwMode="auto">
          <a:xfrm>
            <a:off x="3657600" y="4800600"/>
            <a:ext cx="1490663" cy="517525"/>
          </a:xfrm>
          <a:prstGeom prst="ellipse">
            <a:avLst/>
          </a:prstGeom>
          <a:solidFill>
            <a:schemeClr val="accent1"/>
          </a:solidFill>
          <a:ln w="28575">
            <a:solidFill>
              <a:schemeClr val="tx1"/>
            </a:solidFill>
            <a:round/>
            <a:headEnd type="none" w="sm" len="sm"/>
            <a:tailEnd type="none" w="lg" len="lg"/>
          </a:ln>
        </p:spPr>
        <p:txBody>
          <a:bodyPr wrap="none" anchor="ctr"/>
          <a:lstStyle/>
          <a:p>
            <a:pPr algn="ctr"/>
            <a:endParaRPr lang="en-US" sz="2400" b="1">
              <a:solidFill>
                <a:schemeClr val="tx1"/>
              </a:solidFill>
            </a:endParaRPr>
          </a:p>
        </p:txBody>
      </p:sp>
      <p:sp>
        <p:nvSpPr>
          <p:cNvPr id="24585" name="Line 10"/>
          <p:cNvSpPr>
            <a:spLocks noChangeShapeType="1"/>
          </p:cNvSpPr>
          <p:nvPr/>
        </p:nvSpPr>
        <p:spPr bwMode="auto">
          <a:xfrm>
            <a:off x="2762250" y="5084763"/>
            <a:ext cx="7445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4586" name="Group 11"/>
          <p:cNvGrpSpPr>
            <a:grpSpLocks/>
          </p:cNvGrpSpPr>
          <p:nvPr/>
        </p:nvGrpSpPr>
        <p:grpSpPr bwMode="auto">
          <a:xfrm>
            <a:off x="6430963" y="4702175"/>
            <a:ext cx="508000" cy="639763"/>
            <a:chOff x="7654" y="3380"/>
            <a:chExt cx="554" cy="754"/>
          </a:xfrm>
        </p:grpSpPr>
        <p:sp>
          <p:nvSpPr>
            <p:cNvPr id="24590" name="Oval 12"/>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91" name="Line 13"/>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2" name="Line 14"/>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3" name="Freeform 15"/>
            <p:cNvSpPr>
              <a:spLocks/>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4587" name="Line 16"/>
          <p:cNvSpPr>
            <a:spLocks noChangeShapeType="1"/>
          </p:cNvSpPr>
          <p:nvPr/>
        </p:nvSpPr>
        <p:spPr bwMode="auto">
          <a:xfrm rot="10800000" flipV="1">
            <a:off x="5364163" y="5413375"/>
            <a:ext cx="8382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8" name="Line 17"/>
          <p:cNvSpPr>
            <a:spLocks noChangeShapeType="1"/>
          </p:cNvSpPr>
          <p:nvPr/>
        </p:nvSpPr>
        <p:spPr bwMode="auto">
          <a:xfrm>
            <a:off x="5491163" y="5070475"/>
            <a:ext cx="762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24589" name="Oval 18"/>
          <p:cNvSpPr>
            <a:spLocks noChangeArrowheads="1"/>
          </p:cNvSpPr>
          <p:nvPr/>
        </p:nvSpPr>
        <p:spPr bwMode="auto">
          <a:xfrm>
            <a:off x="3695700" y="5511800"/>
            <a:ext cx="1490663" cy="517525"/>
          </a:xfrm>
          <a:prstGeom prst="ellipse">
            <a:avLst/>
          </a:prstGeom>
          <a:solidFill>
            <a:schemeClr val="accent1"/>
          </a:solidFill>
          <a:ln w="28575">
            <a:solidFill>
              <a:schemeClr val="tx1"/>
            </a:solidFill>
            <a:round/>
            <a:headEnd type="none" w="sm" len="sm"/>
            <a:tailEnd type="none" w="lg" len="lg"/>
          </a:ln>
        </p:spPr>
        <p:txBody>
          <a:bodyPr wrap="none" anchor="ctr"/>
          <a:lstStyle/>
          <a:p>
            <a:pPr algn="ctr"/>
            <a:endParaRPr lang="en-US" sz="2400" b="1">
              <a:solidFill>
                <a:schemeClr val="tx1"/>
              </a:solidFill>
            </a:endParaRPr>
          </a:p>
        </p:txBody>
      </p:sp>
      <p:sp>
        <p:nvSpPr>
          <p:cNvPr id="2" name="Slide Number Placeholder 1"/>
          <p:cNvSpPr>
            <a:spLocks noGrp="1"/>
          </p:cNvSpPr>
          <p:nvPr>
            <p:ph type="sldNum" sz="quarter" idx="12"/>
          </p:nvPr>
        </p:nvSpPr>
        <p:spPr/>
        <p:txBody>
          <a:bodyPr/>
          <a:lstStyle/>
          <a:p>
            <a:fld id="{DED05017-923D-480E-B02E-B52739184DCA}" type="slidenum">
              <a:rPr lang="en-US" smtClean="0"/>
              <a:pPr/>
              <a:t>14</a:t>
            </a:fld>
            <a:endParaRPr lang="en-US"/>
          </a:p>
        </p:txBody>
      </p:sp>
    </p:spTree>
    <p:extLst>
      <p:ext uri="{BB962C8B-B14F-4D97-AF65-F5344CB8AC3E}">
        <p14:creationId xmlns:p14="http://schemas.microsoft.com/office/powerpoint/2010/main" val="1937871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pPr eaLnBrk="1" hangingPunct="1">
              <a:defRPr/>
            </a:pPr>
            <a:r>
              <a:rPr lang="en-US" sz="2800" dirty="0"/>
              <a:t>Capture a use-case model</a:t>
            </a:r>
          </a:p>
        </p:txBody>
      </p:sp>
      <p:sp>
        <p:nvSpPr>
          <p:cNvPr id="25606" name="Rectangle 3"/>
          <p:cNvSpPr>
            <a:spLocks noGrp="1" noChangeArrowheads="1"/>
          </p:cNvSpPr>
          <p:nvPr>
            <p:ph type="body" idx="1"/>
          </p:nvPr>
        </p:nvSpPr>
        <p:spPr>
          <a:xfrm>
            <a:off x="184150" y="1281113"/>
            <a:ext cx="8775700" cy="1720850"/>
          </a:xfrm>
        </p:spPr>
        <p:txBody>
          <a:bodyPr/>
          <a:lstStyle/>
          <a:p>
            <a:pPr marL="230188" indent="-230188" eaLnBrk="1" hangingPunct="1">
              <a:lnSpc>
                <a:spcPct val="100000"/>
              </a:lnSpc>
            </a:pPr>
            <a:r>
              <a:rPr lang="en-US" sz="2000" dirty="0"/>
              <a:t>A use-case model is comprised of:</a:t>
            </a:r>
          </a:p>
          <a:p>
            <a:pPr marL="576263" lvl="1" indent="-231775" eaLnBrk="1" hangingPunct="1">
              <a:lnSpc>
                <a:spcPct val="100000"/>
              </a:lnSpc>
              <a:buFont typeface="Wingdings" pitchFamily="2" charset="2"/>
              <a:buNone/>
            </a:pPr>
            <a:endParaRPr lang="en-US" sz="2000" dirty="0"/>
          </a:p>
        </p:txBody>
      </p:sp>
      <p:grpSp>
        <p:nvGrpSpPr>
          <p:cNvPr id="25607" name="Group 4"/>
          <p:cNvGrpSpPr>
            <a:grpSpLocks/>
          </p:cNvGrpSpPr>
          <p:nvPr/>
        </p:nvGrpSpPr>
        <p:grpSpPr bwMode="auto">
          <a:xfrm>
            <a:off x="457200" y="3324225"/>
            <a:ext cx="503238" cy="692150"/>
            <a:chOff x="7654" y="3380"/>
            <a:chExt cx="554" cy="754"/>
          </a:xfrm>
        </p:grpSpPr>
        <p:sp>
          <p:nvSpPr>
            <p:cNvPr id="25637" name="Oval 5"/>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8" name="Line 6"/>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9" name="Line 7"/>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0" name="Freeform 8"/>
            <p:cNvSpPr>
              <a:spLocks/>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08" name="Oval 9"/>
          <p:cNvSpPr>
            <a:spLocks noChangeArrowheads="1"/>
          </p:cNvSpPr>
          <p:nvPr/>
        </p:nvSpPr>
        <p:spPr bwMode="auto">
          <a:xfrm>
            <a:off x="1693863" y="3363913"/>
            <a:ext cx="1030287" cy="573087"/>
          </a:xfrm>
          <a:prstGeom prst="ellipse">
            <a:avLst/>
          </a:prstGeom>
          <a:solidFill>
            <a:schemeClr val="accent1"/>
          </a:solidFill>
          <a:ln w="28575">
            <a:solidFill>
              <a:schemeClr val="tx1"/>
            </a:solidFill>
            <a:round/>
            <a:headEnd type="none" w="sm" len="sm"/>
            <a:tailEnd type="none" w="lg" len="lg"/>
          </a:ln>
        </p:spPr>
        <p:txBody>
          <a:bodyPr wrap="none" anchor="ctr"/>
          <a:lstStyle/>
          <a:p>
            <a:endParaRPr lang="en-US"/>
          </a:p>
        </p:txBody>
      </p:sp>
      <p:sp>
        <p:nvSpPr>
          <p:cNvPr id="25609" name="Line 10"/>
          <p:cNvSpPr>
            <a:spLocks noChangeShapeType="1"/>
          </p:cNvSpPr>
          <p:nvPr/>
        </p:nvSpPr>
        <p:spPr bwMode="auto">
          <a:xfrm>
            <a:off x="1076325" y="3678238"/>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5610" name="Group 11"/>
          <p:cNvGrpSpPr>
            <a:grpSpLocks/>
          </p:cNvGrpSpPr>
          <p:nvPr/>
        </p:nvGrpSpPr>
        <p:grpSpPr bwMode="auto">
          <a:xfrm>
            <a:off x="3611563" y="3254375"/>
            <a:ext cx="503237" cy="708025"/>
            <a:chOff x="7654" y="3380"/>
            <a:chExt cx="554" cy="754"/>
          </a:xfrm>
        </p:grpSpPr>
        <p:sp>
          <p:nvSpPr>
            <p:cNvPr id="25633" name="Oval 12"/>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4" name="Line 13"/>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5" name="Line 14"/>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Freeform 15"/>
            <p:cNvSpPr>
              <a:spLocks/>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11" name="Line 16"/>
          <p:cNvSpPr>
            <a:spLocks noChangeShapeType="1"/>
          </p:cNvSpPr>
          <p:nvPr/>
        </p:nvSpPr>
        <p:spPr bwMode="auto">
          <a:xfrm rot="10800000" flipV="1">
            <a:off x="2873375" y="4041775"/>
            <a:ext cx="579438" cy="422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2" name="Line 17"/>
          <p:cNvSpPr>
            <a:spLocks noChangeShapeType="1"/>
          </p:cNvSpPr>
          <p:nvPr/>
        </p:nvSpPr>
        <p:spPr bwMode="auto">
          <a:xfrm>
            <a:off x="2962275" y="3662363"/>
            <a:ext cx="525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25613" name="Oval 18"/>
          <p:cNvSpPr>
            <a:spLocks noChangeArrowheads="1"/>
          </p:cNvSpPr>
          <p:nvPr/>
        </p:nvSpPr>
        <p:spPr bwMode="auto">
          <a:xfrm>
            <a:off x="1720850" y="4151313"/>
            <a:ext cx="1030288" cy="573087"/>
          </a:xfrm>
          <a:prstGeom prst="ellipse">
            <a:avLst/>
          </a:prstGeom>
          <a:solidFill>
            <a:schemeClr val="accent1"/>
          </a:solidFill>
          <a:ln w="28575">
            <a:solidFill>
              <a:schemeClr val="tx1"/>
            </a:solidFill>
            <a:round/>
            <a:headEnd type="none" w="sm" len="sm"/>
            <a:tailEnd type="none" w="lg" len="lg"/>
          </a:ln>
        </p:spPr>
        <p:txBody>
          <a:bodyPr wrap="none" anchor="ctr"/>
          <a:lstStyle/>
          <a:p>
            <a:endParaRPr lang="en-US"/>
          </a:p>
        </p:txBody>
      </p:sp>
      <p:sp>
        <p:nvSpPr>
          <p:cNvPr id="25614" name="Text Box 19"/>
          <p:cNvSpPr txBox="1">
            <a:spLocks noChangeArrowheads="1"/>
          </p:cNvSpPr>
          <p:nvPr/>
        </p:nvSpPr>
        <p:spPr bwMode="auto">
          <a:xfrm>
            <a:off x="762000" y="2057400"/>
            <a:ext cx="3276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000" b="1" dirty="0">
                <a:solidFill>
                  <a:schemeClr val="tx1"/>
                </a:solidFill>
                <a:latin typeface="Arial" pitchFamily="34" charset="0"/>
              </a:rPr>
              <a:t>Use-case diagrams</a:t>
            </a:r>
            <a:br>
              <a:rPr lang="en-US" sz="2000" b="1" dirty="0">
                <a:solidFill>
                  <a:schemeClr val="tx1"/>
                </a:solidFill>
                <a:latin typeface="Arial" pitchFamily="34" charset="0"/>
              </a:rPr>
            </a:br>
            <a:r>
              <a:rPr lang="en-US" sz="2000" dirty="0">
                <a:solidFill>
                  <a:schemeClr val="tx1"/>
                </a:solidFill>
                <a:latin typeface="Arial" pitchFamily="34" charset="0"/>
              </a:rPr>
              <a:t>(visual representation)</a:t>
            </a:r>
            <a:endParaRPr lang="en-US" sz="2000" i="1" dirty="0">
              <a:solidFill>
                <a:schemeClr val="tx1"/>
              </a:solidFill>
              <a:latin typeface="Arial" pitchFamily="34" charset="0"/>
            </a:endParaRPr>
          </a:p>
        </p:txBody>
      </p:sp>
      <p:sp>
        <p:nvSpPr>
          <p:cNvPr id="25615" name="Text Box 20"/>
          <p:cNvSpPr txBox="1">
            <a:spLocks noChangeArrowheads="1"/>
          </p:cNvSpPr>
          <p:nvPr/>
        </p:nvSpPr>
        <p:spPr bwMode="auto">
          <a:xfrm>
            <a:off x="4800600" y="2057400"/>
            <a:ext cx="3657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000" b="1" dirty="0">
                <a:solidFill>
                  <a:schemeClr val="tx1"/>
                </a:solidFill>
                <a:latin typeface="Arial" pitchFamily="34" charset="0"/>
              </a:rPr>
              <a:t>Use-case specifications</a:t>
            </a:r>
            <a:br>
              <a:rPr lang="en-US" sz="2000" b="1" dirty="0">
                <a:solidFill>
                  <a:schemeClr val="tx1"/>
                </a:solidFill>
                <a:latin typeface="Arial" pitchFamily="34" charset="0"/>
              </a:rPr>
            </a:br>
            <a:r>
              <a:rPr lang="en-US" sz="2000" dirty="0">
                <a:solidFill>
                  <a:schemeClr val="tx1"/>
                </a:solidFill>
                <a:latin typeface="Arial" pitchFamily="34" charset="0"/>
              </a:rPr>
              <a:t>(text</a:t>
            </a:r>
            <a:r>
              <a:rPr lang="en-US" sz="2000" i="1" dirty="0">
                <a:solidFill>
                  <a:schemeClr val="tx1"/>
                </a:solidFill>
                <a:latin typeface="Arial" pitchFamily="34" charset="0"/>
              </a:rPr>
              <a:t> </a:t>
            </a:r>
            <a:r>
              <a:rPr lang="en-US" sz="2000" dirty="0">
                <a:solidFill>
                  <a:schemeClr val="tx1"/>
                </a:solidFill>
                <a:latin typeface="Arial" pitchFamily="34" charset="0"/>
              </a:rPr>
              <a:t>representation)</a:t>
            </a:r>
            <a:endParaRPr lang="en-US" sz="2000" i="1" dirty="0">
              <a:solidFill>
                <a:schemeClr val="tx1"/>
              </a:solidFill>
              <a:latin typeface="Arial" pitchFamily="34" charset="0"/>
            </a:endParaRPr>
          </a:p>
        </p:txBody>
      </p:sp>
      <p:grpSp>
        <p:nvGrpSpPr>
          <p:cNvPr id="25616" name="Group 21"/>
          <p:cNvGrpSpPr>
            <a:grpSpLocks/>
          </p:cNvGrpSpPr>
          <p:nvPr/>
        </p:nvGrpSpPr>
        <p:grpSpPr bwMode="auto">
          <a:xfrm>
            <a:off x="5486400" y="3124200"/>
            <a:ext cx="2209800" cy="2286000"/>
            <a:chOff x="3456" y="2256"/>
            <a:chExt cx="1392" cy="1440"/>
          </a:xfrm>
        </p:grpSpPr>
        <p:sp>
          <p:nvSpPr>
            <p:cNvPr id="25619" name="AutoShape 22"/>
            <p:cNvSpPr>
              <a:spLocks noChangeArrowheads="1"/>
            </p:cNvSpPr>
            <p:nvPr/>
          </p:nvSpPr>
          <p:spPr bwMode="auto">
            <a:xfrm flipV="1">
              <a:off x="3456" y="2448"/>
              <a:ext cx="1200" cy="1248"/>
            </a:xfrm>
            <a:prstGeom prst="foldedCorner">
              <a:avLst>
                <a:gd name="adj" fmla="val 12500"/>
              </a:avLst>
            </a:prstGeom>
            <a:solidFill>
              <a:schemeClr val="bg1"/>
            </a:solidFill>
            <a:ln w="9525">
              <a:solidFill>
                <a:schemeClr val="tx1"/>
              </a:solidFill>
              <a:round/>
              <a:headEnd/>
              <a:tailEnd/>
            </a:ln>
          </p:spPr>
          <p:txBody>
            <a:bodyPr wrap="none" anchor="ctr"/>
            <a:lstStyle/>
            <a:p>
              <a:endParaRPr lang="en-US"/>
            </a:p>
          </p:txBody>
        </p:sp>
        <p:sp>
          <p:nvSpPr>
            <p:cNvPr id="25620" name="AutoShape 23"/>
            <p:cNvSpPr>
              <a:spLocks noChangeArrowheads="1"/>
            </p:cNvSpPr>
            <p:nvPr/>
          </p:nvSpPr>
          <p:spPr bwMode="auto">
            <a:xfrm flipV="1">
              <a:off x="3552" y="2352"/>
              <a:ext cx="1200" cy="1248"/>
            </a:xfrm>
            <a:prstGeom prst="foldedCorner">
              <a:avLst>
                <a:gd name="adj" fmla="val 12500"/>
              </a:avLst>
            </a:prstGeom>
            <a:solidFill>
              <a:schemeClr val="bg1"/>
            </a:solidFill>
            <a:ln w="9525">
              <a:solidFill>
                <a:schemeClr val="tx1"/>
              </a:solidFill>
              <a:round/>
              <a:headEnd/>
              <a:tailEnd/>
            </a:ln>
          </p:spPr>
          <p:txBody>
            <a:bodyPr wrap="none" anchor="ctr"/>
            <a:lstStyle/>
            <a:p>
              <a:endParaRPr lang="en-US"/>
            </a:p>
          </p:txBody>
        </p:sp>
        <p:sp>
          <p:nvSpPr>
            <p:cNvPr id="25621" name="AutoShape 24"/>
            <p:cNvSpPr>
              <a:spLocks noChangeArrowheads="1"/>
            </p:cNvSpPr>
            <p:nvPr/>
          </p:nvSpPr>
          <p:spPr bwMode="auto">
            <a:xfrm flipV="1">
              <a:off x="3648" y="2256"/>
              <a:ext cx="1200" cy="1248"/>
            </a:xfrm>
            <a:prstGeom prst="foldedCorner">
              <a:avLst>
                <a:gd name="adj" fmla="val 12500"/>
              </a:avLst>
            </a:prstGeom>
            <a:solidFill>
              <a:schemeClr val="bg1"/>
            </a:solidFill>
            <a:ln w="9525">
              <a:solidFill>
                <a:schemeClr val="tx1"/>
              </a:solidFill>
              <a:round/>
              <a:headEnd/>
              <a:tailEnd/>
            </a:ln>
          </p:spPr>
          <p:txBody>
            <a:bodyPr wrap="none" anchor="ctr"/>
            <a:lstStyle/>
            <a:p>
              <a:endParaRPr lang="en-US"/>
            </a:p>
          </p:txBody>
        </p:sp>
        <p:sp>
          <p:nvSpPr>
            <p:cNvPr id="25622" name="Line 25"/>
            <p:cNvSpPr>
              <a:spLocks noChangeShapeType="1"/>
            </p:cNvSpPr>
            <p:nvPr/>
          </p:nvSpPr>
          <p:spPr bwMode="auto">
            <a:xfrm>
              <a:off x="3744" y="24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Line 26"/>
            <p:cNvSpPr>
              <a:spLocks noChangeShapeType="1"/>
            </p:cNvSpPr>
            <p:nvPr/>
          </p:nvSpPr>
          <p:spPr bwMode="auto">
            <a:xfrm>
              <a:off x="3744" y="2544"/>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4" name="Line 27"/>
            <p:cNvSpPr>
              <a:spLocks noChangeShapeType="1"/>
            </p:cNvSpPr>
            <p:nvPr/>
          </p:nvSpPr>
          <p:spPr bwMode="auto">
            <a:xfrm>
              <a:off x="3744" y="2640"/>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Line 28"/>
            <p:cNvSpPr>
              <a:spLocks noChangeShapeType="1"/>
            </p:cNvSpPr>
            <p:nvPr/>
          </p:nvSpPr>
          <p:spPr bwMode="auto">
            <a:xfrm>
              <a:off x="3744" y="273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6" name="Line 29"/>
            <p:cNvSpPr>
              <a:spLocks noChangeShapeType="1"/>
            </p:cNvSpPr>
            <p:nvPr/>
          </p:nvSpPr>
          <p:spPr bwMode="auto">
            <a:xfrm>
              <a:off x="3744" y="2832"/>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30"/>
            <p:cNvSpPr>
              <a:spLocks noChangeShapeType="1"/>
            </p:cNvSpPr>
            <p:nvPr/>
          </p:nvSpPr>
          <p:spPr bwMode="auto">
            <a:xfrm>
              <a:off x="3744" y="2928"/>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31"/>
            <p:cNvSpPr>
              <a:spLocks noChangeShapeType="1"/>
            </p:cNvSpPr>
            <p:nvPr/>
          </p:nvSpPr>
          <p:spPr bwMode="auto">
            <a:xfrm>
              <a:off x="3744" y="3024"/>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32"/>
            <p:cNvSpPr>
              <a:spLocks noChangeShapeType="1"/>
            </p:cNvSpPr>
            <p:nvPr/>
          </p:nvSpPr>
          <p:spPr bwMode="auto">
            <a:xfrm>
              <a:off x="3744" y="3120"/>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0" name="Line 33"/>
            <p:cNvSpPr>
              <a:spLocks noChangeShapeType="1"/>
            </p:cNvSpPr>
            <p:nvPr/>
          </p:nvSpPr>
          <p:spPr bwMode="auto">
            <a:xfrm>
              <a:off x="3744" y="321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1" name="Line 34"/>
            <p:cNvSpPr>
              <a:spLocks noChangeShapeType="1"/>
            </p:cNvSpPr>
            <p:nvPr/>
          </p:nvSpPr>
          <p:spPr bwMode="auto">
            <a:xfrm>
              <a:off x="3744" y="3312"/>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2" name="Line 35"/>
            <p:cNvSpPr>
              <a:spLocks noChangeShapeType="1"/>
            </p:cNvSpPr>
            <p:nvPr/>
          </p:nvSpPr>
          <p:spPr bwMode="auto">
            <a:xfrm>
              <a:off x="3744" y="3408"/>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17" name="Rectangle 36"/>
          <p:cNvSpPr>
            <a:spLocks noChangeArrowheads="1"/>
          </p:cNvSpPr>
          <p:nvPr/>
        </p:nvSpPr>
        <p:spPr bwMode="auto">
          <a:xfrm>
            <a:off x="304800" y="1981200"/>
            <a:ext cx="8763000" cy="3657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8" name="Line 37"/>
          <p:cNvSpPr>
            <a:spLocks noChangeShapeType="1"/>
          </p:cNvSpPr>
          <p:nvPr/>
        </p:nvSpPr>
        <p:spPr bwMode="auto">
          <a:xfrm>
            <a:off x="4572000" y="1981200"/>
            <a:ext cx="0" cy="3657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15</a:t>
            </a:fld>
            <a:endParaRPr lang="en-US"/>
          </a:p>
        </p:txBody>
      </p:sp>
    </p:spTree>
    <p:extLst>
      <p:ext uri="{BB962C8B-B14F-4D97-AF65-F5344CB8AC3E}">
        <p14:creationId xmlns:p14="http://schemas.microsoft.com/office/powerpoint/2010/main" val="2050685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pPr eaLnBrk="1" hangingPunct="1">
              <a:defRPr/>
            </a:pPr>
            <a:r>
              <a:rPr lang="en-US" sz="2800" dirty="0"/>
              <a:t>Use-case specification</a:t>
            </a:r>
          </a:p>
        </p:txBody>
      </p:sp>
      <p:sp>
        <p:nvSpPr>
          <p:cNvPr id="26630" name="Rectangle 3"/>
          <p:cNvSpPr>
            <a:spLocks noGrp="1" noChangeArrowheads="1"/>
          </p:cNvSpPr>
          <p:nvPr>
            <p:ph type="body" idx="1"/>
          </p:nvPr>
        </p:nvSpPr>
        <p:spPr>
          <a:xfrm>
            <a:off x="90488" y="1309688"/>
            <a:ext cx="4862512" cy="5853112"/>
          </a:xfrm>
        </p:spPr>
        <p:txBody>
          <a:bodyPr/>
          <a:lstStyle/>
          <a:p>
            <a:pPr marL="230188" indent="-230188" eaLnBrk="1" hangingPunct="1">
              <a:lnSpc>
                <a:spcPct val="100000"/>
              </a:lnSpc>
            </a:pPr>
            <a:r>
              <a:rPr lang="en-US" sz="2000" dirty="0"/>
              <a:t>A requirements document that contains the text of a use case, including:</a:t>
            </a:r>
          </a:p>
          <a:p>
            <a:pPr marL="576263" lvl="1" indent="-231775" eaLnBrk="1" hangingPunct="1">
              <a:lnSpc>
                <a:spcPct val="100000"/>
              </a:lnSpc>
            </a:pPr>
            <a:r>
              <a:rPr lang="en-US" sz="2000" dirty="0"/>
              <a:t>A description of the flow of events describing the interaction between actors and the system</a:t>
            </a:r>
          </a:p>
          <a:p>
            <a:pPr marL="576263" lvl="1" indent="-231775" eaLnBrk="1" hangingPunct="1">
              <a:lnSpc>
                <a:spcPct val="100000"/>
              </a:lnSpc>
            </a:pPr>
            <a:r>
              <a:rPr lang="en-US" sz="2000" dirty="0"/>
              <a:t>Other information, such as:</a:t>
            </a:r>
          </a:p>
          <a:p>
            <a:pPr marL="909638" lvl="2" indent="-219075" eaLnBrk="1" hangingPunct="1"/>
            <a:r>
              <a:rPr lang="en-US" dirty="0"/>
              <a:t>Preconditions</a:t>
            </a:r>
          </a:p>
          <a:p>
            <a:pPr marL="909638" lvl="2" indent="-219075" eaLnBrk="1" hangingPunct="1"/>
            <a:r>
              <a:rPr lang="en-US" dirty="0" err="1"/>
              <a:t>Postconditions</a:t>
            </a:r>
            <a:endParaRPr lang="en-US" dirty="0"/>
          </a:p>
          <a:p>
            <a:pPr marL="909638" lvl="2" indent="-219075" eaLnBrk="1" hangingPunct="1"/>
            <a:r>
              <a:rPr lang="en-US" dirty="0"/>
              <a:t>Special requirements</a:t>
            </a:r>
          </a:p>
          <a:p>
            <a:pPr marL="909638" lvl="2" indent="-219075" eaLnBrk="1" hangingPunct="1"/>
            <a:r>
              <a:rPr lang="en-US" dirty="0"/>
              <a:t>Key scenarios</a:t>
            </a:r>
          </a:p>
          <a:p>
            <a:pPr marL="909638" lvl="2" indent="-219075" eaLnBrk="1" hangingPunct="1"/>
            <a:r>
              <a:rPr lang="en-US" dirty="0" err="1"/>
              <a:t>Subflows</a:t>
            </a:r>
            <a:endParaRPr lang="en-US" dirty="0"/>
          </a:p>
        </p:txBody>
      </p:sp>
      <p:grpSp>
        <p:nvGrpSpPr>
          <p:cNvPr id="26631" name="Group 4"/>
          <p:cNvGrpSpPr>
            <a:grpSpLocks/>
          </p:cNvGrpSpPr>
          <p:nvPr/>
        </p:nvGrpSpPr>
        <p:grpSpPr bwMode="auto">
          <a:xfrm>
            <a:off x="6172200" y="2514600"/>
            <a:ext cx="1524000" cy="1828800"/>
            <a:chOff x="3456" y="2256"/>
            <a:chExt cx="1392" cy="1440"/>
          </a:xfrm>
        </p:grpSpPr>
        <p:sp>
          <p:nvSpPr>
            <p:cNvPr id="26634" name="AutoShape 5"/>
            <p:cNvSpPr>
              <a:spLocks noChangeArrowheads="1"/>
            </p:cNvSpPr>
            <p:nvPr/>
          </p:nvSpPr>
          <p:spPr bwMode="auto">
            <a:xfrm flipV="1">
              <a:off x="3456" y="2448"/>
              <a:ext cx="1200" cy="1248"/>
            </a:xfrm>
            <a:prstGeom prst="foldedCorner">
              <a:avLst>
                <a:gd name="adj" fmla="val 12500"/>
              </a:avLst>
            </a:prstGeom>
            <a:solidFill>
              <a:schemeClr val="bg1"/>
            </a:solidFill>
            <a:ln w="9525">
              <a:solidFill>
                <a:schemeClr val="tx1"/>
              </a:solidFill>
              <a:round/>
              <a:headEnd/>
              <a:tailEnd/>
            </a:ln>
          </p:spPr>
          <p:txBody>
            <a:bodyPr wrap="none" anchor="ctr"/>
            <a:lstStyle/>
            <a:p>
              <a:endParaRPr lang="en-US"/>
            </a:p>
          </p:txBody>
        </p:sp>
        <p:sp>
          <p:nvSpPr>
            <p:cNvPr id="26635" name="AutoShape 6"/>
            <p:cNvSpPr>
              <a:spLocks noChangeArrowheads="1"/>
            </p:cNvSpPr>
            <p:nvPr/>
          </p:nvSpPr>
          <p:spPr bwMode="auto">
            <a:xfrm flipV="1">
              <a:off x="3552" y="2352"/>
              <a:ext cx="1200" cy="1248"/>
            </a:xfrm>
            <a:prstGeom prst="foldedCorner">
              <a:avLst>
                <a:gd name="adj" fmla="val 12500"/>
              </a:avLst>
            </a:prstGeom>
            <a:solidFill>
              <a:schemeClr val="bg1"/>
            </a:solidFill>
            <a:ln w="9525">
              <a:solidFill>
                <a:schemeClr val="tx1"/>
              </a:solidFill>
              <a:round/>
              <a:headEnd/>
              <a:tailEnd/>
            </a:ln>
          </p:spPr>
          <p:txBody>
            <a:bodyPr wrap="none" anchor="ctr"/>
            <a:lstStyle/>
            <a:p>
              <a:endParaRPr lang="en-US"/>
            </a:p>
          </p:txBody>
        </p:sp>
        <p:sp>
          <p:nvSpPr>
            <p:cNvPr id="26636" name="AutoShape 7"/>
            <p:cNvSpPr>
              <a:spLocks noChangeArrowheads="1"/>
            </p:cNvSpPr>
            <p:nvPr/>
          </p:nvSpPr>
          <p:spPr bwMode="auto">
            <a:xfrm flipV="1">
              <a:off x="3648" y="2256"/>
              <a:ext cx="1200" cy="1248"/>
            </a:xfrm>
            <a:prstGeom prst="foldedCorner">
              <a:avLst>
                <a:gd name="adj" fmla="val 12500"/>
              </a:avLst>
            </a:prstGeom>
            <a:solidFill>
              <a:schemeClr val="bg1"/>
            </a:solidFill>
            <a:ln w="9525">
              <a:solidFill>
                <a:schemeClr val="tx1"/>
              </a:solidFill>
              <a:round/>
              <a:headEnd/>
              <a:tailEnd/>
            </a:ln>
          </p:spPr>
          <p:txBody>
            <a:bodyPr wrap="none" anchor="ctr"/>
            <a:lstStyle/>
            <a:p>
              <a:endParaRPr lang="en-US"/>
            </a:p>
          </p:txBody>
        </p:sp>
        <p:sp>
          <p:nvSpPr>
            <p:cNvPr id="26637" name="Line 8"/>
            <p:cNvSpPr>
              <a:spLocks noChangeShapeType="1"/>
            </p:cNvSpPr>
            <p:nvPr/>
          </p:nvSpPr>
          <p:spPr bwMode="auto">
            <a:xfrm>
              <a:off x="3744" y="24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9"/>
            <p:cNvSpPr>
              <a:spLocks noChangeShapeType="1"/>
            </p:cNvSpPr>
            <p:nvPr/>
          </p:nvSpPr>
          <p:spPr bwMode="auto">
            <a:xfrm>
              <a:off x="3744" y="2544"/>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Line 10"/>
            <p:cNvSpPr>
              <a:spLocks noChangeShapeType="1"/>
            </p:cNvSpPr>
            <p:nvPr/>
          </p:nvSpPr>
          <p:spPr bwMode="auto">
            <a:xfrm>
              <a:off x="3744" y="2640"/>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Line 11"/>
            <p:cNvSpPr>
              <a:spLocks noChangeShapeType="1"/>
            </p:cNvSpPr>
            <p:nvPr/>
          </p:nvSpPr>
          <p:spPr bwMode="auto">
            <a:xfrm>
              <a:off x="3744" y="273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12"/>
            <p:cNvSpPr>
              <a:spLocks noChangeShapeType="1"/>
            </p:cNvSpPr>
            <p:nvPr/>
          </p:nvSpPr>
          <p:spPr bwMode="auto">
            <a:xfrm>
              <a:off x="3744" y="2832"/>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13"/>
            <p:cNvSpPr>
              <a:spLocks noChangeShapeType="1"/>
            </p:cNvSpPr>
            <p:nvPr/>
          </p:nvSpPr>
          <p:spPr bwMode="auto">
            <a:xfrm>
              <a:off x="3744" y="2928"/>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3" name="Line 14"/>
            <p:cNvSpPr>
              <a:spLocks noChangeShapeType="1"/>
            </p:cNvSpPr>
            <p:nvPr/>
          </p:nvSpPr>
          <p:spPr bwMode="auto">
            <a:xfrm>
              <a:off x="3744" y="3024"/>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Line 15"/>
            <p:cNvSpPr>
              <a:spLocks noChangeShapeType="1"/>
            </p:cNvSpPr>
            <p:nvPr/>
          </p:nvSpPr>
          <p:spPr bwMode="auto">
            <a:xfrm>
              <a:off x="3744" y="3120"/>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5" name="Line 16"/>
            <p:cNvSpPr>
              <a:spLocks noChangeShapeType="1"/>
            </p:cNvSpPr>
            <p:nvPr/>
          </p:nvSpPr>
          <p:spPr bwMode="auto">
            <a:xfrm>
              <a:off x="3744" y="321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Line 17"/>
            <p:cNvSpPr>
              <a:spLocks noChangeShapeType="1"/>
            </p:cNvSpPr>
            <p:nvPr/>
          </p:nvSpPr>
          <p:spPr bwMode="auto">
            <a:xfrm>
              <a:off x="3744" y="3312"/>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7" name="Line 18"/>
            <p:cNvSpPr>
              <a:spLocks noChangeShapeType="1"/>
            </p:cNvSpPr>
            <p:nvPr/>
          </p:nvSpPr>
          <p:spPr bwMode="auto">
            <a:xfrm>
              <a:off x="3744" y="3408"/>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632" name="Text Box 19"/>
          <p:cNvSpPr txBox="1">
            <a:spLocks noChangeArrowheads="1"/>
          </p:cNvSpPr>
          <p:nvPr/>
        </p:nvSpPr>
        <p:spPr bwMode="auto">
          <a:xfrm>
            <a:off x="5257800" y="1828800"/>
            <a:ext cx="3505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000" dirty="0">
                <a:solidFill>
                  <a:schemeClr val="tx1"/>
                </a:solidFill>
                <a:latin typeface="Arial" pitchFamily="34" charset="0"/>
              </a:rPr>
              <a:t>Use-case specification</a:t>
            </a:r>
          </a:p>
        </p:txBody>
      </p:sp>
      <p:sp>
        <p:nvSpPr>
          <p:cNvPr id="26633" name="Rectangle 20"/>
          <p:cNvSpPr>
            <a:spLocks noChangeArrowheads="1"/>
          </p:cNvSpPr>
          <p:nvPr/>
        </p:nvSpPr>
        <p:spPr bwMode="auto">
          <a:xfrm>
            <a:off x="5105400" y="1676400"/>
            <a:ext cx="3733800" cy="2971800"/>
          </a:xfrm>
          <a:prstGeom prst="rect">
            <a:avLst/>
          </a:prstGeom>
          <a:noFill/>
          <a:ln w="952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2400" b="1">
              <a:solidFill>
                <a:schemeClr val="tx1"/>
              </a:solidFill>
            </a:endParaRPr>
          </a:p>
        </p:txBody>
      </p:sp>
      <p:sp>
        <p:nvSpPr>
          <p:cNvPr id="2" name="Slide Number Placeholder 1"/>
          <p:cNvSpPr>
            <a:spLocks noGrp="1"/>
          </p:cNvSpPr>
          <p:nvPr>
            <p:ph type="sldNum" sz="quarter" idx="12"/>
          </p:nvPr>
        </p:nvSpPr>
        <p:spPr/>
        <p:txBody>
          <a:bodyPr/>
          <a:lstStyle/>
          <a:p>
            <a:fld id="{DED05017-923D-480E-B02E-B52739184DCA}" type="slidenum">
              <a:rPr lang="en-US" smtClean="0"/>
              <a:pPr/>
              <a:t>16</a:t>
            </a:fld>
            <a:endParaRPr lang="en-US"/>
          </a:p>
        </p:txBody>
      </p:sp>
    </p:spTree>
    <p:extLst>
      <p:ext uri="{BB962C8B-B14F-4D97-AF65-F5344CB8AC3E}">
        <p14:creationId xmlns:p14="http://schemas.microsoft.com/office/powerpoint/2010/main" val="2179161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pPr eaLnBrk="1" hangingPunct="1">
              <a:defRPr/>
            </a:pPr>
            <a:r>
              <a:rPr lang="en-US" sz="2800" dirty="0"/>
              <a:t>Use-case diagram</a:t>
            </a:r>
          </a:p>
        </p:txBody>
      </p:sp>
      <p:sp>
        <p:nvSpPr>
          <p:cNvPr id="27654" name="Rectangle 3"/>
          <p:cNvSpPr>
            <a:spLocks noGrp="1" noChangeArrowheads="1"/>
          </p:cNvSpPr>
          <p:nvPr>
            <p:ph type="body" idx="1"/>
          </p:nvPr>
        </p:nvSpPr>
        <p:spPr>
          <a:xfrm>
            <a:off x="184150" y="1376363"/>
            <a:ext cx="4464050" cy="5329237"/>
          </a:xfrm>
        </p:spPr>
        <p:txBody>
          <a:bodyPr/>
          <a:lstStyle/>
          <a:p>
            <a:pPr marL="230188" indent="-230188" eaLnBrk="1" hangingPunct="1">
              <a:lnSpc>
                <a:spcPct val="100000"/>
              </a:lnSpc>
            </a:pPr>
            <a:r>
              <a:rPr lang="en-US" sz="2000" dirty="0"/>
              <a:t>Shows a set of use cases and actors and their relationships</a:t>
            </a:r>
          </a:p>
          <a:p>
            <a:pPr marL="230188" indent="-230188" eaLnBrk="1" hangingPunct="1">
              <a:lnSpc>
                <a:spcPct val="100000"/>
              </a:lnSpc>
            </a:pPr>
            <a:r>
              <a:rPr lang="en-US" sz="2000" dirty="0"/>
              <a:t>Defines clear boundaries of a system</a:t>
            </a:r>
          </a:p>
          <a:p>
            <a:pPr marL="230188" indent="-230188" eaLnBrk="1" hangingPunct="1">
              <a:lnSpc>
                <a:spcPct val="100000"/>
              </a:lnSpc>
            </a:pPr>
            <a:r>
              <a:rPr lang="en-US" sz="2000" dirty="0"/>
              <a:t>Identifies who or what interacts with the system</a:t>
            </a:r>
          </a:p>
          <a:p>
            <a:pPr marL="230188" indent="-230188" eaLnBrk="1" hangingPunct="1">
              <a:lnSpc>
                <a:spcPct val="100000"/>
              </a:lnSpc>
            </a:pPr>
            <a:r>
              <a:rPr lang="en-US" sz="2000" dirty="0"/>
              <a:t>Summarizes the behavior of the system</a:t>
            </a:r>
          </a:p>
          <a:p>
            <a:pPr marL="230188" indent="-230188" eaLnBrk="1" hangingPunct="1">
              <a:lnSpc>
                <a:spcPct val="100000"/>
              </a:lnSpc>
              <a:buFont typeface="Wingdings" pitchFamily="2" charset="2"/>
              <a:buNone/>
            </a:pPr>
            <a:endParaRPr lang="en-US" dirty="0"/>
          </a:p>
        </p:txBody>
      </p:sp>
      <p:sp>
        <p:nvSpPr>
          <p:cNvPr id="27655" name="Rectangle 4"/>
          <p:cNvSpPr>
            <a:spLocks noChangeArrowheads="1"/>
          </p:cNvSpPr>
          <p:nvPr/>
        </p:nvSpPr>
        <p:spPr bwMode="auto">
          <a:xfrm>
            <a:off x="4724400" y="1543050"/>
            <a:ext cx="4267200" cy="3200400"/>
          </a:xfrm>
          <a:prstGeom prst="rect">
            <a:avLst/>
          </a:prstGeom>
          <a:noFill/>
          <a:ln w="952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2400" b="1">
              <a:solidFill>
                <a:schemeClr val="tx1"/>
              </a:solidFill>
            </a:endParaRPr>
          </a:p>
        </p:txBody>
      </p:sp>
      <p:grpSp>
        <p:nvGrpSpPr>
          <p:cNvPr id="27656" name="Group 5"/>
          <p:cNvGrpSpPr>
            <a:grpSpLocks/>
          </p:cNvGrpSpPr>
          <p:nvPr/>
        </p:nvGrpSpPr>
        <p:grpSpPr bwMode="auto">
          <a:xfrm>
            <a:off x="6156325" y="2397125"/>
            <a:ext cx="1571625" cy="1770063"/>
            <a:chOff x="1213" y="2049"/>
            <a:chExt cx="861" cy="988"/>
          </a:xfrm>
        </p:grpSpPr>
        <p:grpSp>
          <p:nvGrpSpPr>
            <p:cNvPr id="27752" name="Group 6"/>
            <p:cNvGrpSpPr>
              <a:grpSpLocks/>
            </p:cNvGrpSpPr>
            <p:nvPr/>
          </p:nvGrpSpPr>
          <p:grpSpPr bwMode="auto">
            <a:xfrm>
              <a:off x="1213" y="2049"/>
              <a:ext cx="861" cy="988"/>
              <a:chOff x="1213" y="2049"/>
              <a:chExt cx="861" cy="988"/>
            </a:xfrm>
          </p:grpSpPr>
          <p:sp>
            <p:nvSpPr>
              <p:cNvPr id="27765" name="Rectangle 7"/>
              <p:cNvSpPr>
                <a:spLocks noChangeArrowheads="1"/>
              </p:cNvSpPr>
              <p:nvPr/>
            </p:nvSpPr>
            <p:spPr bwMode="auto">
              <a:xfrm>
                <a:off x="1213" y="2049"/>
                <a:ext cx="861" cy="98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66" name="Rectangle 8"/>
              <p:cNvSpPr>
                <a:spLocks noChangeArrowheads="1"/>
              </p:cNvSpPr>
              <p:nvPr/>
            </p:nvSpPr>
            <p:spPr bwMode="auto">
              <a:xfrm>
                <a:off x="1213" y="2049"/>
                <a:ext cx="861" cy="988"/>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753" name="Group 9"/>
            <p:cNvGrpSpPr>
              <a:grpSpLocks/>
            </p:cNvGrpSpPr>
            <p:nvPr/>
          </p:nvGrpSpPr>
          <p:grpSpPr bwMode="auto">
            <a:xfrm>
              <a:off x="1364" y="2164"/>
              <a:ext cx="530" cy="171"/>
              <a:chOff x="1364" y="2164"/>
              <a:chExt cx="530" cy="171"/>
            </a:xfrm>
          </p:grpSpPr>
          <p:sp>
            <p:nvSpPr>
              <p:cNvPr id="27763" name="Oval 10"/>
              <p:cNvSpPr>
                <a:spLocks noChangeArrowheads="1"/>
              </p:cNvSpPr>
              <p:nvPr/>
            </p:nvSpPr>
            <p:spPr bwMode="auto">
              <a:xfrm>
                <a:off x="1364" y="2164"/>
                <a:ext cx="530" cy="171"/>
              </a:xfrm>
              <a:prstGeom prst="ellipse">
                <a:avLst/>
              </a:prstGeom>
              <a:solidFill>
                <a:srgbClr val="FFFFFF"/>
              </a:solidFill>
              <a:ln w="0">
                <a:solidFill>
                  <a:srgbClr val="000000"/>
                </a:solidFill>
                <a:round/>
                <a:headEnd/>
                <a:tailEnd/>
              </a:ln>
            </p:spPr>
            <p:txBody>
              <a:bodyPr/>
              <a:lstStyle/>
              <a:p>
                <a:endParaRPr lang="en-US"/>
              </a:p>
            </p:txBody>
          </p:sp>
          <p:sp>
            <p:nvSpPr>
              <p:cNvPr id="27764" name="Oval 11"/>
              <p:cNvSpPr>
                <a:spLocks noChangeArrowheads="1"/>
              </p:cNvSpPr>
              <p:nvPr/>
            </p:nvSpPr>
            <p:spPr bwMode="auto">
              <a:xfrm>
                <a:off x="1364" y="2164"/>
                <a:ext cx="530" cy="171"/>
              </a:xfrm>
              <a:prstGeom prst="ellipse">
                <a:avLst/>
              </a:prstGeom>
              <a:noFill/>
              <a:ln w="28575" cap="rnd">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754" name="Rectangle 12"/>
            <p:cNvSpPr>
              <a:spLocks noChangeArrowheads="1"/>
            </p:cNvSpPr>
            <p:nvPr/>
          </p:nvSpPr>
          <p:spPr bwMode="auto">
            <a:xfrm>
              <a:off x="1425" y="2205"/>
              <a:ext cx="357"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808080"/>
                  </a:solidFill>
                  <a:latin typeface="Arial" pitchFamily="34" charset="0"/>
                </a:rPr>
                <a:t>Use case 1</a:t>
              </a:r>
              <a:endParaRPr lang="en-US" sz="2400">
                <a:solidFill>
                  <a:schemeClr val="tx1"/>
                </a:solidFill>
              </a:endParaRPr>
            </a:p>
          </p:txBody>
        </p:sp>
        <p:grpSp>
          <p:nvGrpSpPr>
            <p:cNvPr id="27755" name="Group 13"/>
            <p:cNvGrpSpPr>
              <a:grpSpLocks/>
            </p:cNvGrpSpPr>
            <p:nvPr/>
          </p:nvGrpSpPr>
          <p:grpSpPr bwMode="auto">
            <a:xfrm>
              <a:off x="1363" y="2457"/>
              <a:ext cx="532" cy="176"/>
              <a:chOff x="1363" y="2457"/>
              <a:chExt cx="532" cy="176"/>
            </a:xfrm>
          </p:grpSpPr>
          <p:sp>
            <p:nvSpPr>
              <p:cNvPr id="27761" name="Oval 14"/>
              <p:cNvSpPr>
                <a:spLocks noChangeArrowheads="1"/>
              </p:cNvSpPr>
              <p:nvPr/>
            </p:nvSpPr>
            <p:spPr bwMode="auto">
              <a:xfrm>
                <a:off x="1363" y="2457"/>
                <a:ext cx="532" cy="176"/>
              </a:xfrm>
              <a:prstGeom prst="ellipse">
                <a:avLst/>
              </a:prstGeom>
              <a:solidFill>
                <a:srgbClr val="FFFFFF"/>
              </a:solidFill>
              <a:ln w="0">
                <a:solidFill>
                  <a:srgbClr val="000000"/>
                </a:solidFill>
                <a:round/>
                <a:headEnd/>
                <a:tailEnd/>
              </a:ln>
            </p:spPr>
            <p:txBody>
              <a:bodyPr/>
              <a:lstStyle/>
              <a:p>
                <a:endParaRPr lang="en-US"/>
              </a:p>
            </p:txBody>
          </p:sp>
          <p:sp>
            <p:nvSpPr>
              <p:cNvPr id="27762" name="Oval 15"/>
              <p:cNvSpPr>
                <a:spLocks noChangeArrowheads="1"/>
              </p:cNvSpPr>
              <p:nvPr/>
            </p:nvSpPr>
            <p:spPr bwMode="auto">
              <a:xfrm>
                <a:off x="1363" y="2457"/>
                <a:ext cx="532" cy="176"/>
              </a:xfrm>
              <a:prstGeom prst="ellipse">
                <a:avLst/>
              </a:prstGeom>
              <a:noFill/>
              <a:ln w="28575" cap="rnd">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756" name="Rectangle 16"/>
            <p:cNvSpPr>
              <a:spLocks noChangeArrowheads="1"/>
            </p:cNvSpPr>
            <p:nvPr/>
          </p:nvSpPr>
          <p:spPr bwMode="auto">
            <a:xfrm>
              <a:off x="1425" y="2500"/>
              <a:ext cx="357"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808080"/>
                  </a:solidFill>
                  <a:latin typeface="Arial" pitchFamily="34" charset="0"/>
                </a:rPr>
                <a:t>Use case 2</a:t>
              </a:r>
              <a:endParaRPr lang="en-US" sz="2400">
                <a:solidFill>
                  <a:schemeClr val="tx1"/>
                </a:solidFill>
              </a:endParaRPr>
            </a:p>
          </p:txBody>
        </p:sp>
        <p:grpSp>
          <p:nvGrpSpPr>
            <p:cNvPr id="27757" name="Group 17"/>
            <p:cNvGrpSpPr>
              <a:grpSpLocks/>
            </p:cNvGrpSpPr>
            <p:nvPr/>
          </p:nvGrpSpPr>
          <p:grpSpPr bwMode="auto">
            <a:xfrm>
              <a:off x="1352" y="2756"/>
              <a:ext cx="555" cy="176"/>
              <a:chOff x="1352" y="2756"/>
              <a:chExt cx="555" cy="176"/>
            </a:xfrm>
          </p:grpSpPr>
          <p:sp>
            <p:nvSpPr>
              <p:cNvPr id="27759" name="Oval 18"/>
              <p:cNvSpPr>
                <a:spLocks noChangeArrowheads="1"/>
              </p:cNvSpPr>
              <p:nvPr/>
            </p:nvSpPr>
            <p:spPr bwMode="auto">
              <a:xfrm>
                <a:off x="1352" y="2756"/>
                <a:ext cx="555" cy="176"/>
              </a:xfrm>
              <a:prstGeom prst="ellipse">
                <a:avLst/>
              </a:prstGeom>
              <a:solidFill>
                <a:srgbClr val="FFFFFF"/>
              </a:solidFill>
              <a:ln w="0">
                <a:solidFill>
                  <a:srgbClr val="000000"/>
                </a:solidFill>
                <a:round/>
                <a:headEnd/>
                <a:tailEnd/>
              </a:ln>
            </p:spPr>
            <p:txBody>
              <a:bodyPr/>
              <a:lstStyle/>
              <a:p>
                <a:endParaRPr lang="en-US"/>
              </a:p>
            </p:txBody>
          </p:sp>
          <p:sp>
            <p:nvSpPr>
              <p:cNvPr id="27760" name="Oval 19"/>
              <p:cNvSpPr>
                <a:spLocks noChangeArrowheads="1"/>
              </p:cNvSpPr>
              <p:nvPr/>
            </p:nvSpPr>
            <p:spPr bwMode="auto">
              <a:xfrm>
                <a:off x="1352" y="2756"/>
                <a:ext cx="555" cy="176"/>
              </a:xfrm>
              <a:prstGeom prst="ellipse">
                <a:avLst/>
              </a:prstGeom>
              <a:noFill/>
              <a:ln w="28575" cap="rnd">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758" name="Rectangle 20"/>
            <p:cNvSpPr>
              <a:spLocks noChangeArrowheads="1"/>
            </p:cNvSpPr>
            <p:nvPr/>
          </p:nvSpPr>
          <p:spPr bwMode="auto">
            <a:xfrm>
              <a:off x="1426" y="2799"/>
              <a:ext cx="357"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808080"/>
                  </a:solidFill>
                  <a:latin typeface="Arial" pitchFamily="34" charset="0"/>
                </a:rPr>
                <a:t>Use case 3</a:t>
              </a:r>
              <a:endParaRPr lang="en-US" sz="2400">
                <a:solidFill>
                  <a:schemeClr val="tx1"/>
                </a:solidFill>
              </a:endParaRPr>
            </a:p>
          </p:txBody>
        </p:sp>
      </p:grpSp>
      <p:sp>
        <p:nvSpPr>
          <p:cNvPr id="27657" name="Rectangle 21"/>
          <p:cNvSpPr>
            <a:spLocks noChangeArrowheads="1"/>
          </p:cNvSpPr>
          <p:nvPr/>
        </p:nvSpPr>
        <p:spPr bwMode="auto">
          <a:xfrm>
            <a:off x="6369050" y="2133600"/>
            <a:ext cx="9953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rgbClr val="000000"/>
                </a:solidFill>
                <a:latin typeface="Arial" pitchFamily="34" charset="0"/>
              </a:rPr>
              <a:t>The System</a:t>
            </a:r>
            <a:endParaRPr lang="en-US" sz="2400">
              <a:solidFill>
                <a:schemeClr val="tx1"/>
              </a:solidFill>
            </a:endParaRPr>
          </a:p>
        </p:txBody>
      </p:sp>
      <p:grpSp>
        <p:nvGrpSpPr>
          <p:cNvPr id="27658" name="Group 22"/>
          <p:cNvGrpSpPr>
            <a:grpSpLocks/>
          </p:cNvGrpSpPr>
          <p:nvPr/>
        </p:nvGrpSpPr>
        <p:grpSpPr bwMode="auto">
          <a:xfrm>
            <a:off x="5043488" y="2535238"/>
            <a:ext cx="609600" cy="604837"/>
            <a:chOff x="604" y="2126"/>
            <a:chExt cx="334" cy="338"/>
          </a:xfrm>
        </p:grpSpPr>
        <p:grpSp>
          <p:nvGrpSpPr>
            <p:cNvPr id="27746" name="Group 23"/>
            <p:cNvGrpSpPr>
              <a:grpSpLocks/>
            </p:cNvGrpSpPr>
            <p:nvPr/>
          </p:nvGrpSpPr>
          <p:grpSpPr bwMode="auto">
            <a:xfrm>
              <a:off x="722" y="2126"/>
              <a:ext cx="141" cy="177"/>
              <a:chOff x="722" y="2126"/>
              <a:chExt cx="141" cy="177"/>
            </a:xfrm>
          </p:grpSpPr>
          <p:sp>
            <p:nvSpPr>
              <p:cNvPr id="27748" name="Oval 24"/>
              <p:cNvSpPr>
                <a:spLocks noChangeArrowheads="1"/>
              </p:cNvSpPr>
              <p:nvPr/>
            </p:nvSpPr>
            <p:spPr bwMode="auto">
              <a:xfrm>
                <a:off x="760" y="2126"/>
                <a:ext cx="65" cy="58"/>
              </a:xfrm>
              <a:prstGeom prst="ellipse">
                <a:avLst/>
              </a:prstGeom>
              <a:noFill/>
              <a:ln w="28575" cap="rnd">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49" name="Line 25"/>
              <p:cNvSpPr>
                <a:spLocks noChangeShapeType="1"/>
              </p:cNvSpPr>
              <p:nvPr/>
            </p:nvSpPr>
            <p:spPr bwMode="auto">
              <a:xfrm>
                <a:off x="793" y="2185"/>
                <a:ext cx="1" cy="5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0" name="Line 26"/>
              <p:cNvSpPr>
                <a:spLocks noChangeShapeType="1"/>
              </p:cNvSpPr>
              <p:nvPr/>
            </p:nvSpPr>
            <p:spPr bwMode="auto">
              <a:xfrm>
                <a:off x="742" y="2200"/>
                <a:ext cx="102" cy="1"/>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1" name="Freeform 27"/>
              <p:cNvSpPr>
                <a:spLocks/>
              </p:cNvSpPr>
              <p:nvPr/>
            </p:nvSpPr>
            <p:spPr bwMode="auto">
              <a:xfrm>
                <a:off x="722" y="2239"/>
                <a:ext cx="141" cy="64"/>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747" name="Rectangle 28"/>
            <p:cNvSpPr>
              <a:spLocks noChangeArrowheads="1"/>
            </p:cNvSpPr>
            <p:nvPr/>
          </p:nvSpPr>
          <p:spPr bwMode="auto">
            <a:xfrm>
              <a:off x="604" y="2346"/>
              <a:ext cx="3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rgbClr val="FFFFFF"/>
                  </a:solidFill>
                  <a:latin typeface="Arial" pitchFamily="34" charset="0"/>
                </a:rPr>
                <a:t>Actor 1</a:t>
              </a:r>
              <a:endParaRPr lang="en-US" sz="2400">
                <a:solidFill>
                  <a:schemeClr val="tx1"/>
                </a:solidFill>
              </a:endParaRPr>
            </a:p>
          </p:txBody>
        </p:sp>
      </p:grpSp>
      <p:grpSp>
        <p:nvGrpSpPr>
          <p:cNvPr id="27659" name="Group 29"/>
          <p:cNvGrpSpPr>
            <a:grpSpLocks/>
          </p:cNvGrpSpPr>
          <p:nvPr/>
        </p:nvGrpSpPr>
        <p:grpSpPr bwMode="auto">
          <a:xfrm>
            <a:off x="8067675" y="3708400"/>
            <a:ext cx="609600" cy="652463"/>
            <a:chOff x="2260" y="2781"/>
            <a:chExt cx="334" cy="364"/>
          </a:xfrm>
        </p:grpSpPr>
        <p:grpSp>
          <p:nvGrpSpPr>
            <p:cNvPr id="27740" name="Group 30"/>
            <p:cNvGrpSpPr>
              <a:grpSpLocks/>
            </p:cNvGrpSpPr>
            <p:nvPr/>
          </p:nvGrpSpPr>
          <p:grpSpPr bwMode="auto">
            <a:xfrm>
              <a:off x="2381" y="2781"/>
              <a:ext cx="141" cy="178"/>
              <a:chOff x="2381" y="2781"/>
              <a:chExt cx="141" cy="178"/>
            </a:xfrm>
          </p:grpSpPr>
          <p:sp>
            <p:nvSpPr>
              <p:cNvPr id="27742" name="Oval 31"/>
              <p:cNvSpPr>
                <a:spLocks noChangeArrowheads="1"/>
              </p:cNvSpPr>
              <p:nvPr/>
            </p:nvSpPr>
            <p:spPr bwMode="auto">
              <a:xfrm>
                <a:off x="2419" y="2781"/>
                <a:ext cx="65" cy="59"/>
              </a:xfrm>
              <a:prstGeom prst="ellipse">
                <a:avLst/>
              </a:prstGeom>
              <a:noFill/>
              <a:ln w="28575" cap="rnd">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43" name="Line 32"/>
              <p:cNvSpPr>
                <a:spLocks noChangeShapeType="1"/>
              </p:cNvSpPr>
              <p:nvPr/>
            </p:nvSpPr>
            <p:spPr bwMode="auto">
              <a:xfrm>
                <a:off x="2452" y="2840"/>
                <a:ext cx="1" cy="5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4" name="Line 33"/>
              <p:cNvSpPr>
                <a:spLocks noChangeShapeType="1"/>
              </p:cNvSpPr>
              <p:nvPr/>
            </p:nvSpPr>
            <p:spPr bwMode="auto">
              <a:xfrm>
                <a:off x="2401" y="2855"/>
                <a:ext cx="102" cy="1"/>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5" name="Freeform 34"/>
              <p:cNvSpPr>
                <a:spLocks/>
              </p:cNvSpPr>
              <p:nvPr/>
            </p:nvSpPr>
            <p:spPr bwMode="auto">
              <a:xfrm>
                <a:off x="2381" y="2895"/>
                <a:ext cx="141" cy="64"/>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741" name="Rectangle 35"/>
            <p:cNvSpPr>
              <a:spLocks noChangeArrowheads="1"/>
            </p:cNvSpPr>
            <p:nvPr/>
          </p:nvSpPr>
          <p:spPr bwMode="auto">
            <a:xfrm>
              <a:off x="2260" y="3026"/>
              <a:ext cx="334"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rgbClr val="FFFFFF"/>
                  </a:solidFill>
                  <a:latin typeface="Arial" pitchFamily="34" charset="0"/>
                </a:rPr>
                <a:t>Actor 3</a:t>
              </a:r>
              <a:endParaRPr lang="en-US" sz="2400">
                <a:solidFill>
                  <a:schemeClr val="tx1"/>
                </a:solidFill>
              </a:endParaRPr>
            </a:p>
          </p:txBody>
        </p:sp>
      </p:grpSp>
      <p:grpSp>
        <p:nvGrpSpPr>
          <p:cNvPr id="27660" name="Group 36"/>
          <p:cNvGrpSpPr>
            <a:grpSpLocks/>
          </p:cNvGrpSpPr>
          <p:nvPr/>
        </p:nvGrpSpPr>
        <p:grpSpPr bwMode="auto">
          <a:xfrm>
            <a:off x="6156325" y="2397125"/>
            <a:ext cx="1571625" cy="1770063"/>
            <a:chOff x="1213" y="2049"/>
            <a:chExt cx="861" cy="988"/>
          </a:xfrm>
        </p:grpSpPr>
        <p:sp>
          <p:nvSpPr>
            <p:cNvPr id="27738" name="Rectangle 37"/>
            <p:cNvSpPr>
              <a:spLocks noChangeArrowheads="1"/>
            </p:cNvSpPr>
            <p:nvPr/>
          </p:nvSpPr>
          <p:spPr bwMode="auto">
            <a:xfrm>
              <a:off x="1213" y="2049"/>
              <a:ext cx="861" cy="98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39" name="Rectangle 38"/>
            <p:cNvSpPr>
              <a:spLocks noChangeArrowheads="1"/>
            </p:cNvSpPr>
            <p:nvPr/>
          </p:nvSpPr>
          <p:spPr bwMode="auto">
            <a:xfrm>
              <a:off x="1213" y="2049"/>
              <a:ext cx="861" cy="988"/>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661" name="Group 39"/>
          <p:cNvGrpSpPr>
            <a:grpSpLocks/>
          </p:cNvGrpSpPr>
          <p:nvPr/>
        </p:nvGrpSpPr>
        <p:grpSpPr bwMode="auto">
          <a:xfrm>
            <a:off x="6430963" y="2603500"/>
            <a:ext cx="968375" cy="306388"/>
            <a:chOff x="1364" y="2164"/>
            <a:chExt cx="530" cy="171"/>
          </a:xfrm>
        </p:grpSpPr>
        <p:sp>
          <p:nvSpPr>
            <p:cNvPr id="27736" name="Oval 40"/>
            <p:cNvSpPr>
              <a:spLocks noChangeArrowheads="1"/>
            </p:cNvSpPr>
            <p:nvPr/>
          </p:nvSpPr>
          <p:spPr bwMode="auto">
            <a:xfrm>
              <a:off x="1364" y="2164"/>
              <a:ext cx="530" cy="171"/>
            </a:xfrm>
            <a:prstGeom prst="ellipse">
              <a:avLst/>
            </a:prstGeom>
            <a:solidFill>
              <a:srgbClr val="FFFFFF"/>
            </a:solidFill>
            <a:ln w="0">
              <a:solidFill>
                <a:srgbClr val="000000"/>
              </a:solidFill>
              <a:round/>
              <a:headEnd/>
              <a:tailEnd/>
            </a:ln>
          </p:spPr>
          <p:txBody>
            <a:bodyPr/>
            <a:lstStyle/>
            <a:p>
              <a:endParaRPr lang="en-US"/>
            </a:p>
          </p:txBody>
        </p:sp>
        <p:sp>
          <p:nvSpPr>
            <p:cNvPr id="27737" name="Oval 41"/>
            <p:cNvSpPr>
              <a:spLocks noChangeArrowheads="1"/>
            </p:cNvSpPr>
            <p:nvPr/>
          </p:nvSpPr>
          <p:spPr bwMode="auto">
            <a:xfrm>
              <a:off x="1364" y="2164"/>
              <a:ext cx="530" cy="171"/>
            </a:xfrm>
            <a:prstGeom prst="ellipse">
              <a:avLst/>
            </a:prstGeom>
            <a:noFill/>
            <a:ln w="28575" cap="rnd">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62" name="Rectangle 42"/>
          <p:cNvSpPr>
            <a:spLocks noChangeArrowheads="1"/>
          </p:cNvSpPr>
          <p:nvPr/>
        </p:nvSpPr>
        <p:spPr bwMode="auto">
          <a:xfrm>
            <a:off x="6542088" y="2676525"/>
            <a:ext cx="6524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808080"/>
                </a:solidFill>
                <a:latin typeface="Arial" pitchFamily="34" charset="0"/>
              </a:rPr>
              <a:t>Use case 1</a:t>
            </a:r>
            <a:endParaRPr lang="en-US" sz="2400">
              <a:solidFill>
                <a:schemeClr val="tx1"/>
              </a:solidFill>
            </a:endParaRPr>
          </a:p>
        </p:txBody>
      </p:sp>
      <p:grpSp>
        <p:nvGrpSpPr>
          <p:cNvPr id="27663" name="Group 43"/>
          <p:cNvGrpSpPr>
            <a:grpSpLocks/>
          </p:cNvGrpSpPr>
          <p:nvPr/>
        </p:nvGrpSpPr>
        <p:grpSpPr bwMode="auto">
          <a:xfrm>
            <a:off x="6429375" y="3127375"/>
            <a:ext cx="971550" cy="315913"/>
            <a:chOff x="1363" y="2457"/>
            <a:chExt cx="532" cy="176"/>
          </a:xfrm>
        </p:grpSpPr>
        <p:sp>
          <p:nvSpPr>
            <p:cNvPr id="27734" name="Oval 44"/>
            <p:cNvSpPr>
              <a:spLocks noChangeArrowheads="1"/>
            </p:cNvSpPr>
            <p:nvPr/>
          </p:nvSpPr>
          <p:spPr bwMode="auto">
            <a:xfrm>
              <a:off x="1363" y="2457"/>
              <a:ext cx="532" cy="176"/>
            </a:xfrm>
            <a:prstGeom prst="ellipse">
              <a:avLst/>
            </a:prstGeom>
            <a:solidFill>
              <a:srgbClr val="FFFFFF"/>
            </a:solidFill>
            <a:ln w="0">
              <a:solidFill>
                <a:srgbClr val="000000"/>
              </a:solidFill>
              <a:round/>
              <a:headEnd/>
              <a:tailEnd/>
            </a:ln>
          </p:spPr>
          <p:txBody>
            <a:bodyPr/>
            <a:lstStyle/>
            <a:p>
              <a:endParaRPr lang="en-US"/>
            </a:p>
          </p:txBody>
        </p:sp>
        <p:sp>
          <p:nvSpPr>
            <p:cNvPr id="27735" name="Oval 45"/>
            <p:cNvSpPr>
              <a:spLocks noChangeArrowheads="1"/>
            </p:cNvSpPr>
            <p:nvPr/>
          </p:nvSpPr>
          <p:spPr bwMode="auto">
            <a:xfrm>
              <a:off x="1363" y="2457"/>
              <a:ext cx="532" cy="176"/>
            </a:xfrm>
            <a:prstGeom prst="ellipse">
              <a:avLst/>
            </a:prstGeom>
            <a:noFill/>
            <a:ln w="28575" cap="rnd">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64" name="Rectangle 46"/>
          <p:cNvSpPr>
            <a:spLocks noChangeArrowheads="1"/>
          </p:cNvSpPr>
          <p:nvPr/>
        </p:nvSpPr>
        <p:spPr bwMode="auto">
          <a:xfrm>
            <a:off x="6542088" y="3205163"/>
            <a:ext cx="6524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808080"/>
                </a:solidFill>
                <a:latin typeface="Arial" pitchFamily="34" charset="0"/>
              </a:rPr>
              <a:t>Use case 2</a:t>
            </a:r>
            <a:endParaRPr lang="en-US" sz="2400">
              <a:solidFill>
                <a:schemeClr val="tx1"/>
              </a:solidFill>
            </a:endParaRPr>
          </a:p>
        </p:txBody>
      </p:sp>
      <p:grpSp>
        <p:nvGrpSpPr>
          <p:cNvPr id="27665" name="Group 47"/>
          <p:cNvGrpSpPr>
            <a:grpSpLocks/>
          </p:cNvGrpSpPr>
          <p:nvPr/>
        </p:nvGrpSpPr>
        <p:grpSpPr bwMode="auto">
          <a:xfrm>
            <a:off x="6408738" y="3663950"/>
            <a:ext cx="1014412" cy="315913"/>
            <a:chOff x="1352" y="2756"/>
            <a:chExt cx="555" cy="176"/>
          </a:xfrm>
        </p:grpSpPr>
        <p:sp>
          <p:nvSpPr>
            <p:cNvPr id="27732" name="Oval 48"/>
            <p:cNvSpPr>
              <a:spLocks noChangeArrowheads="1"/>
            </p:cNvSpPr>
            <p:nvPr/>
          </p:nvSpPr>
          <p:spPr bwMode="auto">
            <a:xfrm>
              <a:off x="1352" y="2756"/>
              <a:ext cx="555" cy="176"/>
            </a:xfrm>
            <a:prstGeom prst="ellipse">
              <a:avLst/>
            </a:prstGeom>
            <a:solidFill>
              <a:srgbClr val="FFFFFF"/>
            </a:solidFill>
            <a:ln w="0">
              <a:solidFill>
                <a:srgbClr val="000000"/>
              </a:solidFill>
              <a:round/>
              <a:headEnd/>
              <a:tailEnd/>
            </a:ln>
          </p:spPr>
          <p:txBody>
            <a:bodyPr/>
            <a:lstStyle/>
            <a:p>
              <a:endParaRPr lang="en-US"/>
            </a:p>
          </p:txBody>
        </p:sp>
        <p:sp>
          <p:nvSpPr>
            <p:cNvPr id="27733" name="Oval 49"/>
            <p:cNvSpPr>
              <a:spLocks noChangeArrowheads="1"/>
            </p:cNvSpPr>
            <p:nvPr/>
          </p:nvSpPr>
          <p:spPr bwMode="auto">
            <a:xfrm>
              <a:off x="1352" y="2756"/>
              <a:ext cx="555" cy="176"/>
            </a:xfrm>
            <a:prstGeom prst="ellipse">
              <a:avLst/>
            </a:prstGeom>
            <a:noFill/>
            <a:ln w="28575" cap="rnd">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66" name="Rectangle 50"/>
          <p:cNvSpPr>
            <a:spLocks noChangeArrowheads="1"/>
          </p:cNvSpPr>
          <p:nvPr/>
        </p:nvSpPr>
        <p:spPr bwMode="auto">
          <a:xfrm>
            <a:off x="6545263" y="3740150"/>
            <a:ext cx="6492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808080"/>
                </a:solidFill>
                <a:latin typeface="Arial" pitchFamily="34" charset="0"/>
              </a:rPr>
              <a:t>Use case 3</a:t>
            </a:r>
            <a:endParaRPr lang="en-US" sz="2400">
              <a:solidFill>
                <a:schemeClr val="tx1"/>
              </a:solidFill>
            </a:endParaRPr>
          </a:p>
        </p:txBody>
      </p:sp>
      <p:grpSp>
        <p:nvGrpSpPr>
          <p:cNvPr id="27667" name="Group 51"/>
          <p:cNvGrpSpPr>
            <a:grpSpLocks/>
          </p:cNvGrpSpPr>
          <p:nvPr/>
        </p:nvGrpSpPr>
        <p:grpSpPr bwMode="auto">
          <a:xfrm>
            <a:off x="6156325" y="2397125"/>
            <a:ext cx="1571625" cy="1770063"/>
            <a:chOff x="1213" y="2049"/>
            <a:chExt cx="861" cy="988"/>
          </a:xfrm>
        </p:grpSpPr>
        <p:sp>
          <p:nvSpPr>
            <p:cNvPr id="27730" name="Rectangle 52"/>
            <p:cNvSpPr>
              <a:spLocks noChangeArrowheads="1"/>
            </p:cNvSpPr>
            <p:nvPr/>
          </p:nvSpPr>
          <p:spPr bwMode="auto">
            <a:xfrm>
              <a:off x="1213" y="2049"/>
              <a:ext cx="861" cy="98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31" name="Rectangle 53"/>
            <p:cNvSpPr>
              <a:spLocks noChangeArrowheads="1"/>
            </p:cNvSpPr>
            <p:nvPr/>
          </p:nvSpPr>
          <p:spPr bwMode="auto">
            <a:xfrm>
              <a:off x="1213" y="2049"/>
              <a:ext cx="861" cy="988"/>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668" name="Group 54"/>
          <p:cNvGrpSpPr>
            <a:grpSpLocks/>
          </p:cNvGrpSpPr>
          <p:nvPr/>
        </p:nvGrpSpPr>
        <p:grpSpPr bwMode="auto">
          <a:xfrm>
            <a:off x="6411913" y="2584450"/>
            <a:ext cx="966787" cy="306388"/>
            <a:chOff x="1364" y="2164"/>
            <a:chExt cx="530" cy="171"/>
          </a:xfrm>
        </p:grpSpPr>
        <p:sp>
          <p:nvSpPr>
            <p:cNvPr id="27728" name="Oval 55"/>
            <p:cNvSpPr>
              <a:spLocks noChangeArrowheads="1"/>
            </p:cNvSpPr>
            <p:nvPr/>
          </p:nvSpPr>
          <p:spPr bwMode="auto">
            <a:xfrm>
              <a:off x="1364" y="2164"/>
              <a:ext cx="530" cy="171"/>
            </a:xfrm>
            <a:prstGeom prst="ellipse">
              <a:avLst/>
            </a:prstGeom>
            <a:solidFill>
              <a:srgbClr val="6699FF"/>
            </a:solidFill>
            <a:ln w="0">
              <a:solidFill>
                <a:schemeClr val="tx1"/>
              </a:solidFill>
              <a:round/>
              <a:headEnd/>
              <a:tailEnd/>
            </a:ln>
          </p:spPr>
          <p:txBody>
            <a:bodyPr/>
            <a:lstStyle/>
            <a:p>
              <a:endParaRPr lang="en-US"/>
            </a:p>
          </p:txBody>
        </p:sp>
        <p:sp>
          <p:nvSpPr>
            <p:cNvPr id="27729" name="Oval 56"/>
            <p:cNvSpPr>
              <a:spLocks noChangeArrowheads="1"/>
            </p:cNvSpPr>
            <p:nvPr/>
          </p:nvSpPr>
          <p:spPr bwMode="auto">
            <a:xfrm>
              <a:off x="1364" y="2164"/>
              <a:ext cx="530" cy="171"/>
            </a:xfrm>
            <a:prstGeom prst="ellipse">
              <a:avLst/>
            </a:prstGeom>
            <a:solidFill>
              <a:srgbClr val="6699FF"/>
            </a:solidFill>
            <a:ln w="28575" cap="rnd">
              <a:solidFill>
                <a:schemeClr val="tx1"/>
              </a:solidFill>
              <a:round/>
              <a:headEnd/>
              <a:tailEnd/>
            </a:ln>
          </p:spPr>
          <p:txBody>
            <a:bodyPr/>
            <a:lstStyle/>
            <a:p>
              <a:endParaRPr lang="en-US"/>
            </a:p>
          </p:txBody>
        </p:sp>
      </p:grpSp>
      <p:sp>
        <p:nvSpPr>
          <p:cNvPr id="27669" name="Rectangle 57"/>
          <p:cNvSpPr>
            <a:spLocks noChangeArrowheads="1"/>
          </p:cNvSpPr>
          <p:nvPr/>
        </p:nvSpPr>
        <p:spPr bwMode="auto">
          <a:xfrm>
            <a:off x="6499225" y="2671763"/>
            <a:ext cx="6492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chemeClr val="tx1"/>
                </a:solidFill>
                <a:latin typeface="Arial" pitchFamily="34" charset="0"/>
              </a:rPr>
              <a:t>Use case 1</a:t>
            </a:r>
            <a:endParaRPr lang="en-US" sz="2400">
              <a:solidFill>
                <a:schemeClr val="tx1"/>
              </a:solidFill>
            </a:endParaRPr>
          </a:p>
        </p:txBody>
      </p:sp>
      <p:grpSp>
        <p:nvGrpSpPr>
          <p:cNvPr id="27670" name="Group 58"/>
          <p:cNvGrpSpPr>
            <a:grpSpLocks/>
          </p:cNvGrpSpPr>
          <p:nvPr/>
        </p:nvGrpSpPr>
        <p:grpSpPr bwMode="auto">
          <a:xfrm>
            <a:off x="6429375" y="3127375"/>
            <a:ext cx="971550" cy="315913"/>
            <a:chOff x="1363" y="2457"/>
            <a:chExt cx="532" cy="176"/>
          </a:xfrm>
        </p:grpSpPr>
        <p:sp>
          <p:nvSpPr>
            <p:cNvPr id="27726" name="Oval 59"/>
            <p:cNvSpPr>
              <a:spLocks noChangeArrowheads="1"/>
            </p:cNvSpPr>
            <p:nvPr/>
          </p:nvSpPr>
          <p:spPr bwMode="auto">
            <a:xfrm>
              <a:off x="1363" y="2457"/>
              <a:ext cx="532" cy="176"/>
            </a:xfrm>
            <a:prstGeom prst="ellipse">
              <a:avLst/>
            </a:prstGeom>
            <a:solidFill>
              <a:srgbClr val="6699FF"/>
            </a:solidFill>
            <a:ln w="0">
              <a:solidFill>
                <a:schemeClr val="tx1"/>
              </a:solidFill>
              <a:round/>
              <a:headEnd/>
              <a:tailEnd/>
            </a:ln>
          </p:spPr>
          <p:txBody>
            <a:bodyPr/>
            <a:lstStyle/>
            <a:p>
              <a:endParaRPr lang="en-US"/>
            </a:p>
          </p:txBody>
        </p:sp>
        <p:sp>
          <p:nvSpPr>
            <p:cNvPr id="27727" name="Oval 60"/>
            <p:cNvSpPr>
              <a:spLocks noChangeArrowheads="1"/>
            </p:cNvSpPr>
            <p:nvPr/>
          </p:nvSpPr>
          <p:spPr bwMode="auto">
            <a:xfrm>
              <a:off x="1363" y="2457"/>
              <a:ext cx="532" cy="176"/>
            </a:xfrm>
            <a:prstGeom prst="ellipse">
              <a:avLst/>
            </a:prstGeom>
            <a:solidFill>
              <a:srgbClr val="6699FF"/>
            </a:solidFill>
            <a:ln w="28575" cap="rnd">
              <a:solidFill>
                <a:schemeClr val="tx1"/>
              </a:solidFill>
              <a:round/>
              <a:headEnd/>
              <a:tailEnd/>
            </a:ln>
          </p:spPr>
          <p:txBody>
            <a:bodyPr/>
            <a:lstStyle/>
            <a:p>
              <a:endParaRPr lang="en-US"/>
            </a:p>
          </p:txBody>
        </p:sp>
      </p:grpSp>
      <p:sp>
        <p:nvSpPr>
          <p:cNvPr id="27671" name="Rectangle 61"/>
          <p:cNvSpPr>
            <a:spLocks noChangeArrowheads="1"/>
          </p:cNvSpPr>
          <p:nvPr/>
        </p:nvSpPr>
        <p:spPr bwMode="auto">
          <a:xfrm>
            <a:off x="6542088" y="3205163"/>
            <a:ext cx="6524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chemeClr val="tx1"/>
                </a:solidFill>
                <a:latin typeface="Arial" pitchFamily="34" charset="0"/>
              </a:rPr>
              <a:t>Use case 2</a:t>
            </a:r>
            <a:endParaRPr lang="en-US" sz="2400">
              <a:solidFill>
                <a:schemeClr val="tx1"/>
              </a:solidFill>
            </a:endParaRPr>
          </a:p>
        </p:txBody>
      </p:sp>
      <p:grpSp>
        <p:nvGrpSpPr>
          <p:cNvPr id="27672" name="Group 62"/>
          <p:cNvGrpSpPr>
            <a:grpSpLocks/>
          </p:cNvGrpSpPr>
          <p:nvPr/>
        </p:nvGrpSpPr>
        <p:grpSpPr bwMode="auto">
          <a:xfrm>
            <a:off x="6408738" y="3663950"/>
            <a:ext cx="1014412" cy="315913"/>
            <a:chOff x="1352" y="2756"/>
            <a:chExt cx="555" cy="176"/>
          </a:xfrm>
        </p:grpSpPr>
        <p:sp>
          <p:nvSpPr>
            <p:cNvPr id="27724" name="Oval 63"/>
            <p:cNvSpPr>
              <a:spLocks noChangeArrowheads="1"/>
            </p:cNvSpPr>
            <p:nvPr/>
          </p:nvSpPr>
          <p:spPr bwMode="auto">
            <a:xfrm>
              <a:off x="1352" y="2756"/>
              <a:ext cx="555" cy="176"/>
            </a:xfrm>
            <a:prstGeom prst="ellipse">
              <a:avLst/>
            </a:prstGeom>
            <a:solidFill>
              <a:srgbClr val="6699FF"/>
            </a:solidFill>
            <a:ln w="0">
              <a:solidFill>
                <a:schemeClr val="tx1"/>
              </a:solidFill>
              <a:round/>
              <a:headEnd/>
              <a:tailEnd/>
            </a:ln>
          </p:spPr>
          <p:txBody>
            <a:bodyPr/>
            <a:lstStyle/>
            <a:p>
              <a:endParaRPr lang="en-US"/>
            </a:p>
          </p:txBody>
        </p:sp>
        <p:sp>
          <p:nvSpPr>
            <p:cNvPr id="27725" name="Oval 64"/>
            <p:cNvSpPr>
              <a:spLocks noChangeArrowheads="1"/>
            </p:cNvSpPr>
            <p:nvPr/>
          </p:nvSpPr>
          <p:spPr bwMode="auto">
            <a:xfrm>
              <a:off x="1352" y="2756"/>
              <a:ext cx="555" cy="176"/>
            </a:xfrm>
            <a:prstGeom prst="ellipse">
              <a:avLst/>
            </a:prstGeom>
            <a:solidFill>
              <a:srgbClr val="6699FF"/>
            </a:solidFill>
            <a:ln w="28575" cap="rnd">
              <a:solidFill>
                <a:schemeClr val="tx1"/>
              </a:solidFill>
              <a:round/>
              <a:headEnd/>
              <a:tailEnd/>
            </a:ln>
          </p:spPr>
          <p:txBody>
            <a:bodyPr/>
            <a:lstStyle/>
            <a:p>
              <a:endParaRPr lang="en-US"/>
            </a:p>
          </p:txBody>
        </p:sp>
      </p:grpSp>
      <p:sp>
        <p:nvSpPr>
          <p:cNvPr id="27673" name="Rectangle 65"/>
          <p:cNvSpPr>
            <a:spLocks noChangeArrowheads="1"/>
          </p:cNvSpPr>
          <p:nvPr/>
        </p:nvSpPr>
        <p:spPr bwMode="auto">
          <a:xfrm>
            <a:off x="6545263" y="3740150"/>
            <a:ext cx="6492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chemeClr val="tx1"/>
                </a:solidFill>
                <a:latin typeface="Arial" pitchFamily="34" charset="0"/>
              </a:rPr>
              <a:t>Use case 3</a:t>
            </a:r>
            <a:endParaRPr lang="en-US" sz="2400">
              <a:solidFill>
                <a:schemeClr val="tx1"/>
              </a:solidFill>
            </a:endParaRPr>
          </a:p>
        </p:txBody>
      </p:sp>
      <p:sp>
        <p:nvSpPr>
          <p:cNvPr id="27674" name="Rectangle 66"/>
          <p:cNvSpPr>
            <a:spLocks noChangeArrowheads="1"/>
          </p:cNvSpPr>
          <p:nvPr/>
        </p:nvSpPr>
        <p:spPr bwMode="auto">
          <a:xfrm>
            <a:off x="6369050" y="2133600"/>
            <a:ext cx="9953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rgbClr val="000000"/>
                </a:solidFill>
                <a:latin typeface="Arial" pitchFamily="34" charset="0"/>
              </a:rPr>
              <a:t>The System</a:t>
            </a:r>
            <a:endParaRPr lang="en-US" sz="2400">
              <a:solidFill>
                <a:schemeClr val="tx1"/>
              </a:solidFill>
            </a:endParaRPr>
          </a:p>
        </p:txBody>
      </p:sp>
      <p:grpSp>
        <p:nvGrpSpPr>
          <p:cNvPr id="27675" name="Group 67"/>
          <p:cNvGrpSpPr>
            <a:grpSpLocks/>
          </p:cNvGrpSpPr>
          <p:nvPr/>
        </p:nvGrpSpPr>
        <p:grpSpPr bwMode="auto">
          <a:xfrm>
            <a:off x="5259388" y="2535238"/>
            <a:ext cx="257175" cy="317500"/>
            <a:chOff x="722" y="2126"/>
            <a:chExt cx="141" cy="177"/>
          </a:xfrm>
        </p:grpSpPr>
        <p:sp>
          <p:nvSpPr>
            <p:cNvPr id="27720" name="Oval 68"/>
            <p:cNvSpPr>
              <a:spLocks noChangeArrowheads="1"/>
            </p:cNvSpPr>
            <p:nvPr/>
          </p:nvSpPr>
          <p:spPr bwMode="auto">
            <a:xfrm>
              <a:off x="760" y="2126"/>
              <a:ext cx="65" cy="58"/>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21" name="Line 69"/>
            <p:cNvSpPr>
              <a:spLocks noChangeShapeType="1"/>
            </p:cNvSpPr>
            <p:nvPr/>
          </p:nvSpPr>
          <p:spPr bwMode="auto">
            <a:xfrm>
              <a:off x="793" y="2185"/>
              <a:ext cx="1" cy="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2" name="Line 70"/>
            <p:cNvSpPr>
              <a:spLocks noChangeShapeType="1"/>
            </p:cNvSpPr>
            <p:nvPr/>
          </p:nvSpPr>
          <p:spPr bwMode="auto">
            <a:xfrm>
              <a:off x="742" y="2200"/>
              <a:ext cx="102"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3" name="Freeform 71"/>
            <p:cNvSpPr>
              <a:spLocks/>
            </p:cNvSpPr>
            <p:nvPr/>
          </p:nvSpPr>
          <p:spPr bwMode="auto">
            <a:xfrm>
              <a:off x="722" y="2239"/>
              <a:ext cx="141" cy="64"/>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76" name="Rectangle 72"/>
          <p:cNvSpPr>
            <a:spLocks noChangeArrowheads="1"/>
          </p:cNvSpPr>
          <p:nvPr/>
        </p:nvSpPr>
        <p:spPr bwMode="auto">
          <a:xfrm>
            <a:off x="5043488" y="2928938"/>
            <a:ext cx="611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rgbClr val="FFFFFF"/>
                </a:solidFill>
                <a:latin typeface="Arial" pitchFamily="34" charset="0"/>
              </a:rPr>
              <a:t>Actor 1</a:t>
            </a:r>
            <a:endParaRPr lang="en-US" sz="2400">
              <a:solidFill>
                <a:schemeClr val="tx1"/>
              </a:solidFill>
            </a:endParaRPr>
          </a:p>
        </p:txBody>
      </p:sp>
      <p:sp>
        <p:nvSpPr>
          <p:cNvPr id="27677" name="Oval 73"/>
          <p:cNvSpPr>
            <a:spLocks noChangeArrowheads="1"/>
          </p:cNvSpPr>
          <p:nvPr/>
        </p:nvSpPr>
        <p:spPr bwMode="auto">
          <a:xfrm>
            <a:off x="5327650" y="2535238"/>
            <a:ext cx="119063" cy="103187"/>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78" name="Line 74"/>
          <p:cNvSpPr>
            <a:spLocks noChangeShapeType="1"/>
          </p:cNvSpPr>
          <p:nvPr/>
        </p:nvSpPr>
        <p:spPr bwMode="auto">
          <a:xfrm>
            <a:off x="5387975" y="2640013"/>
            <a:ext cx="3175" cy="96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9" name="Line 75"/>
          <p:cNvSpPr>
            <a:spLocks noChangeShapeType="1"/>
          </p:cNvSpPr>
          <p:nvPr/>
        </p:nvSpPr>
        <p:spPr bwMode="auto">
          <a:xfrm>
            <a:off x="5295900" y="2667000"/>
            <a:ext cx="185738"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0" name="Freeform 76"/>
          <p:cNvSpPr>
            <a:spLocks/>
          </p:cNvSpPr>
          <p:nvPr/>
        </p:nvSpPr>
        <p:spPr bwMode="auto">
          <a:xfrm>
            <a:off x="5259388" y="2736850"/>
            <a:ext cx="257175" cy="115888"/>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81" name="Oval 77"/>
          <p:cNvSpPr>
            <a:spLocks noChangeArrowheads="1"/>
          </p:cNvSpPr>
          <p:nvPr/>
        </p:nvSpPr>
        <p:spPr bwMode="auto">
          <a:xfrm>
            <a:off x="5327650" y="2535238"/>
            <a:ext cx="119063" cy="103187"/>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82" name="Line 78"/>
          <p:cNvSpPr>
            <a:spLocks noChangeShapeType="1"/>
          </p:cNvSpPr>
          <p:nvPr/>
        </p:nvSpPr>
        <p:spPr bwMode="auto">
          <a:xfrm>
            <a:off x="5387975" y="2640013"/>
            <a:ext cx="3175" cy="96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3" name="Line 79"/>
          <p:cNvSpPr>
            <a:spLocks noChangeShapeType="1"/>
          </p:cNvSpPr>
          <p:nvPr/>
        </p:nvSpPr>
        <p:spPr bwMode="auto">
          <a:xfrm>
            <a:off x="5295900" y="2667000"/>
            <a:ext cx="185738"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4" name="Freeform 80"/>
          <p:cNvSpPr>
            <a:spLocks/>
          </p:cNvSpPr>
          <p:nvPr/>
        </p:nvSpPr>
        <p:spPr bwMode="auto">
          <a:xfrm>
            <a:off x="5259388" y="2736850"/>
            <a:ext cx="257175" cy="115888"/>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85" name="Rectangle 81"/>
          <p:cNvSpPr>
            <a:spLocks noChangeArrowheads="1"/>
          </p:cNvSpPr>
          <p:nvPr/>
        </p:nvSpPr>
        <p:spPr bwMode="auto">
          <a:xfrm>
            <a:off x="5043488" y="2928938"/>
            <a:ext cx="611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chemeClr val="tx1"/>
                </a:solidFill>
                <a:latin typeface="Arial" pitchFamily="34" charset="0"/>
              </a:rPr>
              <a:t>Actor 1</a:t>
            </a:r>
            <a:endParaRPr lang="en-US" sz="2400">
              <a:solidFill>
                <a:schemeClr val="tx1"/>
              </a:solidFill>
            </a:endParaRPr>
          </a:p>
        </p:txBody>
      </p:sp>
      <p:grpSp>
        <p:nvGrpSpPr>
          <p:cNvPr id="27686" name="Group 82"/>
          <p:cNvGrpSpPr>
            <a:grpSpLocks/>
          </p:cNvGrpSpPr>
          <p:nvPr/>
        </p:nvGrpSpPr>
        <p:grpSpPr bwMode="auto">
          <a:xfrm>
            <a:off x="8305800" y="2898775"/>
            <a:ext cx="257175" cy="320675"/>
            <a:chOff x="2390" y="2329"/>
            <a:chExt cx="141" cy="179"/>
          </a:xfrm>
        </p:grpSpPr>
        <p:sp>
          <p:nvSpPr>
            <p:cNvPr id="27716" name="Oval 83"/>
            <p:cNvSpPr>
              <a:spLocks noChangeArrowheads="1"/>
            </p:cNvSpPr>
            <p:nvPr/>
          </p:nvSpPr>
          <p:spPr bwMode="auto">
            <a:xfrm>
              <a:off x="2428" y="2329"/>
              <a:ext cx="65" cy="59"/>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17" name="Line 84"/>
            <p:cNvSpPr>
              <a:spLocks noChangeShapeType="1"/>
            </p:cNvSpPr>
            <p:nvPr/>
          </p:nvSpPr>
          <p:spPr bwMode="auto">
            <a:xfrm>
              <a:off x="2461" y="2388"/>
              <a:ext cx="1" cy="5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8" name="Line 85"/>
            <p:cNvSpPr>
              <a:spLocks noChangeShapeType="1"/>
            </p:cNvSpPr>
            <p:nvPr/>
          </p:nvSpPr>
          <p:spPr bwMode="auto">
            <a:xfrm>
              <a:off x="2410" y="2404"/>
              <a:ext cx="102"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9" name="Freeform 86"/>
            <p:cNvSpPr>
              <a:spLocks/>
            </p:cNvSpPr>
            <p:nvPr/>
          </p:nvSpPr>
          <p:spPr bwMode="auto">
            <a:xfrm>
              <a:off x="2390" y="2443"/>
              <a:ext cx="141" cy="65"/>
            </a:xfrm>
            <a:custGeom>
              <a:avLst/>
              <a:gdLst>
                <a:gd name="T0" fmla="*/ 0 w 141"/>
                <a:gd name="T1" fmla="*/ 65 h 65"/>
                <a:gd name="T2" fmla="*/ 71 w 141"/>
                <a:gd name="T3" fmla="*/ 0 h 65"/>
                <a:gd name="T4" fmla="*/ 141 w 141"/>
                <a:gd name="T5" fmla="*/ 65 h 65"/>
                <a:gd name="T6" fmla="*/ 0 60000 65536"/>
                <a:gd name="T7" fmla="*/ 0 60000 65536"/>
                <a:gd name="T8" fmla="*/ 0 60000 65536"/>
                <a:gd name="T9" fmla="*/ 0 w 141"/>
                <a:gd name="T10" fmla="*/ 0 h 65"/>
                <a:gd name="T11" fmla="*/ 141 w 141"/>
                <a:gd name="T12" fmla="*/ 65 h 65"/>
              </a:gdLst>
              <a:ahLst/>
              <a:cxnLst>
                <a:cxn ang="T6">
                  <a:pos x="T0" y="T1"/>
                </a:cxn>
                <a:cxn ang="T7">
                  <a:pos x="T2" y="T3"/>
                </a:cxn>
                <a:cxn ang="T8">
                  <a:pos x="T4" y="T5"/>
                </a:cxn>
              </a:cxnLst>
              <a:rect l="T9" t="T10" r="T11" b="T12"/>
              <a:pathLst>
                <a:path w="141" h="65">
                  <a:moveTo>
                    <a:pt x="0" y="65"/>
                  </a:moveTo>
                  <a:lnTo>
                    <a:pt x="71" y="0"/>
                  </a:lnTo>
                  <a:lnTo>
                    <a:pt x="141" y="65"/>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87" name="Oval 87"/>
          <p:cNvSpPr>
            <a:spLocks noChangeArrowheads="1"/>
          </p:cNvSpPr>
          <p:nvPr/>
        </p:nvSpPr>
        <p:spPr bwMode="auto">
          <a:xfrm>
            <a:off x="8374063" y="2898775"/>
            <a:ext cx="119062" cy="106363"/>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88" name="Line 88"/>
          <p:cNvSpPr>
            <a:spLocks noChangeShapeType="1"/>
          </p:cNvSpPr>
          <p:nvPr/>
        </p:nvSpPr>
        <p:spPr bwMode="auto">
          <a:xfrm>
            <a:off x="8434388" y="3005138"/>
            <a:ext cx="1587" cy="9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9" name="Line 89"/>
          <p:cNvSpPr>
            <a:spLocks noChangeShapeType="1"/>
          </p:cNvSpPr>
          <p:nvPr/>
        </p:nvSpPr>
        <p:spPr bwMode="auto">
          <a:xfrm>
            <a:off x="8342313" y="3033713"/>
            <a:ext cx="185737"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0" name="Freeform 90"/>
          <p:cNvSpPr>
            <a:spLocks/>
          </p:cNvSpPr>
          <p:nvPr/>
        </p:nvSpPr>
        <p:spPr bwMode="auto">
          <a:xfrm>
            <a:off x="8305800" y="3103563"/>
            <a:ext cx="257175" cy="115887"/>
          </a:xfrm>
          <a:custGeom>
            <a:avLst/>
            <a:gdLst>
              <a:gd name="T0" fmla="*/ 0 w 141"/>
              <a:gd name="T1" fmla="*/ 65 h 65"/>
              <a:gd name="T2" fmla="*/ 71 w 141"/>
              <a:gd name="T3" fmla="*/ 0 h 65"/>
              <a:gd name="T4" fmla="*/ 141 w 141"/>
              <a:gd name="T5" fmla="*/ 65 h 65"/>
              <a:gd name="T6" fmla="*/ 0 60000 65536"/>
              <a:gd name="T7" fmla="*/ 0 60000 65536"/>
              <a:gd name="T8" fmla="*/ 0 60000 65536"/>
              <a:gd name="T9" fmla="*/ 0 w 141"/>
              <a:gd name="T10" fmla="*/ 0 h 65"/>
              <a:gd name="T11" fmla="*/ 141 w 141"/>
              <a:gd name="T12" fmla="*/ 65 h 65"/>
            </a:gdLst>
            <a:ahLst/>
            <a:cxnLst>
              <a:cxn ang="T6">
                <a:pos x="T0" y="T1"/>
              </a:cxn>
              <a:cxn ang="T7">
                <a:pos x="T2" y="T3"/>
              </a:cxn>
              <a:cxn ang="T8">
                <a:pos x="T4" y="T5"/>
              </a:cxn>
            </a:cxnLst>
            <a:rect l="T9" t="T10" r="T11" b="T12"/>
            <a:pathLst>
              <a:path w="141" h="65">
                <a:moveTo>
                  <a:pt x="0" y="65"/>
                </a:moveTo>
                <a:lnTo>
                  <a:pt x="71" y="0"/>
                </a:lnTo>
                <a:lnTo>
                  <a:pt x="141" y="65"/>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91" name="Oval 91"/>
          <p:cNvSpPr>
            <a:spLocks noChangeArrowheads="1"/>
          </p:cNvSpPr>
          <p:nvPr/>
        </p:nvSpPr>
        <p:spPr bwMode="auto">
          <a:xfrm>
            <a:off x="8374063" y="2898775"/>
            <a:ext cx="119062" cy="106363"/>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92" name="Line 92"/>
          <p:cNvSpPr>
            <a:spLocks noChangeShapeType="1"/>
          </p:cNvSpPr>
          <p:nvPr/>
        </p:nvSpPr>
        <p:spPr bwMode="auto">
          <a:xfrm>
            <a:off x="8434388" y="3005138"/>
            <a:ext cx="1587" cy="9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3" name="Line 93"/>
          <p:cNvSpPr>
            <a:spLocks noChangeShapeType="1"/>
          </p:cNvSpPr>
          <p:nvPr/>
        </p:nvSpPr>
        <p:spPr bwMode="auto">
          <a:xfrm>
            <a:off x="8342313" y="3033713"/>
            <a:ext cx="185737"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4" name="Freeform 94"/>
          <p:cNvSpPr>
            <a:spLocks/>
          </p:cNvSpPr>
          <p:nvPr/>
        </p:nvSpPr>
        <p:spPr bwMode="auto">
          <a:xfrm>
            <a:off x="8305800" y="3103563"/>
            <a:ext cx="257175" cy="115887"/>
          </a:xfrm>
          <a:custGeom>
            <a:avLst/>
            <a:gdLst>
              <a:gd name="T0" fmla="*/ 0 w 141"/>
              <a:gd name="T1" fmla="*/ 65 h 65"/>
              <a:gd name="T2" fmla="*/ 71 w 141"/>
              <a:gd name="T3" fmla="*/ 0 h 65"/>
              <a:gd name="T4" fmla="*/ 141 w 141"/>
              <a:gd name="T5" fmla="*/ 65 h 65"/>
              <a:gd name="T6" fmla="*/ 0 60000 65536"/>
              <a:gd name="T7" fmla="*/ 0 60000 65536"/>
              <a:gd name="T8" fmla="*/ 0 60000 65536"/>
              <a:gd name="T9" fmla="*/ 0 w 141"/>
              <a:gd name="T10" fmla="*/ 0 h 65"/>
              <a:gd name="T11" fmla="*/ 141 w 141"/>
              <a:gd name="T12" fmla="*/ 65 h 65"/>
            </a:gdLst>
            <a:ahLst/>
            <a:cxnLst>
              <a:cxn ang="T6">
                <a:pos x="T0" y="T1"/>
              </a:cxn>
              <a:cxn ang="T7">
                <a:pos x="T2" y="T3"/>
              </a:cxn>
              <a:cxn ang="T8">
                <a:pos x="T4" y="T5"/>
              </a:cxn>
            </a:cxnLst>
            <a:rect l="T9" t="T10" r="T11" b="T12"/>
            <a:pathLst>
              <a:path w="141" h="65">
                <a:moveTo>
                  <a:pt x="0" y="65"/>
                </a:moveTo>
                <a:lnTo>
                  <a:pt x="71" y="0"/>
                </a:lnTo>
                <a:lnTo>
                  <a:pt x="141" y="65"/>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7695" name="Group 95"/>
          <p:cNvGrpSpPr>
            <a:grpSpLocks/>
          </p:cNvGrpSpPr>
          <p:nvPr/>
        </p:nvGrpSpPr>
        <p:grpSpPr bwMode="auto">
          <a:xfrm>
            <a:off x="8288338" y="3708400"/>
            <a:ext cx="257175" cy="319088"/>
            <a:chOff x="2381" y="2781"/>
            <a:chExt cx="141" cy="178"/>
          </a:xfrm>
        </p:grpSpPr>
        <p:sp>
          <p:nvSpPr>
            <p:cNvPr id="27712" name="Oval 96"/>
            <p:cNvSpPr>
              <a:spLocks noChangeArrowheads="1"/>
            </p:cNvSpPr>
            <p:nvPr/>
          </p:nvSpPr>
          <p:spPr bwMode="auto">
            <a:xfrm>
              <a:off x="2419" y="2781"/>
              <a:ext cx="65" cy="59"/>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13" name="Line 97"/>
            <p:cNvSpPr>
              <a:spLocks noChangeShapeType="1"/>
            </p:cNvSpPr>
            <p:nvPr/>
          </p:nvSpPr>
          <p:spPr bwMode="auto">
            <a:xfrm>
              <a:off x="2452" y="2840"/>
              <a:ext cx="1" cy="5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4" name="Line 98"/>
            <p:cNvSpPr>
              <a:spLocks noChangeShapeType="1"/>
            </p:cNvSpPr>
            <p:nvPr/>
          </p:nvSpPr>
          <p:spPr bwMode="auto">
            <a:xfrm>
              <a:off x="2401" y="2855"/>
              <a:ext cx="102"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5" name="Freeform 99"/>
            <p:cNvSpPr>
              <a:spLocks/>
            </p:cNvSpPr>
            <p:nvPr/>
          </p:nvSpPr>
          <p:spPr bwMode="auto">
            <a:xfrm>
              <a:off x="2381" y="2895"/>
              <a:ext cx="141" cy="64"/>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96" name="Rectangle 100"/>
          <p:cNvSpPr>
            <a:spLocks noChangeArrowheads="1"/>
          </p:cNvSpPr>
          <p:nvPr/>
        </p:nvSpPr>
        <p:spPr bwMode="auto">
          <a:xfrm>
            <a:off x="8067675" y="4148138"/>
            <a:ext cx="609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rgbClr val="FFFFFF"/>
                </a:solidFill>
                <a:latin typeface="Arial" pitchFamily="34" charset="0"/>
              </a:rPr>
              <a:t>Actor 3</a:t>
            </a:r>
            <a:endParaRPr lang="en-US" sz="2400">
              <a:solidFill>
                <a:schemeClr val="tx1"/>
              </a:solidFill>
            </a:endParaRPr>
          </a:p>
        </p:txBody>
      </p:sp>
      <p:sp>
        <p:nvSpPr>
          <p:cNvPr id="27697" name="Oval 101"/>
          <p:cNvSpPr>
            <a:spLocks noChangeArrowheads="1"/>
          </p:cNvSpPr>
          <p:nvPr/>
        </p:nvSpPr>
        <p:spPr bwMode="auto">
          <a:xfrm>
            <a:off x="8358188" y="3708400"/>
            <a:ext cx="119062" cy="106363"/>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98" name="Line 102"/>
          <p:cNvSpPr>
            <a:spLocks noChangeShapeType="1"/>
          </p:cNvSpPr>
          <p:nvPr/>
        </p:nvSpPr>
        <p:spPr bwMode="auto">
          <a:xfrm>
            <a:off x="8418513" y="3814763"/>
            <a:ext cx="1587" cy="9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9" name="Line 103"/>
          <p:cNvSpPr>
            <a:spLocks noChangeShapeType="1"/>
          </p:cNvSpPr>
          <p:nvPr/>
        </p:nvSpPr>
        <p:spPr bwMode="auto">
          <a:xfrm>
            <a:off x="8324850" y="3841750"/>
            <a:ext cx="187325"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0" name="Freeform 104"/>
          <p:cNvSpPr>
            <a:spLocks/>
          </p:cNvSpPr>
          <p:nvPr/>
        </p:nvSpPr>
        <p:spPr bwMode="auto">
          <a:xfrm>
            <a:off x="8288338" y="3913188"/>
            <a:ext cx="257175" cy="114300"/>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01" name="Oval 105"/>
          <p:cNvSpPr>
            <a:spLocks noChangeArrowheads="1"/>
          </p:cNvSpPr>
          <p:nvPr/>
        </p:nvSpPr>
        <p:spPr bwMode="auto">
          <a:xfrm>
            <a:off x="8358188" y="3708400"/>
            <a:ext cx="119062" cy="106363"/>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02" name="Line 106"/>
          <p:cNvSpPr>
            <a:spLocks noChangeShapeType="1"/>
          </p:cNvSpPr>
          <p:nvPr/>
        </p:nvSpPr>
        <p:spPr bwMode="auto">
          <a:xfrm>
            <a:off x="8418513" y="3814763"/>
            <a:ext cx="1587" cy="9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3" name="Line 107"/>
          <p:cNvSpPr>
            <a:spLocks noChangeShapeType="1"/>
          </p:cNvSpPr>
          <p:nvPr/>
        </p:nvSpPr>
        <p:spPr bwMode="auto">
          <a:xfrm>
            <a:off x="8324850" y="3841750"/>
            <a:ext cx="187325"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4" name="Freeform 108"/>
          <p:cNvSpPr>
            <a:spLocks/>
          </p:cNvSpPr>
          <p:nvPr/>
        </p:nvSpPr>
        <p:spPr bwMode="auto">
          <a:xfrm>
            <a:off x="8288338" y="3913188"/>
            <a:ext cx="257175" cy="114300"/>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05" name="Rectangle 109"/>
          <p:cNvSpPr>
            <a:spLocks noChangeArrowheads="1"/>
          </p:cNvSpPr>
          <p:nvPr/>
        </p:nvSpPr>
        <p:spPr bwMode="auto">
          <a:xfrm>
            <a:off x="8067675" y="4148138"/>
            <a:ext cx="609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chemeClr val="tx1"/>
                </a:solidFill>
                <a:latin typeface="Arial" pitchFamily="34" charset="0"/>
              </a:rPr>
              <a:t>Actor 3</a:t>
            </a:r>
            <a:endParaRPr lang="en-US" sz="2400">
              <a:solidFill>
                <a:schemeClr val="tx1"/>
              </a:solidFill>
            </a:endParaRPr>
          </a:p>
        </p:txBody>
      </p:sp>
      <p:sp>
        <p:nvSpPr>
          <p:cNvPr id="27706" name="Rectangle 110"/>
          <p:cNvSpPr>
            <a:spLocks noChangeArrowheads="1"/>
          </p:cNvSpPr>
          <p:nvPr/>
        </p:nvSpPr>
        <p:spPr bwMode="auto">
          <a:xfrm>
            <a:off x="8077200" y="3290888"/>
            <a:ext cx="609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chemeClr val="tx1"/>
                </a:solidFill>
                <a:latin typeface="Arial" pitchFamily="34" charset="0"/>
              </a:rPr>
              <a:t>Actor 2</a:t>
            </a:r>
            <a:endParaRPr lang="en-US" sz="2400">
              <a:solidFill>
                <a:schemeClr val="tx1"/>
              </a:solidFill>
            </a:endParaRPr>
          </a:p>
        </p:txBody>
      </p:sp>
      <p:sp>
        <p:nvSpPr>
          <p:cNvPr id="27707" name="Text Box 111"/>
          <p:cNvSpPr txBox="1">
            <a:spLocks noChangeArrowheads="1"/>
          </p:cNvSpPr>
          <p:nvPr/>
        </p:nvSpPr>
        <p:spPr bwMode="auto">
          <a:xfrm>
            <a:off x="5257800" y="1543050"/>
            <a:ext cx="3505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000">
                <a:solidFill>
                  <a:schemeClr val="tx1"/>
                </a:solidFill>
                <a:latin typeface="Arial" pitchFamily="34" charset="0"/>
              </a:rPr>
              <a:t>Use-case diagram</a:t>
            </a:r>
          </a:p>
        </p:txBody>
      </p:sp>
      <p:sp>
        <p:nvSpPr>
          <p:cNvPr id="27708" name="Line 112"/>
          <p:cNvSpPr>
            <a:spLocks noChangeShapeType="1"/>
          </p:cNvSpPr>
          <p:nvPr/>
        </p:nvSpPr>
        <p:spPr bwMode="auto">
          <a:xfrm>
            <a:off x="5562600" y="2686050"/>
            <a:ext cx="83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9" name="Line 113"/>
          <p:cNvSpPr>
            <a:spLocks noChangeShapeType="1"/>
          </p:cNvSpPr>
          <p:nvPr/>
        </p:nvSpPr>
        <p:spPr bwMode="auto">
          <a:xfrm>
            <a:off x="7391400" y="2762250"/>
            <a:ext cx="9144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0" name="Line 114"/>
          <p:cNvSpPr>
            <a:spLocks noChangeShapeType="1"/>
          </p:cNvSpPr>
          <p:nvPr/>
        </p:nvSpPr>
        <p:spPr bwMode="auto">
          <a:xfrm>
            <a:off x="7467600" y="3829050"/>
            <a:ext cx="83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1" name="Line 115"/>
          <p:cNvSpPr>
            <a:spLocks noChangeShapeType="1"/>
          </p:cNvSpPr>
          <p:nvPr/>
        </p:nvSpPr>
        <p:spPr bwMode="auto">
          <a:xfrm flipV="1">
            <a:off x="7391400" y="3143250"/>
            <a:ext cx="8382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17</a:t>
            </a:fld>
            <a:endParaRPr lang="en-US"/>
          </a:p>
        </p:txBody>
      </p:sp>
    </p:spTree>
    <p:extLst>
      <p:ext uri="{BB962C8B-B14F-4D97-AF65-F5344CB8AC3E}">
        <p14:creationId xmlns:p14="http://schemas.microsoft.com/office/powerpoint/2010/main" val="3714413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p:txBody>
          <a:bodyPr/>
          <a:lstStyle/>
          <a:p>
            <a:pPr eaLnBrk="1" hangingPunct="1">
              <a:defRPr/>
            </a:pPr>
            <a:r>
              <a:rPr lang="en-US" sz="2800" dirty="0"/>
              <a:t>Use cases drive software development</a:t>
            </a:r>
          </a:p>
        </p:txBody>
      </p:sp>
      <p:sp>
        <p:nvSpPr>
          <p:cNvPr id="28678" name="Line 3"/>
          <p:cNvSpPr>
            <a:spLocks noChangeShapeType="1"/>
          </p:cNvSpPr>
          <p:nvPr/>
        </p:nvSpPr>
        <p:spPr bwMode="auto">
          <a:xfrm flipH="1">
            <a:off x="1828800" y="2679700"/>
            <a:ext cx="1447800" cy="1017588"/>
          </a:xfrm>
          <a:prstGeom prst="line">
            <a:avLst/>
          </a:prstGeom>
          <a:noFill/>
          <a:ln w="5715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8679" name="Line 4"/>
          <p:cNvSpPr>
            <a:spLocks noChangeShapeType="1"/>
          </p:cNvSpPr>
          <p:nvPr/>
        </p:nvSpPr>
        <p:spPr bwMode="auto">
          <a:xfrm>
            <a:off x="5638800" y="2679700"/>
            <a:ext cx="1371600" cy="990600"/>
          </a:xfrm>
          <a:prstGeom prst="line">
            <a:avLst/>
          </a:prstGeom>
          <a:noFill/>
          <a:ln w="5715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8680" name="Rectangle 5"/>
          <p:cNvSpPr>
            <a:spLocks noChangeArrowheads="1"/>
          </p:cNvSpPr>
          <p:nvPr/>
        </p:nvSpPr>
        <p:spPr bwMode="auto">
          <a:xfrm>
            <a:off x="6346825" y="2832100"/>
            <a:ext cx="1285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defTabSz="387350" eaLnBrk="0" hangingPunct="0"/>
            <a:r>
              <a:rPr lang="en-US" sz="1800" b="1">
                <a:solidFill>
                  <a:schemeClr val="tx1"/>
                </a:solidFill>
                <a:latin typeface="Arial" pitchFamily="34" charset="0"/>
              </a:rPr>
              <a:t>Verified by</a:t>
            </a:r>
          </a:p>
        </p:txBody>
      </p:sp>
      <p:sp>
        <p:nvSpPr>
          <p:cNvPr id="28681" name="Rectangle 6"/>
          <p:cNvSpPr>
            <a:spLocks noChangeArrowheads="1"/>
          </p:cNvSpPr>
          <p:nvPr/>
        </p:nvSpPr>
        <p:spPr bwMode="auto">
          <a:xfrm>
            <a:off x="1143000" y="2832100"/>
            <a:ext cx="1374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defTabSz="387350" eaLnBrk="0" hangingPunct="0"/>
            <a:r>
              <a:rPr lang="en-US" sz="1800" b="1">
                <a:solidFill>
                  <a:schemeClr val="tx1"/>
                </a:solidFill>
                <a:latin typeface="Arial" pitchFamily="34" charset="0"/>
              </a:rPr>
              <a:t>Realized by</a:t>
            </a:r>
          </a:p>
        </p:txBody>
      </p:sp>
      <p:sp>
        <p:nvSpPr>
          <p:cNvPr id="28682" name="Line 7"/>
          <p:cNvSpPr>
            <a:spLocks noChangeShapeType="1"/>
          </p:cNvSpPr>
          <p:nvPr/>
        </p:nvSpPr>
        <p:spPr bwMode="auto">
          <a:xfrm>
            <a:off x="2438400" y="4889500"/>
            <a:ext cx="914400" cy="0"/>
          </a:xfrm>
          <a:prstGeom prst="line">
            <a:avLst/>
          </a:prstGeom>
          <a:noFill/>
          <a:ln w="5715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83" name="Line 8"/>
          <p:cNvSpPr>
            <a:spLocks noChangeShapeType="1"/>
          </p:cNvSpPr>
          <p:nvPr/>
        </p:nvSpPr>
        <p:spPr bwMode="auto">
          <a:xfrm>
            <a:off x="5715000" y="4889500"/>
            <a:ext cx="914400" cy="0"/>
          </a:xfrm>
          <a:prstGeom prst="line">
            <a:avLst/>
          </a:prstGeom>
          <a:noFill/>
          <a:ln w="5715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684" name="Line 9"/>
          <p:cNvSpPr>
            <a:spLocks noChangeShapeType="1"/>
          </p:cNvSpPr>
          <p:nvPr/>
        </p:nvSpPr>
        <p:spPr bwMode="auto">
          <a:xfrm>
            <a:off x="4648200" y="2755900"/>
            <a:ext cx="0" cy="1536700"/>
          </a:xfrm>
          <a:prstGeom prst="line">
            <a:avLst/>
          </a:prstGeom>
          <a:noFill/>
          <a:ln w="5715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8685" name="Rectangle 10"/>
          <p:cNvSpPr>
            <a:spLocks noChangeArrowheads="1"/>
          </p:cNvSpPr>
          <p:nvPr/>
        </p:nvSpPr>
        <p:spPr bwMode="auto">
          <a:xfrm>
            <a:off x="3079750" y="3289300"/>
            <a:ext cx="15271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algn="ctr" defTabSz="387350" eaLnBrk="0" hangingPunct="0"/>
            <a:r>
              <a:rPr lang="en-US" sz="1800" b="1">
                <a:solidFill>
                  <a:schemeClr val="tx1"/>
                </a:solidFill>
                <a:latin typeface="Arial" pitchFamily="34" charset="0"/>
              </a:rPr>
              <a:t>Implemented</a:t>
            </a:r>
          </a:p>
          <a:p>
            <a:pPr algn="ctr" defTabSz="387350" eaLnBrk="0" hangingPunct="0"/>
            <a:r>
              <a:rPr lang="en-US" sz="1800" b="1">
                <a:solidFill>
                  <a:schemeClr val="tx1"/>
                </a:solidFill>
                <a:latin typeface="Arial" pitchFamily="34" charset="0"/>
              </a:rPr>
              <a:t> by</a:t>
            </a:r>
          </a:p>
        </p:txBody>
      </p:sp>
      <p:sp>
        <p:nvSpPr>
          <p:cNvPr id="28686" name="Rectangle 11"/>
          <p:cNvSpPr>
            <a:spLocks noChangeArrowheads="1"/>
          </p:cNvSpPr>
          <p:nvPr/>
        </p:nvSpPr>
        <p:spPr bwMode="auto">
          <a:xfrm>
            <a:off x="3581400" y="6184900"/>
            <a:ext cx="19224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algn="ctr" defTabSz="387350" eaLnBrk="0" hangingPunct="0"/>
            <a:r>
              <a:rPr lang="en-US" sz="2000">
                <a:solidFill>
                  <a:schemeClr val="tx1"/>
                </a:solidFill>
                <a:latin typeface="Arial" pitchFamily="34" charset="0"/>
              </a:rPr>
              <a:t>Implementation </a:t>
            </a:r>
          </a:p>
          <a:p>
            <a:pPr algn="ctr" defTabSz="387350" eaLnBrk="0" hangingPunct="0"/>
            <a:r>
              <a:rPr lang="en-US" sz="2000">
                <a:solidFill>
                  <a:schemeClr val="tx1"/>
                </a:solidFill>
                <a:latin typeface="Arial" pitchFamily="34" charset="0"/>
              </a:rPr>
              <a:t>Model</a:t>
            </a:r>
          </a:p>
        </p:txBody>
      </p:sp>
      <p:grpSp>
        <p:nvGrpSpPr>
          <p:cNvPr id="28687" name="Group 12"/>
          <p:cNvGrpSpPr>
            <a:grpSpLocks/>
          </p:cNvGrpSpPr>
          <p:nvPr/>
        </p:nvGrpSpPr>
        <p:grpSpPr bwMode="auto">
          <a:xfrm>
            <a:off x="3475038" y="4543425"/>
            <a:ext cx="2127250" cy="1598613"/>
            <a:chOff x="2189" y="2662"/>
            <a:chExt cx="1340" cy="1007"/>
          </a:xfrm>
        </p:grpSpPr>
        <p:sp>
          <p:nvSpPr>
            <p:cNvPr id="28908" name="Line 13"/>
            <p:cNvSpPr>
              <a:spLocks noChangeShapeType="1"/>
            </p:cNvSpPr>
            <p:nvPr/>
          </p:nvSpPr>
          <p:spPr bwMode="auto">
            <a:xfrm flipV="1">
              <a:off x="2537" y="2819"/>
              <a:ext cx="325" cy="156"/>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9" name="Line 14"/>
            <p:cNvSpPr>
              <a:spLocks noChangeShapeType="1"/>
            </p:cNvSpPr>
            <p:nvPr/>
          </p:nvSpPr>
          <p:spPr bwMode="auto">
            <a:xfrm flipH="1">
              <a:off x="2902" y="3009"/>
              <a:ext cx="68" cy="374"/>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10" name="Line 15"/>
            <p:cNvSpPr>
              <a:spLocks noChangeShapeType="1"/>
            </p:cNvSpPr>
            <p:nvPr/>
          </p:nvSpPr>
          <p:spPr bwMode="auto">
            <a:xfrm>
              <a:off x="2514" y="3193"/>
              <a:ext cx="211" cy="190"/>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11" name="Line 16"/>
            <p:cNvSpPr>
              <a:spLocks noChangeShapeType="1"/>
            </p:cNvSpPr>
            <p:nvPr/>
          </p:nvSpPr>
          <p:spPr bwMode="auto">
            <a:xfrm flipV="1">
              <a:off x="3027" y="3397"/>
              <a:ext cx="246" cy="136"/>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12" name="Rectangle 17"/>
            <p:cNvSpPr>
              <a:spLocks noChangeArrowheads="1"/>
            </p:cNvSpPr>
            <p:nvPr/>
          </p:nvSpPr>
          <p:spPr bwMode="auto">
            <a:xfrm>
              <a:off x="3330" y="3131"/>
              <a:ext cx="199" cy="211"/>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13" name="Rectangle 18"/>
            <p:cNvSpPr>
              <a:spLocks noChangeArrowheads="1"/>
            </p:cNvSpPr>
            <p:nvPr/>
          </p:nvSpPr>
          <p:spPr bwMode="auto">
            <a:xfrm>
              <a:off x="3330" y="3131"/>
              <a:ext cx="199" cy="211"/>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14" name="Freeform 19"/>
            <p:cNvSpPr>
              <a:spLocks/>
            </p:cNvSpPr>
            <p:nvPr/>
          </p:nvSpPr>
          <p:spPr bwMode="auto">
            <a:xfrm>
              <a:off x="3267" y="3213"/>
              <a:ext cx="137" cy="34"/>
            </a:xfrm>
            <a:custGeom>
              <a:avLst/>
              <a:gdLst>
                <a:gd name="T0" fmla="*/ 68 w 137"/>
                <a:gd name="T1" fmla="*/ 0 h 34"/>
                <a:gd name="T2" fmla="*/ 74 w 137"/>
                <a:gd name="T3" fmla="*/ 0 h 34"/>
                <a:gd name="T4" fmla="*/ 80 w 137"/>
                <a:gd name="T5" fmla="*/ 0 h 34"/>
                <a:gd name="T6" fmla="*/ 85 w 137"/>
                <a:gd name="T7" fmla="*/ 0 h 34"/>
                <a:gd name="T8" fmla="*/ 91 w 137"/>
                <a:gd name="T9" fmla="*/ 0 h 34"/>
                <a:gd name="T10" fmla="*/ 97 w 137"/>
                <a:gd name="T11" fmla="*/ 0 h 34"/>
                <a:gd name="T12" fmla="*/ 102 w 137"/>
                <a:gd name="T13" fmla="*/ 0 h 34"/>
                <a:gd name="T14" fmla="*/ 102 w 137"/>
                <a:gd name="T15" fmla="*/ 7 h 34"/>
                <a:gd name="T16" fmla="*/ 108 w 137"/>
                <a:gd name="T17" fmla="*/ 7 h 34"/>
                <a:gd name="T18" fmla="*/ 114 w 137"/>
                <a:gd name="T19" fmla="*/ 7 h 34"/>
                <a:gd name="T20" fmla="*/ 120 w 137"/>
                <a:gd name="T21" fmla="*/ 7 h 34"/>
                <a:gd name="T22" fmla="*/ 125 w 137"/>
                <a:gd name="T23" fmla="*/ 7 h 34"/>
                <a:gd name="T24" fmla="*/ 131 w 137"/>
                <a:gd name="T25" fmla="*/ 7 h 34"/>
                <a:gd name="T26" fmla="*/ 131 w 137"/>
                <a:gd name="T27" fmla="*/ 14 h 34"/>
                <a:gd name="T28" fmla="*/ 137 w 137"/>
                <a:gd name="T29" fmla="*/ 14 h 34"/>
                <a:gd name="T30" fmla="*/ 137 w 137"/>
                <a:gd name="T31" fmla="*/ 21 h 34"/>
                <a:gd name="T32" fmla="*/ 137 w 137"/>
                <a:gd name="T33" fmla="*/ 27 h 34"/>
                <a:gd name="T34" fmla="*/ 131 w 137"/>
                <a:gd name="T35" fmla="*/ 27 h 34"/>
                <a:gd name="T36" fmla="*/ 125 w 137"/>
                <a:gd name="T37" fmla="*/ 27 h 34"/>
                <a:gd name="T38" fmla="*/ 120 w 137"/>
                <a:gd name="T39" fmla="*/ 27 h 34"/>
                <a:gd name="T40" fmla="*/ 120 w 137"/>
                <a:gd name="T41" fmla="*/ 34 h 34"/>
                <a:gd name="T42" fmla="*/ 114 w 137"/>
                <a:gd name="T43" fmla="*/ 34 h 34"/>
                <a:gd name="T44" fmla="*/ 108 w 137"/>
                <a:gd name="T45" fmla="*/ 34 h 34"/>
                <a:gd name="T46" fmla="*/ 102 w 137"/>
                <a:gd name="T47" fmla="*/ 34 h 34"/>
                <a:gd name="T48" fmla="*/ 97 w 137"/>
                <a:gd name="T49" fmla="*/ 34 h 34"/>
                <a:gd name="T50" fmla="*/ 91 w 137"/>
                <a:gd name="T51" fmla="*/ 34 h 34"/>
                <a:gd name="T52" fmla="*/ 85 w 137"/>
                <a:gd name="T53" fmla="*/ 34 h 34"/>
                <a:gd name="T54" fmla="*/ 80 w 137"/>
                <a:gd name="T55" fmla="*/ 34 h 34"/>
                <a:gd name="T56" fmla="*/ 74 w 137"/>
                <a:gd name="T57" fmla="*/ 34 h 34"/>
                <a:gd name="T58" fmla="*/ 68 w 137"/>
                <a:gd name="T59" fmla="*/ 34 h 34"/>
                <a:gd name="T60" fmla="*/ 63 w 137"/>
                <a:gd name="T61" fmla="*/ 34 h 34"/>
                <a:gd name="T62" fmla="*/ 57 w 137"/>
                <a:gd name="T63" fmla="*/ 34 h 34"/>
                <a:gd name="T64" fmla="*/ 51 w 137"/>
                <a:gd name="T65" fmla="*/ 34 h 34"/>
                <a:gd name="T66" fmla="*/ 45 w 137"/>
                <a:gd name="T67" fmla="*/ 34 h 34"/>
                <a:gd name="T68" fmla="*/ 40 w 137"/>
                <a:gd name="T69" fmla="*/ 34 h 34"/>
                <a:gd name="T70" fmla="*/ 34 w 137"/>
                <a:gd name="T71" fmla="*/ 34 h 34"/>
                <a:gd name="T72" fmla="*/ 28 w 137"/>
                <a:gd name="T73" fmla="*/ 34 h 34"/>
                <a:gd name="T74" fmla="*/ 23 w 137"/>
                <a:gd name="T75" fmla="*/ 34 h 34"/>
                <a:gd name="T76" fmla="*/ 17 w 137"/>
                <a:gd name="T77" fmla="*/ 27 h 34"/>
                <a:gd name="T78" fmla="*/ 11 w 137"/>
                <a:gd name="T79" fmla="*/ 27 h 34"/>
                <a:gd name="T80" fmla="*/ 6 w 137"/>
                <a:gd name="T81" fmla="*/ 27 h 34"/>
                <a:gd name="T82" fmla="*/ 6 w 137"/>
                <a:gd name="T83" fmla="*/ 21 h 34"/>
                <a:gd name="T84" fmla="*/ 0 w 137"/>
                <a:gd name="T85" fmla="*/ 21 h 34"/>
                <a:gd name="T86" fmla="*/ 0 w 137"/>
                <a:gd name="T87" fmla="*/ 14 h 34"/>
                <a:gd name="T88" fmla="*/ 6 w 137"/>
                <a:gd name="T89" fmla="*/ 14 h 34"/>
                <a:gd name="T90" fmla="*/ 11 w 137"/>
                <a:gd name="T91" fmla="*/ 14 h 34"/>
                <a:gd name="T92" fmla="*/ 11 w 137"/>
                <a:gd name="T93" fmla="*/ 7 h 34"/>
                <a:gd name="T94" fmla="*/ 17 w 137"/>
                <a:gd name="T95" fmla="*/ 7 h 34"/>
                <a:gd name="T96" fmla="*/ 23 w 137"/>
                <a:gd name="T97" fmla="*/ 7 h 34"/>
                <a:gd name="T98" fmla="*/ 28 w 137"/>
                <a:gd name="T99" fmla="*/ 7 h 34"/>
                <a:gd name="T100" fmla="*/ 34 w 137"/>
                <a:gd name="T101" fmla="*/ 7 h 34"/>
                <a:gd name="T102" fmla="*/ 40 w 137"/>
                <a:gd name="T103" fmla="*/ 0 h 34"/>
                <a:gd name="T104" fmla="*/ 45 w 137"/>
                <a:gd name="T105" fmla="*/ 0 h 34"/>
                <a:gd name="T106" fmla="*/ 51 w 137"/>
                <a:gd name="T107" fmla="*/ 0 h 34"/>
                <a:gd name="T108" fmla="*/ 57 w 137"/>
                <a:gd name="T109" fmla="*/ 0 h 34"/>
                <a:gd name="T110" fmla="*/ 63 w 137"/>
                <a:gd name="T111" fmla="*/ 0 h 34"/>
                <a:gd name="T112" fmla="*/ 68 w 137"/>
                <a:gd name="T113" fmla="*/ 0 h 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7"/>
                <a:gd name="T172" fmla="*/ 0 h 34"/>
                <a:gd name="T173" fmla="*/ 137 w 137"/>
                <a:gd name="T174" fmla="*/ 34 h 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7" h="34">
                  <a:moveTo>
                    <a:pt x="68" y="0"/>
                  </a:moveTo>
                  <a:lnTo>
                    <a:pt x="74" y="0"/>
                  </a:lnTo>
                  <a:lnTo>
                    <a:pt x="80" y="0"/>
                  </a:lnTo>
                  <a:lnTo>
                    <a:pt x="85" y="0"/>
                  </a:lnTo>
                  <a:lnTo>
                    <a:pt x="91" y="0"/>
                  </a:lnTo>
                  <a:lnTo>
                    <a:pt x="97" y="0"/>
                  </a:lnTo>
                  <a:lnTo>
                    <a:pt x="102" y="0"/>
                  </a:lnTo>
                  <a:lnTo>
                    <a:pt x="102" y="7"/>
                  </a:lnTo>
                  <a:lnTo>
                    <a:pt x="108" y="7"/>
                  </a:lnTo>
                  <a:lnTo>
                    <a:pt x="114" y="7"/>
                  </a:lnTo>
                  <a:lnTo>
                    <a:pt x="120" y="7"/>
                  </a:lnTo>
                  <a:lnTo>
                    <a:pt x="125" y="7"/>
                  </a:lnTo>
                  <a:lnTo>
                    <a:pt x="131" y="7"/>
                  </a:lnTo>
                  <a:lnTo>
                    <a:pt x="131" y="14"/>
                  </a:lnTo>
                  <a:lnTo>
                    <a:pt x="137" y="14"/>
                  </a:lnTo>
                  <a:lnTo>
                    <a:pt x="137" y="21"/>
                  </a:lnTo>
                  <a:lnTo>
                    <a:pt x="137" y="27"/>
                  </a:lnTo>
                  <a:lnTo>
                    <a:pt x="131" y="27"/>
                  </a:lnTo>
                  <a:lnTo>
                    <a:pt x="125" y="27"/>
                  </a:lnTo>
                  <a:lnTo>
                    <a:pt x="120" y="27"/>
                  </a:lnTo>
                  <a:lnTo>
                    <a:pt x="120" y="34"/>
                  </a:lnTo>
                  <a:lnTo>
                    <a:pt x="114" y="34"/>
                  </a:lnTo>
                  <a:lnTo>
                    <a:pt x="108" y="34"/>
                  </a:lnTo>
                  <a:lnTo>
                    <a:pt x="102" y="34"/>
                  </a:lnTo>
                  <a:lnTo>
                    <a:pt x="97" y="34"/>
                  </a:lnTo>
                  <a:lnTo>
                    <a:pt x="91" y="34"/>
                  </a:lnTo>
                  <a:lnTo>
                    <a:pt x="85" y="34"/>
                  </a:lnTo>
                  <a:lnTo>
                    <a:pt x="80" y="34"/>
                  </a:lnTo>
                  <a:lnTo>
                    <a:pt x="74" y="34"/>
                  </a:lnTo>
                  <a:lnTo>
                    <a:pt x="68" y="34"/>
                  </a:lnTo>
                  <a:lnTo>
                    <a:pt x="63" y="34"/>
                  </a:lnTo>
                  <a:lnTo>
                    <a:pt x="57" y="34"/>
                  </a:lnTo>
                  <a:lnTo>
                    <a:pt x="51" y="34"/>
                  </a:lnTo>
                  <a:lnTo>
                    <a:pt x="45" y="34"/>
                  </a:lnTo>
                  <a:lnTo>
                    <a:pt x="40" y="34"/>
                  </a:lnTo>
                  <a:lnTo>
                    <a:pt x="34" y="34"/>
                  </a:lnTo>
                  <a:lnTo>
                    <a:pt x="28" y="34"/>
                  </a:lnTo>
                  <a:lnTo>
                    <a:pt x="23" y="34"/>
                  </a:lnTo>
                  <a:lnTo>
                    <a:pt x="17" y="27"/>
                  </a:lnTo>
                  <a:lnTo>
                    <a:pt x="11" y="27"/>
                  </a:lnTo>
                  <a:lnTo>
                    <a:pt x="6" y="27"/>
                  </a:lnTo>
                  <a:lnTo>
                    <a:pt x="6" y="21"/>
                  </a:lnTo>
                  <a:lnTo>
                    <a:pt x="0" y="21"/>
                  </a:lnTo>
                  <a:lnTo>
                    <a:pt x="0" y="14"/>
                  </a:lnTo>
                  <a:lnTo>
                    <a:pt x="6" y="14"/>
                  </a:lnTo>
                  <a:lnTo>
                    <a:pt x="11" y="14"/>
                  </a:lnTo>
                  <a:lnTo>
                    <a:pt x="11" y="7"/>
                  </a:lnTo>
                  <a:lnTo>
                    <a:pt x="17" y="7"/>
                  </a:lnTo>
                  <a:lnTo>
                    <a:pt x="23" y="7"/>
                  </a:lnTo>
                  <a:lnTo>
                    <a:pt x="28" y="7"/>
                  </a:lnTo>
                  <a:lnTo>
                    <a:pt x="34" y="7"/>
                  </a:lnTo>
                  <a:lnTo>
                    <a:pt x="40" y="0"/>
                  </a:lnTo>
                  <a:lnTo>
                    <a:pt x="45" y="0"/>
                  </a:lnTo>
                  <a:lnTo>
                    <a:pt x="51" y="0"/>
                  </a:lnTo>
                  <a:lnTo>
                    <a:pt x="57" y="0"/>
                  </a:lnTo>
                  <a:lnTo>
                    <a:pt x="63"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15" name="Freeform 20"/>
            <p:cNvSpPr>
              <a:spLocks/>
            </p:cNvSpPr>
            <p:nvPr/>
          </p:nvSpPr>
          <p:spPr bwMode="auto">
            <a:xfrm>
              <a:off x="3267" y="3213"/>
              <a:ext cx="137" cy="34"/>
            </a:xfrm>
            <a:custGeom>
              <a:avLst/>
              <a:gdLst>
                <a:gd name="T0" fmla="*/ 68 w 137"/>
                <a:gd name="T1" fmla="*/ 0 h 34"/>
                <a:gd name="T2" fmla="*/ 97 w 137"/>
                <a:gd name="T3" fmla="*/ 0 h 34"/>
                <a:gd name="T4" fmla="*/ 120 w 137"/>
                <a:gd name="T5" fmla="*/ 7 h 34"/>
                <a:gd name="T6" fmla="*/ 131 w 137"/>
                <a:gd name="T7" fmla="*/ 14 h 34"/>
                <a:gd name="T8" fmla="*/ 137 w 137"/>
                <a:gd name="T9" fmla="*/ 21 h 34"/>
                <a:gd name="T10" fmla="*/ 131 w 137"/>
                <a:gd name="T11" fmla="*/ 27 h 34"/>
                <a:gd name="T12" fmla="*/ 120 w 137"/>
                <a:gd name="T13" fmla="*/ 34 h 34"/>
                <a:gd name="T14" fmla="*/ 97 w 137"/>
                <a:gd name="T15" fmla="*/ 34 h 34"/>
                <a:gd name="T16" fmla="*/ 68 w 137"/>
                <a:gd name="T17" fmla="*/ 34 h 34"/>
                <a:gd name="T18" fmla="*/ 45 w 137"/>
                <a:gd name="T19" fmla="*/ 34 h 34"/>
                <a:gd name="T20" fmla="*/ 23 w 137"/>
                <a:gd name="T21" fmla="*/ 34 h 34"/>
                <a:gd name="T22" fmla="*/ 6 w 137"/>
                <a:gd name="T23" fmla="*/ 27 h 34"/>
                <a:gd name="T24" fmla="*/ 0 w 137"/>
                <a:gd name="T25" fmla="*/ 21 h 34"/>
                <a:gd name="T26" fmla="*/ 6 w 137"/>
                <a:gd name="T27" fmla="*/ 14 h 34"/>
                <a:gd name="T28" fmla="*/ 23 w 137"/>
                <a:gd name="T29" fmla="*/ 7 h 34"/>
                <a:gd name="T30" fmla="*/ 45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20" y="7"/>
                  </a:lnTo>
                  <a:lnTo>
                    <a:pt x="131" y="14"/>
                  </a:lnTo>
                  <a:lnTo>
                    <a:pt x="137" y="21"/>
                  </a:lnTo>
                  <a:lnTo>
                    <a:pt x="131" y="27"/>
                  </a:lnTo>
                  <a:lnTo>
                    <a:pt x="120" y="34"/>
                  </a:lnTo>
                  <a:lnTo>
                    <a:pt x="97" y="34"/>
                  </a:lnTo>
                  <a:lnTo>
                    <a:pt x="68" y="34"/>
                  </a:lnTo>
                  <a:lnTo>
                    <a:pt x="45" y="34"/>
                  </a:lnTo>
                  <a:lnTo>
                    <a:pt x="23" y="34"/>
                  </a:lnTo>
                  <a:lnTo>
                    <a:pt x="6" y="27"/>
                  </a:lnTo>
                  <a:lnTo>
                    <a:pt x="0" y="21"/>
                  </a:lnTo>
                  <a:lnTo>
                    <a:pt x="6" y="14"/>
                  </a:lnTo>
                  <a:lnTo>
                    <a:pt x="23" y="7"/>
                  </a:lnTo>
                  <a:lnTo>
                    <a:pt x="45"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16" name="Freeform 21"/>
            <p:cNvSpPr>
              <a:spLocks/>
            </p:cNvSpPr>
            <p:nvPr/>
          </p:nvSpPr>
          <p:spPr bwMode="auto">
            <a:xfrm>
              <a:off x="3267" y="3281"/>
              <a:ext cx="137" cy="34"/>
            </a:xfrm>
            <a:custGeom>
              <a:avLst/>
              <a:gdLst>
                <a:gd name="T0" fmla="*/ 68 w 137"/>
                <a:gd name="T1" fmla="*/ 0 h 34"/>
                <a:gd name="T2" fmla="*/ 74 w 137"/>
                <a:gd name="T3" fmla="*/ 0 h 34"/>
                <a:gd name="T4" fmla="*/ 80 w 137"/>
                <a:gd name="T5" fmla="*/ 0 h 34"/>
                <a:gd name="T6" fmla="*/ 85 w 137"/>
                <a:gd name="T7" fmla="*/ 0 h 34"/>
                <a:gd name="T8" fmla="*/ 91 w 137"/>
                <a:gd name="T9" fmla="*/ 0 h 34"/>
                <a:gd name="T10" fmla="*/ 97 w 137"/>
                <a:gd name="T11" fmla="*/ 0 h 34"/>
                <a:gd name="T12" fmla="*/ 102 w 137"/>
                <a:gd name="T13" fmla="*/ 0 h 34"/>
                <a:gd name="T14" fmla="*/ 102 w 137"/>
                <a:gd name="T15" fmla="*/ 7 h 34"/>
                <a:gd name="T16" fmla="*/ 108 w 137"/>
                <a:gd name="T17" fmla="*/ 7 h 34"/>
                <a:gd name="T18" fmla="*/ 114 w 137"/>
                <a:gd name="T19" fmla="*/ 7 h 34"/>
                <a:gd name="T20" fmla="*/ 120 w 137"/>
                <a:gd name="T21" fmla="*/ 7 h 34"/>
                <a:gd name="T22" fmla="*/ 125 w 137"/>
                <a:gd name="T23" fmla="*/ 7 h 34"/>
                <a:gd name="T24" fmla="*/ 131 w 137"/>
                <a:gd name="T25" fmla="*/ 7 h 34"/>
                <a:gd name="T26" fmla="*/ 131 w 137"/>
                <a:gd name="T27" fmla="*/ 14 h 34"/>
                <a:gd name="T28" fmla="*/ 137 w 137"/>
                <a:gd name="T29" fmla="*/ 14 h 34"/>
                <a:gd name="T30" fmla="*/ 137 w 137"/>
                <a:gd name="T31" fmla="*/ 21 h 34"/>
                <a:gd name="T32" fmla="*/ 137 w 137"/>
                <a:gd name="T33" fmla="*/ 27 h 34"/>
                <a:gd name="T34" fmla="*/ 131 w 137"/>
                <a:gd name="T35" fmla="*/ 27 h 34"/>
                <a:gd name="T36" fmla="*/ 125 w 137"/>
                <a:gd name="T37" fmla="*/ 27 h 34"/>
                <a:gd name="T38" fmla="*/ 120 w 137"/>
                <a:gd name="T39" fmla="*/ 34 h 34"/>
                <a:gd name="T40" fmla="*/ 114 w 137"/>
                <a:gd name="T41" fmla="*/ 34 h 34"/>
                <a:gd name="T42" fmla="*/ 108 w 137"/>
                <a:gd name="T43" fmla="*/ 34 h 34"/>
                <a:gd name="T44" fmla="*/ 102 w 137"/>
                <a:gd name="T45" fmla="*/ 34 h 34"/>
                <a:gd name="T46" fmla="*/ 97 w 137"/>
                <a:gd name="T47" fmla="*/ 34 h 34"/>
                <a:gd name="T48" fmla="*/ 91 w 137"/>
                <a:gd name="T49" fmla="*/ 34 h 34"/>
                <a:gd name="T50" fmla="*/ 85 w 137"/>
                <a:gd name="T51" fmla="*/ 34 h 34"/>
                <a:gd name="T52" fmla="*/ 80 w 137"/>
                <a:gd name="T53" fmla="*/ 34 h 34"/>
                <a:gd name="T54" fmla="*/ 74 w 137"/>
                <a:gd name="T55" fmla="*/ 34 h 34"/>
                <a:gd name="T56" fmla="*/ 68 w 137"/>
                <a:gd name="T57" fmla="*/ 34 h 34"/>
                <a:gd name="T58" fmla="*/ 63 w 137"/>
                <a:gd name="T59" fmla="*/ 34 h 34"/>
                <a:gd name="T60" fmla="*/ 57 w 137"/>
                <a:gd name="T61" fmla="*/ 34 h 34"/>
                <a:gd name="T62" fmla="*/ 51 w 137"/>
                <a:gd name="T63" fmla="*/ 34 h 34"/>
                <a:gd name="T64" fmla="*/ 45 w 137"/>
                <a:gd name="T65" fmla="*/ 34 h 34"/>
                <a:gd name="T66" fmla="*/ 40 w 137"/>
                <a:gd name="T67" fmla="*/ 34 h 34"/>
                <a:gd name="T68" fmla="*/ 34 w 137"/>
                <a:gd name="T69" fmla="*/ 34 h 34"/>
                <a:gd name="T70" fmla="*/ 28 w 137"/>
                <a:gd name="T71" fmla="*/ 34 h 34"/>
                <a:gd name="T72" fmla="*/ 23 w 137"/>
                <a:gd name="T73" fmla="*/ 34 h 34"/>
                <a:gd name="T74" fmla="*/ 17 w 137"/>
                <a:gd name="T75" fmla="*/ 34 h 34"/>
                <a:gd name="T76" fmla="*/ 17 w 137"/>
                <a:gd name="T77" fmla="*/ 27 h 34"/>
                <a:gd name="T78" fmla="*/ 11 w 137"/>
                <a:gd name="T79" fmla="*/ 27 h 34"/>
                <a:gd name="T80" fmla="*/ 6 w 137"/>
                <a:gd name="T81" fmla="*/ 27 h 34"/>
                <a:gd name="T82" fmla="*/ 6 w 137"/>
                <a:gd name="T83" fmla="*/ 21 h 34"/>
                <a:gd name="T84" fmla="*/ 0 w 137"/>
                <a:gd name="T85" fmla="*/ 21 h 34"/>
                <a:gd name="T86" fmla="*/ 0 w 137"/>
                <a:gd name="T87" fmla="*/ 14 h 34"/>
                <a:gd name="T88" fmla="*/ 6 w 137"/>
                <a:gd name="T89" fmla="*/ 14 h 34"/>
                <a:gd name="T90" fmla="*/ 11 w 137"/>
                <a:gd name="T91" fmla="*/ 14 h 34"/>
                <a:gd name="T92" fmla="*/ 11 w 137"/>
                <a:gd name="T93" fmla="*/ 7 h 34"/>
                <a:gd name="T94" fmla="*/ 17 w 137"/>
                <a:gd name="T95" fmla="*/ 7 h 34"/>
                <a:gd name="T96" fmla="*/ 23 w 137"/>
                <a:gd name="T97" fmla="*/ 7 h 34"/>
                <a:gd name="T98" fmla="*/ 28 w 137"/>
                <a:gd name="T99" fmla="*/ 7 h 34"/>
                <a:gd name="T100" fmla="*/ 34 w 137"/>
                <a:gd name="T101" fmla="*/ 7 h 34"/>
                <a:gd name="T102" fmla="*/ 40 w 137"/>
                <a:gd name="T103" fmla="*/ 0 h 34"/>
                <a:gd name="T104" fmla="*/ 45 w 137"/>
                <a:gd name="T105" fmla="*/ 0 h 34"/>
                <a:gd name="T106" fmla="*/ 51 w 137"/>
                <a:gd name="T107" fmla="*/ 0 h 34"/>
                <a:gd name="T108" fmla="*/ 57 w 137"/>
                <a:gd name="T109" fmla="*/ 0 h 34"/>
                <a:gd name="T110" fmla="*/ 63 w 137"/>
                <a:gd name="T111" fmla="*/ 0 h 34"/>
                <a:gd name="T112" fmla="*/ 68 w 137"/>
                <a:gd name="T113" fmla="*/ 0 h 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7"/>
                <a:gd name="T172" fmla="*/ 0 h 34"/>
                <a:gd name="T173" fmla="*/ 137 w 137"/>
                <a:gd name="T174" fmla="*/ 34 h 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7" h="34">
                  <a:moveTo>
                    <a:pt x="68" y="0"/>
                  </a:moveTo>
                  <a:lnTo>
                    <a:pt x="74" y="0"/>
                  </a:lnTo>
                  <a:lnTo>
                    <a:pt x="80" y="0"/>
                  </a:lnTo>
                  <a:lnTo>
                    <a:pt x="85" y="0"/>
                  </a:lnTo>
                  <a:lnTo>
                    <a:pt x="91" y="0"/>
                  </a:lnTo>
                  <a:lnTo>
                    <a:pt x="97" y="0"/>
                  </a:lnTo>
                  <a:lnTo>
                    <a:pt x="102" y="0"/>
                  </a:lnTo>
                  <a:lnTo>
                    <a:pt x="102" y="7"/>
                  </a:lnTo>
                  <a:lnTo>
                    <a:pt x="108" y="7"/>
                  </a:lnTo>
                  <a:lnTo>
                    <a:pt x="114" y="7"/>
                  </a:lnTo>
                  <a:lnTo>
                    <a:pt x="120" y="7"/>
                  </a:lnTo>
                  <a:lnTo>
                    <a:pt x="125" y="7"/>
                  </a:lnTo>
                  <a:lnTo>
                    <a:pt x="131" y="7"/>
                  </a:lnTo>
                  <a:lnTo>
                    <a:pt x="131" y="14"/>
                  </a:lnTo>
                  <a:lnTo>
                    <a:pt x="137" y="14"/>
                  </a:lnTo>
                  <a:lnTo>
                    <a:pt x="137" y="21"/>
                  </a:lnTo>
                  <a:lnTo>
                    <a:pt x="137" y="27"/>
                  </a:lnTo>
                  <a:lnTo>
                    <a:pt x="131" y="27"/>
                  </a:lnTo>
                  <a:lnTo>
                    <a:pt x="125" y="27"/>
                  </a:lnTo>
                  <a:lnTo>
                    <a:pt x="120" y="34"/>
                  </a:lnTo>
                  <a:lnTo>
                    <a:pt x="114" y="34"/>
                  </a:lnTo>
                  <a:lnTo>
                    <a:pt x="108" y="34"/>
                  </a:lnTo>
                  <a:lnTo>
                    <a:pt x="102" y="34"/>
                  </a:lnTo>
                  <a:lnTo>
                    <a:pt x="97" y="34"/>
                  </a:lnTo>
                  <a:lnTo>
                    <a:pt x="91" y="34"/>
                  </a:lnTo>
                  <a:lnTo>
                    <a:pt x="85" y="34"/>
                  </a:lnTo>
                  <a:lnTo>
                    <a:pt x="80" y="34"/>
                  </a:lnTo>
                  <a:lnTo>
                    <a:pt x="74" y="34"/>
                  </a:lnTo>
                  <a:lnTo>
                    <a:pt x="68" y="34"/>
                  </a:lnTo>
                  <a:lnTo>
                    <a:pt x="63" y="34"/>
                  </a:lnTo>
                  <a:lnTo>
                    <a:pt x="57" y="34"/>
                  </a:lnTo>
                  <a:lnTo>
                    <a:pt x="51" y="34"/>
                  </a:lnTo>
                  <a:lnTo>
                    <a:pt x="45" y="34"/>
                  </a:lnTo>
                  <a:lnTo>
                    <a:pt x="40" y="34"/>
                  </a:lnTo>
                  <a:lnTo>
                    <a:pt x="34" y="34"/>
                  </a:lnTo>
                  <a:lnTo>
                    <a:pt x="28" y="34"/>
                  </a:lnTo>
                  <a:lnTo>
                    <a:pt x="23" y="34"/>
                  </a:lnTo>
                  <a:lnTo>
                    <a:pt x="17" y="34"/>
                  </a:lnTo>
                  <a:lnTo>
                    <a:pt x="17" y="27"/>
                  </a:lnTo>
                  <a:lnTo>
                    <a:pt x="11" y="27"/>
                  </a:lnTo>
                  <a:lnTo>
                    <a:pt x="6" y="27"/>
                  </a:lnTo>
                  <a:lnTo>
                    <a:pt x="6" y="21"/>
                  </a:lnTo>
                  <a:lnTo>
                    <a:pt x="0" y="21"/>
                  </a:lnTo>
                  <a:lnTo>
                    <a:pt x="0" y="14"/>
                  </a:lnTo>
                  <a:lnTo>
                    <a:pt x="6" y="14"/>
                  </a:lnTo>
                  <a:lnTo>
                    <a:pt x="11" y="14"/>
                  </a:lnTo>
                  <a:lnTo>
                    <a:pt x="11" y="7"/>
                  </a:lnTo>
                  <a:lnTo>
                    <a:pt x="17" y="7"/>
                  </a:lnTo>
                  <a:lnTo>
                    <a:pt x="23" y="7"/>
                  </a:lnTo>
                  <a:lnTo>
                    <a:pt x="28" y="7"/>
                  </a:lnTo>
                  <a:lnTo>
                    <a:pt x="34" y="7"/>
                  </a:lnTo>
                  <a:lnTo>
                    <a:pt x="40" y="0"/>
                  </a:lnTo>
                  <a:lnTo>
                    <a:pt x="45" y="0"/>
                  </a:lnTo>
                  <a:lnTo>
                    <a:pt x="51" y="0"/>
                  </a:lnTo>
                  <a:lnTo>
                    <a:pt x="57" y="0"/>
                  </a:lnTo>
                  <a:lnTo>
                    <a:pt x="63"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17" name="Freeform 22"/>
            <p:cNvSpPr>
              <a:spLocks/>
            </p:cNvSpPr>
            <p:nvPr/>
          </p:nvSpPr>
          <p:spPr bwMode="auto">
            <a:xfrm>
              <a:off x="3267" y="3281"/>
              <a:ext cx="137" cy="34"/>
            </a:xfrm>
            <a:custGeom>
              <a:avLst/>
              <a:gdLst>
                <a:gd name="T0" fmla="*/ 68 w 137"/>
                <a:gd name="T1" fmla="*/ 0 h 34"/>
                <a:gd name="T2" fmla="*/ 97 w 137"/>
                <a:gd name="T3" fmla="*/ 0 h 34"/>
                <a:gd name="T4" fmla="*/ 120 w 137"/>
                <a:gd name="T5" fmla="*/ 7 h 34"/>
                <a:gd name="T6" fmla="*/ 131 w 137"/>
                <a:gd name="T7" fmla="*/ 14 h 34"/>
                <a:gd name="T8" fmla="*/ 137 w 137"/>
                <a:gd name="T9" fmla="*/ 21 h 34"/>
                <a:gd name="T10" fmla="*/ 131 w 137"/>
                <a:gd name="T11" fmla="*/ 27 h 34"/>
                <a:gd name="T12" fmla="*/ 120 w 137"/>
                <a:gd name="T13" fmla="*/ 34 h 34"/>
                <a:gd name="T14" fmla="*/ 97 w 137"/>
                <a:gd name="T15" fmla="*/ 34 h 34"/>
                <a:gd name="T16" fmla="*/ 68 w 137"/>
                <a:gd name="T17" fmla="*/ 34 h 34"/>
                <a:gd name="T18" fmla="*/ 45 w 137"/>
                <a:gd name="T19" fmla="*/ 34 h 34"/>
                <a:gd name="T20" fmla="*/ 23 w 137"/>
                <a:gd name="T21" fmla="*/ 34 h 34"/>
                <a:gd name="T22" fmla="*/ 6 w 137"/>
                <a:gd name="T23" fmla="*/ 27 h 34"/>
                <a:gd name="T24" fmla="*/ 0 w 137"/>
                <a:gd name="T25" fmla="*/ 21 h 34"/>
                <a:gd name="T26" fmla="*/ 6 w 137"/>
                <a:gd name="T27" fmla="*/ 14 h 34"/>
                <a:gd name="T28" fmla="*/ 23 w 137"/>
                <a:gd name="T29" fmla="*/ 7 h 34"/>
                <a:gd name="T30" fmla="*/ 45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20" y="7"/>
                  </a:lnTo>
                  <a:lnTo>
                    <a:pt x="131" y="14"/>
                  </a:lnTo>
                  <a:lnTo>
                    <a:pt x="137" y="21"/>
                  </a:lnTo>
                  <a:lnTo>
                    <a:pt x="131" y="27"/>
                  </a:lnTo>
                  <a:lnTo>
                    <a:pt x="120" y="34"/>
                  </a:lnTo>
                  <a:lnTo>
                    <a:pt x="97" y="34"/>
                  </a:lnTo>
                  <a:lnTo>
                    <a:pt x="68" y="34"/>
                  </a:lnTo>
                  <a:lnTo>
                    <a:pt x="45" y="34"/>
                  </a:lnTo>
                  <a:lnTo>
                    <a:pt x="23" y="34"/>
                  </a:lnTo>
                  <a:lnTo>
                    <a:pt x="6" y="27"/>
                  </a:lnTo>
                  <a:lnTo>
                    <a:pt x="0" y="21"/>
                  </a:lnTo>
                  <a:lnTo>
                    <a:pt x="6" y="14"/>
                  </a:lnTo>
                  <a:lnTo>
                    <a:pt x="23" y="7"/>
                  </a:lnTo>
                  <a:lnTo>
                    <a:pt x="45"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18" name="Rectangle 23"/>
            <p:cNvSpPr>
              <a:spLocks noChangeArrowheads="1"/>
            </p:cNvSpPr>
            <p:nvPr/>
          </p:nvSpPr>
          <p:spPr bwMode="auto">
            <a:xfrm>
              <a:off x="3284" y="3159"/>
              <a:ext cx="103" cy="34"/>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19" name="Rectangle 24"/>
            <p:cNvSpPr>
              <a:spLocks noChangeArrowheads="1"/>
            </p:cNvSpPr>
            <p:nvPr/>
          </p:nvSpPr>
          <p:spPr bwMode="auto">
            <a:xfrm>
              <a:off x="3284" y="3159"/>
              <a:ext cx="103" cy="34"/>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20" name="Rectangle 25"/>
            <p:cNvSpPr>
              <a:spLocks noChangeArrowheads="1"/>
            </p:cNvSpPr>
            <p:nvPr/>
          </p:nvSpPr>
          <p:spPr bwMode="auto">
            <a:xfrm>
              <a:off x="2947" y="2703"/>
              <a:ext cx="194" cy="211"/>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21" name="Rectangle 26"/>
            <p:cNvSpPr>
              <a:spLocks noChangeArrowheads="1"/>
            </p:cNvSpPr>
            <p:nvPr/>
          </p:nvSpPr>
          <p:spPr bwMode="auto">
            <a:xfrm>
              <a:off x="2947" y="2703"/>
              <a:ext cx="194" cy="211"/>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22" name="Freeform 27"/>
            <p:cNvSpPr>
              <a:spLocks/>
            </p:cNvSpPr>
            <p:nvPr/>
          </p:nvSpPr>
          <p:spPr bwMode="auto">
            <a:xfrm>
              <a:off x="2885" y="2791"/>
              <a:ext cx="137" cy="34"/>
            </a:xfrm>
            <a:custGeom>
              <a:avLst/>
              <a:gdLst>
                <a:gd name="T0" fmla="*/ 68 w 137"/>
                <a:gd name="T1" fmla="*/ 0 h 34"/>
                <a:gd name="T2" fmla="*/ 74 w 137"/>
                <a:gd name="T3" fmla="*/ 0 h 34"/>
                <a:gd name="T4" fmla="*/ 80 w 137"/>
                <a:gd name="T5" fmla="*/ 0 h 34"/>
                <a:gd name="T6" fmla="*/ 85 w 137"/>
                <a:gd name="T7" fmla="*/ 0 h 34"/>
                <a:gd name="T8" fmla="*/ 91 w 137"/>
                <a:gd name="T9" fmla="*/ 0 h 34"/>
                <a:gd name="T10" fmla="*/ 97 w 137"/>
                <a:gd name="T11" fmla="*/ 0 h 34"/>
                <a:gd name="T12" fmla="*/ 102 w 137"/>
                <a:gd name="T13" fmla="*/ 0 h 34"/>
                <a:gd name="T14" fmla="*/ 108 w 137"/>
                <a:gd name="T15" fmla="*/ 0 h 34"/>
                <a:gd name="T16" fmla="*/ 114 w 137"/>
                <a:gd name="T17" fmla="*/ 0 h 34"/>
                <a:gd name="T18" fmla="*/ 119 w 137"/>
                <a:gd name="T19" fmla="*/ 0 h 34"/>
                <a:gd name="T20" fmla="*/ 125 w 137"/>
                <a:gd name="T21" fmla="*/ 7 h 34"/>
                <a:gd name="T22" fmla="*/ 131 w 137"/>
                <a:gd name="T23" fmla="*/ 7 h 34"/>
                <a:gd name="T24" fmla="*/ 137 w 137"/>
                <a:gd name="T25" fmla="*/ 7 h 34"/>
                <a:gd name="T26" fmla="*/ 137 w 137"/>
                <a:gd name="T27" fmla="*/ 14 h 34"/>
                <a:gd name="T28" fmla="*/ 137 w 137"/>
                <a:gd name="T29" fmla="*/ 21 h 34"/>
                <a:gd name="T30" fmla="*/ 131 w 137"/>
                <a:gd name="T31" fmla="*/ 21 h 34"/>
                <a:gd name="T32" fmla="*/ 125 w 137"/>
                <a:gd name="T33" fmla="*/ 21 h 34"/>
                <a:gd name="T34" fmla="*/ 125 w 137"/>
                <a:gd name="T35" fmla="*/ 28 h 34"/>
                <a:gd name="T36" fmla="*/ 119 w 137"/>
                <a:gd name="T37" fmla="*/ 28 h 34"/>
                <a:gd name="T38" fmla="*/ 114 w 137"/>
                <a:gd name="T39" fmla="*/ 28 h 34"/>
                <a:gd name="T40" fmla="*/ 108 w 137"/>
                <a:gd name="T41" fmla="*/ 28 h 34"/>
                <a:gd name="T42" fmla="*/ 102 w 137"/>
                <a:gd name="T43" fmla="*/ 28 h 34"/>
                <a:gd name="T44" fmla="*/ 97 w 137"/>
                <a:gd name="T45" fmla="*/ 28 h 34"/>
                <a:gd name="T46" fmla="*/ 97 w 137"/>
                <a:gd name="T47" fmla="*/ 34 h 34"/>
                <a:gd name="T48" fmla="*/ 91 w 137"/>
                <a:gd name="T49" fmla="*/ 34 h 34"/>
                <a:gd name="T50" fmla="*/ 85 w 137"/>
                <a:gd name="T51" fmla="*/ 34 h 34"/>
                <a:gd name="T52" fmla="*/ 80 w 137"/>
                <a:gd name="T53" fmla="*/ 34 h 34"/>
                <a:gd name="T54" fmla="*/ 74 w 137"/>
                <a:gd name="T55" fmla="*/ 34 h 34"/>
                <a:gd name="T56" fmla="*/ 68 w 137"/>
                <a:gd name="T57" fmla="*/ 34 h 34"/>
                <a:gd name="T58" fmla="*/ 62 w 137"/>
                <a:gd name="T59" fmla="*/ 34 h 34"/>
                <a:gd name="T60" fmla="*/ 57 w 137"/>
                <a:gd name="T61" fmla="*/ 34 h 34"/>
                <a:gd name="T62" fmla="*/ 51 w 137"/>
                <a:gd name="T63" fmla="*/ 34 h 34"/>
                <a:gd name="T64" fmla="*/ 45 w 137"/>
                <a:gd name="T65" fmla="*/ 34 h 34"/>
                <a:gd name="T66" fmla="*/ 40 w 137"/>
                <a:gd name="T67" fmla="*/ 34 h 34"/>
                <a:gd name="T68" fmla="*/ 40 w 137"/>
                <a:gd name="T69" fmla="*/ 28 h 34"/>
                <a:gd name="T70" fmla="*/ 34 w 137"/>
                <a:gd name="T71" fmla="*/ 28 h 34"/>
                <a:gd name="T72" fmla="*/ 28 w 137"/>
                <a:gd name="T73" fmla="*/ 28 h 34"/>
                <a:gd name="T74" fmla="*/ 22 w 137"/>
                <a:gd name="T75" fmla="*/ 28 h 34"/>
                <a:gd name="T76" fmla="*/ 17 w 137"/>
                <a:gd name="T77" fmla="*/ 28 h 34"/>
                <a:gd name="T78" fmla="*/ 11 w 137"/>
                <a:gd name="T79" fmla="*/ 28 h 34"/>
                <a:gd name="T80" fmla="*/ 11 w 137"/>
                <a:gd name="T81" fmla="*/ 21 h 34"/>
                <a:gd name="T82" fmla="*/ 5 w 137"/>
                <a:gd name="T83" fmla="*/ 21 h 34"/>
                <a:gd name="T84" fmla="*/ 0 w 137"/>
                <a:gd name="T85" fmla="*/ 21 h 34"/>
                <a:gd name="T86" fmla="*/ 0 w 137"/>
                <a:gd name="T87" fmla="*/ 14 h 34"/>
                <a:gd name="T88" fmla="*/ 0 w 137"/>
                <a:gd name="T89" fmla="*/ 7 h 34"/>
                <a:gd name="T90" fmla="*/ 5 w 137"/>
                <a:gd name="T91" fmla="*/ 7 h 34"/>
                <a:gd name="T92" fmla="*/ 11 w 137"/>
                <a:gd name="T93" fmla="*/ 7 h 34"/>
                <a:gd name="T94" fmla="*/ 17 w 137"/>
                <a:gd name="T95" fmla="*/ 0 h 34"/>
                <a:gd name="T96" fmla="*/ 22 w 137"/>
                <a:gd name="T97" fmla="*/ 0 h 34"/>
                <a:gd name="T98" fmla="*/ 28 w 137"/>
                <a:gd name="T99" fmla="*/ 0 h 34"/>
                <a:gd name="T100" fmla="*/ 34 w 137"/>
                <a:gd name="T101" fmla="*/ 0 h 34"/>
                <a:gd name="T102" fmla="*/ 40 w 137"/>
                <a:gd name="T103" fmla="*/ 0 h 34"/>
                <a:gd name="T104" fmla="*/ 45 w 137"/>
                <a:gd name="T105" fmla="*/ 0 h 34"/>
                <a:gd name="T106" fmla="*/ 51 w 137"/>
                <a:gd name="T107" fmla="*/ 0 h 34"/>
                <a:gd name="T108" fmla="*/ 57 w 137"/>
                <a:gd name="T109" fmla="*/ 0 h 34"/>
                <a:gd name="T110" fmla="*/ 62 w 137"/>
                <a:gd name="T111" fmla="*/ 0 h 34"/>
                <a:gd name="T112" fmla="*/ 68 w 137"/>
                <a:gd name="T113" fmla="*/ 0 h 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7"/>
                <a:gd name="T172" fmla="*/ 0 h 34"/>
                <a:gd name="T173" fmla="*/ 137 w 137"/>
                <a:gd name="T174" fmla="*/ 34 h 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7" h="34">
                  <a:moveTo>
                    <a:pt x="68" y="0"/>
                  </a:moveTo>
                  <a:lnTo>
                    <a:pt x="74" y="0"/>
                  </a:lnTo>
                  <a:lnTo>
                    <a:pt x="80" y="0"/>
                  </a:lnTo>
                  <a:lnTo>
                    <a:pt x="85" y="0"/>
                  </a:lnTo>
                  <a:lnTo>
                    <a:pt x="91" y="0"/>
                  </a:lnTo>
                  <a:lnTo>
                    <a:pt x="97" y="0"/>
                  </a:lnTo>
                  <a:lnTo>
                    <a:pt x="102" y="0"/>
                  </a:lnTo>
                  <a:lnTo>
                    <a:pt x="108" y="0"/>
                  </a:lnTo>
                  <a:lnTo>
                    <a:pt x="114" y="0"/>
                  </a:lnTo>
                  <a:lnTo>
                    <a:pt x="119" y="0"/>
                  </a:lnTo>
                  <a:lnTo>
                    <a:pt x="125" y="7"/>
                  </a:lnTo>
                  <a:lnTo>
                    <a:pt x="131" y="7"/>
                  </a:lnTo>
                  <a:lnTo>
                    <a:pt x="137" y="7"/>
                  </a:lnTo>
                  <a:lnTo>
                    <a:pt x="137" y="14"/>
                  </a:lnTo>
                  <a:lnTo>
                    <a:pt x="137" y="21"/>
                  </a:lnTo>
                  <a:lnTo>
                    <a:pt x="131" y="21"/>
                  </a:lnTo>
                  <a:lnTo>
                    <a:pt x="125" y="21"/>
                  </a:lnTo>
                  <a:lnTo>
                    <a:pt x="125" y="28"/>
                  </a:lnTo>
                  <a:lnTo>
                    <a:pt x="119" y="28"/>
                  </a:lnTo>
                  <a:lnTo>
                    <a:pt x="114" y="28"/>
                  </a:lnTo>
                  <a:lnTo>
                    <a:pt x="108" y="28"/>
                  </a:lnTo>
                  <a:lnTo>
                    <a:pt x="102" y="28"/>
                  </a:lnTo>
                  <a:lnTo>
                    <a:pt x="97" y="28"/>
                  </a:lnTo>
                  <a:lnTo>
                    <a:pt x="97" y="34"/>
                  </a:lnTo>
                  <a:lnTo>
                    <a:pt x="91" y="34"/>
                  </a:lnTo>
                  <a:lnTo>
                    <a:pt x="85" y="34"/>
                  </a:lnTo>
                  <a:lnTo>
                    <a:pt x="80" y="34"/>
                  </a:lnTo>
                  <a:lnTo>
                    <a:pt x="74" y="34"/>
                  </a:lnTo>
                  <a:lnTo>
                    <a:pt x="68" y="34"/>
                  </a:lnTo>
                  <a:lnTo>
                    <a:pt x="62" y="34"/>
                  </a:lnTo>
                  <a:lnTo>
                    <a:pt x="57" y="34"/>
                  </a:lnTo>
                  <a:lnTo>
                    <a:pt x="51" y="34"/>
                  </a:lnTo>
                  <a:lnTo>
                    <a:pt x="45" y="34"/>
                  </a:lnTo>
                  <a:lnTo>
                    <a:pt x="40" y="34"/>
                  </a:lnTo>
                  <a:lnTo>
                    <a:pt x="40" y="28"/>
                  </a:lnTo>
                  <a:lnTo>
                    <a:pt x="34" y="28"/>
                  </a:lnTo>
                  <a:lnTo>
                    <a:pt x="28" y="28"/>
                  </a:lnTo>
                  <a:lnTo>
                    <a:pt x="22" y="28"/>
                  </a:lnTo>
                  <a:lnTo>
                    <a:pt x="17" y="28"/>
                  </a:lnTo>
                  <a:lnTo>
                    <a:pt x="11" y="28"/>
                  </a:lnTo>
                  <a:lnTo>
                    <a:pt x="11" y="21"/>
                  </a:lnTo>
                  <a:lnTo>
                    <a:pt x="5" y="21"/>
                  </a:lnTo>
                  <a:lnTo>
                    <a:pt x="0" y="21"/>
                  </a:lnTo>
                  <a:lnTo>
                    <a:pt x="0" y="14"/>
                  </a:lnTo>
                  <a:lnTo>
                    <a:pt x="0" y="7"/>
                  </a:lnTo>
                  <a:lnTo>
                    <a:pt x="5" y="7"/>
                  </a:lnTo>
                  <a:lnTo>
                    <a:pt x="11" y="7"/>
                  </a:lnTo>
                  <a:lnTo>
                    <a:pt x="17" y="0"/>
                  </a:lnTo>
                  <a:lnTo>
                    <a:pt x="22" y="0"/>
                  </a:lnTo>
                  <a:lnTo>
                    <a:pt x="28" y="0"/>
                  </a:lnTo>
                  <a:lnTo>
                    <a:pt x="34" y="0"/>
                  </a:lnTo>
                  <a:lnTo>
                    <a:pt x="40" y="0"/>
                  </a:lnTo>
                  <a:lnTo>
                    <a:pt x="45" y="0"/>
                  </a:lnTo>
                  <a:lnTo>
                    <a:pt x="51" y="0"/>
                  </a:lnTo>
                  <a:lnTo>
                    <a:pt x="57" y="0"/>
                  </a:lnTo>
                  <a:lnTo>
                    <a:pt x="62"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23" name="Freeform 28"/>
            <p:cNvSpPr>
              <a:spLocks/>
            </p:cNvSpPr>
            <p:nvPr/>
          </p:nvSpPr>
          <p:spPr bwMode="auto">
            <a:xfrm>
              <a:off x="2885" y="2791"/>
              <a:ext cx="137" cy="34"/>
            </a:xfrm>
            <a:custGeom>
              <a:avLst/>
              <a:gdLst>
                <a:gd name="T0" fmla="*/ 68 w 137"/>
                <a:gd name="T1" fmla="*/ 0 h 34"/>
                <a:gd name="T2" fmla="*/ 97 w 137"/>
                <a:gd name="T3" fmla="*/ 0 h 34"/>
                <a:gd name="T4" fmla="*/ 119 w 137"/>
                <a:gd name="T5" fmla="*/ 0 h 34"/>
                <a:gd name="T6" fmla="*/ 131 w 137"/>
                <a:gd name="T7" fmla="*/ 7 h 34"/>
                <a:gd name="T8" fmla="*/ 137 w 137"/>
                <a:gd name="T9" fmla="*/ 14 h 34"/>
                <a:gd name="T10" fmla="*/ 131 w 137"/>
                <a:gd name="T11" fmla="*/ 21 h 34"/>
                <a:gd name="T12" fmla="*/ 119 w 137"/>
                <a:gd name="T13" fmla="*/ 28 h 34"/>
                <a:gd name="T14" fmla="*/ 97 w 137"/>
                <a:gd name="T15" fmla="*/ 34 h 34"/>
                <a:gd name="T16" fmla="*/ 68 w 137"/>
                <a:gd name="T17" fmla="*/ 34 h 34"/>
                <a:gd name="T18" fmla="*/ 40 w 137"/>
                <a:gd name="T19" fmla="*/ 34 h 34"/>
                <a:gd name="T20" fmla="*/ 22 w 137"/>
                <a:gd name="T21" fmla="*/ 28 h 34"/>
                <a:gd name="T22" fmla="*/ 5 w 137"/>
                <a:gd name="T23" fmla="*/ 21 h 34"/>
                <a:gd name="T24" fmla="*/ 0 w 137"/>
                <a:gd name="T25" fmla="*/ 14 h 34"/>
                <a:gd name="T26" fmla="*/ 5 w 137"/>
                <a:gd name="T27" fmla="*/ 7 h 34"/>
                <a:gd name="T28" fmla="*/ 22 w 137"/>
                <a:gd name="T29" fmla="*/ 0 h 34"/>
                <a:gd name="T30" fmla="*/ 40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19" y="0"/>
                  </a:lnTo>
                  <a:lnTo>
                    <a:pt x="131" y="7"/>
                  </a:lnTo>
                  <a:lnTo>
                    <a:pt x="137" y="14"/>
                  </a:lnTo>
                  <a:lnTo>
                    <a:pt x="131" y="21"/>
                  </a:lnTo>
                  <a:lnTo>
                    <a:pt x="119" y="28"/>
                  </a:lnTo>
                  <a:lnTo>
                    <a:pt x="97" y="34"/>
                  </a:lnTo>
                  <a:lnTo>
                    <a:pt x="68" y="34"/>
                  </a:lnTo>
                  <a:lnTo>
                    <a:pt x="40" y="34"/>
                  </a:lnTo>
                  <a:lnTo>
                    <a:pt x="22" y="28"/>
                  </a:lnTo>
                  <a:lnTo>
                    <a:pt x="5" y="21"/>
                  </a:lnTo>
                  <a:lnTo>
                    <a:pt x="0" y="14"/>
                  </a:lnTo>
                  <a:lnTo>
                    <a:pt x="5" y="7"/>
                  </a:lnTo>
                  <a:lnTo>
                    <a:pt x="22" y="0"/>
                  </a:lnTo>
                  <a:lnTo>
                    <a:pt x="40"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24" name="Freeform 29"/>
            <p:cNvSpPr>
              <a:spLocks/>
            </p:cNvSpPr>
            <p:nvPr/>
          </p:nvSpPr>
          <p:spPr bwMode="auto">
            <a:xfrm>
              <a:off x="2885" y="2859"/>
              <a:ext cx="137" cy="34"/>
            </a:xfrm>
            <a:custGeom>
              <a:avLst/>
              <a:gdLst>
                <a:gd name="T0" fmla="*/ 68 w 137"/>
                <a:gd name="T1" fmla="*/ 0 h 34"/>
                <a:gd name="T2" fmla="*/ 74 w 137"/>
                <a:gd name="T3" fmla="*/ 0 h 34"/>
                <a:gd name="T4" fmla="*/ 80 w 137"/>
                <a:gd name="T5" fmla="*/ 0 h 34"/>
                <a:gd name="T6" fmla="*/ 85 w 137"/>
                <a:gd name="T7" fmla="*/ 0 h 34"/>
                <a:gd name="T8" fmla="*/ 91 w 137"/>
                <a:gd name="T9" fmla="*/ 0 h 34"/>
                <a:gd name="T10" fmla="*/ 97 w 137"/>
                <a:gd name="T11" fmla="*/ 0 h 34"/>
                <a:gd name="T12" fmla="*/ 102 w 137"/>
                <a:gd name="T13" fmla="*/ 0 h 34"/>
                <a:gd name="T14" fmla="*/ 108 w 137"/>
                <a:gd name="T15" fmla="*/ 0 h 34"/>
                <a:gd name="T16" fmla="*/ 114 w 137"/>
                <a:gd name="T17" fmla="*/ 0 h 34"/>
                <a:gd name="T18" fmla="*/ 119 w 137"/>
                <a:gd name="T19" fmla="*/ 0 h 34"/>
                <a:gd name="T20" fmla="*/ 119 w 137"/>
                <a:gd name="T21" fmla="*/ 7 h 34"/>
                <a:gd name="T22" fmla="*/ 125 w 137"/>
                <a:gd name="T23" fmla="*/ 7 h 34"/>
                <a:gd name="T24" fmla="*/ 131 w 137"/>
                <a:gd name="T25" fmla="*/ 7 h 34"/>
                <a:gd name="T26" fmla="*/ 137 w 137"/>
                <a:gd name="T27" fmla="*/ 7 h 34"/>
                <a:gd name="T28" fmla="*/ 137 w 137"/>
                <a:gd name="T29" fmla="*/ 14 h 34"/>
                <a:gd name="T30" fmla="*/ 137 w 137"/>
                <a:gd name="T31" fmla="*/ 21 h 34"/>
                <a:gd name="T32" fmla="*/ 131 w 137"/>
                <a:gd name="T33" fmla="*/ 21 h 34"/>
                <a:gd name="T34" fmla="*/ 125 w 137"/>
                <a:gd name="T35" fmla="*/ 21 h 34"/>
                <a:gd name="T36" fmla="*/ 125 w 137"/>
                <a:gd name="T37" fmla="*/ 28 h 34"/>
                <a:gd name="T38" fmla="*/ 119 w 137"/>
                <a:gd name="T39" fmla="*/ 28 h 34"/>
                <a:gd name="T40" fmla="*/ 114 w 137"/>
                <a:gd name="T41" fmla="*/ 28 h 34"/>
                <a:gd name="T42" fmla="*/ 108 w 137"/>
                <a:gd name="T43" fmla="*/ 28 h 34"/>
                <a:gd name="T44" fmla="*/ 102 w 137"/>
                <a:gd name="T45" fmla="*/ 28 h 34"/>
                <a:gd name="T46" fmla="*/ 97 w 137"/>
                <a:gd name="T47" fmla="*/ 28 h 34"/>
                <a:gd name="T48" fmla="*/ 97 w 137"/>
                <a:gd name="T49" fmla="*/ 34 h 34"/>
                <a:gd name="T50" fmla="*/ 91 w 137"/>
                <a:gd name="T51" fmla="*/ 34 h 34"/>
                <a:gd name="T52" fmla="*/ 85 w 137"/>
                <a:gd name="T53" fmla="*/ 34 h 34"/>
                <a:gd name="T54" fmla="*/ 80 w 137"/>
                <a:gd name="T55" fmla="*/ 34 h 34"/>
                <a:gd name="T56" fmla="*/ 74 w 137"/>
                <a:gd name="T57" fmla="*/ 34 h 34"/>
                <a:gd name="T58" fmla="*/ 68 w 137"/>
                <a:gd name="T59" fmla="*/ 34 h 34"/>
                <a:gd name="T60" fmla="*/ 62 w 137"/>
                <a:gd name="T61" fmla="*/ 34 h 34"/>
                <a:gd name="T62" fmla="*/ 57 w 137"/>
                <a:gd name="T63" fmla="*/ 34 h 34"/>
                <a:gd name="T64" fmla="*/ 51 w 137"/>
                <a:gd name="T65" fmla="*/ 34 h 34"/>
                <a:gd name="T66" fmla="*/ 45 w 137"/>
                <a:gd name="T67" fmla="*/ 34 h 34"/>
                <a:gd name="T68" fmla="*/ 40 w 137"/>
                <a:gd name="T69" fmla="*/ 34 h 34"/>
                <a:gd name="T70" fmla="*/ 40 w 137"/>
                <a:gd name="T71" fmla="*/ 28 h 34"/>
                <a:gd name="T72" fmla="*/ 34 w 137"/>
                <a:gd name="T73" fmla="*/ 28 h 34"/>
                <a:gd name="T74" fmla="*/ 28 w 137"/>
                <a:gd name="T75" fmla="*/ 28 h 34"/>
                <a:gd name="T76" fmla="*/ 22 w 137"/>
                <a:gd name="T77" fmla="*/ 28 h 34"/>
                <a:gd name="T78" fmla="*/ 17 w 137"/>
                <a:gd name="T79" fmla="*/ 28 h 34"/>
                <a:gd name="T80" fmla="*/ 11 w 137"/>
                <a:gd name="T81" fmla="*/ 28 h 34"/>
                <a:gd name="T82" fmla="*/ 11 w 137"/>
                <a:gd name="T83" fmla="*/ 21 h 34"/>
                <a:gd name="T84" fmla="*/ 5 w 137"/>
                <a:gd name="T85" fmla="*/ 21 h 34"/>
                <a:gd name="T86" fmla="*/ 0 w 137"/>
                <a:gd name="T87" fmla="*/ 21 h 34"/>
                <a:gd name="T88" fmla="*/ 0 w 137"/>
                <a:gd name="T89" fmla="*/ 14 h 34"/>
                <a:gd name="T90" fmla="*/ 5 w 137"/>
                <a:gd name="T91" fmla="*/ 7 h 34"/>
                <a:gd name="T92" fmla="*/ 11 w 137"/>
                <a:gd name="T93" fmla="*/ 7 h 34"/>
                <a:gd name="T94" fmla="*/ 17 w 137"/>
                <a:gd name="T95" fmla="*/ 7 h 34"/>
                <a:gd name="T96" fmla="*/ 17 w 137"/>
                <a:gd name="T97" fmla="*/ 0 h 34"/>
                <a:gd name="T98" fmla="*/ 22 w 137"/>
                <a:gd name="T99" fmla="*/ 0 h 34"/>
                <a:gd name="T100" fmla="*/ 28 w 137"/>
                <a:gd name="T101" fmla="*/ 0 h 34"/>
                <a:gd name="T102" fmla="*/ 34 w 137"/>
                <a:gd name="T103" fmla="*/ 0 h 34"/>
                <a:gd name="T104" fmla="*/ 40 w 137"/>
                <a:gd name="T105" fmla="*/ 0 h 34"/>
                <a:gd name="T106" fmla="*/ 45 w 137"/>
                <a:gd name="T107" fmla="*/ 0 h 34"/>
                <a:gd name="T108" fmla="*/ 51 w 137"/>
                <a:gd name="T109" fmla="*/ 0 h 34"/>
                <a:gd name="T110" fmla="*/ 57 w 137"/>
                <a:gd name="T111" fmla="*/ 0 h 34"/>
                <a:gd name="T112" fmla="*/ 62 w 137"/>
                <a:gd name="T113" fmla="*/ 0 h 34"/>
                <a:gd name="T114" fmla="*/ 68 w 137"/>
                <a:gd name="T115" fmla="*/ 0 h 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34"/>
                <a:gd name="T176" fmla="*/ 137 w 137"/>
                <a:gd name="T177" fmla="*/ 34 h 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34">
                  <a:moveTo>
                    <a:pt x="68" y="0"/>
                  </a:moveTo>
                  <a:lnTo>
                    <a:pt x="74" y="0"/>
                  </a:lnTo>
                  <a:lnTo>
                    <a:pt x="80" y="0"/>
                  </a:lnTo>
                  <a:lnTo>
                    <a:pt x="85" y="0"/>
                  </a:lnTo>
                  <a:lnTo>
                    <a:pt x="91" y="0"/>
                  </a:lnTo>
                  <a:lnTo>
                    <a:pt x="97" y="0"/>
                  </a:lnTo>
                  <a:lnTo>
                    <a:pt x="102" y="0"/>
                  </a:lnTo>
                  <a:lnTo>
                    <a:pt x="108" y="0"/>
                  </a:lnTo>
                  <a:lnTo>
                    <a:pt x="114" y="0"/>
                  </a:lnTo>
                  <a:lnTo>
                    <a:pt x="119" y="0"/>
                  </a:lnTo>
                  <a:lnTo>
                    <a:pt x="119" y="7"/>
                  </a:lnTo>
                  <a:lnTo>
                    <a:pt x="125" y="7"/>
                  </a:lnTo>
                  <a:lnTo>
                    <a:pt x="131" y="7"/>
                  </a:lnTo>
                  <a:lnTo>
                    <a:pt x="137" y="7"/>
                  </a:lnTo>
                  <a:lnTo>
                    <a:pt x="137" y="14"/>
                  </a:lnTo>
                  <a:lnTo>
                    <a:pt x="137" y="21"/>
                  </a:lnTo>
                  <a:lnTo>
                    <a:pt x="131" y="21"/>
                  </a:lnTo>
                  <a:lnTo>
                    <a:pt x="125" y="21"/>
                  </a:lnTo>
                  <a:lnTo>
                    <a:pt x="125" y="28"/>
                  </a:lnTo>
                  <a:lnTo>
                    <a:pt x="119" y="28"/>
                  </a:lnTo>
                  <a:lnTo>
                    <a:pt x="114" y="28"/>
                  </a:lnTo>
                  <a:lnTo>
                    <a:pt x="108" y="28"/>
                  </a:lnTo>
                  <a:lnTo>
                    <a:pt x="102" y="28"/>
                  </a:lnTo>
                  <a:lnTo>
                    <a:pt x="97" y="28"/>
                  </a:lnTo>
                  <a:lnTo>
                    <a:pt x="97" y="34"/>
                  </a:lnTo>
                  <a:lnTo>
                    <a:pt x="91" y="34"/>
                  </a:lnTo>
                  <a:lnTo>
                    <a:pt x="85" y="34"/>
                  </a:lnTo>
                  <a:lnTo>
                    <a:pt x="80" y="34"/>
                  </a:lnTo>
                  <a:lnTo>
                    <a:pt x="74" y="34"/>
                  </a:lnTo>
                  <a:lnTo>
                    <a:pt x="68" y="34"/>
                  </a:lnTo>
                  <a:lnTo>
                    <a:pt x="62" y="34"/>
                  </a:lnTo>
                  <a:lnTo>
                    <a:pt x="57" y="34"/>
                  </a:lnTo>
                  <a:lnTo>
                    <a:pt x="51" y="34"/>
                  </a:lnTo>
                  <a:lnTo>
                    <a:pt x="45" y="34"/>
                  </a:lnTo>
                  <a:lnTo>
                    <a:pt x="40" y="34"/>
                  </a:lnTo>
                  <a:lnTo>
                    <a:pt x="40" y="28"/>
                  </a:lnTo>
                  <a:lnTo>
                    <a:pt x="34" y="28"/>
                  </a:lnTo>
                  <a:lnTo>
                    <a:pt x="28" y="28"/>
                  </a:lnTo>
                  <a:lnTo>
                    <a:pt x="22" y="28"/>
                  </a:lnTo>
                  <a:lnTo>
                    <a:pt x="17" y="28"/>
                  </a:lnTo>
                  <a:lnTo>
                    <a:pt x="11" y="28"/>
                  </a:lnTo>
                  <a:lnTo>
                    <a:pt x="11" y="21"/>
                  </a:lnTo>
                  <a:lnTo>
                    <a:pt x="5" y="21"/>
                  </a:lnTo>
                  <a:lnTo>
                    <a:pt x="0" y="21"/>
                  </a:lnTo>
                  <a:lnTo>
                    <a:pt x="0" y="14"/>
                  </a:lnTo>
                  <a:lnTo>
                    <a:pt x="5" y="7"/>
                  </a:lnTo>
                  <a:lnTo>
                    <a:pt x="11" y="7"/>
                  </a:lnTo>
                  <a:lnTo>
                    <a:pt x="17" y="7"/>
                  </a:lnTo>
                  <a:lnTo>
                    <a:pt x="17" y="0"/>
                  </a:lnTo>
                  <a:lnTo>
                    <a:pt x="22" y="0"/>
                  </a:lnTo>
                  <a:lnTo>
                    <a:pt x="28" y="0"/>
                  </a:lnTo>
                  <a:lnTo>
                    <a:pt x="34" y="0"/>
                  </a:lnTo>
                  <a:lnTo>
                    <a:pt x="40" y="0"/>
                  </a:lnTo>
                  <a:lnTo>
                    <a:pt x="45" y="0"/>
                  </a:lnTo>
                  <a:lnTo>
                    <a:pt x="51" y="0"/>
                  </a:lnTo>
                  <a:lnTo>
                    <a:pt x="57" y="0"/>
                  </a:lnTo>
                  <a:lnTo>
                    <a:pt x="62"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25" name="Freeform 30"/>
            <p:cNvSpPr>
              <a:spLocks/>
            </p:cNvSpPr>
            <p:nvPr/>
          </p:nvSpPr>
          <p:spPr bwMode="auto">
            <a:xfrm>
              <a:off x="2885" y="2859"/>
              <a:ext cx="137" cy="34"/>
            </a:xfrm>
            <a:custGeom>
              <a:avLst/>
              <a:gdLst>
                <a:gd name="T0" fmla="*/ 68 w 137"/>
                <a:gd name="T1" fmla="*/ 0 h 34"/>
                <a:gd name="T2" fmla="*/ 97 w 137"/>
                <a:gd name="T3" fmla="*/ 0 h 34"/>
                <a:gd name="T4" fmla="*/ 119 w 137"/>
                <a:gd name="T5" fmla="*/ 0 h 34"/>
                <a:gd name="T6" fmla="*/ 131 w 137"/>
                <a:gd name="T7" fmla="*/ 7 h 34"/>
                <a:gd name="T8" fmla="*/ 137 w 137"/>
                <a:gd name="T9" fmla="*/ 14 h 34"/>
                <a:gd name="T10" fmla="*/ 131 w 137"/>
                <a:gd name="T11" fmla="*/ 21 h 34"/>
                <a:gd name="T12" fmla="*/ 119 w 137"/>
                <a:gd name="T13" fmla="*/ 28 h 34"/>
                <a:gd name="T14" fmla="*/ 97 w 137"/>
                <a:gd name="T15" fmla="*/ 34 h 34"/>
                <a:gd name="T16" fmla="*/ 68 w 137"/>
                <a:gd name="T17" fmla="*/ 34 h 34"/>
                <a:gd name="T18" fmla="*/ 40 w 137"/>
                <a:gd name="T19" fmla="*/ 34 h 34"/>
                <a:gd name="T20" fmla="*/ 22 w 137"/>
                <a:gd name="T21" fmla="*/ 28 h 34"/>
                <a:gd name="T22" fmla="*/ 5 w 137"/>
                <a:gd name="T23" fmla="*/ 21 h 34"/>
                <a:gd name="T24" fmla="*/ 0 w 137"/>
                <a:gd name="T25" fmla="*/ 14 h 34"/>
                <a:gd name="T26" fmla="*/ 5 w 137"/>
                <a:gd name="T27" fmla="*/ 7 h 34"/>
                <a:gd name="T28" fmla="*/ 22 w 137"/>
                <a:gd name="T29" fmla="*/ 0 h 34"/>
                <a:gd name="T30" fmla="*/ 40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19" y="0"/>
                  </a:lnTo>
                  <a:lnTo>
                    <a:pt x="131" y="7"/>
                  </a:lnTo>
                  <a:lnTo>
                    <a:pt x="137" y="14"/>
                  </a:lnTo>
                  <a:lnTo>
                    <a:pt x="131" y="21"/>
                  </a:lnTo>
                  <a:lnTo>
                    <a:pt x="119" y="28"/>
                  </a:lnTo>
                  <a:lnTo>
                    <a:pt x="97" y="34"/>
                  </a:lnTo>
                  <a:lnTo>
                    <a:pt x="68" y="34"/>
                  </a:lnTo>
                  <a:lnTo>
                    <a:pt x="40" y="34"/>
                  </a:lnTo>
                  <a:lnTo>
                    <a:pt x="22" y="28"/>
                  </a:lnTo>
                  <a:lnTo>
                    <a:pt x="5" y="21"/>
                  </a:lnTo>
                  <a:lnTo>
                    <a:pt x="0" y="14"/>
                  </a:lnTo>
                  <a:lnTo>
                    <a:pt x="5" y="7"/>
                  </a:lnTo>
                  <a:lnTo>
                    <a:pt x="22" y="0"/>
                  </a:lnTo>
                  <a:lnTo>
                    <a:pt x="40"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26" name="Rectangle 31"/>
            <p:cNvSpPr>
              <a:spLocks noChangeArrowheads="1"/>
            </p:cNvSpPr>
            <p:nvPr/>
          </p:nvSpPr>
          <p:spPr bwMode="auto">
            <a:xfrm>
              <a:off x="2896" y="2730"/>
              <a:ext cx="108" cy="34"/>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27" name="Rectangle 32"/>
            <p:cNvSpPr>
              <a:spLocks noChangeArrowheads="1"/>
            </p:cNvSpPr>
            <p:nvPr/>
          </p:nvSpPr>
          <p:spPr bwMode="auto">
            <a:xfrm>
              <a:off x="2896" y="2730"/>
              <a:ext cx="108" cy="34"/>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28" name="Rectangle 33"/>
            <p:cNvSpPr>
              <a:spLocks noChangeArrowheads="1"/>
            </p:cNvSpPr>
            <p:nvPr/>
          </p:nvSpPr>
          <p:spPr bwMode="auto">
            <a:xfrm>
              <a:off x="2286" y="2921"/>
              <a:ext cx="194" cy="204"/>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29" name="Rectangle 34"/>
            <p:cNvSpPr>
              <a:spLocks noChangeArrowheads="1"/>
            </p:cNvSpPr>
            <p:nvPr/>
          </p:nvSpPr>
          <p:spPr bwMode="auto">
            <a:xfrm>
              <a:off x="2286" y="2921"/>
              <a:ext cx="194" cy="204"/>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30" name="Freeform 35"/>
            <p:cNvSpPr>
              <a:spLocks/>
            </p:cNvSpPr>
            <p:nvPr/>
          </p:nvSpPr>
          <p:spPr bwMode="auto">
            <a:xfrm>
              <a:off x="2223" y="3002"/>
              <a:ext cx="137" cy="34"/>
            </a:xfrm>
            <a:custGeom>
              <a:avLst/>
              <a:gdLst>
                <a:gd name="T0" fmla="*/ 68 w 137"/>
                <a:gd name="T1" fmla="*/ 0 h 34"/>
                <a:gd name="T2" fmla="*/ 74 w 137"/>
                <a:gd name="T3" fmla="*/ 0 h 34"/>
                <a:gd name="T4" fmla="*/ 80 w 137"/>
                <a:gd name="T5" fmla="*/ 0 h 34"/>
                <a:gd name="T6" fmla="*/ 86 w 137"/>
                <a:gd name="T7" fmla="*/ 0 h 34"/>
                <a:gd name="T8" fmla="*/ 91 w 137"/>
                <a:gd name="T9" fmla="*/ 0 h 34"/>
                <a:gd name="T10" fmla="*/ 97 w 137"/>
                <a:gd name="T11" fmla="*/ 0 h 34"/>
                <a:gd name="T12" fmla="*/ 103 w 137"/>
                <a:gd name="T13" fmla="*/ 0 h 34"/>
                <a:gd name="T14" fmla="*/ 108 w 137"/>
                <a:gd name="T15" fmla="*/ 0 h 34"/>
                <a:gd name="T16" fmla="*/ 114 w 137"/>
                <a:gd name="T17" fmla="*/ 0 h 34"/>
                <a:gd name="T18" fmla="*/ 120 w 137"/>
                <a:gd name="T19" fmla="*/ 7 h 34"/>
                <a:gd name="T20" fmla="*/ 126 w 137"/>
                <a:gd name="T21" fmla="*/ 7 h 34"/>
                <a:gd name="T22" fmla="*/ 131 w 137"/>
                <a:gd name="T23" fmla="*/ 7 h 34"/>
                <a:gd name="T24" fmla="*/ 131 w 137"/>
                <a:gd name="T25" fmla="*/ 14 h 34"/>
                <a:gd name="T26" fmla="*/ 137 w 137"/>
                <a:gd name="T27" fmla="*/ 14 h 34"/>
                <a:gd name="T28" fmla="*/ 137 w 137"/>
                <a:gd name="T29" fmla="*/ 21 h 34"/>
                <a:gd name="T30" fmla="*/ 131 w 137"/>
                <a:gd name="T31" fmla="*/ 21 h 34"/>
                <a:gd name="T32" fmla="*/ 126 w 137"/>
                <a:gd name="T33" fmla="*/ 27 h 34"/>
                <a:gd name="T34" fmla="*/ 120 w 137"/>
                <a:gd name="T35" fmla="*/ 27 h 34"/>
                <a:gd name="T36" fmla="*/ 114 w 137"/>
                <a:gd name="T37" fmla="*/ 27 h 34"/>
                <a:gd name="T38" fmla="*/ 108 w 137"/>
                <a:gd name="T39" fmla="*/ 27 h 34"/>
                <a:gd name="T40" fmla="*/ 103 w 137"/>
                <a:gd name="T41" fmla="*/ 34 h 34"/>
                <a:gd name="T42" fmla="*/ 97 w 137"/>
                <a:gd name="T43" fmla="*/ 34 h 34"/>
                <a:gd name="T44" fmla="*/ 91 w 137"/>
                <a:gd name="T45" fmla="*/ 34 h 34"/>
                <a:gd name="T46" fmla="*/ 86 w 137"/>
                <a:gd name="T47" fmla="*/ 34 h 34"/>
                <a:gd name="T48" fmla="*/ 80 w 137"/>
                <a:gd name="T49" fmla="*/ 34 h 34"/>
                <a:gd name="T50" fmla="*/ 74 w 137"/>
                <a:gd name="T51" fmla="*/ 34 h 34"/>
                <a:gd name="T52" fmla="*/ 68 w 137"/>
                <a:gd name="T53" fmla="*/ 34 h 34"/>
                <a:gd name="T54" fmla="*/ 63 w 137"/>
                <a:gd name="T55" fmla="*/ 34 h 34"/>
                <a:gd name="T56" fmla="*/ 57 w 137"/>
                <a:gd name="T57" fmla="*/ 34 h 34"/>
                <a:gd name="T58" fmla="*/ 51 w 137"/>
                <a:gd name="T59" fmla="*/ 34 h 34"/>
                <a:gd name="T60" fmla="*/ 46 w 137"/>
                <a:gd name="T61" fmla="*/ 34 h 34"/>
                <a:gd name="T62" fmla="*/ 40 w 137"/>
                <a:gd name="T63" fmla="*/ 34 h 34"/>
                <a:gd name="T64" fmla="*/ 34 w 137"/>
                <a:gd name="T65" fmla="*/ 34 h 34"/>
                <a:gd name="T66" fmla="*/ 29 w 137"/>
                <a:gd name="T67" fmla="*/ 27 h 34"/>
                <a:gd name="T68" fmla="*/ 23 w 137"/>
                <a:gd name="T69" fmla="*/ 27 h 34"/>
                <a:gd name="T70" fmla="*/ 17 w 137"/>
                <a:gd name="T71" fmla="*/ 27 h 34"/>
                <a:gd name="T72" fmla="*/ 11 w 137"/>
                <a:gd name="T73" fmla="*/ 27 h 34"/>
                <a:gd name="T74" fmla="*/ 6 w 137"/>
                <a:gd name="T75" fmla="*/ 27 h 34"/>
                <a:gd name="T76" fmla="*/ 6 w 137"/>
                <a:gd name="T77" fmla="*/ 21 h 34"/>
                <a:gd name="T78" fmla="*/ 0 w 137"/>
                <a:gd name="T79" fmla="*/ 21 h 34"/>
                <a:gd name="T80" fmla="*/ 0 w 137"/>
                <a:gd name="T81" fmla="*/ 14 h 34"/>
                <a:gd name="T82" fmla="*/ 6 w 137"/>
                <a:gd name="T83" fmla="*/ 7 h 34"/>
                <a:gd name="T84" fmla="*/ 11 w 137"/>
                <a:gd name="T85" fmla="*/ 7 h 34"/>
                <a:gd name="T86" fmla="*/ 17 w 137"/>
                <a:gd name="T87" fmla="*/ 7 h 34"/>
                <a:gd name="T88" fmla="*/ 17 w 137"/>
                <a:gd name="T89" fmla="*/ 0 h 34"/>
                <a:gd name="T90" fmla="*/ 23 w 137"/>
                <a:gd name="T91" fmla="*/ 0 h 34"/>
                <a:gd name="T92" fmla="*/ 29 w 137"/>
                <a:gd name="T93" fmla="*/ 0 h 34"/>
                <a:gd name="T94" fmla="*/ 34 w 137"/>
                <a:gd name="T95" fmla="*/ 0 h 34"/>
                <a:gd name="T96" fmla="*/ 40 w 137"/>
                <a:gd name="T97" fmla="*/ 0 h 34"/>
                <a:gd name="T98" fmla="*/ 46 w 137"/>
                <a:gd name="T99" fmla="*/ 0 h 34"/>
                <a:gd name="T100" fmla="*/ 51 w 137"/>
                <a:gd name="T101" fmla="*/ 0 h 34"/>
                <a:gd name="T102" fmla="*/ 57 w 137"/>
                <a:gd name="T103" fmla="*/ 0 h 34"/>
                <a:gd name="T104" fmla="*/ 63 w 137"/>
                <a:gd name="T105" fmla="*/ 0 h 34"/>
                <a:gd name="T106" fmla="*/ 68 w 137"/>
                <a:gd name="T107" fmla="*/ 0 h 3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7"/>
                <a:gd name="T163" fmla="*/ 0 h 34"/>
                <a:gd name="T164" fmla="*/ 137 w 137"/>
                <a:gd name="T165" fmla="*/ 34 h 3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7" h="34">
                  <a:moveTo>
                    <a:pt x="68" y="0"/>
                  </a:moveTo>
                  <a:lnTo>
                    <a:pt x="74" y="0"/>
                  </a:lnTo>
                  <a:lnTo>
                    <a:pt x="80" y="0"/>
                  </a:lnTo>
                  <a:lnTo>
                    <a:pt x="86" y="0"/>
                  </a:lnTo>
                  <a:lnTo>
                    <a:pt x="91" y="0"/>
                  </a:lnTo>
                  <a:lnTo>
                    <a:pt x="97" y="0"/>
                  </a:lnTo>
                  <a:lnTo>
                    <a:pt x="103" y="0"/>
                  </a:lnTo>
                  <a:lnTo>
                    <a:pt x="108" y="0"/>
                  </a:lnTo>
                  <a:lnTo>
                    <a:pt x="114" y="0"/>
                  </a:lnTo>
                  <a:lnTo>
                    <a:pt x="120" y="7"/>
                  </a:lnTo>
                  <a:lnTo>
                    <a:pt x="126" y="7"/>
                  </a:lnTo>
                  <a:lnTo>
                    <a:pt x="131" y="7"/>
                  </a:lnTo>
                  <a:lnTo>
                    <a:pt x="131" y="14"/>
                  </a:lnTo>
                  <a:lnTo>
                    <a:pt x="137" y="14"/>
                  </a:lnTo>
                  <a:lnTo>
                    <a:pt x="137" y="21"/>
                  </a:lnTo>
                  <a:lnTo>
                    <a:pt x="131" y="21"/>
                  </a:lnTo>
                  <a:lnTo>
                    <a:pt x="126" y="27"/>
                  </a:lnTo>
                  <a:lnTo>
                    <a:pt x="120" y="27"/>
                  </a:lnTo>
                  <a:lnTo>
                    <a:pt x="114" y="27"/>
                  </a:lnTo>
                  <a:lnTo>
                    <a:pt x="108" y="27"/>
                  </a:lnTo>
                  <a:lnTo>
                    <a:pt x="103" y="34"/>
                  </a:lnTo>
                  <a:lnTo>
                    <a:pt x="97" y="34"/>
                  </a:lnTo>
                  <a:lnTo>
                    <a:pt x="91" y="34"/>
                  </a:lnTo>
                  <a:lnTo>
                    <a:pt x="86" y="34"/>
                  </a:lnTo>
                  <a:lnTo>
                    <a:pt x="80" y="34"/>
                  </a:lnTo>
                  <a:lnTo>
                    <a:pt x="74" y="34"/>
                  </a:lnTo>
                  <a:lnTo>
                    <a:pt x="68" y="34"/>
                  </a:lnTo>
                  <a:lnTo>
                    <a:pt x="63" y="34"/>
                  </a:lnTo>
                  <a:lnTo>
                    <a:pt x="57" y="34"/>
                  </a:lnTo>
                  <a:lnTo>
                    <a:pt x="51" y="34"/>
                  </a:lnTo>
                  <a:lnTo>
                    <a:pt x="46" y="34"/>
                  </a:lnTo>
                  <a:lnTo>
                    <a:pt x="40" y="34"/>
                  </a:lnTo>
                  <a:lnTo>
                    <a:pt x="34" y="34"/>
                  </a:lnTo>
                  <a:lnTo>
                    <a:pt x="29" y="27"/>
                  </a:lnTo>
                  <a:lnTo>
                    <a:pt x="23" y="27"/>
                  </a:lnTo>
                  <a:lnTo>
                    <a:pt x="17" y="27"/>
                  </a:lnTo>
                  <a:lnTo>
                    <a:pt x="11" y="27"/>
                  </a:lnTo>
                  <a:lnTo>
                    <a:pt x="6" y="27"/>
                  </a:lnTo>
                  <a:lnTo>
                    <a:pt x="6" y="21"/>
                  </a:lnTo>
                  <a:lnTo>
                    <a:pt x="0" y="21"/>
                  </a:lnTo>
                  <a:lnTo>
                    <a:pt x="0" y="14"/>
                  </a:lnTo>
                  <a:lnTo>
                    <a:pt x="6" y="7"/>
                  </a:lnTo>
                  <a:lnTo>
                    <a:pt x="11" y="7"/>
                  </a:lnTo>
                  <a:lnTo>
                    <a:pt x="17" y="7"/>
                  </a:lnTo>
                  <a:lnTo>
                    <a:pt x="17" y="0"/>
                  </a:lnTo>
                  <a:lnTo>
                    <a:pt x="23" y="0"/>
                  </a:lnTo>
                  <a:lnTo>
                    <a:pt x="29" y="0"/>
                  </a:lnTo>
                  <a:lnTo>
                    <a:pt x="34" y="0"/>
                  </a:lnTo>
                  <a:lnTo>
                    <a:pt x="40" y="0"/>
                  </a:lnTo>
                  <a:lnTo>
                    <a:pt x="46" y="0"/>
                  </a:lnTo>
                  <a:lnTo>
                    <a:pt x="51" y="0"/>
                  </a:lnTo>
                  <a:lnTo>
                    <a:pt x="57" y="0"/>
                  </a:lnTo>
                  <a:lnTo>
                    <a:pt x="63"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31" name="Freeform 36"/>
            <p:cNvSpPr>
              <a:spLocks/>
            </p:cNvSpPr>
            <p:nvPr/>
          </p:nvSpPr>
          <p:spPr bwMode="auto">
            <a:xfrm>
              <a:off x="2223" y="3002"/>
              <a:ext cx="137" cy="34"/>
            </a:xfrm>
            <a:custGeom>
              <a:avLst/>
              <a:gdLst>
                <a:gd name="T0" fmla="*/ 68 w 137"/>
                <a:gd name="T1" fmla="*/ 0 h 34"/>
                <a:gd name="T2" fmla="*/ 97 w 137"/>
                <a:gd name="T3" fmla="*/ 0 h 34"/>
                <a:gd name="T4" fmla="*/ 114 w 137"/>
                <a:gd name="T5" fmla="*/ 0 h 34"/>
                <a:gd name="T6" fmla="*/ 131 w 137"/>
                <a:gd name="T7" fmla="*/ 7 h 34"/>
                <a:gd name="T8" fmla="*/ 137 w 137"/>
                <a:gd name="T9" fmla="*/ 14 h 34"/>
                <a:gd name="T10" fmla="*/ 131 w 137"/>
                <a:gd name="T11" fmla="*/ 21 h 34"/>
                <a:gd name="T12" fmla="*/ 114 w 137"/>
                <a:gd name="T13" fmla="*/ 27 h 34"/>
                <a:gd name="T14" fmla="*/ 97 w 137"/>
                <a:gd name="T15" fmla="*/ 34 h 34"/>
                <a:gd name="T16" fmla="*/ 68 w 137"/>
                <a:gd name="T17" fmla="*/ 34 h 34"/>
                <a:gd name="T18" fmla="*/ 40 w 137"/>
                <a:gd name="T19" fmla="*/ 34 h 34"/>
                <a:gd name="T20" fmla="*/ 17 w 137"/>
                <a:gd name="T21" fmla="*/ 27 h 34"/>
                <a:gd name="T22" fmla="*/ 6 w 137"/>
                <a:gd name="T23" fmla="*/ 21 h 34"/>
                <a:gd name="T24" fmla="*/ 0 w 137"/>
                <a:gd name="T25" fmla="*/ 14 h 34"/>
                <a:gd name="T26" fmla="*/ 6 w 137"/>
                <a:gd name="T27" fmla="*/ 7 h 34"/>
                <a:gd name="T28" fmla="*/ 17 w 137"/>
                <a:gd name="T29" fmla="*/ 0 h 34"/>
                <a:gd name="T30" fmla="*/ 40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14" y="0"/>
                  </a:lnTo>
                  <a:lnTo>
                    <a:pt x="131" y="7"/>
                  </a:lnTo>
                  <a:lnTo>
                    <a:pt x="137" y="14"/>
                  </a:lnTo>
                  <a:lnTo>
                    <a:pt x="131" y="21"/>
                  </a:lnTo>
                  <a:lnTo>
                    <a:pt x="114" y="27"/>
                  </a:lnTo>
                  <a:lnTo>
                    <a:pt x="97" y="34"/>
                  </a:lnTo>
                  <a:lnTo>
                    <a:pt x="68" y="34"/>
                  </a:lnTo>
                  <a:lnTo>
                    <a:pt x="40" y="34"/>
                  </a:lnTo>
                  <a:lnTo>
                    <a:pt x="17" y="27"/>
                  </a:lnTo>
                  <a:lnTo>
                    <a:pt x="6" y="21"/>
                  </a:lnTo>
                  <a:lnTo>
                    <a:pt x="0" y="14"/>
                  </a:lnTo>
                  <a:lnTo>
                    <a:pt x="6" y="7"/>
                  </a:lnTo>
                  <a:lnTo>
                    <a:pt x="17" y="0"/>
                  </a:lnTo>
                  <a:lnTo>
                    <a:pt x="40"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32" name="Freeform 37"/>
            <p:cNvSpPr>
              <a:spLocks/>
            </p:cNvSpPr>
            <p:nvPr/>
          </p:nvSpPr>
          <p:spPr bwMode="auto">
            <a:xfrm>
              <a:off x="2223" y="3070"/>
              <a:ext cx="137" cy="34"/>
            </a:xfrm>
            <a:custGeom>
              <a:avLst/>
              <a:gdLst>
                <a:gd name="T0" fmla="*/ 68 w 137"/>
                <a:gd name="T1" fmla="*/ 0 h 34"/>
                <a:gd name="T2" fmla="*/ 74 w 137"/>
                <a:gd name="T3" fmla="*/ 0 h 34"/>
                <a:gd name="T4" fmla="*/ 80 w 137"/>
                <a:gd name="T5" fmla="*/ 0 h 34"/>
                <a:gd name="T6" fmla="*/ 86 w 137"/>
                <a:gd name="T7" fmla="*/ 0 h 34"/>
                <a:gd name="T8" fmla="*/ 91 w 137"/>
                <a:gd name="T9" fmla="*/ 0 h 34"/>
                <a:gd name="T10" fmla="*/ 97 w 137"/>
                <a:gd name="T11" fmla="*/ 0 h 34"/>
                <a:gd name="T12" fmla="*/ 103 w 137"/>
                <a:gd name="T13" fmla="*/ 0 h 34"/>
                <a:gd name="T14" fmla="*/ 108 w 137"/>
                <a:gd name="T15" fmla="*/ 0 h 34"/>
                <a:gd name="T16" fmla="*/ 114 w 137"/>
                <a:gd name="T17" fmla="*/ 0 h 34"/>
                <a:gd name="T18" fmla="*/ 120 w 137"/>
                <a:gd name="T19" fmla="*/ 7 h 34"/>
                <a:gd name="T20" fmla="*/ 126 w 137"/>
                <a:gd name="T21" fmla="*/ 7 h 34"/>
                <a:gd name="T22" fmla="*/ 131 w 137"/>
                <a:gd name="T23" fmla="*/ 7 h 34"/>
                <a:gd name="T24" fmla="*/ 131 w 137"/>
                <a:gd name="T25" fmla="*/ 14 h 34"/>
                <a:gd name="T26" fmla="*/ 137 w 137"/>
                <a:gd name="T27" fmla="*/ 14 h 34"/>
                <a:gd name="T28" fmla="*/ 137 w 137"/>
                <a:gd name="T29" fmla="*/ 21 h 34"/>
                <a:gd name="T30" fmla="*/ 131 w 137"/>
                <a:gd name="T31" fmla="*/ 21 h 34"/>
                <a:gd name="T32" fmla="*/ 126 w 137"/>
                <a:gd name="T33" fmla="*/ 27 h 34"/>
                <a:gd name="T34" fmla="*/ 120 w 137"/>
                <a:gd name="T35" fmla="*/ 27 h 34"/>
                <a:gd name="T36" fmla="*/ 114 w 137"/>
                <a:gd name="T37" fmla="*/ 27 h 34"/>
                <a:gd name="T38" fmla="*/ 108 w 137"/>
                <a:gd name="T39" fmla="*/ 27 h 34"/>
                <a:gd name="T40" fmla="*/ 103 w 137"/>
                <a:gd name="T41" fmla="*/ 34 h 34"/>
                <a:gd name="T42" fmla="*/ 97 w 137"/>
                <a:gd name="T43" fmla="*/ 34 h 34"/>
                <a:gd name="T44" fmla="*/ 91 w 137"/>
                <a:gd name="T45" fmla="*/ 34 h 34"/>
                <a:gd name="T46" fmla="*/ 86 w 137"/>
                <a:gd name="T47" fmla="*/ 34 h 34"/>
                <a:gd name="T48" fmla="*/ 80 w 137"/>
                <a:gd name="T49" fmla="*/ 34 h 34"/>
                <a:gd name="T50" fmla="*/ 74 w 137"/>
                <a:gd name="T51" fmla="*/ 34 h 34"/>
                <a:gd name="T52" fmla="*/ 68 w 137"/>
                <a:gd name="T53" fmla="*/ 34 h 34"/>
                <a:gd name="T54" fmla="*/ 63 w 137"/>
                <a:gd name="T55" fmla="*/ 34 h 34"/>
                <a:gd name="T56" fmla="*/ 57 w 137"/>
                <a:gd name="T57" fmla="*/ 34 h 34"/>
                <a:gd name="T58" fmla="*/ 51 w 137"/>
                <a:gd name="T59" fmla="*/ 34 h 34"/>
                <a:gd name="T60" fmla="*/ 46 w 137"/>
                <a:gd name="T61" fmla="*/ 34 h 34"/>
                <a:gd name="T62" fmla="*/ 40 w 137"/>
                <a:gd name="T63" fmla="*/ 34 h 34"/>
                <a:gd name="T64" fmla="*/ 34 w 137"/>
                <a:gd name="T65" fmla="*/ 34 h 34"/>
                <a:gd name="T66" fmla="*/ 29 w 137"/>
                <a:gd name="T67" fmla="*/ 27 h 34"/>
                <a:gd name="T68" fmla="*/ 23 w 137"/>
                <a:gd name="T69" fmla="*/ 27 h 34"/>
                <a:gd name="T70" fmla="*/ 17 w 137"/>
                <a:gd name="T71" fmla="*/ 27 h 34"/>
                <a:gd name="T72" fmla="*/ 11 w 137"/>
                <a:gd name="T73" fmla="*/ 27 h 34"/>
                <a:gd name="T74" fmla="*/ 6 w 137"/>
                <a:gd name="T75" fmla="*/ 27 h 34"/>
                <a:gd name="T76" fmla="*/ 6 w 137"/>
                <a:gd name="T77" fmla="*/ 21 h 34"/>
                <a:gd name="T78" fmla="*/ 0 w 137"/>
                <a:gd name="T79" fmla="*/ 21 h 34"/>
                <a:gd name="T80" fmla="*/ 0 w 137"/>
                <a:gd name="T81" fmla="*/ 14 h 34"/>
                <a:gd name="T82" fmla="*/ 6 w 137"/>
                <a:gd name="T83" fmla="*/ 7 h 34"/>
                <a:gd name="T84" fmla="*/ 11 w 137"/>
                <a:gd name="T85" fmla="*/ 7 h 34"/>
                <a:gd name="T86" fmla="*/ 17 w 137"/>
                <a:gd name="T87" fmla="*/ 7 h 34"/>
                <a:gd name="T88" fmla="*/ 17 w 137"/>
                <a:gd name="T89" fmla="*/ 0 h 34"/>
                <a:gd name="T90" fmla="*/ 23 w 137"/>
                <a:gd name="T91" fmla="*/ 0 h 34"/>
                <a:gd name="T92" fmla="*/ 29 w 137"/>
                <a:gd name="T93" fmla="*/ 0 h 34"/>
                <a:gd name="T94" fmla="*/ 34 w 137"/>
                <a:gd name="T95" fmla="*/ 0 h 34"/>
                <a:gd name="T96" fmla="*/ 40 w 137"/>
                <a:gd name="T97" fmla="*/ 0 h 34"/>
                <a:gd name="T98" fmla="*/ 46 w 137"/>
                <a:gd name="T99" fmla="*/ 0 h 34"/>
                <a:gd name="T100" fmla="*/ 51 w 137"/>
                <a:gd name="T101" fmla="*/ 0 h 34"/>
                <a:gd name="T102" fmla="*/ 57 w 137"/>
                <a:gd name="T103" fmla="*/ 0 h 34"/>
                <a:gd name="T104" fmla="*/ 63 w 137"/>
                <a:gd name="T105" fmla="*/ 0 h 34"/>
                <a:gd name="T106" fmla="*/ 68 w 137"/>
                <a:gd name="T107" fmla="*/ 0 h 3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7"/>
                <a:gd name="T163" fmla="*/ 0 h 34"/>
                <a:gd name="T164" fmla="*/ 137 w 137"/>
                <a:gd name="T165" fmla="*/ 34 h 3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7" h="34">
                  <a:moveTo>
                    <a:pt x="68" y="0"/>
                  </a:moveTo>
                  <a:lnTo>
                    <a:pt x="74" y="0"/>
                  </a:lnTo>
                  <a:lnTo>
                    <a:pt x="80" y="0"/>
                  </a:lnTo>
                  <a:lnTo>
                    <a:pt x="86" y="0"/>
                  </a:lnTo>
                  <a:lnTo>
                    <a:pt x="91" y="0"/>
                  </a:lnTo>
                  <a:lnTo>
                    <a:pt x="97" y="0"/>
                  </a:lnTo>
                  <a:lnTo>
                    <a:pt x="103" y="0"/>
                  </a:lnTo>
                  <a:lnTo>
                    <a:pt x="108" y="0"/>
                  </a:lnTo>
                  <a:lnTo>
                    <a:pt x="114" y="0"/>
                  </a:lnTo>
                  <a:lnTo>
                    <a:pt x="120" y="7"/>
                  </a:lnTo>
                  <a:lnTo>
                    <a:pt x="126" y="7"/>
                  </a:lnTo>
                  <a:lnTo>
                    <a:pt x="131" y="7"/>
                  </a:lnTo>
                  <a:lnTo>
                    <a:pt x="131" y="14"/>
                  </a:lnTo>
                  <a:lnTo>
                    <a:pt x="137" y="14"/>
                  </a:lnTo>
                  <a:lnTo>
                    <a:pt x="137" y="21"/>
                  </a:lnTo>
                  <a:lnTo>
                    <a:pt x="131" y="21"/>
                  </a:lnTo>
                  <a:lnTo>
                    <a:pt x="126" y="27"/>
                  </a:lnTo>
                  <a:lnTo>
                    <a:pt x="120" y="27"/>
                  </a:lnTo>
                  <a:lnTo>
                    <a:pt x="114" y="27"/>
                  </a:lnTo>
                  <a:lnTo>
                    <a:pt x="108" y="27"/>
                  </a:lnTo>
                  <a:lnTo>
                    <a:pt x="103" y="34"/>
                  </a:lnTo>
                  <a:lnTo>
                    <a:pt x="97" y="34"/>
                  </a:lnTo>
                  <a:lnTo>
                    <a:pt x="91" y="34"/>
                  </a:lnTo>
                  <a:lnTo>
                    <a:pt x="86" y="34"/>
                  </a:lnTo>
                  <a:lnTo>
                    <a:pt x="80" y="34"/>
                  </a:lnTo>
                  <a:lnTo>
                    <a:pt x="74" y="34"/>
                  </a:lnTo>
                  <a:lnTo>
                    <a:pt x="68" y="34"/>
                  </a:lnTo>
                  <a:lnTo>
                    <a:pt x="63" y="34"/>
                  </a:lnTo>
                  <a:lnTo>
                    <a:pt x="57" y="34"/>
                  </a:lnTo>
                  <a:lnTo>
                    <a:pt x="51" y="34"/>
                  </a:lnTo>
                  <a:lnTo>
                    <a:pt x="46" y="34"/>
                  </a:lnTo>
                  <a:lnTo>
                    <a:pt x="40" y="34"/>
                  </a:lnTo>
                  <a:lnTo>
                    <a:pt x="34" y="34"/>
                  </a:lnTo>
                  <a:lnTo>
                    <a:pt x="29" y="27"/>
                  </a:lnTo>
                  <a:lnTo>
                    <a:pt x="23" y="27"/>
                  </a:lnTo>
                  <a:lnTo>
                    <a:pt x="17" y="27"/>
                  </a:lnTo>
                  <a:lnTo>
                    <a:pt x="11" y="27"/>
                  </a:lnTo>
                  <a:lnTo>
                    <a:pt x="6" y="27"/>
                  </a:lnTo>
                  <a:lnTo>
                    <a:pt x="6" y="21"/>
                  </a:lnTo>
                  <a:lnTo>
                    <a:pt x="0" y="21"/>
                  </a:lnTo>
                  <a:lnTo>
                    <a:pt x="0" y="14"/>
                  </a:lnTo>
                  <a:lnTo>
                    <a:pt x="6" y="7"/>
                  </a:lnTo>
                  <a:lnTo>
                    <a:pt x="11" y="7"/>
                  </a:lnTo>
                  <a:lnTo>
                    <a:pt x="17" y="7"/>
                  </a:lnTo>
                  <a:lnTo>
                    <a:pt x="17" y="0"/>
                  </a:lnTo>
                  <a:lnTo>
                    <a:pt x="23" y="0"/>
                  </a:lnTo>
                  <a:lnTo>
                    <a:pt x="29" y="0"/>
                  </a:lnTo>
                  <a:lnTo>
                    <a:pt x="34" y="0"/>
                  </a:lnTo>
                  <a:lnTo>
                    <a:pt x="40" y="0"/>
                  </a:lnTo>
                  <a:lnTo>
                    <a:pt x="46" y="0"/>
                  </a:lnTo>
                  <a:lnTo>
                    <a:pt x="51" y="0"/>
                  </a:lnTo>
                  <a:lnTo>
                    <a:pt x="57" y="0"/>
                  </a:lnTo>
                  <a:lnTo>
                    <a:pt x="63"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33" name="Freeform 38"/>
            <p:cNvSpPr>
              <a:spLocks/>
            </p:cNvSpPr>
            <p:nvPr/>
          </p:nvSpPr>
          <p:spPr bwMode="auto">
            <a:xfrm>
              <a:off x="2223" y="3070"/>
              <a:ext cx="137" cy="34"/>
            </a:xfrm>
            <a:custGeom>
              <a:avLst/>
              <a:gdLst>
                <a:gd name="T0" fmla="*/ 68 w 137"/>
                <a:gd name="T1" fmla="*/ 0 h 34"/>
                <a:gd name="T2" fmla="*/ 97 w 137"/>
                <a:gd name="T3" fmla="*/ 0 h 34"/>
                <a:gd name="T4" fmla="*/ 114 w 137"/>
                <a:gd name="T5" fmla="*/ 0 h 34"/>
                <a:gd name="T6" fmla="*/ 131 w 137"/>
                <a:gd name="T7" fmla="*/ 7 h 34"/>
                <a:gd name="T8" fmla="*/ 137 w 137"/>
                <a:gd name="T9" fmla="*/ 14 h 34"/>
                <a:gd name="T10" fmla="*/ 131 w 137"/>
                <a:gd name="T11" fmla="*/ 21 h 34"/>
                <a:gd name="T12" fmla="*/ 114 w 137"/>
                <a:gd name="T13" fmla="*/ 27 h 34"/>
                <a:gd name="T14" fmla="*/ 97 w 137"/>
                <a:gd name="T15" fmla="*/ 34 h 34"/>
                <a:gd name="T16" fmla="*/ 68 w 137"/>
                <a:gd name="T17" fmla="*/ 34 h 34"/>
                <a:gd name="T18" fmla="*/ 40 w 137"/>
                <a:gd name="T19" fmla="*/ 34 h 34"/>
                <a:gd name="T20" fmla="*/ 17 w 137"/>
                <a:gd name="T21" fmla="*/ 27 h 34"/>
                <a:gd name="T22" fmla="*/ 6 w 137"/>
                <a:gd name="T23" fmla="*/ 21 h 34"/>
                <a:gd name="T24" fmla="*/ 0 w 137"/>
                <a:gd name="T25" fmla="*/ 14 h 34"/>
                <a:gd name="T26" fmla="*/ 6 w 137"/>
                <a:gd name="T27" fmla="*/ 7 h 34"/>
                <a:gd name="T28" fmla="*/ 17 w 137"/>
                <a:gd name="T29" fmla="*/ 0 h 34"/>
                <a:gd name="T30" fmla="*/ 40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14" y="0"/>
                  </a:lnTo>
                  <a:lnTo>
                    <a:pt x="131" y="7"/>
                  </a:lnTo>
                  <a:lnTo>
                    <a:pt x="137" y="14"/>
                  </a:lnTo>
                  <a:lnTo>
                    <a:pt x="131" y="21"/>
                  </a:lnTo>
                  <a:lnTo>
                    <a:pt x="114" y="27"/>
                  </a:lnTo>
                  <a:lnTo>
                    <a:pt x="97" y="34"/>
                  </a:lnTo>
                  <a:lnTo>
                    <a:pt x="68" y="34"/>
                  </a:lnTo>
                  <a:lnTo>
                    <a:pt x="40" y="34"/>
                  </a:lnTo>
                  <a:lnTo>
                    <a:pt x="17" y="27"/>
                  </a:lnTo>
                  <a:lnTo>
                    <a:pt x="6" y="21"/>
                  </a:lnTo>
                  <a:lnTo>
                    <a:pt x="0" y="14"/>
                  </a:lnTo>
                  <a:lnTo>
                    <a:pt x="6" y="7"/>
                  </a:lnTo>
                  <a:lnTo>
                    <a:pt x="17" y="0"/>
                  </a:lnTo>
                  <a:lnTo>
                    <a:pt x="40"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34" name="Rectangle 39"/>
            <p:cNvSpPr>
              <a:spLocks noChangeArrowheads="1"/>
            </p:cNvSpPr>
            <p:nvPr/>
          </p:nvSpPr>
          <p:spPr bwMode="auto">
            <a:xfrm>
              <a:off x="2234" y="2941"/>
              <a:ext cx="109" cy="41"/>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35" name="Rectangle 40"/>
            <p:cNvSpPr>
              <a:spLocks noChangeArrowheads="1"/>
            </p:cNvSpPr>
            <p:nvPr/>
          </p:nvSpPr>
          <p:spPr bwMode="auto">
            <a:xfrm>
              <a:off x="2234" y="2941"/>
              <a:ext cx="109" cy="41"/>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36" name="Rectangle 41"/>
            <p:cNvSpPr>
              <a:spLocks noChangeArrowheads="1"/>
            </p:cNvSpPr>
            <p:nvPr/>
          </p:nvSpPr>
          <p:spPr bwMode="auto">
            <a:xfrm>
              <a:off x="2771" y="3458"/>
              <a:ext cx="194" cy="211"/>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37" name="Rectangle 42"/>
            <p:cNvSpPr>
              <a:spLocks noChangeArrowheads="1"/>
            </p:cNvSpPr>
            <p:nvPr/>
          </p:nvSpPr>
          <p:spPr bwMode="auto">
            <a:xfrm>
              <a:off x="2771" y="3458"/>
              <a:ext cx="194" cy="211"/>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38" name="Freeform 43"/>
            <p:cNvSpPr>
              <a:spLocks/>
            </p:cNvSpPr>
            <p:nvPr/>
          </p:nvSpPr>
          <p:spPr bwMode="auto">
            <a:xfrm>
              <a:off x="2708" y="3540"/>
              <a:ext cx="137" cy="34"/>
            </a:xfrm>
            <a:custGeom>
              <a:avLst/>
              <a:gdLst>
                <a:gd name="T0" fmla="*/ 68 w 137"/>
                <a:gd name="T1" fmla="*/ 0 h 34"/>
                <a:gd name="T2" fmla="*/ 74 w 137"/>
                <a:gd name="T3" fmla="*/ 0 h 34"/>
                <a:gd name="T4" fmla="*/ 80 w 137"/>
                <a:gd name="T5" fmla="*/ 0 h 34"/>
                <a:gd name="T6" fmla="*/ 85 w 137"/>
                <a:gd name="T7" fmla="*/ 0 h 34"/>
                <a:gd name="T8" fmla="*/ 91 w 137"/>
                <a:gd name="T9" fmla="*/ 0 h 34"/>
                <a:gd name="T10" fmla="*/ 97 w 137"/>
                <a:gd name="T11" fmla="*/ 0 h 34"/>
                <a:gd name="T12" fmla="*/ 103 w 137"/>
                <a:gd name="T13" fmla="*/ 0 h 34"/>
                <a:gd name="T14" fmla="*/ 108 w 137"/>
                <a:gd name="T15" fmla="*/ 0 h 34"/>
                <a:gd name="T16" fmla="*/ 114 w 137"/>
                <a:gd name="T17" fmla="*/ 6 h 34"/>
                <a:gd name="T18" fmla="*/ 120 w 137"/>
                <a:gd name="T19" fmla="*/ 6 h 34"/>
                <a:gd name="T20" fmla="*/ 125 w 137"/>
                <a:gd name="T21" fmla="*/ 6 h 34"/>
                <a:gd name="T22" fmla="*/ 131 w 137"/>
                <a:gd name="T23" fmla="*/ 6 h 34"/>
                <a:gd name="T24" fmla="*/ 131 w 137"/>
                <a:gd name="T25" fmla="*/ 13 h 34"/>
                <a:gd name="T26" fmla="*/ 137 w 137"/>
                <a:gd name="T27" fmla="*/ 13 h 34"/>
                <a:gd name="T28" fmla="*/ 137 w 137"/>
                <a:gd name="T29" fmla="*/ 20 h 34"/>
                <a:gd name="T30" fmla="*/ 131 w 137"/>
                <a:gd name="T31" fmla="*/ 20 h 34"/>
                <a:gd name="T32" fmla="*/ 131 w 137"/>
                <a:gd name="T33" fmla="*/ 27 h 34"/>
                <a:gd name="T34" fmla="*/ 125 w 137"/>
                <a:gd name="T35" fmla="*/ 27 h 34"/>
                <a:gd name="T36" fmla="*/ 120 w 137"/>
                <a:gd name="T37" fmla="*/ 27 h 34"/>
                <a:gd name="T38" fmla="*/ 114 w 137"/>
                <a:gd name="T39" fmla="*/ 27 h 34"/>
                <a:gd name="T40" fmla="*/ 108 w 137"/>
                <a:gd name="T41" fmla="*/ 34 h 34"/>
                <a:gd name="T42" fmla="*/ 103 w 137"/>
                <a:gd name="T43" fmla="*/ 34 h 34"/>
                <a:gd name="T44" fmla="*/ 97 w 137"/>
                <a:gd name="T45" fmla="*/ 34 h 34"/>
                <a:gd name="T46" fmla="*/ 91 w 137"/>
                <a:gd name="T47" fmla="*/ 34 h 34"/>
                <a:gd name="T48" fmla="*/ 85 w 137"/>
                <a:gd name="T49" fmla="*/ 34 h 34"/>
                <a:gd name="T50" fmla="*/ 80 w 137"/>
                <a:gd name="T51" fmla="*/ 34 h 34"/>
                <a:gd name="T52" fmla="*/ 74 w 137"/>
                <a:gd name="T53" fmla="*/ 34 h 34"/>
                <a:gd name="T54" fmla="*/ 68 w 137"/>
                <a:gd name="T55" fmla="*/ 34 h 34"/>
                <a:gd name="T56" fmla="*/ 63 w 137"/>
                <a:gd name="T57" fmla="*/ 34 h 34"/>
                <a:gd name="T58" fmla="*/ 57 w 137"/>
                <a:gd name="T59" fmla="*/ 34 h 34"/>
                <a:gd name="T60" fmla="*/ 51 w 137"/>
                <a:gd name="T61" fmla="*/ 34 h 34"/>
                <a:gd name="T62" fmla="*/ 45 w 137"/>
                <a:gd name="T63" fmla="*/ 34 h 34"/>
                <a:gd name="T64" fmla="*/ 40 w 137"/>
                <a:gd name="T65" fmla="*/ 34 h 34"/>
                <a:gd name="T66" fmla="*/ 34 w 137"/>
                <a:gd name="T67" fmla="*/ 34 h 34"/>
                <a:gd name="T68" fmla="*/ 28 w 137"/>
                <a:gd name="T69" fmla="*/ 34 h 34"/>
                <a:gd name="T70" fmla="*/ 23 w 137"/>
                <a:gd name="T71" fmla="*/ 27 h 34"/>
                <a:gd name="T72" fmla="*/ 17 w 137"/>
                <a:gd name="T73" fmla="*/ 27 h 34"/>
                <a:gd name="T74" fmla="*/ 11 w 137"/>
                <a:gd name="T75" fmla="*/ 27 h 34"/>
                <a:gd name="T76" fmla="*/ 6 w 137"/>
                <a:gd name="T77" fmla="*/ 27 h 34"/>
                <a:gd name="T78" fmla="*/ 6 w 137"/>
                <a:gd name="T79" fmla="*/ 20 h 34"/>
                <a:gd name="T80" fmla="*/ 0 w 137"/>
                <a:gd name="T81" fmla="*/ 20 h 34"/>
                <a:gd name="T82" fmla="*/ 0 w 137"/>
                <a:gd name="T83" fmla="*/ 13 h 34"/>
                <a:gd name="T84" fmla="*/ 6 w 137"/>
                <a:gd name="T85" fmla="*/ 13 h 34"/>
                <a:gd name="T86" fmla="*/ 6 w 137"/>
                <a:gd name="T87" fmla="*/ 6 h 34"/>
                <a:gd name="T88" fmla="*/ 11 w 137"/>
                <a:gd name="T89" fmla="*/ 6 h 34"/>
                <a:gd name="T90" fmla="*/ 17 w 137"/>
                <a:gd name="T91" fmla="*/ 6 h 34"/>
                <a:gd name="T92" fmla="*/ 23 w 137"/>
                <a:gd name="T93" fmla="*/ 6 h 34"/>
                <a:gd name="T94" fmla="*/ 28 w 137"/>
                <a:gd name="T95" fmla="*/ 0 h 34"/>
                <a:gd name="T96" fmla="*/ 34 w 137"/>
                <a:gd name="T97" fmla="*/ 0 h 34"/>
                <a:gd name="T98" fmla="*/ 40 w 137"/>
                <a:gd name="T99" fmla="*/ 0 h 34"/>
                <a:gd name="T100" fmla="*/ 45 w 137"/>
                <a:gd name="T101" fmla="*/ 0 h 34"/>
                <a:gd name="T102" fmla="*/ 51 w 137"/>
                <a:gd name="T103" fmla="*/ 0 h 34"/>
                <a:gd name="T104" fmla="*/ 57 w 137"/>
                <a:gd name="T105" fmla="*/ 0 h 34"/>
                <a:gd name="T106" fmla="*/ 63 w 137"/>
                <a:gd name="T107" fmla="*/ 0 h 34"/>
                <a:gd name="T108" fmla="*/ 68 w 137"/>
                <a:gd name="T109" fmla="*/ 0 h 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7"/>
                <a:gd name="T166" fmla="*/ 0 h 34"/>
                <a:gd name="T167" fmla="*/ 137 w 137"/>
                <a:gd name="T168" fmla="*/ 34 h 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7" h="34">
                  <a:moveTo>
                    <a:pt x="68" y="0"/>
                  </a:moveTo>
                  <a:lnTo>
                    <a:pt x="74" y="0"/>
                  </a:lnTo>
                  <a:lnTo>
                    <a:pt x="80" y="0"/>
                  </a:lnTo>
                  <a:lnTo>
                    <a:pt x="85" y="0"/>
                  </a:lnTo>
                  <a:lnTo>
                    <a:pt x="91" y="0"/>
                  </a:lnTo>
                  <a:lnTo>
                    <a:pt x="97" y="0"/>
                  </a:lnTo>
                  <a:lnTo>
                    <a:pt x="103" y="0"/>
                  </a:lnTo>
                  <a:lnTo>
                    <a:pt x="108" y="0"/>
                  </a:lnTo>
                  <a:lnTo>
                    <a:pt x="114" y="6"/>
                  </a:lnTo>
                  <a:lnTo>
                    <a:pt x="120" y="6"/>
                  </a:lnTo>
                  <a:lnTo>
                    <a:pt x="125" y="6"/>
                  </a:lnTo>
                  <a:lnTo>
                    <a:pt x="131" y="6"/>
                  </a:lnTo>
                  <a:lnTo>
                    <a:pt x="131" y="13"/>
                  </a:lnTo>
                  <a:lnTo>
                    <a:pt x="137" y="13"/>
                  </a:lnTo>
                  <a:lnTo>
                    <a:pt x="137" y="20"/>
                  </a:lnTo>
                  <a:lnTo>
                    <a:pt x="131" y="20"/>
                  </a:lnTo>
                  <a:lnTo>
                    <a:pt x="131" y="27"/>
                  </a:lnTo>
                  <a:lnTo>
                    <a:pt x="125" y="27"/>
                  </a:lnTo>
                  <a:lnTo>
                    <a:pt x="120" y="27"/>
                  </a:lnTo>
                  <a:lnTo>
                    <a:pt x="114" y="27"/>
                  </a:lnTo>
                  <a:lnTo>
                    <a:pt x="108" y="34"/>
                  </a:lnTo>
                  <a:lnTo>
                    <a:pt x="103" y="34"/>
                  </a:lnTo>
                  <a:lnTo>
                    <a:pt x="97" y="34"/>
                  </a:lnTo>
                  <a:lnTo>
                    <a:pt x="91" y="34"/>
                  </a:lnTo>
                  <a:lnTo>
                    <a:pt x="85" y="34"/>
                  </a:lnTo>
                  <a:lnTo>
                    <a:pt x="80" y="34"/>
                  </a:lnTo>
                  <a:lnTo>
                    <a:pt x="74" y="34"/>
                  </a:lnTo>
                  <a:lnTo>
                    <a:pt x="68" y="34"/>
                  </a:lnTo>
                  <a:lnTo>
                    <a:pt x="63" y="34"/>
                  </a:lnTo>
                  <a:lnTo>
                    <a:pt x="57" y="34"/>
                  </a:lnTo>
                  <a:lnTo>
                    <a:pt x="51" y="34"/>
                  </a:lnTo>
                  <a:lnTo>
                    <a:pt x="45" y="34"/>
                  </a:lnTo>
                  <a:lnTo>
                    <a:pt x="40" y="34"/>
                  </a:lnTo>
                  <a:lnTo>
                    <a:pt x="34" y="34"/>
                  </a:lnTo>
                  <a:lnTo>
                    <a:pt x="28" y="34"/>
                  </a:lnTo>
                  <a:lnTo>
                    <a:pt x="23" y="27"/>
                  </a:lnTo>
                  <a:lnTo>
                    <a:pt x="17" y="27"/>
                  </a:lnTo>
                  <a:lnTo>
                    <a:pt x="11" y="27"/>
                  </a:lnTo>
                  <a:lnTo>
                    <a:pt x="6" y="27"/>
                  </a:lnTo>
                  <a:lnTo>
                    <a:pt x="6" y="20"/>
                  </a:lnTo>
                  <a:lnTo>
                    <a:pt x="0" y="20"/>
                  </a:lnTo>
                  <a:lnTo>
                    <a:pt x="0" y="13"/>
                  </a:lnTo>
                  <a:lnTo>
                    <a:pt x="6" y="13"/>
                  </a:lnTo>
                  <a:lnTo>
                    <a:pt x="6" y="6"/>
                  </a:lnTo>
                  <a:lnTo>
                    <a:pt x="11" y="6"/>
                  </a:lnTo>
                  <a:lnTo>
                    <a:pt x="17" y="6"/>
                  </a:lnTo>
                  <a:lnTo>
                    <a:pt x="23" y="6"/>
                  </a:lnTo>
                  <a:lnTo>
                    <a:pt x="28" y="0"/>
                  </a:lnTo>
                  <a:lnTo>
                    <a:pt x="34" y="0"/>
                  </a:lnTo>
                  <a:lnTo>
                    <a:pt x="40" y="0"/>
                  </a:lnTo>
                  <a:lnTo>
                    <a:pt x="45" y="0"/>
                  </a:lnTo>
                  <a:lnTo>
                    <a:pt x="51" y="0"/>
                  </a:lnTo>
                  <a:lnTo>
                    <a:pt x="57" y="0"/>
                  </a:lnTo>
                  <a:lnTo>
                    <a:pt x="63"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39" name="Freeform 44"/>
            <p:cNvSpPr>
              <a:spLocks/>
            </p:cNvSpPr>
            <p:nvPr/>
          </p:nvSpPr>
          <p:spPr bwMode="auto">
            <a:xfrm>
              <a:off x="2708" y="3540"/>
              <a:ext cx="137" cy="34"/>
            </a:xfrm>
            <a:custGeom>
              <a:avLst/>
              <a:gdLst>
                <a:gd name="T0" fmla="*/ 68 w 137"/>
                <a:gd name="T1" fmla="*/ 0 h 34"/>
                <a:gd name="T2" fmla="*/ 97 w 137"/>
                <a:gd name="T3" fmla="*/ 0 h 34"/>
                <a:gd name="T4" fmla="*/ 114 w 137"/>
                <a:gd name="T5" fmla="*/ 6 h 34"/>
                <a:gd name="T6" fmla="*/ 131 w 137"/>
                <a:gd name="T7" fmla="*/ 6 h 34"/>
                <a:gd name="T8" fmla="*/ 137 w 137"/>
                <a:gd name="T9" fmla="*/ 20 h 34"/>
                <a:gd name="T10" fmla="*/ 131 w 137"/>
                <a:gd name="T11" fmla="*/ 27 h 34"/>
                <a:gd name="T12" fmla="*/ 114 w 137"/>
                <a:gd name="T13" fmla="*/ 27 h 34"/>
                <a:gd name="T14" fmla="*/ 97 w 137"/>
                <a:gd name="T15" fmla="*/ 34 h 34"/>
                <a:gd name="T16" fmla="*/ 68 w 137"/>
                <a:gd name="T17" fmla="*/ 34 h 34"/>
                <a:gd name="T18" fmla="*/ 40 w 137"/>
                <a:gd name="T19" fmla="*/ 34 h 34"/>
                <a:gd name="T20" fmla="*/ 17 w 137"/>
                <a:gd name="T21" fmla="*/ 27 h 34"/>
                <a:gd name="T22" fmla="*/ 6 w 137"/>
                <a:gd name="T23" fmla="*/ 27 h 34"/>
                <a:gd name="T24" fmla="*/ 0 w 137"/>
                <a:gd name="T25" fmla="*/ 20 h 34"/>
                <a:gd name="T26" fmla="*/ 6 w 137"/>
                <a:gd name="T27" fmla="*/ 6 h 34"/>
                <a:gd name="T28" fmla="*/ 17 w 137"/>
                <a:gd name="T29" fmla="*/ 6 h 34"/>
                <a:gd name="T30" fmla="*/ 40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14" y="6"/>
                  </a:lnTo>
                  <a:lnTo>
                    <a:pt x="131" y="6"/>
                  </a:lnTo>
                  <a:lnTo>
                    <a:pt x="137" y="20"/>
                  </a:lnTo>
                  <a:lnTo>
                    <a:pt x="131" y="27"/>
                  </a:lnTo>
                  <a:lnTo>
                    <a:pt x="114" y="27"/>
                  </a:lnTo>
                  <a:lnTo>
                    <a:pt x="97" y="34"/>
                  </a:lnTo>
                  <a:lnTo>
                    <a:pt x="68" y="34"/>
                  </a:lnTo>
                  <a:lnTo>
                    <a:pt x="40" y="34"/>
                  </a:lnTo>
                  <a:lnTo>
                    <a:pt x="17" y="27"/>
                  </a:lnTo>
                  <a:lnTo>
                    <a:pt x="6" y="27"/>
                  </a:lnTo>
                  <a:lnTo>
                    <a:pt x="0" y="20"/>
                  </a:lnTo>
                  <a:lnTo>
                    <a:pt x="6" y="6"/>
                  </a:lnTo>
                  <a:lnTo>
                    <a:pt x="17" y="6"/>
                  </a:lnTo>
                  <a:lnTo>
                    <a:pt x="40"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40" name="Freeform 45"/>
            <p:cNvSpPr>
              <a:spLocks/>
            </p:cNvSpPr>
            <p:nvPr/>
          </p:nvSpPr>
          <p:spPr bwMode="auto">
            <a:xfrm>
              <a:off x="2708" y="3608"/>
              <a:ext cx="137" cy="34"/>
            </a:xfrm>
            <a:custGeom>
              <a:avLst/>
              <a:gdLst>
                <a:gd name="T0" fmla="*/ 68 w 137"/>
                <a:gd name="T1" fmla="*/ 0 h 34"/>
                <a:gd name="T2" fmla="*/ 74 w 137"/>
                <a:gd name="T3" fmla="*/ 0 h 34"/>
                <a:gd name="T4" fmla="*/ 80 w 137"/>
                <a:gd name="T5" fmla="*/ 0 h 34"/>
                <a:gd name="T6" fmla="*/ 85 w 137"/>
                <a:gd name="T7" fmla="*/ 0 h 34"/>
                <a:gd name="T8" fmla="*/ 91 w 137"/>
                <a:gd name="T9" fmla="*/ 0 h 34"/>
                <a:gd name="T10" fmla="*/ 97 w 137"/>
                <a:gd name="T11" fmla="*/ 0 h 34"/>
                <a:gd name="T12" fmla="*/ 103 w 137"/>
                <a:gd name="T13" fmla="*/ 0 h 34"/>
                <a:gd name="T14" fmla="*/ 108 w 137"/>
                <a:gd name="T15" fmla="*/ 0 h 34"/>
                <a:gd name="T16" fmla="*/ 114 w 137"/>
                <a:gd name="T17" fmla="*/ 6 h 34"/>
                <a:gd name="T18" fmla="*/ 120 w 137"/>
                <a:gd name="T19" fmla="*/ 6 h 34"/>
                <a:gd name="T20" fmla="*/ 125 w 137"/>
                <a:gd name="T21" fmla="*/ 6 h 34"/>
                <a:gd name="T22" fmla="*/ 131 w 137"/>
                <a:gd name="T23" fmla="*/ 6 h 34"/>
                <a:gd name="T24" fmla="*/ 131 w 137"/>
                <a:gd name="T25" fmla="*/ 13 h 34"/>
                <a:gd name="T26" fmla="*/ 137 w 137"/>
                <a:gd name="T27" fmla="*/ 13 h 34"/>
                <a:gd name="T28" fmla="*/ 137 w 137"/>
                <a:gd name="T29" fmla="*/ 20 h 34"/>
                <a:gd name="T30" fmla="*/ 131 w 137"/>
                <a:gd name="T31" fmla="*/ 20 h 34"/>
                <a:gd name="T32" fmla="*/ 131 w 137"/>
                <a:gd name="T33" fmla="*/ 27 h 34"/>
                <a:gd name="T34" fmla="*/ 125 w 137"/>
                <a:gd name="T35" fmla="*/ 27 h 34"/>
                <a:gd name="T36" fmla="*/ 120 w 137"/>
                <a:gd name="T37" fmla="*/ 27 h 34"/>
                <a:gd name="T38" fmla="*/ 114 w 137"/>
                <a:gd name="T39" fmla="*/ 27 h 34"/>
                <a:gd name="T40" fmla="*/ 114 w 137"/>
                <a:gd name="T41" fmla="*/ 34 h 34"/>
                <a:gd name="T42" fmla="*/ 108 w 137"/>
                <a:gd name="T43" fmla="*/ 34 h 34"/>
                <a:gd name="T44" fmla="*/ 103 w 137"/>
                <a:gd name="T45" fmla="*/ 34 h 34"/>
                <a:gd name="T46" fmla="*/ 97 w 137"/>
                <a:gd name="T47" fmla="*/ 34 h 34"/>
                <a:gd name="T48" fmla="*/ 91 w 137"/>
                <a:gd name="T49" fmla="*/ 34 h 34"/>
                <a:gd name="T50" fmla="*/ 85 w 137"/>
                <a:gd name="T51" fmla="*/ 34 h 34"/>
                <a:gd name="T52" fmla="*/ 80 w 137"/>
                <a:gd name="T53" fmla="*/ 34 h 34"/>
                <a:gd name="T54" fmla="*/ 74 w 137"/>
                <a:gd name="T55" fmla="*/ 34 h 34"/>
                <a:gd name="T56" fmla="*/ 68 w 137"/>
                <a:gd name="T57" fmla="*/ 34 h 34"/>
                <a:gd name="T58" fmla="*/ 63 w 137"/>
                <a:gd name="T59" fmla="*/ 34 h 34"/>
                <a:gd name="T60" fmla="*/ 57 w 137"/>
                <a:gd name="T61" fmla="*/ 34 h 34"/>
                <a:gd name="T62" fmla="*/ 51 w 137"/>
                <a:gd name="T63" fmla="*/ 34 h 34"/>
                <a:gd name="T64" fmla="*/ 45 w 137"/>
                <a:gd name="T65" fmla="*/ 34 h 34"/>
                <a:gd name="T66" fmla="*/ 40 w 137"/>
                <a:gd name="T67" fmla="*/ 34 h 34"/>
                <a:gd name="T68" fmla="*/ 34 w 137"/>
                <a:gd name="T69" fmla="*/ 34 h 34"/>
                <a:gd name="T70" fmla="*/ 28 w 137"/>
                <a:gd name="T71" fmla="*/ 34 h 34"/>
                <a:gd name="T72" fmla="*/ 23 w 137"/>
                <a:gd name="T73" fmla="*/ 34 h 34"/>
                <a:gd name="T74" fmla="*/ 23 w 137"/>
                <a:gd name="T75" fmla="*/ 27 h 34"/>
                <a:gd name="T76" fmla="*/ 17 w 137"/>
                <a:gd name="T77" fmla="*/ 27 h 34"/>
                <a:gd name="T78" fmla="*/ 11 w 137"/>
                <a:gd name="T79" fmla="*/ 27 h 34"/>
                <a:gd name="T80" fmla="*/ 6 w 137"/>
                <a:gd name="T81" fmla="*/ 27 h 34"/>
                <a:gd name="T82" fmla="*/ 6 w 137"/>
                <a:gd name="T83" fmla="*/ 20 h 34"/>
                <a:gd name="T84" fmla="*/ 0 w 137"/>
                <a:gd name="T85" fmla="*/ 20 h 34"/>
                <a:gd name="T86" fmla="*/ 0 w 137"/>
                <a:gd name="T87" fmla="*/ 13 h 34"/>
                <a:gd name="T88" fmla="*/ 6 w 137"/>
                <a:gd name="T89" fmla="*/ 13 h 34"/>
                <a:gd name="T90" fmla="*/ 6 w 137"/>
                <a:gd name="T91" fmla="*/ 6 h 34"/>
                <a:gd name="T92" fmla="*/ 11 w 137"/>
                <a:gd name="T93" fmla="*/ 6 h 34"/>
                <a:gd name="T94" fmla="*/ 17 w 137"/>
                <a:gd name="T95" fmla="*/ 6 h 34"/>
                <a:gd name="T96" fmla="*/ 23 w 137"/>
                <a:gd name="T97" fmla="*/ 6 h 34"/>
                <a:gd name="T98" fmla="*/ 28 w 137"/>
                <a:gd name="T99" fmla="*/ 0 h 34"/>
                <a:gd name="T100" fmla="*/ 34 w 137"/>
                <a:gd name="T101" fmla="*/ 0 h 34"/>
                <a:gd name="T102" fmla="*/ 40 w 137"/>
                <a:gd name="T103" fmla="*/ 0 h 34"/>
                <a:gd name="T104" fmla="*/ 45 w 137"/>
                <a:gd name="T105" fmla="*/ 0 h 34"/>
                <a:gd name="T106" fmla="*/ 51 w 137"/>
                <a:gd name="T107" fmla="*/ 0 h 34"/>
                <a:gd name="T108" fmla="*/ 57 w 137"/>
                <a:gd name="T109" fmla="*/ 0 h 34"/>
                <a:gd name="T110" fmla="*/ 63 w 137"/>
                <a:gd name="T111" fmla="*/ 0 h 34"/>
                <a:gd name="T112" fmla="*/ 68 w 137"/>
                <a:gd name="T113" fmla="*/ 0 h 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7"/>
                <a:gd name="T172" fmla="*/ 0 h 34"/>
                <a:gd name="T173" fmla="*/ 137 w 137"/>
                <a:gd name="T174" fmla="*/ 34 h 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7" h="34">
                  <a:moveTo>
                    <a:pt x="68" y="0"/>
                  </a:moveTo>
                  <a:lnTo>
                    <a:pt x="74" y="0"/>
                  </a:lnTo>
                  <a:lnTo>
                    <a:pt x="80" y="0"/>
                  </a:lnTo>
                  <a:lnTo>
                    <a:pt x="85" y="0"/>
                  </a:lnTo>
                  <a:lnTo>
                    <a:pt x="91" y="0"/>
                  </a:lnTo>
                  <a:lnTo>
                    <a:pt x="97" y="0"/>
                  </a:lnTo>
                  <a:lnTo>
                    <a:pt x="103" y="0"/>
                  </a:lnTo>
                  <a:lnTo>
                    <a:pt x="108" y="0"/>
                  </a:lnTo>
                  <a:lnTo>
                    <a:pt x="114" y="6"/>
                  </a:lnTo>
                  <a:lnTo>
                    <a:pt x="120" y="6"/>
                  </a:lnTo>
                  <a:lnTo>
                    <a:pt x="125" y="6"/>
                  </a:lnTo>
                  <a:lnTo>
                    <a:pt x="131" y="6"/>
                  </a:lnTo>
                  <a:lnTo>
                    <a:pt x="131" y="13"/>
                  </a:lnTo>
                  <a:lnTo>
                    <a:pt x="137" y="13"/>
                  </a:lnTo>
                  <a:lnTo>
                    <a:pt x="137" y="20"/>
                  </a:lnTo>
                  <a:lnTo>
                    <a:pt x="131" y="20"/>
                  </a:lnTo>
                  <a:lnTo>
                    <a:pt x="131" y="27"/>
                  </a:lnTo>
                  <a:lnTo>
                    <a:pt x="125" y="27"/>
                  </a:lnTo>
                  <a:lnTo>
                    <a:pt x="120" y="27"/>
                  </a:lnTo>
                  <a:lnTo>
                    <a:pt x="114" y="27"/>
                  </a:lnTo>
                  <a:lnTo>
                    <a:pt x="114" y="34"/>
                  </a:lnTo>
                  <a:lnTo>
                    <a:pt x="108" y="34"/>
                  </a:lnTo>
                  <a:lnTo>
                    <a:pt x="103" y="34"/>
                  </a:lnTo>
                  <a:lnTo>
                    <a:pt x="97" y="34"/>
                  </a:lnTo>
                  <a:lnTo>
                    <a:pt x="91" y="34"/>
                  </a:lnTo>
                  <a:lnTo>
                    <a:pt x="85" y="34"/>
                  </a:lnTo>
                  <a:lnTo>
                    <a:pt x="80" y="34"/>
                  </a:lnTo>
                  <a:lnTo>
                    <a:pt x="74" y="34"/>
                  </a:lnTo>
                  <a:lnTo>
                    <a:pt x="68" y="34"/>
                  </a:lnTo>
                  <a:lnTo>
                    <a:pt x="63" y="34"/>
                  </a:lnTo>
                  <a:lnTo>
                    <a:pt x="57" y="34"/>
                  </a:lnTo>
                  <a:lnTo>
                    <a:pt x="51" y="34"/>
                  </a:lnTo>
                  <a:lnTo>
                    <a:pt x="45" y="34"/>
                  </a:lnTo>
                  <a:lnTo>
                    <a:pt x="40" y="34"/>
                  </a:lnTo>
                  <a:lnTo>
                    <a:pt x="34" y="34"/>
                  </a:lnTo>
                  <a:lnTo>
                    <a:pt x="28" y="34"/>
                  </a:lnTo>
                  <a:lnTo>
                    <a:pt x="23" y="34"/>
                  </a:lnTo>
                  <a:lnTo>
                    <a:pt x="23" y="27"/>
                  </a:lnTo>
                  <a:lnTo>
                    <a:pt x="17" y="27"/>
                  </a:lnTo>
                  <a:lnTo>
                    <a:pt x="11" y="27"/>
                  </a:lnTo>
                  <a:lnTo>
                    <a:pt x="6" y="27"/>
                  </a:lnTo>
                  <a:lnTo>
                    <a:pt x="6" y="20"/>
                  </a:lnTo>
                  <a:lnTo>
                    <a:pt x="0" y="20"/>
                  </a:lnTo>
                  <a:lnTo>
                    <a:pt x="0" y="13"/>
                  </a:lnTo>
                  <a:lnTo>
                    <a:pt x="6" y="13"/>
                  </a:lnTo>
                  <a:lnTo>
                    <a:pt x="6" y="6"/>
                  </a:lnTo>
                  <a:lnTo>
                    <a:pt x="11" y="6"/>
                  </a:lnTo>
                  <a:lnTo>
                    <a:pt x="17" y="6"/>
                  </a:lnTo>
                  <a:lnTo>
                    <a:pt x="23" y="6"/>
                  </a:lnTo>
                  <a:lnTo>
                    <a:pt x="28" y="0"/>
                  </a:lnTo>
                  <a:lnTo>
                    <a:pt x="34" y="0"/>
                  </a:lnTo>
                  <a:lnTo>
                    <a:pt x="40" y="0"/>
                  </a:lnTo>
                  <a:lnTo>
                    <a:pt x="45" y="0"/>
                  </a:lnTo>
                  <a:lnTo>
                    <a:pt x="51" y="0"/>
                  </a:lnTo>
                  <a:lnTo>
                    <a:pt x="57" y="0"/>
                  </a:lnTo>
                  <a:lnTo>
                    <a:pt x="63" y="0"/>
                  </a:lnTo>
                  <a:lnTo>
                    <a:pt x="6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41" name="Freeform 46"/>
            <p:cNvSpPr>
              <a:spLocks/>
            </p:cNvSpPr>
            <p:nvPr/>
          </p:nvSpPr>
          <p:spPr bwMode="auto">
            <a:xfrm>
              <a:off x="2708" y="3608"/>
              <a:ext cx="137" cy="34"/>
            </a:xfrm>
            <a:custGeom>
              <a:avLst/>
              <a:gdLst>
                <a:gd name="T0" fmla="*/ 68 w 137"/>
                <a:gd name="T1" fmla="*/ 0 h 34"/>
                <a:gd name="T2" fmla="*/ 97 w 137"/>
                <a:gd name="T3" fmla="*/ 0 h 34"/>
                <a:gd name="T4" fmla="*/ 114 w 137"/>
                <a:gd name="T5" fmla="*/ 6 h 34"/>
                <a:gd name="T6" fmla="*/ 131 w 137"/>
                <a:gd name="T7" fmla="*/ 13 h 34"/>
                <a:gd name="T8" fmla="*/ 137 w 137"/>
                <a:gd name="T9" fmla="*/ 20 h 34"/>
                <a:gd name="T10" fmla="*/ 131 w 137"/>
                <a:gd name="T11" fmla="*/ 27 h 34"/>
                <a:gd name="T12" fmla="*/ 114 w 137"/>
                <a:gd name="T13" fmla="*/ 27 h 34"/>
                <a:gd name="T14" fmla="*/ 97 w 137"/>
                <a:gd name="T15" fmla="*/ 34 h 34"/>
                <a:gd name="T16" fmla="*/ 68 w 137"/>
                <a:gd name="T17" fmla="*/ 34 h 34"/>
                <a:gd name="T18" fmla="*/ 40 w 137"/>
                <a:gd name="T19" fmla="*/ 34 h 34"/>
                <a:gd name="T20" fmla="*/ 17 w 137"/>
                <a:gd name="T21" fmla="*/ 27 h 34"/>
                <a:gd name="T22" fmla="*/ 6 w 137"/>
                <a:gd name="T23" fmla="*/ 27 h 34"/>
                <a:gd name="T24" fmla="*/ 0 w 137"/>
                <a:gd name="T25" fmla="*/ 20 h 34"/>
                <a:gd name="T26" fmla="*/ 6 w 137"/>
                <a:gd name="T27" fmla="*/ 13 h 34"/>
                <a:gd name="T28" fmla="*/ 17 w 137"/>
                <a:gd name="T29" fmla="*/ 6 h 34"/>
                <a:gd name="T30" fmla="*/ 40 w 137"/>
                <a:gd name="T31" fmla="*/ 0 h 34"/>
                <a:gd name="T32" fmla="*/ 68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8" y="0"/>
                  </a:moveTo>
                  <a:lnTo>
                    <a:pt x="97" y="0"/>
                  </a:lnTo>
                  <a:lnTo>
                    <a:pt x="114" y="6"/>
                  </a:lnTo>
                  <a:lnTo>
                    <a:pt x="131" y="13"/>
                  </a:lnTo>
                  <a:lnTo>
                    <a:pt x="137" y="20"/>
                  </a:lnTo>
                  <a:lnTo>
                    <a:pt x="131" y="27"/>
                  </a:lnTo>
                  <a:lnTo>
                    <a:pt x="114" y="27"/>
                  </a:lnTo>
                  <a:lnTo>
                    <a:pt x="97" y="34"/>
                  </a:lnTo>
                  <a:lnTo>
                    <a:pt x="68" y="34"/>
                  </a:lnTo>
                  <a:lnTo>
                    <a:pt x="40" y="34"/>
                  </a:lnTo>
                  <a:lnTo>
                    <a:pt x="17" y="27"/>
                  </a:lnTo>
                  <a:lnTo>
                    <a:pt x="6" y="27"/>
                  </a:lnTo>
                  <a:lnTo>
                    <a:pt x="0" y="20"/>
                  </a:lnTo>
                  <a:lnTo>
                    <a:pt x="6" y="13"/>
                  </a:lnTo>
                  <a:lnTo>
                    <a:pt x="17" y="6"/>
                  </a:lnTo>
                  <a:lnTo>
                    <a:pt x="40" y="0"/>
                  </a:lnTo>
                  <a:lnTo>
                    <a:pt x="6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42" name="Rectangle 47"/>
            <p:cNvSpPr>
              <a:spLocks noChangeArrowheads="1"/>
            </p:cNvSpPr>
            <p:nvPr/>
          </p:nvSpPr>
          <p:spPr bwMode="auto">
            <a:xfrm>
              <a:off x="2719" y="3478"/>
              <a:ext cx="109" cy="41"/>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43" name="Rectangle 48"/>
            <p:cNvSpPr>
              <a:spLocks noChangeArrowheads="1"/>
            </p:cNvSpPr>
            <p:nvPr/>
          </p:nvSpPr>
          <p:spPr bwMode="auto">
            <a:xfrm>
              <a:off x="2719" y="3478"/>
              <a:ext cx="109" cy="41"/>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44" name="Line 49"/>
            <p:cNvSpPr>
              <a:spLocks noChangeShapeType="1"/>
            </p:cNvSpPr>
            <p:nvPr/>
          </p:nvSpPr>
          <p:spPr bwMode="auto">
            <a:xfrm flipV="1">
              <a:off x="2503" y="2785"/>
              <a:ext cx="325" cy="1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45" name="Line 50"/>
            <p:cNvSpPr>
              <a:spLocks noChangeShapeType="1"/>
            </p:cNvSpPr>
            <p:nvPr/>
          </p:nvSpPr>
          <p:spPr bwMode="auto">
            <a:xfrm flipH="1">
              <a:off x="2873" y="2968"/>
              <a:ext cx="69" cy="38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46" name="Line 51"/>
            <p:cNvSpPr>
              <a:spLocks noChangeShapeType="1"/>
            </p:cNvSpPr>
            <p:nvPr/>
          </p:nvSpPr>
          <p:spPr bwMode="auto">
            <a:xfrm>
              <a:off x="2480" y="3152"/>
              <a:ext cx="216" cy="197"/>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47" name="Line 52"/>
            <p:cNvSpPr>
              <a:spLocks noChangeShapeType="1"/>
            </p:cNvSpPr>
            <p:nvPr/>
          </p:nvSpPr>
          <p:spPr bwMode="auto">
            <a:xfrm flipV="1">
              <a:off x="2993" y="3356"/>
              <a:ext cx="251"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48" name="Rectangle 53"/>
            <p:cNvSpPr>
              <a:spLocks noChangeArrowheads="1"/>
            </p:cNvSpPr>
            <p:nvPr/>
          </p:nvSpPr>
          <p:spPr bwMode="auto">
            <a:xfrm>
              <a:off x="3301" y="3091"/>
              <a:ext cx="194" cy="211"/>
            </a:xfrm>
            <a:prstGeom prst="rect">
              <a:avLst/>
            </a:prstGeom>
            <a:solidFill>
              <a:srgbClr val="FFFFCC"/>
            </a:solidFill>
            <a:ln w="9525">
              <a:solidFill>
                <a:schemeClr val="bg2"/>
              </a:solidFill>
              <a:miter lim="800000"/>
              <a:headEnd/>
              <a:tailEnd/>
            </a:ln>
          </p:spPr>
          <p:txBody>
            <a:bodyPr/>
            <a:lstStyle/>
            <a:p>
              <a:endParaRPr lang="en-US"/>
            </a:p>
          </p:txBody>
        </p:sp>
        <p:sp>
          <p:nvSpPr>
            <p:cNvPr id="28949" name="Rectangle 54"/>
            <p:cNvSpPr>
              <a:spLocks noChangeArrowheads="1"/>
            </p:cNvSpPr>
            <p:nvPr/>
          </p:nvSpPr>
          <p:spPr bwMode="auto">
            <a:xfrm>
              <a:off x="3301" y="3091"/>
              <a:ext cx="194" cy="211"/>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50" name="Freeform 55"/>
            <p:cNvSpPr>
              <a:spLocks/>
            </p:cNvSpPr>
            <p:nvPr/>
          </p:nvSpPr>
          <p:spPr bwMode="auto">
            <a:xfrm>
              <a:off x="3238" y="3172"/>
              <a:ext cx="137" cy="34"/>
            </a:xfrm>
            <a:custGeom>
              <a:avLst/>
              <a:gdLst>
                <a:gd name="T0" fmla="*/ 69 w 137"/>
                <a:gd name="T1" fmla="*/ 0 h 34"/>
                <a:gd name="T2" fmla="*/ 74 w 137"/>
                <a:gd name="T3" fmla="*/ 0 h 34"/>
                <a:gd name="T4" fmla="*/ 80 w 137"/>
                <a:gd name="T5" fmla="*/ 0 h 34"/>
                <a:gd name="T6" fmla="*/ 86 w 137"/>
                <a:gd name="T7" fmla="*/ 0 h 34"/>
                <a:gd name="T8" fmla="*/ 92 w 137"/>
                <a:gd name="T9" fmla="*/ 0 h 34"/>
                <a:gd name="T10" fmla="*/ 97 w 137"/>
                <a:gd name="T11" fmla="*/ 0 h 34"/>
                <a:gd name="T12" fmla="*/ 103 w 137"/>
                <a:gd name="T13" fmla="*/ 7 h 34"/>
                <a:gd name="T14" fmla="*/ 109 w 137"/>
                <a:gd name="T15" fmla="*/ 7 h 34"/>
                <a:gd name="T16" fmla="*/ 114 w 137"/>
                <a:gd name="T17" fmla="*/ 7 h 34"/>
                <a:gd name="T18" fmla="*/ 120 w 137"/>
                <a:gd name="T19" fmla="*/ 7 h 34"/>
                <a:gd name="T20" fmla="*/ 126 w 137"/>
                <a:gd name="T21" fmla="*/ 7 h 34"/>
                <a:gd name="T22" fmla="*/ 131 w 137"/>
                <a:gd name="T23" fmla="*/ 14 h 34"/>
                <a:gd name="T24" fmla="*/ 137 w 137"/>
                <a:gd name="T25" fmla="*/ 14 h 34"/>
                <a:gd name="T26" fmla="*/ 137 w 137"/>
                <a:gd name="T27" fmla="*/ 21 h 34"/>
                <a:gd name="T28" fmla="*/ 131 w 137"/>
                <a:gd name="T29" fmla="*/ 28 h 34"/>
                <a:gd name="T30" fmla="*/ 126 w 137"/>
                <a:gd name="T31" fmla="*/ 28 h 34"/>
                <a:gd name="T32" fmla="*/ 120 w 137"/>
                <a:gd name="T33" fmla="*/ 28 h 34"/>
                <a:gd name="T34" fmla="*/ 120 w 137"/>
                <a:gd name="T35" fmla="*/ 34 h 34"/>
                <a:gd name="T36" fmla="*/ 114 w 137"/>
                <a:gd name="T37" fmla="*/ 34 h 34"/>
                <a:gd name="T38" fmla="*/ 109 w 137"/>
                <a:gd name="T39" fmla="*/ 34 h 34"/>
                <a:gd name="T40" fmla="*/ 103 w 137"/>
                <a:gd name="T41" fmla="*/ 34 h 34"/>
                <a:gd name="T42" fmla="*/ 97 w 137"/>
                <a:gd name="T43" fmla="*/ 34 h 34"/>
                <a:gd name="T44" fmla="*/ 92 w 137"/>
                <a:gd name="T45" fmla="*/ 34 h 34"/>
                <a:gd name="T46" fmla="*/ 86 w 137"/>
                <a:gd name="T47" fmla="*/ 34 h 34"/>
                <a:gd name="T48" fmla="*/ 80 w 137"/>
                <a:gd name="T49" fmla="*/ 34 h 34"/>
                <a:gd name="T50" fmla="*/ 74 w 137"/>
                <a:gd name="T51" fmla="*/ 34 h 34"/>
                <a:gd name="T52" fmla="*/ 69 w 137"/>
                <a:gd name="T53" fmla="*/ 34 h 34"/>
                <a:gd name="T54" fmla="*/ 63 w 137"/>
                <a:gd name="T55" fmla="*/ 34 h 34"/>
                <a:gd name="T56" fmla="*/ 57 w 137"/>
                <a:gd name="T57" fmla="*/ 34 h 34"/>
                <a:gd name="T58" fmla="*/ 52 w 137"/>
                <a:gd name="T59" fmla="*/ 34 h 34"/>
                <a:gd name="T60" fmla="*/ 46 w 137"/>
                <a:gd name="T61" fmla="*/ 34 h 34"/>
                <a:gd name="T62" fmla="*/ 40 w 137"/>
                <a:gd name="T63" fmla="*/ 34 h 34"/>
                <a:gd name="T64" fmla="*/ 35 w 137"/>
                <a:gd name="T65" fmla="*/ 34 h 34"/>
                <a:gd name="T66" fmla="*/ 29 w 137"/>
                <a:gd name="T67" fmla="*/ 34 h 34"/>
                <a:gd name="T68" fmla="*/ 23 w 137"/>
                <a:gd name="T69" fmla="*/ 34 h 34"/>
                <a:gd name="T70" fmla="*/ 17 w 137"/>
                <a:gd name="T71" fmla="*/ 34 h 34"/>
                <a:gd name="T72" fmla="*/ 17 w 137"/>
                <a:gd name="T73" fmla="*/ 28 h 34"/>
                <a:gd name="T74" fmla="*/ 12 w 137"/>
                <a:gd name="T75" fmla="*/ 28 h 34"/>
                <a:gd name="T76" fmla="*/ 6 w 137"/>
                <a:gd name="T77" fmla="*/ 28 h 34"/>
                <a:gd name="T78" fmla="*/ 0 w 137"/>
                <a:gd name="T79" fmla="*/ 28 h 34"/>
                <a:gd name="T80" fmla="*/ 0 w 137"/>
                <a:gd name="T81" fmla="*/ 21 h 34"/>
                <a:gd name="T82" fmla="*/ 0 w 137"/>
                <a:gd name="T83" fmla="*/ 14 h 34"/>
                <a:gd name="T84" fmla="*/ 6 w 137"/>
                <a:gd name="T85" fmla="*/ 14 h 34"/>
                <a:gd name="T86" fmla="*/ 12 w 137"/>
                <a:gd name="T87" fmla="*/ 7 h 34"/>
                <a:gd name="T88" fmla="*/ 17 w 137"/>
                <a:gd name="T89" fmla="*/ 7 h 34"/>
                <a:gd name="T90" fmla="*/ 23 w 137"/>
                <a:gd name="T91" fmla="*/ 7 h 34"/>
                <a:gd name="T92" fmla="*/ 29 w 137"/>
                <a:gd name="T93" fmla="*/ 7 h 34"/>
                <a:gd name="T94" fmla="*/ 35 w 137"/>
                <a:gd name="T95" fmla="*/ 7 h 34"/>
                <a:gd name="T96" fmla="*/ 40 w 137"/>
                <a:gd name="T97" fmla="*/ 0 h 34"/>
                <a:gd name="T98" fmla="*/ 46 w 137"/>
                <a:gd name="T99" fmla="*/ 0 h 34"/>
                <a:gd name="T100" fmla="*/ 52 w 137"/>
                <a:gd name="T101" fmla="*/ 0 h 34"/>
                <a:gd name="T102" fmla="*/ 57 w 137"/>
                <a:gd name="T103" fmla="*/ 0 h 34"/>
                <a:gd name="T104" fmla="*/ 63 w 137"/>
                <a:gd name="T105" fmla="*/ 0 h 34"/>
                <a:gd name="T106" fmla="*/ 69 w 137"/>
                <a:gd name="T107" fmla="*/ 0 h 3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7"/>
                <a:gd name="T163" fmla="*/ 0 h 34"/>
                <a:gd name="T164" fmla="*/ 137 w 137"/>
                <a:gd name="T165" fmla="*/ 34 h 3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7" h="34">
                  <a:moveTo>
                    <a:pt x="69" y="0"/>
                  </a:moveTo>
                  <a:lnTo>
                    <a:pt x="74" y="0"/>
                  </a:lnTo>
                  <a:lnTo>
                    <a:pt x="80" y="0"/>
                  </a:lnTo>
                  <a:lnTo>
                    <a:pt x="86" y="0"/>
                  </a:lnTo>
                  <a:lnTo>
                    <a:pt x="92" y="0"/>
                  </a:lnTo>
                  <a:lnTo>
                    <a:pt x="97" y="0"/>
                  </a:lnTo>
                  <a:lnTo>
                    <a:pt x="103" y="7"/>
                  </a:lnTo>
                  <a:lnTo>
                    <a:pt x="109" y="7"/>
                  </a:lnTo>
                  <a:lnTo>
                    <a:pt x="114" y="7"/>
                  </a:lnTo>
                  <a:lnTo>
                    <a:pt x="120" y="7"/>
                  </a:lnTo>
                  <a:lnTo>
                    <a:pt x="126" y="7"/>
                  </a:lnTo>
                  <a:lnTo>
                    <a:pt x="131" y="14"/>
                  </a:lnTo>
                  <a:lnTo>
                    <a:pt x="137" y="14"/>
                  </a:lnTo>
                  <a:lnTo>
                    <a:pt x="137" y="21"/>
                  </a:lnTo>
                  <a:lnTo>
                    <a:pt x="131" y="28"/>
                  </a:lnTo>
                  <a:lnTo>
                    <a:pt x="126" y="28"/>
                  </a:lnTo>
                  <a:lnTo>
                    <a:pt x="120" y="28"/>
                  </a:lnTo>
                  <a:lnTo>
                    <a:pt x="120" y="34"/>
                  </a:lnTo>
                  <a:lnTo>
                    <a:pt x="114" y="34"/>
                  </a:lnTo>
                  <a:lnTo>
                    <a:pt x="109" y="34"/>
                  </a:lnTo>
                  <a:lnTo>
                    <a:pt x="103" y="34"/>
                  </a:lnTo>
                  <a:lnTo>
                    <a:pt x="97" y="34"/>
                  </a:lnTo>
                  <a:lnTo>
                    <a:pt x="92" y="34"/>
                  </a:lnTo>
                  <a:lnTo>
                    <a:pt x="86" y="34"/>
                  </a:lnTo>
                  <a:lnTo>
                    <a:pt x="80" y="34"/>
                  </a:lnTo>
                  <a:lnTo>
                    <a:pt x="74" y="34"/>
                  </a:lnTo>
                  <a:lnTo>
                    <a:pt x="69" y="34"/>
                  </a:lnTo>
                  <a:lnTo>
                    <a:pt x="63" y="34"/>
                  </a:lnTo>
                  <a:lnTo>
                    <a:pt x="57" y="34"/>
                  </a:lnTo>
                  <a:lnTo>
                    <a:pt x="52" y="34"/>
                  </a:lnTo>
                  <a:lnTo>
                    <a:pt x="46" y="34"/>
                  </a:lnTo>
                  <a:lnTo>
                    <a:pt x="40" y="34"/>
                  </a:lnTo>
                  <a:lnTo>
                    <a:pt x="35" y="34"/>
                  </a:lnTo>
                  <a:lnTo>
                    <a:pt x="29" y="34"/>
                  </a:lnTo>
                  <a:lnTo>
                    <a:pt x="23" y="34"/>
                  </a:lnTo>
                  <a:lnTo>
                    <a:pt x="17" y="34"/>
                  </a:lnTo>
                  <a:lnTo>
                    <a:pt x="17" y="28"/>
                  </a:lnTo>
                  <a:lnTo>
                    <a:pt x="12" y="28"/>
                  </a:lnTo>
                  <a:lnTo>
                    <a:pt x="6" y="28"/>
                  </a:lnTo>
                  <a:lnTo>
                    <a:pt x="0" y="28"/>
                  </a:lnTo>
                  <a:lnTo>
                    <a:pt x="0" y="21"/>
                  </a:lnTo>
                  <a:lnTo>
                    <a:pt x="0" y="14"/>
                  </a:lnTo>
                  <a:lnTo>
                    <a:pt x="6" y="14"/>
                  </a:lnTo>
                  <a:lnTo>
                    <a:pt x="12" y="7"/>
                  </a:lnTo>
                  <a:lnTo>
                    <a:pt x="17" y="7"/>
                  </a:lnTo>
                  <a:lnTo>
                    <a:pt x="23" y="7"/>
                  </a:lnTo>
                  <a:lnTo>
                    <a:pt x="29" y="7"/>
                  </a:lnTo>
                  <a:lnTo>
                    <a:pt x="35" y="7"/>
                  </a:lnTo>
                  <a:lnTo>
                    <a:pt x="40" y="0"/>
                  </a:lnTo>
                  <a:lnTo>
                    <a:pt x="46" y="0"/>
                  </a:lnTo>
                  <a:lnTo>
                    <a:pt x="52" y="0"/>
                  </a:lnTo>
                  <a:lnTo>
                    <a:pt x="57" y="0"/>
                  </a:lnTo>
                  <a:lnTo>
                    <a:pt x="63" y="0"/>
                  </a:lnTo>
                  <a:lnTo>
                    <a:pt x="69"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51" name="Freeform 56"/>
            <p:cNvSpPr>
              <a:spLocks/>
            </p:cNvSpPr>
            <p:nvPr/>
          </p:nvSpPr>
          <p:spPr bwMode="auto">
            <a:xfrm>
              <a:off x="3238" y="3172"/>
              <a:ext cx="137" cy="34"/>
            </a:xfrm>
            <a:custGeom>
              <a:avLst/>
              <a:gdLst>
                <a:gd name="T0" fmla="*/ 69 w 137"/>
                <a:gd name="T1" fmla="*/ 0 h 34"/>
                <a:gd name="T2" fmla="*/ 97 w 137"/>
                <a:gd name="T3" fmla="*/ 0 h 34"/>
                <a:gd name="T4" fmla="*/ 114 w 137"/>
                <a:gd name="T5" fmla="*/ 7 h 34"/>
                <a:gd name="T6" fmla="*/ 131 w 137"/>
                <a:gd name="T7" fmla="*/ 14 h 34"/>
                <a:gd name="T8" fmla="*/ 137 w 137"/>
                <a:gd name="T9" fmla="*/ 21 h 34"/>
                <a:gd name="T10" fmla="*/ 131 w 137"/>
                <a:gd name="T11" fmla="*/ 28 h 34"/>
                <a:gd name="T12" fmla="*/ 114 w 137"/>
                <a:gd name="T13" fmla="*/ 34 h 34"/>
                <a:gd name="T14" fmla="*/ 97 w 137"/>
                <a:gd name="T15" fmla="*/ 34 h 34"/>
                <a:gd name="T16" fmla="*/ 69 w 137"/>
                <a:gd name="T17" fmla="*/ 34 h 34"/>
                <a:gd name="T18" fmla="*/ 40 w 137"/>
                <a:gd name="T19" fmla="*/ 34 h 34"/>
                <a:gd name="T20" fmla="*/ 17 w 137"/>
                <a:gd name="T21" fmla="*/ 34 h 34"/>
                <a:gd name="T22" fmla="*/ 6 w 137"/>
                <a:gd name="T23" fmla="*/ 28 h 34"/>
                <a:gd name="T24" fmla="*/ 0 w 137"/>
                <a:gd name="T25" fmla="*/ 21 h 34"/>
                <a:gd name="T26" fmla="*/ 6 w 137"/>
                <a:gd name="T27" fmla="*/ 14 h 34"/>
                <a:gd name="T28" fmla="*/ 17 w 137"/>
                <a:gd name="T29" fmla="*/ 7 h 34"/>
                <a:gd name="T30" fmla="*/ 40 w 137"/>
                <a:gd name="T31" fmla="*/ 0 h 34"/>
                <a:gd name="T32" fmla="*/ 69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9" y="0"/>
                  </a:moveTo>
                  <a:lnTo>
                    <a:pt x="97" y="0"/>
                  </a:lnTo>
                  <a:lnTo>
                    <a:pt x="114" y="7"/>
                  </a:lnTo>
                  <a:lnTo>
                    <a:pt x="131" y="14"/>
                  </a:lnTo>
                  <a:lnTo>
                    <a:pt x="137" y="21"/>
                  </a:lnTo>
                  <a:lnTo>
                    <a:pt x="131" y="28"/>
                  </a:lnTo>
                  <a:lnTo>
                    <a:pt x="114" y="34"/>
                  </a:lnTo>
                  <a:lnTo>
                    <a:pt x="97" y="34"/>
                  </a:lnTo>
                  <a:lnTo>
                    <a:pt x="69" y="34"/>
                  </a:lnTo>
                  <a:lnTo>
                    <a:pt x="40" y="34"/>
                  </a:lnTo>
                  <a:lnTo>
                    <a:pt x="17" y="34"/>
                  </a:lnTo>
                  <a:lnTo>
                    <a:pt x="6" y="28"/>
                  </a:lnTo>
                  <a:lnTo>
                    <a:pt x="0" y="21"/>
                  </a:lnTo>
                  <a:lnTo>
                    <a:pt x="6" y="14"/>
                  </a:lnTo>
                  <a:lnTo>
                    <a:pt x="17" y="7"/>
                  </a:lnTo>
                  <a:lnTo>
                    <a:pt x="40" y="0"/>
                  </a:lnTo>
                  <a:lnTo>
                    <a:pt x="69" y="0"/>
                  </a:lnTo>
                </a:path>
              </a:pathLst>
            </a:custGeom>
            <a:solidFill>
              <a:srgbClr val="FFFFCC"/>
            </a:solidFill>
            <a:ln w="0">
              <a:solidFill>
                <a:schemeClr val="bg2"/>
              </a:solidFill>
              <a:round/>
              <a:headEnd/>
              <a:tailEnd/>
            </a:ln>
          </p:spPr>
          <p:txBody>
            <a:bodyPr/>
            <a:lstStyle/>
            <a:p>
              <a:endParaRPr lang="en-US"/>
            </a:p>
          </p:txBody>
        </p:sp>
        <p:sp>
          <p:nvSpPr>
            <p:cNvPr id="28952" name="Freeform 57"/>
            <p:cNvSpPr>
              <a:spLocks/>
            </p:cNvSpPr>
            <p:nvPr/>
          </p:nvSpPr>
          <p:spPr bwMode="auto">
            <a:xfrm>
              <a:off x="3238" y="3240"/>
              <a:ext cx="137" cy="34"/>
            </a:xfrm>
            <a:custGeom>
              <a:avLst/>
              <a:gdLst>
                <a:gd name="T0" fmla="*/ 69 w 137"/>
                <a:gd name="T1" fmla="*/ 0 h 34"/>
                <a:gd name="T2" fmla="*/ 74 w 137"/>
                <a:gd name="T3" fmla="*/ 0 h 34"/>
                <a:gd name="T4" fmla="*/ 80 w 137"/>
                <a:gd name="T5" fmla="*/ 0 h 34"/>
                <a:gd name="T6" fmla="*/ 86 w 137"/>
                <a:gd name="T7" fmla="*/ 0 h 34"/>
                <a:gd name="T8" fmla="*/ 92 w 137"/>
                <a:gd name="T9" fmla="*/ 0 h 34"/>
                <a:gd name="T10" fmla="*/ 97 w 137"/>
                <a:gd name="T11" fmla="*/ 0 h 34"/>
                <a:gd name="T12" fmla="*/ 97 w 137"/>
                <a:gd name="T13" fmla="*/ 7 h 34"/>
                <a:gd name="T14" fmla="*/ 103 w 137"/>
                <a:gd name="T15" fmla="*/ 7 h 34"/>
                <a:gd name="T16" fmla="*/ 109 w 137"/>
                <a:gd name="T17" fmla="*/ 7 h 34"/>
                <a:gd name="T18" fmla="*/ 114 w 137"/>
                <a:gd name="T19" fmla="*/ 7 h 34"/>
                <a:gd name="T20" fmla="*/ 120 w 137"/>
                <a:gd name="T21" fmla="*/ 7 h 34"/>
                <a:gd name="T22" fmla="*/ 126 w 137"/>
                <a:gd name="T23" fmla="*/ 7 h 34"/>
                <a:gd name="T24" fmla="*/ 126 w 137"/>
                <a:gd name="T25" fmla="*/ 14 h 34"/>
                <a:gd name="T26" fmla="*/ 131 w 137"/>
                <a:gd name="T27" fmla="*/ 14 h 34"/>
                <a:gd name="T28" fmla="*/ 137 w 137"/>
                <a:gd name="T29" fmla="*/ 14 h 34"/>
                <a:gd name="T30" fmla="*/ 137 w 137"/>
                <a:gd name="T31" fmla="*/ 21 h 34"/>
                <a:gd name="T32" fmla="*/ 131 w 137"/>
                <a:gd name="T33" fmla="*/ 28 h 34"/>
                <a:gd name="T34" fmla="*/ 126 w 137"/>
                <a:gd name="T35" fmla="*/ 28 h 34"/>
                <a:gd name="T36" fmla="*/ 120 w 137"/>
                <a:gd name="T37" fmla="*/ 28 h 34"/>
                <a:gd name="T38" fmla="*/ 120 w 137"/>
                <a:gd name="T39" fmla="*/ 34 h 34"/>
                <a:gd name="T40" fmla="*/ 114 w 137"/>
                <a:gd name="T41" fmla="*/ 34 h 34"/>
                <a:gd name="T42" fmla="*/ 109 w 137"/>
                <a:gd name="T43" fmla="*/ 34 h 34"/>
                <a:gd name="T44" fmla="*/ 103 w 137"/>
                <a:gd name="T45" fmla="*/ 34 h 34"/>
                <a:gd name="T46" fmla="*/ 97 w 137"/>
                <a:gd name="T47" fmla="*/ 34 h 34"/>
                <a:gd name="T48" fmla="*/ 92 w 137"/>
                <a:gd name="T49" fmla="*/ 34 h 34"/>
                <a:gd name="T50" fmla="*/ 86 w 137"/>
                <a:gd name="T51" fmla="*/ 34 h 34"/>
                <a:gd name="T52" fmla="*/ 80 w 137"/>
                <a:gd name="T53" fmla="*/ 34 h 34"/>
                <a:gd name="T54" fmla="*/ 74 w 137"/>
                <a:gd name="T55" fmla="*/ 34 h 34"/>
                <a:gd name="T56" fmla="*/ 69 w 137"/>
                <a:gd name="T57" fmla="*/ 34 h 34"/>
                <a:gd name="T58" fmla="*/ 63 w 137"/>
                <a:gd name="T59" fmla="*/ 34 h 34"/>
                <a:gd name="T60" fmla="*/ 57 w 137"/>
                <a:gd name="T61" fmla="*/ 34 h 34"/>
                <a:gd name="T62" fmla="*/ 52 w 137"/>
                <a:gd name="T63" fmla="*/ 34 h 34"/>
                <a:gd name="T64" fmla="*/ 46 w 137"/>
                <a:gd name="T65" fmla="*/ 34 h 34"/>
                <a:gd name="T66" fmla="*/ 40 w 137"/>
                <a:gd name="T67" fmla="*/ 34 h 34"/>
                <a:gd name="T68" fmla="*/ 35 w 137"/>
                <a:gd name="T69" fmla="*/ 34 h 34"/>
                <a:gd name="T70" fmla="*/ 29 w 137"/>
                <a:gd name="T71" fmla="*/ 34 h 34"/>
                <a:gd name="T72" fmla="*/ 23 w 137"/>
                <a:gd name="T73" fmla="*/ 34 h 34"/>
                <a:gd name="T74" fmla="*/ 17 w 137"/>
                <a:gd name="T75" fmla="*/ 34 h 34"/>
                <a:gd name="T76" fmla="*/ 17 w 137"/>
                <a:gd name="T77" fmla="*/ 28 h 34"/>
                <a:gd name="T78" fmla="*/ 12 w 137"/>
                <a:gd name="T79" fmla="*/ 28 h 34"/>
                <a:gd name="T80" fmla="*/ 6 w 137"/>
                <a:gd name="T81" fmla="*/ 28 h 34"/>
                <a:gd name="T82" fmla="*/ 0 w 137"/>
                <a:gd name="T83" fmla="*/ 28 h 34"/>
                <a:gd name="T84" fmla="*/ 0 w 137"/>
                <a:gd name="T85" fmla="*/ 21 h 34"/>
                <a:gd name="T86" fmla="*/ 0 w 137"/>
                <a:gd name="T87" fmla="*/ 14 h 34"/>
                <a:gd name="T88" fmla="*/ 6 w 137"/>
                <a:gd name="T89" fmla="*/ 14 h 34"/>
                <a:gd name="T90" fmla="*/ 12 w 137"/>
                <a:gd name="T91" fmla="*/ 14 h 34"/>
                <a:gd name="T92" fmla="*/ 12 w 137"/>
                <a:gd name="T93" fmla="*/ 7 h 34"/>
                <a:gd name="T94" fmla="*/ 17 w 137"/>
                <a:gd name="T95" fmla="*/ 7 h 34"/>
                <a:gd name="T96" fmla="*/ 23 w 137"/>
                <a:gd name="T97" fmla="*/ 7 h 34"/>
                <a:gd name="T98" fmla="*/ 29 w 137"/>
                <a:gd name="T99" fmla="*/ 7 h 34"/>
                <a:gd name="T100" fmla="*/ 35 w 137"/>
                <a:gd name="T101" fmla="*/ 7 h 34"/>
                <a:gd name="T102" fmla="*/ 40 w 137"/>
                <a:gd name="T103" fmla="*/ 7 h 34"/>
                <a:gd name="T104" fmla="*/ 40 w 137"/>
                <a:gd name="T105" fmla="*/ 0 h 34"/>
                <a:gd name="T106" fmla="*/ 46 w 137"/>
                <a:gd name="T107" fmla="*/ 0 h 34"/>
                <a:gd name="T108" fmla="*/ 52 w 137"/>
                <a:gd name="T109" fmla="*/ 0 h 34"/>
                <a:gd name="T110" fmla="*/ 57 w 137"/>
                <a:gd name="T111" fmla="*/ 0 h 34"/>
                <a:gd name="T112" fmla="*/ 63 w 137"/>
                <a:gd name="T113" fmla="*/ 0 h 34"/>
                <a:gd name="T114" fmla="*/ 69 w 137"/>
                <a:gd name="T115" fmla="*/ 0 h 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34"/>
                <a:gd name="T176" fmla="*/ 137 w 137"/>
                <a:gd name="T177" fmla="*/ 34 h 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34">
                  <a:moveTo>
                    <a:pt x="69" y="0"/>
                  </a:moveTo>
                  <a:lnTo>
                    <a:pt x="74" y="0"/>
                  </a:lnTo>
                  <a:lnTo>
                    <a:pt x="80" y="0"/>
                  </a:lnTo>
                  <a:lnTo>
                    <a:pt x="86" y="0"/>
                  </a:lnTo>
                  <a:lnTo>
                    <a:pt x="92" y="0"/>
                  </a:lnTo>
                  <a:lnTo>
                    <a:pt x="97" y="0"/>
                  </a:lnTo>
                  <a:lnTo>
                    <a:pt x="97" y="7"/>
                  </a:lnTo>
                  <a:lnTo>
                    <a:pt x="103" y="7"/>
                  </a:lnTo>
                  <a:lnTo>
                    <a:pt x="109" y="7"/>
                  </a:lnTo>
                  <a:lnTo>
                    <a:pt x="114" y="7"/>
                  </a:lnTo>
                  <a:lnTo>
                    <a:pt x="120" y="7"/>
                  </a:lnTo>
                  <a:lnTo>
                    <a:pt x="126" y="7"/>
                  </a:lnTo>
                  <a:lnTo>
                    <a:pt x="126" y="14"/>
                  </a:lnTo>
                  <a:lnTo>
                    <a:pt x="131" y="14"/>
                  </a:lnTo>
                  <a:lnTo>
                    <a:pt x="137" y="14"/>
                  </a:lnTo>
                  <a:lnTo>
                    <a:pt x="137" y="21"/>
                  </a:lnTo>
                  <a:lnTo>
                    <a:pt x="131" y="28"/>
                  </a:lnTo>
                  <a:lnTo>
                    <a:pt x="126" y="28"/>
                  </a:lnTo>
                  <a:lnTo>
                    <a:pt x="120" y="28"/>
                  </a:lnTo>
                  <a:lnTo>
                    <a:pt x="120" y="34"/>
                  </a:lnTo>
                  <a:lnTo>
                    <a:pt x="114" y="34"/>
                  </a:lnTo>
                  <a:lnTo>
                    <a:pt x="109" y="34"/>
                  </a:lnTo>
                  <a:lnTo>
                    <a:pt x="103" y="34"/>
                  </a:lnTo>
                  <a:lnTo>
                    <a:pt x="97" y="34"/>
                  </a:lnTo>
                  <a:lnTo>
                    <a:pt x="92" y="34"/>
                  </a:lnTo>
                  <a:lnTo>
                    <a:pt x="86" y="34"/>
                  </a:lnTo>
                  <a:lnTo>
                    <a:pt x="80" y="34"/>
                  </a:lnTo>
                  <a:lnTo>
                    <a:pt x="74" y="34"/>
                  </a:lnTo>
                  <a:lnTo>
                    <a:pt x="69" y="34"/>
                  </a:lnTo>
                  <a:lnTo>
                    <a:pt x="63" y="34"/>
                  </a:lnTo>
                  <a:lnTo>
                    <a:pt x="57" y="34"/>
                  </a:lnTo>
                  <a:lnTo>
                    <a:pt x="52" y="34"/>
                  </a:lnTo>
                  <a:lnTo>
                    <a:pt x="46" y="34"/>
                  </a:lnTo>
                  <a:lnTo>
                    <a:pt x="40" y="34"/>
                  </a:lnTo>
                  <a:lnTo>
                    <a:pt x="35" y="34"/>
                  </a:lnTo>
                  <a:lnTo>
                    <a:pt x="29" y="34"/>
                  </a:lnTo>
                  <a:lnTo>
                    <a:pt x="23" y="34"/>
                  </a:lnTo>
                  <a:lnTo>
                    <a:pt x="17" y="34"/>
                  </a:lnTo>
                  <a:lnTo>
                    <a:pt x="17" y="28"/>
                  </a:lnTo>
                  <a:lnTo>
                    <a:pt x="12" y="28"/>
                  </a:lnTo>
                  <a:lnTo>
                    <a:pt x="6" y="28"/>
                  </a:lnTo>
                  <a:lnTo>
                    <a:pt x="0" y="28"/>
                  </a:lnTo>
                  <a:lnTo>
                    <a:pt x="0" y="21"/>
                  </a:lnTo>
                  <a:lnTo>
                    <a:pt x="0" y="14"/>
                  </a:lnTo>
                  <a:lnTo>
                    <a:pt x="6" y="14"/>
                  </a:lnTo>
                  <a:lnTo>
                    <a:pt x="12" y="14"/>
                  </a:lnTo>
                  <a:lnTo>
                    <a:pt x="12" y="7"/>
                  </a:lnTo>
                  <a:lnTo>
                    <a:pt x="17" y="7"/>
                  </a:lnTo>
                  <a:lnTo>
                    <a:pt x="23" y="7"/>
                  </a:lnTo>
                  <a:lnTo>
                    <a:pt x="29" y="7"/>
                  </a:lnTo>
                  <a:lnTo>
                    <a:pt x="35" y="7"/>
                  </a:lnTo>
                  <a:lnTo>
                    <a:pt x="40" y="7"/>
                  </a:lnTo>
                  <a:lnTo>
                    <a:pt x="40" y="0"/>
                  </a:lnTo>
                  <a:lnTo>
                    <a:pt x="46" y="0"/>
                  </a:lnTo>
                  <a:lnTo>
                    <a:pt x="52" y="0"/>
                  </a:lnTo>
                  <a:lnTo>
                    <a:pt x="57" y="0"/>
                  </a:lnTo>
                  <a:lnTo>
                    <a:pt x="63" y="0"/>
                  </a:lnTo>
                  <a:lnTo>
                    <a:pt x="69"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53" name="Freeform 58"/>
            <p:cNvSpPr>
              <a:spLocks/>
            </p:cNvSpPr>
            <p:nvPr/>
          </p:nvSpPr>
          <p:spPr bwMode="auto">
            <a:xfrm>
              <a:off x="3238" y="3240"/>
              <a:ext cx="137" cy="34"/>
            </a:xfrm>
            <a:custGeom>
              <a:avLst/>
              <a:gdLst>
                <a:gd name="T0" fmla="*/ 69 w 137"/>
                <a:gd name="T1" fmla="*/ 0 h 34"/>
                <a:gd name="T2" fmla="*/ 97 w 137"/>
                <a:gd name="T3" fmla="*/ 0 h 34"/>
                <a:gd name="T4" fmla="*/ 114 w 137"/>
                <a:gd name="T5" fmla="*/ 7 h 34"/>
                <a:gd name="T6" fmla="*/ 131 w 137"/>
                <a:gd name="T7" fmla="*/ 14 h 34"/>
                <a:gd name="T8" fmla="*/ 137 w 137"/>
                <a:gd name="T9" fmla="*/ 21 h 34"/>
                <a:gd name="T10" fmla="*/ 131 w 137"/>
                <a:gd name="T11" fmla="*/ 28 h 34"/>
                <a:gd name="T12" fmla="*/ 114 w 137"/>
                <a:gd name="T13" fmla="*/ 34 h 34"/>
                <a:gd name="T14" fmla="*/ 97 w 137"/>
                <a:gd name="T15" fmla="*/ 34 h 34"/>
                <a:gd name="T16" fmla="*/ 69 w 137"/>
                <a:gd name="T17" fmla="*/ 34 h 34"/>
                <a:gd name="T18" fmla="*/ 40 w 137"/>
                <a:gd name="T19" fmla="*/ 34 h 34"/>
                <a:gd name="T20" fmla="*/ 17 w 137"/>
                <a:gd name="T21" fmla="*/ 34 h 34"/>
                <a:gd name="T22" fmla="*/ 6 w 137"/>
                <a:gd name="T23" fmla="*/ 28 h 34"/>
                <a:gd name="T24" fmla="*/ 0 w 137"/>
                <a:gd name="T25" fmla="*/ 21 h 34"/>
                <a:gd name="T26" fmla="*/ 6 w 137"/>
                <a:gd name="T27" fmla="*/ 14 h 34"/>
                <a:gd name="T28" fmla="*/ 17 w 137"/>
                <a:gd name="T29" fmla="*/ 7 h 34"/>
                <a:gd name="T30" fmla="*/ 40 w 137"/>
                <a:gd name="T31" fmla="*/ 0 h 34"/>
                <a:gd name="T32" fmla="*/ 69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9" y="0"/>
                  </a:moveTo>
                  <a:lnTo>
                    <a:pt x="97" y="0"/>
                  </a:lnTo>
                  <a:lnTo>
                    <a:pt x="114" y="7"/>
                  </a:lnTo>
                  <a:lnTo>
                    <a:pt x="131" y="14"/>
                  </a:lnTo>
                  <a:lnTo>
                    <a:pt x="137" y="21"/>
                  </a:lnTo>
                  <a:lnTo>
                    <a:pt x="131" y="28"/>
                  </a:lnTo>
                  <a:lnTo>
                    <a:pt x="114" y="34"/>
                  </a:lnTo>
                  <a:lnTo>
                    <a:pt x="97" y="34"/>
                  </a:lnTo>
                  <a:lnTo>
                    <a:pt x="69" y="34"/>
                  </a:lnTo>
                  <a:lnTo>
                    <a:pt x="40" y="34"/>
                  </a:lnTo>
                  <a:lnTo>
                    <a:pt x="17" y="34"/>
                  </a:lnTo>
                  <a:lnTo>
                    <a:pt x="6" y="28"/>
                  </a:lnTo>
                  <a:lnTo>
                    <a:pt x="0" y="21"/>
                  </a:lnTo>
                  <a:lnTo>
                    <a:pt x="6" y="14"/>
                  </a:lnTo>
                  <a:lnTo>
                    <a:pt x="17" y="7"/>
                  </a:lnTo>
                  <a:lnTo>
                    <a:pt x="40" y="0"/>
                  </a:lnTo>
                  <a:lnTo>
                    <a:pt x="69" y="0"/>
                  </a:lnTo>
                </a:path>
              </a:pathLst>
            </a:custGeom>
            <a:solidFill>
              <a:srgbClr val="FFFFCC"/>
            </a:solidFill>
            <a:ln w="0">
              <a:solidFill>
                <a:schemeClr val="bg2"/>
              </a:solidFill>
              <a:round/>
              <a:headEnd/>
              <a:tailEnd/>
            </a:ln>
          </p:spPr>
          <p:txBody>
            <a:bodyPr/>
            <a:lstStyle/>
            <a:p>
              <a:endParaRPr lang="en-US"/>
            </a:p>
          </p:txBody>
        </p:sp>
        <p:sp>
          <p:nvSpPr>
            <p:cNvPr id="28954" name="Rectangle 59"/>
            <p:cNvSpPr>
              <a:spLocks noChangeArrowheads="1"/>
            </p:cNvSpPr>
            <p:nvPr/>
          </p:nvSpPr>
          <p:spPr bwMode="auto">
            <a:xfrm>
              <a:off x="3250" y="3118"/>
              <a:ext cx="108" cy="34"/>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55" name="Rectangle 60"/>
            <p:cNvSpPr>
              <a:spLocks noChangeArrowheads="1"/>
            </p:cNvSpPr>
            <p:nvPr/>
          </p:nvSpPr>
          <p:spPr bwMode="auto">
            <a:xfrm>
              <a:off x="3250" y="3118"/>
              <a:ext cx="108" cy="34"/>
            </a:xfrm>
            <a:prstGeom prst="rect">
              <a:avLst/>
            </a:prstGeom>
            <a:solidFill>
              <a:srgbClr val="FFFFCC"/>
            </a:solidFill>
            <a:ln w="0">
              <a:solidFill>
                <a:schemeClr val="bg2"/>
              </a:solidFill>
              <a:miter lim="800000"/>
              <a:headEnd/>
              <a:tailEnd/>
            </a:ln>
          </p:spPr>
          <p:txBody>
            <a:bodyPr/>
            <a:lstStyle/>
            <a:p>
              <a:endParaRPr lang="en-US"/>
            </a:p>
          </p:txBody>
        </p:sp>
        <p:sp>
          <p:nvSpPr>
            <p:cNvPr id="28956" name="Rectangle 61"/>
            <p:cNvSpPr>
              <a:spLocks noChangeArrowheads="1"/>
            </p:cNvSpPr>
            <p:nvPr/>
          </p:nvSpPr>
          <p:spPr bwMode="auto">
            <a:xfrm>
              <a:off x="2919" y="2662"/>
              <a:ext cx="194" cy="211"/>
            </a:xfrm>
            <a:prstGeom prst="rect">
              <a:avLst/>
            </a:prstGeom>
            <a:solidFill>
              <a:srgbClr val="FFFFCC"/>
            </a:solidFill>
            <a:ln w="9525">
              <a:solidFill>
                <a:schemeClr val="bg2"/>
              </a:solidFill>
              <a:miter lim="800000"/>
              <a:headEnd/>
              <a:tailEnd/>
            </a:ln>
          </p:spPr>
          <p:txBody>
            <a:bodyPr/>
            <a:lstStyle/>
            <a:p>
              <a:endParaRPr lang="en-US"/>
            </a:p>
          </p:txBody>
        </p:sp>
        <p:sp>
          <p:nvSpPr>
            <p:cNvPr id="28957" name="Rectangle 62"/>
            <p:cNvSpPr>
              <a:spLocks noChangeArrowheads="1"/>
            </p:cNvSpPr>
            <p:nvPr/>
          </p:nvSpPr>
          <p:spPr bwMode="auto">
            <a:xfrm>
              <a:off x="2919" y="2662"/>
              <a:ext cx="194" cy="211"/>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58" name="Freeform 63"/>
            <p:cNvSpPr>
              <a:spLocks/>
            </p:cNvSpPr>
            <p:nvPr/>
          </p:nvSpPr>
          <p:spPr bwMode="auto">
            <a:xfrm>
              <a:off x="2856" y="2751"/>
              <a:ext cx="137" cy="34"/>
            </a:xfrm>
            <a:custGeom>
              <a:avLst/>
              <a:gdLst>
                <a:gd name="T0" fmla="*/ 69 w 137"/>
                <a:gd name="T1" fmla="*/ 0 h 34"/>
                <a:gd name="T2" fmla="*/ 74 w 137"/>
                <a:gd name="T3" fmla="*/ 0 h 34"/>
                <a:gd name="T4" fmla="*/ 80 w 137"/>
                <a:gd name="T5" fmla="*/ 0 h 34"/>
                <a:gd name="T6" fmla="*/ 86 w 137"/>
                <a:gd name="T7" fmla="*/ 0 h 34"/>
                <a:gd name="T8" fmla="*/ 91 w 137"/>
                <a:gd name="T9" fmla="*/ 0 h 34"/>
                <a:gd name="T10" fmla="*/ 97 w 137"/>
                <a:gd name="T11" fmla="*/ 0 h 34"/>
                <a:gd name="T12" fmla="*/ 103 w 137"/>
                <a:gd name="T13" fmla="*/ 0 h 34"/>
                <a:gd name="T14" fmla="*/ 109 w 137"/>
                <a:gd name="T15" fmla="*/ 0 h 34"/>
                <a:gd name="T16" fmla="*/ 114 w 137"/>
                <a:gd name="T17" fmla="*/ 0 h 34"/>
                <a:gd name="T18" fmla="*/ 120 w 137"/>
                <a:gd name="T19" fmla="*/ 0 h 34"/>
                <a:gd name="T20" fmla="*/ 120 w 137"/>
                <a:gd name="T21" fmla="*/ 6 h 34"/>
                <a:gd name="T22" fmla="*/ 126 w 137"/>
                <a:gd name="T23" fmla="*/ 6 h 34"/>
                <a:gd name="T24" fmla="*/ 131 w 137"/>
                <a:gd name="T25" fmla="*/ 6 h 34"/>
                <a:gd name="T26" fmla="*/ 131 w 137"/>
                <a:gd name="T27" fmla="*/ 13 h 34"/>
                <a:gd name="T28" fmla="*/ 137 w 137"/>
                <a:gd name="T29" fmla="*/ 13 h 34"/>
                <a:gd name="T30" fmla="*/ 137 w 137"/>
                <a:gd name="T31" fmla="*/ 20 h 34"/>
                <a:gd name="T32" fmla="*/ 131 w 137"/>
                <a:gd name="T33" fmla="*/ 20 h 34"/>
                <a:gd name="T34" fmla="*/ 126 w 137"/>
                <a:gd name="T35" fmla="*/ 20 h 34"/>
                <a:gd name="T36" fmla="*/ 126 w 137"/>
                <a:gd name="T37" fmla="*/ 27 h 34"/>
                <a:gd name="T38" fmla="*/ 120 w 137"/>
                <a:gd name="T39" fmla="*/ 27 h 34"/>
                <a:gd name="T40" fmla="*/ 114 w 137"/>
                <a:gd name="T41" fmla="*/ 27 h 34"/>
                <a:gd name="T42" fmla="*/ 109 w 137"/>
                <a:gd name="T43" fmla="*/ 27 h 34"/>
                <a:gd name="T44" fmla="*/ 103 w 137"/>
                <a:gd name="T45" fmla="*/ 27 h 34"/>
                <a:gd name="T46" fmla="*/ 97 w 137"/>
                <a:gd name="T47" fmla="*/ 27 h 34"/>
                <a:gd name="T48" fmla="*/ 97 w 137"/>
                <a:gd name="T49" fmla="*/ 34 h 34"/>
                <a:gd name="T50" fmla="*/ 91 w 137"/>
                <a:gd name="T51" fmla="*/ 34 h 34"/>
                <a:gd name="T52" fmla="*/ 86 w 137"/>
                <a:gd name="T53" fmla="*/ 34 h 34"/>
                <a:gd name="T54" fmla="*/ 80 w 137"/>
                <a:gd name="T55" fmla="*/ 34 h 34"/>
                <a:gd name="T56" fmla="*/ 74 w 137"/>
                <a:gd name="T57" fmla="*/ 34 h 34"/>
                <a:gd name="T58" fmla="*/ 69 w 137"/>
                <a:gd name="T59" fmla="*/ 34 h 34"/>
                <a:gd name="T60" fmla="*/ 63 w 137"/>
                <a:gd name="T61" fmla="*/ 34 h 34"/>
                <a:gd name="T62" fmla="*/ 57 w 137"/>
                <a:gd name="T63" fmla="*/ 34 h 34"/>
                <a:gd name="T64" fmla="*/ 51 w 137"/>
                <a:gd name="T65" fmla="*/ 34 h 34"/>
                <a:gd name="T66" fmla="*/ 46 w 137"/>
                <a:gd name="T67" fmla="*/ 34 h 34"/>
                <a:gd name="T68" fmla="*/ 40 w 137"/>
                <a:gd name="T69" fmla="*/ 34 h 34"/>
                <a:gd name="T70" fmla="*/ 34 w 137"/>
                <a:gd name="T71" fmla="*/ 27 h 34"/>
                <a:gd name="T72" fmla="*/ 29 w 137"/>
                <a:gd name="T73" fmla="*/ 27 h 34"/>
                <a:gd name="T74" fmla="*/ 23 w 137"/>
                <a:gd name="T75" fmla="*/ 27 h 34"/>
                <a:gd name="T76" fmla="*/ 17 w 137"/>
                <a:gd name="T77" fmla="*/ 27 h 34"/>
                <a:gd name="T78" fmla="*/ 12 w 137"/>
                <a:gd name="T79" fmla="*/ 27 h 34"/>
                <a:gd name="T80" fmla="*/ 6 w 137"/>
                <a:gd name="T81" fmla="*/ 27 h 34"/>
                <a:gd name="T82" fmla="*/ 6 w 137"/>
                <a:gd name="T83" fmla="*/ 20 h 34"/>
                <a:gd name="T84" fmla="*/ 0 w 137"/>
                <a:gd name="T85" fmla="*/ 20 h 34"/>
                <a:gd name="T86" fmla="*/ 0 w 137"/>
                <a:gd name="T87" fmla="*/ 13 h 34"/>
                <a:gd name="T88" fmla="*/ 0 w 137"/>
                <a:gd name="T89" fmla="*/ 6 h 34"/>
                <a:gd name="T90" fmla="*/ 6 w 137"/>
                <a:gd name="T91" fmla="*/ 6 h 34"/>
                <a:gd name="T92" fmla="*/ 12 w 137"/>
                <a:gd name="T93" fmla="*/ 6 h 34"/>
                <a:gd name="T94" fmla="*/ 17 w 137"/>
                <a:gd name="T95" fmla="*/ 6 h 34"/>
                <a:gd name="T96" fmla="*/ 17 w 137"/>
                <a:gd name="T97" fmla="*/ 0 h 34"/>
                <a:gd name="T98" fmla="*/ 23 w 137"/>
                <a:gd name="T99" fmla="*/ 0 h 34"/>
                <a:gd name="T100" fmla="*/ 29 w 137"/>
                <a:gd name="T101" fmla="*/ 0 h 34"/>
                <a:gd name="T102" fmla="*/ 34 w 137"/>
                <a:gd name="T103" fmla="*/ 0 h 34"/>
                <a:gd name="T104" fmla="*/ 40 w 137"/>
                <a:gd name="T105" fmla="*/ 0 h 34"/>
                <a:gd name="T106" fmla="*/ 46 w 137"/>
                <a:gd name="T107" fmla="*/ 0 h 34"/>
                <a:gd name="T108" fmla="*/ 51 w 137"/>
                <a:gd name="T109" fmla="*/ 0 h 34"/>
                <a:gd name="T110" fmla="*/ 57 w 137"/>
                <a:gd name="T111" fmla="*/ 0 h 34"/>
                <a:gd name="T112" fmla="*/ 63 w 137"/>
                <a:gd name="T113" fmla="*/ 0 h 34"/>
                <a:gd name="T114" fmla="*/ 69 w 137"/>
                <a:gd name="T115" fmla="*/ 0 h 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7"/>
                <a:gd name="T175" fmla="*/ 0 h 34"/>
                <a:gd name="T176" fmla="*/ 137 w 137"/>
                <a:gd name="T177" fmla="*/ 34 h 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7" h="34">
                  <a:moveTo>
                    <a:pt x="69" y="0"/>
                  </a:moveTo>
                  <a:lnTo>
                    <a:pt x="74" y="0"/>
                  </a:lnTo>
                  <a:lnTo>
                    <a:pt x="80" y="0"/>
                  </a:lnTo>
                  <a:lnTo>
                    <a:pt x="86" y="0"/>
                  </a:lnTo>
                  <a:lnTo>
                    <a:pt x="91" y="0"/>
                  </a:lnTo>
                  <a:lnTo>
                    <a:pt x="97" y="0"/>
                  </a:lnTo>
                  <a:lnTo>
                    <a:pt x="103" y="0"/>
                  </a:lnTo>
                  <a:lnTo>
                    <a:pt x="109" y="0"/>
                  </a:lnTo>
                  <a:lnTo>
                    <a:pt x="114" y="0"/>
                  </a:lnTo>
                  <a:lnTo>
                    <a:pt x="120" y="0"/>
                  </a:lnTo>
                  <a:lnTo>
                    <a:pt x="120" y="6"/>
                  </a:lnTo>
                  <a:lnTo>
                    <a:pt x="126" y="6"/>
                  </a:lnTo>
                  <a:lnTo>
                    <a:pt x="131" y="6"/>
                  </a:lnTo>
                  <a:lnTo>
                    <a:pt x="131" y="13"/>
                  </a:lnTo>
                  <a:lnTo>
                    <a:pt x="137" y="13"/>
                  </a:lnTo>
                  <a:lnTo>
                    <a:pt x="137" y="20"/>
                  </a:lnTo>
                  <a:lnTo>
                    <a:pt x="131" y="20"/>
                  </a:lnTo>
                  <a:lnTo>
                    <a:pt x="126" y="20"/>
                  </a:lnTo>
                  <a:lnTo>
                    <a:pt x="126" y="27"/>
                  </a:lnTo>
                  <a:lnTo>
                    <a:pt x="120" y="27"/>
                  </a:lnTo>
                  <a:lnTo>
                    <a:pt x="114" y="27"/>
                  </a:lnTo>
                  <a:lnTo>
                    <a:pt x="109" y="27"/>
                  </a:lnTo>
                  <a:lnTo>
                    <a:pt x="103" y="27"/>
                  </a:lnTo>
                  <a:lnTo>
                    <a:pt x="97" y="27"/>
                  </a:lnTo>
                  <a:lnTo>
                    <a:pt x="97" y="34"/>
                  </a:lnTo>
                  <a:lnTo>
                    <a:pt x="91" y="34"/>
                  </a:lnTo>
                  <a:lnTo>
                    <a:pt x="86" y="34"/>
                  </a:lnTo>
                  <a:lnTo>
                    <a:pt x="80" y="34"/>
                  </a:lnTo>
                  <a:lnTo>
                    <a:pt x="74" y="34"/>
                  </a:lnTo>
                  <a:lnTo>
                    <a:pt x="69" y="34"/>
                  </a:lnTo>
                  <a:lnTo>
                    <a:pt x="63" y="34"/>
                  </a:lnTo>
                  <a:lnTo>
                    <a:pt x="57" y="34"/>
                  </a:lnTo>
                  <a:lnTo>
                    <a:pt x="51" y="34"/>
                  </a:lnTo>
                  <a:lnTo>
                    <a:pt x="46" y="34"/>
                  </a:lnTo>
                  <a:lnTo>
                    <a:pt x="40" y="34"/>
                  </a:lnTo>
                  <a:lnTo>
                    <a:pt x="34" y="27"/>
                  </a:lnTo>
                  <a:lnTo>
                    <a:pt x="29" y="27"/>
                  </a:lnTo>
                  <a:lnTo>
                    <a:pt x="23" y="27"/>
                  </a:lnTo>
                  <a:lnTo>
                    <a:pt x="17" y="27"/>
                  </a:lnTo>
                  <a:lnTo>
                    <a:pt x="12" y="27"/>
                  </a:lnTo>
                  <a:lnTo>
                    <a:pt x="6" y="27"/>
                  </a:lnTo>
                  <a:lnTo>
                    <a:pt x="6" y="20"/>
                  </a:lnTo>
                  <a:lnTo>
                    <a:pt x="0" y="20"/>
                  </a:lnTo>
                  <a:lnTo>
                    <a:pt x="0" y="13"/>
                  </a:lnTo>
                  <a:lnTo>
                    <a:pt x="0" y="6"/>
                  </a:lnTo>
                  <a:lnTo>
                    <a:pt x="6" y="6"/>
                  </a:lnTo>
                  <a:lnTo>
                    <a:pt x="12" y="6"/>
                  </a:lnTo>
                  <a:lnTo>
                    <a:pt x="17" y="6"/>
                  </a:lnTo>
                  <a:lnTo>
                    <a:pt x="17" y="0"/>
                  </a:lnTo>
                  <a:lnTo>
                    <a:pt x="23" y="0"/>
                  </a:lnTo>
                  <a:lnTo>
                    <a:pt x="29" y="0"/>
                  </a:lnTo>
                  <a:lnTo>
                    <a:pt x="34" y="0"/>
                  </a:lnTo>
                  <a:lnTo>
                    <a:pt x="40" y="0"/>
                  </a:lnTo>
                  <a:lnTo>
                    <a:pt x="46" y="0"/>
                  </a:lnTo>
                  <a:lnTo>
                    <a:pt x="51" y="0"/>
                  </a:lnTo>
                  <a:lnTo>
                    <a:pt x="57" y="0"/>
                  </a:lnTo>
                  <a:lnTo>
                    <a:pt x="63" y="0"/>
                  </a:lnTo>
                  <a:lnTo>
                    <a:pt x="69"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59" name="Freeform 64"/>
            <p:cNvSpPr>
              <a:spLocks/>
            </p:cNvSpPr>
            <p:nvPr/>
          </p:nvSpPr>
          <p:spPr bwMode="auto">
            <a:xfrm>
              <a:off x="2856" y="2751"/>
              <a:ext cx="137" cy="34"/>
            </a:xfrm>
            <a:custGeom>
              <a:avLst/>
              <a:gdLst>
                <a:gd name="T0" fmla="*/ 69 w 137"/>
                <a:gd name="T1" fmla="*/ 0 h 34"/>
                <a:gd name="T2" fmla="*/ 91 w 137"/>
                <a:gd name="T3" fmla="*/ 0 h 34"/>
                <a:gd name="T4" fmla="*/ 114 w 137"/>
                <a:gd name="T5" fmla="*/ 0 h 34"/>
                <a:gd name="T6" fmla="*/ 131 w 137"/>
                <a:gd name="T7" fmla="*/ 6 h 34"/>
                <a:gd name="T8" fmla="*/ 137 w 137"/>
                <a:gd name="T9" fmla="*/ 13 h 34"/>
                <a:gd name="T10" fmla="*/ 131 w 137"/>
                <a:gd name="T11" fmla="*/ 20 h 34"/>
                <a:gd name="T12" fmla="*/ 114 w 137"/>
                <a:gd name="T13" fmla="*/ 27 h 34"/>
                <a:gd name="T14" fmla="*/ 91 w 137"/>
                <a:gd name="T15" fmla="*/ 34 h 34"/>
                <a:gd name="T16" fmla="*/ 69 w 137"/>
                <a:gd name="T17" fmla="*/ 34 h 34"/>
                <a:gd name="T18" fmla="*/ 40 w 137"/>
                <a:gd name="T19" fmla="*/ 34 h 34"/>
                <a:gd name="T20" fmla="*/ 17 w 137"/>
                <a:gd name="T21" fmla="*/ 27 h 34"/>
                <a:gd name="T22" fmla="*/ 6 w 137"/>
                <a:gd name="T23" fmla="*/ 20 h 34"/>
                <a:gd name="T24" fmla="*/ 0 w 137"/>
                <a:gd name="T25" fmla="*/ 13 h 34"/>
                <a:gd name="T26" fmla="*/ 6 w 137"/>
                <a:gd name="T27" fmla="*/ 6 h 34"/>
                <a:gd name="T28" fmla="*/ 17 w 137"/>
                <a:gd name="T29" fmla="*/ 0 h 34"/>
                <a:gd name="T30" fmla="*/ 40 w 137"/>
                <a:gd name="T31" fmla="*/ 0 h 34"/>
                <a:gd name="T32" fmla="*/ 69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9" y="0"/>
                  </a:moveTo>
                  <a:lnTo>
                    <a:pt x="91" y="0"/>
                  </a:lnTo>
                  <a:lnTo>
                    <a:pt x="114" y="0"/>
                  </a:lnTo>
                  <a:lnTo>
                    <a:pt x="131" y="6"/>
                  </a:lnTo>
                  <a:lnTo>
                    <a:pt x="137" y="13"/>
                  </a:lnTo>
                  <a:lnTo>
                    <a:pt x="131" y="20"/>
                  </a:lnTo>
                  <a:lnTo>
                    <a:pt x="114" y="27"/>
                  </a:lnTo>
                  <a:lnTo>
                    <a:pt x="91" y="34"/>
                  </a:lnTo>
                  <a:lnTo>
                    <a:pt x="69" y="34"/>
                  </a:lnTo>
                  <a:lnTo>
                    <a:pt x="40" y="34"/>
                  </a:lnTo>
                  <a:lnTo>
                    <a:pt x="17" y="27"/>
                  </a:lnTo>
                  <a:lnTo>
                    <a:pt x="6" y="20"/>
                  </a:lnTo>
                  <a:lnTo>
                    <a:pt x="0" y="13"/>
                  </a:lnTo>
                  <a:lnTo>
                    <a:pt x="6" y="6"/>
                  </a:lnTo>
                  <a:lnTo>
                    <a:pt x="17" y="0"/>
                  </a:lnTo>
                  <a:lnTo>
                    <a:pt x="40" y="0"/>
                  </a:lnTo>
                  <a:lnTo>
                    <a:pt x="69" y="0"/>
                  </a:lnTo>
                </a:path>
              </a:pathLst>
            </a:custGeom>
            <a:solidFill>
              <a:srgbClr val="FFFFCC"/>
            </a:solidFill>
            <a:ln w="0">
              <a:solidFill>
                <a:schemeClr val="bg2"/>
              </a:solidFill>
              <a:round/>
              <a:headEnd/>
              <a:tailEnd/>
            </a:ln>
          </p:spPr>
          <p:txBody>
            <a:bodyPr/>
            <a:lstStyle/>
            <a:p>
              <a:endParaRPr lang="en-US"/>
            </a:p>
          </p:txBody>
        </p:sp>
        <p:sp>
          <p:nvSpPr>
            <p:cNvPr id="28960" name="Freeform 65"/>
            <p:cNvSpPr>
              <a:spLocks/>
            </p:cNvSpPr>
            <p:nvPr/>
          </p:nvSpPr>
          <p:spPr bwMode="auto">
            <a:xfrm>
              <a:off x="2856" y="2819"/>
              <a:ext cx="137" cy="34"/>
            </a:xfrm>
            <a:custGeom>
              <a:avLst/>
              <a:gdLst>
                <a:gd name="T0" fmla="*/ 69 w 137"/>
                <a:gd name="T1" fmla="*/ 0 h 34"/>
                <a:gd name="T2" fmla="*/ 74 w 137"/>
                <a:gd name="T3" fmla="*/ 0 h 34"/>
                <a:gd name="T4" fmla="*/ 80 w 137"/>
                <a:gd name="T5" fmla="*/ 0 h 34"/>
                <a:gd name="T6" fmla="*/ 86 w 137"/>
                <a:gd name="T7" fmla="*/ 0 h 34"/>
                <a:gd name="T8" fmla="*/ 91 w 137"/>
                <a:gd name="T9" fmla="*/ 0 h 34"/>
                <a:gd name="T10" fmla="*/ 97 w 137"/>
                <a:gd name="T11" fmla="*/ 0 h 34"/>
                <a:gd name="T12" fmla="*/ 103 w 137"/>
                <a:gd name="T13" fmla="*/ 0 h 34"/>
                <a:gd name="T14" fmla="*/ 109 w 137"/>
                <a:gd name="T15" fmla="*/ 0 h 34"/>
                <a:gd name="T16" fmla="*/ 114 w 137"/>
                <a:gd name="T17" fmla="*/ 0 h 34"/>
                <a:gd name="T18" fmla="*/ 120 w 137"/>
                <a:gd name="T19" fmla="*/ 6 h 34"/>
                <a:gd name="T20" fmla="*/ 126 w 137"/>
                <a:gd name="T21" fmla="*/ 6 h 34"/>
                <a:gd name="T22" fmla="*/ 131 w 137"/>
                <a:gd name="T23" fmla="*/ 6 h 34"/>
                <a:gd name="T24" fmla="*/ 131 w 137"/>
                <a:gd name="T25" fmla="*/ 13 h 34"/>
                <a:gd name="T26" fmla="*/ 137 w 137"/>
                <a:gd name="T27" fmla="*/ 13 h 34"/>
                <a:gd name="T28" fmla="*/ 137 w 137"/>
                <a:gd name="T29" fmla="*/ 20 h 34"/>
                <a:gd name="T30" fmla="*/ 131 w 137"/>
                <a:gd name="T31" fmla="*/ 20 h 34"/>
                <a:gd name="T32" fmla="*/ 126 w 137"/>
                <a:gd name="T33" fmla="*/ 20 h 34"/>
                <a:gd name="T34" fmla="*/ 126 w 137"/>
                <a:gd name="T35" fmla="*/ 27 h 34"/>
                <a:gd name="T36" fmla="*/ 120 w 137"/>
                <a:gd name="T37" fmla="*/ 27 h 34"/>
                <a:gd name="T38" fmla="*/ 114 w 137"/>
                <a:gd name="T39" fmla="*/ 27 h 34"/>
                <a:gd name="T40" fmla="*/ 109 w 137"/>
                <a:gd name="T41" fmla="*/ 27 h 34"/>
                <a:gd name="T42" fmla="*/ 103 w 137"/>
                <a:gd name="T43" fmla="*/ 27 h 34"/>
                <a:gd name="T44" fmla="*/ 97 w 137"/>
                <a:gd name="T45" fmla="*/ 34 h 34"/>
                <a:gd name="T46" fmla="*/ 91 w 137"/>
                <a:gd name="T47" fmla="*/ 34 h 34"/>
                <a:gd name="T48" fmla="*/ 86 w 137"/>
                <a:gd name="T49" fmla="*/ 34 h 34"/>
                <a:gd name="T50" fmla="*/ 80 w 137"/>
                <a:gd name="T51" fmla="*/ 34 h 34"/>
                <a:gd name="T52" fmla="*/ 74 w 137"/>
                <a:gd name="T53" fmla="*/ 34 h 34"/>
                <a:gd name="T54" fmla="*/ 69 w 137"/>
                <a:gd name="T55" fmla="*/ 34 h 34"/>
                <a:gd name="T56" fmla="*/ 63 w 137"/>
                <a:gd name="T57" fmla="*/ 34 h 34"/>
                <a:gd name="T58" fmla="*/ 57 w 137"/>
                <a:gd name="T59" fmla="*/ 34 h 34"/>
                <a:gd name="T60" fmla="*/ 51 w 137"/>
                <a:gd name="T61" fmla="*/ 34 h 34"/>
                <a:gd name="T62" fmla="*/ 46 w 137"/>
                <a:gd name="T63" fmla="*/ 34 h 34"/>
                <a:gd name="T64" fmla="*/ 40 w 137"/>
                <a:gd name="T65" fmla="*/ 34 h 34"/>
                <a:gd name="T66" fmla="*/ 34 w 137"/>
                <a:gd name="T67" fmla="*/ 34 h 34"/>
                <a:gd name="T68" fmla="*/ 34 w 137"/>
                <a:gd name="T69" fmla="*/ 27 h 34"/>
                <a:gd name="T70" fmla="*/ 29 w 137"/>
                <a:gd name="T71" fmla="*/ 27 h 34"/>
                <a:gd name="T72" fmla="*/ 23 w 137"/>
                <a:gd name="T73" fmla="*/ 27 h 34"/>
                <a:gd name="T74" fmla="*/ 17 w 137"/>
                <a:gd name="T75" fmla="*/ 27 h 34"/>
                <a:gd name="T76" fmla="*/ 12 w 137"/>
                <a:gd name="T77" fmla="*/ 27 h 34"/>
                <a:gd name="T78" fmla="*/ 6 w 137"/>
                <a:gd name="T79" fmla="*/ 27 h 34"/>
                <a:gd name="T80" fmla="*/ 6 w 137"/>
                <a:gd name="T81" fmla="*/ 20 h 34"/>
                <a:gd name="T82" fmla="*/ 0 w 137"/>
                <a:gd name="T83" fmla="*/ 20 h 34"/>
                <a:gd name="T84" fmla="*/ 0 w 137"/>
                <a:gd name="T85" fmla="*/ 13 h 34"/>
                <a:gd name="T86" fmla="*/ 0 w 137"/>
                <a:gd name="T87" fmla="*/ 6 h 34"/>
                <a:gd name="T88" fmla="*/ 6 w 137"/>
                <a:gd name="T89" fmla="*/ 6 h 34"/>
                <a:gd name="T90" fmla="*/ 12 w 137"/>
                <a:gd name="T91" fmla="*/ 6 h 34"/>
                <a:gd name="T92" fmla="*/ 17 w 137"/>
                <a:gd name="T93" fmla="*/ 6 h 34"/>
                <a:gd name="T94" fmla="*/ 17 w 137"/>
                <a:gd name="T95" fmla="*/ 0 h 34"/>
                <a:gd name="T96" fmla="*/ 23 w 137"/>
                <a:gd name="T97" fmla="*/ 0 h 34"/>
                <a:gd name="T98" fmla="*/ 29 w 137"/>
                <a:gd name="T99" fmla="*/ 0 h 34"/>
                <a:gd name="T100" fmla="*/ 34 w 137"/>
                <a:gd name="T101" fmla="*/ 0 h 34"/>
                <a:gd name="T102" fmla="*/ 40 w 137"/>
                <a:gd name="T103" fmla="*/ 0 h 34"/>
                <a:gd name="T104" fmla="*/ 46 w 137"/>
                <a:gd name="T105" fmla="*/ 0 h 34"/>
                <a:gd name="T106" fmla="*/ 51 w 137"/>
                <a:gd name="T107" fmla="*/ 0 h 34"/>
                <a:gd name="T108" fmla="*/ 57 w 137"/>
                <a:gd name="T109" fmla="*/ 0 h 34"/>
                <a:gd name="T110" fmla="*/ 63 w 137"/>
                <a:gd name="T111" fmla="*/ 0 h 34"/>
                <a:gd name="T112" fmla="*/ 69 w 137"/>
                <a:gd name="T113" fmla="*/ 0 h 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7"/>
                <a:gd name="T172" fmla="*/ 0 h 34"/>
                <a:gd name="T173" fmla="*/ 137 w 137"/>
                <a:gd name="T174" fmla="*/ 34 h 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7" h="34">
                  <a:moveTo>
                    <a:pt x="69" y="0"/>
                  </a:moveTo>
                  <a:lnTo>
                    <a:pt x="74" y="0"/>
                  </a:lnTo>
                  <a:lnTo>
                    <a:pt x="80" y="0"/>
                  </a:lnTo>
                  <a:lnTo>
                    <a:pt x="86" y="0"/>
                  </a:lnTo>
                  <a:lnTo>
                    <a:pt x="91" y="0"/>
                  </a:lnTo>
                  <a:lnTo>
                    <a:pt x="97" y="0"/>
                  </a:lnTo>
                  <a:lnTo>
                    <a:pt x="103" y="0"/>
                  </a:lnTo>
                  <a:lnTo>
                    <a:pt x="109" y="0"/>
                  </a:lnTo>
                  <a:lnTo>
                    <a:pt x="114" y="0"/>
                  </a:lnTo>
                  <a:lnTo>
                    <a:pt x="120" y="6"/>
                  </a:lnTo>
                  <a:lnTo>
                    <a:pt x="126" y="6"/>
                  </a:lnTo>
                  <a:lnTo>
                    <a:pt x="131" y="6"/>
                  </a:lnTo>
                  <a:lnTo>
                    <a:pt x="131" y="13"/>
                  </a:lnTo>
                  <a:lnTo>
                    <a:pt x="137" y="13"/>
                  </a:lnTo>
                  <a:lnTo>
                    <a:pt x="137" y="20"/>
                  </a:lnTo>
                  <a:lnTo>
                    <a:pt x="131" y="20"/>
                  </a:lnTo>
                  <a:lnTo>
                    <a:pt x="126" y="20"/>
                  </a:lnTo>
                  <a:lnTo>
                    <a:pt x="126" y="27"/>
                  </a:lnTo>
                  <a:lnTo>
                    <a:pt x="120" y="27"/>
                  </a:lnTo>
                  <a:lnTo>
                    <a:pt x="114" y="27"/>
                  </a:lnTo>
                  <a:lnTo>
                    <a:pt x="109" y="27"/>
                  </a:lnTo>
                  <a:lnTo>
                    <a:pt x="103" y="27"/>
                  </a:lnTo>
                  <a:lnTo>
                    <a:pt x="97" y="34"/>
                  </a:lnTo>
                  <a:lnTo>
                    <a:pt x="91" y="34"/>
                  </a:lnTo>
                  <a:lnTo>
                    <a:pt x="86" y="34"/>
                  </a:lnTo>
                  <a:lnTo>
                    <a:pt x="80" y="34"/>
                  </a:lnTo>
                  <a:lnTo>
                    <a:pt x="74" y="34"/>
                  </a:lnTo>
                  <a:lnTo>
                    <a:pt x="69" y="34"/>
                  </a:lnTo>
                  <a:lnTo>
                    <a:pt x="63" y="34"/>
                  </a:lnTo>
                  <a:lnTo>
                    <a:pt x="57" y="34"/>
                  </a:lnTo>
                  <a:lnTo>
                    <a:pt x="51" y="34"/>
                  </a:lnTo>
                  <a:lnTo>
                    <a:pt x="46" y="34"/>
                  </a:lnTo>
                  <a:lnTo>
                    <a:pt x="40" y="34"/>
                  </a:lnTo>
                  <a:lnTo>
                    <a:pt x="34" y="34"/>
                  </a:lnTo>
                  <a:lnTo>
                    <a:pt x="34" y="27"/>
                  </a:lnTo>
                  <a:lnTo>
                    <a:pt x="29" y="27"/>
                  </a:lnTo>
                  <a:lnTo>
                    <a:pt x="23" y="27"/>
                  </a:lnTo>
                  <a:lnTo>
                    <a:pt x="17" y="27"/>
                  </a:lnTo>
                  <a:lnTo>
                    <a:pt x="12" y="27"/>
                  </a:lnTo>
                  <a:lnTo>
                    <a:pt x="6" y="27"/>
                  </a:lnTo>
                  <a:lnTo>
                    <a:pt x="6" y="20"/>
                  </a:lnTo>
                  <a:lnTo>
                    <a:pt x="0" y="20"/>
                  </a:lnTo>
                  <a:lnTo>
                    <a:pt x="0" y="13"/>
                  </a:lnTo>
                  <a:lnTo>
                    <a:pt x="0" y="6"/>
                  </a:lnTo>
                  <a:lnTo>
                    <a:pt x="6" y="6"/>
                  </a:lnTo>
                  <a:lnTo>
                    <a:pt x="12" y="6"/>
                  </a:lnTo>
                  <a:lnTo>
                    <a:pt x="17" y="6"/>
                  </a:lnTo>
                  <a:lnTo>
                    <a:pt x="17" y="0"/>
                  </a:lnTo>
                  <a:lnTo>
                    <a:pt x="23" y="0"/>
                  </a:lnTo>
                  <a:lnTo>
                    <a:pt x="29" y="0"/>
                  </a:lnTo>
                  <a:lnTo>
                    <a:pt x="34" y="0"/>
                  </a:lnTo>
                  <a:lnTo>
                    <a:pt x="40" y="0"/>
                  </a:lnTo>
                  <a:lnTo>
                    <a:pt x="46" y="0"/>
                  </a:lnTo>
                  <a:lnTo>
                    <a:pt x="51" y="0"/>
                  </a:lnTo>
                  <a:lnTo>
                    <a:pt x="57" y="0"/>
                  </a:lnTo>
                  <a:lnTo>
                    <a:pt x="63" y="0"/>
                  </a:lnTo>
                  <a:lnTo>
                    <a:pt x="69"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61" name="Freeform 66"/>
            <p:cNvSpPr>
              <a:spLocks/>
            </p:cNvSpPr>
            <p:nvPr/>
          </p:nvSpPr>
          <p:spPr bwMode="auto">
            <a:xfrm>
              <a:off x="2856" y="2819"/>
              <a:ext cx="137" cy="34"/>
            </a:xfrm>
            <a:custGeom>
              <a:avLst/>
              <a:gdLst>
                <a:gd name="T0" fmla="*/ 69 w 137"/>
                <a:gd name="T1" fmla="*/ 0 h 34"/>
                <a:gd name="T2" fmla="*/ 91 w 137"/>
                <a:gd name="T3" fmla="*/ 0 h 34"/>
                <a:gd name="T4" fmla="*/ 114 w 137"/>
                <a:gd name="T5" fmla="*/ 0 h 34"/>
                <a:gd name="T6" fmla="*/ 131 w 137"/>
                <a:gd name="T7" fmla="*/ 6 h 34"/>
                <a:gd name="T8" fmla="*/ 137 w 137"/>
                <a:gd name="T9" fmla="*/ 13 h 34"/>
                <a:gd name="T10" fmla="*/ 131 w 137"/>
                <a:gd name="T11" fmla="*/ 20 h 34"/>
                <a:gd name="T12" fmla="*/ 114 w 137"/>
                <a:gd name="T13" fmla="*/ 27 h 34"/>
                <a:gd name="T14" fmla="*/ 91 w 137"/>
                <a:gd name="T15" fmla="*/ 34 h 34"/>
                <a:gd name="T16" fmla="*/ 69 w 137"/>
                <a:gd name="T17" fmla="*/ 34 h 34"/>
                <a:gd name="T18" fmla="*/ 40 w 137"/>
                <a:gd name="T19" fmla="*/ 34 h 34"/>
                <a:gd name="T20" fmla="*/ 17 w 137"/>
                <a:gd name="T21" fmla="*/ 27 h 34"/>
                <a:gd name="T22" fmla="*/ 6 w 137"/>
                <a:gd name="T23" fmla="*/ 20 h 34"/>
                <a:gd name="T24" fmla="*/ 0 w 137"/>
                <a:gd name="T25" fmla="*/ 13 h 34"/>
                <a:gd name="T26" fmla="*/ 6 w 137"/>
                <a:gd name="T27" fmla="*/ 6 h 34"/>
                <a:gd name="T28" fmla="*/ 17 w 137"/>
                <a:gd name="T29" fmla="*/ 0 h 34"/>
                <a:gd name="T30" fmla="*/ 40 w 137"/>
                <a:gd name="T31" fmla="*/ 0 h 34"/>
                <a:gd name="T32" fmla="*/ 69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9" y="0"/>
                  </a:moveTo>
                  <a:lnTo>
                    <a:pt x="91" y="0"/>
                  </a:lnTo>
                  <a:lnTo>
                    <a:pt x="114" y="0"/>
                  </a:lnTo>
                  <a:lnTo>
                    <a:pt x="131" y="6"/>
                  </a:lnTo>
                  <a:lnTo>
                    <a:pt x="137" y="13"/>
                  </a:lnTo>
                  <a:lnTo>
                    <a:pt x="131" y="20"/>
                  </a:lnTo>
                  <a:lnTo>
                    <a:pt x="114" y="27"/>
                  </a:lnTo>
                  <a:lnTo>
                    <a:pt x="91" y="34"/>
                  </a:lnTo>
                  <a:lnTo>
                    <a:pt x="69" y="34"/>
                  </a:lnTo>
                  <a:lnTo>
                    <a:pt x="40" y="34"/>
                  </a:lnTo>
                  <a:lnTo>
                    <a:pt x="17" y="27"/>
                  </a:lnTo>
                  <a:lnTo>
                    <a:pt x="6" y="20"/>
                  </a:lnTo>
                  <a:lnTo>
                    <a:pt x="0" y="13"/>
                  </a:lnTo>
                  <a:lnTo>
                    <a:pt x="6" y="6"/>
                  </a:lnTo>
                  <a:lnTo>
                    <a:pt x="17" y="0"/>
                  </a:lnTo>
                  <a:lnTo>
                    <a:pt x="40" y="0"/>
                  </a:lnTo>
                  <a:lnTo>
                    <a:pt x="69" y="0"/>
                  </a:lnTo>
                </a:path>
              </a:pathLst>
            </a:custGeom>
            <a:solidFill>
              <a:srgbClr val="FFFFCC"/>
            </a:solidFill>
            <a:ln w="0">
              <a:solidFill>
                <a:schemeClr val="bg2"/>
              </a:solidFill>
              <a:round/>
              <a:headEnd/>
              <a:tailEnd/>
            </a:ln>
          </p:spPr>
          <p:txBody>
            <a:bodyPr/>
            <a:lstStyle/>
            <a:p>
              <a:endParaRPr lang="en-US"/>
            </a:p>
          </p:txBody>
        </p:sp>
        <p:sp>
          <p:nvSpPr>
            <p:cNvPr id="28962" name="Rectangle 67"/>
            <p:cNvSpPr>
              <a:spLocks noChangeArrowheads="1"/>
            </p:cNvSpPr>
            <p:nvPr/>
          </p:nvSpPr>
          <p:spPr bwMode="auto">
            <a:xfrm>
              <a:off x="2868" y="2689"/>
              <a:ext cx="108" cy="41"/>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63" name="Rectangle 68"/>
            <p:cNvSpPr>
              <a:spLocks noChangeArrowheads="1"/>
            </p:cNvSpPr>
            <p:nvPr/>
          </p:nvSpPr>
          <p:spPr bwMode="auto">
            <a:xfrm>
              <a:off x="2868" y="2689"/>
              <a:ext cx="108" cy="41"/>
            </a:xfrm>
            <a:prstGeom prst="rect">
              <a:avLst/>
            </a:prstGeom>
            <a:solidFill>
              <a:srgbClr val="FFFFCC"/>
            </a:solidFill>
            <a:ln w="0">
              <a:solidFill>
                <a:schemeClr val="bg2"/>
              </a:solidFill>
              <a:miter lim="800000"/>
              <a:headEnd/>
              <a:tailEnd/>
            </a:ln>
          </p:spPr>
          <p:txBody>
            <a:bodyPr/>
            <a:lstStyle/>
            <a:p>
              <a:endParaRPr lang="en-US"/>
            </a:p>
          </p:txBody>
        </p:sp>
        <p:sp>
          <p:nvSpPr>
            <p:cNvPr id="28964" name="Rectangle 69"/>
            <p:cNvSpPr>
              <a:spLocks noChangeArrowheads="1"/>
            </p:cNvSpPr>
            <p:nvPr/>
          </p:nvSpPr>
          <p:spPr bwMode="auto">
            <a:xfrm>
              <a:off x="2252" y="2880"/>
              <a:ext cx="199" cy="204"/>
            </a:xfrm>
            <a:prstGeom prst="rect">
              <a:avLst/>
            </a:prstGeom>
            <a:solidFill>
              <a:srgbClr val="FFFFCC"/>
            </a:solidFill>
            <a:ln w="9525">
              <a:solidFill>
                <a:schemeClr val="bg2"/>
              </a:solidFill>
              <a:miter lim="800000"/>
              <a:headEnd/>
              <a:tailEnd/>
            </a:ln>
          </p:spPr>
          <p:txBody>
            <a:bodyPr/>
            <a:lstStyle/>
            <a:p>
              <a:endParaRPr lang="en-US"/>
            </a:p>
          </p:txBody>
        </p:sp>
        <p:sp>
          <p:nvSpPr>
            <p:cNvPr id="28965" name="Rectangle 70"/>
            <p:cNvSpPr>
              <a:spLocks noChangeArrowheads="1"/>
            </p:cNvSpPr>
            <p:nvPr/>
          </p:nvSpPr>
          <p:spPr bwMode="auto">
            <a:xfrm>
              <a:off x="2252" y="2880"/>
              <a:ext cx="199" cy="20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66" name="Freeform 71"/>
            <p:cNvSpPr>
              <a:spLocks/>
            </p:cNvSpPr>
            <p:nvPr/>
          </p:nvSpPr>
          <p:spPr bwMode="auto">
            <a:xfrm>
              <a:off x="2189" y="2961"/>
              <a:ext cx="142" cy="34"/>
            </a:xfrm>
            <a:custGeom>
              <a:avLst/>
              <a:gdLst>
                <a:gd name="T0" fmla="*/ 74 w 142"/>
                <a:gd name="T1" fmla="*/ 0 h 34"/>
                <a:gd name="T2" fmla="*/ 80 w 142"/>
                <a:gd name="T3" fmla="*/ 0 h 34"/>
                <a:gd name="T4" fmla="*/ 85 w 142"/>
                <a:gd name="T5" fmla="*/ 0 h 34"/>
                <a:gd name="T6" fmla="*/ 91 w 142"/>
                <a:gd name="T7" fmla="*/ 0 h 34"/>
                <a:gd name="T8" fmla="*/ 97 w 142"/>
                <a:gd name="T9" fmla="*/ 0 h 34"/>
                <a:gd name="T10" fmla="*/ 102 w 142"/>
                <a:gd name="T11" fmla="*/ 0 h 34"/>
                <a:gd name="T12" fmla="*/ 108 w 142"/>
                <a:gd name="T13" fmla="*/ 0 h 34"/>
                <a:gd name="T14" fmla="*/ 114 w 142"/>
                <a:gd name="T15" fmla="*/ 0 h 34"/>
                <a:gd name="T16" fmla="*/ 120 w 142"/>
                <a:gd name="T17" fmla="*/ 0 h 34"/>
                <a:gd name="T18" fmla="*/ 120 w 142"/>
                <a:gd name="T19" fmla="*/ 7 h 34"/>
                <a:gd name="T20" fmla="*/ 125 w 142"/>
                <a:gd name="T21" fmla="*/ 7 h 34"/>
                <a:gd name="T22" fmla="*/ 131 w 142"/>
                <a:gd name="T23" fmla="*/ 7 h 34"/>
                <a:gd name="T24" fmla="*/ 137 w 142"/>
                <a:gd name="T25" fmla="*/ 7 h 34"/>
                <a:gd name="T26" fmla="*/ 137 w 142"/>
                <a:gd name="T27" fmla="*/ 14 h 34"/>
                <a:gd name="T28" fmla="*/ 142 w 142"/>
                <a:gd name="T29" fmla="*/ 14 h 34"/>
                <a:gd name="T30" fmla="*/ 142 w 142"/>
                <a:gd name="T31" fmla="*/ 21 h 34"/>
                <a:gd name="T32" fmla="*/ 137 w 142"/>
                <a:gd name="T33" fmla="*/ 21 h 34"/>
                <a:gd name="T34" fmla="*/ 131 w 142"/>
                <a:gd name="T35" fmla="*/ 28 h 34"/>
                <a:gd name="T36" fmla="*/ 125 w 142"/>
                <a:gd name="T37" fmla="*/ 28 h 34"/>
                <a:gd name="T38" fmla="*/ 120 w 142"/>
                <a:gd name="T39" fmla="*/ 28 h 34"/>
                <a:gd name="T40" fmla="*/ 114 w 142"/>
                <a:gd name="T41" fmla="*/ 28 h 34"/>
                <a:gd name="T42" fmla="*/ 108 w 142"/>
                <a:gd name="T43" fmla="*/ 34 h 34"/>
                <a:gd name="T44" fmla="*/ 102 w 142"/>
                <a:gd name="T45" fmla="*/ 34 h 34"/>
                <a:gd name="T46" fmla="*/ 97 w 142"/>
                <a:gd name="T47" fmla="*/ 34 h 34"/>
                <a:gd name="T48" fmla="*/ 91 w 142"/>
                <a:gd name="T49" fmla="*/ 34 h 34"/>
                <a:gd name="T50" fmla="*/ 85 w 142"/>
                <a:gd name="T51" fmla="*/ 34 h 34"/>
                <a:gd name="T52" fmla="*/ 80 w 142"/>
                <a:gd name="T53" fmla="*/ 34 h 34"/>
                <a:gd name="T54" fmla="*/ 74 w 142"/>
                <a:gd name="T55" fmla="*/ 34 h 34"/>
                <a:gd name="T56" fmla="*/ 68 w 142"/>
                <a:gd name="T57" fmla="*/ 34 h 34"/>
                <a:gd name="T58" fmla="*/ 63 w 142"/>
                <a:gd name="T59" fmla="*/ 34 h 34"/>
                <a:gd name="T60" fmla="*/ 57 w 142"/>
                <a:gd name="T61" fmla="*/ 34 h 34"/>
                <a:gd name="T62" fmla="*/ 51 w 142"/>
                <a:gd name="T63" fmla="*/ 34 h 34"/>
                <a:gd name="T64" fmla="*/ 45 w 142"/>
                <a:gd name="T65" fmla="*/ 34 h 34"/>
                <a:gd name="T66" fmla="*/ 40 w 142"/>
                <a:gd name="T67" fmla="*/ 34 h 34"/>
                <a:gd name="T68" fmla="*/ 34 w 142"/>
                <a:gd name="T69" fmla="*/ 34 h 34"/>
                <a:gd name="T70" fmla="*/ 28 w 142"/>
                <a:gd name="T71" fmla="*/ 28 h 34"/>
                <a:gd name="T72" fmla="*/ 23 w 142"/>
                <a:gd name="T73" fmla="*/ 28 h 34"/>
                <a:gd name="T74" fmla="*/ 17 w 142"/>
                <a:gd name="T75" fmla="*/ 28 h 34"/>
                <a:gd name="T76" fmla="*/ 11 w 142"/>
                <a:gd name="T77" fmla="*/ 28 h 34"/>
                <a:gd name="T78" fmla="*/ 6 w 142"/>
                <a:gd name="T79" fmla="*/ 21 h 34"/>
                <a:gd name="T80" fmla="*/ 0 w 142"/>
                <a:gd name="T81" fmla="*/ 14 h 34"/>
                <a:gd name="T82" fmla="*/ 6 w 142"/>
                <a:gd name="T83" fmla="*/ 14 h 34"/>
                <a:gd name="T84" fmla="*/ 6 w 142"/>
                <a:gd name="T85" fmla="*/ 7 h 34"/>
                <a:gd name="T86" fmla="*/ 11 w 142"/>
                <a:gd name="T87" fmla="*/ 7 h 34"/>
                <a:gd name="T88" fmla="*/ 17 w 142"/>
                <a:gd name="T89" fmla="*/ 7 h 34"/>
                <a:gd name="T90" fmla="*/ 23 w 142"/>
                <a:gd name="T91" fmla="*/ 7 h 34"/>
                <a:gd name="T92" fmla="*/ 23 w 142"/>
                <a:gd name="T93" fmla="*/ 0 h 34"/>
                <a:gd name="T94" fmla="*/ 28 w 142"/>
                <a:gd name="T95" fmla="*/ 0 h 34"/>
                <a:gd name="T96" fmla="*/ 34 w 142"/>
                <a:gd name="T97" fmla="*/ 0 h 34"/>
                <a:gd name="T98" fmla="*/ 40 w 142"/>
                <a:gd name="T99" fmla="*/ 0 h 34"/>
                <a:gd name="T100" fmla="*/ 45 w 142"/>
                <a:gd name="T101" fmla="*/ 0 h 34"/>
                <a:gd name="T102" fmla="*/ 51 w 142"/>
                <a:gd name="T103" fmla="*/ 0 h 34"/>
                <a:gd name="T104" fmla="*/ 57 w 142"/>
                <a:gd name="T105" fmla="*/ 0 h 34"/>
                <a:gd name="T106" fmla="*/ 63 w 142"/>
                <a:gd name="T107" fmla="*/ 0 h 34"/>
                <a:gd name="T108" fmla="*/ 68 w 142"/>
                <a:gd name="T109" fmla="*/ 0 h 34"/>
                <a:gd name="T110" fmla="*/ 74 w 142"/>
                <a:gd name="T111" fmla="*/ 0 h 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2"/>
                <a:gd name="T169" fmla="*/ 0 h 34"/>
                <a:gd name="T170" fmla="*/ 142 w 142"/>
                <a:gd name="T171" fmla="*/ 34 h 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2" h="34">
                  <a:moveTo>
                    <a:pt x="74" y="0"/>
                  </a:moveTo>
                  <a:lnTo>
                    <a:pt x="80" y="0"/>
                  </a:lnTo>
                  <a:lnTo>
                    <a:pt x="85" y="0"/>
                  </a:lnTo>
                  <a:lnTo>
                    <a:pt x="91" y="0"/>
                  </a:lnTo>
                  <a:lnTo>
                    <a:pt x="97" y="0"/>
                  </a:lnTo>
                  <a:lnTo>
                    <a:pt x="102" y="0"/>
                  </a:lnTo>
                  <a:lnTo>
                    <a:pt x="108" y="0"/>
                  </a:lnTo>
                  <a:lnTo>
                    <a:pt x="114" y="0"/>
                  </a:lnTo>
                  <a:lnTo>
                    <a:pt x="120" y="0"/>
                  </a:lnTo>
                  <a:lnTo>
                    <a:pt x="120" y="7"/>
                  </a:lnTo>
                  <a:lnTo>
                    <a:pt x="125" y="7"/>
                  </a:lnTo>
                  <a:lnTo>
                    <a:pt x="131" y="7"/>
                  </a:lnTo>
                  <a:lnTo>
                    <a:pt x="137" y="7"/>
                  </a:lnTo>
                  <a:lnTo>
                    <a:pt x="137" y="14"/>
                  </a:lnTo>
                  <a:lnTo>
                    <a:pt x="142" y="14"/>
                  </a:lnTo>
                  <a:lnTo>
                    <a:pt x="142" y="21"/>
                  </a:lnTo>
                  <a:lnTo>
                    <a:pt x="137" y="21"/>
                  </a:lnTo>
                  <a:lnTo>
                    <a:pt x="131" y="28"/>
                  </a:lnTo>
                  <a:lnTo>
                    <a:pt x="125" y="28"/>
                  </a:lnTo>
                  <a:lnTo>
                    <a:pt x="120" y="28"/>
                  </a:lnTo>
                  <a:lnTo>
                    <a:pt x="114" y="28"/>
                  </a:lnTo>
                  <a:lnTo>
                    <a:pt x="108" y="34"/>
                  </a:lnTo>
                  <a:lnTo>
                    <a:pt x="102" y="34"/>
                  </a:lnTo>
                  <a:lnTo>
                    <a:pt x="97" y="34"/>
                  </a:lnTo>
                  <a:lnTo>
                    <a:pt x="91" y="34"/>
                  </a:lnTo>
                  <a:lnTo>
                    <a:pt x="85" y="34"/>
                  </a:lnTo>
                  <a:lnTo>
                    <a:pt x="80" y="34"/>
                  </a:lnTo>
                  <a:lnTo>
                    <a:pt x="74" y="34"/>
                  </a:lnTo>
                  <a:lnTo>
                    <a:pt x="68" y="34"/>
                  </a:lnTo>
                  <a:lnTo>
                    <a:pt x="63" y="34"/>
                  </a:lnTo>
                  <a:lnTo>
                    <a:pt x="57" y="34"/>
                  </a:lnTo>
                  <a:lnTo>
                    <a:pt x="51" y="34"/>
                  </a:lnTo>
                  <a:lnTo>
                    <a:pt x="45" y="34"/>
                  </a:lnTo>
                  <a:lnTo>
                    <a:pt x="40" y="34"/>
                  </a:lnTo>
                  <a:lnTo>
                    <a:pt x="34" y="34"/>
                  </a:lnTo>
                  <a:lnTo>
                    <a:pt x="28" y="28"/>
                  </a:lnTo>
                  <a:lnTo>
                    <a:pt x="23" y="28"/>
                  </a:lnTo>
                  <a:lnTo>
                    <a:pt x="17" y="28"/>
                  </a:lnTo>
                  <a:lnTo>
                    <a:pt x="11" y="28"/>
                  </a:lnTo>
                  <a:lnTo>
                    <a:pt x="6" y="21"/>
                  </a:lnTo>
                  <a:lnTo>
                    <a:pt x="0" y="14"/>
                  </a:lnTo>
                  <a:lnTo>
                    <a:pt x="6" y="14"/>
                  </a:lnTo>
                  <a:lnTo>
                    <a:pt x="6" y="7"/>
                  </a:lnTo>
                  <a:lnTo>
                    <a:pt x="11" y="7"/>
                  </a:lnTo>
                  <a:lnTo>
                    <a:pt x="17" y="7"/>
                  </a:lnTo>
                  <a:lnTo>
                    <a:pt x="23" y="7"/>
                  </a:lnTo>
                  <a:lnTo>
                    <a:pt x="23" y="0"/>
                  </a:lnTo>
                  <a:lnTo>
                    <a:pt x="28" y="0"/>
                  </a:lnTo>
                  <a:lnTo>
                    <a:pt x="34" y="0"/>
                  </a:lnTo>
                  <a:lnTo>
                    <a:pt x="40" y="0"/>
                  </a:lnTo>
                  <a:lnTo>
                    <a:pt x="45" y="0"/>
                  </a:lnTo>
                  <a:lnTo>
                    <a:pt x="51" y="0"/>
                  </a:lnTo>
                  <a:lnTo>
                    <a:pt x="57" y="0"/>
                  </a:lnTo>
                  <a:lnTo>
                    <a:pt x="63" y="0"/>
                  </a:lnTo>
                  <a:lnTo>
                    <a:pt x="68" y="0"/>
                  </a:lnTo>
                  <a:lnTo>
                    <a:pt x="74"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67" name="Freeform 72"/>
            <p:cNvSpPr>
              <a:spLocks/>
            </p:cNvSpPr>
            <p:nvPr/>
          </p:nvSpPr>
          <p:spPr bwMode="auto">
            <a:xfrm>
              <a:off x="2189" y="2961"/>
              <a:ext cx="142" cy="34"/>
            </a:xfrm>
            <a:custGeom>
              <a:avLst/>
              <a:gdLst>
                <a:gd name="T0" fmla="*/ 74 w 142"/>
                <a:gd name="T1" fmla="*/ 0 h 34"/>
                <a:gd name="T2" fmla="*/ 97 w 142"/>
                <a:gd name="T3" fmla="*/ 0 h 34"/>
                <a:gd name="T4" fmla="*/ 120 w 142"/>
                <a:gd name="T5" fmla="*/ 7 h 34"/>
                <a:gd name="T6" fmla="*/ 137 w 142"/>
                <a:gd name="T7" fmla="*/ 7 h 34"/>
                <a:gd name="T8" fmla="*/ 142 w 142"/>
                <a:gd name="T9" fmla="*/ 14 h 34"/>
                <a:gd name="T10" fmla="*/ 137 w 142"/>
                <a:gd name="T11" fmla="*/ 21 h 34"/>
                <a:gd name="T12" fmla="*/ 120 w 142"/>
                <a:gd name="T13" fmla="*/ 28 h 34"/>
                <a:gd name="T14" fmla="*/ 97 w 142"/>
                <a:gd name="T15" fmla="*/ 34 h 34"/>
                <a:gd name="T16" fmla="*/ 74 w 142"/>
                <a:gd name="T17" fmla="*/ 34 h 34"/>
                <a:gd name="T18" fmla="*/ 45 w 142"/>
                <a:gd name="T19" fmla="*/ 34 h 34"/>
                <a:gd name="T20" fmla="*/ 23 w 142"/>
                <a:gd name="T21" fmla="*/ 28 h 34"/>
                <a:gd name="T22" fmla="*/ 6 w 142"/>
                <a:gd name="T23" fmla="*/ 21 h 34"/>
                <a:gd name="T24" fmla="*/ 0 w 142"/>
                <a:gd name="T25" fmla="*/ 14 h 34"/>
                <a:gd name="T26" fmla="*/ 6 w 142"/>
                <a:gd name="T27" fmla="*/ 7 h 34"/>
                <a:gd name="T28" fmla="*/ 23 w 142"/>
                <a:gd name="T29" fmla="*/ 7 h 34"/>
                <a:gd name="T30" fmla="*/ 45 w 142"/>
                <a:gd name="T31" fmla="*/ 0 h 34"/>
                <a:gd name="T32" fmla="*/ 74 w 142"/>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2"/>
                <a:gd name="T52" fmla="*/ 0 h 34"/>
                <a:gd name="T53" fmla="*/ 142 w 142"/>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2" h="34">
                  <a:moveTo>
                    <a:pt x="74" y="0"/>
                  </a:moveTo>
                  <a:lnTo>
                    <a:pt x="97" y="0"/>
                  </a:lnTo>
                  <a:lnTo>
                    <a:pt x="120" y="7"/>
                  </a:lnTo>
                  <a:lnTo>
                    <a:pt x="137" y="7"/>
                  </a:lnTo>
                  <a:lnTo>
                    <a:pt x="142" y="14"/>
                  </a:lnTo>
                  <a:lnTo>
                    <a:pt x="137" y="21"/>
                  </a:lnTo>
                  <a:lnTo>
                    <a:pt x="120" y="28"/>
                  </a:lnTo>
                  <a:lnTo>
                    <a:pt x="97" y="34"/>
                  </a:lnTo>
                  <a:lnTo>
                    <a:pt x="74" y="34"/>
                  </a:lnTo>
                  <a:lnTo>
                    <a:pt x="45" y="34"/>
                  </a:lnTo>
                  <a:lnTo>
                    <a:pt x="23" y="28"/>
                  </a:lnTo>
                  <a:lnTo>
                    <a:pt x="6" y="21"/>
                  </a:lnTo>
                  <a:lnTo>
                    <a:pt x="0" y="14"/>
                  </a:lnTo>
                  <a:lnTo>
                    <a:pt x="6" y="7"/>
                  </a:lnTo>
                  <a:lnTo>
                    <a:pt x="23" y="7"/>
                  </a:lnTo>
                  <a:lnTo>
                    <a:pt x="45" y="0"/>
                  </a:lnTo>
                  <a:lnTo>
                    <a:pt x="74" y="0"/>
                  </a:lnTo>
                </a:path>
              </a:pathLst>
            </a:custGeom>
            <a:solidFill>
              <a:srgbClr val="FFFFCC"/>
            </a:solidFill>
            <a:ln w="0">
              <a:solidFill>
                <a:schemeClr val="bg2"/>
              </a:solidFill>
              <a:round/>
              <a:headEnd/>
              <a:tailEnd/>
            </a:ln>
          </p:spPr>
          <p:txBody>
            <a:bodyPr/>
            <a:lstStyle/>
            <a:p>
              <a:endParaRPr lang="en-US"/>
            </a:p>
          </p:txBody>
        </p:sp>
        <p:sp>
          <p:nvSpPr>
            <p:cNvPr id="28968" name="Freeform 73"/>
            <p:cNvSpPr>
              <a:spLocks/>
            </p:cNvSpPr>
            <p:nvPr/>
          </p:nvSpPr>
          <p:spPr bwMode="auto">
            <a:xfrm>
              <a:off x="2189" y="3029"/>
              <a:ext cx="142" cy="34"/>
            </a:xfrm>
            <a:custGeom>
              <a:avLst/>
              <a:gdLst>
                <a:gd name="T0" fmla="*/ 74 w 142"/>
                <a:gd name="T1" fmla="*/ 0 h 34"/>
                <a:gd name="T2" fmla="*/ 80 w 142"/>
                <a:gd name="T3" fmla="*/ 0 h 34"/>
                <a:gd name="T4" fmla="*/ 85 w 142"/>
                <a:gd name="T5" fmla="*/ 0 h 34"/>
                <a:gd name="T6" fmla="*/ 91 w 142"/>
                <a:gd name="T7" fmla="*/ 0 h 34"/>
                <a:gd name="T8" fmla="*/ 97 w 142"/>
                <a:gd name="T9" fmla="*/ 0 h 34"/>
                <a:gd name="T10" fmla="*/ 102 w 142"/>
                <a:gd name="T11" fmla="*/ 0 h 34"/>
                <a:gd name="T12" fmla="*/ 108 w 142"/>
                <a:gd name="T13" fmla="*/ 0 h 34"/>
                <a:gd name="T14" fmla="*/ 114 w 142"/>
                <a:gd name="T15" fmla="*/ 0 h 34"/>
                <a:gd name="T16" fmla="*/ 120 w 142"/>
                <a:gd name="T17" fmla="*/ 0 h 34"/>
                <a:gd name="T18" fmla="*/ 120 w 142"/>
                <a:gd name="T19" fmla="*/ 7 h 34"/>
                <a:gd name="T20" fmla="*/ 125 w 142"/>
                <a:gd name="T21" fmla="*/ 7 h 34"/>
                <a:gd name="T22" fmla="*/ 131 w 142"/>
                <a:gd name="T23" fmla="*/ 7 h 34"/>
                <a:gd name="T24" fmla="*/ 137 w 142"/>
                <a:gd name="T25" fmla="*/ 7 h 34"/>
                <a:gd name="T26" fmla="*/ 137 w 142"/>
                <a:gd name="T27" fmla="*/ 14 h 34"/>
                <a:gd name="T28" fmla="*/ 142 w 142"/>
                <a:gd name="T29" fmla="*/ 14 h 34"/>
                <a:gd name="T30" fmla="*/ 142 w 142"/>
                <a:gd name="T31" fmla="*/ 21 h 34"/>
                <a:gd name="T32" fmla="*/ 137 w 142"/>
                <a:gd name="T33" fmla="*/ 21 h 34"/>
                <a:gd name="T34" fmla="*/ 131 w 142"/>
                <a:gd name="T35" fmla="*/ 28 h 34"/>
                <a:gd name="T36" fmla="*/ 125 w 142"/>
                <a:gd name="T37" fmla="*/ 28 h 34"/>
                <a:gd name="T38" fmla="*/ 120 w 142"/>
                <a:gd name="T39" fmla="*/ 28 h 34"/>
                <a:gd name="T40" fmla="*/ 114 w 142"/>
                <a:gd name="T41" fmla="*/ 28 h 34"/>
                <a:gd name="T42" fmla="*/ 108 w 142"/>
                <a:gd name="T43" fmla="*/ 34 h 34"/>
                <a:gd name="T44" fmla="*/ 102 w 142"/>
                <a:gd name="T45" fmla="*/ 34 h 34"/>
                <a:gd name="T46" fmla="*/ 97 w 142"/>
                <a:gd name="T47" fmla="*/ 34 h 34"/>
                <a:gd name="T48" fmla="*/ 91 w 142"/>
                <a:gd name="T49" fmla="*/ 34 h 34"/>
                <a:gd name="T50" fmla="*/ 85 w 142"/>
                <a:gd name="T51" fmla="*/ 34 h 34"/>
                <a:gd name="T52" fmla="*/ 80 w 142"/>
                <a:gd name="T53" fmla="*/ 34 h 34"/>
                <a:gd name="T54" fmla="*/ 74 w 142"/>
                <a:gd name="T55" fmla="*/ 34 h 34"/>
                <a:gd name="T56" fmla="*/ 68 w 142"/>
                <a:gd name="T57" fmla="*/ 34 h 34"/>
                <a:gd name="T58" fmla="*/ 63 w 142"/>
                <a:gd name="T59" fmla="*/ 34 h 34"/>
                <a:gd name="T60" fmla="*/ 57 w 142"/>
                <a:gd name="T61" fmla="*/ 34 h 34"/>
                <a:gd name="T62" fmla="*/ 51 w 142"/>
                <a:gd name="T63" fmla="*/ 34 h 34"/>
                <a:gd name="T64" fmla="*/ 45 w 142"/>
                <a:gd name="T65" fmla="*/ 34 h 34"/>
                <a:gd name="T66" fmla="*/ 40 w 142"/>
                <a:gd name="T67" fmla="*/ 34 h 34"/>
                <a:gd name="T68" fmla="*/ 34 w 142"/>
                <a:gd name="T69" fmla="*/ 34 h 34"/>
                <a:gd name="T70" fmla="*/ 28 w 142"/>
                <a:gd name="T71" fmla="*/ 28 h 34"/>
                <a:gd name="T72" fmla="*/ 23 w 142"/>
                <a:gd name="T73" fmla="*/ 28 h 34"/>
                <a:gd name="T74" fmla="*/ 17 w 142"/>
                <a:gd name="T75" fmla="*/ 28 h 34"/>
                <a:gd name="T76" fmla="*/ 11 w 142"/>
                <a:gd name="T77" fmla="*/ 28 h 34"/>
                <a:gd name="T78" fmla="*/ 6 w 142"/>
                <a:gd name="T79" fmla="*/ 21 h 34"/>
                <a:gd name="T80" fmla="*/ 0 w 142"/>
                <a:gd name="T81" fmla="*/ 14 h 34"/>
                <a:gd name="T82" fmla="*/ 6 w 142"/>
                <a:gd name="T83" fmla="*/ 14 h 34"/>
                <a:gd name="T84" fmla="*/ 6 w 142"/>
                <a:gd name="T85" fmla="*/ 7 h 34"/>
                <a:gd name="T86" fmla="*/ 11 w 142"/>
                <a:gd name="T87" fmla="*/ 7 h 34"/>
                <a:gd name="T88" fmla="*/ 17 w 142"/>
                <a:gd name="T89" fmla="*/ 7 h 34"/>
                <a:gd name="T90" fmla="*/ 23 w 142"/>
                <a:gd name="T91" fmla="*/ 7 h 34"/>
                <a:gd name="T92" fmla="*/ 23 w 142"/>
                <a:gd name="T93" fmla="*/ 0 h 34"/>
                <a:gd name="T94" fmla="*/ 28 w 142"/>
                <a:gd name="T95" fmla="*/ 0 h 34"/>
                <a:gd name="T96" fmla="*/ 34 w 142"/>
                <a:gd name="T97" fmla="*/ 0 h 34"/>
                <a:gd name="T98" fmla="*/ 40 w 142"/>
                <a:gd name="T99" fmla="*/ 0 h 34"/>
                <a:gd name="T100" fmla="*/ 45 w 142"/>
                <a:gd name="T101" fmla="*/ 0 h 34"/>
                <a:gd name="T102" fmla="*/ 51 w 142"/>
                <a:gd name="T103" fmla="*/ 0 h 34"/>
                <a:gd name="T104" fmla="*/ 57 w 142"/>
                <a:gd name="T105" fmla="*/ 0 h 34"/>
                <a:gd name="T106" fmla="*/ 63 w 142"/>
                <a:gd name="T107" fmla="*/ 0 h 34"/>
                <a:gd name="T108" fmla="*/ 68 w 142"/>
                <a:gd name="T109" fmla="*/ 0 h 34"/>
                <a:gd name="T110" fmla="*/ 74 w 142"/>
                <a:gd name="T111" fmla="*/ 0 h 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2"/>
                <a:gd name="T169" fmla="*/ 0 h 34"/>
                <a:gd name="T170" fmla="*/ 142 w 142"/>
                <a:gd name="T171" fmla="*/ 34 h 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2" h="34">
                  <a:moveTo>
                    <a:pt x="74" y="0"/>
                  </a:moveTo>
                  <a:lnTo>
                    <a:pt x="80" y="0"/>
                  </a:lnTo>
                  <a:lnTo>
                    <a:pt x="85" y="0"/>
                  </a:lnTo>
                  <a:lnTo>
                    <a:pt x="91" y="0"/>
                  </a:lnTo>
                  <a:lnTo>
                    <a:pt x="97" y="0"/>
                  </a:lnTo>
                  <a:lnTo>
                    <a:pt x="102" y="0"/>
                  </a:lnTo>
                  <a:lnTo>
                    <a:pt x="108" y="0"/>
                  </a:lnTo>
                  <a:lnTo>
                    <a:pt x="114" y="0"/>
                  </a:lnTo>
                  <a:lnTo>
                    <a:pt x="120" y="0"/>
                  </a:lnTo>
                  <a:lnTo>
                    <a:pt x="120" y="7"/>
                  </a:lnTo>
                  <a:lnTo>
                    <a:pt x="125" y="7"/>
                  </a:lnTo>
                  <a:lnTo>
                    <a:pt x="131" y="7"/>
                  </a:lnTo>
                  <a:lnTo>
                    <a:pt x="137" y="7"/>
                  </a:lnTo>
                  <a:lnTo>
                    <a:pt x="137" y="14"/>
                  </a:lnTo>
                  <a:lnTo>
                    <a:pt x="142" y="14"/>
                  </a:lnTo>
                  <a:lnTo>
                    <a:pt x="142" y="21"/>
                  </a:lnTo>
                  <a:lnTo>
                    <a:pt x="137" y="21"/>
                  </a:lnTo>
                  <a:lnTo>
                    <a:pt x="131" y="28"/>
                  </a:lnTo>
                  <a:lnTo>
                    <a:pt x="125" y="28"/>
                  </a:lnTo>
                  <a:lnTo>
                    <a:pt x="120" y="28"/>
                  </a:lnTo>
                  <a:lnTo>
                    <a:pt x="114" y="28"/>
                  </a:lnTo>
                  <a:lnTo>
                    <a:pt x="108" y="34"/>
                  </a:lnTo>
                  <a:lnTo>
                    <a:pt x="102" y="34"/>
                  </a:lnTo>
                  <a:lnTo>
                    <a:pt x="97" y="34"/>
                  </a:lnTo>
                  <a:lnTo>
                    <a:pt x="91" y="34"/>
                  </a:lnTo>
                  <a:lnTo>
                    <a:pt x="85" y="34"/>
                  </a:lnTo>
                  <a:lnTo>
                    <a:pt x="80" y="34"/>
                  </a:lnTo>
                  <a:lnTo>
                    <a:pt x="74" y="34"/>
                  </a:lnTo>
                  <a:lnTo>
                    <a:pt x="68" y="34"/>
                  </a:lnTo>
                  <a:lnTo>
                    <a:pt x="63" y="34"/>
                  </a:lnTo>
                  <a:lnTo>
                    <a:pt x="57" y="34"/>
                  </a:lnTo>
                  <a:lnTo>
                    <a:pt x="51" y="34"/>
                  </a:lnTo>
                  <a:lnTo>
                    <a:pt x="45" y="34"/>
                  </a:lnTo>
                  <a:lnTo>
                    <a:pt x="40" y="34"/>
                  </a:lnTo>
                  <a:lnTo>
                    <a:pt x="34" y="34"/>
                  </a:lnTo>
                  <a:lnTo>
                    <a:pt x="28" y="28"/>
                  </a:lnTo>
                  <a:lnTo>
                    <a:pt x="23" y="28"/>
                  </a:lnTo>
                  <a:lnTo>
                    <a:pt x="17" y="28"/>
                  </a:lnTo>
                  <a:lnTo>
                    <a:pt x="11" y="28"/>
                  </a:lnTo>
                  <a:lnTo>
                    <a:pt x="6" y="21"/>
                  </a:lnTo>
                  <a:lnTo>
                    <a:pt x="0" y="14"/>
                  </a:lnTo>
                  <a:lnTo>
                    <a:pt x="6" y="14"/>
                  </a:lnTo>
                  <a:lnTo>
                    <a:pt x="6" y="7"/>
                  </a:lnTo>
                  <a:lnTo>
                    <a:pt x="11" y="7"/>
                  </a:lnTo>
                  <a:lnTo>
                    <a:pt x="17" y="7"/>
                  </a:lnTo>
                  <a:lnTo>
                    <a:pt x="23" y="7"/>
                  </a:lnTo>
                  <a:lnTo>
                    <a:pt x="23" y="0"/>
                  </a:lnTo>
                  <a:lnTo>
                    <a:pt x="28" y="0"/>
                  </a:lnTo>
                  <a:lnTo>
                    <a:pt x="34" y="0"/>
                  </a:lnTo>
                  <a:lnTo>
                    <a:pt x="40" y="0"/>
                  </a:lnTo>
                  <a:lnTo>
                    <a:pt x="45" y="0"/>
                  </a:lnTo>
                  <a:lnTo>
                    <a:pt x="51" y="0"/>
                  </a:lnTo>
                  <a:lnTo>
                    <a:pt x="57" y="0"/>
                  </a:lnTo>
                  <a:lnTo>
                    <a:pt x="63" y="0"/>
                  </a:lnTo>
                  <a:lnTo>
                    <a:pt x="68" y="0"/>
                  </a:lnTo>
                  <a:lnTo>
                    <a:pt x="74"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69" name="Freeform 74"/>
            <p:cNvSpPr>
              <a:spLocks/>
            </p:cNvSpPr>
            <p:nvPr/>
          </p:nvSpPr>
          <p:spPr bwMode="auto">
            <a:xfrm>
              <a:off x="2189" y="3029"/>
              <a:ext cx="142" cy="34"/>
            </a:xfrm>
            <a:custGeom>
              <a:avLst/>
              <a:gdLst>
                <a:gd name="T0" fmla="*/ 74 w 142"/>
                <a:gd name="T1" fmla="*/ 0 h 34"/>
                <a:gd name="T2" fmla="*/ 97 w 142"/>
                <a:gd name="T3" fmla="*/ 0 h 34"/>
                <a:gd name="T4" fmla="*/ 120 w 142"/>
                <a:gd name="T5" fmla="*/ 7 h 34"/>
                <a:gd name="T6" fmla="*/ 137 w 142"/>
                <a:gd name="T7" fmla="*/ 7 h 34"/>
                <a:gd name="T8" fmla="*/ 142 w 142"/>
                <a:gd name="T9" fmla="*/ 14 h 34"/>
                <a:gd name="T10" fmla="*/ 137 w 142"/>
                <a:gd name="T11" fmla="*/ 21 h 34"/>
                <a:gd name="T12" fmla="*/ 120 w 142"/>
                <a:gd name="T13" fmla="*/ 28 h 34"/>
                <a:gd name="T14" fmla="*/ 97 w 142"/>
                <a:gd name="T15" fmla="*/ 34 h 34"/>
                <a:gd name="T16" fmla="*/ 74 w 142"/>
                <a:gd name="T17" fmla="*/ 34 h 34"/>
                <a:gd name="T18" fmla="*/ 45 w 142"/>
                <a:gd name="T19" fmla="*/ 34 h 34"/>
                <a:gd name="T20" fmla="*/ 23 w 142"/>
                <a:gd name="T21" fmla="*/ 28 h 34"/>
                <a:gd name="T22" fmla="*/ 6 w 142"/>
                <a:gd name="T23" fmla="*/ 21 h 34"/>
                <a:gd name="T24" fmla="*/ 0 w 142"/>
                <a:gd name="T25" fmla="*/ 14 h 34"/>
                <a:gd name="T26" fmla="*/ 6 w 142"/>
                <a:gd name="T27" fmla="*/ 7 h 34"/>
                <a:gd name="T28" fmla="*/ 23 w 142"/>
                <a:gd name="T29" fmla="*/ 7 h 34"/>
                <a:gd name="T30" fmla="*/ 45 w 142"/>
                <a:gd name="T31" fmla="*/ 0 h 34"/>
                <a:gd name="T32" fmla="*/ 74 w 142"/>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2"/>
                <a:gd name="T52" fmla="*/ 0 h 34"/>
                <a:gd name="T53" fmla="*/ 142 w 142"/>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2" h="34">
                  <a:moveTo>
                    <a:pt x="74" y="0"/>
                  </a:moveTo>
                  <a:lnTo>
                    <a:pt x="97" y="0"/>
                  </a:lnTo>
                  <a:lnTo>
                    <a:pt x="120" y="7"/>
                  </a:lnTo>
                  <a:lnTo>
                    <a:pt x="137" y="7"/>
                  </a:lnTo>
                  <a:lnTo>
                    <a:pt x="142" y="14"/>
                  </a:lnTo>
                  <a:lnTo>
                    <a:pt x="137" y="21"/>
                  </a:lnTo>
                  <a:lnTo>
                    <a:pt x="120" y="28"/>
                  </a:lnTo>
                  <a:lnTo>
                    <a:pt x="97" y="34"/>
                  </a:lnTo>
                  <a:lnTo>
                    <a:pt x="74" y="34"/>
                  </a:lnTo>
                  <a:lnTo>
                    <a:pt x="45" y="34"/>
                  </a:lnTo>
                  <a:lnTo>
                    <a:pt x="23" y="28"/>
                  </a:lnTo>
                  <a:lnTo>
                    <a:pt x="6" y="21"/>
                  </a:lnTo>
                  <a:lnTo>
                    <a:pt x="0" y="14"/>
                  </a:lnTo>
                  <a:lnTo>
                    <a:pt x="6" y="7"/>
                  </a:lnTo>
                  <a:lnTo>
                    <a:pt x="23" y="7"/>
                  </a:lnTo>
                  <a:lnTo>
                    <a:pt x="45" y="0"/>
                  </a:lnTo>
                  <a:lnTo>
                    <a:pt x="74" y="0"/>
                  </a:lnTo>
                </a:path>
              </a:pathLst>
            </a:custGeom>
            <a:solidFill>
              <a:srgbClr val="FFFFCC"/>
            </a:solidFill>
            <a:ln w="0">
              <a:solidFill>
                <a:schemeClr val="bg2"/>
              </a:solidFill>
              <a:round/>
              <a:headEnd/>
              <a:tailEnd/>
            </a:ln>
          </p:spPr>
          <p:txBody>
            <a:bodyPr/>
            <a:lstStyle/>
            <a:p>
              <a:endParaRPr lang="en-US"/>
            </a:p>
          </p:txBody>
        </p:sp>
        <p:sp>
          <p:nvSpPr>
            <p:cNvPr id="28970" name="Rectangle 75"/>
            <p:cNvSpPr>
              <a:spLocks noChangeArrowheads="1"/>
            </p:cNvSpPr>
            <p:nvPr/>
          </p:nvSpPr>
          <p:spPr bwMode="auto">
            <a:xfrm>
              <a:off x="2206" y="2900"/>
              <a:ext cx="103" cy="41"/>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71" name="Rectangle 76"/>
            <p:cNvSpPr>
              <a:spLocks noChangeArrowheads="1"/>
            </p:cNvSpPr>
            <p:nvPr/>
          </p:nvSpPr>
          <p:spPr bwMode="auto">
            <a:xfrm>
              <a:off x="2206" y="2900"/>
              <a:ext cx="103" cy="41"/>
            </a:xfrm>
            <a:prstGeom prst="rect">
              <a:avLst/>
            </a:prstGeom>
            <a:solidFill>
              <a:srgbClr val="FFFFCC"/>
            </a:solidFill>
            <a:ln w="0">
              <a:solidFill>
                <a:schemeClr val="bg2"/>
              </a:solidFill>
              <a:miter lim="800000"/>
              <a:headEnd/>
              <a:tailEnd/>
            </a:ln>
          </p:spPr>
          <p:txBody>
            <a:bodyPr/>
            <a:lstStyle/>
            <a:p>
              <a:endParaRPr lang="en-US"/>
            </a:p>
          </p:txBody>
        </p:sp>
        <p:sp>
          <p:nvSpPr>
            <p:cNvPr id="28972" name="Rectangle 77"/>
            <p:cNvSpPr>
              <a:spLocks noChangeArrowheads="1"/>
            </p:cNvSpPr>
            <p:nvPr/>
          </p:nvSpPr>
          <p:spPr bwMode="auto">
            <a:xfrm>
              <a:off x="2736" y="3417"/>
              <a:ext cx="200" cy="211"/>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73" name="Rectangle 78"/>
            <p:cNvSpPr>
              <a:spLocks noChangeArrowheads="1"/>
            </p:cNvSpPr>
            <p:nvPr/>
          </p:nvSpPr>
          <p:spPr bwMode="auto">
            <a:xfrm>
              <a:off x="2736" y="3417"/>
              <a:ext cx="200" cy="211"/>
            </a:xfrm>
            <a:prstGeom prst="rect">
              <a:avLst/>
            </a:prstGeom>
            <a:solidFill>
              <a:srgbClr val="FFFFCC"/>
            </a:solidFill>
            <a:ln w="0">
              <a:solidFill>
                <a:schemeClr val="bg2"/>
              </a:solidFill>
              <a:miter lim="800000"/>
              <a:headEnd/>
              <a:tailEnd/>
            </a:ln>
          </p:spPr>
          <p:txBody>
            <a:bodyPr/>
            <a:lstStyle/>
            <a:p>
              <a:endParaRPr lang="en-US"/>
            </a:p>
          </p:txBody>
        </p:sp>
        <p:sp>
          <p:nvSpPr>
            <p:cNvPr id="28974" name="Freeform 79"/>
            <p:cNvSpPr>
              <a:spLocks/>
            </p:cNvSpPr>
            <p:nvPr/>
          </p:nvSpPr>
          <p:spPr bwMode="auto">
            <a:xfrm>
              <a:off x="2679" y="3499"/>
              <a:ext cx="137" cy="34"/>
            </a:xfrm>
            <a:custGeom>
              <a:avLst/>
              <a:gdLst>
                <a:gd name="T0" fmla="*/ 69 w 137"/>
                <a:gd name="T1" fmla="*/ 0 h 34"/>
                <a:gd name="T2" fmla="*/ 74 w 137"/>
                <a:gd name="T3" fmla="*/ 0 h 34"/>
                <a:gd name="T4" fmla="*/ 80 w 137"/>
                <a:gd name="T5" fmla="*/ 0 h 34"/>
                <a:gd name="T6" fmla="*/ 86 w 137"/>
                <a:gd name="T7" fmla="*/ 0 h 34"/>
                <a:gd name="T8" fmla="*/ 92 w 137"/>
                <a:gd name="T9" fmla="*/ 0 h 34"/>
                <a:gd name="T10" fmla="*/ 97 w 137"/>
                <a:gd name="T11" fmla="*/ 0 h 34"/>
                <a:gd name="T12" fmla="*/ 103 w 137"/>
                <a:gd name="T13" fmla="*/ 0 h 34"/>
                <a:gd name="T14" fmla="*/ 109 w 137"/>
                <a:gd name="T15" fmla="*/ 7 h 34"/>
                <a:gd name="T16" fmla="*/ 114 w 137"/>
                <a:gd name="T17" fmla="*/ 7 h 34"/>
                <a:gd name="T18" fmla="*/ 120 w 137"/>
                <a:gd name="T19" fmla="*/ 7 h 34"/>
                <a:gd name="T20" fmla="*/ 126 w 137"/>
                <a:gd name="T21" fmla="*/ 7 h 34"/>
                <a:gd name="T22" fmla="*/ 132 w 137"/>
                <a:gd name="T23" fmla="*/ 13 h 34"/>
                <a:gd name="T24" fmla="*/ 137 w 137"/>
                <a:gd name="T25" fmla="*/ 13 h 34"/>
                <a:gd name="T26" fmla="*/ 137 w 137"/>
                <a:gd name="T27" fmla="*/ 20 h 34"/>
                <a:gd name="T28" fmla="*/ 132 w 137"/>
                <a:gd name="T29" fmla="*/ 20 h 34"/>
                <a:gd name="T30" fmla="*/ 132 w 137"/>
                <a:gd name="T31" fmla="*/ 27 h 34"/>
                <a:gd name="T32" fmla="*/ 126 w 137"/>
                <a:gd name="T33" fmla="*/ 27 h 34"/>
                <a:gd name="T34" fmla="*/ 120 w 137"/>
                <a:gd name="T35" fmla="*/ 27 h 34"/>
                <a:gd name="T36" fmla="*/ 114 w 137"/>
                <a:gd name="T37" fmla="*/ 27 h 34"/>
                <a:gd name="T38" fmla="*/ 109 w 137"/>
                <a:gd name="T39" fmla="*/ 34 h 34"/>
                <a:gd name="T40" fmla="*/ 103 w 137"/>
                <a:gd name="T41" fmla="*/ 34 h 34"/>
                <a:gd name="T42" fmla="*/ 97 w 137"/>
                <a:gd name="T43" fmla="*/ 34 h 34"/>
                <a:gd name="T44" fmla="*/ 92 w 137"/>
                <a:gd name="T45" fmla="*/ 34 h 34"/>
                <a:gd name="T46" fmla="*/ 86 w 137"/>
                <a:gd name="T47" fmla="*/ 34 h 34"/>
                <a:gd name="T48" fmla="*/ 80 w 137"/>
                <a:gd name="T49" fmla="*/ 34 h 34"/>
                <a:gd name="T50" fmla="*/ 74 w 137"/>
                <a:gd name="T51" fmla="*/ 34 h 34"/>
                <a:gd name="T52" fmla="*/ 69 w 137"/>
                <a:gd name="T53" fmla="*/ 34 h 34"/>
                <a:gd name="T54" fmla="*/ 63 w 137"/>
                <a:gd name="T55" fmla="*/ 34 h 34"/>
                <a:gd name="T56" fmla="*/ 57 w 137"/>
                <a:gd name="T57" fmla="*/ 34 h 34"/>
                <a:gd name="T58" fmla="*/ 52 w 137"/>
                <a:gd name="T59" fmla="*/ 34 h 34"/>
                <a:gd name="T60" fmla="*/ 46 w 137"/>
                <a:gd name="T61" fmla="*/ 34 h 34"/>
                <a:gd name="T62" fmla="*/ 40 w 137"/>
                <a:gd name="T63" fmla="*/ 34 h 34"/>
                <a:gd name="T64" fmla="*/ 35 w 137"/>
                <a:gd name="T65" fmla="*/ 34 h 34"/>
                <a:gd name="T66" fmla="*/ 29 w 137"/>
                <a:gd name="T67" fmla="*/ 34 h 34"/>
                <a:gd name="T68" fmla="*/ 23 w 137"/>
                <a:gd name="T69" fmla="*/ 34 h 34"/>
                <a:gd name="T70" fmla="*/ 23 w 137"/>
                <a:gd name="T71" fmla="*/ 27 h 34"/>
                <a:gd name="T72" fmla="*/ 17 w 137"/>
                <a:gd name="T73" fmla="*/ 27 h 34"/>
                <a:gd name="T74" fmla="*/ 12 w 137"/>
                <a:gd name="T75" fmla="*/ 27 h 34"/>
                <a:gd name="T76" fmla="*/ 6 w 137"/>
                <a:gd name="T77" fmla="*/ 27 h 34"/>
                <a:gd name="T78" fmla="*/ 0 w 137"/>
                <a:gd name="T79" fmla="*/ 20 h 34"/>
                <a:gd name="T80" fmla="*/ 0 w 137"/>
                <a:gd name="T81" fmla="*/ 13 h 34"/>
                <a:gd name="T82" fmla="*/ 6 w 137"/>
                <a:gd name="T83" fmla="*/ 13 h 34"/>
                <a:gd name="T84" fmla="*/ 6 w 137"/>
                <a:gd name="T85" fmla="*/ 7 h 34"/>
                <a:gd name="T86" fmla="*/ 12 w 137"/>
                <a:gd name="T87" fmla="*/ 7 h 34"/>
                <a:gd name="T88" fmla="*/ 17 w 137"/>
                <a:gd name="T89" fmla="*/ 7 h 34"/>
                <a:gd name="T90" fmla="*/ 23 w 137"/>
                <a:gd name="T91" fmla="*/ 7 h 34"/>
                <a:gd name="T92" fmla="*/ 29 w 137"/>
                <a:gd name="T93" fmla="*/ 0 h 34"/>
                <a:gd name="T94" fmla="*/ 35 w 137"/>
                <a:gd name="T95" fmla="*/ 0 h 34"/>
                <a:gd name="T96" fmla="*/ 40 w 137"/>
                <a:gd name="T97" fmla="*/ 0 h 34"/>
                <a:gd name="T98" fmla="*/ 46 w 137"/>
                <a:gd name="T99" fmla="*/ 0 h 34"/>
                <a:gd name="T100" fmla="*/ 52 w 137"/>
                <a:gd name="T101" fmla="*/ 0 h 34"/>
                <a:gd name="T102" fmla="*/ 57 w 137"/>
                <a:gd name="T103" fmla="*/ 0 h 34"/>
                <a:gd name="T104" fmla="*/ 63 w 137"/>
                <a:gd name="T105" fmla="*/ 0 h 34"/>
                <a:gd name="T106" fmla="*/ 69 w 137"/>
                <a:gd name="T107" fmla="*/ 0 h 3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7"/>
                <a:gd name="T163" fmla="*/ 0 h 34"/>
                <a:gd name="T164" fmla="*/ 137 w 137"/>
                <a:gd name="T165" fmla="*/ 34 h 3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7" h="34">
                  <a:moveTo>
                    <a:pt x="69" y="0"/>
                  </a:moveTo>
                  <a:lnTo>
                    <a:pt x="74" y="0"/>
                  </a:lnTo>
                  <a:lnTo>
                    <a:pt x="80" y="0"/>
                  </a:lnTo>
                  <a:lnTo>
                    <a:pt x="86" y="0"/>
                  </a:lnTo>
                  <a:lnTo>
                    <a:pt x="92" y="0"/>
                  </a:lnTo>
                  <a:lnTo>
                    <a:pt x="97" y="0"/>
                  </a:lnTo>
                  <a:lnTo>
                    <a:pt x="103" y="0"/>
                  </a:lnTo>
                  <a:lnTo>
                    <a:pt x="109" y="7"/>
                  </a:lnTo>
                  <a:lnTo>
                    <a:pt x="114" y="7"/>
                  </a:lnTo>
                  <a:lnTo>
                    <a:pt x="120" y="7"/>
                  </a:lnTo>
                  <a:lnTo>
                    <a:pt x="126" y="7"/>
                  </a:lnTo>
                  <a:lnTo>
                    <a:pt x="132" y="13"/>
                  </a:lnTo>
                  <a:lnTo>
                    <a:pt x="137" y="13"/>
                  </a:lnTo>
                  <a:lnTo>
                    <a:pt x="137" y="20"/>
                  </a:lnTo>
                  <a:lnTo>
                    <a:pt x="132" y="20"/>
                  </a:lnTo>
                  <a:lnTo>
                    <a:pt x="132" y="27"/>
                  </a:lnTo>
                  <a:lnTo>
                    <a:pt x="126" y="27"/>
                  </a:lnTo>
                  <a:lnTo>
                    <a:pt x="120" y="27"/>
                  </a:lnTo>
                  <a:lnTo>
                    <a:pt x="114" y="27"/>
                  </a:lnTo>
                  <a:lnTo>
                    <a:pt x="109" y="34"/>
                  </a:lnTo>
                  <a:lnTo>
                    <a:pt x="103" y="34"/>
                  </a:lnTo>
                  <a:lnTo>
                    <a:pt x="97" y="34"/>
                  </a:lnTo>
                  <a:lnTo>
                    <a:pt x="92" y="34"/>
                  </a:lnTo>
                  <a:lnTo>
                    <a:pt x="86" y="34"/>
                  </a:lnTo>
                  <a:lnTo>
                    <a:pt x="80" y="34"/>
                  </a:lnTo>
                  <a:lnTo>
                    <a:pt x="74" y="34"/>
                  </a:lnTo>
                  <a:lnTo>
                    <a:pt x="69" y="34"/>
                  </a:lnTo>
                  <a:lnTo>
                    <a:pt x="63" y="34"/>
                  </a:lnTo>
                  <a:lnTo>
                    <a:pt x="57" y="34"/>
                  </a:lnTo>
                  <a:lnTo>
                    <a:pt x="52" y="34"/>
                  </a:lnTo>
                  <a:lnTo>
                    <a:pt x="46" y="34"/>
                  </a:lnTo>
                  <a:lnTo>
                    <a:pt x="40" y="34"/>
                  </a:lnTo>
                  <a:lnTo>
                    <a:pt x="35" y="34"/>
                  </a:lnTo>
                  <a:lnTo>
                    <a:pt x="29" y="34"/>
                  </a:lnTo>
                  <a:lnTo>
                    <a:pt x="23" y="34"/>
                  </a:lnTo>
                  <a:lnTo>
                    <a:pt x="23" y="27"/>
                  </a:lnTo>
                  <a:lnTo>
                    <a:pt x="17" y="27"/>
                  </a:lnTo>
                  <a:lnTo>
                    <a:pt x="12" y="27"/>
                  </a:lnTo>
                  <a:lnTo>
                    <a:pt x="6" y="27"/>
                  </a:lnTo>
                  <a:lnTo>
                    <a:pt x="0" y="20"/>
                  </a:lnTo>
                  <a:lnTo>
                    <a:pt x="0" y="13"/>
                  </a:lnTo>
                  <a:lnTo>
                    <a:pt x="6" y="13"/>
                  </a:lnTo>
                  <a:lnTo>
                    <a:pt x="6" y="7"/>
                  </a:lnTo>
                  <a:lnTo>
                    <a:pt x="12" y="7"/>
                  </a:lnTo>
                  <a:lnTo>
                    <a:pt x="17" y="7"/>
                  </a:lnTo>
                  <a:lnTo>
                    <a:pt x="23" y="7"/>
                  </a:lnTo>
                  <a:lnTo>
                    <a:pt x="29" y="0"/>
                  </a:lnTo>
                  <a:lnTo>
                    <a:pt x="35" y="0"/>
                  </a:lnTo>
                  <a:lnTo>
                    <a:pt x="40" y="0"/>
                  </a:lnTo>
                  <a:lnTo>
                    <a:pt x="46" y="0"/>
                  </a:lnTo>
                  <a:lnTo>
                    <a:pt x="52" y="0"/>
                  </a:lnTo>
                  <a:lnTo>
                    <a:pt x="57" y="0"/>
                  </a:lnTo>
                  <a:lnTo>
                    <a:pt x="63" y="0"/>
                  </a:lnTo>
                  <a:lnTo>
                    <a:pt x="69"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75" name="Freeform 80"/>
            <p:cNvSpPr>
              <a:spLocks/>
            </p:cNvSpPr>
            <p:nvPr/>
          </p:nvSpPr>
          <p:spPr bwMode="auto">
            <a:xfrm>
              <a:off x="2679" y="3499"/>
              <a:ext cx="137" cy="34"/>
            </a:xfrm>
            <a:custGeom>
              <a:avLst/>
              <a:gdLst>
                <a:gd name="T0" fmla="*/ 69 w 137"/>
                <a:gd name="T1" fmla="*/ 0 h 34"/>
                <a:gd name="T2" fmla="*/ 92 w 137"/>
                <a:gd name="T3" fmla="*/ 0 h 34"/>
                <a:gd name="T4" fmla="*/ 114 w 137"/>
                <a:gd name="T5" fmla="*/ 7 h 34"/>
                <a:gd name="T6" fmla="*/ 132 w 137"/>
                <a:gd name="T7" fmla="*/ 13 h 34"/>
                <a:gd name="T8" fmla="*/ 137 w 137"/>
                <a:gd name="T9" fmla="*/ 20 h 34"/>
                <a:gd name="T10" fmla="*/ 132 w 137"/>
                <a:gd name="T11" fmla="*/ 27 h 34"/>
                <a:gd name="T12" fmla="*/ 114 w 137"/>
                <a:gd name="T13" fmla="*/ 27 h 34"/>
                <a:gd name="T14" fmla="*/ 92 w 137"/>
                <a:gd name="T15" fmla="*/ 34 h 34"/>
                <a:gd name="T16" fmla="*/ 69 w 137"/>
                <a:gd name="T17" fmla="*/ 34 h 34"/>
                <a:gd name="T18" fmla="*/ 40 w 137"/>
                <a:gd name="T19" fmla="*/ 34 h 34"/>
                <a:gd name="T20" fmla="*/ 17 w 137"/>
                <a:gd name="T21" fmla="*/ 27 h 34"/>
                <a:gd name="T22" fmla="*/ 6 w 137"/>
                <a:gd name="T23" fmla="*/ 27 h 34"/>
                <a:gd name="T24" fmla="*/ 0 w 137"/>
                <a:gd name="T25" fmla="*/ 20 h 34"/>
                <a:gd name="T26" fmla="*/ 6 w 137"/>
                <a:gd name="T27" fmla="*/ 13 h 34"/>
                <a:gd name="T28" fmla="*/ 17 w 137"/>
                <a:gd name="T29" fmla="*/ 7 h 34"/>
                <a:gd name="T30" fmla="*/ 40 w 137"/>
                <a:gd name="T31" fmla="*/ 0 h 34"/>
                <a:gd name="T32" fmla="*/ 69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9" y="0"/>
                  </a:moveTo>
                  <a:lnTo>
                    <a:pt x="92" y="0"/>
                  </a:lnTo>
                  <a:lnTo>
                    <a:pt x="114" y="7"/>
                  </a:lnTo>
                  <a:lnTo>
                    <a:pt x="132" y="13"/>
                  </a:lnTo>
                  <a:lnTo>
                    <a:pt x="137" y="20"/>
                  </a:lnTo>
                  <a:lnTo>
                    <a:pt x="132" y="27"/>
                  </a:lnTo>
                  <a:lnTo>
                    <a:pt x="114" y="27"/>
                  </a:lnTo>
                  <a:lnTo>
                    <a:pt x="92" y="34"/>
                  </a:lnTo>
                  <a:lnTo>
                    <a:pt x="69" y="34"/>
                  </a:lnTo>
                  <a:lnTo>
                    <a:pt x="40" y="34"/>
                  </a:lnTo>
                  <a:lnTo>
                    <a:pt x="17" y="27"/>
                  </a:lnTo>
                  <a:lnTo>
                    <a:pt x="6" y="27"/>
                  </a:lnTo>
                  <a:lnTo>
                    <a:pt x="0" y="20"/>
                  </a:lnTo>
                  <a:lnTo>
                    <a:pt x="6" y="13"/>
                  </a:lnTo>
                  <a:lnTo>
                    <a:pt x="17" y="7"/>
                  </a:lnTo>
                  <a:lnTo>
                    <a:pt x="40" y="0"/>
                  </a:lnTo>
                  <a:lnTo>
                    <a:pt x="69" y="0"/>
                  </a:lnTo>
                </a:path>
              </a:pathLst>
            </a:custGeom>
            <a:solidFill>
              <a:srgbClr val="FFFFCC"/>
            </a:solidFill>
            <a:ln w="0">
              <a:solidFill>
                <a:schemeClr val="bg2"/>
              </a:solidFill>
              <a:round/>
              <a:headEnd/>
              <a:tailEnd/>
            </a:ln>
          </p:spPr>
          <p:txBody>
            <a:bodyPr/>
            <a:lstStyle/>
            <a:p>
              <a:endParaRPr lang="en-US"/>
            </a:p>
          </p:txBody>
        </p:sp>
        <p:sp>
          <p:nvSpPr>
            <p:cNvPr id="28976" name="Freeform 81"/>
            <p:cNvSpPr>
              <a:spLocks/>
            </p:cNvSpPr>
            <p:nvPr/>
          </p:nvSpPr>
          <p:spPr bwMode="auto">
            <a:xfrm>
              <a:off x="2679" y="3567"/>
              <a:ext cx="137" cy="34"/>
            </a:xfrm>
            <a:custGeom>
              <a:avLst/>
              <a:gdLst>
                <a:gd name="T0" fmla="*/ 69 w 137"/>
                <a:gd name="T1" fmla="*/ 0 h 34"/>
                <a:gd name="T2" fmla="*/ 74 w 137"/>
                <a:gd name="T3" fmla="*/ 0 h 34"/>
                <a:gd name="T4" fmla="*/ 80 w 137"/>
                <a:gd name="T5" fmla="*/ 0 h 34"/>
                <a:gd name="T6" fmla="*/ 86 w 137"/>
                <a:gd name="T7" fmla="*/ 0 h 34"/>
                <a:gd name="T8" fmla="*/ 92 w 137"/>
                <a:gd name="T9" fmla="*/ 0 h 34"/>
                <a:gd name="T10" fmla="*/ 97 w 137"/>
                <a:gd name="T11" fmla="*/ 0 h 34"/>
                <a:gd name="T12" fmla="*/ 103 w 137"/>
                <a:gd name="T13" fmla="*/ 0 h 34"/>
                <a:gd name="T14" fmla="*/ 109 w 137"/>
                <a:gd name="T15" fmla="*/ 7 h 34"/>
                <a:gd name="T16" fmla="*/ 114 w 137"/>
                <a:gd name="T17" fmla="*/ 7 h 34"/>
                <a:gd name="T18" fmla="*/ 120 w 137"/>
                <a:gd name="T19" fmla="*/ 7 h 34"/>
                <a:gd name="T20" fmla="*/ 126 w 137"/>
                <a:gd name="T21" fmla="*/ 7 h 34"/>
                <a:gd name="T22" fmla="*/ 132 w 137"/>
                <a:gd name="T23" fmla="*/ 13 h 34"/>
                <a:gd name="T24" fmla="*/ 137 w 137"/>
                <a:gd name="T25" fmla="*/ 13 h 34"/>
                <a:gd name="T26" fmla="*/ 137 w 137"/>
                <a:gd name="T27" fmla="*/ 20 h 34"/>
                <a:gd name="T28" fmla="*/ 132 w 137"/>
                <a:gd name="T29" fmla="*/ 20 h 34"/>
                <a:gd name="T30" fmla="*/ 132 w 137"/>
                <a:gd name="T31" fmla="*/ 27 h 34"/>
                <a:gd name="T32" fmla="*/ 126 w 137"/>
                <a:gd name="T33" fmla="*/ 27 h 34"/>
                <a:gd name="T34" fmla="*/ 120 w 137"/>
                <a:gd name="T35" fmla="*/ 27 h 34"/>
                <a:gd name="T36" fmla="*/ 114 w 137"/>
                <a:gd name="T37" fmla="*/ 27 h 34"/>
                <a:gd name="T38" fmla="*/ 114 w 137"/>
                <a:gd name="T39" fmla="*/ 34 h 34"/>
                <a:gd name="T40" fmla="*/ 109 w 137"/>
                <a:gd name="T41" fmla="*/ 34 h 34"/>
                <a:gd name="T42" fmla="*/ 103 w 137"/>
                <a:gd name="T43" fmla="*/ 34 h 34"/>
                <a:gd name="T44" fmla="*/ 97 w 137"/>
                <a:gd name="T45" fmla="*/ 34 h 34"/>
                <a:gd name="T46" fmla="*/ 92 w 137"/>
                <a:gd name="T47" fmla="*/ 34 h 34"/>
                <a:gd name="T48" fmla="*/ 86 w 137"/>
                <a:gd name="T49" fmla="*/ 34 h 34"/>
                <a:gd name="T50" fmla="*/ 80 w 137"/>
                <a:gd name="T51" fmla="*/ 34 h 34"/>
                <a:gd name="T52" fmla="*/ 74 w 137"/>
                <a:gd name="T53" fmla="*/ 34 h 34"/>
                <a:gd name="T54" fmla="*/ 69 w 137"/>
                <a:gd name="T55" fmla="*/ 34 h 34"/>
                <a:gd name="T56" fmla="*/ 63 w 137"/>
                <a:gd name="T57" fmla="*/ 34 h 34"/>
                <a:gd name="T58" fmla="*/ 57 w 137"/>
                <a:gd name="T59" fmla="*/ 34 h 34"/>
                <a:gd name="T60" fmla="*/ 52 w 137"/>
                <a:gd name="T61" fmla="*/ 34 h 34"/>
                <a:gd name="T62" fmla="*/ 46 w 137"/>
                <a:gd name="T63" fmla="*/ 34 h 34"/>
                <a:gd name="T64" fmla="*/ 40 w 137"/>
                <a:gd name="T65" fmla="*/ 34 h 34"/>
                <a:gd name="T66" fmla="*/ 35 w 137"/>
                <a:gd name="T67" fmla="*/ 34 h 34"/>
                <a:gd name="T68" fmla="*/ 29 w 137"/>
                <a:gd name="T69" fmla="*/ 34 h 34"/>
                <a:gd name="T70" fmla="*/ 23 w 137"/>
                <a:gd name="T71" fmla="*/ 34 h 34"/>
                <a:gd name="T72" fmla="*/ 17 w 137"/>
                <a:gd name="T73" fmla="*/ 27 h 34"/>
                <a:gd name="T74" fmla="*/ 12 w 137"/>
                <a:gd name="T75" fmla="*/ 27 h 34"/>
                <a:gd name="T76" fmla="*/ 6 w 137"/>
                <a:gd name="T77" fmla="*/ 27 h 34"/>
                <a:gd name="T78" fmla="*/ 0 w 137"/>
                <a:gd name="T79" fmla="*/ 20 h 34"/>
                <a:gd name="T80" fmla="*/ 0 w 137"/>
                <a:gd name="T81" fmla="*/ 13 h 34"/>
                <a:gd name="T82" fmla="*/ 6 w 137"/>
                <a:gd name="T83" fmla="*/ 13 h 34"/>
                <a:gd name="T84" fmla="*/ 6 w 137"/>
                <a:gd name="T85" fmla="*/ 7 h 34"/>
                <a:gd name="T86" fmla="*/ 12 w 137"/>
                <a:gd name="T87" fmla="*/ 7 h 34"/>
                <a:gd name="T88" fmla="*/ 17 w 137"/>
                <a:gd name="T89" fmla="*/ 7 h 34"/>
                <a:gd name="T90" fmla="*/ 23 w 137"/>
                <a:gd name="T91" fmla="*/ 7 h 34"/>
                <a:gd name="T92" fmla="*/ 29 w 137"/>
                <a:gd name="T93" fmla="*/ 0 h 34"/>
                <a:gd name="T94" fmla="*/ 35 w 137"/>
                <a:gd name="T95" fmla="*/ 0 h 34"/>
                <a:gd name="T96" fmla="*/ 40 w 137"/>
                <a:gd name="T97" fmla="*/ 0 h 34"/>
                <a:gd name="T98" fmla="*/ 46 w 137"/>
                <a:gd name="T99" fmla="*/ 0 h 34"/>
                <a:gd name="T100" fmla="*/ 52 w 137"/>
                <a:gd name="T101" fmla="*/ 0 h 34"/>
                <a:gd name="T102" fmla="*/ 57 w 137"/>
                <a:gd name="T103" fmla="*/ 0 h 34"/>
                <a:gd name="T104" fmla="*/ 63 w 137"/>
                <a:gd name="T105" fmla="*/ 0 h 34"/>
                <a:gd name="T106" fmla="*/ 69 w 137"/>
                <a:gd name="T107" fmla="*/ 0 h 3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7"/>
                <a:gd name="T163" fmla="*/ 0 h 34"/>
                <a:gd name="T164" fmla="*/ 137 w 137"/>
                <a:gd name="T165" fmla="*/ 34 h 3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7" h="34">
                  <a:moveTo>
                    <a:pt x="69" y="0"/>
                  </a:moveTo>
                  <a:lnTo>
                    <a:pt x="74" y="0"/>
                  </a:lnTo>
                  <a:lnTo>
                    <a:pt x="80" y="0"/>
                  </a:lnTo>
                  <a:lnTo>
                    <a:pt x="86" y="0"/>
                  </a:lnTo>
                  <a:lnTo>
                    <a:pt x="92" y="0"/>
                  </a:lnTo>
                  <a:lnTo>
                    <a:pt x="97" y="0"/>
                  </a:lnTo>
                  <a:lnTo>
                    <a:pt x="103" y="0"/>
                  </a:lnTo>
                  <a:lnTo>
                    <a:pt x="109" y="7"/>
                  </a:lnTo>
                  <a:lnTo>
                    <a:pt x="114" y="7"/>
                  </a:lnTo>
                  <a:lnTo>
                    <a:pt x="120" y="7"/>
                  </a:lnTo>
                  <a:lnTo>
                    <a:pt x="126" y="7"/>
                  </a:lnTo>
                  <a:lnTo>
                    <a:pt x="132" y="13"/>
                  </a:lnTo>
                  <a:lnTo>
                    <a:pt x="137" y="13"/>
                  </a:lnTo>
                  <a:lnTo>
                    <a:pt x="137" y="20"/>
                  </a:lnTo>
                  <a:lnTo>
                    <a:pt x="132" y="20"/>
                  </a:lnTo>
                  <a:lnTo>
                    <a:pt x="132" y="27"/>
                  </a:lnTo>
                  <a:lnTo>
                    <a:pt x="126" y="27"/>
                  </a:lnTo>
                  <a:lnTo>
                    <a:pt x="120" y="27"/>
                  </a:lnTo>
                  <a:lnTo>
                    <a:pt x="114" y="27"/>
                  </a:lnTo>
                  <a:lnTo>
                    <a:pt x="114" y="34"/>
                  </a:lnTo>
                  <a:lnTo>
                    <a:pt x="109" y="34"/>
                  </a:lnTo>
                  <a:lnTo>
                    <a:pt x="103" y="34"/>
                  </a:lnTo>
                  <a:lnTo>
                    <a:pt x="97" y="34"/>
                  </a:lnTo>
                  <a:lnTo>
                    <a:pt x="92" y="34"/>
                  </a:lnTo>
                  <a:lnTo>
                    <a:pt x="86" y="34"/>
                  </a:lnTo>
                  <a:lnTo>
                    <a:pt x="80" y="34"/>
                  </a:lnTo>
                  <a:lnTo>
                    <a:pt x="74" y="34"/>
                  </a:lnTo>
                  <a:lnTo>
                    <a:pt x="69" y="34"/>
                  </a:lnTo>
                  <a:lnTo>
                    <a:pt x="63" y="34"/>
                  </a:lnTo>
                  <a:lnTo>
                    <a:pt x="57" y="34"/>
                  </a:lnTo>
                  <a:lnTo>
                    <a:pt x="52" y="34"/>
                  </a:lnTo>
                  <a:lnTo>
                    <a:pt x="46" y="34"/>
                  </a:lnTo>
                  <a:lnTo>
                    <a:pt x="40" y="34"/>
                  </a:lnTo>
                  <a:lnTo>
                    <a:pt x="35" y="34"/>
                  </a:lnTo>
                  <a:lnTo>
                    <a:pt x="29" y="34"/>
                  </a:lnTo>
                  <a:lnTo>
                    <a:pt x="23" y="34"/>
                  </a:lnTo>
                  <a:lnTo>
                    <a:pt x="17" y="27"/>
                  </a:lnTo>
                  <a:lnTo>
                    <a:pt x="12" y="27"/>
                  </a:lnTo>
                  <a:lnTo>
                    <a:pt x="6" y="27"/>
                  </a:lnTo>
                  <a:lnTo>
                    <a:pt x="0" y="20"/>
                  </a:lnTo>
                  <a:lnTo>
                    <a:pt x="0" y="13"/>
                  </a:lnTo>
                  <a:lnTo>
                    <a:pt x="6" y="13"/>
                  </a:lnTo>
                  <a:lnTo>
                    <a:pt x="6" y="7"/>
                  </a:lnTo>
                  <a:lnTo>
                    <a:pt x="12" y="7"/>
                  </a:lnTo>
                  <a:lnTo>
                    <a:pt x="17" y="7"/>
                  </a:lnTo>
                  <a:lnTo>
                    <a:pt x="23" y="7"/>
                  </a:lnTo>
                  <a:lnTo>
                    <a:pt x="29" y="0"/>
                  </a:lnTo>
                  <a:lnTo>
                    <a:pt x="35" y="0"/>
                  </a:lnTo>
                  <a:lnTo>
                    <a:pt x="40" y="0"/>
                  </a:lnTo>
                  <a:lnTo>
                    <a:pt x="46" y="0"/>
                  </a:lnTo>
                  <a:lnTo>
                    <a:pt x="52" y="0"/>
                  </a:lnTo>
                  <a:lnTo>
                    <a:pt x="57" y="0"/>
                  </a:lnTo>
                  <a:lnTo>
                    <a:pt x="63" y="0"/>
                  </a:lnTo>
                  <a:lnTo>
                    <a:pt x="69"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977" name="Freeform 82"/>
            <p:cNvSpPr>
              <a:spLocks/>
            </p:cNvSpPr>
            <p:nvPr/>
          </p:nvSpPr>
          <p:spPr bwMode="auto">
            <a:xfrm>
              <a:off x="2679" y="3567"/>
              <a:ext cx="137" cy="34"/>
            </a:xfrm>
            <a:custGeom>
              <a:avLst/>
              <a:gdLst>
                <a:gd name="T0" fmla="*/ 69 w 137"/>
                <a:gd name="T1" fmla="*/ 0 h 34"/>
                <a:gd name="T2" fmla="*/ 92 w 137"/>
                <a:gd name="T3" fmla="*/ 0 h 34"/>
                <a:gd name="T4" fmla="*/ 114 w 137"/>
                <a:gd name="T5" fmla="*/ 7 h 34"/>
                <a:gd name="T6" fmla="*/ 132 w 137"/>
                <a:gd name="T7" fmla="*/ 13 h 34"/>
                <a:gd name="T8" fmla="*/ 137 w 137"/>
                <a:gd name="T9" fmla="*/ 20 h 34"/>
                <a:gd name="T10" fmla="*/ 132 w 137"/>
                <a:gd name="T11" fmla="*/ 27 h 34"/>
                <a:gd name="T12" fmla="*/ 114 w 137"/>
                <a:gd name="T13" fmla="*/ 27 h 34"/>
                <a:gd name="T14" fmla="*/ 92 w 137"/>
                <a:gd name="T15" fmla="*/ 34 h 34"/>
                <a:gd name="T16" fmla="*/ 69 w 137"/>
                <a:gd name="T17" fmla="*/ 34 h 34"/>
                <a:gd name="T18" fmla="*/ 40 w 137"/>
                <a:gd name="T19" fmla="*/ 34 h 34"/>
                <a:gd name="T20" fmla="*/ 17 w 137"/>
                <a:gd name="T21" fmla="*/ 27 h 34"/>
                <a:gd name="T22" fmla="*/ 6 w 137"/>
                <a:gd name="T23" fmla="*/ 27 h 34"/>
                <a:gd name="T24" fmla="*/ 0 w 137"/>
                <a:gd name="T25" fmla="*/ 20 h 34"/>
                <a:gd name="T26" fmla="*/ 6 w 137"/>
                <a:gd name="T27" fmla="*/ 13 h 34"/>
                <a:gd name="T28" fmla="*/ 17 w 137"/>
                <a:gd name="T29" fmla="*/ 7 h 34"/>
                <a:gd name="T30" fmla="*/ 40 w 137"/>
                <a:gd name="T31" fmla="*/ 0 h 34"/>
                <a:gd name="T32" fmla="*/ 69 w 137"/>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7"/>
                <a:gd name="T52" fmla="*/ 0 h 34"/>
                <a:gd name="T53" fmla="*/ 137 w 137"/>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7" h="34">
                  <a:moveTo>
                    <a:pt x="69" y="0"/>
                  </a:moveTo>
                  <a:lnTo>
                    <a:pt x="92" y="0"/>
                  </a:lnTo>
                  <a:lnTo>
                    <a:pt x="114" y="7"/>
                  </a:lnTo>
                  <a:lnTo>
                    <a:pt x="132" y="13"/>
                  </a:lnTo>
                  <a:lnTo>
                    <a:pt x="137" y="20"/>
                  </a:lnTo>
                  <a:lnTo>
                    <a:pt x="132" y="27"/>
                  </a:lnTo>
                  <a:lnTo>
                    <a:pt x="114" y="27"/>
                  </a:lnTo>
                  <a:lnTo>
                    <a:pt x="92" y="34"/>
                  </a:lnTo>
                  <a:lnTo>
                    <a:pt x="69" y="34"/>
                  </a:lnTo>
                  <a:lnTo>
                    <a:pt x="40" y="34"/>
                  </a:lnTo>
                  <a:lnTo>
                    <a:pt x="17" y="27"/>
                  </a:lnTo>
                  <a:lnTo>
                    <a:pt x="6" y="27"/>
                  </a:lnTo>
                  <a:lnTo>
                    <a:pt x="0" y="20"/>
                  </a:lnTo>
                  <a:lnTo>
                    <a:pt x="6" y="13"/>
                  </a:lnTo>
                  <a:lnTo>
                    <a:pt x="17" y="7"/>
                  </a:lnTo>
                  <a:lnTo>
                    <a:pt x="40" y="0"/>
                  </a:lnTo>
                  <a:lnTo>
                    <a:pt x="69" y="0"/>
                  </a:lnTo>
                </a:path>
              </a:pathLst>
            </a:custGeom>
            <a:solidFill>
              <a:srgbClr val="FFFFCC"/>
            </a:solidFill>
            <a:ln w="0">
              <a:solidFill>
                <a:schemeClr val="bg2"/>
              </a:solidFill>
              <a:round/>
              <a:headEnd/>
              <a:tailEnd/>
            </a:ln>
          </p:spPr>
          <p:txBody>
            <a:bodyPr/>
            <a:lstStyle/>
            <a:p>
              <a:endParaRPr lang="en-US"/>
            </a:p>
          </p:txBody>
        </p:sp>
        <p:sp>
          <p:nvSpPr>
            <p:cNvPr id="28978" name="Rectangle 83"/>
            <p:cNvSpPr>
              <a:spLocks noChangeArrowheads="1"/>
            </p:cNvSpPr>
            <p:nvPr/>
          </p:nvSpPr>
          <p:spPr bwMode="auto">
            <a:xfrm>
              <a:off x="2691" y="3438"/>
              <a:ext cx="108" cy="40"/>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79" name="Rectangle 84"/>
            <p:cNvSpPr>
              <a:spLocks noChangeArrowheads="1"/>
            </p:cNvSpPr>
            <p:nvPr/>
          </p:nvSpPr>
          <p:spPr bwMode="auto">
            <a:xfrm>
              <a:off x="2691" y="3438"/>
              <a:ext cx="108" cy="40"/>
            </a:xfrm>
            <a:prstGeom prst="rect">
              <a:avLst/>
            </a:prstGeom>
            <a:solidFill>
              <a:srgbClr val="FFFFCC"/>
            </a:solidFill>
            <a:ln w="0">
              <a:solidFill>
                <a:schemeClr val="bg2"/>
              </a:solidFill>
              <a:miter lim="800000"/>
              <a:headEnd/>
              <a:tailEnd/>
            </a:ln>
          </p:spPr>
          <p:txBody>
            <a:bodyPr/>
            <a:lstStyle/>
            <a:p>
              <a:endParaRPr lang="en-US"/>
            </a:p>
          </p:txBody>
        </p:sp>
      </p:grpSp>
      <p:sp>
        <p:nvSpPr>
          <p:cNvPr id="28688" name="Rectangle 85"/>
          <p:cNvSpPr>
            <a:spLocks noChangeArrowheads="1"/>
          </p:cNvSpPr>
          <p:nvPr/>
        </p:nvSpPr>
        <p:spPr bwMode="auto">
          <a:xfrm>
            <a:off x="7208838" y="5651500"/>
            <a:ext cx="1373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algn="ctr" defTabSz="387350" eaLnBrk="0" hangingPunct="0"/>
            <a:r>
              <a:rPr lang="en-US" sz="2000">
                <a:solidFill>
                  <a:schemeClr val="tx1"/>
                </a:solidFill>
                <a:latin typeface="Arial" pitchFamily="34" charset="0"/>
              </a:rPr>
              <a:t>Test Model</a:t>
            </a:r>
          </a:p>
        </p:txBody>
      </p:sp>
      <p:sp>
        <p:nvSpPr>
          <p:cNvPr id="28689" name="Freeform 86"/>
          <p:cNvSpPr>
            <a:spLocks/>
          </p:cNvSpPr>
          <p:nvPr/>
        </p:nvSpPr>
        <p:spPr bwMode="auto">
          <a:xfrm>
            <a:off x="8421688" y="4000500"/>
            <a:ext cx="1587" cy="26988"/>
          </a:xfrm>
          <a:custGeom>
            <a:avLst/>
            <a:gdLst>
              <a:gd name="T0" fmla="*/ 0 w 1587"/>
              <a:gd name="T1" fmla="*/ 0 h 17"/>
              <a:gd name="T2" fmla="*/ 0 w 1587"/>
              <a:gd name="T3" fmla="*/ 6 h 17"/>
              <a:gd name="T4" fmla="*/ 0 w 1587"/>
              <a:gd name="T5" fmla="*/ 12 h 17"/>
              <a:gd name="T6" fmla="*/ 0 w 1587"/>
              <a:gd name="T7" fmla="*/ 17 h 17"/>
              <a:gd name="T8" fmla="*/ 0 w 1587"/>
              <a:gd name="T9" fmla="*/ 12 h 17"/>
              <a:gd name="T10" fmla="*/ 0 w 1587"/>
              <a:gd name="T11" fmla="*/ 6 h 17"/>
              <a:gd name="T12" fmla="*/ 0 w 1587"/>
              <a:gd name="T13" fmla="*/ 0 h 17"/>
              <a:gd name="T14" fmla="*/ 0 60000 65536"/>
              <a:gd name="T15" fmla="*/ 0 60000 65536"/>
              <a:gd name="T16" fmla="*/ 0 60000 65536"/>
              <a:gd name="T17" fmla="*/ 0 60000 65536"/>
              <a:gd name="T18" fmla="*/ 0 60000 65536"/>
              <a:gd name="T19" fmla="*/ 0 60000 65536"/>
              <a:gd name="T20" fmla="*/ 0 60000 65536"/>
              <a:gd name="T21" fmla="*/ 0 w 1587"/>
              <a:gd name="T22" fmla="*/ 0 h 17"/>
              <a:gd name="T23" fmla="*/ 1587 w 158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7" h="17">
                <a:moveTo>
                  <a:pt x="0" y="0"/>
                </a:moveTo>
                <a:lnTo>
                  <a:pt x="0" y="6"/>
                </a:lnTo>
                <a:lnTo>
                  <a:pt x="0" y="12"/>
                </a:lnTo>
                <a:lnTo>
                  <a:pt x="0" y="17"/>
                </a:lnTo>
                <a:lnTo>
                  <a:pt x="0" y="12"/>
                </a:lnTo>
                <a:lnTo>
                  <a:pt x="0" y="6"/>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0" name="Freeform 87"/>
          <p:cNvSpPr>
            <a:spLocks/>
          </p:cNvSpPr>
          <p:nvPr/>
        </p:nvSpPr>
        <p:spPr bwMode="auto">
          <a:xfrm>
            <a:off x="8421688" y="4000500"/>
            <a:ext cx="1587" cy="26988"/>
          </a:xfrm>
          <a:custGeom>
            <a:avLst/>
            <a:gdLst>
              <a:gd name="T0" fmla="*/ 0 w 1587"/>
              <a:gd name="T1" fmla="*/ 0 h 17"/>
              <a:gd name="T2" fmla="*/ 0 w 1587"/>
              <a:gd name="T3" fmla="*/ 6 h 17"/>
              <a:gd name="T4" fmla="*/ 0 w 1587"/>
              <a:gd name="T5" fmla="*/ 12 h 17"/>
              <a:gd name="T6" fmla="*/ 0 w 1587"/>
              <a:gd name="T7" fmla="*/ 17 h 17"/>
              <a:gd name="T8" fmla="*/ 0 w 1587"/>
              <a:gd name="T9" fmla="*/ 12 h 17"/>
              <a:gd name="T10" fmla="*/ 0 w 1587"/>
              <a:gd name="T11" fmla="*/ 6 h 17"/>
              <a:gd name="T12" fmla="*/ 0 w 1587"/>
              <a:gd name="T13" fmla="*/ 0 h 17"/>
              <a:gd name="T14" fmla="*/ 0 60000 65536"/>
              <a:gd name="T15" fmla="*/ 0 60000 65536"/>
              <a:gd name="T16" fmla="*/ 0 60000 65536"/>
              <a:gd name="T17" fmla="*/ 0 60000 65536"/>
              <a:gd name="T18" fmla="*/ 0 60000 65536"/>
              <a:gd name="T19" fmla="*/ 0 60000 65536"/>
              <a:gd name="T20" fmla="*/ 0 60000 65536"/>
              <a:gd name="T21" fmla="*/ 0 w 1587"/>
              <a:gd name="T22" fmla="*/ 0 h 17"/>
              <a:gd name="T23" fmla="*/ 1587 w 158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7" h="17">
                <a:moveTo>
                  <a:pt x="0" y="0"/>
                </a:moveTo>
                <a:lnTo>
                  <a:pt x="0" y="6"/>
                </a:lnTo>
                <a:lnTo>
                  <a:pt x="0" y="12"/>
                </a:lnTo>
                <a:lnTo>
                  <a:pt x="0" y="17"/>
                </a:lnTo>
                <a:lnTo>
                  <a:pt x="0" y="12"/>
                </a:lnTo>
                <a:lnTo>
                  <a:pt x="0" y="6"/>
                </a:lnTo>
                <a:lnTo>
                  <a:pt x="0"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1" name="Freeform 88"/>
          <p:cNvSpPr>
            <a:spLocks/>
          </p:cNvSpPr>
          <p:nvPr/>
        </p:nvSpPr>
        <p:spPr bwMode="auto">
          <a:xfrm>
            <a:off x="8412163" y="4027488"/>
            <a:ext cx="1587"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 name="T9" fmla="*/ 0 w 1587"/>
              <a:gd name="T10" fmla="*/ 0 h 1587"/>
              <a:gd name="T11" fmla="*/ 1587 w 1587"/>
              <a:gd name="T12" fmla="*/ 1587 h 1587"/>
            </a:gdLst>
            <a:ahLst/>
            <a:cxnLst>
              <a:cxn ang="T6">
                <a:pos x="T0" y="T1"/>
              </a:cxn>
              <a:cxn ang="T7">
                <a:pos x="T2" y="T3"/>
              </a:cxn>
              <a:cxn ang="T8">
                <a:pos x="T4" y="T5"/>
              </a:cxn>
            </a:cxnLst>
            <a:rect l="T9" t="T10" r="T11" b="T12"/>
            <a:pathLst>
              <a:path w="1587" h="1587">
                <a:moveTo>
                  <a:pt x="0" y="0"/>
                </a:move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2" name="Line 89"/>
          <p:cNvSpPr>
            <a:spLocks noChangeShapeType="1"/>
          </p:cNvSpPr>
          <p:nvPr/>
        </p:nvSpPr>
        <p:spPr bwMode="auto">
          <a:xfrm>
            <a:off x="8412163" y="4027488"/>
            <a:ext cx="1587" cy="1587"/>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3" name="Rectangle 90"/>
          <p:cNvSpPr>
            <a:spLocks noChangeArrowheads="1"/>
          </p:cNvSpPr>
          <p:nvPr/>
        </p:nvSpPr>
        <p:spPr bwMode="auto">
          <a:xfrm>
            <a:off x="8147050" y="3990975"/>
            <a:ext cx="339725" cy="38735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694" name="Rectangle 91"/>
          <p:cNvSpPr>
            <a:spLocks noChangeArrowheads="1"/>
          </p:cNvSpPr>
          <p:nvPr/>
        </p:nvSpPr>
        <p:spPr bwMode="auto">
          <a:xfrm>
            <a:off x="8147050" y="3990975"/>
            <a:ext cx="339725" cy="387350"/>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5" name="Rectangle 92"/>
          <p:cNvSpPr>
            <a:spLocks noChangeArrowheads="1"/>
          </p:cNvSpPr>
          <p:nvPr/>
        </p:nvSpPr>
        <p:spPr bwMode="auto">
          <a:xfrm>
            <a:off x="8164513" y="4010025"/>
            <a:ext cx="312737" cy="34925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696" name="Rectangle 93"/>
          <p:cNvSpPr>
            <a:spLocks noChangeArrowheads="1"/>
          </p:cNvSpPr>
          <p:nvPr/>
        </p:nvSpPr>
        <p:spPr bwMode="auto">
          <a:xfrm>
            <a:off x="8164513" y="4010025"/>
            <a:ext cx="312737" cy="349250"/>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7" name="Freeform 94"/>
          <p:cNvSpPr>
            <a:spLocks/>
          </p:cNvSpPr>
          <p:nvPr/>
        </p:nvSpPr>
        <p:spPr bwMode="auto">
          <a:xfrm>
            <a:off x="8335963" y="4138613"/>
            <a:ext cx="114300" cy="184150"/>
          </a:xfrm>
          <a:custGeom>
            <a:avLst/>
            <a:gdLst>
              <a:gd name="T0" fmla="*/ 12 w 72"/>
              <a:gd name="T1" fmla="*/ 17 h 116"/>
              <a:gd name="T2" fmla="*/ 0 w 72"/>
              <a:gd name="T3" fmla="*/ 99 h 116"/>
              <a:gd name="T4" fmla="*/ 18 w 72"/>
              <a:gd name="T5" fmla="*/ 110 h 116"/>
              <a:gd name="T6" fmla="*/ 18 w 72"/>
              <a:gd name="T7" fmla="*/ 105 h 116"/>
              <a:gd name="T8" fmla="*/ 24 w 72"/>
              <a:gd name="T9" fmla="*/ 105 h 116"/>
              <a:gd name="T10" fmla="*/ 24 w 72"/>
              <a:gd name="T11" fmla="*/ 70 h 116"/>
              <a:gd name="T12" fmla="*/ 48 w 72"/>
              <a:gd name="T13" fmla="*/ 116 h 116"/>
              <a:gd name="T14" fmla="*/ 54 w 72"/>
              <a:gd name="T15" fmla="*/ 116 h 116"/>
              <a:gd name="T16" fmla="*/ 54 w 72"/>
              <a:gd name="T17" fmla="*/ 99 h 116"/>
              <a:gd name="T18" fmla="*/ 30 w 72"/>
              <a:gd name="T19" fmla="*/ 52 h 116"/>
              <a:gd name="T20" fmla="*/ 72 w 72"/>
              <a:gd name="T21" fmla="*/ 29 h 116"/>
              <a:gd name="T22" fmla="*/ 66 w 72"/>
              <a:gd name="T23" fmla="*/ 12 h 116"/>
              <a:gd name="T24" fmla="*/ 24 w 72"/>
              <a:gd name="T25" fmla="*/ 35 h 116"/>
              <a:gd name="T26" fmla="*/ 30 w 72"/>
              <a:gd name="T27" fmla="*/ 12 h 116"/>
              <a:gd name="T28" fmla="*/ 18 w 72"/>
              <a:gd name="T29" fmla="*/ 0 h 116"/>
              <a:gd name="T30" fmla="*/ 12 w 72"/>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116"/>
              <a:gd name="T50" fmla="*/ 72 w 72"/>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116">
                <a:moveTo>
                  <a:pt x="12" y="17"/>
                </a:moveTo>
                <a:lnTo>
                  <a:pt x="0" y="99"/>
                </a:lnTo>
                <a:lnTo>
                  <a:pt x="18" y="110"/>
                </a:lnTo>
                <a:lnTo>
                  <a:pt x="18" y="105"/>
                </a:lnTo>
                <a:lnTo>
                  <a:pt x="24" y="105"/>
                </a:lnTo>
                <a:lnTo>
                  <a:pt x="24" y="70"/>
                </a:lnTo>
                <a:lnTo>
                  <a:pt x="48" y="116"/>
                </a:lnTo>
                <a:lnTo>
                  <a:pt x="54" y="116"/>
                </a:lnTo>
                <a:lnTo>
                  <a:pt x="54" y="99"/>
                </a:lnTo>
                <a:lnTo>
                  <a:pt x="30" y="52"/>
                </a:lnTo>
                <a:lnTo>
                  <a:pt x="72" y="29"/>
                </a:lnTo>
                <a:lnTo>
                  <a:pt x="66" y="12"/>
                </a:lnTo>
                <a:lnTo>
                  <a:pt x="24" y="35"/>
                </a:lnTo>
                <a:lnTo>
                  <a:pt x="30" y="12"/>
                </a:lnTo>
                <a:lnTo>
                  <a:pt x="18" y="0"/>
                </a:lnTo>
                <a:lnTo>
                  <a:pt x="12" y="17"/>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98" name="Freeform 95"/>
          <p:cNvSpPr>
            <a:spLocks/>
          </p:cNvSpPr>
          <p:nvPr/>
        </p:nvSpPr>
        <p:spPr bwMode="auto">
          <a:xfrm>
            <a:off x="8335963" y="4138613"/>
            <a:ext cx="114300" cy="184150"/>
          </a:xfrm>
          <a:custGeom>
            <a:avLst/>
            <a:gdLst>
              <a:gd name="T0" fmla="*/ 12 w 72"/>
              <a:gd name="T1" fmla="*/ 17 h 116"/>
              <a:gd name="T2" fmla="*/ 0 w 72"/>
              <a:gd name="T3" fmla="*/ 99 h 116"/>
              <a:gd name="T4" fmla="*/ 18 w 72"/>
              <a:gd name="T5" fmla="*/ 110 h 116"/>
              <a:gd name="T6" fmla="*/ 18 w 72"/>
              <a:gd name="T7" fmla="*/ 105 h 116"/>
              <a:gd name="T8" fmla="*/ 24 w 72"/>
              <a:gd name="T9" fmla="*/ 105 h 116"/>
              <a:gd name="T10" fmla="*/ 24 w 72"/>
              <a:gd name="T11" fmla="*/ 70 h 116"/>
              <a:gd name="T12" fmla="*/ 48 w 72"/>
              <a:gd name="T13" fmla="*/ 116 h 116"/>
              <a:gd name="T14" fmla="*/ 54 w 72"/>
              <a:gd name="T15" fmla="*/ 116 h 116"/>
              <a:gd name="T16" fmla="*/ 54 w 72"/>
              <a:gd name="T17" fmla="*/ 99 h 116"/>
              <a:gd name="T18" fmla="*/ 30 w 72"/>
              <a:gd name="T19" fmla="*/ 52 h 116"/>
              <a:gd name="T20" fmla="*/ 72 w 72"/>
              <a:gd name="T21" fmla="*/ 29 h 116"/>
              <a:gd name="T22" fmla="*/ 66 w 72"/>
              <a:gd name="T23" fmla="*/ 12 h 116"/>
              <a:gd name="T24" fmla="*/ 24 w 72"/>
              <a:gd name="T25" fmla="*/ 35 h 116"/>
              <a:gd name="T26" fmla="*/ 30 w 72"/>
              <a:gd name="T27" fmla="*/ 12 h 116"/>
              <a:gd name="T28" fmla="*/ 18 w 72"/>
              <a:gd name="T29" fmla="*/ 0 h 116"/>
              <a:gd name="T30" fmla="*/ 12 w 72"/>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116"/>
              <a:gd name="T50" fmla="*/ 72 w 72"/>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116">
                <a:moveTo>
                  <a:pt x="12" y="17"/>
                </a:moveTo>
                <a:lnTo>
                  <a:pt x="0" y="99"/>
                </a:lnTo>
                <a:lnTo>
                  <a:pt x="18" y="110"/>
                </a:lnTo>
                <a:lnTo>
                  <a:pt x="18" y="105"/>
                </a:lnTo>
                <a:lnTo>
                  <a:pt x="24" y="105"/>
                </a:lnTo>
                <a:lnTo>
                  <a:pt x="24" y="70"/>
                </a:lnTo>
                <a:lnTo>
                  <a:pt x="48" y="116"/>
                </a:lnTo>
                <a:lnTo>
                  <a:pt x="54" y="116"/>
                </a:lnTo>
                <a:lnTo>
                  <a:pt x="54" y="99"/>
                </a:lnTo>
                <a:lnTo>
                  <a:pt x="30" y="52"/>
                </a:lnTo>
                <a:lnTo>
                  <a:pt x="72" y="29"/>
                </a:lnTo>
                <a:lnTo>
                  <a:pt x="66" y="12"/>
                </a:lnTo>
                <a:lnTo>
                  <a:pt x="24" y="35"/>
                </a:lnTo>
                <a:lnTo>
                  <a:pt x="30" y="12"/>
                </a:lnTo>
                <a:lnTo>
                  <a:pt x="18" y="0"/>
                </a:lnTo>
                <a:lnTo>
                  <a:pt x="12" y="17"/>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9" name="Freeform 96"/>
          <p:cNvSpPr>
            <a:spLocks/>
          </p:cNvSpPr>
          <p:nvPr/>
        </p:nvSpPr>
        <p:spPr bwMode="auto">
          <a:xfrm>
            <a:off x="8193088" y="4027488"/>
            <a:ext cx="180975" cy="157162"/>
          </a:xfrm>
          <a:custGeom>
            <a:avLst/>
            <a:gdLst>
              <a:gd name="T0" fmla="*/ 24 w 114"/>
              <a:gd name="T1" fmla="*/ 6 h 99"/>
              <a:gd name="T2" fmla="*/ 42 w 114"/>
              <a:gd name="T3" fmla="*/ 47 h 99"/>
              <a:gd name="T4" fmla="*/ 0 w 114"/>
              <a:gd name="T5" fmla="*/ 76 h 99"/>
              <a:gd name="T6" fmla="*/ 6 w 114"/>
              <a:gd name="T7" fmla="*/ 99 h 99"/>
              <a:gd name="T8" fmla="*/ 12 w 114"/>
              <a:gd name="T9" fmla="*/ 93 h 99"/>
              <a:gd name="T10" fmla="*/ 18 w 114"/>
              <a:gd name="T11" fmla="*/ 99 h 99"/>
              <a:gd name="T12" fmla="*/ 54 w 114"/>
              <a:gd name="T13" fmla="*/ 64 h 99"/>
              <a:gd name="T14" fmla="*/ 72 w 114"/>
              <a:gd name="T15" fmla="*/ 99 h 99"/>
              <a:gd name="T16" fmla="*/ 90 w 114"/>
              <a:gd name="T17" fmla="*/ 93 h 99"/>
              <a:gd name="T18" fmla="*/ 96 w 114"/>
              <a:gd name="T19" fmla="*/ 87 h 99"/>
              <a:gd name="T20" fmla="*/ 72 w 114"/>
              <a:gd name="T21" fmla="*/ 53 h 99"/>
              <a:gd name="T22" fmla="*/ 114 w 114"/>
              <a:gd name="T23" fmla="*/ 12 h 99"/>
              <a:gd name="T24" fmla="*/ 96 w 114"/>
              <a:gd name="T25" fmla="*/ 0 h 99"/>
              <a:gd name="T26" fmla="*/ 60 w 114"/>
              <a:gd name="T27" fmla="*/ 29 h 99"/>
              <a:gd name="T28" fmla="*/ 42 w 114"/>
              <a:gd name="T29" fmla="*/ 0 h 99"/>
              <a:gd name="T30" fmla="*/ 36 w 114"/>
              <a:gd name="T31" fmla="*/ 0 h 99"/>
              <a:gd name="T32" fmla="*/ 24 w 114"/>
              <a:gd name="T33" fmla="*/ 0 h 99"/>
              <a:gd name="T34" fmla="*/ 24 w 114"/>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9"/>
              <a:gd name="T56" fmla="*/ 114 w 114"/>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9">
                <a:moveTo>
                  <a:pt x="24" y="6"/>
                </a:moveTo>
                <a:lnTo>
                  <a:pt x="42" y="47"/>
                </a:lnTo>
                <a:lnTo>
                  <a:pt x="0" y="76"/>
                </a:lnTo>
                <a:lnTo>
                  <a:pt x="6" y="99"/>
                </a:lnTo>
                <a:lnTo>
                  <a:pt x="12" y="93"/>
                </a:lnTo>
                <a:lnTo>
                  <a:pt x="18" y="99"/>
                </a:lnTo>
                <a:lnTo>
                  <a:pt x="54" y="64"/>
                </a:lnTo>
                <a:lnTo>
                  <a:pt x="72" y="99"/>
                </a:lnTo>
                <a:lnTo>
                  <a:pt x="90" y="93"/>
                </a:lnTo>
                <a:lnTo>
                  <a:pt x="96" y="87"/>
                </a:lnTo>
                <a:lnTo>
                  <a:pt x="72" y="53"/>
                </a:lnTo>
                <a:lnTo>
                  <a:pt x="114" y="12"/>
                </a:lnTo>
                <a:lnTo>
                  <a:pt x="96" y="0"/>
                </a:lnTo>
                <a:lnTo>
                  <a:pt x="60" y="29"/>
                </a:lnTo>
                <a:lnTo>
                  <a:pt x="42" y="0"/>
                </a:lnTo>
                <a:lnTo>
                  <a:pt x="36" y="0"/>
                </a:lnTo>
                <a:lnTo>
                  <a:pt x="24" y="0"/>
                </a:lnTo>
                <a:lnTo>
                  <a:pt x="24" y="6"/>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0" name="Freeform 97"/>
          <p:cNvSpPr>
            <a:spLocks/>
          </p:cNvSpPr>
          <p:nvPr/>
        </p:nvSpPr>
        <p:spPr bwMode="auto">
          <a:xfrm>
            <a:off x="8193088" y="4027488"/>
            <a:ext cx="180975" cy="157162"/>
          </a:xfrm>
          <a:custGeom>
            <a:avLst/>
            <a:gdLst>
              <a:gd name="T0" fmla="*/ 24 w 114"/>
              <a:gd name="T1" fmla="*/ 6 h 99"/>
              <a:gd name="T2" fmla="*/ 42 w 114"/>
              <a:gd name="T3" fmla="*/ 47 h 99"/>
              <a:gd name="T4" fmla="*/ 0 w 114"/>
              <a:gd name="T5" fmla="*/ 76 h 99"/>
              <a:gd name="T6" fmla="*/ 6 w 114"/>
              <a:gd name="T7" fmla="*/ 99 h 99"/>
              <a:gd name="T8" fmla="*/ 12 w 114"/>
              <a:gd name="T9" fmla="*/ 93 h 99"/>
              <a:gd name="T10" fmla="*/ 18 w 114"/>
              <a:gd name="T11" fmla="*/ 99 h 99"/>
              <a:gd name="T12" fmla="*/ 54 w 114"/>
              <a:gd name="T13" fmla="*/ 64 h 99"/>
              <a:gd name="T14" fmla="*/ 72 w 114"/>
              <a:gd name="T15" fmla="*/ 99 h 99"/>
              <a:gd name="T16" fmla="*/ 90 w 114"/>
              <a:gd name="T17" fmla="*/ 93 h 99"/>
              <a:gd name="T18" fmla="*/ 96 w 114"/>
              <a:gd name="T19" fmla="*/ 87 h 99"/>
              <a:gd name="T20" fmla="*/ 72 w 114"/>
              <a:gd name="T21" fmla="*/ 53 h 99"/>
              <a:gd name="T22" fmla="*/ 114 w 114"/>
              <a:gd name="T23" fmla="*/ 12 h 99"/>
              <a:gd name="T24" fmla="*/ 96 w 114"/>
              <a:gd name="T25" fmla="*/ 0 h 99"/>
              <a:gd name="T26" fmla="*/ 60 w 114"/>
              <a:gd name="T27" fmla="*/ 29 h 99"/>
              <a:gd name="T28" fmla="*/ 42 w 114"/>
              <a:gd name="T29" fmla="*/ 0 h 99"/>
              <a:gd name="T30" fmla="*/ 36 w 114"/>
              <a:gd name="T31" fmla="*/ 0 h 99"/>
              <a:gd name="T32" fmla="*/ 24 w 114"/>
              <a:gd name="T33" fmla="*/ 0 h 99"/>
              <a:gd name="T34" fmla="*/ 24 w 114"/>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9"/>
              <a:gd name="T56" fmla="*/ 114 w 114"/>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9">
                <a:moveTo>
                  <a:pt x="24" y="6"/>
                </a:moveTo>
                <a:lnTo>
                  <a:pt x="42" y="47"/>
                </a:lnTo>
                <a:lnTo>
                  <a:pt x="0" y="76"/>
                </a:lnTo>
                <a:lnTo>
                  <a:pt x="6" y="99"/>
                </a:lnTo>
                <a:lnTo>
                  <a:pt x="12" y="93"/>
                </a:lnTo>
                <a:lnTo>
                  <a:pt x="18" y="99"/>
                </a:lnTo>
                <a:lnTo>
                  <a:pt x="54" y="64"/>
                </a:lnTo>
                <a:lnTo>
                  <a:pt x="72" y="99"/>
                </a:lnTo>
                <a:lnTo>
                  <a:pt x="90" y="93"/>
                </a:lnTo>
                <a:lnTo>
                  <a:pt x="96" y="87"/>
                </a:lnTo>
                <a:lnTo>
                  <a:pt x="72" y="53"/>
                </a:lnTo>
                <a:lnTo>
                  <a:pt x="114" y="12"/>
                </a:lnTo>
                <a:lnTo>
                  <a:pt x="96" y="0"/>
                </a:lnTo>
                <a:lnTo>
                  <a:pt x="60" y="29"/>
                </a:lnTo>
                <a:lnTo>
                  <a:pt x="42" y="0"/>
                </a:lnTo>
                <a:lnTo>
                  <a:pt x="36" y="0"/>
                </a:lnTo>
                <a:lnTo>
                  <a:pt x="24" y="0"/>
                </a:lnTo>
                <a:lnTo>
                  <a:pt x="24" y="6"/>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1" name="Freeform 98"/>
          <p:cNvSpPr>
            <a:spLocks/>
          </p:cNvSpPr>
          <p:nvPr/>
        </p:nvSpPr>
        <p:spPr bwMode="auto">
          <a:xfrm>
            <a:off x="8202613" y="4175125"/>
            <a:ext cx="114300" cy="157163"/>
          </a:xfrm>
          <a:custGeom>
            <a:avLst/>
            <a:gdLst>
              <a:gd name="T0" fmla="*/ 42 w 72"/>
              <a:gd name="T1" fmla="*/ 0 h 99"/>
              <a:gd name="T2" fmla="*/ 48 w 72"/>
              <a:gd name="T3" fmla="*/ 0 h 99"/>
              <a:gd name="T4" fmla="*/ 48 w 72"/>
              <a:gd name="T5" fmla="*/ 6 h 99"/>
              <a:gd name="T6" fmla="*/ 54 w 72"/>
              <a:gd name="T7" fmla="*/ 6 h 99"/>
              <a:gd name="T8" fmla="*/ 60 w 72"/>
              <a:gd name="T9" fmla="*/ 12 h 99"/>
              <a:gd name="T10" fmla="*/ 60 w 72"/>
              <a:gd name="T11" fmla="*/ 18 h 99"/>
              <a:gd name="T12" fmla="*/ 66 w 72"/>
              <a:gd name="T13" fmla="*/ 18 h 99"/>
              <a:gd name="T14" fmla="*/ 66 w 72"/>
              <a:gd name="T15" fmla="*/ 24 h 99"/>
              <a:gd name="T16" fmla="*/ 66 w 72"/>
              <a:gd name="T17" fmla="*/ 29 h 99"/>
              <a:gd name="T18" fmla="*/ 72 w 72"/>
              <a:gd name="T19" fmla="*/ 29 h 99"/>
              <a:gd name="T20" fmla="*/ 72 w 72"/>
              <a:gd name="T21" fmla="*/ 35 h 99"/>
              <a:gd name="T22" fmla="*/ 72 w 72"/>
              <a:gd name="T23" fmla="*/ 41 h 99"/>
              <a:gd name="T24" fmla="*/ 72 w 72"/>
              <a:gd name="T25" fmla="*/ 47 h 99"/>
              <a:gd name="T26" fmla="*/ 72 w 72"/>
              <a:gd name="T27" fmla="*/ 53 h 99"/>
              <a:gd name="T28" fmla="*/ 66 w 72"/>
              <a:gd name="T29" fmla="*/ 58 h 99"/>
              <a:gd name="T30" fmla="*/ 66 w 72"/>
              <a:gd name="T31" fmla="*/ 64 h 99"/>
              <a:gd name="T32" fmla="*/ 66 w 72"/>
              <a:gd name="T33" fmla="*/ 70 h 99"/>
              <a:gd name="T34" fmla="*/ 66 w 72"/>
              <a:gd name="T35" fmla="*/ 76 h 99"/>
              <a:gd name="T36" fmla="*/ 60 w 72"/>
              <a:gd name="T37" fmla="*/ 76 h 99"/>
              <a:gd name="T38" fmla="*/ 60 w 72"/>
              <a:gd name="T39" fmla="*/ 82 h 99"/>
              <a:gd name="T40" fmla="*/ 54 w 72"/>
              <a:gd name="T41" fmla="*/ 82 h 99"/>
              <a:gd name="T42" fmla="*/ 54 w 72"/>
              <a:gd name="T43" fmla="*/ 87 h 99"/>
              <a:gd name="T44" fmla="*/ 48 w 72"/>
              <a:gd name="T45" fmla="*/ 87 h 99"/>
              <a:gd name="T46" fmla="*/ 48 w 72"/>
              <a:gd name="T47" fmla="*/ 93 h 99"/>
              <a:gd name="T48" fmla="*/ 42 w 72"/>
              <a:gd name="T49" fmla="*/ 93 h 99"/>
              <a:gd name="T50" fmla="*/ 36 w 72"/>
              <a:gd name="T51" fmla="*/ 99 h 99"/>
              <a:gd name="T52" fmla="*/ 30 w 72"/>
              <a:gd name="T53" fmla="*/ 99 h 99"/>
              <a:gd name="T54" fmla="*/ 24 w 72"/>
              <a:gd name="T55" fmla="*/ 99 h 99"/>
              <a:gd name="T56" fmla="*/ 24 w 72"/>
              <a:gd name="T57" fmla="*/ 93 h 99"/>
              <a:gd name="T58" fmla="*/ 18 w 72"/>
              <a:gd name="T59" fmla="*/ 93 h 99"/>
              <a:gd name="T60" fmla="*/ 12 w 72"/>
              <a:gd name="T61" fmla="*/ 93 h 99"/>
              <a:gd name="T62" fmla="*/ 12 w 72"/>
              <a:gd name="T63" fmla="*/ 87 h 99"/>
              <a:gd name="T64" fmla="*/ 6 w 72"/>
              <a:gd name="T65" fmla="*/ 82 h 99"/>
              <a:gd name="T66" fmla="*/ 6 w 72"/>
              <a:gd name="T67" fmla="*/ 76 h 99"/>
              <a:gd name="T68" fmla="*/ 0 w 72"/>
              <a:gd name="T69" fmla="*/ 70 h 99"/>
              <a:gd name="T70" fmla="*/ 0 w 72"/>
              <a:gd name="T71" fmla="*/ 64 h 99"/>
              <a:gd name="T72" fmla="*/ 0 w 72"/>
              <a:gd name="T73" fmla="*/ 58 h 99"/>
              <a:gd name="T74" fmla="*/ 0 w 72"/>
              <a:gd name="T75" fmla="*/ 53 h 99"/>
              <a:gd name="T76" fmla="*/ 0 w 72"/>
              <a:gd name="T77" fmla="*/ 47 h 99"/>
              <a:gd name="T78" fmla="*/ 0 w 72"/>
              <a:gd name="T79" fmla="*/ 41 h 99"/>
              <a:gd name="T80" fmla="*/ 6 w 72"/>
              <a:gd name="T81" fmla="*/ 41 h 99"/>
              <a:gd name="T82" fmla="*/ 6 w 72"/>
              <a:gd name="T83" fmla="*/ 35 h 99"/>
              <a:gd name="T84" fmla="*/ 6 w 72"/>
              <a:gd name="T85" fmla="*/ 29 h 99"/>
              <a:gd name="T86" fmla="*/ 6 w 72"/>
              <a:gd name="T87" fmla="*/ 24 h 99"/>
              <a:gd name="T88" fmla="*/ 12 w 72"/>
              <a:gd name="T89" fmla="*/ 24 h 99"/>
              <a:gd name="T90" fmla="*/ 12 w 72"/>
              <a:gd name="T91" fmla="*/ 18 h 99"/>
              <a:gd name="T92" fmla="*/ 18 w 72"/>
              <a:gd name="T93" fmla="*/ 18 h 99"/>
              <a:gd name="T94" fmla="*/ 18 w 72"/>
              <a:gd name="T95" fmla="*/ 12 h 99"/>
              <a:gd name="T96" fmla="*/ 24 w 72"/>
              <a:gd name="T97" fmla="*/ 12 h 99"/>
              <a:gd name="T98" fmla="*/ 24 w 72"/>
              <a:gd name="T99" fmla="*/ 6 h 99"/>
              <a:gd name="T100" fmla="*/ 30 w 72"/>
              <a:gd name="T101" fmla="*/ 6 h 99"/>
              <a:gd name="T102" fmla="*/ 30 w 72"/>
              <a:gd name="T103" fmla="*/ 0 h 99"/>
              <a:gd name="T104" fmla="*/ 36 w 72"/>
              <a:gd name="T105" fmla="*/ 0 h 99"/>
              <a:gd name="T106" fmla="*/ 42 w 72"/>
              <a:gd name="T107" fmla="*/ 0 h 9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2"/>
              <a:gd name="T163" fmla="*/ 0 h 99"/>
              <a:gd name="T164" fmla="*/ 72 w 72"/>
              <a:gd name="T165" fmla="*/ 99 h 9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2" h="99">
                <a:moveTo>
                  <a:pt x="42" y="0"/>
                </a:moveTo>
                <a:lnTo>
                  <a:pt x="48" y="0"/>
                </a:lnTo>
                <a:lnTo>
                  <a:pt x="48" y="6"/>
                </a:lnTo>
                <a:lnTo>
                  <a:pt x="54" y="6"/>
                </a:lnTo>
                <a:lnTo>
                  <a:pt x="60" y="12"/>
                </a:lnTo>
                <a:lnTo>
                  <a:pt x="60" y="18"/>
                </a:lnTo>
                <a:lnTo>
                  <a:pt x="66" y="18"/>
                </a:lnTo>
                <a:lnTo>
                  <a:pt x="66" y="24"/>
                </a:lnTo>
                <a:lnTo>
                  <a:pt x="66" y="29"/>
                </a:lnTo>
                <a:lnTo>
                  <a:pt x="72" y="29"/>
                </a:lnTo>
                <a:lnTo>
                  <a:pt x="72" y="35"/>
                </a:lnTo>
                <a:lnTo>
                  <a:pt x="72" y="41"/>
                </a:lnTo>
                <a:lnTo>
                  <a:pt x="72" y="47"/>
                </a:lnTo>
                <a:lnTo>
                  <a:pt x="72" y="53"/>
                </a:lnTo>
                <a:lnTo>
                  <a:pt x="66" y="58"/>
                </a:lnTo>
                <a:lnTo>
                  <a:pt x="66" y="64"/>
                </a:lnTo>
                <a:lnTo>
                  <a:pt x="66" y="70"/>
                </a:lnTo>
                <a:lnTo>
                  <a:pt x="66" y="76"/>
                </a:lnTo>
                <a:lnTo>
                  <a:pt x="60" y="76"/>
                </a:lnTo>
                <a:lnTo>
                  <a:pt x="60" y="82"/>
                </a:lnTo>
                <a:lnTo>
                  <a:pt x="54" y="82"/>
                </a:lnTo>
                <a:lnTo>
                  <a:pt x="54" y="87"/>
                </a:lnTo>
                <a:lnTo>
                  <a:pt x="48" y="87"/>
                </a:lnTo>
                <a:lnTo>
                  <a:pt x="48" y="93"/>
                </a:lnTo>
                <a:lnTo>
                  <a:pt x="42" y="93"/>
                </a:lnTo>
                <a:lnTo>
                  <a:pt x="36" y="99"/>
                </a:lnTo>
                <a:lnTo>
                  <a:pt x="30" y="99"/>
                </a:lnTo>
                <a:lnTo>
                  <a:pt x="24" y="99"/>
                </a:lnTo>
                <a:lnTo>
                  <a:pt x="24" y="93"/>
                </a:lnTo>
                <a:lnTo>
                  <a:pt x="18" y="93"/>
                </a:lnTo>
                <a:lnTo>
                  <a:pt x="12" y="93"/>
                </a:lnTo>
                <a:lnTo>
                  <a:pt x="12" y="87"/>
                </a:lnTo>
                <a:lnTo>
                  <a:pt x="6" y="82"/>
                </a:lnTo>
                <a:lnTo>
                  <a:pt x="6" y="76"/>
                </a:lnTo>
                <a:lnTo>
                  <a:pt x="0" y="70"/>
                </a:lnTo>
                <a:lnTo>
                  <a:pt x="0" y="64"/>
                </a:lnTo>
                <a:lnTo>
                  <a:pt x="0" y="58"/>
                </a:lnTo>
                <a:lnTo>
                  <a:pt x="0" y="53"/>
                </a:lnTo>
                <a:lnTo>
                  <a:pt x="0" y="47"/>
                </a:lnTo>
                <a:lnTo>
                  <a:pt x="0" y="41"/>
                </a:lnTo>
                <a:lnTo>
                  <a:pt x="6" y="41"/>
                </a:lnTo>
                <a:lnTo>
                  <a:pt x="6" y="35"/>
                </a:lnTo>
                <a:lnTo>
                  <a:pt x="6" y="29"/>
                </a:lnTo>
                <a:lnTo>
                  <a:pt x="6" y="24"/>
                </a:lnTo>
                <a:lnTo>
                  <a:pt x="12" y="24"/>
                </a:lnTo>
                <a:lnTo>
                  <a:pt x="12" y="18"/>
                </a:lnTo>
                <a:lnTo>
                  <a:pt x="18" y="18"/>
                </a:lnTo>
                <a:lnTo>
                  <a:pt x="18" y="12"/>
                </a:lnTo>
                <a:lnTo>
                  <a:pt x="24" y="12"/>
                </a:lnTo>
                <a:lnTo>
                  <a:pt x="24" y="6"/>
                </a:lnTo>
                <a:lnTo>
                  <a:pt x="30" y="6"/>
                </a:lnTo>
                <a:lnTo>
                  <a:pt x="30" y="0"/>
                </a:lnTo>
                <a:lnTo>
                  <a:pt x="36" y="0"/>
                </a:lnTo>
                <a:lnTo>
                  <a:pt x="42"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2" name="Freeform 99"/>
          <p:cNvSpPr>
            <a:spLocks/>
          </p:cNvSpPr>
          <p:nvPr/>
        </p:nvSpPr>
        <p:spPr bwMode="auto">
          <a:xfrm>
            <a:off x="8202613" y="4175125"/>
            <a:ext cx="114300" cy="157163"/>
          </a:xfrm>
          <a:custGeom>
            <a:avLst/>
            <a:gdLst>
              <a:gd name="T0" fmla="*/ 42 w 72"/>
              <a:gd name="T1" fmla="*/ 0 h 99"/>
              <a:gd name="T2" fmla="*/ 54 w 72"/>
              <a:gd name="T3" fmla="*/ 6 h 99"/>
              <a:gd name="T4" fmla="*/ 66 w 72"/>
              <a:gd name="T5" fmla="*/ 18 h 99"/>
              <a:gd name="T6" fmla="*/ 72 w 72"/>
              <a:gd name="T7" fmla="*/ 35 h 99"/>
              <a:gd name="T8" fmla="*/ 72 w 72"/>
              <a:gd name="T9" fmla="*/ 53 h 99"/>
              <a:gd name="T10" fmla="*/ 66 w 72"/>
              <a:gd name="T11" fmla="*/ 76 h 99"/>
              <a:gd name="T12" fmla="*/ 54 w 72"/>
              <a:gd name="T13" fmla="*/ 87 h 99"/>
              <a:gd name="T14" fmla="*/ 42 w 72"/>
              <a:gd name="T15" fmla="*/ 93 h 99"/>
              <a:gd name="T16" fmla="*/ 24 w 72"/>
              <a:gd name="T17" fmla="*/ 99 h 99"/>
              <a:gd name="T18" fmla="*/ 12 w 72"/>
              <a:gd name="T19" fmla="*/ 93 h 99"/>
              <a:gd name="T20" fmla="*/ 6 w 72"/>
              <a:gd name="T21" fmla="*/ 82 h 99"/>
              <a:gd name="T22" fmla="*/ 0 w 72"/>
              <a:gd name="T23" fmla="*/ 64 h 99"/>
              <a:gd name="T24" fmla="*/ 0 w 72"/>
              <a:gd name="T25" fmla="*/ 47 h 99"/>
              <a:gd name="T26" fmla="*/ 6 w 72"/>
              <a:gd name="T27" fmla="*/ 24 h 99"/>
              <a:gd name="T28" fmla="*/ 18 w 72"/>
              <a:gd name="T29" fmla="*/ 12 h 99"/>
              <a:gd name="T30" fmla="*/ 30 w 72"/>
              <a:gd name="T31" fmla="*/ 6 h 99"/>
              <a:gd name="T32" fmla="*/ 42 w 72"/>
              <a:gd name="T33" fmla="*/ 0 h 9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
              <a:gd name="T52" fmla="*/ 0 h 99"/>
              <a:gd name="T53" fmla="*/ 72 w 72"/>
              <a:gd name="T54" fmla="*/ 99 h 9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 h="99">
                <a:moveTo>
                  <a:pt x="42" y="0"/>
                </a:moveTo>
                <a:lnTo>
                  <a:pt x="54" y="6"/>
                </a:lnTo>
                <a:lnTo>
                  <a:pt x="66" y="18"/>
                </a:lnTo>
                <a:lnTo>
                  <a:pt x="72" y="35"/>
                </a:lnTo>
                <a:lnTo>
                  <a:pt x="72" y="53"/>
                </a:lnTo>
                <a:lnTo>
                  <a:pt x="66" y="76"/>
                </a:lnTo>
                <a:lnTo>
                  <a:pt x="54" y="87"/>
                </a:lnTo>
                <a:lnTo>
                  <a:pt x="42" y="93"/>
                </a:lnTo>
                <a:lnTo>
                  <a:pt x="24" y="99"/>
                </a:lnTo>
                <a:lnTo>
                  <a:pt x="12" y="93"/>
                </a:lnTo>
                <a:lnTo>
                  <a:pt x="6" y="82"/>
                </a:lnTo>
                <a:lnTo>
                  <a:pt x="0" y="64"/>
                </a:lnTo>
                <a:lnTo>
                  <a:pt x="0" y="47"/>
                </a:lnTo>
                <a:lnTo>
                  <a:pt x="6" y="24"/>
                </a:lnTo>
                <a:lnTo>
                  <a:pt x="18" y="12"/>
                </a:lnTo>
                <a:lnTo>
                  <a:pt x="30" y="6"/>
                </a:lnTo>
                <a:lnTo>
                  <a:pt x="42"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3" name="Freeform 100"/>
          <p:cNvSpPr>
            <a:spLocks/>
          </p:cNvSpPr>
          <p:nvPr/>
        </p:nvSpPr>
        <p:spPr bwMode="auto">
          <a:xfrm>
            <a:off x="8231188" y="4203700"/>
            <a:ext cx="47625" cy="82550"/>
          </a:xfrm>
          <a:custGeom>
            <a:avLst/>
            <a:gdLst>
              <a:gd name="T0" fmla="*/ 18 w 30"/>
              <a:gd name="T1" fmla="*/ 0 h 52"/>
              <a:gd name="T2" fmla="*/ 18 w 30"/>
              <a:gd name="T3" fmla="*/ 6 h 52"/>
              <a:gd name="T4" fmla="*/ 24 w 30"/>
              <a:gd name="T5" fmla="*/ 6 h 52"/>
              <a:gd name="T6" fmla="*/ 30 w 30"/>
              <a:gd name="T7" fmla="*/ 11 h 52"/>
              <a:gd name="T8" fmla="*/ 30 w 30"/>
              <a:gd name="T9" fmla="*/ 17 h 52"/>
              <a:gd name="T10" fmla="*/ 30 w 30"/>
              <a:gd name="T11" fmla="*/ 23 h 52"/>
              <a:gd name="T12" fmla="*/ 30 w 30"/>
              <a:gd name="T13" fmla="*/ 29 h 52"/>
              <a:gd name="T14" fmla="*/ 30 w 30"/>
              <a:gd name="T15" fmla="*/ 35 h 52"/>
              <a:gd name="T16" fmla="*/ 24 w 30"/>
              <a:gd name="T17" fmla="*/ 40 h 52"/>
              <a:gd name="T18" fmla="*/ 24 w 30"/>
              <a:gd name="T19" fmla="*/ 46 h 52"/>
              <a:gd name="T20" fmla="*/ 18 w 30"/>
              <a:gd name="T21" fmla="*/ 46 h 52"/>
              <a:gd name="T22" fmla="*/ 18 w 30"/>
              <a:gd name="T23" fmla="*/ 52 h 52"/>
              <a:gd name="T24" fmla="*/ 12 w 30"/>
              <a:gd name="T25" fmla="*/ 52 h 52"/>
              <a:gd name="T26" fmla="*/ 6 w 30"/>
              <a:gd name="T27" fmla="*/ 52 h 52"/>
              <a:gd name="T28" fmla="*/ 6 w 30"/>
              <a:gd name="T29" fmla="*/ 46 h 52"/>
              <a:gd name="T30" fmla="*/ 0 w 30"/>
              <a:gd name="T31" fmla="*/ 46 h 52"/>
              <a:gd name="T32" fmla="*/ 0 w 30"/>
              <a:gd name="T33" fmla="*/ 40 h 52"/>
              <a:gd name="T34" fmla="*/ 0 w 30"/>
              <a:gd name="T35" fmla="*/ 35 h 52"/>
              <a:gd name="T36" fmla="*/ 0 w 30"/>
              <a:gd name="T37" fmla="*/ 29 h 52"/>
              <a:gd name="T38" fmla="*/ 0 w 30"/>
              <a:gd name="T39" fmla="*/ 23 h 52"/>
              <a:gd name="T40" fmla="*/ 6 w 30"/>
              <a:gd name="T41" fmla="*/ 23 h 52"/>
              <a:gd name="T42" fmla="*/ 6 w 30"/>
              <a:gd name="T43" fmla="*/ 17 h 52"/>
              <a:gd name="T44" fmla="*/ 6 w 30"/>
              <a:gd name="T45" fmla="*/ 11 h 52"/>
              <a:gd name="T46" fmla="*/ 12 w 30"/>
              <a:gd name="T47" fmla="*/ 11 h 52"/>
              <a:gd name="T48" fmla="*/ 12 w 30"/>
              <a:gd name="T49" fmla="*/ 6 h 52"/>
              <a:gd name="T50" fmla="*/ 18 w 30"/>
              <a:gd name="T51" fmla="*/ 6 h 52"/>
              <a:gd name="T52" fmla="*/ 18 w 30"/>
              <a:gd name="T53" fmla="*/ 0 h 5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
              <a:gd name="T82" fmla="*/ 0 h 52"/>
              <a:gd name="T83" fmla="*/ 30 w 30"/>
              <a:gd name="T84" fmla="*/ 52 h 5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 h="52">
                <a:moveTo>
                  <a:pt x="18" y="0"/>
                </a:moveTo>
                <a:lnTo>
                  <a:pt x="18" y="6"/>
                </a:lnTo>
                <a:lnTo>
                  <a:pt x="24" y="6"/>
                </a:lnTo>
                <a:lnTo>
                  <a:pt x="30" y="11"/>
                </a:lnTo>
                <a:lnTo>
                  <a:pt x="30" y="17"/>
                </a:lnTo>
                <a:lnTo>
                  <a:pt x="30" y="23"/>
                </a:lnTo>
                <a:lnTo>
                  <a:pt x="30" y="29"/>
                </a:lnTo>
                <a:lnTo>
                  <a:pt x="30" y="35"/>
                </a:lnTo>
                <a:lnTo>
                  <a:pt x="24" y="40"/>
                </a:lnTo>
                <a:lnTo>
                  <a:pt x="24" y="46"/>
                </a:lnTo>
                <a:lnTo>
                  <a:pt x="18" y="46"/>
                </a:lnTo>
                <a:lnTo>
                  <a:pt x="18" y="52"/>
                </a:lnTo>
                <a:lnTo>
                  <a:pt x="12" y="52"/>
                </a:lnTo>
                <a:lnTo>
                  <a:pt x="6" y="52"/>
                </a:lnTo>
                <a:lnTo>
                  <a:pt x="6" y="46"/>
                </a:lnTo>
                <a:lnTo>
                  <a:pt x="0" y="46"/>
                </a:lnTo>
                <a:lnTo>
                  <a:pt x="0" y="40"/>
                </a:lnTo>
                <a:lnTo>
                  <a:pt x="0" y="35"/>
                </a:lnTo>
                <a:lnTo>
                  <a:pt x="0" y="29"/>
                </a:lnTo>
                <a:lnTo>
                  <a:pt x="0" y="23"/>
                </a:lnTo>
                <a:lnTo>
                  <a:pt x="6" y="23"/>
                </a:lnTo>
                <a:lnTo>
                  <a:pt x="6" y="17"/>
                </a:lnTo>
                <a:lnTo>
                  <a:pt x="6" y="11"/>
                </a:lnTo>
                <a:lnTo>
                  <a:pt x="12" y="11"/>
                </a:lnTo>
                <a:lnTo>
                  <a:pt x="12" y="6"/>
                </a:lnTo>
                <a:lnTo>
                  <a:pt x="18" y="6"/>
                </a:lnTo>
                <a:lnTo>
                  <a:pt x="1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4" name="Freeform 101"/>
          <p:cNvSpPr>
            <a:spLocks/>
          </p:cNvSpPr>
          <p:nvPr/>
        </p:nvSpPr>
        <p:spPr bwMode="auto">
          <a:xfrm>
            <a:off x="8231188" y="4203700"/>
            <a:ext cx="47625" cy="82550"/>
          </a:xfrm>
          <a:custGeom>
            <a:avLst/>
            <a:gdLst>
              <a:gd name="T0" fmla="*/ 18 w 30"/>
              <a:gd name="T1" fmla="*/ 0 h 52"/>
              <a:gd name="T2" fmla="*/ 24 w 30"/>
              <a:gd name="T3" fmla="*/ 6 h 52"/>
              <a:gd name="T4" fmla="*/ 30 w 30"/>
              <a:gd name="T5" fmla="*/ 11 h 52"/>
              <a:gd name="T6" fmla="*/ 30 w 30"/>
              <a:gd name="T7" fmla="*/ 23 h 52"/>
              <a:gd name="T8" fmla="*/ 30 w 30"/>
              <a:gd name="T9" fmla="*/ 29 h 52"/>
              <a:gd name="T10" fmla="*/ 24 w 30"/>
              <a:gd name="T11" fmla="*/ 40 h 52"/>
              <a:gd name="T12" fmla="*/ 24 w 30"/>
              <a:gd name="T13" fmla="*/ 46 h 52"/>
              <a:gd name="T14" fmla="*/ 18 w 30"/>
              <a:gd name="T15" fmla="*/ 52 h 52"/>
              <a:gd name="T16" fmla="*/ 12 w 30"/>
              <a:gd name="T17" fmla="*/ 52 h 52"/>
              <a:gd name="T18" fmla="*/ 6 w 30"/>
              <a:gd name="T19" fmla="*/ 52 h 52"/>
              <a:gd name="T20" fmla="*/ 0 w 30"/>
              <a:gd name="T21" fmla="*/ 46 h 52"/>
              <a:gd name="T22" fmla="*/ 0 w 30"/>
              <a:gd name="T23" fmla="*/ 35 h 52"/>
              <a:gd name="T24" fmla="*/ 0 w 30"/>
              <a:gd name="T25" fmla="*/ 29 h 52"/>
              <a:gd name="T26" fmla="*/ 6 w 30"/>
              <a:gd name="T27" fmla="*/ 17 h 52"/>
              <a:gd name="T28" fmla="*/ 12 w 30"/>
              <a:gd name="T29" fmla="*/ 11 h 52"/>
              <a:gd name="T30" fmla="*/ 12 w 30"/>
              <a:gd name="T31" fmla="*/ 6 h 52"/>
              <a:gd name="T32" fmla="*/ 18 w 30"/>
              <a:gd name="T33" fmla="*/ 0 h 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52"/>
              <a:gd name="T53" fmla="*/ 30 w 30"/>
              <a:gd name="T54" fmla="*/ 52 h 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52">
                <a:moveTo>
                  <a:pt x="18" y="0"/>
                </a:moveTo>
                <a:lnTo>
                  <a:pt x="24" y="6"/>
                </a:lnTo>
                <a:lnTo>
                  <a:pt x="30" y="11"/>
                </a:lnTo>
                <a:lnTo>
                  <a:pt x="30" y="23"/>
                </a:lnTo>
                <a:lnTo>
                  <a:pt x="30" y="29"/>
                </a:lnTo>
                <a:lnTo>
                  <a:pt x="24" y="40"/>
                </a:lnTo>
                <a:lnTo>
                  <a:pt x="24" y="46"/>
                </a:lnTo>
                <a:lnTo>
                  <a:pt x="18" y="52"/>
                </a:lnTo>
                <a:lnTo>
                  <a:pt x="12" y="52"/>
                </a:lnTo>
                <a:lnTo>
                  <a:pt x="6" y="52"/>
                </a:lnTo>
                <a:lnTo>
                  <a:pt x="0" y="46"/>
                </a:lnTo>
                <a:lnTo>
                  <a:pt x="0" y="35"/>
                </a:lnTo>
                <a:lnTo>
                  <a:pt x="0" y="29"/>
                </a:lnTo>
                <a:lnTo>
                  <a:pt x="6" y="17"/>
                </a:lnTo>
                <a:lnTo>
                  <a:pt x="12" y="11"/>
                </a:lnTo>
                <a:lnTo>
                  <a:pt x="12" y="6"/>
                </a:lnTo>
                <a:lnTo>
                  <a:pt x="1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5" name="Freeform 102"/>
          <p:cNvSpPr>
            <a:spLocks/>
          </p:cNvSpPr>
          <p:nvPr/>
        </p:nvSpPr>
        <p:spPr bwMode="auto">
          <a:xfrm>
            <a:off x="7880350" y="5126038"/>
            <a:ext cx="388938" cy="377825"/>
          </a:xfrm>
          <a:custGeom>
            <a:avLst/>
            <a:gdLst>
              <a:gd name="T0" fmla="*/ 197 w 245"/>
              <a:gd name="T1" fmla="*/ 220 h 238"/>
              <a:gd name="T2" fmla="*/ 179 w 245"/>
              <a:gd name="T3" fmla="*/ 220 h 238"/>
              <a:gd name="T4" fmla="*/ 168 w 245"/>
              <a:gd name="T5" fmla="*/ 226 h 238"/>
              <a:gd name="T6" fmla="*/ 156 w 245"/>
              <a:gd name="T7" fmla="*/ 232 h 238"/>
              <a:gd name="T8" fmla="*/ 138 w 245"/>
              <a:gd name="T9" fmla="*/ 226 h 238"/>
              <a:gd name="T10" fmla="*/ 126 w 245"/>
              <a:gd name="T11" fmla="*/ 238 h 238"/>
              <a:gd name="T12" fmla="*/ 120 w 245"/>
              <a:gd name="T13" fmla="*/ 226 h 238"/>
              <a:gd name="T14" fmla="*/ 102 w 245"/>
              <a:gd name="T15" fmla="*/ 238 h 238"/>
              <a:gd name="T16" fmla="*/ 90 w 245"/>
              <a:gd name="T17" fmla="*/ 226 h 238"/>
              <a:gd name="T18" fmla="*/ 78 w 245"/>
              <a:gd name="T19" fmla="*/ 226 h 238"/>
              <a:gd name="T20" fmla="*/ 60 w 245"/>
              <a:gd name="T21" fmla="*/ 226 h 238"/>
              <a:gd name="T22" fmla="*/ 66 w 245"/>
              <a:gd name="T23" fmla="*/ 215 h 238"/>
              <a:gd name="T24" fmla="*/ 48 w 245"/>
              <a:gd name="T25" fmla="*/ 215 h 238"/>
              <a:gd name="T26" fmla="*/ 36 w 245"/>
              <a:gd name="T27" fmla="*/ 209 h 238"/>
              <a:gd name="T28" fmla="*/ 42 w 245"/>
              <a:gd name="T29" fmla="*/ 197 h 238"/>
              <a:gd name="T30" fmla="*/ 18 w 245"/>
              <a:gd name="T31" fmla="*/ 191 h 238"/>
              <a:gd name="T32" fmla="*/ 18 w 245"/>
              <a:gd name="T33" fmla="*/ 174 h 238"/>
              <a:gd name="T34" fmla="*/ 12 w 245"/>
              <a:gd name="T35" fmla="*/ 162 h 238"/>
              <a:gd name="T36" fmla="*/ 6 w 245"/>
              <a:gd name="T37" fmla="*/ 151 h 238"/>
              <a:gd name="T38" fmla="*/ 12 w 245"/>
              <a:gd name="T39" fmla="*/ 133 h 238"/>
              <a:gd name="T40" fmla="*/ 0 w 245"/>
              <a:gd name="T41" fmla="*/ 122 h 238"/>
              <a:gd name="T42" fmla="*/ 12 w 245"/>
              <a:gd name="T43" fmla="*/ 116 h 238"/>
              <a:gd name="T44" fmla="*/ 0 w 245"/>
              <a:gd name="T45" fmla="*/ 98 h 238"/>
              <a:gd name="T46" fmla="*/ 6 w 245"/>
              <a:gd name="T47" fmla="*/ 87 h 238"/>
              <a:gd name="T48" fmla="*/ 18 w 245"/>
              <a:gd name="T49" fmla="*/ 75 h 238"/>
              <a:gd name="T50" fmla="*/ 12 w 245"/>
              <a:gd name="T51" fmla="*/ 64 h 238"/>
              <a:gd name="T52" fmla="*/ 30 w 245"/>
              <a:gd name="T53" fmla="*/ 52 h 238"/>
              <a:gd name="T54" fmla="*/ 24 w 245"/>
              <a:gd name="T55" fmla="*/ 40 h 238"/>
              <a:gd name="T56" fmla="*/ 36 w 245"/>
              <a:gd name="T57" fmla="*/ 35 h 238"/>
              <a:gd name="T58" fmla="*/ 54 w 245"/>
              <a:gd name="T59" fmla="*/ 35 h 238"/>
              <a:gd name="T60" fmla="*/ 54 w 245"/>
              <a:gd name="T61" fmla="*/ 17 h 238"/>
              <a:gd name="T62" fmla="*/ 66 w 245"/>
              <a:gd name="T63" fmla="*/ 23 h 238"/>
              <a:gd name="T64" fmla="*/ 78 w 245"/>
              <a:gd name="T65" fmla="*/ 6 h 238"/>
              <a:gd name="T66" fmla="*/ 90 w 245"/>
              <a:gd name="T67" fmla="*/ 11 h 238"/>
              <a:gd name="T68" fmla="*/ 108 w 245"/>
              <a:gd name="T69" fmla="*/ 6 h 238"/>
              <a:gd name="T70" fmla="*/ 120 w 245"/>
              <a:gd name="T71" fmla="*/ 0 h 238"/>
              <a:gd name="T72" fmla="*/ 126 w 245"/>
              <a:gd name="T73" fmla="*/ 11 h 238"/>
              <a:gd name="T74" fmla="*/ 138 w 245"/>
              <a:gd name="T75" fmla="*/ 0 h 238"/>
              <a:gd name="T76" fmla="*/ 150 w 245"/>
              <a:gd name="T77" fmla="*/ 6 h 238"/>
              <a:gd name="T78" fmla="*/ 156 w 245"/>
              <a:gd name="T79" fmla="*/ 17 h 238"/>
              <a:gd name="T80" fmla="*/ 174 w 245"/>
              <a:gd name="T81" fmla="*/ 11 h 238"/>
              <a:gd name="T82" fmla="*/ 185 w 245"/>
              <a:gd name="T83" fmla="*/ 17 h 238"/>
              <a:gd name="T84" fmla="*/ 191 w 245"/>
              <a:gd name="T85" fmla="*/ 35 h 238"/>
              <a:gd name="T86" fmla="*/ 209 w 245"/>
              <a:gd name="T87" fmla="*/ 29 h 238"/>
              <a:gd name="T88" fmla="*/ 203 w 245"/>
              <a:gd name="T89" fmla="*/ 40 h 238"/>
              <a:gd name="T90" fmla="*/ 221 w 245"/>
              <a:gd name="T91" fmla="*/ 52 h 238"/>
              <a:gd name="T92" fmla="*/ 227 w 245"/>
              <a:gd name="T93" fmla="*/ 64 h 238"/>
              <a:gd name="T94" fmla="*/ 233 w 245"/>
              <a:gd name="T95" fmla="*/ 75 h 238"/>
              <a:gd name="T96" fmla="*/ 239 w 245"/>
              <a:gd name="T97" fmla="*/ 87 h 238"/>
              <a:gd name="T98" fmla="*/ 233 w 245"/>
              <a:gd name="T99" fmla="*/ 104 h 238"/>
              <a:gd name="T100" fmla="*/ 245 w 245"/>
              <a:gd name="T101" fmla="*/ 116 h 238"/>
              <a:gd name="T102" fmla="*/ 233 w 245"/>
              <a:gd name="T103" fmla="*/ 122 h 238"/>
              <a:gd name="T104" fmla="*/ 245 w 245"/>
              <a:gd name="T105" fmla="*/ 139 h 238"/>
              <a:gd name="T106" fmla="*/ 239 w 245"/>
              <a:gd name="T107" fmla="*/ 151 h 238"/>
              <a:gd name="T108" fmla="*/ 233 w 245"/>
              <a:gd name="T109" fmla="*/ 168 h 238"/>
              <a:gd name="T110" fmla="*/ 227 w 245"/>
              <a:gd name="T111" fmla="*/ 180 h 238"/>
              <a:gd name="T112" fmla="*/ 215 w 245"/>
              <a:gd name="T113" fmla="*/ 186 h 238"/>
              <a:gd name="T114" fmla="*/ 221 w 245"/>
              <a:gd name="T115" fmla="*/ 197 h 238"/>
              <a:gd name="T116" fmla="*/ 209 w 245"/>
              <a:gd name="T117" fmla="*/ 203 h 238"/>
              <a:gd name="T118" fmla="*/ 191 w 245"/>
              <a:gd name="T119" fmla="*/ 209 h 2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45"/>
              <a:gd name="T181" fmla="*/ 0 h 238"/>
              <a:gd name="T182" fmla="*/ 245 w 245"/>
              <a:gd name="T183" fmla="*/ 238 h 23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45" h="238">
                <a:moveTo>
                  <a:pt x="191" y="209"/>
                </a:moveTo>
                <a:lnTo>
                  <a:pt x="197" y="215"/>
                </a:lnTo>
                <a:lnTo>
                  <a:pt x="197" y="220"/>
                </a:lnTo>
                <a:lnTo>
                  <a:pt x="191" y="220"/>
                </a:lnTo>
                <a:lnTo>
                  <a:pt x="185" y="220"/>
                </a:lnTo>
                <a:lnTo>
                  <a:pt x="179" y="220"/>
                </a:lnTo>
                <a:lnTo>
                  <a:pt x="179" y="215"/>
                </a:lnTo>
                <a:lnTo>
                  <a:pt x="168" y="220"/>
                </a:lnTo>
                <a:lnTo>
                  <a:pt x="168" y="226"/>
                </a:lnTo>
                <a:lnTo>
                  <a:pt x="168" y="232"/>
                </a:lnTo>
                <a:lnTo>
                  <a:pt x="162" y="232"/>
                </a:lnTo>
                <a:lnTo>
                  <a:pt x="156" y="232"/>
                </a:lnTo>
                <a:lnTo>
                  <a:pt x="156" y="226"/>
                </a:lnTo>
                <a:lnTo>
                  <a:pt x="150" y="226"/>
                </a:lnTo>
                <a:lnTo>
                  <a:pt x="138" y="226"/>
                </a:lnTo>
                <a:lnTo>
                  <a:pt x="138" y="238"/>
                </a:lnTo>
                <a:lnTo>
                  <a:pt x="132" y="238"/>
                </a:lnTo>
                <a:lnTo>
                  <a:pt x="126" y="238"/>
                </a:lnTo>
                <a:lnTo>
                  <a:pt x="126" y="232"/>
                </a:lnTo>
                <a:lnTo>
                  <a:pt x="120" y="232"/>
                </a:lnTo>
                <a:lnTo>
                  <a:pt x="120" y="226"/>
                </a:lnTo>
                <a:lnTo>
                  <a:pt x="108" y="226"/>
                </a:lnTo>
                <a:lnTo>
                  <a:pt x="108" y="238"/>
                </a:lnTo>
                <a:lnTo>
                  <a:pt x="102" y="238"/>
                </a:lnTo>
                <a:lnTo>
                  <a:pt x="96" y="238"/>
                </a:lnTo>
                <a:lnTo>
                  <a:pt x="90" y="232"/>
                </a:lnTo>
                <a:lnTo>
                  <a:pt x="90" y="226"/>
                </a:lnTo>
                <a:lnTo>
                  <a:pt x="96" y="226"/>
                </a:lnTo>
                <a:lnTo>
                  <a:pt x="78" y="220"/>
                </a:lnTo>
                <a:lnTo>
                  <a:pt x="78" y="226"/>
                </a:lnTo>
                <a:lnTo>
                  <a:pt x="72" y="226"/>
                </a:lnTo>
                <a:lnTo>
                  <a:pt x="66" y="226"/>
                </a:lnTo>
                <a:lnTo>
                  <a:pt x="60" y="226"/>
                </a:lnTo>
                <a:lnTo>
                  <a:pt x="60" y="220"/>
                </a:lnTo>
                <a:lnTo>
                  <a:pt x="66" y="220"/>
                </a:lnTo>
                <a:lnTo>
                  <a:pt x="66" y="215"/>
                </a:lnTo>
                <a:lnTo>
                  <a:pt x="54" y="209"/>
                </a:lnTo>
                <a:lnTo>
                  <a:pt x="48" y="209"/>
                </a:lnTo>
                <a:lnTo>
                  <a:pt x="48" y="215"/>
                </a:lnTo>
                <a:lnTo>
                  <a:pt x="42" y="215"/>
                </a:lnTo>
                <a:lnTo>
                  <a:pt x="42" y="209"/>
                </a:lnTo>
                <a:lnTo>
                  <a:pt x="36" y="209"/>
                </a:lnTo>
                <a:lnTo>
                  <a:pt x="36" y="203"/>
                </a:lnTo>
                <a:lnTo>
                  <a:pt x="42" y="203"/>
                </a:lnTo>
                <a:lnTo>
                  <a:pt x="42" y="197"/>
                </a:lnTo>
                <a:lnTo>
                  <a:pt x="36" y="186"/>
                </a:lnTo>
                <a:lnTo>
                  <a:pt x="24" y="191"/>
                </a:lnTo>
                <a:lnTo>
                  <a:pt x="18" y="191"/>
                </a:lnTo>
                <a:lnTo>
                  <a:pt x="18" y="186"/>
                </a:lnTo>
                <a:lnTo>
                  <a:pt x="18" y="180"/>
                </a:lnTo>
                <a:lnTo>
                  <a:pt x="18" y="174"/>
                </a:lnTo>
                <a:lnTo>
                  <a:pt x="24" y="174"/>
                </a:lnTo>
                <a:lnTo>
                  <a:pt x="18" y="162"/>
                </a:lnTo>
                <a:lnTo>
                  <a:pt x="12" y="162"/>
                </a:lnTo>
                <a:lnTo>
                  <a:pt x="6" y="162"/>
                </a:lnTo>
                <a:lnTo>
                  <a:pt x="6" y="157"/>
                </a:lnTo>
                <a:lnTo>
                  <a:pt x="6" y="151"/>
                </a:lnTo>
                <a:lnTo>
                  <a:pt x="12" y="151"/>
                </a:lnTo>
                <a:lnTo>
                  <a:pt x="12" y="145"/>
                </a:lnTo>
                <a:lnTo>
                  <a:pt x="12" y="133"/>
                </a:lnTo>
                <a:lnTo>
                  <a:pt x="0" y="133"/>
                </a:lnTo>
                <a:lnTo>
                  <a:pt x="0" y="128"/>
                </a:lnTo>
                <a:lnTo>
                  <a:pt x="0" y="122"/>
                </a:lnTo>
                <a:lnTo>
                  <a:pt x="6" y="122"/>
                </a:lnTo>
                <a:lnTo>
                  <a:pt x="6" y="116"/>
                </a:lnTo>
                <a:lnTo>
                  <a:pt x="12" y="116"/>
                </a:lnTo>
                <a:lnTo>
                  <a:pt x="12" y="104"/>
                </a:lnTo>
                <a:lnTo>
                  <a:pt x="0" y="104"/>
                </a:lnTo>
                <a:lnTo>
                  <a:pt x="0" y="98"/>
                </a:lnTo>
                <a:lnTo>
                  <a:pt x="0" y="93"/>
                </a:lnTo>
                <a:lnTo>
                  <a:pt x="6" y="93"/>
                </a:lnTo>
                <a:lnTo>
                  <a:pt x="6" y="87"/>
                </a:lnTo>
                <a:lnTo>
                  <a:pt x="12" y="87"/>
                </a:lnTo>
                <a:lnTo>
                  <a:pt x="12" y="93"/>
                </a:lnTo>
                <a:lnTo>
                  <a:pt x="18" y="75"/>
                </a:lnTo>
                <a:lnTo>
                  <a:pt x="12" y="75"/>
                </a:lnTo>
                <a:lnTo>
                  <a:pt x="12" y="69"/>
                </a:lnTo>
                <a:lnTo>
                  <a:pt x="12" y="64"/>
                </a:lnTo>
                <a:lnTo>
                  <a:pt x="18" y="64"/>
                </a:lnTo>
                <a:lnTo>
                  <a:pt x="24" y="64"/>
                </a:lnTo>
                <a:lnTo>
                  <a:pt x="30" y="52"/>
                </a:lnTo>
                <a:lnTo>
                  <a:pt x="30" y="46"/>
                </a:lnTo>
                <a:lnTo>
                  <a:pt x="24" y="46"/>
                </a:lnTo>
                <a:lnTo>
                  <a:pt x="24" y="40"/>
                </a:lnTo>
                <a:lnTo>
                  <a:pt x="30" y="40"/>
                </a:lnTo>
                <a:lnTo>
                  <a:pt x="30" y="35"/>
                </a:lnTo>
                <a:lnTo>
                  <a:pt x="36" y="35"/>
                </a:lnTo>
                <a:lnTo>
                  <a:pt x="36" y="40"/>
                </a:lnTo>
                <a:lnTo>
                  <a:pt x="42" y="40"/>
                </a:lnTo>
                <a:lnTo>
                  <a:pt x="54" y="35"/>
                </a:lnTo>
                <a:lnTo>
                  <a:pt x="48" y="23"/>
                </a:lnTo>
                <a:lnTo>
                  <a:pt x="54" y="23"/>
                </a:lnTo>
                <a:lnTo>
                  <a:pt x="54" y="17"/>
                </a:lnTo>
                <a:lnTo>
                  <a:pt x="60" y="17"/>
                </a:lnTo>
                <a:lnTo>
                  <a:pt x="66" y="17"/>
                </a:lnTo>
                <a:lnTo>
                  <a:pt x="66" y="23"/>
                </a:lnTo>
                <a:lnTo>
                  <a:pt x="78" y="17"/>
                </a:lnTo>
                <a:lnTo>
                  <a:pt x="78" y="11"/>
                </a:lnTo>
                <a:lnTo>
                  <a:pt x="78" y="6"/>
                </a:lnTo>
                <a:lnTo>
                  <a:pt x="84" y="6"/>
                </a:lnTo>
                <a:lnTo>
                  <a:pt x="90" y="6"/>
                </a:lnTo>
                <a:lnTo>
                  <a:pt x="90" y="11"/>
                </a:lnTo>
                <a:lnTo>
                  <a:pt x="96" y="11"/>
                </a:lnTo>
                <a:lnTo>
                  <a:pt x="108" y="11"/>
                </a:lnTo>
                <a:lnTo>
                  <a:pt x="108" y="6"/>
                </a:lnTo>
                <a:lnTo>
                  <a:pt x="108" y="0"/>
                </a:lnTo>
                <a:lnTo>
                  <a:pt x="114" y="0"/>
                </a:lnTo>
                <a:lnTo>
                  <a:pt x="120" y="0"/>
                </a:lnTo>
                <a:lnTo>
                  <a:pt x="120" y="6"/>
                </a:lnTo>
                <a:lnTo>
                  <a:pt x="126" y="6"/>
                </a:lnTo>
                <a:lnTo>
                  <a:pt x="126" y="11"/>
                </a:lnTo>
                <a:lnTo>
                  <a:pt x="138" y="11"/>
                </a:lnTo>
                <a:lnTo>
                  <a:pt x="138" y="6"/>
                </a:lnTo>
                <a:lnTo>
                  <a:pt x="138" y="0"/>
                </a:lnTo>
                <a:lnTo>
                  <a:pt x="144" y="0"/>
                </a:lnTo>
                <a:lnTo>
                  <a:pt x="150" y="0"/>
                </a:lnTo>
                <a:lnTo>
                  <a:pt x="150" y="6"/>
                </a:lnTo>
                <a:lnTo>
                  <a:pt x="156" y="6"/>
                </a:lnTo>
                <a:lnTo>
                  <a:pt x="156" y="11"/>
                </a:lnTo>
                <a:lnTo>
                  <a:pt x="156" y="17"/>
                </a:lnTo>
                <a:lnTo>
                  <a:pt x="168" y="17"/>
                </a:lnTo>
                <a:lnTo>
                  <a:pt x="168" y="11"/>
                </a:lnTo>
                <a:lnTo>
                  <a:pt x="174" y="11"/>
                </a:lnTo>
                <a:lnTo>
                  <a:pt x="179" y="11"/>
                </a:lnTo>
                <a:lnTo>
                  <a:pt x="185" y="11"/>
                </a:lnTo>
                <a:lnTo>
                  <a:pt x="185" y="17"/>
                </a:lnTo>
                <a:lnTo>
                  <a:pt x="179" y="17"/>
                </a:lnTo>
                <a:lnTo>
                  <a:pt x="179" y="23"/>
                </a:lnTo>
                <a:lnTo>
                  <a:pt x="191" y="35"/>
                </a:lnTo>
                <a:lnTo>
                  <a:pt x="197" y="29"/>
                </a:lnTo>
                <a:lnTo>
                  <a:pt x="203" y="29"/>
                </a:lnTo>
                <a:lnTo>
                  <a:pt x="209" y="29"/>
                </a:lnTo>
                <a:lnTo>
                  <a:pt x="209" y="35"/>
                </a:lnTo>
                <a:lnTo>
                  <a:pt x="209" y="40"/>
                </a:lnTo>
                <a:lnTo>
                  <a:pt x="203" y="40"/>
                </a:lnTo>
                <a:lnTo>
                  <a:pt x="215" y="52"/>
                </a:lnTo>
                <a:lnTo>
                  <a:pt x="221" y="46"/>
                </a:lnTo>
                <a:lnTo>
                  <a:pt x="221" y="52"/>
                </a:lnTo>
                <a:lnTo>
                  <a:pt x="227" y="52"/>
                </a:lnTo>
                <a:lnTo>
                  <a:pt x="227" y="58"/>
                </a:lnTo>
                <a:lnTo>
                  <a:pt x="227" y="64"/>
                </a:lnTo>
                <a:lnTo>
                  <a:pt x="221" y="64"/>
                </a:lnTo>
                <a:lnTo>
                  <a:pt x="227" y="75"/>
                </a:lnTo>
                <a:lnTo>
                  <a:pt x="233" y="75"/>
                </a:lnTo>
                <a:lnTo>
                  <a:pt x="239" y="75"/>
                </a:lnTo>
                <a:lnTo>
                  <a:pt x="239" y="81"/>
                </a:lnTo>
                <a:lnTo>
                  <a:pt x="239" y="87"/>
                </a:lnTo>
                <a:lnTo>
                  <a:pt x="239" y="93"/>
                </a:lnTo>
                <a:lnTo>
                  <a:pt x="233" y="93"/>
                </a:lnTo>
                <a:lnTo>
                  <a:pt x="233" y="104"/>
                </a:lnTo>
                <a:lnTo>
                  <a:pt x="245" y="104"/>
                </a:lnTo>
                <a:lnTo>
                  <a:pt x="245" y="110"/>
                </a:lnTo>
                <a:lnTo>
                  <a:pt x="245" y="116"/>
                </a:lnTo>
                <a:lnTo>
                  <a:pt x="245" y="122"/>
                </a:lnTo>
                <a:lnTo>
                  <a:pt x="239" y="122"/>
                </a:lnTo>
                <a:lnTo>
                  <a:pt x="233" y="122"/>
                </a:lnTo>
                <a:lnTo>
                  <a:pt x="233" y="133"/>
                </a:lnTo>
                <a:lnTo>
                  <a:pt x="245" y="133"/>
                </a:lnTo>
                <a:lnTo>
                  <a:pt x="245" y="139"/>
                </a:lnTo>
                <a:lnTo>
                  <a:pt x="245" y="145"/>
                </a:lnTo>
                <a:lnTo>
                  <a:pt x="245" y="151"/>
                </a:lnTo>
                <a:lnTo>
                  <a:pt x="239" y="151"/>
                </a:lnTo>
                <a:lnTo>
                  <a:pt x="233" y="151"/>
                </a:lnTo>
                <a:lnTo>
                  <a:pt x="227" y="162"/>
                </a:lnTo>
                <a:lnTo>
                  <a:pt x="233" y="168"/>
                </a:lnTo>
                <a:lnTo>
                  <a:pt x="233" y="174"/>
                </a:lnTo>
                <a:lnTo>
                  <a:pt x="233" y="180"/>
                </a:lnTo>
                <a:lnTo>
                  <a:pt x="227" y="180"/>
                </a:lnTo>
                <a:lnTo>
                  <a:pt x="227" y="174"/>
                </a:lnTo>
                <a:lnTo>
                  <a:pt x="221" y="174"/>
                </a:lnTo>
                <a:lnTo>
                  <a:pt x="215" y="186"/>
                </a:lnTo>
                <a:lnTo>
                  <a:pt x="215" y="191"/>
                </a:lnTo>
                <a:lnTo>
                  <a:pt x="221" y="191"/>
                </a:lnTo>
                <a:lnTo>
                  <a:pt x="221" y="197"/>
                </a:lnTo>
                <a:lnTo>
                  <a:pt x="215" y="197"/>
                </a:lnTo>
                <a:lnTo>
                  <a:pt x="215" y="203"/>
                </a:lnTo>
                <a:lnTo>
                  <a:pt x="209" y="203"/>
                </a:lnTo>
                <a:lnTo>
                  <a:pt x="203" y="203"/>
                </a:lnTo>
                <a:lnTo>
                  <a:pt x="203" y="197"/>
                </a:lnTo>
                <a:lnTo>
                  <a:pt x="191" y="209"/>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6" name="Freeform 103"/>
          <p:cNvSpPr>
            <a:spLocks/>
          </p:cNvSpPr>
          <p:nvPr/>
        </p:nvSpPr>
        <p:spPr bwMode="auto">
          <a:xfrm>
            <a:off x="7880350" y="5126038"/>
            <a:ext cx="388938" cy="377825"/>
          </a:xfrm>
          <a:custGeom>
            <a:avLst/>
            <a:gdLst>
              <a:gd name="T0" fmla="*/ 191 w 245"/>
              <a:gd name="T1" fmla="*/ 220 h 238"/>
              <a:gd name="T2" fmla="*/ 179 w 245"/>
              <a:gd name="T3" fmla="*/ 215 h 238"/>
              <a:gd name="T4" fmla="*/ 168 w 245"/>
              <a:gd name="T5" fmla="*/ 232 h 238"/>
              <a:gd name="T6" fmla="*/ 150 w 245"/>
              <a:gd name="T7" fmla="*/ 226 h 238"/>
              <a:gd name="T8" fmla="*/ 132 w 245"/>
              <a:gd name="T9" fmla="*/ 238 h 238"/>
              <a:gd name="T10" fmla="*/ 120 w 245"/>
              <a:gd name="T11" fmla="*/ 232 h 238"/>
              <a:gd name="T12" fmla="*/ 108 w 245"/>
              <a:gd name="T13" fmla="*/ 238 h 238"/>
              <a:gd name="T14" fmla="*/ 90 w 245"/>
              <a:gd name="T15" fmla="*/ 232 h 238"/>
              <a:gd name="T16" fmla="*/ 78 w 245"/>
              <a:gd name="T17" fmla="*/ 220 h 238"/>
              <a:gd name="T18" fmla="*/ 66 w 245"/>
              <a:gd name="T19" fmla="*/ 226 h 238"/>
              <a:gd name="T20" fmla="*/ 66 w 245"/>
              <a:gd name="T21" fmla="*/ 215 h 238"/>
              <a:gd name="T22" fmla="*/ 48 w 245"/>
              <a:gd name="T23" fmla="*/ 215 h 238"/>
              <a:gd name="T24" fmla="*/ 36 w 245"/>
              <a:gd name="T25" fmla="*/ 209 h 238"/>
              <a:gd name="T26" fmla="*/ 42 w 245"/>
              <a:gd name="T27" fmla="*/ 197 h 238"/>
              <a:gd name="T28" fmla="*/ 18 w 245"/>
              <a:gd name="T29" fmla="*/ 186 h 238"/>
              <a:gd name="T30" fmla="*/ 24 w 245"/>
              <a:gd name="T31" fmla="*/ 174 h 238"/>
              <a:gd name="T32" fmla="*/ 6 w 245"/>
              <a:gd name="T33" fmla="*/ 162 h 238"/>
              <a:gd name="T34" fmla="*/ 12 w 245"/>
              <a:gd name="T35" fmla="*/ 145 h 238"/>
              <a:gd name="T36" fmla="*/ 0 w 245"/>
              <a:gd name="T37" fmla="*/ 128 h 238"/>
              <a:gd name="T38" fmla="*/ 6 w 245"/>
              <a:gd name="T39" fmla="*/ 116 h 238"/>
              <a:gd name="T40" fmla="*/ 0 w 245"/>
              <a:gd name="T41" fmla="*/ 104 h 238"/>
              <a:gd name="T42" fmla="*/ 6 w 245"/>
              <a:gd name="T43" fmla="*/ 93 h 238"/>
              <a:gd name="T44" fmla="*/ 18 w 245"/>
              <a:gd name="T45" fmla="*/ 75 h 238"/>
              <a:gd name="T46" fmla="*/ 12 w 245"/>
              <a:gd name="T47" fmla="*/ 64 h 238"/>
              <a:gd name="T48" fmla="*/ 30 w 245"/>
              <a:gd name="T49" fmla="*/ 52 h 238"/>
              <a:gd name="T50" fmla="*/ 24 w 245"/>
              <a:gd name="T51" fmla="*/ 40 h 238"/>
              <a:gd name="T52" fmla="*/ 36 w 245"/>
              <a:gd name="T53" fmla="*/ 35 h 238"/>
              <a:gd name="T54" fmla="*/ 48 w 245"/>
              <a:gd name="T55" fmla="*/ 23 h 238"/>
              <a:gd name="T56" fmla="*/ 66 w 245"/>
              <a:gd name="T57" fmla="*/ 23 h 238"/>
              <a:gd name="T58" fmla="*/ 78 w 245"/>
              <a:gd name="T59" fmla="*/ 6 h 238"/>
              <a:gd name="T60" fmla="*/ 90 w 245"/>
              <a:gd name="T61" fmla="*/ 11 h 238"/>
              <a:gd name="T62" fmla="*/ 108 w 245"/>
              <a:gd name="T63" fmla="*/ 6 h 238"/>
              <a:gd name="T64" fmla="*/ 120 w 245"/>
              <a:gd name="T65" fmla="*/ 0 h 238"/>
              <a:gd name="T66" fmla="*/ 138 w 245"/>
              <a:gd name="T67" fmla="*/ 11 h 238"/>
              <a:gd name="T68" fmla="*/ 150 w 245"/>
              <a:gd name="T69" fmla="*/ 0 h 238"/>
              <a:gd name="T70" fmla="*/ 156 w 245"/>
              <a:gd name="T71" fmla="*/ 11 h 238"/>
              <a:gd name="T72" fmla="*/ 168 w 245"/>
              <a:gd name="T73" fmla="*/ 11 h 238"/>
              <a:gd name="T74" fmla="*/ 185 w 245"/>
              <a:gd name="T75" fmla="*/ 17 h 238"/>
              <a:gd name="T76" fmla="*/ 197 w 245"/>
              <a:gd name="T77" fmla="*/ 29 h 238"/>
              <a:gd name="T78" fmla="*/ 209 w 245"/>
              <a:gd name="T79" fmla="*/ 35 h 238"/>
              <a:gd name="T80" fmla="*/ 215 w 245"/>
              <a:gd name="T81" fmla="*/ 52 h 238"/>
              <a:gd name="T82" fmla="*/ 227 w 245"/>
              <a:gd name="T83" fmla="*/ 58 h 238"/>
              <a:gd name="T84" fmla="*/ 227 w 245"/>
              <a:gd name="T85" fmla="*/ 75 h 238"/>
              <a:gd name="T86" fmla="*/ 239 w 245"/>
              <a:gd name="T87" fmla="*/ 81 h 238"/>
              <a:gd name="T88" fmla="*/ 233 w 245"/>
              <a:gd name="T89" fmla="*/ 104 h 238"/>
              <a:gd name="T90" fmla="*/ 245 w 245"/>
              <a:gd name="T91" fmla="*/ 116 h 238"/>
              <a:gd name="T92" fmla="*/ 233 w 245"/>
              <a:gd name="T93" fmla="*/ 133 h 238"/>
              <a:gd name="T94" fmla="*/ 245 w 245"/>
              <a:gd name="T95" fmla="*/ 145 h 238"/>
              <a:gd name="T96" fmla="*/ 227 w 245"/>
              <a:gd name="T97" fmla="*/ 162 h 238"/>
              <a:gd name="T98" fmla="*/ 233 w 245"/>
              <a:gd name="T99" fmla="*/ 180 h 238"/>
              <a:gd name="T100" fmla="*/ 221 w 245"/>
              <a:gd name="T101" fmla="*/ 174 h 238"/>
              <a:gd name="T102" fmla="*/ 221 w 245"/>
              <a:gd name="T103" fmla="*/ 191 h 238"/>
              <a:gd name="T104" fmla="*/ 215 w 245"/>
              <a:gd name="T105" fmla="*/ 203 h 238"/>
              <a:gd name="T106" fmla="*/ 191 w 245"/>
              <a:gd name="T107" fmla="*/ 209 h 2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45"/>
              <a:gd name="T163" fmla="*/ 0 h 238"/>
              <a:gd name="T164" fmla="*/ 245 w 245"/>
              <a:gd name="T165" fmla="*/ 238 h 23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45" h="238">
                <a:moveTo>
                  <a:pt x="191" y="209"/>
                </a:moveTo>
                <a:lnTo>
                  <a:pt x="197" y="215"/>
                </a:lnTo>
                <a:lnTo>
                  <a:pt x="191" y="220"/>
                </a:lnTo>
                <a:lnTo>
                  <a:pt x="185" y="220"/>
                </a:lnTo>
                <a:lnTo>
                  <a:pt x="179" y="220"/>
                </a:lnTo>
                <a:lnTo>
                  <a:pt x="179" y="215"/>
                </a:lnTo>
                <a:lnTo>
                  <a:pt x="168" y="220"/>
                </a:lnTo>
                <a:lnTo>
                  <a:pt x="168" y="226"/>
                </a:lnTo>
                <a:lnTo>
                  <a:pt x="168" y="232"/>
                </a:lnTo>
                <a:lnTo>
                  <a:pt x="162" y="232"/>
                </a:lnTo>
                <a:lnTo>
                  <a:pt x="156" y="232"/>
                </a:lnTo>
                <a:lnTo>
                  <a:pt x="150" y="226"/>
                </a:lnTo>
                <a:lnTo>
                  <a:pt x="138" y="226"/>
                </a:lnTo>
                <a:lnTo>
                  <a:pt x="138" y="238"/>
                </a:lnTo>
                <a:lnTo>
                  <a:pt x="132" y="238"/>
                </a:lnTo>
                <a:lnTo>
                  <a:pt x="126" y="238"/>
                </a:lnTo>
                <a:lnTo>
                  <a:pt x="126" y="232"/>
                </a:lnTo>
                <a:lnTo>
                  <a:pt x="120" y="232"/>
                </a:lnTo>
                <a:lnTo>
                  <a:pt x="120" y="226"/>
                </a:lnTo>
                <a:lnTo>
                  <a:pt x="108" y="226"/>
                </a:lnTo>
                <a:lnTo>
                  <a:pt x="108" y="238"/>
                </a:lnTo>
                <a:lnTo>
                  <a:pt x="102" y="238"/>
                </a:lnTo>
                <a:lnTo>
                  <a:pt x="96" y="238"/>
                </a:lnTo>
                <a:lnTo>
                  <a:pt x="90" y="232"/>
                </a:lnTo>
                <a:lnTo>
                  <a:pt x="90" y="226"/>
                </a:lnTo>
                <a:lnTo>
                  <a:pt x="96" y="226"/>
                </a:lnTo>
                <a:lnTo>
                  <a:pt x="78" y="220"/>
                </a:lnTo>
                <a:lnTo>
                  <a:pt x="78" y="226"/>
                </a:lnTo>
                <a:lnTo>
                  <a:pt x="72" y="226"/>
                </a:lnTo>
                <a:lnTo>
                  <a:pt x="66" y="226"/>
                </a:lnTo>
                <a:lnTo>
                  <a:pt x="60" y="220"/>
                </a:lnTo>
                <a:lnTo>
                  <a:pt x="66" y="220"/>
                </a:lnTo>
                <a:lnTo>
                  <a:pt x="66" y="215"/>
                </a:lnTo>
                <a:lnTo>
                  <a:pt x="54" y="209"/>
                </a:lnTo>
                <a:lnTo>
                  <a:pt x="48" y="209"/>
                </a:lnTo>
                <a:lnTo>
                  <a:pt x="48" y="215"/>
                </a:lnTo>
                <a:lnTo>
                  <a:pt x="42" y="215"/>
                </a:lnTo>
                <a:lnTo>
                  <a:pt x="42" y="209"/>
                </a:lnTo>
                <a:lnTo>
                  <a:pt x="36" y="209"/>
                </a:lnTo>
                <a:lnTo>
                  <a:pt x="36" y="203"/>
                </a:lnTo>
                <a:lnTo>
                  <a:pt x="42" y="203"/>
                </a:lnTo>
                <a:lnTo>
                  <a:pt x="42" y="197"/>
                </a:lnTo>
                <a:lnTo>
                  <a:pt x="36" y="186"/>
                </a:lnTo>
                <a:lnTo>
                  <a:pt x="24" y="191"/>
                </a:lnTo>
                <a:lnTo>
                  <a:pt x="18" y="186"/>
                </a:lnTo>
                <a:lnTo>
                  <a:pt x="18" y="180"/>
                </a:lnTo>
                <a:lnTo>
                  <a:pt x="18" y="174"/>
                </a:lnTo>
                <a:lnTo>
                  <a:pt x="24" y="174"/>
                </a:lnTo>
                <a:lnTo>
                  <a:pt x="18" y="162"/>
                </a:lnTo>
                <a:lnTo>
                  <a:pt x="12" y="162"/>
                </a:lnTo>
                <a:lnTo>
                  <a:pt x="6" y="162"/>
                </a:lnTo>
                <a:lnTo>
                  <a:pt x="6" y="157"/>
                </a:lnTo>
                <a:lnTo>
                  <a:pt x="6" y="151"/>
                </a:lnTo>
                <a:lnTo>
                  <a:pt x="12" y="145"/>
                </a:lnTo>
                <a:lnTo>
                  <a:pt x="12" y="133"/>
                </a:lnTo>
                <a:lnTo>
                  <a:pt x="0" y="133"/>
                </a:lnTo>
                <a:lnTo>
                  <a:pt x="0" y="128"/>
                </a:lnTo>
                <a:lnTo>
                  <a:pt x="0" y="122"/>
                </a:lnTo>
                <a:lnTo>
                  <a:pt x="6" y="122"/>
                </a:lnTo>
                <a:lnTo>
                  <a:pt x="6" y="116"/>
                </a:lnTo>
                <a:lnTo>
                  <a:pt x="12" y="116"/>
                </a:lnTo>
                <a:lnTo>
                  <a:pt x="12" y="104"/>
                </a:lnTo>
                <a:lnTo>
                  <a:pt x="0" y="104"/>
                </a:lnTo>
                <a:lnTo>
                  <a:pt x="0" y="98"/>
                </a:lnTo>
                <a:lnTo>
                  <a:pt x="0" y="93"/>
                </a:lnTo>
                <a:lnTo>
                  <a:pt x="6" y="93"/>
                </a:lnTo>
                <a:lnTo>
                  <a:pt x="6" y="87"/>
                </a:lnTo>
                <a:lnTo>
                  <a:pt x="12" y="93"/>
                </a:lnTo>
                <a:lnTo>
                  <a:pt x="18" y="75"/>
                </a:lnTo>
                <a:lnTo>
                  <a:pt x="12" y="75"/>
                </a:lnTo>
                <a:lnTo>
                  <a:pt x="12" y="69"/>
                </a:lnTo>
                <a:lnTo>
                  <a:pt x="12" y="64"/>
                </a:lnTo>
                <a:lnTo>
                  <a:pt x="18" y="64"/>
                </a:lnTo>
                <a:lnTo>
                  <a:pt x="24" y="64"/>
                </a:lnTo>
                <a:lnTo>
                  <a:pt x="30" y="52"/>
                </a:lnTo>
                <a:lnTo>
                  <a:pt x="30" y="46"/>
                </a:lnTo>
                <a:lnTo>
                  <a:pt x="24" y="46"/>
                </a:lnTo>
                <a:lnTo>
                  <a:pt x="24" y="40"/>
                </a:lnTo>
                <a:lnTo>
                  <a:pt x="30" y="40"/>
                </a:lnTo>
                <a:lnTo>
                  <a:pt x="30" y="35"/>
                </a:lnTo>
                <a:lnTo>
                  <a:pt x="36" y="35"/>
                </a:lnTo>
                <a:lnTo>
                  <a:pt x="42" y="40"/>
                </a:lnTo>
                <a:lnTo>
                  <a:pt x="54" y="35"/>
                </a:lnTo>
                <a:lnTo>
                  <a:pt x="48" y="23"/>
                </a:lnTo>
                <a:lnTo>
                  <a:pt x="54" y="17"/>
                </a:lnTo>
                <a:lnTo>
                  <a:pt x="60" y="17"/>
                </a:lnTo>
                <a:lnTo>
                  <a:pt x="66" y="23"/>
                </a:lnTo>
                <a:lnTo>
                  <a:pt x="78" y="17"/>
                </a:lnTo>
                <a:lnTo>
                  <a:pt x="78" y="11"/>
                </a:lnTo>
                <a:lnTo>
                  <a:pt x="78" y="6"/>
                </a:lnTo>
                <a:lnTo>
                  <a:pt x="84" y="6"/>
                </a:lnTo>
                <a:lnTo>
                  <a:pt x="90" y="6"/>
                </a:lnTo>
                <a:lnTo>
                  <a:pt x="90" y="11"/>
                </a:lnTo>
                <a:lnTo>
                  <a:pt x="96" y="11"/>
                </a:lnTo>
                <a:lnTo>
                  <a:pt x="108" y="11"/>
                </a:lnTo>
                <a:lnTo>
                  <a:pt x="108" y="6"/>
                </a:lnTo>
                <a:lnTo>
                  <a:pt x="108" y="0"/>
                </a:lnTo>
                <a:lnTo>
                  <a:pt x="114" y="0"/>
                </a:lnTo>
                <a:lnTo>
                  <a:pt x="120" y="0"/>
                </a:lnTo>
                <a:lnTo>
                  <a:pt x="126" y="6"/>
                </a:lnTo>
                <a:lnTo>
                  <a:pt x="126" y="11"/>
                </a:lnTo>
                <a:lnTo>
                  <a:pt x="138" y="11"/>
                </a:lnTo>
                <a:lnTo>
                  <a:pt x="138" y="6"/>
                </a:lnTo>
                <a:lnTo>
                  <a:pt x="144" y="0"/>
                </a:lnTo>
                <a:lnTo>
                  <a:pt x="150" y="0"/>
                </a:lnTo>
                <a:lnTo>
                  <a:pt x="150" y="6"/>
                </a:lnTo>
                <a:lnTo>
                  <a:pt x="156" y="6"/>
                </a:lnTo>
                <a:lnTo>
                  <a:pt x="156" y="11"/>
                </a:lnTo>
                <a:lnTo>
                  <a:pt x="156" y="17"/>
                </a:lnTo>
                <a:lnTo>
                  <a:pt x="168" y="17"/>
                </a:lnTo>
                <a:lnTo>
                  <a:pt x="168" y="11"/>
                </a:lnTo>
                <a:lnTo>
                  <a:pt x="174" y="11"/>
                </a:lnTo>
                <a:lnTo>
                  <a:pt x="179" y="11"/>
                </a:lnTo>
                <a:lnTo>
                  <a:pt x="185" y="17"/>
                </a:lnTo>
                <a:lnTo>
                  <a:pt x="179" y="23"/>
                </a:lnTo>
                <a:lnTo>
                  <a:pt x="191" y="35"/>
                </a:lnTo>
                <a:lnTo>
                  <a:pt x="197" y="29"/>
                </a:lnTo>
                <a:lnTo>
                  <a:pt x="203" y="29"/>
                </a:lnTo>
                <a:lnTo>
                  <a:pt x="209" y="29"/>
                </a:lnTo>
                <a:lnTo>
                  <a:pt x="209" y="35"/>
                </a:lnTo>
                <a:lnTo>
                  <a:pt x="209" y="40"/>
                </a:lnTo>
                <a:lnTo>
                  <a:pt x="203" y="40"/>
                </a:lnTo>
                <a:lnTo>
                  <a:pt x="215" y="52"/>
                </a:lnTo>
                <a:lnTo>
                  <a:pt x="221" y="46"/>
                </a:lnTo>
                <a:lnTo>
                  <a:pt x="227" y="52"/>
                </a:lnTo>
                <a:lnTo>
                  <a:pt x="227" y="58"/>
                </a:lnTo>
                <a:lnTo>
                  <a:pt x="227" y="64"/>
                </a:lnTo>
                <a:lnTo>
                  <a:pt x="221" y="64"/>
                </a:lnTo>
                <a:lnTo>
                  <a:pt x="227" y="75"/>
                </a:lnTo>
                <a:lnTo>
                  <a:pt x="233" y="75"/>
                </a:lnTo>
                <a:lnTo>
                  <a:pt x="239" y="75"/>
                </a:lnTo>
                <a:lnTo>
                  <a:pt x="239" y="81"/>
                </a:lnTo>
                <a:lnTo>
                  <a:pt x="239" y="87"/>
                </a:lnTo>
                <a:lnTo>
                  <a:pt x="233" y="93"/>
                </a:lnTo>
                <a:lnTo>
                  <a:pt x="233" y="104"/>
                </a:lnTo>
                <a:lnTo>
                  <a:pt x="245" y="104"/>
                </a:lnTo>
                <a:lnTo>
                  <a:pt x="245" y="110"/>
                </a:lnTo>
                <a:lnTo>
                  <a:pt x="245" y="116"/>
                </a:lnTo>
                <a:lnTo>
                  <a:pt x="239" y="122"/>
                </a:lnTo>
                <a:lnTo>
                  <a:pt x="233" y="122"/>
                </a:lnTo>
                <a:lnTo>
                  <a:pt x="233" y="133"/>
                </a:lnTo>
                <a:lnTo>
                  <a:pt x="245" y="133"/>
                </a:lnTo>
                <a:lnTo>
                  <a:pt x="245" y="139"/>
                </a:lnTo>
                <a:lnTo>
                  <a:pt x="245" y="145"/>
                </a:lnTo>
                <a:lnTo>
                  <a:pt x="239" y="151"/>
                </a:lnTo>
                <a:lnTo>
                  <a:pt x="233" y="151"/>
                </a:lnTo>
                <a:lnTo>
                  <a:pt x="227" y="162"/>
                </a:lnTo>
                <a:lnTo>
                  <a:pt x="233" y="168"/>
                </a:lnTo>
                <a:lnTo>
                  <a:pt x="233" y="174"/>
                </a:lnTo>
                <a:lnTo>
                  <a:pt x="233" y="180"/>
                </a:lnTo>
                <a:lnTo>
                  <a:pt x="227" y="180"/>
                </a:lnTo>
                <a:lnTo>
                  <a:pt x="227" y="174"/>
                </a:lnTo>
                <a:lnTo>
                  <a:pt x="221" y="174"/>
                </a:lnTo>
                <a:lnTo>
                  <a:pt x="215" y="186"/>
                </a:lnTo>
                <a:lnTo>
                  <a:pt x="215" y="191"/>
                </a:lnTo>
                <a:lnTo>
                  <a:pt x="221" y="191"/>
                </a:lnTo>
                <a:lnTo>
                  <a:pt x="221" y="197"/>
                </a:lnTo>
                <a:lnTo>
                  <a:pt x="215" y="197"/>
                </a:lnTo>
                <a:lnTo>
                  <a:pt x="215" y="203"/>
                </a:lnTo>
                <a:lnTo>
                  <a:pt x="209" y="203"/>
                </a:lnTo>
                <a:lnTo>
                  <a:pt x="203" y="197"/>
                </a:lnTo>
                <a:lnTo>
                  <a:pt x="191" y="209"/>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7" name="Freeform 104"/>
          <p:cNvSpPr>
            <a:spLocks/>
          </p:cNvSpPr>
          <p:nvPr/>
        </p:nvSpPr>
        <p:spPr bwMode="auto">
          <a:xfrm>
            <a:off x="7691438" y="5143500"/>
            <a:ext cx="207962" cy="212725"/>
          </a:xfrm>
          <a:custGeom>
            <a:avLst/>
            <a:gdLst>
              <a:gd name="T0" fmla="*/ 12 w 131"/>
              <a:gd name="T1" fmla="*/ 93 h 134"/>
              <a:gd name="T2" fmla="*/ 6 w 131"/>
              <a:gd name="T3" fmla="*/ 105 h 134"/>
              <a:gd name="T4" fmla="*/ 12 w 131"/>
              <a:gd name="T5" fmla="*/ 111 h 134"/>
              <a:gd name="T6" fmla="*/ 24 w 131"/>
              <a:gd name="T7" fmla="*/ 105 h 134"/>
              <a:gd name="T8" fmla="*/ 30 w 131"/>
              <a:gd name="T9" fmla="*/ 117 h 134"/>
              <a:gd name="T10" fmla="*/ 36 w 131"/>
              <a:gd name="T11" fmla="*/ 122 h 134"/>
              <a:gd name="T12" fmla="*/ 42 w 131"/>
              <a:gd name="T13" fmla="*/ 128 h 134"/>
              <a:gd name="T14" fmla="*/ 60 w 131"/>
              <a:gd name="T15" fmla="*/ 122 h 134"/>
              <a:gd name="T16" fmla="*/ 66 w 131"/>
              <a:gd name="T17" fmla="*/ 128 h 134"/>
              <a:gd name="T18" fmla="*/ 72 w 131"/>
              <a:gd name="T19" fmla="*/ 134 h 134"/>
              <a:gd name="T20" fmla="*/ 78 w 131"/>
              <a:gd name="T21" fmla="*/ 128 h 134"/>
              <a:gd name="T22" fmla="*/ 90 w 131"/>
              <a:gd name="T23" fmla="*/ 117 h 134"/>
              <a:gd name="T24" fmla="*/ 96 w 131"/>
              <a:gd name="T25" fmla="*/ 122 h 134"/>
              <a:gd name="T26" fmla="*/ 102 w 131"/>
              <a:gd name="T27" fmla="*/ 117 h 134"/>
              <a:gd name="T28" fmla="*/ 107 w 131"/>
              <a:gd name="T29" fmla="*/ 99 h 134"/>
              <a:gd name="T30" fmla="*/ 113 w 131"/>
              <a:gd name="T31" fmla="*/ 105 h 134"/>
              <a:gd name="T32" fmla="*/ 119 w 131"/>
              <a:gd name="T33" fmla="*/ 99 h 134"/>
              <a:gd name="T34" fmla="*/ 125 w 131"/>
              <a:gd name="T35" fmla="*/ 93 h 134"/>
              <a:gd name="T36" fmla="*/ 113 w 131"/>
              <a:gd name="T37" fmla="*/ 87 h 134"/>
              <a:gd name="T38" fmla="*/ 125 w 131"/>
              <a:gd name="T39" fmla="*/ 76 h 134"/>
              <a:gd name="T40" fmla="*/ 131 w 131"/>
              <a:gd name="T41" fmla="*/ 70 h 134"/>
              <a:gd name="T42" fmla="*/ 125 w 131"/>
              <a:gd name="T43" fmla="*/ 64 h 134"/>
              <a:gd name="T44" fmla="*/ 119 w 131"/>
              <a:gd name="T45" fmla="*/ 53 h 134"/>
              <a:gd name="T46" fmla="*/ 125 w 131"/>
              <a:gd name="T47" fmla="*/ 47 h 134"/>
              <a:gd name="T48" fmla="*/ 125 w 131"/>
              <a:gd name="T49" fmla="*/ 35 h 134"/>
              <a:gd name="T50" fmla="*/ 113 w 131"/>
              <a:gd name="T51" fmla="*/ 35 h 134"/>
              <a:gd name="T52" fmla="*/ 107 w 131"/>
              <a:gd name="T53" fmla="*/ 29 h 134"/>
              <a:gd name="T54" fmla="*/ 107 w 131"/>
              <a:gd name="T55" fmla="*/ 18 h 134"/>
              <a:gd name="T56" fmla="*/ 102 w 131"/>
              <a:gd name="T57" fmla="*/ 12 h 134"/>
              <a:gd name="T58" fmla="*/ 96 w 131"/>
              <a:gd name="T59" fmla="*/ 18 h 134"/>
              <a:gd name="T60" fmla="*/ 84 w 131"/>
              <a:gd name="T61" fmla="*/ 6 h 134"/>
              <a:gd name="T62" fmla="*/ 78 w 131"/>
              <a:gd name="T63" fmla="*/ 0 h 134"/>
              <a:gd name="T64" fmla="*/ 72 w 131"/>
              <a:gd name="T65" fmla="*/ 6 h 134"/>
              <a:gd name="T66" fmla="*/ 66 w 131"/>
              <a:gd name="T67" fmla="*/ 12 h 134"/>
              <a:gd name="T68" fmla="*/ 54 w 131"/>
              <a:gd name="T69" fmla="*/ 6 h 134"/>
              <a:gd name="T70" fmla="*/ 42 w 131"/>
              <a:gd name="T71" fmla="*/ 6 h 134"/>
              <a:gd name="T72" fmla="*/ 36 w 131"/>
              <a:gd name="T73" fmla="*/ 12 h 134"/>
              <a:gd name="T74" fmla="*/ 30 w 131"/>
              <a:gd name="T75" fmla="*/ 24 h 134"/>
              <a:gd name="T76" fmla="*/ 24 w 131"/>
              <a:gd name="T77" fmla="*/ 18 h 134"/>
              <a:gd name="T78" fmla="*/ 18 w 131"/>
              <a:gd name="T79" fmla="*/ 24 h 134"/>
              <a:gd name="T80" fmla="*/ 12 w 131"/>
              <a:gd name="T81" fmla="*/ 29 h 134"/>
              <a:gd name="T82" fmla="*/ 12 w 131"/>
              <a:gd name="T83" fmla="*/ 41 h 134"/>
              <a:gd name="T84" fmla="*/ 0 w 131"/>
              <a:gd name="T85" fmla="*/ 41 h 134"/>
              <a:gd name="T86" fmla="*/ 0 w 131"/>
              <a:gd name="T87" fmla="*/ 53 h 134"/>
              <a:gd name="T88" fmla="*/ 6 w 131"/>
              <a:gd name="T89" fmla="*/ 70 h 134"/>
              <a:gd name="T90" fmla="*/ 0 w 131"/>
              <a:gd name="T91" fmla="*/ 76 h 134"/>
              <a:gd name="T92" fmla="*/ 12 w 131"/>
              <a:gd name="T93" fmla="*/ 82 h 13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31"/>
              <a:gd name="T142" fmla="*/ 0 h 134"/>
              <a:gd name="T143" fmla="*/ 131 w 131"/>
              <a:gd name="T144" fmla="*/ 134 h 13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31" h="134">
                <a:moveTo>
                  <a:pt x="18" y="93"/>
                </a:moveTo>
                <a:lnTo>
                  <a:pt x="12" y="93"/>
                </a:lnTo>
                <a:lnTo>
                  <a:pt x="12" y="99"/>
                </a:lnTo>
                <a:lnTo>
                  <a:pt x="6" y="105"/>
                </a:lnTo>
                <a:lnTo>
                  <a:pt x="12" y="105"/>
                </a:lnTo>
                <a:lnTo>
                  <a:pt x="12" y="111"/>
                </a:lnTo>
                <a:lnTo>
                  <a:pt x="18" y="111"/>
                </a:lnTo>
                <a:lnTo>
                  <a:pt x="24" y="105"/>
                </a:lnTo>
                <a:lnTo>
                  <a:pt x="36" y="117"/>
                </a:lnTo>
                <a:lnTo>
                  <a:pt x="30" y="117"/>
                </a:lnTo>
                <a:lnTo>
                  <a:pt x="30" y="122"/>
                </a:lnTo>
                <a:lnTo>
                  <a:pt x="36" y="122"/>
                </a:lnTo>
                <a:lnTo>
                  <a:pt x="36" y="128"/>
                </a:lnTo>
                <a:lnTo>
                  <a:pt x="42" y="128"/>
                </a:lnTo>
                <a:lnTo>
                  <a:pt x="48" y="122"/>
                </a:lnTo>
                <a:lnTo>
                  <a:pt x="60" y="122"/>
                </a:lnTo>
                <a:lnTo>
                  <a:pt x="60" y="128"/>
                </a:lnTo>
                <a:lnTo>
                  <a:pt x="66" y="128"/>
                </a:lnTo>
                <a:lnTo>
                  <a:pt x="66" y="134"/>
                </a:lnTo>
                <a:lnTo>
                  <a:pt x="72" y="134"/>
                </a:lnTo>
                <a:lnTo>
                  <a:pt x="72" y="128"/>
                </a:lnTo>
                <a:lnTo>
                  <a:pt x="78" y="128"/>
                </a:lnTo>
                <a:lnTo>
                  <a:pt x="78" y="122"/>
                </a:lnTo>
                <a:lnTo>
                  <a:pt x="90" y="117"/>
                </a:lnTo>
                <a:lnTo>
                  <a:pt x="90" y="122"/>
                </a:lnTo>
                <a:lnTo>
                  <a:pt x="96" y="122"/>
                </a:lnTo>
                <a:lnTo>
                  <a:pt x="102" y="122"/>
                </a:lnTo>
                <a:lnTo>
                  <a:pt x="102" y="117"/>
                </a:lnTo>
                <a:lnTo>
                  <a:pt x="102" y="111"/>
                </a:lnTo>
                <a:lnTo>
                  <a:pt x="107" y="99"/>
                </a:lnTo>
                <a:lnTo>
                  <a:pt x="113" y="99"/>
                </a:lnTo>
                <a:lnTo>
                  <a:pt x="113" y="105"/>
                </a:lnTo>
                <a:lnTo>
                  <a:pt x="119" y="105"/>
                </a:lnTo>
                <a:lnTo>
                  <a:pt x="119" y="99"/>
                </a:lnTo>
                <a:lnTo>
                  <a:pt x="125" y="99"/>
                </a:lnTo>
                <a:lnTo>
                  <a:pt x="125" y="93"/>
                </a:lnTo>
                <a:lnTo>
                  <a:pt x="119" y="93"/>
                </a:lnTo>
                <a:lnTo>
                  <a:pt x="113" y="87"/>
                </a:lnTo>
                <a:lnTo>
                  <a:pt x="119" y="76"/>
                </a:lnTo>
                <a:lnTo>
                  <a:pt x="125" y="76"/>
                </a:lnTo>
                <a:lnTo>
                  <a:pt x="131" y="76"/>
                </a:lnTo>
                <a:lnTo>
                  <a:pt x="131" y="70"/>
                </a:lnTo>
                <a:lnTo>
                  <a:pt x="131" y="64"/>
                </a:lnTo>
                <a:lnTo>
                  <a:pt x="125" y="64"/>
                </a:lnTo>
                <a:lnTo>
                  <a:pt x="119" y="64"/>
                </a:lnTo>
                <a:lnTo>
                  <a:pt x="119" y="53"/>
                </a:lnTo>
                <a:lnTo>
                  <a:pt x="119" y="47"/>
                </a:lnTo>
                <a:lnTo>
                  <a:pt x="125" y="47"/>
                </a:lnTo>
                <a:lnTo>
                  <a:pt x="125" y="41"/>
                </a:lnTo>
                <a:lnTo>
                  <a:pt x="125" y="35"/>
                </a:lnTo>
                <a:lnTo>
                  <a:pt x="119" y="35"/>
                </a:lnTo>
                <a:lnTo>
                  <a:pt x="113" y="35"/>
                </a:lnTo>
                <a:lnTo>
                  <a:pt x="102" y="29"/>
                </a:lnTo>
                <a:lnTo>
                  <a:pt x="107" y="29"/>
                </a:lnTo>
                <a:lnTo>
                  <a:pt x="107" y="24"/>
                </a:lnTo>
                <a:lnTo>
                  <a:pt x="107" y="18"/>
                </a:lnTo>
                <a:lnTo>
                  <a:pt x="107" y="12"/>
                </a:lnTo>
                <a:lnTo>
                  <a:pt x="102" y="12"/>
                </a:lnTo>
                <a:lnTo>
                  <a:pt x="96" y="12"/>
                </a:lnTo>
                <a:lnTo>
                  <a:pt x="96" y="18"/>
                </a:lnTo>
                <a:lnTo>
                  <a:pt x="84" y="12"/>
                </a:lnTo>
                <a:lnTo>
                  <a:pt x="84" y="6"/>
                </a:lnTo>
                <a:lnTo>
                  <a:pt x="78" y="6"/>
                </a:lnTo>
                <a:lnTo>
                  <a:pt x="78" y="0"/>
                </a:lnTo>
                <a:lnTo>
                  <a:pt x="72" y="0"/>
                </a:lnTo>
                <a:lnTo>
                  <a:pt x="72" y="6"/>
                </a:lnTo>
                <a:lnTo>
                  <a:pt x="66" y="6"/>
                </a:lnTo>
                <a:lnTo>
                  <a:pt x="66" y="12"/>
                </a:lnTo>
                <a:lnTo>
                  <a:pt x="54" y="12"/>
                </a:lnTo>
                <a:lnTo>
                  <a:pt x="54" y="6"/>
                </a:lnTo>
                <a:lnTo>
                  <a:pt x="48" y="6"/>
                </a:lnTo>
                <a:lnTo>
                  <a:pt x="42" y="6"/>
                </a:lnTo>
                <a:lnTo>
                  <a:pt x="36" y="6"/>
                </a:lnTo>
                <a:lnTo>
                  <a:pt x="36" y="12"/>
                </a:lnTo>
                <a:lnTo>
                  <a:pt x="42" y="18"/>
                </a:lnTo>
                <a:lnTo>
                  <a:pt x="30" y="24"/>
                </a:lnTo>
                <a:lnTo>
                  <a:pt x="24" y="24"/>
                </a:lnTo>
                <a:lnTo>
                  <a:pt x="24" y="18"/>
                </a:lnTo>
                <a:lnTo>
                  <a:pt x="18" y="18"/>
                </a:lnTo>
                <a:lnTo>
                  <a:pt x="18" y="24"/>
                </a:lnTo>
                <a:lnTo>
                  <a:pt x="12" y="24"/>
                </a:lnTo>
                <a:lnTo>
                  <a:pt x="12" y="29"/>
                </a:lnTo>
                <a:lnTo>
                  <a:pt x="18" y="35"/>
                </a:lnTo>
                <a:lnTo>
                  <a:pt x="12" y="41"/>
                </a:lnTo>
                <a:lnTo>
                  <a:pt x="6" y="41"/>
                </a:lnTo>
                <a:lnTo>
                  <a:pt x="0" y="41"/>
                </a:lnTo>
                <a:lnTo>
                  <a:pt x="0" y="47"/>
                </a:lnTo>
                <a:lnTo>
                  <a:pt x="0" y="53"/>
                </a:lnTo>
                <a:lnTo>
                  <a:pt x="6" y="58"/>
                </a:lnTo>
                <a:lnTo>
                  <a:pt x="6" y="70"/>
                </a:lnTo>
                <a:lnTo>
                  <a:pt x="0" y="70"/>
                </a:lnTo>
                <a:lnTo>
                  <a:pt x="0" y="76"/>
                </a:lnTo>
                <a:lnTo>
                  <a:pt x="0" y="82"/>
                </a:lnTo>
                <a:lnTo>
                  <a:pt x="12" y="82"/>
                </a:lnTo>
                <a:lnTo>
                  <a:pt x="18" y="93"/>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08" name="Freeform 105"/>
          <p:cNvSpPr>
            <a:spLocks/>
          </p:cNvSpPr>
          <p:nvPr/>
        </p:nvSpPr>
        <p:spPr bwMode="auto">
          <a:xfrm>
            <a:off x="7691438" y="5143500"/>
            <a:ext cx="207962" cy="212725"/>
          </a:xfrm>
          <a:custGeom>
            <a:avLst/>
            <a:gdLst>
              <a:gd name="T0" fmla="*/ 12 w 131"/>
              <a:gd name="T1" fmla="*/ 93 h 134"/>
              <a:gd name="T2" fmla="*/ 6 w 131"/>
              <a:gd name="T3" fmla="*/ 105 h 134"/>
              <a:gd name="T4" fmla="*/ 12 w 131"/>
              <a:gd name="T5" fmla="*/ 111 h 134"/>
              <a:gd name="T6" fmla="*/ 24 w 131"/>
              <a:gd name="T7" fmla="*/ 105 h 134"/>
              <a:gd name="T8" fmla="*/ 30 w 131"/>
              <a:gd name="T9" fmla="*/ 117 h 134"/>
              <a:gd name="T10" fmla="*/ 36 w 131"/>
              <a:gd name="T11" fmla="*/ 122 h 134"/>
              <a:gd name="T12" fmla="*/ 42 w 131"/>
              <a:gd name="T13" fmla="*/ 128 h 134"/>
              <a:gd name="T14" fmla="*/ 60 w 131"/>
              <a:gd name="T15" fmla="*/ 122 h 134"/>
              <a:gd name="T16" fmla="*/ 66 w 131"/>
              <a:gd name="T17" fmla="*/ 128 h 134"/>
              <a:gd name="T18" fmla="*/ 72 w 131"/>
              <a:gd name="T19" fmla="*/ 134 h 134"/>
              <a:gd name="T20" fmla="*/ 78 w 131"/>
              <a:gd name="T21" fmla="*/ 128 h 134"/>
              <a:gd name="T22" fmla="*/ 90 w 131"/>
              <a:gd name="T23" fmla="*/ 117 h 134"/>
              <a:gd name="T24" fmla="*/ 96 w 131"/>
              <a:gd name="T25" fmla="*/ 122 h 134"/>
              <a:gd name="T26" fmla="*/ 102 w 131"/>
              <a:gd name="T27" fmla="*/ 117 h 134"/>
              <a:gd name="T28" fmla="*/ 107 w 131"/>
              <a:gd name="T29" fmla="*/ 99 h 134"/>
              <a:gd name="T30" fmla="*/ 113 w 131"/>
              <a:gd name="T31" fmla="*/ 105 h 134"/>
              <a:gd name="T32" fmla="*/ 119 w 131"/>
              <a:gd name="T33" fmla="*/ 99 h 134"/>
              <a:gd name="T34" fmla="*/ 125 w 131"/>
              <a:gd name="T35" fmla="*/ 93 h 134"/>
              <a:gd name="T36" fmla="*/ 113 w 131"/>
              <a:gd name="T37" fmla="*/ 87 h 134"/>
              <a:gd name="T38" fmla="*/ 125 w 131"/>
              <a:gd name="T39" fmla="*/ 76 h 134"/>
              <a:gd name="T40" fmla="*/ 131 w 131"/>
              <a:gd name="T41" fmla="*/ 70 h 134"/>
              <a:gd name="T42" fmla="*/ 125 w 131"/>
              <a:gd name="T43" fmla="*/ 64 h 134"/>
              <a:gd name="T44" fmla="*/ 119 w 131"/>
              <a:gd name="T45" fmla="*/ 53 h 134"/>
              <a:gd name="T46" fmla="*/ 125 w 131"/>
              <a:gd name="T47" fmla="*/ 47 h 134"/>
              <a:gd name="T48" fmla="*/ 125 w 131"/>
              <a:gd name="T49" fmla="*/ 35 h 134"/>
              <a:gd name="T50" fmla="*/ 113 w 131"/>
              <a:gd name="T51" fmla="*/ 35 h 134"/>
              <a:gd name="T52" fmla="*/ 107 w 131"/>
              <a:gd name="T53" fmla="*/ 29 h 134"/>
              <a:gd name="T54" fmla="*/ 107 w 131"/>
              <a:gd name="T55" fmla="*/ 18 h 134"/>
              <a:gd name="T56" fmla="*/ 96 w 131"/>
              <a:gd name="T57" fmla="*/ 12 h 134"/>
              <a:gd name="T58" fmla="*/ 84 w 131"/>
              <a:gd name="T59" fmla="*/ 12 h 134"/>
              <a:gd name="T60" fmla="*/ 78 w 131"/>
              <a:gd name="T61" fmla="*/ 6 h 134"/>
              <a:gd name="T62" fmla="*/ 72 w 131"/>
              <a:gd name="T63" fmla="*/ 0 h 134"/>
              <a:gd name="T64" fmla="*/ 66 w 131"/>
              <a:gd name="T65" fmla="*/ 12 h 134"/>
              <a:gd name="T66" fmla="*/ 54 w 131"/>
              <a:gd name="T67" fmla="*/ 6 h 134"/>
              <a:gd name="T68" fmla="*/ 42 w 131"/>
              <a:gd name="T69" fmla="*/ 6 h 134"/>
              <a:gd name="T70" fmla="*/ 36 w 131"/>
              <a:gd name="T71" fmla="*/ 12 h 134"/>
              <a:gd name="T72" fmla="*/ 30 w 131"/>
              <a:gd name="T73" fmla="*/ 24 h 134"/>
              <a:gd name="T74" fmla="*/ 24 w 131"/>
              <a:gd name="T75" fmla="*/ 18 h 134"/>
              <a:gd name="T76" fmla="*/ 12 w 131"/>
              <a:gd name="T77" fmla="*/ 24 h 134"/>
              <a:gd name="T78" fmla="*/ 18 w 131"/>
              <a:gd name="T79" fmla="*/ 35 h 134"/>
              <a:gd name="T80" fmla="*/ 6 w 131"/>
              <a:gd name="T81" fmla="*/ 41 h 134"/>
              <a:gd name="T82" fmla="*/ 0 w 131"/>
              <a:gd name="T83" fmla="*/ 47 h 134"/>
              <a:gd name="T84" fmla="*/ 6 w 131"/>
              <a:gd name="T85" fmla="*/ 58 h 134"/>
              <a:gd name="T86" fmla="*/ 0 w 131"/>
              <a:gd name="T87" fmla="*/ 70 h 134"/>
              <a:gd name="T88" fmla="*/ 0 w 131"/>
              <a:gd name="T89" fmla="*/ 82 h 134"/>
              <a:gd name="T90" fmla="*/ 18 w 131"/>
              <a:gd name="T91" fmla="*/ 93 h 1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1"/>
              <a:gd name="T139" fmla="*/ 0 h 134"/>
              <a:gd name="T140" fmla="*/ 131 w 131"/>
              <a:gd name="T141" fmla="*/ 134 h 1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1" h="134">
                <a:moveTo>
                  <a:pt x="18" y="93"/>
                </a:moveTo>
                <a:lnTo>
                  <a:pt x="12" y="93"/>
                </a:lnTo>
                <a:lnTo>
                  <a:pt x="12" y="99"/>
                </a:lnTo>
                <a:lnTo>
                  <a:pt x="6" y="105"/>
                </a:lnTo>
                <a:lnTo>
                  <a:pt x="12" y="105"/>
                </a:lnTo>
                <a:lnTo>
                  <a:pt x="12" y="111"/>
                </a:lnTo>
                <a:lnTo>
                  <a:pt x="18" y="111"/>
                </a:lnTo>
                <a:lnTo>
                  <a:pt x="24" y="105"/>
                </a:lnTo>
                <a:lnTo>
                  <a:pt x="36" y="117"/>
                </a:lnTo>
                <a:lnTo>
                  <a:pt x="30" y="117"/>
                </a:lnTo>
                <a:lnTo>
                  <a:pt x="30" y="122"/>
                </a:lnTo>
                <a:lnTo>
                  <a:pt x="36" y="122"/>
                </a:lnTo>
                <a:lnTo>
                  <a:pt x="36" y="128"/>
                </a:lnTo>
                <a:lnTo>
                  <a:pt x="42" y="128"/>
                </a:lnTo>
                <a:lnTo>
                  <a:pt x="48" y="122"/>
                </a:lnTo>
                <a:lnTo>
                  <a:pt x="60" y="122"/>
                </a:lnTo>
                <a:lnTo>
                  <a:pt x="60" y="128"/>
                </a:lnTo>
                <a:lnTo>
                  <a:pt x="66" y="128"/>
                </a:lnTo>
                <a:lnTo>
                  <a:pt x="66" y="134"/>
                </a:lnTo>
                <a:lnTo>
                  <a:pt x="72" y="134"/>
                </a:lnTo>
                <a:lnTo>
                  <a:pt x="72" y="128"/>
                </a:lnTo>
                <a:lnTo>
                  <a:pt x="78" y="128"/>
                </a:lnTo>
                <a:lnTo>
                  <a:pt x="78" y="122"/>
                </a:lnTo>
                <a:lnTo>
                  <a:pt x="90" y="117"/>
                </a:lnTo>
                <a:lnTo>
                  <a:pt x="90" y="122"/>
                </a:lnTo>
                <a:lnTo>
                  <a:pt x="96" y="122"/>
                </a:lnTo>
                <a:lnTo>
                  <a:pt x="102" y="122"/>
                </a:lnTo>
                <a:lnTo>
                  <a:pt x="102" y="117"/>
                </a:lnTo>
                <a:lnTo>
                  <a:pt x="102" y="111"/>
                </a:lnTo>
                <a:lnTo>
                  <a:pt x="107" y="99"/>
                </a:lnTo>
                <a:lnTo>
                  <a:pt x="113" y="99"/>
                </a:lnTo>
                <a:lnTo>
                  <a:pt x="113" y="105"/>
                </a:lnTo>
                <a:lnTo>
                  <a:pt x="119" y="105"/>
                </a:lnTo>
                <a:lnTo>
                  <a:pt x="119" y="99"/>
                </a:lnTo>
                <a:lnTo>
                  <a:pt x="125" y="99"/>
                </a:lnTo>
                <a:lnTo>
                  <a:pt x="125" y="93"/>
                </a:lnTo>
                <a:lnTo>
                  <a:pt x="119" y="93"/>
                </a:lnTo>
                <a:lnTo>
                  <a:pt x="113" y="87"/>
                </a:lnTo>
                <a:lnTo>
                  <a:pt x="119" y="76"/>
                </a:lnTo>
                <a:lnTo>
                  <a:pt x="125" y="76"/>
                </a:lnTo>
                <a:lnTo>
                  <a:pt x="131" y="76"/>
                </a:lnTo>
                <a:lnTo>
                  <a:pt x="131" y="70"/>
                </a:lnTo>
                <a:lnTo>
                  <a:pt x="131" y="64"/>
                </a:lnTo>
                <a:lnTo>
                  <a:pt x="125" y="64"/>
                </a:lnTo>
                <a:lnTo>
                  <a:pt x="119" y="64"/>
                </a:lnTo>
                <a:lnTo>
                  <a:pt x="119" y="53"/>
                </a:lnTo>
                <a:lnTo>
                  <a:pt x="119" y="47"/>
                </a:lnTo>
                <a:lnTo>
                  <a:pt x="125" y="47"/>
                </a:lnTo>
                <a:lnTo>
                  <a:pt x="125" y="41"/>
                </a:lnTo>
                <a:lnTo>
                  <a:pt x="125" y="35"/>
                </a:lnTo>
                <a:lnTo>
                  <a:pt x="119" y="35"/>
                </a:lnTo>
                <a:lnTo>
                  <a:pt x="113" y="35"/>
                </a:lnTo>
                <a:lnTo>
                  <a:pt x="102" y="29"/>
                </a:lnTo>
                <a:lnTo>
                  <a:pt x="107" y="29"/>
                </a:lnTo>
                <a:lnTo>
                  <a:pt x="107" y="24"/>
                </a:lnTo>
                <a:lnTo>
                  <a:pt x="107" y="18"/>
                </a:lnTo>
                <a:lnTo>
                  <a:pt x="102" y="12"/>
                </a:lnTo>
                <a:lnTo>
                  <a:pt x="96" y="12"/>
                </a:lnTo>
                <a:lnTo>
                  <a:pt x="96" y="18"/>
                </a:lnTo>
                <a:lnTo>
                  <a:pt x="84" y="12"/>
                </a:lnTo>
                <a:lnTo>
                  <a:pt x="84" y="6"/>
                </a:lnTo>
                <a:lnTo>
                  <a:pt x="78" y="6"/>
                </a:lnTo>
                <a:lnTo>
                  <a:pt x="78" y="0"/>
                </a:lnTo>
                <a:lnTo>
                  <a:pt x="72" y="0"/>
                </a:lnTo>
                <a:lnTo>
                  <a:pt x="66" y="6"/>
                </a:lnTo>
                <a:lnTo>
                  <a:pt x="66" y="12"/>
                </a:lnTo>
                <a:lnTo>
                  <a:pt x="54" y="12"/>
                </a:lnTo>
                <a:lnTo>
                  <a:pt x="54" y="6"/>
                </a:lnTo>
                <a:lnTo>
                  <a:pt x="48" y="6"/>
                </a:lnTo>
                <a:lnTo>
                  <a:pt x="42" y="6"/>
                </a:lnTo>
                <a:lnTo>
                  <a:pt x="36" y="6"/>
                </a:lnTo>
                <a:lnTo>
                  <a:pt x="36" y="12"/>
                </a:lnTo>
                <a:lnTo>
                  <a:pt x="42" y="18"/>
                </a:lnTo>
                <a:lnTo>
                  <a:pt x="30" y="24"/>
                </a:lnTo>
                <a:lnTo>
                  <a:pt x="24" y="24"/>
                </a:lnTo>
                <a:lnTo>
                  <a:pt x="24" y="18"/>
                </a:lnTo>
                <a:lnTo>
                  <a:pt x="18" y="18"/>
                </a:lnTo>
                <a:lnTo>
                  <a:pt x="12" y="24"/>
                </a:lnTo>
                <a:lnTo>
                  <a:pt x="12" y="29"/>
                </a:lnTo>
                <a:lnTo>
                  <a:pt x="18" y="35"/>
                </a:lnTo>
                <a:lnTo>
                  <a:pt x="12" y="41"/>
                </a:lnTo>
                <a:lnTo>
                  <a:pt x="6" y="41"/>
                </a:lnTo>
                <a:lnTo>
                  <a:pt x="0" y="41"/>
                </a:lnTo>
                <a:lnTo>
                  <a:pt x="0" y="47"/>
                </a:lnTo>
                <a:lnTo>
                  <a:pt x="0" y="53"/>
                </a:lnTo>
                <a:lnTo>
                  <a:pt x="6" y="58"/>
                </a:lnTo>
                <a:lnTo>
                  <a:pt x="6" y="70"/>
                </a:lnTo>
                <a:lnTo>
                  <a:pt x="0" y="70"/>
                </a:lnTo>
                <a:lnTo>
                  <a:pt x="0" y="76"/>
                </a:lnTo>
                <a:lnTo>
                  <a:pt x="0" y="82"/>
                </a:lnTo>
                <a:lnTo>
                  <a:pt x="12" y="82"/>
                </a:lnTo>
                <a:lnTo>
                  <a:pt x="18" y="93"/>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9" name="Freeform 106"/>
          <p:cNvSpPr>
            <a:spLocks/>
          </p:cNvSpPr>
          <p:nvPr/>
        </p:nvSpPr>
        <p:spPr bwMode="auto">
          <a:xfrm>
            <a:off x="7700963" y="5337175"/>
            <a:ext cx="227012" cy="222250"/>
          </a:xfrm>
          <a:custGeom>
            <a:avLst/>
            <a:gdLst>
              <a:gd name="T0" fmla="*/ 24 w 143"/>
              <a:gd name="T1" fmla="*/ 105 h 140"/>
              <a:gd name="T2" fmla="*/ 18 w 143"/>
              <a:gd name="T3" fmla="*/ 111 h 140"/>
              <a:gd name="T4" fmla="*/ 24 w 143"/>
              <a:gd name="T5" fmla="*/ 117 h 140"/>
              <a:gd name="T6" fmla="*/ 42 w 143"/>
              <a:gd name="T7" fmla="*/ 122 h 140"/>
              <a:gd name="T8" fmla="*/ 42 w 143"/>
              <a:gd name="T9" fmla="*/ 134 h 140"/>
              <a:gd name="T10" fmla="*/ 54 w 143"/>
              <a:gd name="T11" fmla="*/ 134 h 140"/>
              <a:gd name="T12" fmla="*/ 72 w 143"/>
              <a:gd name="T13" fmla="*/ 128 h 140"/>
              <a:gd name="T14" fmla="*/ 78 w 143"/>
              <a:gd name="T15" fmla="*/ 134 h 140"/>
              <a:gd name="T16" fmla="*/ 78 w 143"/>
              <a:gd name="T17" fmla="*/ 134 h 140"/>
              <a:gd name="T18" fmla="*/ 90 w 143"/>
              <a:gd name="T19" fmla="*/ 134 h 140"/>
              <a:gd name="T20" fmla="*/ 101 w 143"/>
              <a:gd name="T21" fmla="*/ 122 h 140"/>
              <a:gd name="T22" fmla="*/ 107 w 143"/>
              <a:gd name="T23" fmla="*/ 128 h 140"/>
              <a:gd name="T24" fmla="*/ 113 w 143"/>
              <a:gd name="T25" fmla="*/ 122 h 140"/>
              <a:gd name="T26" fmla="*/ 119 w 143"/>
              <a:gd name="T27" fmla="*/ 117 h 140"/>
              <a:gd name="T28" fmla="*/ 113 w 143"/>
              <a:gd name="T29" fmla="*/ 111 h 140"/>
              <a:gd name="T30" fmla="*/ 125 w 143"/>
              <a:gd name="T31" fmla="*/ 99 h 140"/>
              <a:gd name="T32" fmla="*/ 131 w 143"/>
              <a:gd name="T33" fmla="*/ 105 h 140"/>
              <a:gd name="T34" fmla="*/ 137 w 143"/>
              <a:gd name="T35" fmla="*/ 99 h 140"/>
              <a:gd name="T36" fmla="*/ 131 w 143"/>
              <a:gd name="T37" fmla="*/ 93 h 140"/>
              <a:gd name="T38" fmla="*/ 131 w 143"/>
              <a:gd name="T39" fmla="*/ 76 h 140"/>
              <a:gd name="T40" fmla="*/ 143 w 143"/>
              <a:gd name="T41" fmla="*/ 76 h 140"/>
              <a:gd name="T42" fmla="*/ 143 w 143"/>
              <a:gd name="T43" fmla="*/ 64 h 140"/>
              <a:gd name="T44" fmla="*/ 137 w 143"/>
              <a:gd name="T45" fmla="*/ 58 h 140"/>
              <a:gd name="T46" fmla="*/ 125 w 143"/>
              <a:gd name="T47" fmla="*/ 47 h 140"/>
              <a:gd name="T48" fmla="*/ 131 w 143"/>
              <a:gd name="T49" fmla="*/ 41 h 140"/>
              <a:gd name="T50" fmla="*/ 137 w 143"/>
              <a:gd name="T51" fmla="*/ 35 h 140"/>
              <a:gd name="T52" fmla="*/ 131 w 143"/>
              <a:gd name="T53" fmla="*/ 29 h 140"/>
              <a:gd name="T54" fmla="*/ 119 w 143"/>
              <a:gd name="T55" fmla="*/ 35 h 140"/>
              <a:gd name="T56" fmla="*/ 113 w 143"/>
              <a:gd name="T57" fmla="*/ 18 h 140"/>
              <a:gd name="T58" fmla="*/ 107 w 143"/>
              <a:gd name="T59" fmla="*/ 12 h 140"/>
              <a:gd name="T60" fmla="*/ 96 w 143"/>
              <a:gd name="T61" fmla="*/ 18 h 140"/>
              <a:gd name="T62" fmla="*/ 84 w 143"/>
              <a:gd name="T63" fmla="*/ 6 h 140"/>
              <a:gd name="T64" fmla="*/ 78 w 143"/>
              <a:gd name="T65" fmla="*/ 0 h 140"/>
              <a:gd name="T66" fmla="*/ 72 w 143"/>
              <a:gd name="T67" fmla="*/ 12 h 140"/>
              <a:gd name="T68" fmla="*/ 54 w 143"/>
              <a:gd name="T69" fmla="*/ 12 h 140"/>
              <a:gd name="T70" fmla="*/ 48 w 143"/>
              <a:gd name="T71" fmla="*/ 6 h 140"/>
              <a:gd name="T72" fmla="*/ 42 w 143"/>
              <a:gd name="T73" fmla="*/ 12 h 140"/>
              <a:gd name="T74" fmla="*/ 30 w 143"/>
              <a:gd name="T75" fmla="*/ 24 h 140"/>
              <a:gd name="T76" fmla="*/ 24 w 143"/>
              <a:gd name="T77" fmla="*/ 18 h 140"/>
              <a:gd name="T78" fmla="*/ 18 w 143"/>
              <a:gd name="T79" fmla="*/ 29 h 140"/>
              <a:gd name="T80" fmla="*/ 18 w 143"/>
              <a:gd name="T81" fmla="*/ 29 h 140"/>
              <a:gd name="T82" fmla="*/ 18 w 143"/>
              <a:gd name="T83" fmla="*/ 47 h 140"/>
              <a:gd name="T84" fmla="*/ 6 w 143"/>
              <a:gd name="T85" fmla="*/ 47 h 140"/>
              <a:gd name="T86" fmla="*/ 0 w 143"/>
              <a:gd name="T87" fmla="*/ 53 h 140"/>
              <a:gd name="T88" fmla="*/ 6 w 143"/>
              <a:gd name="T89" fmla="*/ 58 h 140"/>
              <a:gd name="T90" fmla="*/ 12 w 143"/>
              <a:gd name="T91" fmla="*/ 76 h 140"/>
              <a:gd name="T92" fmla="*/ 6 w 143"/>
              <a:gd name="T93" fmla="*/ 82 h 140"/>
              <a:gd name="T94" fmla="*/ 0 w 143"/>
              <a:gd name="T95" fmla="*/ 87 h 140"/>
              <a:gd name="T96" fmla="*/ 6 w 143"/>
              <a:gd name="T97" fmla="*/ 93 h 140"/>
              <a:gd name="T98" fmla="*/ 24 w 143"/>
              <a:gd name="T99" fmla="*/ 99 h 14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43"/>
              <a:gd name="T151" fmla="*/ 0 h 140"/>
              <a:gd name="T152" fmla="*/ 143 w 143"/>
              <a:gd name="T153" fmla="*/ 140 h 14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43" h="140">
                <a:moveTo>
                  <a:pt x="24" y="99"/>
                </a:moveTo>
                <a:lnTo>
                  <a:pt x="24" y="105"/>
                </a:lnTo>
                <a:lnTo>
                  <a:pt x="18" y="105"/>
                </a:lnTo>
                <a:lnTo>
                  <a:pt x="18" y="111"/>
                </a:lnTo>
                <a:lnTo>
                  <a:pt x="18" y="117"/>
                </a:lnTo>
                <a:lnTo>
                  <a:pt x="24" y="117"/>
                </a:lnTo>
                <a:lnTo>
                  <a:pt x="30" y="111"/>
                </a:lnTo>
                <a:lnTo>
                  <a:pt x="42" y="122"/>
                </a:lnTo>
                <a:lnTo>
                  <a:pt x="42" y="128"/>
                </a:lnTo>
                <a:lnTo>
                  <a:pt x="42" y="134"/>
                </a:lnTo>
                <a:lnTo>
                  <a:pt x="48" y="134"/>
                </a:lnTo>
                <a:lnTo>
                  <a:pt x="54" y="134"/>
                </a:lnTo>
                <a:lnTo>
                  <a:pt x="60" y="128"/>
                </a:lnTo>
                <a:lnTo>
                  <a:pt x="72" y="128"/>
                </a:lnTo>
                <a:lnTo>
                  <a:pt x="72" y="134"/>
                </a:lnTo>
                <a:lnTo>
                  <a:pt x="78" y="134"/>
                </a:lnTo>
                <a:lnTo>
                  <a:pt x="78" y="140"/>
                </a:lnTo>
                <a:lnTo>
                  <a:pt x="78" y="134"/>
                </a:lnTo>
                <a:lnTo>
                  <a:pt x="84" y="134"/>
                </a:lnTo>
                <a:lnTo>
                  <a:pt x="90" y="134"/>
                </a:lnTo>
                <a:lnTo>
                  <a:pt x="90" y="122"/>
                </a:lnTo>
                <a:lnTo>
                  <a:pt x="101" y="122"/>
                </a:lnTo>
                <a:lnTo>
                  <a:pt x="107" y="122"/>
                </a:lnTo>
                <a:lnTo>
                  <a:pt x="107" y="128"/>
                </a:lnTo>
                <a:lnTo>
                  <a:pt x="113" y="128"/>
                </a:lnTo>
                <a:lnTo>
                  <a:pt x="113" y="122"/>
                </a:lnTo>
                <a:lnTo>
                  <a:pt x="119" y="122"/>
                </a:lnTo>
                <a:lnTo>
                  <a:pt x="119" y="117"/>
                </a:lnTo>
                <a:lnTo>
                  <a:pt x="113" y="117"/>
                </a:lnTo>
                <a:lnTo>
                  <a:pt x="113" y="111"/>
                </a:lnTo>
                <a:lnTo>
                  <a:pt x="119" y="99"/>
                </a:lnTo>
                <a:lnTo>
                  <a:pt x="125" y="99"/>
                </a:lnTo>
                <a:lnTo>
                  <a:pt x="125" y="105"/>
                </a:lnTo>
                <a:lnTo>
                  <a:pt x="131" y="105"/>
                </a:lnTo>
                <a:lnTo>
                  <a:pt x="131" y="99"/>
                </a:lnTo>
                <a:lnTo>
                  <a:pt x="137" y="99"/>
                </a:lnTo>
                <a:lnTo>
                  <a:pt x="137" y="93"/>
                </a:lnTo>
                <a:lnTo>
                  <a:pt x="131" y="93"/>
                </a:lnTo>
                <a:lnTo>
                  <a:pt x="125" y="87"/>
                </a:lnTo>
                <a:lnTo>
                  <a:pt x="131" y="76"/>
                </a:lnTo>
                <a:lnTo>
                  <a:pt x="137" y="76"/>
                </a:lnTo>
                <a:lnTo>
                  <a:pt x="143" y="76"/>
                </a:lnTo>
                <a:lnTo>
                  <a:pt x="143" y="70"/>
                </a:lnTo>
                <a:lnTo>
                  <a:pt x="143" y="64"/>
                </a:lnTo>
                <a:lnTo>
                  <a:pt x="137" y="64"/>
                </a:lnTo>
                <a:lnTo>
                  <a:pt x="137" y="58"/>
                </a:lnTo>
                <a:lnTo>
                  <a:pt x="131" y="58"/>
                </a:lnTo>
                <a:lnTo>
                  <a:pt x="125" y="47"/>
                </a:lnTo>
                <a:lnTo>
                  <a:pt x="131" y="47"/>
                </a:lnTo>
                <a:lnTo>
                  <a:pt x="131" y="41"/>
                </a:lnTo>
                <a:lnTo>
                  <a:pt x="137" y="41"/>
                </a:lnTo>
                <a:lnTo>
                  <a:pt x="137" y="35"/>
                </a:lnTo>
                <a:lnTo>
                  <a:pt x="131" y="35"/>
                </a:lnTo>
                <a:lnTo>
                  <a:pt x="131" y="29"/>
                </a:lnTo>
                <a:lnTo>
                  <a:pt x="125" y="29"/>
                </a:lnTo>
                <a:lnTo>
                  <a:pt x="119" y="35"/>
                </a:lnTo>
                <a:lnTo>
                  <a:pt x="113" y="24"/>
                </a:lnTo>
                <a:lnTo>
                  <a:pt x="113" y="18"/>
                </a:lnTo>
                <a:lnTo>
                  <a:pt x="113" y="12"/>
                </a:lnTo>
                <a:lnTo>
                  <a:pt x="107" y="12"/>
                </a:lnTo>
                <a:lnTo>
                  <a:pt x="101" y="12"/>
                </a:lnTo>
                <a:lnTo>
                  <a:pt x="96" y="18"/>
                </a:lnTo>
                <a:lnTo>
                  <a:pt x="84" y="12"/>
                </a:lnTo>
                <a:lnTo>
                  <a:pt x="84" y="6"/>
                </a:lnTo>
                <a:lnTo>
                  <a:pt x="84" y="0"/>
                </a:lnTo>
                <a:lnTo>
                  <a:pt x="78" y="0"/>
                </a:lnTo>
                <a:lnTo>
                  <a:pt x="72" y="0"/>
                </a:lnTo>
                <a:lnTo>
                  <a:pt x="72" y="12"/>
                </a:lnTo>
                <a:lnTo>
                  <a:pt x="60" y="12"/>
                </a:lnTo>
                <a:lnTo>
                  <a:pt x="54" y="12"/>
                </a:lnTo>
                <a:lnTo>
                  <a:pt x="54" y="6"/>
                </a:lnTo>
                <a:lnTo>
                  <a:pt x="48" y="6"/>
                </a:lnTo>
                <a:lnTo>
                  <a:pt x="42" y="6"/>
                </a:lnTo>
                <a:lnTo>
                  <a:pt x="42" y="12"/>
                </a:lnTo>
                <a:lnTo>
                  <a:pt x="42" y="18"/>
                </a:lnTo>
                <a:lnTo>
                  <a:pt x="30" y="24"/>
                </a:lnTo>
                <a:lnTo>
                  <a:pt x="24" y="24"/>
                </a:lnTo>
                <a:lnTo>
                  <a:pt x="24" y="18"/>
                </a:lnTo>
                <a:lnTo>
                  <a:pt x="18" y="24"/>
                </a:lnTo>
                <a:lnTo>
                  <a:pt x="18" y="29"/>
                </a:lnTo>
                <a:lnTo>
                  <a:pt x="12" y="29"/>
                </a:lnTo>
                <a:lnTo>
                  <a:pt x="18" y="29"/>
                </a:lnTo>
                <a:lnTo>
                  <a:pt x="24" y="35"/>
                </a:lnTo>
                <a:lnTo>
                  <a:pt x="18" y="47"/>
                </a:lnTo>
                <a:lnTo>
                  <a:pt x="12" y="47"/>
                </a:lnTo>
                <a:lnTo>
                  <a:pt x="6" y="47"/>
                </a:lnTo>
                <a:lnTo>
                  <a:pt x="6" y="53"/>
                </a:lnTo>
                <a:lnTo>
                  <a:pt x="0" y="53"/>
                </a:lnTo>
                <a:lnTo>
                  <a:pt x="0" y="58"/>
                </a:lnTo>
                <a:lnTo>
                  <a:pt x="6" y="58"/>
                </a:lnTo>
                <a:lnTo>
                  <a:pt x="12" y="64"/>
                </a:lnTo>
                <a:lnTo>
                  <a:pt x="12" y="76"/>
                </a:lnTo>
                <a:lnTo>
                  <a:pt x="6" y="76"/>
                </a:lnTo>
                <a:lnTo>
                  <a:pt x="6" y="82"/>
                </a:lnTo>
                <a:lnTo>
                  <a:pt x="0" y="82"/>
                </a:lnTo>
                <a:lnTo>
                  <a:pt x="0" y="87"/>
                </a:lnTo>
                <a:lnTo>
                  <a:pt x="6" y="87"/>
                </a:lnTo>
                <a:lnTo>
                  <a:pt x="6" y="93"/>
                </a:lnTo>
                <a:lnTo>
                  <a:pt x="18" y="93"/>
                </a:lnTo>
                <a:lnTo>
                  <a:pt x="24" y="99"/>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0" name="Freeform 107"/>
          <p:cNvSpPr>
            <a:spLocks/>
          </p:cNvSpPr>
          <p:nvPr/>
        </p:nvSpPr>
        <p:spPr bwMode="auto">
          <a:xfrm>
            <a:off x="7700963" y="5337175"/>
            <a:ext cx="227012" cy="222250"/>
          </a:xfrm>
          <a:custGeom>
            <a:avLst/>
            <a:gdLst>
              <a:gd name="T0" fmla="*/ 24 w 143"/>
              <a:gd name="T1" fmla="*/ 105 h 140"/>
              <a:gd name="T2" fmla="*/ 18 w 143"/>
              <a:gd name="T3" fmla="*/ 111 h 140"/>
              <a:gd name="T4" fmla="*/ 24 w 143"/>
              <a:gd name="T5" fmla="*/ 117 h 140"/>
              <a:gd name="T6" fmla="*/ 42 w 143"/>
              <a:gd name="T7" fmla="*/ 122 h 140"/>
              <a:gd name="T8" fmla="*/ 42 w 143"/>
              <a:gd name="T9" fmla="*/ 134 h 140"/>
              <a:gd name="T10" fmla="*/ 54 w 143"/>
              <a:gd name="T11" fmla="*/ 134 h 140"/>
              <a:gd name="T12" fmla="*/ 72 w 143"/>
              <a:gd name="T13" fmla="*/ 128 h 140"/>
              <a:gd name="T14" fmla="*/ 78 w 143"/>
              <a:gd name="T15" fmla="*/ 134 h 140"/>
              <a:gd name="T16" fmla="*/ 78 w 143"/>
              <a:gd name="T17" fmla="*/ 134 h 140"/>
              <a:gd name="T18" fmla="*/ 90 w 143"/>
              <a:gd name="T19" fmla="*/ 134 h 140"/>
              <a:gd name="T20" fmla="*/ 101 w 143"/>
              <a:gd name="T21" fmla="*/ 122 h 140"/>
              <a:gd name="T22" fmla="*/ 113 w 143"/>
              <a:gd name="T23" fmla="*/ 128 h 140"/>
              <a:gd name="T24" fmla="*/ 119 w 143"/>
              <a:gd name="T25" fmla="*/ 122 h 140"/>
              <a:gd name="T26" fmla="*/ 113 w 143"/>
              <a:gd name="T27" fmla="*/ 111 h 140"/>
              <a:gd name="T28" fmla="*/ 125 w 143"/>
              <a:gd name="T29" fmla="*/ 105 h 140"/>
              <a:gd name="T30" fmla="*/ 131 w 143"/>
              <a:gd name="T31" fmla="*/ 99 h 140"/>
              <a:gd name="T32" fmla="*/ 137 w 143"/>
              <a:gd name="T33" fmla="*/ 93 h 140"/>
              <a:gd name="T34" fmla="*/ 125 w 143"/>
              <a:gd name="T35" fmla="*/ 87 h 140"/>
              <a:gd name="T36" fmla="*/ 137 w 143"/>
              <a:gd name="T37" fmla="*/ 76 h 140"/>
              <a:gd name="T38" fmla="*/ 143 w 143"/>
              <a:gd name="T39" fmla="*/ 70 h 140"/>
              <a:gd name="T40" fmla="*/ 137 w 143"/>
              <a:gd name="T41" fmla="*/ 64 h 140"/>
              <a:gd name="T42" fmla="*/ 131 w 143"/>
              <a:gd name="T43" fmla="*/ 58 h 140"/>
              <a:gd name="T44" fmla="*/ 131 w 143"/>
              <a:gd name="T45" fmla="*/ 47 h 140"/>
              <a:gd name="T46" fmla="*/ 137 w 143"/>
              <a:gd name="T47" fmla="*/ 41 h 140"/>
              <a:gd name="T48" fmla="*/ 131 w 143"/>
              <a:gd name="T49" fmla="*/ 35 h 140"/>
              <a:gd name="T50" fmla="*/ 125 w 143"/>
              <a:gd name="T51" fmla="*/ 29 h 140"/>
              <a:gd name="T52" fmla="*/ 113 w 143"/>
              <a:gd name="T53" fmla="*/ 24 h 140"/>
              <a:gd name="T54" fmla="*/ 113 w 143"/>
              <a:gd name="T55" fmla="*/ 12 h 140"/>
              <a:gd name="T56" fmla="*/ 101 w 143"/>
              <a:gd name="T57" fmla="*/ 12 h 140"/>
              <a:gd name="T58" fmla="*/ 84 w 143"/>
              <a:gd name="T59" fmla="*/ 12 h 140"/>
              <a:gd name="T60" fmla="*/ 84 w 143"/>
              <a:gd name="T61" fmla="*/ 0 h 140"/>
              <a:gd name="T62" fmla="*/ 72 w 143"/>
              <a:gd name="T63" fmla="*/ 0 h 140"/>
              <a:gd name="T64" fmla="*/ 60 w 143"/>
              <a:gd name="T65" fmla="*/ 12 h 140"/>
              <a:gd name="T66" fmla="*/ 54 w 143"/>
              <a:gd name="T67" fmla="*/ 6 h 140"/>
              <a:gd name="T68" fmla="*/ 42 w 143"/>
              <a:gd name="T69" fmla="*/ 6 h 140"/>
              <a:gd name="T70" fmla="*/ 42 w 143"/>
              <a:gd name="T71" fmla="*/ 18 h 140"/>
              <a:gd name="T72" fmla="*/ 24 w 143"/>
              <a:gd name="T73" fmla="*/ 24 h 140"/>
              <a:gd name="T74" fmla="*/ 18 w 143"/>
              <a:gd name="T75" fmla="*/ 24 h 140"/>
              <a:gd name="T76" fmla="*/ 24 w 143"/>
              <a:gd name="T77" fmla="*/ 35 h 140"/>
              <a:gd name="T78" fmla="*/ 12 w 143"/>
              <a:gd name="T79" fmla="*/ 47 h 140"/>
              <a:gd name="T80" fmla="*/ 0 w 143"/>
              <a:gd name="T81" fmla="*/ 53 h 140"/>
              <a:gd name="T82" fmla="*/ 6 w 143"/>
              <a:gd name="T83" fmla="*/ 58 h 140"/>
              <a:gd name="T84" fmla="*/ 12 w 143"/>
              <a:gd name="T85" fmla="*/ 76 h 140"/>
              <a:gd name="T86" fmla="*/ 6 w 143"/>
              <a:gd name="T87" fmla="*/ 82 h 140"/>
              <a:gd name="T88" fmla="*/ 0 w 143"/>
              <a:gd name="T89" fmla="*/ 87 h 140"/>
              <a:gd name="T90" fmla="*/ 6 w 143"/>
              <a:gd name="T91" fmla="*/ 93 h 140"/>
              <a:gd name="T92" fmla="*/ 24 w 143"/>
              <a:gd name="T93" fmla="*/ 99 h 14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3"/>
              <a:gd name="T142" fmla="*/ 0 h 140"/>
              <a:gd name="T143" fmla="*/ 143 w 143"/>
              <a:gd name="T144" fmla="*/ 140 h 14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3" h="140">
                <a:moveTo>
                  <a:pt x="24" y="99"/>
                </a:moveTo>
                <a:lnTo>
                  <a:pt x="24" y="105"/>
                </a:lnTo>
                <a:lnTo>
                  <a:pt x="18" y="105"/>
                </a:lnTo>
                <a:lnTo>
                  <a:pt x="18" y="111"/>
                </a:lnTo>
                <a:lnTo>
                  <a:pt x="18" y="117"/>
                </a:lnTo>
                <a:lnTo>
                  <a:pt x="24" y="117"/>
                </a:lnTo>
                <a:lnTo>
                  <a:pt x="30" y="111"/>
                </a:lnTo>
                <a:lnTo>
                  <a:pt x="42" y="122"/>
                </a:lnTo>
                <a:lnTo>
                  <a:pt x="42" y="128"/>
                </a:lnTo>
                <a:lnTo>
                  <a:pt x="42" y="134"/>
                </a:lnTo>
                <a:lnTo>
                  <a:pt x="48" y="134"/>
                </a:lnTo>
                <a:lnTo>
                  <a:pt x="54" y="134"/>
                </a:lnTo>
                <a:lnTo>
                  <a:pt x="60" y="128"/>
                </a:lnTo>
                <a:lnTo>
                  <a:pt x="72" y="128"/>
                </a:lnTo>
                <a:lnTo>
                  <a:pt x="72" y="134"/>
                </a:lnTo>
                <a:lnTo>
                  <a:pt x="78" y="134"/>
                </a:lnTo>
                <a:lnTo>
                  <a:pt x="78" y="140"/>
                </a:lnTo>
                <a:lnTo>
                  <a:pt x="78" y="134"/>
                </a:lnTo>
                <a:lnTo>
                  <a:pt x="84" y="134"/>
                </a:lnTo>
                <a:lnTo>
                  <a:pt x="90" y="134"/>
                </a:lnTo>
                <a:lnTo>
                  <a:pt x="90" y="122"/>
                </a:lnTo>
                <a:lnTo>
                  <a:pt x="101" y="122"/>
                </a:lnTo>
                <a:lnTo>
                  <a:pt x="107" y="128"/>
                </a:lnTo>
                <a:lnTo>
                  <a:pt x="113" y="128"/>
                </a:lnTo>
                <a:lnTo>
                  <a:pt x="113" y="122"/>
                </a:lnTo>
                <a:lnTo>
                  <a:pt x="119" y="122"/>
                </a:lnTo>
                <a:lnTo>
                  <a:pt x="113" y="117"/>
                </a:lnTo>
                <a:lnTo>
                  <a:pt x="113" y="111"/>
                </a:lnTo>
                <a:lnTo>
                  <a:pt x="119" y="99"/>
                </a:lnTo>
                <a:lnTo>
                  <a:pt x="125" y="105"/>
                </a:lnTo>
                <a:lnTo>
                  <a:pt x="131" y="105"/>
                </a:lnTo>
                <a:lnTo>
                  <a:pt x="131" y="99"/>
                </a:lnTo>
                <a:lnTo>
                  <a:pt x="137" y="99"/>
                </a:lnTo>
                <a:lnTo>
                  <a:pt x="137" y="93"/>
                </a:lnTo>
                <a:lnTo>
                  <a:pt x="131" y="93"/>
                </a:lnTo>
                <a:lnTo>
                  <a:pt x="125" y="87"/>
                </a:lnTo>
                <a:lnTo>
                  <a:pt x="131" y="76"/>
                </a:lnTo>
                <a:lnTo>
                  <a:pt x="137" y="76"/>
                </a:lnTo>
                <a:lnTo>
                  <a:pt x="143" y="76"/>
                </a:lnTo>
                <a:lnTo>
                  <a:pt x="143" y="70"/>
                </a:lnTo>
                <a:lnTo>
                  <a:pt x="143" y="64"/>
                </a:lnTo>
                <a:lnTo>
                  <a:pt x="137" y="64"/>
                </a:lnTo>
                <a:lnTo>
                  <a:pt x="137" y="58"/>
                </a:lnTo>
                <a:lnTo>
                  <a:pt x="131" y="58"/>
                </a:lnTo>
                <a:lnTo>
                  <a:pt x="125" y="47"/>
                </a:lnTo>
                <a:lnTo>
                  <a:pt x="131" y="47"/>
                </a:lnTo>
                <a:lnTo>
                  <a:pt x="131" y="41"/>
                </a:lnTo>
                <a:lnTo>
                  <a:pt x="137" y="41"/>
                </a:lnTo>
                <a:lnTo>
                  <a:pt x="137" y="35"/>
                </a:lnTo>
                <a:lnTo>
                  <a:pt x="131" y="35"/>
                </a:lnTo>
                <a:lnTo>
                  <a:pt x="131" y="29"/>
                </a:lnTo>
                <a:lnTo>
                  <a:pt x="125" y="29"/>
                </a:lnTo>
                <a:lnTo>
                  <a:pt x="119" y="35"/>
                </a:lnTo>
                <a:lnTo>
                  <a:pt x="113" y="24"/>
                </a:lnTo>
                <a:lnTo>
                  <a:pt x="113" y="18"/>
                </a:lnTo>
                <a:lnTo>
                  <a:pt x="113" y="12"/>
                </a:lnTo>
                <a:lnTo>
                  <a:pt x="107" y="12"/>
                </a:lnTo>
                <a:lnTo>
                  <a:pt x="101" y="12"/>
                </a:lnTo>
                <a:lnTo>
                  <a:pt x="96" y="18"/>
                </a:lnTo>
                <a:lnTo>
                  <a:pt x="84" y="12"/>
                </a:lnTo>
                <a:lnTo>
                  <a:pt x="84" y="6"/>
                </a:lnTo>
                <a:lnTo>
                  <a:pt x="84" y="0"/>
                </a:lnTo>
                <a:lnTo>
                  <a:pt x="78" y="0"/>
                </a:lnTo>
                <a:lnTo>
                  <a:pt x="72" y="0"/>
                </a:lnTo>
                <a:lnTo>
                  <a:pt x="72" y="12"/>
                </a:lnTo>
                <a:lnTo>
                  <a:pt x="60" y="12"/>
                </a:lnTo>
                <a:lnTo>
                  <a:pt x="54" y="12"/>
                </a:lnTo>
                <a:lnTo>
                  <a:pt x="54" y="6"/>
                </a:lnTo>
                <a:lnTo>
                  <a:pt x="48" y="6"/>
                </a:lnTo>
                <a:lnTo>
                  <a:pt x="42" y="6"/>
                </a:lnTo>
                <a:lnTo>
                  <a:pt x="42" y="12"/>
                </a:lnTo>
                <a:lnTo>
                  <a:pt x="42" y="18"/>
                </a:lnTo>
                <a:lnTo>
                  <a:pt x="30" y="24"/>
                </a:lnTo>
                <a:lnTo>
                  <a:pt x="24" y="24"/>
                </a:lnTo>
                <a:lnTo>
                  <a:pt x="24" y="18"/>
                </a:lnTo>
                <a:lnTo>
                  <a:pt x="18" y="24"/>
                </a:lnTo>
                <a:lnTo>
                  <a:pt x="18" y="29"/>
                </a:lnTo>
                <a:lnTo>
                  <a:pt x="24" y="35"/>
                </a:lnTo>
                <a:lnTo>
                  <a:pt x="18" y="47"/>
                </a:lnTo>
                <a:lnTo>
                  <a:pt x="12" y="47"/>
                </a:lnTo>
                <a:lnTo>
                  <a:pt x="6" y="47"/>
                </a:lnTo>
                <a:lnTo>
                  <a:pt x="0" y="53"/>
                </a:lnTo>
                <a:lnTo>
                  <a:pt x="0" y="58"/>
                </a:lnTo>
                <a:lnTo>
                  <a:pt x="6" y="58"/>
                </a:lnTo>
                <a:lnTo>
                  <a:pt x="12" y="64"/>
                </a:lnTo>
                <a:lnTo>
                  <a:pt x="12" y="76"/>
                </a:lnTo>
                <a:lnTo>
                  <a:pt x="6" y="76"/>
                </a:lnTo>
                <a:lnTo>
                  <a:pt x="6" y="82"/>
                </a:lnTo>
                <a:lnTo>
                  <a:pt x="0" y="82"/>
                </a:lnTo>
                <a:lnTo>
                  <a:pt x="0" y="87"/>
                </a:lnTo>
                <a:lnTo>
                  <a:pt x="6" y="87"/>
                </a:lnTo>
                <a:lnTo>
                  <a:pt x="6" y="93"/>
                </a:lnTo>
                <a:lnTo>
                  <a:pt x="18" y="93"/>
                </a:lnTo>
                <a:lnTo>
                  <a:pt x="24" y="99"/>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1" name="Freeform 108"/>
          <p:cNvSpPr>
            <a:spLocks/>
          </p:cNvSpPr>
          <p:nvPr/>
        </p:nvSpPr>
        <p:spPr bwMode="auto">
          <a:xfrm>
            <a:off x="7994650" y="5319713"/>
            <a:ext cx="85725" cy="119062"/>
          </a:xfrm>
          <a:custGeom>
            <a:avLst/>
            <a:gdLst>
              <a:gd name="T0" fmla="*/ 36 w 54"/>
              <a:gd name="T1" fmla="*/ 0 h 75"/>
              <a:gd name="T2" fmla="*/ 42 w 54"/>
              <a:gd name="T3" fmla="*/ 0 h 75"/>
              <a:gd name="T4" fmla="*/ 42 w 54"/>
              <a:gd name="T5" fmla="*/ 6 h 75"/>
              <a:gd name="T6" fmla="*/ 48 w 54"/>
              <a:gd name="T7" fmla="*/ 6 h 75"/>
              <a:gd name="T8" fmla="*/ 48 w 54"/>
              <a:gd name="T9" fmla="*/ 11 h 75"/>
              <a:gd name="T10" fmla="*/ 54 w 54"/>
              <a:gd name="T11" fmla="*/ 11 h 75"/>
              <a:gd name="T12" fmla="*/ 54 w 54"/>
              <a:gd name="T13" fmla="*/ 17 h 75"/>
              <a:gd name="T14" fmla="*/ 54 w 54"/>
              <a:gd name="T15" fmla="*/ 23 h 75"/>
              <a:gd name="T16" fmla="*/ 54 w 54"/>
              <a:gd name="T17" fmla="*/ 29 h 75"/>
              <a:gd name="T18" fmla="*/ 54 w 54"/>
              <a:gd name="T19" fmla="*/ 35 h 75"/>
              <a:gd name="T20" fmla="*/ 54 w 54"/>
              <a:gd name="T21" fmla="*/ 40 h 75"/>
              <a:gd name="T22" fmla="*/ 54 w 54"/>
              <a:gd name="T23" fmla="*/ 46 h 75"/>
              <a:gd name="T24" fmla="*/ 54 w 54"/>
              <a:gd name="T25" fmla="*/ 52 h 75"/>
              <a:gd name="T26" fmla="*/ 48 w 54"/>
              <a:gd name="T27" fmla="*/ 52 h 75"/>
              <a:gd name="T28" fmla="*/ 48 w 54"/>
              <a:gd name="T29" fmla="*/ 58 h 75"/>
              <a:gd name="T30" fmla="*/ 48 w 54"/>
              <a:gd name="T31" fmla="*/ 64 h 75"/>
              <a:gd name="T32" fmla="*/ 42 w 54"/>
              <a:gd name="T33" fmla="*/ 64 h 75"/>
              <a:gd name="T34" fmla="*/ 42 w 54"/>
              <a:gd name="T35" fmla="*/ 69 h 75"/>
              <a:gd name="T36" fmla="*/ 36 w 54"/>
              <a:gd name="T37" fmla="*/ 69 h 75"/>
              <a:gd name="T38" fmla="*/ 36 w 54"/>
              <a:gd name="T39" fmla="*/ 75 h 75"/>
              <a:gd name="T40" fmla="*/ 30 w 54"/>
              <a:gd name="T41" fmla="*/ 75 h 75"/>
              <a:gd name="T42" fmla="*/ 24 w 54"/>
              <a:gd name="T43" fmla="*/ 75 h 75"/>
              <a:gd name="T44" fmla="*/ 18 w 54"/>
              <a:gd name="T45" fmla="*/ 75 h 75"/>
              <a:gd name="T46" fmla="*/ 12 w 54"/>
              <a:gd name="T47" fmla="*/ 75 h 75"/>
              <a:gd name="T48" fmla="*/ 12 w 54"/>
              <a:gd name="T49" fmla="*/ 69 h 75"/>
              <a:gd name="T50" fmla="*/ 6 w 54"/>
              <a:gd name="T51" fmla="*/ 69 h 75"/>
              <a:gd name="T52" fmla="*/ 6 w 54"/>
              <a:gd name="T53" fmla="*/ 64 h 75"/>
              <a:gd name="T54" fmla="*/ 0 w 54"/>
              <a:gd name="T55" fmla="*/ 64 h 75"/>
              <a:gd name="T56" fmla="*/ 0 w 54"/>
              <a:gd name="T57" fmla="*/ 58 h 75"/>
              <a:gd name="T58" fmla="*/ 0 w 54"/>
              <a:gd name="T59" fmla="*/ 52 h 75"/>
              <a:gd name="T60" fmla="*/ 0 w 54"/>
              <a:gd name="T61" fmla="*/ 46 h 75"/>
              <a:gd name="T62" fmla="*/ 0 w 54"/>
              <a:gd name="T63" fmla="*/ 40 h 75"/>
              <a:gd name="T64" fmla="*/ 0 w 54"/>
              <a:gd name="T65" fmla="*/ 35 h 75"/>
              <a:gd name="T66" fmla="*/ 0 w 54"/>
              <a:gd name="T67" fmla="*/ 29 h 75"/>
              <a:gd name="T68" fmla="*/ 0 w 54"/>
              <a:gd name="T69" fmla="*/ 23 h 75"/>
              <a:gd name="T70" fmla="*/ 6 w 54"/>
              <a:gd name="T71" fmla="*/ 17 h 75"/>
              <a:gd name="T72" fmla="*/ 6 w 54"/>
              <a:gd name="T73" fmla="*/ 11 h 75"/>
              <a:gd name="T74" fmla="*/ 12 w 54"/>
              <a:gd name="T75" fmla="*/ 11 h 75"/>
              <a:gd name="T76" fmla="*/ 12 w 54"/>
              <a:gd name="T77" fmla="*/ 6 h 75"/>
              <a:gd name="T78" fmla="*/ 18 w 54"/>
              <a:gd name="T79" fmla="*/ 6 h 75"/>
              <a:gd name="T80" fmla="*/ 18 w 54"/>
              <a:gd name="T81" fmla="*/ 0 h 75"/>
              <a:gd name="T82" fmla="*/ 24 w 54"/>
              <a:gd name="T83" fmla="*/ 0 h 75"/>
              <a:gd name="T84" fmla="*/ 30 w 54"/>
              <a:gd name="T85" fmla="*/ 0 h 75"/>
              <a:gd name="T86" fmla="*/ 36 w 54"/>
              <a:gd name="T87" fmla="*/ 0 h 7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
              <a:gd name="T133" fmla="*/ 0 h 75"/>
              <a:gd name="T134" fmla="*/ 54 w 54"/>
              <a:gd name="T135" fmla="*/ 75 h 7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 h="75">
                <a:moveTo>
                  <a:pt x="36" y="0"/>
                </a:moveTo>
                <a:lnTo>
                  <a:pt x="42" y="0"/>
                </a:lnTo>
                <a:lnTo>
                  <a:pt x="42" y="6"/>
                </a:lnTo>
                <a:lnTo>
                  <a:pt x="48" y="6"/>
                </a:lnTo>
                <a:lnTo>
                  <a:pt x="48" y="11"/>
                </a:lnTo>
                <a:lnTo>
                  <a:pt x="54" y="11"/>
                </a:lnTo>
                <a:lnTo>
                  <a:pt x="54" y="17"/>
                </a:lnTo>
                <a:lnTo>
                  <a:pt x="54" y="23"/>
                </a:lnTo>
                <a:lnTo>
                  <a:pt x="54" y="29"/>
                </a:lnTo>
                <a:lnTo>
                  <a:pt x="54" y="35"/>
                </a:lnTo>
                <a:lnTo>
                  <a:pt x="54" y="40"/>
                </a:lnTo>
                <a:lnTo>
                  <a:pt x="54" y="46"/>
                </a:lnTo>
                <a:lnTo>
                  <a:pt x="54" y="52"/>
                </a:lnTo>
                <a:lnTo>
                  <a:pt x="48" y="52"/>
                </a:lnTo>
                <a:lnTo>
                  <a:pt x="48" y="58"/>
                </a:lnTo>
                <a:lnTo>
                  <a:pt x="48" y="64"/>
                </a:lnTo>
                <a:lnTo>
                  <a:pt x="42" y="64"/>
                </a:lnTo>
                <a:lnTo>
                  <a:pt x="42" y="69"/>
                </a:lnTo>
                <a:lnTo>
                  <a:pt x="36" y="69"/>
                </a:lnTo>
                <a:lnTo>
                  <a:pt x="36" y="75"/>
                </a:lnTo>
                <a:lnTo>
                  <a:pt x="30" y="75"/>
                </a:lnTo>
                <a:lnTo>
                  <a:pt x="24" y="75"/>
                </a:lnTo>
                <a:lnTo>
                  <a:pt x="18" y="75"/>
                </a:lnTo>
                <a:lnTo>
                  <a:pt x="12" y="75"/>
                </a:lnTo>
                <a:lnTo>
                  <a:pt x="12" y="69"/>
                </a:lnTo>
                <a:lnTo>
                  <a:pt x="6" y="69"/>
                </a:lnTo>
                <a:lnTo>
                  <a:pt x="6" y="64"/>
                </a:lnTo>
                <a:lnTo>
                  <a:pt x="0" y="64"/>
                </a:lnTo>
                <a:lnTo>
                  <a:pt x="0" y="58"/>
                </a:lnTo>
                <a:lnTo>
                  <a:pt x="0" y="52"/>
                </a:lnTo>
                <a:lnTo>
                  <a:pt x="0" y="46"/>
                </a:lnTo>
                <a:lnTo>
                  <a:pt x="0" y="40"/>
                </a:lnTo>
                <a:lnTo>
                  <a:pt x="0" y="35"/>
                </a:lnTo>
                <a:lnTo>
                  <a:pt x="0" y="29"/>
                </a:lnTo>
                <a:lnTo>
                  <a:pt x="0" y="23"/>
                </a:lnTo>
                <a:lnTo>
                  <a:pt x="6" y="17"/>
                </a:lnTo>
                <a:lnTo>
                  <a:pt x="6" y="11"/>
                </a:lnTo>
                <a:lnTo>
                  <a:pt x="12" y="11"/>
                </a:lnTo>
                <a:lnTo>
                  <a:pt x="12" y="6"/>
                </a:lnTo>
                <a:lnTo>
                  <a:pt x="18" y="6"/>
                </a:lnTo>
                <a:lnTo>
                  <a:pt x="18" y="0"/>
                </a:lnTo>
                <a:lnTo>
                  <a:pt x="24" y="0"/>
                </a:lnTo>
                <a:lnTo>
                  <a:pt x="30" y="0"/>
                </a:lnTo>
                <a:lnTo>
                  <a:pt x="36"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2" name="Freeform 109"/>
          <p:cNvSpPr>
            <a:spLocks/>
          </p:cNvSpPr>
          <p:nvPr/>
        </p:nvSpPr>
        <p:spPr bwMode="auto">
          <a:xfrm>
            <a:off x="7994650" y="5319713"/>
            <a:ext cx="85725" cy="119062"/>
          </a:xfrm>
          <a:custGeom>
            <a:avLst/>
            <a:gdLst>
              <a:gd name="T0" fmla="*/ 36 w 54"/>
              <a:gd name="T1" fmla="*/ 0 h 75"/>
              <a:gd name="T2" fmla="*/ 42 w 54"/>
              <a:gd name="T3" fmla="*/ 6 h 75"/>
              <a:gd name="T4" fmla="*/ 54 w 54"/>
              <a:gd name="T5" fmla="*/ 11 h 75"/>
              <a:gd name="T6" fmla="*/ 54 w 54"/>
              <a:gd name="T7" fmla="*/ 29 h 75"/>
              <a:gd name="T8" fmla="*/ 54 w 54"/>
              <a:gd name="T9" fmla="*/ 40 h 75"/>
              <a:gd name="T10" fmla="*/ 48 w 54"/>
              <a:gd name="T11" fmla="*/ 58 h 75"/>
              <a:gd name="T12" fmla="*/ 42 w 54"/>
              <a:gd name="T13" fmla="*/ 69 h 75"/>
              <a:gd name="T14" fmla="*/ 30 w 54"/>
              <a:gd name="T15" fmla="*/ 75 h 75"/>
              <a:gd name="T16" fmla="*/ 18 w 54"/>
              <a:gd name="T17" fmla="*/ 75 h 75"/>
              <a:gd name="T18" fmla="*/ 12 w 54"/>
              <a:gd name="T19" fmla="*/ 69 h 75"/>
              <a:gd name="T20" fmla="*/ 0 w 54"/>
              <a:gd name="T21" fmla="*/ 64 h 75"/>
              <a:gd name="T22" fmla="*/ 0 w 54"/>
              <a:gd name="T23" fmla="*/ 46 h 75"/>
              <a:gd name="T24" fmla="*/ 0 w 54"/>
              <a:gd name="T25" fmla="*/ 35 h 75"/>
              <a:gd name="T26" fmla="*/ 6 w 54"/>
              <a:gd name="T27" fmla="*/ 17 h 75"/>
              <a:gd name="T28" fmla="*/ 12 w 54"/>
              <a:gd name="T29" fmla="*/ 6 h 75"/>
              <a:gd name="T30" fmla="*/ 24 w 54"/>
              <a:gd name="T31" fmla="*/ 0 h 75"/>
              <a:gd name="T32" fmla="*/ 36 w 54"/>
              <a:gd name="T33" fmla="*/ 0 h 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75"/>
              <a:gd name="T53" fmla="*/ 54 w 54"/>
              <a:gd name="T54" fmla="*/ 75 h 7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75">
                <a:moveTo>
                  <a:pt x="36" y="0"/>
                </a:moveTo>
                <a:lnTo>
                  <a:pt x="42" y="6"/>
                </a:lnTo>
                <a:lnTo>
                  <a:pt x="54" y="11"/>
                </a:lnTo>
                <a:lnTo>
                  <a:pt x="54" y="29"/>
                </a:lnTo>
                <a:lnTo>
                  <a:pt x="54" y="40"/>
                </a:lnTo>
                <a:lnTo>
                  <a:pt x="48" y="58"/>
                </a:lnTo>
                <a:lnTo>
                  <a:pt x="42" y="69"/>
                </a:lnTo>
                <a:lnTo>
                  <a:pt x="30" y="75"/>
                </a:lnTo>
                <a:lnTo>
                  <a:pt x="18" y="75"/>
                </a:lnTo>
                <a:lnTo>
                  <a:pt x="12" y="69"/>
                </a:lnTo>
                <a:lnTo>
                  <a:pt x="0" y="64"/>
                </a:lnTo>
                <a:lnTo>
                  <a:pt x="0" y="46"/>
                </a:lnTo>
                <a:lnTo>
                  <a:pt x="0" y="35"/>
                </a:lnTo>
                <a:lnTo>
                  <a:pt x="6" y="17"/>
                </a:lnTo>
                <a:lnTo>
                  <a:pt x="12" y="6"/>
                </a:lnTo>
                <a:lnTo>
                  <a:pt x="24" y="0"/>
                </a:lnTo>
                <a:lnTo>
                  <a:pt x="36"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3" name="Freeform 110"/>
          <p:cNvSpPr>
            <a:spLocks/>
          </p:cNvSpPr>
          <p:nvPr/>
        </p:nvSpPr>
        <p:spPr bwMode="auto">
          <a:xfrm>
            <a:off x="8013700" y="5337175"/>
            <a:ext cx="38100" cy="74613"/>
          </a:xfrm>
          <a:custGeom>
            <a:avLst/>
            <a:gdLst>
              <a:gd name="T0" fmla="*/ 18 w 24"/>
              <a:gd name="T1" fmla="*/ 0 h 47"/>
              <a:gd name="T2" fmla="*/ 18 w 24"/>
              <a:gd name="T3" fmla="*/ 6 h 47"/>
              <a:gd name="T4" fmla="*/ 24 w 24"/>
              <a:gd name="T5" fmla="*/ 6 h 47"/>
              <a:gd name="T6" fmla="*/ 24 w 24"/>
              <a:gd name="T7" fmla="*/ 12 h 47"/>
              <a:gd name="T8" fmla="*/ 24 w 24"/>
              <a:gd name="T9" fmla="*/ 18 h 47"/>
              <a:gd name="T10" fmla="*/ 24 w 24"/>
              <a:gd name="T11" fmla="*/ 24 h 47"/>
              <a:gd name="T12" fmla="*/ 24 w 24"/>
              <a:gd name="T13" fmla="*/ 29 h 47"/>
              <a:gd name="T14" fmla="*/ 24 w 24"/>
              <a:gd name="T15" fmla="*/ 35 h 47"/>
              <a:gd name="T16" fmla="*/ 18 w 24"/>
              <a:gd name="T17" fmla="*/ 35 h 47"/>
              <a:gd name="T18" fmla="*/ 18 w 24"/>
              <a:gd name="T19" fmla="*/ 41 h 47"/>
              <a:gd name="T20" fmla="*/ 12 w 24"/>
              <a:gd name="T21" fmla="*/ 41 h 47"/>
              <a:gd name="T22" fmla="*/ 12 w 24"/>
              <a:gd name="T23" fmla="*/ 47 h 47"/>
              <a:gd name="T24" fmla="*/ 6 w 24"/>
              <a:gd name="T25" fmla="*/ 47 h 47"/>
              <a:gd name="T26" fmla="*/ 6 w 24"/>
              <a:gd name="T27" fmla="*/ 41 h 47"/>
              <a:gd name="T28" fmla="*/ 0 w 24"/>
              <a:gd name="T29" fmla="*/ 41 h 47"/>
              <a:gd name="T30" fmla="*/ 0 w 24"/>
              <a:gd name="T31" fmla="*/ 35 h 47"/>
              <a:gd name="T32" fmla="*/ 0 w 24"/>
              <a:gd name="T33" fmla="*/ 29 h 47"/>
              <a:gd name="T34" fmla="*/ 0 w 24"/>
              <a:gd name="T35" fmla="*/ 24 h 47"/>
              <a:gd name="T36" fmla="*/ 0 w 24"/>
              <a:gd name="T37" fmla="*/ 18 h 47"/>
              <a:gd name="T38" fmla="*/ 6 w 24"/>
              <a:gd name="T39" fmla="*/ 18 h 47"/>
              <a:gd name="T40" fmla="*/ 6 w 24"/>
              <a:gd name="T41" fmla="*/ 12 h 47"/>
              <a:gd name="T42" fmla="*/ 6 w 24"/>
              <a:gd name="T43" fmla="*/ 6 h 47"/>
              <a:gd name="T44" fmla="*/ 12 w 24"/>
              <a:gd name="T45" fmla="*/ 6 h 47"/>
              <a:gd name="T46" fmla="*/ 12 w 24"/>
              <a:gd name="T47" fmla="*/ 0 h 47"/>
              <a:gd name="T48" fmla="*/ 18 w 24"/>
              <a:gd name="T49" fmla="*/ 0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
              <a:gd name="T76" fmla="*/ 0 h 47"/>
              <a:gd name="T77" fmla="*/ 24 w 24"/>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 h="47">
                <a:moveTo>
                  <a:pt x="18" y="0"/>
                </a:moveTo>
                <a:lnTo>
                  <a:pt x="18" y="6"/>
                </a:lnTo>
                <a:lnTo>
                  <a:pt x="24" y="6"/>
                </a:lnTo>
                <a:lnTo>
                  <a:pt x="24" y="12"/>
                </a:lnTo>
                <a:lnTo>
                  <a:pt x="24" y="18"/>
                </a:lnTo>
                <a:lnTo>
                  <a:pt x="24" y="24"/>
                </a:lnTo>
                <a:lnTo>
                  <a:pt x="24" y="29"/>
                </a:lnTo>
                <a:lnTo>
                  <a:pt x="24" y="35"/>
                </a:lnTo>
                <a:lnTo>
                  <a:pt x="18" y="35"/>
                </a:lnTo>
                <a:lnTo>
                  <a:pt x="18" y="41"/>
                </a:lnTo>
                <a:lnTo>
                  <a:pt x="12" y="41"/>
                </a:lnTo>
                <a:lnTo>
                  <a:pt x="12" y="47"/>
                </a:lnTo>
                <a:lnTo>
                  <a:pt x="6" y="47"/>
                </a:lnTo>
                <a:lnTo>
                  <a:pt x="6" y="41"/>
                </a:lnTo>
                <a:lnTo>
                  <a:pt x="0" y="41"/>
                </a:lnTo>
                <a:lnTo>
                  <a:pt x="0" y="35"/>
                </a:lnTo>
                <a:lnTo>
                  <a:pt x="0" y="29"/>
                </a:lnTo>
                <a:lnTo>
                  <a:pt x="0" y="24"/>
                </a:lnTo>
                <a:lnTo>
                  <a:pt x="0" y="18"/>
                </a:lnTo>
                <a:lnTo>
                  <a:pt x="6" y="18"/>
                </a:lnTo>
                <a:lnTo>
                  <a:pt x="6" y="12"/>
                </a:lnTo>
                <a:lnTo>
                  <a:pt x="6" y="6"/>
                </a:lnTo>
                <a:lnTo>
                  <a:pt x="12" y="6"/>
                </a:lnTo>
                <a:lnTo>
                  <a:pt x="12" y="0"/>
                </a:lnTo>
                <a:lnTo>
                  <a:pt x="1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4" name="Freeform 111"/>
          <p:cNvSpPr>
            <a:spLocks/>
          </p:cNvSpPr>
          <p:nvPr/>
        </p:nvSpPr>
        <p:spPr bwMode="auto">
          <a:xfrm>
            <a:off x="8013700" y="5337175"/>
            <a:ext cx="38100" cy="74613"/>
          </a:xfrm>
          <a:custGeom>
            <a:avLst/>
            <a:gdLst>
              <a:gd name="T0" fmla="*/ 18 w 24"/>
              <a:gd name="T1" fmla="*/ 0 h 47"/>
              <a:gd name="T2" fmla="*/ 18 w 24"/>
              <a:gd name="T3" fmla="*/ 6 h 47"/>
              <a:gd name="T4" fmla="*/ 24 w 24"/>
              <a:gd name="T5" fmla="*/ 12 h 47"/>
              <a:gd name="T6" fmla="*/ 24 w 24"/>
              <a:gd name="T7" fmla="*/ 18 h 47"/>
              <a:gd name="T8" fmla="*/ 24 w 24"/>
              <a:gd name="T9" fmla="*/ 24 h 47"/>
              <a:gd name="T10" fmla="*/ 24 w 24"/>
              <a:gd name="T11" fmla="*/ 35 h 47"/>
              <a:gd name="T12" fmla="*/ 18 w 24"/>
              <a:gd name="T13" fmla="*/ 41 h 47"/>
              <a:gd name="T14" fmla="*/ 12 w 24"/>
              <a:gd name="T15" fmla="*/ 47 h 47"/>
              <a:gd name="T16" fmla="*/ 6 w 24"/>
              <a:gd name="T17" fmla="*/ 41 h 47"/>
              <a:gd name="T18" fmla="*/ 0 w 24"/>
              <a:gd name="T19" fmla="*/ 35 h 47"/>
              <a:gd name="T20" fmla="*/ 0 w 24"/>
              <a:gd name="T21" fmla="*/ 29 h 47"/>
              <a:gd name="T22" fmla="*/ 0 w 24"/>
              <a:gd name="T23" fmla="*/ 24 h 47"/>
              <a:gd name="T24" fmla="*/ 6 w 24"/>
              <a:gd name="T25" fmla="*/ 12 h 47"/>
              <a:gd name="T26" fmla="*/ 6 w 24"/>
              <a:gd name="T27" fmla="*/ 6 h 47"/>
              <a:gd name="T28" fmla="*/ 12 w 24"/>
              <a:gd name="T29" fmla="*/ 6 h 47"/>
              <a:gd name="T30" fmla="*/ 18 w 24"/>
              <a:gd name="T31" fmla="*/ 0 h 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47"/>
              <a:gd name="T50" fmla="*/ 24 w 24"/>
              <a:gd name="T51" fmla="*/ 47 h 4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47">
                <a:moveTo>
                  <a:pt x="18" y="0"/>
                </a:moveTo>
                <a:lnTo>
                  <a:pt x="18" y="6"/>
                </a:lnTo>
                <a:lnTo>
                  <a:pt x="24" y="12"/>
                </a:lnTo>
                <a:lnTo>
                  <a:pt x="24" y="18"/>
                </a:lnTo>
                <a:lnTo>
                  <a:pt x="24" y="24"/>
                </a:lnTo>
                <a:lnTo>
                  <a:pt x="24" y="35"/>
                </a:lnTo>
                <a:lnTo>
                  <a:pt x="18" y="41"/>
                </a:lnTo>
                <a:lnTo>
                  <a:pt x="12" y="47"/>
                </a:lnTo>
                <a:lnTo>
                  <a:pt x="6" y="41"/>
                </a:lnTo>
                <a:lnTo>
                  <a:pt x="0" y="35"/>
                </a:lnTo>
                <a:lnTo>
                  <a:pt x="0" y="29"/>
                </a:lnTo>
                <a:lnTo>
                  <a:pt x="0" y="24"/>
                </a:lnTo>
                <a:lnTo>
                  <a:pt x="6" y="12"/>
                </a:lnTo>
                <a:lnTo>
                  <a:pt x="6" y="6"/>
                </a:lnTo>
                <a:lnTo>
                  <a:pt x="12" y="6"/>
                </a:lnTo>
                <a:lnTo>
                  <a:pt x="1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5" name="Freeform 112"/>
          <p:cNvSpPr>
            <a:spLocks/>
          </p:cNvSpPr>
          <p:nvPr/>
        </p:nvSpPr>
        <p:spPr bwMode="auto">
          <a:xfrm>
            <a:off x="8099425" y="5281613"/>
            <a:ext cx="93663" cy="157162"/>
          </a:xfrm>
          <a:custGeom>
            <a:avLst/>
            <a:gdLst>
              <a:gd name="T0" fmla="*/ 12 w 59"/>
              <a:gd name="T1" fmla="*/ 18 h 99"/>
              <a:gd name="T2" fmla="*/ 0 w 59"/>
              <a:gd name="T3" fmla="*/ 82 h 99"/>
              <a:gd name="T4" fmla="*/ 12 w 59"/>
              <a:gd name="T5" fmla="*/ 93 h 99"/>
              <a:gd name="T6" fmla="*/ 12 w 59"/>
              <a:gd name="T7" fmla="*/ 88 h 99"/>
              <a:gd name="T8" fmla="*/ 18 w 59"/>
              <a:gd name="T9" fmla="*/ 88 h 99"/>
              <a:gd name="T10" fmla="*/ 18 w 59"/>
              <a:gd name="T11" fmla="*/ 59 h 99"/>
              <a:gd name="T12" fmla="*/ 36 w 59"/>
              <a:gd name="T13" fmla="*/ 99 h 99"/>
              <a:gd name="T14" fmla="*/ 47 w 59"/>
              <a:gd name="T15" fmla="*/ 99 h 99"/>
              <a:gd name="T16" fmla="*/ 47 w 59"/>
              <a:gd name="T17" fmla="*/ 82 h 99"/>
              <a:gd name="T18" fmla="*/ 24 w 59"/>
              <a:gd name="T19" fmla="*/ 47 h 99"/>
              <a:gd name="T20" fmla="*/ 59 w 59"/>
              <a:gd name="T21" fmla="*/ 24 h 99"/>
              <a:gd name="T22" fmla="*/ 53 w 59"/>
              <a:gd name="T23" fmla="*/ 12 h 99"/>
              <a:gd name="T24" fmla="*/ 24 w 59"/>
              <a:gd name="T25" fmla="*/ 30 h 99"/>
              <a:gd name="T26" fmla="*/ 30 w 59"/>
              <a:gd name="T27" fmla="*/ 12 h 99"/>
              <a:gd name="T28" fmla="*/ 18 w 59"/>
              <a:gd name="T29" fmla="*/ 0 h 99"/>
              <a:gd name="T30" fmla="*/ 12 w 59"/>
              <a:gd name="T31" fmla="*/ 18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
              <a:gd name="T49" fmla="*/ 0 h 99"/>
              <a:gd name="T50" fmla="*/ 59 w 59"/>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 h="99">
                <a:moveTo>
                  <a:pt x="12" y="18"/>
                </a:moveTo>
                <a:lnTo>
                  <a:pt x="0" y="82"/>
                </a:lnTo>
                <a:lnTo>
                  <a:pt x="12" y="93"/>
                </a:lnTo>
                <a:lnTo>
                  <a:pt x="12" y="88"/>
                </a:lnTo>
                <a:lnTo>
                  <a:pt x="18" y="88"/>
                </a:lnTo>
                <a:lnTo>
                  <a:pt x="18" y="59"/>
                </a:lnTo>
                <a:lnTo>
                  <a:pt x="36" y="99"/>
                </a:lnTo>
                <a:lnTo>
                  <a:pt x="47" y="99"/>
                </a:lnTo>
                <a:lnTo>
                  <a:pt x="47" y="82"/>
                </a:lnTo>
                <a:lnTo>
                  <a:pt x="24" y="47"/>
                </a:lnTo>
                <a:lnTo>
                  <a:pt x="59" y="24"/>
                </a:lnTo>
                <a:lnTo>
                  <a:pt x="53" y="12"/>
                </a:lnTo>
                <a:lnTo>
                  <a:pt x="24" y="30"/>
                </a:lnTo>
                <a:lnTo>
                  <a:pt x="30" y="12"/>
                </a:lnTo>
                <a:lnTo>
                  <a:pt x="18" y="0"/>
                </a:lnTo>
                <a:lnTo>
                  <a:pt x="12" y="18"/>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6" name="Freeform 113"/>
          <p:cNvSpPr>
            <a:spLocks/>
          </p:cNvSpPr>
          <p:nvPr/>
        </p:nvSpPr>
        <p:spPr bwMode="auto">
          <a:xfrm>
            <a:off x="8099425" y="5281613"/>
            <a:ext cx="93663" cy="157162"/>
          </a:xfrm>
          <a:custGeom>
            <a:avLst/>
            <a:gdLst>
              <a:gd name="T0" fmla="*/ 12 w 59"/>
              <a:gd name="T1" fmla="*/ 18 h 99"/>
              <a:gd name="T2" fmla="*/ 0 w 59"/>
              <a:gd name="T3" fmla="*/ 82 h 99"/>
              <a:gd name="T4" fmla="*/ 12 w 59"/>
              <a:gd name="T5" fmla="*/ 93 h 99"/>
              <a:gd name="T6" fmla="*/ 12 w 59"/>
              <a:gd name="T7" fmla="*/ 88 h 99"/>
              <a:gd name="T8" fmla="*/ 18 w 59"/>
              <a:gd name="T9" fmla="*/ 88 h 99"/>
              <a:gd name="T10" fmla="*/ 18 w 59"/>
              <a:gd name="T11" fmla="*/ 59 h 99"/>
              <a:gd name="T12" fmla="*/ 36 w 59"/>
              <a:gd name="T13" fmla="*/ 99 h 99"/>
              <a:gd name="T14" fmla="*/ 47 w 59"/>
              <a:gd name="T15" fmla="*/ 99 h 99"/>
              <a:gd name="T16" fmla="*/ 47 w 59"/>
              <a:gd name="T17" fmla="*/ 82 h 99"/>
              <a:gd name="T18" fmla="*/ 24 w 59"/>
              <a:gd name="T19" fmla="*/ 47 h 99"/>
              <a:gd name="T20" fmla="*/ 59 w 59"/>
              <a:gd name="T21" fmla="*/ 24 h 99"/>
              <a:gd name="T22" fmla="*/ 53 w 59"/>
              <a:gd name="T23" fmla="*/ 12 h 99"/>
              <a:gd name="T24" fmla="*/ 24 w 59"/>
              <a:gd name="T25" fmla="*/ 30 h 99"/>
              <a:gd name="T26" fmla="*/ 30 w 59"/>
              <a:gd name="T27" fmla="*/ 12 h 99"/>
              <a:gd name="T28" fmla="*/ 18 w 59"/>
              <a:gd name="T29" fmla="*/ 0 h 99"/>
              <a:gd name="T30" fmla="*/ 12 w 59"/>
              <a:gd name="T31" fmla="*/ 18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
              <a:gd name="T49" fmla="*/ 0 h 99"/>
              <a:gd name="T50" fmla="*/ 59 w 59"/>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 h="99">
                <a:moveTo>
                  <a:pt x="12" y="18"/>
                </a:moveTo>
                <a:lnTo>
                  <a:pt x="0" y="82"/>
                </a:lnTo>
                <a:lnTo>
                  <a:pt x="12" y="93"/>
                </a:lnTo>
                <a:lnTo>
                  <a:pt x="12" y="88"/>
                </a:lnTo>
                <a:lnTo>
                  <a:pt x="18" y="88"/>
                </a:lnTo>
                <a:lnTo>
                  <a:pt x="18" y="59"/>
                </a:lnTo>
                <a:lnTo>
                  <a:pt x="36" y="99"/>
                </a:lnTo>
                <a:lnTo>
                  <a:pt x="47" y="99"/>
                </a:lnTo>
                <a:lnTo>
                  <a:pt x="47" y="82"/>
                </a:lnTo>
                <a:lnTo>
                  <a:pt x="24" y="47"/>
                </a:lnTo>
                <a:lnTo>
                  <a:pt x="59" y="24"/>
                </a:lnTo>
                <a:lnTo>
                  <a:pt x="53" y="12"/>
                </a:lnTo>
                <a:lnTo>
                  <a:pt x="24" y="30"/>
                </a:lnTo>
                <a:lnTo>
                  <a:pt x="30" y="12"/>
                </a:lnTo>
                <a:lnTo>
                  <a:pt x="18" y="0"/>
                </a:lnTo>
                <a:lnTo>
                  <a:pt x="12" y="18"/>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7" name="Freeform 114"/>
          <p:cNvSpPr>
            <a:spLocks/>
          </p:cNvSpPr>
          <p:nvPr/>
        </p:nvSpPr>
        <p:spPr bwMode="auto">
          <a:xfrm>
            <a:off x="7985125" y="5189538"/>
            <a:ext cx="142875" cy="130175"/>
          </a:xfrm>
          <a:custGeom>
            <a:avLst/>
            <a:gdLst>
              <a:gd name="T0" fmla="*/ 18 w 90"/>
              <a:gd name="T1" fmla="*/ 6 h 82"/>
              <a:gd name="T2" fmla="*/ 36 w 90"/>
              <a:gd name="T3" fmla="*/ 41 h 82"/>
              <a:gd name="T4" fmla="*/ 0 w 90"/>
              <a:gd name="T5" fmla="*/ 64 h 82"/>
              <a:gd name="T6" fmla="*/ 6 w 90"/>
              <a:gd name="T7" fmla="*/ 82 h 82"/>
              <a:gd name="T8" fmla="*/ 12 w 90"/>
              <a:gd name="T9" fmla="*/ 82 h 82"/>
              <a:gd name="T10" fmla="*/ 42 w 90"/>
              <a:gd name="T11" fmla="*/ 58 h 82"/>
              <a:gd name="T12" fmla="*/ 60 w 90"/>
              <a:gd name="T13" fmla="*/ 82 h 82"/>
              <a:gd name="T14" fmla="*/ 72 w 90"/>
              <a:gd name="T15" fmla="*/ 82 h 82"/>
              <a:gd name="T16" fmla="*/ 78 w 90"/>
              <a:gd name="T17" fmla="*/ 70 h 82"/>
              <a:gd name="T18" fmla="*/ 60 w 90"/>
              <a:gd name="T19" fmla="*/ 47 h 82"/>
              <a:gd name="T20" fmla="*/ 90 w 90"/>
              <a:gd name="T21" fmla="*/ 12 h 82"/>
              <a:gd name="T22" fmla="*/ 78 w 90"/>
              <a:gd name="T23" fmla="*/ 0 h 82"/>
              <a:gd name="T24" fmla="*/ 48 w 90"/>
              <a:gd name="T25" fmla="*/ 24 h 82"/>
              <a:gd name="T26" fmla="*/ 30 w 90"/>
              <a:gd name="T27" fmla="*/ 0 h 82"/>
              <a:gd name="T28" fmla="*/ 24 w 90"/>
              <a:gd name="T29" fmla="*/ 0 h 82"/>
              <a:gd name="T30" fmla="*/ 18 w 90"/>
              <a:gd name="T31" fmla="*/ 0 h 82"/>
              <a:gd name="T32" fmla="*/ 18 w 90"/>
              <a:gd name="T33" fmla="*/ 6 h 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
              <a:gd name="T52" fmla="*/ 0 h 82"/>
              <a:gd name="T53" fmla="*/ 90 w 90"/>
              <a:gd name="T54" fmla="*/ 82 h 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 h="82">
                <a:moveTo>
                  <a:pt x="18" y="6"/>
                </a:moveTo>
                <a:lnTo>
                  <a:pt x="36" y="41"/>
                </a:lnTo>
                <a:lnTo>
                  <a:pt x="0" y="64"/>
                </a:lnTo>
                <a:lnTo>
                  <a:pt x="6" y="82"/>
                </a:lnTo>
                <a:lnTo>
                  <a:pt x="12" y="82"/>
                </a:lnTo>
                <a:lnTo>
                  <a:pt x="42" y="58"/>
                </a:lnTo>
                <a:lnTo>
                  <a:pt x="60" y="82"/>
                </a:lnTo>
                <a:lnTo>
                  <a:pt x="72" y="82"/>
                </a:lnTo>
                <a:lnTo>
                  <a:pt x="78" y="70"/>
                </a:lnTo>
                <a:lnTo>
                  <a:pt x="60" y="47"/>
                </a:lnTo>
                <a:lnTo>
                  <a:pt x="90" y="12"/>
                </a:lnTo>
                <a:lnTo>
                  <a:pt x="78" y="0"/>
                </a:lnTo>
                <a:lnTo>
                  <a:pt x="48" y="24"/>
                </a:lnTo>
                <a:lnTo>
                  <a:pt x="30" y="0"/>
                </a:lnTo>
                <a:lnTo>
                  <a:pt x="24" y="0"/>
                </a:lnTo>
                <a:lnTo>
                  <a:pt x="18" y="0"/>
                </a:lnTo>
                <a:lnTo>
                  <a:pt x="18" y="6"/>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18" name="Freeform 115"/>
          <p:cNvSpPr>
            <a:spLocks/>
          </p:cNvSpPr>
          <p:nvPr/>
        </p:nvSpPr>
        <p:spPr bwMode="auto">
          <a:xfrm>
            <a:off x="7985125" y="5189538"/>
            <a:ext cx="142875" cy="130175"/>
          </a:xfrm>
          <a:custGeom>
            <a:avLst/>
            <a:gdLst>
              <a:gd name="T0" fmla="*/ 18 w 90"/>
              <a:gd name="T1" fmla="*/ 6 h 82"/>
              <a:gd name="T2" fmla="*/ 36 w 90"/>
              <a:gd name="T3" fmla="*/ 41 h 82"/>
              <a:gd name="T4" fmla="*/ 0 w 90"/>
              <a:gd name="T5" fmla="*/ 64 h 82"/>
              <a:gd name="T6" fmla="*/ 6 w 90"/>
              <a:gd name="T7" fmla="*/ 82 h 82"/>
              <a:gd name="T8" fmla="*/ 12 w 90"/>
              <a:gd name="T9" fmla="*/ 82 h 82"/>
              <a:gd name="T10" fmla="*/ 42 w 90"/>
              <a:gd name="T11" fmla="*/ 58 h 82"/>
              <a:gd name="T12" fmla="*/ 60 w 90"/>
              <a:gd name="T13" fmla="*/ 82 h 82"/>
              <a:gd name="T14" fmla="*/ 72 w 90"/>
              <a:gd name="T15" fmla="*/ 82 h 82"/>
              <a:gd name="T16" fmla="*/ 78 w 90"/>
              <a:gd name="T17" fmla="*/ 70 h 82"/>
              <a:gd name="T18" fmla="*/ 60 w 90"/>
              <a:gd name="T19" fmla="*/ 47 h 82"/>
              <a:gd name="T20" fmla="*/ 90 w 90"/>
              <a:gd name="T21" fmla="*/ 12 h 82"/>
              <a:gd name="T22" fmla="*/ 78 w 90"/>
              <a:gd name="T23" fmla="*/ 0 h 82"/>
              <a:gd name="T24" fmla="*/ 48 w 90"/>
              <a:gd name="T25" fmla="*/ 24 h 82"/>
              <a:gd name="T26" fmla="*/ 30 w 90"/>
              <a:gd name="T27" fmla="*/ 0 h 82"/>
              <a:gd name="T28" fmla="*/ 24 w 90"/>
              <a:gd name="T29" fmla="*/ 0 h 82"/>
              <a:gd name="T30" fmla="*/ 18 w 90"/>
              <a:gd name="T31" fmla="*/ 0 h 82"/>
              <a:gd name="T32" fmla="*/ 18 w 90"/>
              <a:gd name="T33" fmla="*/ 6 h 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
              <a:gd name="T52" fmla="*/ 0 h 82"/>
              <a:gd name="T53" fmla="*/ 90 w 90"/>
              <a:gd name="T54" fmla="*/ 82 h 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 h="82">
                <a:moveTo>
                  <a:pt x="18" y="6"/>
                </a:moveTo>
                <a:lnTo>
                  <a:pt x="36" y="41"/>
                </a:lnTo>
                <a:lnTo>
                  <a:pt x="0" y="64"/>
                </a:lnTo>
                <a:lnTo>
                  <a:pt x="6" y="82"/>
                </a:lnTo>
                <a:lnTo>
                  <a:pt x="12" y="82"/>
                </a:lnTo>
                <a:lnTo>
                  <a:pt x="42" y="58"/>
                </a:lnTo>
                <a:lnTo>
                  <a:pt x="60" y="82"/>
                </a:lnTo>
                <a:lnTo>
                  <a:pt x="72" y="82"/>
                </a:lnTo>
                <a:lnTo>
                  <a:pt x="78" y="70"/>
                </a:lnTo>
                <a:lnTo>
                  <a:pt x="60" y="47"/>
                </a:lnTo>
                <a:lnTo>
                  <a:pt x="90" y="12"/>
                </a:lnTo>
                <a:lnTo>
                  <a:pt x="78" y="0"/>
                </a:lnTo>
                <a:lnTo>
                  <a:pt x="48" y="24"/>
                </a:lnTo>
                <a:lnTo>
                  <a:pt x="30" y="0"/>
                </a:lnTo>
                <a:lnTo>
                  <a:pt x="24" y="0"/>
                </a:lnTo>
                <a:lnTo>
                  <a:pt x="18" y="0"/>
                </a:lnTo>
                <a:lnTo>
                  <a:pt x="18" y="6"/>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9" name="Freeform 116"/>
          <p:cNvSpPr>
            <a:spLocks/>
          </p:cNvSpPr>
          <p:nvPr/>
        </p:nvSpPr>
        <p:spPr bwMode="auto">
          <a:xfrm>
            <a:off x="7142163" y="4922838"/>
            <a:ext cx="9525" cy="26987"/>
          </a:xfrm>
          <a:custGeom>
            <a:avLst/>
            <a:gdLst>
              <a:gd name="T0" fmla="*/ 0 w 6"/>
              <a:gd name="T1" fmla="*/ 0 h 17"/>
              <a:gd name="T2" fmla="*/ 0 w 6"/>
              <a:gd name="T3" fmla="*/ 6 h 17"/>
              <a:gd name="T4" fmla="*/ 6 w 6"/>
              <a:gd name="T5" fmla="*/ 6 h 17"/>
              <a:gd name="T6" fmla="*/ 6 w 6"/>
              <a:gd name="T7" fmla="*/ 12 h 17"/>
              <a:gd name="T8" fmla="*/ 6 w 6"/>
              <a:gd name="T9" fmla="*/ 17 h 17"/>
              <a:gd name="T10" fmla="*/ 0 w 6"/>
              <a:gd name="T11" fmla="*/ 17 h 17"/>
              <a:gd name="T12" fmla="*/ 0 w 6"/>
              <a:gd name="T13" fmla="*/ 12 h 17"/>
              <a:gd name="T14" fmla="*/ 0 w 6"/>
              <a:gd name="T15" fmla="*/ 6 h 17"/>
              <a:gd name="T16" fmla="*/ 0 w 6"/>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7"/>
              <a:gd name="T29" fmla="*/ 6 w 6"/>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7">
                <a:moveTo>
                  <a:pt x="0" y="0"/>
                </a:moveTo>
                <a:lnTo>
                  <a:pt x="0" y="6"/>
                </a:lnTo>
                <a:lnTo>
                  <a:pt x="6" y="6"/>
                </a:lnTo>
                <a:lnTo>
                  <a:pt x="6" y="12"/>
                </a:lnTo>
                <a:lnTo>
                  <a:pt x="6" y="17"/>
                </a:lnTo>
                <a:lnTo>
                  <a:pt x="0" y="17"/>
                </a:lnTo>
                <a:lnTo>
                  <a:pt x="0" y="12"/>
                </a:lnTo>
                <a:lnTo>
                  <a:pt x="0" y="6"/>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20" name="Freeform 117"/>
          <p:cNvSpPr>
            <a:spLocks/>
          </p:cNvSpPr>
          <p:nvPr/>
        </p:nvSpPr>
        <p:spPr bwMode="auto">
          <a:xfrm>
            <a:off x="7142163" y="4922838"/>
            <a:ext cx="9525" cy="26987"/>
          </a:xfrm>
          <a:custGeom>
            <a:avLst/>
            <a:gdLst>
              <a:gd name="T0" fmla="*/ 0 w 6"/>
              <a:gd name="T1" fmla="*/ 0 h 17"/>
              <a:gd name="T2" fmla="*/ 6 w 6"/>
              <a:gd name="T3" fmla="*/ 6 h 17"/>
              <a:gd name="T4" fmla="*/ 6 w 6"/>
              <a:gd name="T5" fmla="*/ 12 h 17"/>
              <a:gd name="T6" fmla="*/ 6 w 6"/>
              <a:gd name="T7" fmla="*/ 17 h 17"/>
              <a:gd name="T8" fmla="*/ 0 w 6"/>
              <a:gd name="T9" fmla="*/ 17 h 17"/>
              <a:gd name="T10" fmla="*/ 0 w 6"/>
              <a:gd name="T11" fmla="*/ 12 h 17"/>
              <a:gd name="T12" fmla="*/ 0 w 6"/>
              <a:gd name="T13" fmla="*/ 6 h 17"/>
              <a:gd name="T14" fmla="*/ 0 w 6"/>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17"/>
              <a:gd name="T26" fmla="*/ 6 w 6"/>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17">
                <a:moveTo>
                  <a:pt x="0" y="0"/>
                </a:moveTo>
                <a:lnTo>
                  <a:pt x="6" y="6"/>
                </a:lnTo>
                <a:lnTo>
                  <a:pt x="6" y="12"/>
                </a:lnTo>
                <a:lnTo>
                  <a:pt x="6" y="17"/>
                </a:lnTo>
                <a:lnTo>
                  <a:pt x="0" y="17"/>
                </a:lnTo>
                <a:lnTo>
                  <a:pt x="0" y="12"/>
                </a:lnTo>
                <a:lnTo>
                  <a:pt x="0" y="6"/>
                </a:lnTo>
                <a:lnTo>
                  <a:pt x="0"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1" name="Freeform 118"/>
          <p:cNvSpPr>
            <a:spLocks/>
          </p:cNvSpPr>
          <p:nvPr/>
        </p:nvSpPr>
        <p:spPr bwMode="auto">
          <a:xfrm>
            <a:off x="7142163" y="4949825"/>
            <a:ext cx="1587" cy="1588"/>
          </a:xfrm>
          <a:custGeom>
            <a:avLst/>
            <a:gdLst>
              <a:gd name="T0" fmla="*/ 0 w 1587"/>
              <a:gd name="T1" fmla="*/ 0 h 1588"/>
              <a:gd name="T2" fmla="*/ 0 w 1587"/>
              <a:gd name="T3" fmla="*/ 0 h 1588"/>
              <a:gd name="T4" fmla="*/ 0 w 1587"/>
              <a:gd name="T5" fmla="*/ 0 h 1588"/>
              <a:gd name="T6" fmla="*/ 0 60000 65536"/>
              <a:gd name="T7" fmla="*/ 0 60000 65536"/>
              <a:gd name="T8" fmla="*/ 0 60000 65536"/>
              <a:gd name="T9" fmla="*/ 0 w 1587"/>
              <a:gd name="T10" fmla="*/ 0 h 1588"/>
              <a:gd name="T11" fmla="*/ 1587 w 1587"/>
              <a:gd name="T12" fmla="*/ 1588 h 1588"/>
            </a:gdLst>
            <a:ahLst/>
            <a:cxnLst>
              <a:cxn ang="T6">
                <a:pos x="T0" y="T1"/>
              </a:cxn>
              <a:cxn ang="T7">
                <a:pos x="T2" y="T3"/>
              </a:cxn>
              <a:cxn ang="T8">
                <a:pos x="T4" y="T5"/>
              </a:cxn>
            </a:cxnLst>
            <a:rect l="T9" t="T10" r="T11" b="T12"/>
            <a:pathLst>
              <a:path w="1587" h="1588">
                <a:moveTo>
                  <a:pt x="0" y="0"/>
                </a:move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22" name="Line 119"/>
          <p:cNvSpPr>
            <a:spLocks noChangeShapeType="1"/>
          </p:cNvSpPr>
          <p:nvPr/>
        </p:nvSpPr>
        <p:spPr bwMode="auto">
          <a:xfrm>
            <a:off x="7142163" y="4949825"/>
            <a:ext cx="1587" cy="1588"/>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3" name="Rectangle 120"/>
          <p:cNvSpPr>
            <a:spLocks noChangeArrowheads="1"/>
          </p:cNvSpPr>
          <p:nvPr/>
        </p:nvSpPr>
        <p:spPr bwMode="auto">
          <a:xfrm>
            <a:off x="6877050" y="4913313"/>
            <a:ext cx="341313" cy="38735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24" name="Rectangle 121"/>
          <p:cNvSpPr>
            <a:spLocks noChangeArrowheads="1"/>
          </p:cNvSpPr>
          <p:nvPr/>
        </p:nvSpPr>
        <p:spPr bwMode="auto">
          <a:xfrm>
            <a:off x="6877050" y="4913313"/>
            <a:ext cx="341313" cy="387350"/>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5" name="Rectangle 122"/>
          <p:cNvSpPr>
            <a:spLocks noChangeArrowheads="1"/>
          </p:cNvSpPr>
          <p:nvPr/>
        </p:nvSpPr>
        <p:spPr bwMode="auto">
          <a:xfrm>
            <a:off x="6886575" y="4932363"/>
            <a:ext cx="312738" cy="34925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26" name="Rectangle 123"/>
          <p:cNvSpPr>
            <a:spLocks noChangeArrowheads="1"/>
          </p:cNvSpPr>
          <p:nvPr/>
        </p:nvSpPr>
        <p:spPr bwMode="auto">
          <a:xfrm>
            <a:off x="6886575" y="4932363"/>
            <a:ext cx="312738" cy="349250"/>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7" name="Freeform 124"/>
          <p:cNvSpPr>
            <a:spLocks/>
          </p:cNvSpPr>
          <p:nvPr/>
        </p:nvSpPr>
        <p:spPr bwMode="auto">
          <a:xfrm>
            <a:off x="7065963" y="5060950"/>
            <a:ext cx="114300" cy="184150"/>
          </a:xfrm>
          <a:custGeom>
            <a:avLst/>
            <a:gdLst>
              <a:gd name="T0" fmla="*/ 12 w 72"/>
              <a:gd name="T1" fmla="*/ 17 h 116"/>
              <a:gd name="T2" fmla="*/ 0 w 72"/>
              <a:gd name="T3" fmla="*/ 99 h 116"/>
              <a:gd name="T4" fmla="*/ 12 w 72"/>
              <a:gd name="T5" fmla="*/ 110 h 116"/>
              <a:gd name="T6" fmla="*/ 12 w 72"/>
              <a:gd name="T7" fmla="*/ 105 h 116"/>
              <a:gd name="T8" fmla="*/ 18 w 72"/>
              <a:gd name="T9" fmla="*/ 105 h 116"/>
              <a:gd name="T10" fmla="*/ 18 w 72"/>
              <a:gd name="T11" fmla="*/ 70 h 116"/>
              <a:gd name="T12" fmla="*/ 42 w 72"/>
              <a:gd name="T13" fmla="*/ 116 h 116"/>
              <a:gd name="T14" fmla="*/ 54 w 72"/>
              <a:gd name="T15" fmla="*/ 116 h 116"/>
              <a:gd name="T16" fmla="*/ 54 w 72"/>
              <a:gd name="T17" fmla="*/ 99 h 116"/>
              <a:gd name="T18" fmla="*/ 30 w 72"/>
              <a:gd name="T19" fmla="*/ 52 h 116"/>
              <a:gd name="T20" fmla="*/ 72 w 72"/>
              <a:gd name="T21" fmla="*/ 29 h 116"/>
              <a:gd name="T22" fmla="*/ 60 w 72"/>
              <a:gd name="T23" fmla="*/ 12 h 116"/>
              <a:gd name="T24" fmla="*/ 24 w 72"/>
              <a:gd name="T25" fmla="*/ 35 h 116"/>
              <a:gd name="T26" fmla="*/ 30 w 72"/>
              <a:gd name="T27" fmla="*/ 12 h 116"/>
              <a:gd name="T28" fmla="*/ 18 w 72"/>
              <a:gd name="T29" fmla="*/ 0 h 116"/>
              <a:gd name="T30" fmla="*/ 12 w 72"/>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116"/>
              <a:gd name="T50" fmla="*/ 72 w 72"/>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116">
                <a:moveTo>
                  <a:pt x="12" y="17"/>
                </a:moveTo>
                <a:lnTo>
                  <a:pt x="0" y="99"/>
                </a:lnTo>
                <a:lnTo>
                  <a:pt x="12" y="110"/>
                </a:lnTo>
                <a:lnTo>
                  <a:pt x="12" y="105"/>
                </a:lnTo>
                <a:lnTo>
                  <a:pt x="18" y="105"/>
                </a:lnTo>
                <a:lnTo>
                  <a:pt x="18" y="70"/>
                </a:lnTo>
                <a:lnTo>
                  <a:pt x="42" y="116"/>
                </a:lnTo>
                <a:lnTo>
                  <a:pt x="54" y="116"/>
                </a:lnTo>
                <a:lnTo>
                  <a:pt x="54" y="99"/>
                </a:lnTo>
                <a:lnTo>
                  <a:pt x="30" y="52"/>
                </a:lnTo>
                <a:lnTo>
                  <a:pt x="72" y="29"/>
                </a:lnTo>
                <a:lnTo>
                  <a:pt x="60" y="12"/>
                </a:lnTo>
                <a:lnTo>
                  <a:pt x="24" y="35"/>
                </a:lnTo>
                <a:lnTo>
                  <a:pt x="30" y="12"/>
                </a:lnTo>
                <a:lnTo>
                  <a:pt x="18" y="0"/>
                </a:lnTo>
                <a:lnTo>
                  <a:pt x="12" y="17"/>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28" name="Freeform 125"/>
          <p:cNvSpPr>
            <a:spLocks/>
          </p:cNvSpPr>
          <p:nvPr/>
        </p:nvSpPr>
        <p:spPr bwMode="auto">
          <a:xfrm>
            <a:off x="7065963" y="5060950"/>
            <a:ext cx="114300" cy="184150"/>
          </a:xfrm>
          <a:custGeom>
            <a:avLst/>
            <a:gdLst>
              <a:gd name="T0" fmla="*/ 12 w 72"/>
              <a:gd name="T1" fmla="*/ 17 h 116"/>
              <a:gd name="T2" fmla="*/ 0 w 72"/>
              <a:gd name="T3" fmla="*/ 99 h 116"/>
              <a:gd name="T4" fmla="*/ 12 w 72"/>
              <a:gd name="T5" fmla="*/ 110 h 116"/>
              <a:gd name="T6" fmla="*/ 12 w 72"/>
              <a:gd name="T7" fmla="*/ 105 h 116"/>
              <a:gd name="T8" fmla="*/ 18 w 72"/>
              <a:gd name="T9" fmla="*/ 105 h 116"/>
              <a:gd name="T10" fmla="*/ 18 w 72"/>
              <a:gd name="T11" fmla="*/ 70 h 116"/>
              <a:gd name="T12" fmla="*/ 42 w 72"/>
              <a:gd name="T13" fmla="*/ 116 h 116"/>
              <a:gd name="T14" fmla="*/ 54 w 72"/>
              <a:gd name="T15" fmla="*/ 116 h 116"/>
              <a:gd name="T16" fmla="*/ 54 w 72"/>
              <a:gd name="T17" fmla="*/ 99 h 116"/>
              <a:gd name="T18" fmla="*/ 30 w 72"/>
              <a:gd name="T19" fmla="*/ 52 h 116"/>
              <a:gd name="T20" fmla="*/ 72 w 72"/>
              <a:gd name="T21" fmla="*/ 29 h 116"/>
              <a:gd name="T22" fmla="*/ 60 w 72"/>
              <a:gd name="T23" fmla="*/ 12 h 116"/>
              <a:gd name="T24" fmla="*/ 24 w 72"/>
              <a:gd name="T25" fmla="*/ 35 h 116"/>
              <a:gd name="T26" fmla="*/ 30 w 72"/>
              <a:gd name="T27" fmla="*/ 12 h 116"/>
              <a:gd name="T28" fmla="*/ 18 w 72"/>
              <a:gd name="T29" fmla="*/ 0 h 116"/>
              <a:gd name="T30" fmla="*/ 12 w 72"/>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116"/>
              <a:gd name="T50" fmla="*/ 72 w 72"/>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116">
                <a:moveTo>
                  <a:pt x="12" y="17"/>
                </a:moveTo>
                <a:lnTo>
                  <a:pt x="0" y="99"/>
                </a:lnTo>
                <a:lnTo>
                  <a:pt x="12" y="110"/>
                </a:lnTo>
                <a:lnTo>
                  <a:pt x="12" y="105"/>
                </a:lnTo>
                <a:lnTo>
                  <a:pt x="18" y="105"/>
                </a:lnTo>
                <a:lnTo>
                  <a:pt x="18" y="70"/>
                </a:lnTo>
                <a:lnTo>
                  <a:pt x="42" y="116"/>
                </a:lnTo>
                <a:lnTo>
                  <a:pt x="54" y="116"/>
                </a:lnTo>
                <a:lnTo>
                  <a:pt x="54" y="99"/>
                </a:lnTo>
                <a:lnTo>
                  <a:pt x="30" y="52"/>
                </a:lnTo>
                <a:lnTo>
                  <a:pt x="72" y="29"/>
                </a:lnTo>
                <a:lnTo>
                  <a:pt x="60" y="12"/>
                </a:lnTo>
                <a:lnTo>
                  <a:pt x="24" y="35"/>
                </a:lnTo>
                <a:lnTo>
                  <a:pt x="30" y="12"/>
                </a:lnTo>
                <a:lnTo>
                  <a:pt x="18" y="0"/>
                </a:lnTo>
                <a:lnTo>
                  <a:pt x="12" y="17"/>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9" name="Freeform 126"/>
          <p:cNvSpPr>
            <a:spLocks/>
          </p:cNvSpPr>
          <p:nvPr/>
        </p:nvSpPr>
        <p:spPr bwMode="auto">
          <a:xfrm>
            <a:off x="6924675" y="4949825"/>
            <a:ext cx="179388" cy="157163"/>
          </a:xfrm>
          <a:custGeom>
            <a:avLst/>
            <a:gdLst>
              <a:gd name="T0" fmla="*/ 17 w 113"/>
              <a:gd name="T1" fmla="*/ 6 h 99"/>
              <a:gd name="T2" fmla="*/ 41 w 113"/>
              <a:gd name="T3" fmla="*/ 47 h 99"/>
              <a:gd name="T4" fmla="*/ 0 w 113"/>
              <a:gd name="T5" fmla="*/ 76 h 99"/>
              <a:gd name="T6" fmla="*/ 6 w 113"/>
              <a:gd name="T7" fmla="*/ 99 h 99"/>
              <a:gd name="T8" fmla="*/ 11 w 113"/>
              <a:gd name="T9" fmla="*/ 93 h 99"/>
              <a:gd name="T10" fmla="*/ 11 w 113"/>
              <a:gd name="T11" fmla="*/ 99 h 99"/>
              <a:gd name="T12" fmla="*/ 53 w 113"/>
              <a:gd name="T13" fmla="*/ 70 h 99"/>
              <a:gd name="T14" fmla="*/ 71 w 113"/>
              <a:gd name="T15" fmla="*/ 99 h 99"/>
              <a:gd name="T16" fmla="*/ 89 w 113"/>
              <a:gd name="T17" fmla="*/ 93 h 99"/>
              <a:gd name="T18" fmla="*/ 95 w 113"/>
              <a:gd name="T19" fmla="*/ 87 h 99"/>
              <a:gd name="T20" fmla="*/ 71 w 113"/>
              <a:gd name="T21" fmla="*/ 53 h 99"/>
              <a:gd name="T22" fmla="*/ 113 w 113"/>
              <a:gd name="T23" fmla="*/ 12 h 99"/>
              <a:gd name="T24" fmla="*/ 95 w 113"/>
              <a:gd name="T25" fmla="*/ 0 h 99"/>
              <a:gd name="T26" fmla="*/ 59 w 113"/>
              <a:gd name="T27" fmla="*/ 29 h 99"/>
              <a:gd name="T28" fmla="*/ 41 w 113"/>
              <a:gd name="T29" fmla="*/ 0 h 99"/>
              <a:gd name="T30" fmla="*/ 29 w 113"/>
              <a:gd name="T31" fmla="*/ 0 h 99"/>
              <a:gd name="T32" fmla="*/ 23 w 113"/>
              <a:gd name="T33" fmla="*/ 0 h 99"/>
              <a:gd name="T34" fmla="*/ 17 w 113"/>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
              <a:gd name="T55" fmla="*/ 0 h 99"/>
              <a:gd name="T56" fmla="*/ 113 w 113"/>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 h="99">
                <a:moveTo>
                  <a:pt x="17" y="6"/>
                </a:moveTo>
                <a:lnTo>
                  <a:pt x="41" y="47"/>
                </a:lnTo>
                <a:lnTo>
                  <a:pt x="0" y="76"/>
                </a:lnTo>
                <a:lnTo>
                  <a:pt x="6" y="99"/>
                </a:lnTo>
                <a:lnTo>
                  <a:pt x="11" y="93"/>
                </a:lnTo>
                <a:lnTo>
                  <a:pt x="11" y="99"/>
                </a:lnTo>
                <a:lnTo>
                  <a:pt x="53" y="70"/>
                </a:lnTo>
                <a:lnTo>
                  <a:pt x="71" y="99"/>
                </a:lnTo>
                <a:lnTo>
                  <a:pt x="89" y="93"/>
                </a:lnTo>
                <a:lnTo>
                  <a:pt x="95" y="87"/>
                </a:lnTo>
                <a:lnTo>
                  <a:pt x="71" y="53"/>
                </a:lnTo>
                <a:lnTo>
                  <a:pt x="113" y="12"/>
                </a:lnTo>
                <a:lnTo>
                  <a:pt x="95" y="0"/>
                </a:lnTo>
                <a:lnTo>
                  <a:pt x="59" y="29"/>
                </a:lnTo>
                <a:lnTo>
                  <a:pt x="41" y="0"/>
                </a:lnTo>
                <a:lnTo>
                  <a:pt x="29" y="0"/>
                </a:lnTo>
                <a:lnTo>
                  <a:pt x="23" y="0"/>
                </a:lnTo>
                <a:lnTo>
                  <a:pt x="17" y="6"/>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0" name="Freeform 127"/>
          <p:cNvSpPr>
            <a:spLocks/>
          </p:cNvSpPr>
          <p:nvPr/>
        </p:nvSpPr>
        <p:spPr bwMode="auto">
          <a:xfrm>
            <a:off x="6924675" y="4949825"/>
            <a:ext cx="179388" cy="157163"/>
          </a:xfrm>
          <a:custGeom>
            <a:avLst/>
            <a:gdLst>
              <a:gd name="T0" fmla="*/ 17 w 113"/>
              <a:gd name="T1" fmla="*/ 6 h 99"/>
              <a:gd name="T2" fmla="*/ 41 w 113"/>
              <a:gd name="T3" fmla="*/ 47 h 99"/>
              <a:gd name="T4" fmla="*/ 0 w 113"/>
              <a:gd name="T5" fmla="*/ 76 h 99"/>
              <a:gd name="T6" fmla="*/ 6 w 113"/>
              <a:gd name="T7" fmla="*/ 99 h 99"/>
              <a:gd name="T8" fmla="*/ 11 w 113"/>
              <a:gd name="T9" fmla="*/ 93 h 99"/>
              <a:gd name="T10" fmla="*/ 11 w 113"/>
              <a:gd name="T11" fmla="*/ 99 h 99"/>
              <a:gd name="T12" fmla="*/ 53 w 113"/>
              <a:gd name="T13" fmla="*/ 70 h 99"/>
              <a:gd name="T14" fmla="*/ 71 w 113"/>
              <a:gd name="T15" fmla="*/ 99 h 99"/>
              <a:gd name="T16" fmla="*/ 89 w 113"/>
              <a:gd name="T17" fmla="*/ 93 h 99"/>
              <a:gd name="T18" fmla="*/ 95 w 113"/>
              <a:gd name="T19" fmla="*/ 87 h 99"/>
              <a:gd name="T20" fmla="*/ 71 w 113"/>
              <a:gd name="T21" fmla="*/ 53 h 99"/>
              <a:gd name="T22" fmla="*/ 113 w 113"/>
              <a:gd name="T23" fmla="*/ 12 h 99"/>
              <a:gd name="T24" fmla="*/ 95 w 113"/>
              <a:gd name="T25" fmla="*/ 0 h 99"/>
              <a:gd name="T26" fmla="*/ 59 w 113"/>
              <a:gd name="T27" fmla="*/ 29 h 99"/>
              <a:gd name="T28" fmla="*/ 41 w 113"/>
              <a:gd name="T29" fmla="*/ 0 h 99"/>
              <a:gd name="T30" fmla="*/ 29 w 113"/>
              <a:gd name="T31" fmla="*/ 0 h 99"/>
              <a:gd name="T32" fmla="*/ 23 w 113"/>
              <a:gd name="T33" fmla="*/ 0 h 99"/>
              <a:gd name="T34" fmla="*/ 17 w 113"/>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
              <a:gd name="T55" fmla="*/ 0 h 99"/>
              <a:gd name="T56" fmla="*/ 113 w 113"/>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 h="99">
                <a:moveTo>
                  <a:pt x="17" y="6"/>
                </a:moveTo>
                <a:lnTo>
                  <a:pt x="41" y="47"/>
                </a:lnTo>
                <a:lnTo>
                  <a:pt x="0" y="76"/>
                </a:lnTo>
                <a:lnTo>
                  <a:pt x="6" y="99"/>
                </a:lnTo>
                <a:lnTo>
                  <a:pt x="11" y="93"/>
                </a:lnTo>
                <a:lnTo>
                  <a:pt x="11" y="99"/>
                </a:lnTo>
                <a:lnTo>
                  <a:pt x="53" y="70"/>
                </a:lnTo>
                <a:lnTo>
                  <a:pt x="71" y="99"/>
                </a:lnTo>
                <a:lnTo>
                  <a:pt x="89" y="93"/>
                </a:lnTo>
                <a:lnTo>
                  <a:pt x="95" y="87"/>
                </a:lnTo>
                <a:lnTo>
                  <a:pt x="71" y="53"/>
                </a:lnTo>
                <a:lnTo>
                  <a:pt x="113" y="12"/>
                </a:lnTo>
                <a:lnTo>
                  <a:pt x="95" y="0"/>
                </a:lnTo>
                <a:lnTo>
                  <a:pt x="59" y="29"/>
                </a:lnTo>
                <a:lnTo>
                  <a:pt x="41" y="0"/>
                </a:lnTo>
                <a:lnTo>
                  <a:pt x="29" y="0"/>
                </a:lnTo>
                <a:lnTo>
                  <a:pt x="23" y="0"/>
                </a:lnTo>
                <a:lnTo>
                  <a:pt x="17" y="6"/>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31" name="Freeform 128"/>
          <p:cNvSpPr>
            <a:spLocks/>
          </p:cNvSpPr>
          <p:nvPr/>
        </p:nvSpPr>
        <p:spPr bwMode="auto">
          <a:xfrm>
            <a:off x="6934200" y="5097463"/>
            <a:ext cx="103188" cy="157162"/>
          </a:xfrm>
          <a:custGeom>
            <a:avLst/>
            <a:gdLst>
              <a:gd name="T0" fmla="*/ 41 w 65"/>
              <a:gd name="T1" fmla="*/ 0 h 99"/>
              <a:gd name="T2" fmla="*/ 41 w 65"/>
              <a:gd name="T3" fmla="*/ 6 h 99"/>
              <a:gd name="T4" fmla="*/ 47 w 65"/>
              <a:gd name="T5" fmla="*/ 6 h 99"/>
              <a:gd name="T6" fmla="*/ 53 w 65"/>
              <a:gd name="T7" fmla="*/ 6 h 99"/>
              <a:gd name="T8" fmla="*/ 53 w 65"/>
              <a:gd name="T9" fmla="*/ 12 h 99"/>
              <a:gd name="T10" fmla="*/ 59 w 65"/>
              <a:gd name="T11" fmla="*/ 12 h 99"/>
              <a:gd name="T12" fmla="*/ 59 w 65"/>
              <a:gd name="T13" fmla="*/ 18 h 99"/>
              <a:gd name="T14" fmla="*/ 65 w 65"/>
              <a:gd name="T15" fmla="*/ 24 h 99"/>
              <a:gd name="T16" fmla="*/ 65 w 65"/>
              <a:gd name="T17" fmla="*/ 29 h 99"/>
              <a:gd name="T18" fmla="*/ 65 w 65"/>
              <a:gd name="T19" fmla="*/ 35 h 99"/>
              <a:gd name="T20" fmla="*/ 65 w 65"/>
              <a:gd name="T21" fmla="*/ 41 h 99"/>
              <a:gd name="T22" fmla="*/ 65 w 65"/>
              <a:gd name="T23" fmla="*/ 47 h 99"/>
              <a:gd name="T24" fmla="*/ 65 w 65"/>
              <a:gd name="T25" fmla="*/ 53 h 99"/>
              <a:gd name="T26" fmla="*/ 65 w 65"/>
              <a:gd name="T27" fmla="*/ 58 h 99"/>
              <a:gd name="T28" fmla="*/ 65 w 65"/>
              <a:gd name="T29" fmla="*/ 64 h 99"/>
              <a:gd name="T30" fmla="*/ 65 w 65"/>
              <a:gd name="T31" fmla="*/ 70 h 99"/>
              <a:gd name="T32" fmla="*/ 59 w 65"/>
              <a:gd name="T33" fmla="*/ 70 h 99"/>
              <a:gd name="T34" fmla="*/ 59 w 65"/>
              <a:gd name="T35" fmla="*/ 76 h 99"/>
              <a:gd name="T36" fmla="*/ 59 w 65"/>
              <a:gd name="T37" fmla="*/ 82 h 99"/>
              <a:gd name="T38" fmla="*/ 53 w 65"/>
              <a:gd name="T39" fmla="*/ 82 h 99"/>
              <a:gd name="T40" fmla="*/ 53 w 65"/>
              <a:gd name="T41" fmla="*/ 87 h 99"/>
              <a:gd name="T42" fmla="*/ 47 w 65"/>
              <a:gd name="T43" fmla="*/ 87 h 99"/>
              <a:gd name="T44" fmla="*/ 47 w 65"/>
              <a:gd name="T45" fmla="*/ 93 h 99"/>
              <a:gd name="T46" fmla="*/ 41 w 65"/>
              <a:gd name="T47" fmla="*/ 93 h 99"/>
              <a:gd name="T48" fmla="*/ 35 w 65"/>
              <a:gd name="T49" fmla="*/ 99 h 99"/>
              <a:gd name="T50" fmla="*/ 29 w 65"/>
              <a:gd name="T51" fmla="*/ 99 h 99"/>
              <a:gd name="T52" fmla="*/ 23 w 65"/>
              <a:gd name="T53" fmla="*/ 99 h 99"/>
              <a:gd name="T54" fmla="*/ 17 w 65"/>
              <a:gd name="T55" fmla="*/ 99 h 99"/>
              <a:gd name="T56" fmla="*/ 17 w 65"/>
              <a:gd name="T57" fmla="*/ 93 h 99"/>
              <a:gd name="T58" fmla="*/ 11 w 65"/>
              <a:gd name="T59" fmla="*/ 93 h 99"/>
              <a:gd name="T60" fmla="*/ 11 w 65"/>
              <a:gd name="T61" fmla="*/ 87 h 99"/>
              <a:gd name="T62" fmla="*/ 5 w 65"/>
              <a:gd name="T63" fmla="*/ 87 h 99"/>
              <a:gd name="T64" fmla="*/ 5 w 65"/>
              <a:gd name="T65" fmla="*/ 82 h 99"/>
              <a:gd name="T66" fmla="*/ 0 w 65"/>
              <a:gd name="T67" fmla="*/ 76 h 99"/>
              <a:gd name="T68" fmla="*/ 0 w 65"/>
              <a:gd name="T69" fmla="*/ 70 h 99"/>
              <a:gd name="T70" fmla="*/ 0 w 65"/>
              <a:gd name="T71" fmla="*/ 64 h 99"/>
              <a:gd name="T72" fmla="*/ 0 w 65"/>
              <a:gd name="T73" fmla="*/ 58 h 99"/>
              <a:gd name="T74" fmla="*/ 0 w 65"/>
              <a:gd name="T75" fmla="*/ 53 h 99"/>
              <a:gd name="T76" fmla="*/ 0 w 65"/>
              <a:gd name="T77" fmla="*/ 47 h 99"/>
              <a:gd name="T78" fmla="*/ 0 w 65"/>
              <a:gd name="T79" fmla="*/ 41 h 99"/>
              <a:gd name="T80" fmla="*/ 0 w 65"/>
              <a:gd name="T81" fmla="*/ 35 h 99"/>
              <a:gd name="T82" fmla="*/ 5 w 65"/>
              <a:gd name="T83" fmla="*/ 35 h 99"/>
              <a:gd name="T84" fmla="*/ 5 w 65"/>
              <a:gd name="T85" fmla="*/ 29 h 99"/>
              <a:gd name="T86" fmla="*/ 5 w 65"/>
              <a:gd name="T87" fmla="*/ 24 h 99"/>
              <a:gd name="T88" fmla="*/ 11 w 65"/>
              <a:gd name="T89" fmla="*/ 24 h 99"/>
              <a:gd name="T90" fmla="*/ 11 w 65"/>
              <a:gd name="T91" fmla="*/ 18 h 99"/>
              <a:gd name="T92" fmla="*/ 11 w 65"/>
              <a:gd name="T93" fmla="*/ 12 h 99"/>
              <a:gd name="T94" fmla="*/ 17 w 65"/>
              <a:gd name="T95" fmla="*/ 12 h 99"/>
              <a:gd name="T96" fmla="*/ 17 w 65"/>
              <a:gd name="T97" fmla="*/ 6 h 99"/>
              <a:gd name="T98" fmla="*/ 23 w 65"/>
              <a:gd name="T99" fmla="*/ 6 h 99"/>
              <a:gd name="T100" fmla="*/ 29 w 65"/>
              <a:gd name="T101" fmla="*/ 6 h 99"/>
              <a:gd name="T102" fmla="*/ 35 w 65"/>
              <a:gd name="T103" fmla="*/ 0 h 99"/>
              <a:gd name="T104" fmla="*/ 41 w 65"/>
              <a:gd name="T105" fmla="*/ 0 h 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5"/>
              <a:gd name="T160" fmla="*/ 0 h 99"/>
              <a:gd name="T161" fmla="*/ 65 w 65"/>
              <a:gd name="T162" fmla="*/ 99 h 9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5" h="99">
                <a:moveTo>
                  <a:pt x="41" y="0"/>
                </a:moveTo>
                <a:lnTo>
                  <a:pt x="41" y="6"/>
                </a:lnTo>
                <a:lnTo>
                  <a:pt x="47" y="6"/>
                </a:lnTo>
                <a:lnTo>
                  <a:pt x="53" y="6"/>
                </a:lnTo>
                <a:lnTo>
                  <a:pt x="53" y="12"/>
                </a:lnTo>
                <a:lnTo>
                  <a:pt x="59" y="12"/>
                </a:lnTo>
                <a:lnTo>
                  <a:pt x="59" y="18"/>
                </a:lnTo>
                <a:lnTo>
                  <a:pt x="65" y="24"/>
                </a:lnTo>
                <a:lnTo>
                  <a:pt x="65" y="29"/>
                </a:lnTo>
                <a:lnTo>
                  <a:pt x="65" y="35"/>
                </a:lnTo>
                <a:lnTo>
                  <a:pt x="65" y="41"/>
                </a:lnTo>
                <a:lnTo>
                  <a:pt x="65" y="47"/>
                </a:lnTo>
                <a:lnTo>
                  <a:pt x="65" y="53"/>
                </a:lnTo>
                <a:lnTo>
                  <a:pt x="65" y="58"/>
                </a:lnTo>
                <a:lnTo>
                  <a:pt x="65" y="64"/>
                </a:lnTo>
                <a:lnTo>
                  <a:pt x="65" y="70"/>
                </a:lnTo>
                <a:lnTo>
                  <a:pt x="59" y="70"/>
                </a:lnTo>
                <a:lnTo>
                  <a:pt x="59" y="76"/>
                </a:lnTo>
                <a:lnTo>
                  <a:pt x="59" y="82"/>
                </a:lnTo>
                <a:lnTo>
                  <a:pt x="53" y="82"/>
                </a:lnTo>
                <a:lnTo>
                  <a:pt x="53" y="87"/>
                </a:lnTo>
                <a:lnTo>
                  <a:pt x="47" y="87"/>
                </a:lnTo>
                <a:lnTo>
                  <a:pt x="47" y="93"/>
                </a:lnTo>
                <a:lnTo>
                  <a:pt x="41" y="93"/>
                </a:lnTo>
                <a:lnTo>
                  <a:pt x="35" y="99"/>
                </a:lnTo>
                <a:lnTo>
                  <a:pt x="29" y="99"/>
                </a:lnTo>
                <a:lnTo>
                  <a:pt x="23" y="99"/>
                </a:lnTo>
                <a:lnTo>
                  <a:pt x="17" y="99"/>
                </a:lnTo>
                <a:lnTo>
                  <a:pt x="17" y="93"/>
                </a:lnTo>
                <a:lnTo>
                  <a:pt x="11" y="93"/>
                </a:lnTo>
                <a:lnTo>
                  <a:pt x="11" y="87"/>
                </a:lnTo>
                <a:lnTo>
                  <a:pt x="5" y="87"/>
                </a:lnTo>
                <a:lnTo>
                  <a:pt x="5" y="82"/>
                </a:lnTo>
                <a:lnTo>
                  <a:pt x="0" y="76"/>
                </a:lnTo>
                <a:lnTo>
                  <a:pt x="0" y="70"/>
                </a:lnTo>
                <a:lnTo>
                  <a:pt x="0" y="64"/>
                </a:lnTo>
                <a:lnTo>
                  <a:pt x="0" y="58"/>
                </a:lnTo>
                <a:lnTo>
                  <a:pt x="0" y="53"/>
                </a:lnTo>
                <a:lnTo>
                  <a:pt x="0" y="47"/>
                </a:lnTo>
                <a:lnTo>
                  <a:pt x="0" y="41"/>
                </a:lnTo>
                <a:lnTo>
                  <a:pt x="0" y="35"/>
                </a:lnTo>
                <a:lnTo>
                  <a:pt x="5" y="35"/>
                </a:lnTo>
                <a:lnTo>
                  <a:pt x="5" y="29"/>
                </a:lnTo>
                <a:lnTo>
                  <a:pt x="5" y="24"/>
                </a:lnTo>
                <a:lnTo>
                  <a:pt x="11" y="24"/>
                </a:lnTo>
                <a:lnTo>
                  <a:pt x="11" y="18"/>
                </a:lnTo>
                <a:lnTo>
                  <a:pt x="11" y="12"/>
                </a:lnTo>
                <a:lnTo>
                  <a:pt x="17" y="12"/>
                </a:lnTo>
                <a:lnTo>
                  <a:pt x="17" y="6"/>
                </a:lnTo>
                <a:lnTo>
                  <a:pt x="23" y="6"/>
                </a:lnTo>
                <a:lnTo>
                  <a:pt x="29" y="6"/>
                </a:lnTo>
                <a:lnTo>
                  <a:pt x="35" y="0"/>
                </a:lnTo>
                <a:lnTo>
                  <a:pt x="41"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2" name="Freeform 129"/>
          <p:cNvSpPr>
            <a:spLocks/>
          </p:cNvSpPr>
          <p:nvPr/>
        </p:nvSpPr>
        <p:spPr bwMode="auto">
          <a:xfrm>
            <a:off x="6934200" y="5097463"/>
            <a:ext cx="103188" cy="157162"/>
          </a:xfrm>
          <a:custGeom>
            <a:avLst/>
            <a:gdLst>
              <a:gd name="T0" fmla="*/ 41 w 65"/>
              <a:gd name="T1" fmla="*/ 0 h 99"/>
              <a:gd name="T2" fmla="*/ 53 w 65"/>
              <a:gd name="T3" fmla="*/ 6 h 99"/>
              <a:gd name="T4" fmla="*/ 65 w 65"/>
              <a:gd name="T5" fmla="*/ 24 h 99"/>
              <a:gd name="T6" fmla="*/ 65 w 65"/>
              <a:gd name="T7" fmla="*/ 35 h 99"/>
              <a:gd name="T8" fmla="*/ 65 w 65"/>
              <a:gd name="T9" fmla="*/ 58 h 99"/>
              <a:gd name="T10" fmla="*/ 59 w 65"/>
              <a:gd name="T11" fmla="*/ 76 h 99"/>
              <a:gd name="T12" fmla="*/ 47 w 65"/>
              <a:gd name="T13" fmla="*/ 87 h 99"/>
              <a:gd name="T14" fmla="*/ 35 w 65"/>
              <a:gd name="T15" fmla="*/ 99 h 99"/>
              <a:gd name="T16" fmla="*/ 23 w 65"/>
              <a:gd name="T17" fmla="*/ 99 h 99"/>
              <a:gd name="T18" fmla="*/ 11 w 65"/>
              <a:gd name="T19" fmla="*/ 93 h 99"/>
              <a:gd name="T20" fmla="*/ 5 w 65"/>
              <a:gd name="T21" fmla="*/ 82 h 99"/>
              <a:gd name="T22" fmla="*/ 0 w 65"/>
              <a:gd name="T23" fmla="*/ 64 h 99"/>
              <a:gd name="T24" fmla="*/ 0 w 65"/>
              <a:gd name="T25" fmla="*/ 47 h 99"/>
              <a:gd name="T26" fmla="*/ 5 w 65"/>
              <a:gd name="T27" fmla="*/ 29 h 99"/>
              <a:gd name="T28" fmla="*/ 17 w 65"/>
              <a:gd name="T29" fmla="*/ 12 h 99"/>
              <a:gd name="T30" fmla="*/ 29 w 65"/>
              <a:gd name="T31" fmla="*/ 6 h 99"/>
              <a:gd name="T32" fmla="*/ 41 w 65"/>
              <a:gd name="T33" fmla="*/ 0 h 9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
              <a:gd name="T52" fmla="*/ 0 h 99"/>
              <a:gd name="T53" fmla="*/ 65 w 65"/>
              <a:gd name="T54" fmla="*/ 99 h 9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 h="99">
                <a:moveTo>
                  <a:pt x="41" y="0"/>
                </a:moveTo>
                <a:lnTo>
                  <a:pt x="53" y="6"/>
                </a:lnTo>
                <a:lnTo>
                  <a:pt x="65" y="24"/>
                </a:lnTo>
                <a:lnTo>
                  <a:pt x="65" y="35"/>
                </a:lnTo>
                <a:lnTo>
                  <a:pt x="65" y="58"/>
                </a:lnTo>
                <a:lnTo>
                  <a:pt x="59" y="76"/>
                </a:lnTo>
                <a:lnTo>
                  <a:pt x="47" y="87"/>
                </a:lnTo>
                <a:lnTo>
                  <a:pt x="35" y="99"/>
                </a:lnTo>
                <a:lnTo>
                  <a:pt x="23" y="99"/>
                </a:lnTo>
                <a:lnTo>
                  <a:pt x="11" y="93"/>
                </a:lnTo>
                <a:lnTo>
                  <a:pt x="5" y="82"/>
                </a:lnTo>
                <a:lnTo>
                  <a:pt x="0" y="64"/>
                </a:lnTo>
                <a:lnTo>
                  <a:pt x="0" y="47"/>
                </a:lnTo>
                <a:lnTo>
                  <a:pt x="5" y="29"/>
                </a:lnTo>
                <a:lnTo>
                  <a:pt x="17" y="12"/>
                </a:lnTo>
                <a:lnTo>
                  <a:pt x="29" y="6"/>
                </a:lnTo>
                <a:lnTo>
                  <a:pt x="41"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33" name="Freeform 130"/>
          <p:cNvSpPr>
            <a:spLocks/>
          </p:cNvSpPr>
          <p:nvPr/>
        </p:nvSpPr>
        <p:spPr bwMode="auto">
          <a:xfrm>
            <a:off x="6961188" y="5135563"/>
            <a:ext cx="47625" cy="82550"/>
          </a:xfrm>
          <a:custGeom>
            <a:avLst/>
            <a:gdLst>
              <a:gd name="T0" fmla="*/ 18 w 30"/>
              <a:gd name="T1" fmla="*/ 0 h 52"/>
              <a:gd name="T2" fmla="*/ 24 w 30"/>
              <a:gd name="T3" fmla="*/ 0 h 52"/>
              <a:gd name="T4" fmla="*/ 24 w 30"/>
              <a:gd name="T5" fmla="*/ 5 h 52"/>
              <a:gd name="T6" fmla="*/ 24 w 30"/>
              <a:gd name="T7" fmla="*/ 11 h 52"/>
              <a:gd name="T8" fmla="*/ 30 w 30"/>
              <a:gd name="T9" fmla="*/ 11 h 52"/>
              <a:gd name="T10" fmla="*/ 30 w 30"/>
              <a:gd name="T11" fmla="*/ 17 h 52"/>
              <a:gd name="T12" fmla="*/ 30 w 30"/>
              <a:gd name="T13" fmla="*/ 23 h 52"/>
              <a:gd name="T14" fmla="*/ 24 w 30"/>
              <a:gd name="T15" fmla="*/ 23 h 52"/>
              <a:gd name="T16" fmla="*/ 24 w 30"/>
              <a:gd name="T17" fmla="*/ 29 h 52"/>
              <a:gd name="T18" fmla="*/ 24 w 30"/>
              <a:gd name="T19" fmla="*/ 34 h 52"/>
              <a:gd name="T20" fmla="*/ 24 w 30"/>
              <a:gd name="T21" fmla="*/ 40 h 52"/>
              <a:gd name="T22" fmla="*/ 18 w 30"/>
              <a:gd name="T23" fmla="*/ 40 h 52"/>
              <a:gd name="T24" fmla="*/ 18 w 30"/>
              <a:gd name="T25" fmla="*/ 46 h 52"/>
              <a:gd name="T26" fmla="*/ 12 w 30"/>
              <a:gd name="T27" fmla="*/ 46 h 52"/>
              <a:gd name="T28" fmla="*/ 12 w 30"/>
              <a:gd name="T29" fmla="*/ 52 h 52"/>
              <a:gd name="T30" fmla="*/ 6 w 30"/>
              <a:gd name="T31" fmla="*/ 52 h 52"/>
              <a:gd name="T32" fmla="*/ 6 w 30"/>
              <a:gd name="T33" fmla="*/ 46 h 52"/>
              <a:gd name="T34" fmla="*/ 0 w 30"/>
              <a:gd name="T35" fmla="*/ 46 h 52"/>
              <a:gd name="T36" fmla="*/ 0 w 30"/>
              <a:gd name="T37" fmla="*/ 40 h 52"/>
              <a:gd name="T38" fmla="*/ 0 w 30"/>
              <a:gd name="T39" fmla="*/ 34 h 52"/>
              <a:gd name="T40" fmla="*/ 0 w 30"/>
              <a:gd name="T41" fmla="*/ 29 h 52"/>
              <a:gd name="T42" fmla="*/ 0 w 30"/>
              <a:gd name="T43" fmla="*/ 23 h 52"/>
              <a:gd name="T44" fmla="*/ 0 w 30"/>
              <a:gd name="T45" fmla="*/ 17 h 52"/>
              <a:gd name="T46" fmla="*/ 0 w 30"/>
              <a:gd name="T47" fmla="*/ 11 h 52"/>
              <a:gd name="T48" fmla="*/ 6 w 30"/>
              <a:gd name="T49" fmla="*/ 11 h 52"/>
              <a:gd name="T50" fmla="*/ 6 w 30"/>
              <a:gd name="T51" fmla="*/ 5 h 52"/>
              <a:gd name="T52" fmla="*/ 6 w 30"/>
              <a:gd name="T53" fmla="*/ 0 h 52"/>
              <a:gd name="T54" fmla="*/ 12 w 30"/>
              <a:gd name="T55" fmla="*/ 0 h 52"/>
              <a:gd name="T56" fmla="*/ 18 w 30"/>
              <a:gd name="T57" fmla="*/ 0 h 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0"/>
              <a:gd name="T88" fmla="*/ 0 h 52"/>
              <a:gd name="T89" fmla="*/ 30 w 30"/>
              <a:gd name="T90" fmla="*/ 52 h 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0" h="52">
                <a:moveTo>
                  <a:pt x="18" y="0"/>
                </a:moveTo>
                <a:lnTo>
                  <a:pt x="24" y="0"/>
                </a:lnTo>
                <a:lnTo>
                  <a:pt x="24" y="5"/>
                </a:lnTo>
                <a:lnTo>
                  <a:pt x="24" y="11"/>
                </a:lnTo>
                <a:lnTo>
                  <a:pt x="30" y="11"/>
                </a:lnTo>
                <a:lnTo>
                  <a:pt x="30" y="17"/>
                </a:lnTo>
                <a:lnTo>
                  <a:pt x="30" y="23"/>
                </a:lnTo>
                <a:lnTo>
                  <a:pt x="24" y="23"/>
                </a:lnTo>
                <a:lnTo>
                  <a:pt x="24" y="29"/>
                </a:lnTo>
                <a:lnTo>
                  <a:pt x="24" y="34"/>
                </a:lnTo>
                <a:lnTo>
                  <a:pt x="24" y="40"/>
                </a:lnTo>
                <a:lnTo>
                  <a:pt x="18" y="40"/>
                </a:lnTo>
                <a:lnTo>
                  <a:pt x="18" y="46"/>
                </a:lnTo>
                <a:lnTo>
                  <a:pt x="12" y="46"/>
                </a:lnTo>
                <a:lnTo>
                  <a:pt x="12" y="52"/>
                </a:lnTo>
                <a:lnTo>
                  <a:pt x="6" y="52"/>
                </a:lnTo>
                <a:lnTo>
                  <a:pt x="6" y="46"/>
                </a:lnTo>
                <a:lnTo>
                  <a:pt x="0" y="46"/>
                </a:lnTo>
                <a:lnTo>
                  <a:pt x="0" y="40"/>
                </a:lnTo>
                <a:lnTo>
                  <a:pt x="0" y="34"/>
                </a:lnTo>
                <a:lnTo>
                  <a:pt x="0" y="29"/>
                </a:lnTo>
                <a:lnTo>
                  <a:pt x="0" y="23"/>
                </a:lnTo>
                <a:lnTo>
                  <a:pt x="0" y="17"/>
                </a:lnTo>
                <a:lnTo>
                  <a:pt x="0" y="11"/>
                </a:lnTo>
                <a:lnTo>
                  <a:pt x="6" y="11"/>
                </a:lnTo>
                <a:lnTo>
                  <a:pt x="6" y="5"/>
                </a:lnTo>
                <a:lnTo>
                  <a:pt x="6" y="0"/>
                </a:lnTo>
                <a:lnTo>
                  <a:pt x="12" y="0"/>
                </a:lnTo>
                <a:lnTo>
                  <a:pt x="1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4" name="Freeform 131"/>
          <p:cNvSpPr>
            <a:spLocks/>
          </p:cNvSpPr>
          <p:nvPr/>
        </p:nvSpPr>
        <p:spPr bwMode="auto">
          <a:xfrm>
            <a:off x="6961188" y="5135563"/>
            <a:ext cx="47625" cy="82550"/>
          </a:xfrm>
          <a:custGeom>
            <a:avLst/>
            <a:gdLst>
              <a:gd name="T0" fmla="*/ 18 w 30"/>
              <a:gd name="T1" fmla="*/ 0 h 52"/>
              <a:gd name="T2" fmla="*/ 24 w 30"/>
              <a:gd name="T3" fmla="*/ 0 h 52"/>
              <a:gd name="T4" fmla="*/ 24 w 30"/>
              <a:gd name="T5" fmla="*/ 5 h 52"/>
              <a:gd name="T6" fmla="*/ 30 w 30"/>
              <a:gd name="T7" fmla="*/ 17 h 52"/>
              <a:gd name="T8" fmla="*/ 24 w 30"/>
              <a:gd name="T9" fmla="*/ 23 h 52"/>
              <a:gd name="T10" fmla="*/ 24 w 30"/>
              <a:gd name="T11" fmla="*/ 34 h 52"/>
              <a:gd name="T12" fmla="*/ 18 w 30"/>
              <a:gd name="T13" fmla="*/ 40 h 52"/>
              <a:gd name="T14" fmla="*/ 12 w 30"/>
              <a:gd name="T15" fmla="*/ 46 h 52"/>
              <a:gd name="T16" fmla="*/ 6 w 30"/>
              <a:gd name="T17" fmla="*/ 52 h 52"/>
              <a:gd name="T18" fmla="*/ 6 w 30"/>
              <a:gd name="T19" fmla="*/ 46 h 52"/>
              <a:gd name="T20" fmla="*/ 0 w 30"/>
              <a:gd name="T21" fmla="*/ 40 h 52"/>
              <a:gd name="T22" fmla="*/ 0 w 30"/>
              <a:gd name="T23" fmla="*/ 29 h 52"/>
              <a:gd name="T24" fmla="*/ 0 w 30"/>
              <a:gd name="T25" fmla="*/ 23 h 52"/>
              <a:gd name="T26" fmla="*/ 6 w 30"/>
              <a:gd name="T27" fmla="*/ 11 h 52"/>
              <a:gd name="T28" fmla="*/ 6 w 30"/>
              <a:gd name="T29" fmla="*/ 5 h 52"/>
              <a:gd name="T30" fmla="*/ 12 w 30"/>
              <a:gd name="T31" fmla="*/ 0 h 52"/>
              <a:gd name="T32" fmla="*/ 18 w 30"/>
              <a:gd name="T33" fmla="*/ 0 h 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52"/>
              <a:gd name="T53" fmla="*/ 30 w 30"/>
              <a:gd name="T54" fmla="*/ 52 h 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52">
                <a:moveTo>
                  <a:pt x="18" y="0"/>
                </a:moveTo>
                <a:lnTo>
                  <a:pt x="24" y="0"/>
                </a:lnTo>
                <a:lnTo>
                  <a:pt x="24" y="5"/>
                </a:lnTo>
                <a:lnTo>
                  <a:pt x="30" y="17"/>
                </a:lnTo>
                <a:lnTo>
                  <a:pt x="24" y="23"/>
                </a:lnTo>
                <a:lnTo>
                  <a:pt x="24" y="34"/>
                </a:lnTo>
                <a:lnTo>
                  <a:pt x="18" y="40"/>
                </a:lnTo>
                <a:lnTo>
                  <a:pt x="12" y="46"/>
                </a:lnTo>
                <a:lnTo>
                  <a:pt x="6" y="52"/>
                </a:lnTo>
                <a:lnTo>
                  <a:pt x="6" y="46"/>
                </a:lnTo>
                <a:lnTo>
                  <a:pt x="0" y="40"/>
                </a:lnTo>
                <a:lnTo>
                  <a:pt x="0" y="29"/>
                </a:lnTo>
                <a:lnTo>
                  <a:pt x="0" y="23"/>
                </a:lnTo>
                <a:lnTo>
                  <a:pt x="6" y="11"/>
                </a:lnTo>
                <a:lnTo>
                  <a:pt x="6" y="5"/>
                </a:lnTo>
                <a:lnTo>
                  <a:pt x="12" y="0"/>
                </a:lnTo>
                <a:lnTo>
                  <a:pt x="1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35" name="Freeform 132"/>
          <p:cNvSpPr>
            <a:spLocks/>
          </p:cNvSpPr>
          <p:nvPr/>
        </p:nvSpPr>
        <p:spPr bwMode="auto">
          <a:xfrm>
            <a:off x="8818563" y="4552950"/>
            <a:ext cx="1587" cy="19050"/>
          </a:xfrm>
          <a:custGeom>
            <a:avLst/>
            <a:gdLst>
              <a:gd name="T0" fmla="*/ 0 w 1587"/>
              <a:gd name="T1" fmla="*/ 0 h 12"/>
              <a:gd name="T2" fmla="*/ 0 w 1587"/>
              <a:gd name="T3" fmla="*/ 6 h 12"/>
              <a:gd name="T4" fmla="*/ 0 w 1587"/>
              <a:gd name="T5" fmla="*/ 12 h 12"/>
              <a:gd name="T6" fmla="*/ 0 w 1587"/>
              <a:gd name="T7" fmla="*/ 6 h 12"/>
              <a:gd name="T8" fmla="*/ 0 w 1587"/>
              <a:gd name="T9" fmla="*/ 0 h 12"/>
              <a:gd name="T10" fmla="*/ 0 60000 65536"/>
              <a:gd name="T11" fmla="*/ 0 60000 65536"/>
              <a:gd name="T12" fmla="*/ 0 60000 65536"/>
              <a:gd name="T13" fmla="*/ 0 60000 65536"/>
              <a:gd name="T14" fmla="*/ 0 60000 65536"/>
              <a:gd name="T15" fmla="*/ 0 w 1587"/>
              <a:gd name="T16" fmla="*/ 0 h 12"/>
              <a:gd name="T17" fmla="*/ 1587 w 1587"/>
              <a:gd name="T18" fmla="*/ 12 h 12"/>
            </a:gdLst>
            <a:ahLst/>
            <a:cxnLst>
              <a:cxn ang="T10">
                <a:pos x="T0" y="T1"/>
              </a:cxn>
              <a:cxn ang="T11">
                <a:pos x="T2" y="T3"/>
              </a:cxn>
              <a:cxn ang="T12">
                <a:pos x="T4" y="T5"/>
              </a:cxn>
              <a:cxn ang="T13">
                <a:pos x="T6" y="T7"/>
              </a:cxn>
              <a:cxn ang="T14">
                <a:pos x="T8" y="T9"/>
              </a:cxn>
            </a:cxnLst>
            <a:rect l="T15" t="T16" r="T17" b="T18"/>
            <a:pathLst>
              <a:path w="1587" h="12">
                <a:moveTo>
                  <a:pt x="0" y="0"/>
                </a:moveTo>
                <a:lnTo>
                  <a:pt x="0" y="6"/>
                </a:lnTo>
                <a:lnTo>
                  <a:pt x="0" y="12"/>
                </a:lnTo>
                <a:lnTo>
                  <a:pt x="0" y="6"/>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6" name="Freeform 133"/>
          <p:cNvSpPr>
            <a:spLocks/>
          </p:cNvSpPr>
          <p:nvPr/>
        </p:nvSpPr>
        <p:spPr bwMode="auto">
          <a:xfrm>
            <a:off x="8818563" y="4552950"/>
            <a:ext cx="1587" cy="19050"/>
          </a:xfrm>
          <a:custGeom>
            <a:avLst/>
            <a:gdLst>
              <a:gd name="T0" fmla="*/ 0 w 1587"/>
              <a:gd name="T1" fmla="*/ 0 h 12"/>
              <a:gd name="T2" fmla="*/ 0 w 1587"/>
              <a:gd name="T3" fmla="*/ 6 h 12"/>
              <a:gd name="T4" fmla="*/ 0 w 1587"/>
              <a:gd name="T5" fmla="*/ 12 h 12"/>
              <a:gd name="T6" fmla="*/ 0 w 1587"/>
              <a:gd name="T7" fmla="*/ 6 h 12"/>
              <a:gd name="T8" fmla="*/ 0 w 1587"/>
              <a:gd name="T9" fmla="*/ 0 h 12"/>
              <a:gd name="T10" fmla="*/ 0 60000 65536"/>
              <a:gd name="T11" fmla="*/ 0 60000 65536"/>
              <a:gd name="T12" fmla="*/ 0 60000 65536"/>
              <a:gd name="T13" fmla="*/ 0 60000 65536"/>
              <a:gd name="T14" fmla="*/ 0 60000 65536"/>
              <a:gd name="T15" fmla="*/ 0 w 1587"/>
              <a:gd name="T16" fmla="*/ 0 h 12"/>
              <a:gd name="T17" fmla="*/ 1587 w 1587"/>
              <a:gd name="T18" fmla="*/ 12 h 12"/>
            </a:gdLst>
            <a:ahLst/>
            <a:cxnLst>
              <a:cxn ang="T10">
                <a:pos x="T0" y="T1"/>
              </a:cxn>
              <a:cxn ang="T11">
                <a:pos x="T2" y="T3"/>
              </a:cxn>
              <a:cxn ang="T12">
                <a:pos x="T4" y="T5"/>
              </a:cxn>
              <a:cxn ang="T13">
                <a:pos x="T6" y="T7"/>
              </a:cxn>
              <a:cxn ang="T14">
                <a:pos x="T8" y="T9"/>
              </a:cxn>
            </a:cxnLst>
            <a:rect l="T15" t="T16" r="T17" b="T18"/>
            <a:pathLst>
              <a:path w="1587" h="12">
                <a:moveTo>
                  <a:pt x="0" y="0"/>
                </a:moveTo>
                <a:lnTo>
                  <a:pt x="0" y="6"/>
                </a:lnTo>
                <a:lnTo>
                  <a:pt x="0" y="12"/>
                </a:lnTo>
                <a:lnTo>
                  <a:pt x="0" y="6"/>
                </a:lnTo>
                <a:lnTo>
                  <a:pt x="0"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37" name="Freeform 134"/>
          <p:cNvSpPr>
            <a:spLocks/>
          </p:cNvSpPr>
          <p:nvPr/>
        </p:nvSpPr>
        <p:spPr bwMode="auto">
          <a:xfrm>
            <a:off x="8818563" y="4572000"/>
            <a:ext cx="1587" cy="1588"/>
          </a:xfrm>
          <a:custGeom>
            <a:avLst/>
            <a:gdLst>
              <a:gd name="T0" fmla="*/ 0 w 1587"/>
              <a:gd name="T1" fmla="*/ 0 h 1588"/>
              <a:gd name="T2" fmla="*/ 0 w 1587"/>
              <a:gd name="T3" fmla="*/ 0 h 1588"/>
              <a:gd name="T4" fmla="*/ 0 w 1587"/>
              <a:gd name="T5" fmla="*/ 0 h 1588"/>
              <a:gd name="T6" fmla="*/ 0 60000 65536"/>
              <a:gd name="T7" fmla="*/ 0 60000 65536"/>
              <a:gd name="T8" fmla="*/ 0 60000 65536"/>
              <a:gd name="T9" fmla="*/ 0 w 1587"/>
              <a:gd name="T10" fmla="*/ 0 h 1588"/>
              <a:gd name="T11" fmla="*/ 1587 w 1587"/>
              <a:gd name="T12" fmla="*/ 1588 h 1588"/>
            </a:gdLst>
            <a:ahLst/>
            <a:cxnLst>
              <a:cxn ang="T6">
                <a:pos x="T0" y="T1"/>
              </a:cxn>
              <a:cxn ang="T7">
                <a:pos x="T2" y="T3"/>
              </a:cxn>
              <a:cxn ang="T8">
                <a:pos x="T4" y="T5"/>
              </a:cxn>
            </a:cxnLst>
            <a:rect l="T9" t="T10" r="T11" b="T12"/>
            <a:pathLst>
              <a:path w="1587" h="1588">
                <a:moveTo>
                  <a:pt x="0" y="0"/>
                </a:move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8" name="Line 135"/>
          <p:cNvSpPr>
            <a:spLocks noChangeShapeType="1"/>
          </p:cNvSpPr>
          <p:nvPr/>
        </p:nvSpPr>
        <p:spPr bwMode="auto">
          <a:xfrm>
            <a:off x="8818563" y="4572000"/>
            <a:ext cx="1587" cy="1588"/>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9" name="Rectangle 136"/>
          <p:cNvSpPr>
            <a:spLocks noChangeArrowheads="1"/>
          </p:cNvSpPr>
          <p:nvPr/>
        </p:nvSpPr>
        <p:spPr bwMode="auto">
          <a:xfrm>
            <a:off x="8543925" y="4545013"/>
            <a:ext cx="350838" cy="37782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40" name="Rectangle 137"/>
          <p:cNvSpPr>
            <a:spLocks noChangeArrowheads="1"/>
          </p:cNvSpPr>
          <p:nvPr/>
        </p:nvSpPr>
        <p:spPr bwMode="auto">
          <a:xfrm>
            <a:off x="8543925" y="4545013"/>
            <a:ext cx="350838" cy="377825"/>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41" name="Rectangle 138"/>
          <p:cNvSpPr>
            <a:spLocks noChangeArrowheads="1"/>
          </p:cNvSpPr>
          <p:nvPr/>
        </p:nvSpPr>
        <p:spPr bwMode="auto">
          <a:xfrm>
            <a:off x="8562975" y="4552950"/>
            <a:ext cx="312738" cy="36036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42" name="Rectangle 139"/>
          <p:cNvSpPr>
            <a:spLocks noChangeArrowheads="1"/>
          </p:cNvSpPr>
          <p:nvPr/>
        </p:nvSpPr>
        <p:spPr bwMode="auto">
          <a:xfrm>
            <a:off x="8562975" y="4552950"/>
            <a:ext cx="312738" cy="360363"/>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43" name="Freeform 140"/>
          <p:cNvSpPr>
            <a:spLocks/>
          </p:cNvSpPr>
          <p:nvPr/>
        </p:nvSpPr>
        <p:spPr bwMode="auto">
          <a:xfrm>
            <a:off x="8743950" y="4692650"/>
            <a:ext cx="103188" cy="184150"/>
          </a:xfrm>
          <a:custGeom>
            <a:avLst/>
            <a:gdLst>
              <a:gd name="T0" fmla="*/ 6 w 65"/>
              <a:gd name="T1" fmla="*/ 17 h 116"/>
              <a:gd name="T2" fmla="*/ 0 w 65"/>
              <a:gd name="T3" fmla="*/ 98 h 116"/>
              <a:gd name="T4" fmla="*/ 12 w 65"/>
              <a:gd name="T5" fmla="*/ 110 h 116"/>
              <a:gd name="T6" fmla="*/ 12 w 65"/>
              <a:gd name="T7" fmla="*/ 104 h 116"/>
              <a:gd name="T8" fmla="*/ 18 w 65"/>
              <a:gd name="T9" fmla="*/ 104 h 116"/>
              <a:gd name="T10" fmla="*/ 18 w 65"/>
              <a:gd name="T11" fmla="*/ 69 h 116"/>
              <a:gd name="T12" fmla="*/ 41 w 65"/>
              <a:gd name="T13" fmla="*/ 116 h 116"/>
              <a:gd name="T14" fmla="*/ 47 w 65"/>
              <a:gd name="T15" fmla="*/ 116 h 116"/>
              <a:gd name="T16" fmla="*/ 53 w 65"/>
              <a:gd name="T17" fmla="*/ 98 h 116"/>
              <a:gd name="T18" fmla="*/ 29 w 65"/>
              <a:gd name="T19" fmla="*/ 52 h 116"/>
              <a:gd name="T20" fmla="*/ 65 w 65"/>
              <a:gd name="T21" fmla="*/ 29 h 116"/>
              <a:gd name="T22" fmla="*/ 59 w 65"/>
              <a:gd name="T23" fmla="*/ 5 h 116"/>
              <a:gd name="T24" fmla="*/ 23 w 65"/>
              <a:gd name="T25" fmla="*/ 35 h 116"/>
              <a:gd name="T26" fmla="*/ 29 w 65"/>
              <a:gd name="T27" fmla="*/ 5 h 116"/>
              <a:gd name="T28" fmla="*/ 12 w 65"/>
              <a:gd name="T29" fmla="*/ 0 h 116"/>
              <a:gd name="T30" fmla="*/ 6 w 65"/>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116"/>
              <a:gd name="T50" fmla="*/ 65 w 65"/>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116">
                <a:moveTo>
                  <a:pt x="6" y="17"/>
                </a:moveTo>
                <a:lnTo>
                  <a:pt x="0" y="98"/>
                </a:lnTo>
                <a:lnTo>
                  <a:pt x="12" y="110"/>
                </a:lnTo>
                <a:lnTo>
                  <a:pt x="12" y="104"/>
                </a:lnTo>
                <a:lnTo>
                  <a:pt x="18" y="104"/>
                </a:lnTo>
                <a:lnTo>
                  <a:pt x="18" y="69"/>
                </a:lnTo>
                <a:lnTo>
                  <a:pt x="41" y="116"/>
                </a:lnTo>
                <a:lnTo>
                  <a:pt x="47" y="116"/>
                </a:lnTo>
                <a:lnTo>
                  <a:pt x="53" y="98"/>
                </a:lnTo>
                <a:lnTo>
                  <a:pt x="29" y="52"/>
                </a:lnTo>
                <a:lnTo>
                  <a:pt x="65" y="29"/>
                </a:lnTo>
                <a:lnTo>
                  <a:pt x="59" y="5"/>
                </a:lnTo>
                <a:lnTo>
                  <a:pt x="23" y="35"/>
                </a:lnTo>
                <a:lnTo>
                  <a:pt x="29" y="5"/>
                </a:lnTo>
                <a:lnTo>
                  <a:pt x="12" y="0"/>
                </a:lnTo>
                <a:lnTo>
                  <a:pt x="6" y="17"/>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4" name="Freeform 141"/>
          <p:cNvSpPr>
            <a:spLocks/>
          </p:cNvSpPr>
          <p:nvPr/>
        </p:nvSpPr>
        <p:spPr bwMode="auto">
          <a:xfrm>
            <a:off x="8743950" y="4692650"/>
            <a:ext cx="103188" cy="184150"/>
          </a:xfrm>
          <a:custGeom>
            <a:avLst/>
            <a:gdLst>
              <a:gd name="T0" fmla="*/ 6 w 65"/>
              <a:gd name="T1" fmla="*/ 17 h 116"/>
              <a:gd name="T2" fmla="*/ 0 w 65"/>
              <a:gd name="T3" fmla="*/ 98 h 116"/>
              <a:gd name="T4" fmla="*/ 12 w 65"/>
              <a:gd name="T5" fmla="*/ 110 h 116"/>
              <a:gd name="T6" fmla="*/ 12 w 65"/>
              <a:gd name="T7" fmla="*/ 104 h 116"/>
              <a:gd name="T8" fmla="*/ 18 w 65"/>
              <a:gd name="T9" fmla="*/ 104 h 116"/>
              <a:gd name="T10" fmla="*/ 18 w 65"/>
              <a:gd name="T11" fmla="*/ 69 h 116"/>
              <a:gd name="T12" fmla="*/ 41 w 65"/>
              <a:gd name="T13" fmla="*/ 116 h 116"/>
              <a:gd name="T14" fmla="*/ 47 w 65"/>
              <a:gd name="T15" fmla="*/ 116 h 116"/>
              <a:gd name="T16" fmla="*/ 53 w 65"/>
              <a:gd name="T17" fmla="*/ 98 h 116"/>
              <a:gd name="T18" fmla="*/ 29 w 65"/>
              <a:gd name="T19" fmla="*/ 52 h 116"/>
              <a:gd name="T20" fmla="*/ 65 w 65"/>
              <a:gd name="T21" fmla="*/ 29 h 116"/>
              <a:gd name="T22" fmla="*/ 59 w 65"/>
              <a:gd name="T23" fmla="*/ 5 h 116"/>
              <a:gd name="T24" fmla="*/ 23 w 65"/>
              <a:gd name="T25" fmla="*/ 35 h 116"/>
              <a:gd name="T26" fmla="*/ 29 w 65"/>
              <a:gd name="T27" fmla="*/ 5 h 116"/>
              <a:gd name="T28" fmla="*/ 12 w 65"/>
              <a:gd name="T29" fmla="*/ 0 h 116"/>
              <a:gd name="T30" fmla="*/ 6 w 65"/>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116"/>
              <a:gd name="T50" fmla="*/ 65 w 65"/>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116">
                <a:moveTo>
                  <a:pt x="6" y="17"/>
                </a:moveTo>
                <a:lnTo>
                  <a:pt x="0" y="98"/>
                </a:lnTo>
                <a:lnTo>
                  <a:pt x="12" y="110"/>
                </a:lnTo>
                <a:lnTo>
                  <a:pt x="12" y="104"/>
                </a:lnTo>
                <a:lnTo>
                  <a:pt x="18" y="104"/>
                </a:lnTo>
                <a:lnTo>
                  <a:pt x="18" y="69"/>
                </a:lnTo>
                <a:lnTo>
                  <a:pt x="41" y="116"/>
                </a:lnTo>
                <a:lnTo>
                  <a:pt x="47" y="116"/>
                </a:lnTo>
                <a:lnTo>
                  <a:pt x="53" y="98"/>
                </a:lnTo>
                <a:lnTo>
                  <a:pt x="29" y="52"/>
                </a:lnTo>
                <a:lnTo>
                  <a:pt x="65" y="29"/>
                </a:lnTo>
                <a:lnTo>
                  <a:pt x="59" y="5"/>
                </a:lnTo>
                <a:lnTo>
                  <a:pt x="23" y="35"/>
                </a:lnTo>
                <a:lnTo>
                  <a:pt x="29" y="5"/>
                </a:lnTo>
                <a:lnTo>
                  <a:pt x="12" y="0"/>
                </a:lnTo>
                <a:lnTo>
                  <a:pt x="6" y="17"/>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45" name="Freeform 142"/>
          <p:cNvSpPr>
            <a:spLocks/>
          </p:cNvSpPr>
          <p:nvPr/>
        </p:nvSpPr>
        <p:spPr bwMode="auto">
          <a:xfrm>
            <a:off x="8601075" y="4572000"/>
            <a:ext cx="171450" cy="166688"/>
          </a:xfrm>
          <a:custGeom>
            <a:avLst/>
            <a:gdLst>
              <a:gd name="T0" fmla="*/ 18 w 108"/>
              <a:gd name="T1" fmla="*/ 12 h 105"/>
              <a:gd name="T2" fmla="*/ 36 w 108"/>
              <a:gd name="T3" fmla="*/ 47 h 105"/>
              <a:gd name="T4" fmla="*/ 0 w 108"/>
              <a:gd name="T5" fmla="*/ 76 h 105"/>
              <a:gd name="T6" fmla="*/ 0 w 108"/>
              <a:gd name="T7" fmla="*/ 105 h 105"/>
              <a:gd name="T8" fmla="*/ 6 w 108"/>
              <a:gd name="T9" fmla="*/ 99 h 105"/>
              <a:gd name="T10" fmla="*/ 12 w 108"/>
              <a:gd name="T11" fmla="*/ 105 h 105"/>
              <a:gd name="T12" fmla="*/ 48 w 108"/>
              <a:gd name="T13" fmla="*/ 70 h 105"/>
              <a:gd name="T14" fmla="*/ 72 w 108"/>
              <a:gd name="T15" fmla="*/ 99 h 105"/>
              <a:gd name="T16" fmla="*/ 84 w 108"/>
              <a:gd name="T17" fmla="*/ 99 h 105"/>
              <a:gd name="T18" fmla="*/ 96 w 108"/>
              <a:gd name="T19" fmla="*/ 87 h 105"/>
              <a:gd name="T20" fmla="*/ 66 w 108"/>
              <a:gd name="T21" fmla="*/ 58 h 105"/>
              <a:gd name="T22" fmla="*/ 108 w 108"/>
              <a:gd name="T23" fmla="*/ 18 h 105"/>
              <a:gd name="T24" fmla="*/ 90 w 108"/>
              <a:gd name="T25" fmla="*/ 6 h 105"/>
              <a:gd name="T26" fmla="*/ 60 w 108"/>
              <a:gd name="T27" fmla="*/ 35 h 105"/>
              <a:gd name="T28" fmla="*/ 36 w 108"/>
              <a:gd name="T29" fmla="*/ 0 h 105"/>
              <a:gd name="T30" fmla="*/ 30 w 108"/>
              <a:gd name="T31" fmla="*/ 6 h 105"/>
              <a:gd name="T32" fmla="*/ 24 w 108"/>
              <a:gd name="T33" fmla="*/ 0 h 105"/>
              <a:gd name="T34" fmla="*/ 18 w 108"/>
              <a:gd name="T35" fmla="*/ 12 h 10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8"/>
              <a:gd name="T55" fmla="*/ 0 h 105"/>
              <a:gd name="T56" fmla="*/ 108 w 108"/>
              <a:gd name="T57" fmla="*/ 105 h 10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8" h="105">
                <a:moveTo>
                  <a:pt x="18" y="12"/>
                </a:moveTo>
                <a:lnTo>
                  <a:pt x="36" y="47"/>
                </a:lnTo>
                <a:lnTo>
                  <a:pt x="0" y="76"/>
                </a:lnTo>
                <a:lnTo>
                  <a:pt x="0" y="105"/>
                </a:lnTo>
                <a:lnTo>
                  <a:pt x="6" y="99"/>
                </a:lnTo>
                <a:lnTo>
                  <a:pt x="12" y="105"/>
                </a:lnTo>
                <a:lnTo>
                  <a:pt x="48" y="70"/>
                </a:lnTo>
                <a:lnTo>
                  <a:pt x="72" y="99"/>
                </a:lnTo>
                <a:lnTo>
                  <a:pt x="84" y="99"/>
                </a:lnTo>
                <a:lnTo>
                  <a:pt x="96" y="87"/>
                </a:lnTo>
                <a:lnTo>
                  <a:pt x="66" y="58"/>
                </a:lnTo>
                <a:lnTo>
                  <a:pt x="108" y="18"/>
                </a:lnTo>
                <a:lnTo>
                  <a:pt x="90" y="6"/>
                </a:lnTo>
                <a:lnTo>
                  <a:pt x="60" y="35"/>
                </a:lnTo>
                <a:lnTo>
                  <a:pt x="36" y="0"/>
                </a:lnTo>
                <a:lnTo>
                  <a:pt x="30" y="6"/>
                </a:lnTo>
                <a:lnTo>
                  <a:pt x="24" y="0"/>
                </a:lnTo>
                <a:lnTo>
                  <a:pt x="18" y="1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6" name="Freeform 143"/>
          <p:cNvSpPr>
            <a:spLocks/>
          </p:cNvSpPr>
          <p:nvPr/>
        </p:nvSpPr>
        <p:spPr bwMode="auto">
          <a:xfrm>
            <a:off x="8601075" y="4572000"/>
            <a:ext cx="171450" cy="166688"/>
          </a:xfrm>
          <a:custGeom>
            <a:avLst/>
            <a:gdLst>
              <a:gd name="T0" fmla="*/ 18 w 108"/>
              <a:gd name="T1" fmla="*/ 12 h 105"/>
              <a:gd name="T2" fmla="*/ 36 w 108"/>
              <a:gd name="T3" fmla="*/ 47 h 105"/>
              <a:gd name="T4" fmla="*/ 0 w 108"/>
              <a:gd name="T5" fmla="*/ 76 h 105"/>
              <a:gd name="T6" fmla="*/ 0 w 108"/>
              <a:gd name="T7" fmla="*/ 105 h 105"/>
              <a:gd name="T8" fmla="*/ 6 w 108"/>
              <a:gd name="T9" fmla="*/ 99 h 105"/>
              <a:gd name="T10" fmla="*/ 12 w 108"/>
              <a:gd name="T11" fmla="*/ 105 h 105"/>
              <a:gd name="T12" fmla="*/ 48 w 108"/>
              <a:gd name="T13" fmla="*/ 70 h 105"/>
              <a:gd name="T14" fmla="*/ 72 w 108"/>
              <a:gd name="T15" fmla="*/ 99 h 105"/>
              <a:gd name="T16" fmla="*/ 84 w 108"/>
              <a:gd name="T17" fmla="*/ 99 h 105"/>
              <a:gd name="T18" fmla="*/ 96 w 108"/>
              <a:gd name="T19" fmla="*/ 87 h 105"/>
              <a:gd name="T20" fmla="*/ 66 w 108"/>
              <a:gd name="T21" fmla="*/ 58 h 105"/>
              <a:gd name="T22" fmla="*/ 108 w 108"/>
              <a:gd name="T23" fmla="*/ 18 h 105"/>
              <a:gd name="T24" fmla="*/ 90 w 108"/>
              <a:gd name="T25" fmla="*/ 6 h 105"/>
              <a:gd name="T26" fmla="*/ 60 w 108"/>
              <a:gd name="T27" fmla="*/ 35 h 105"/>
              <a:gd name="T28" fmla="*/ 36 w 108"/>
              <a:gd name="T29" fmla="*/ 0 h 105"/>
              <a:gd name="T30" fmla="*/ 30 w 108"/>
              <a:gd name="T31" fmla="*/ 6 h 105"/>
              <a:gd name="T32" fmla="*/ 24 w 108"/>
              <a:gd name="T33" fmla="*/ 0 h 105"/>
              <a:gd name="T34" fmla="*/ 18 w 108"/>
              <a:gd name="T35" fmla="*/ 12 h 10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8"/>
              <a:gd name="T55" fmla="*/ 0 h 105"/>
              <a:gd name="T56" fmla="*/ 108 w 108"/>
              <a:gd name="T57" fmla="*/ 105 h 10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8" h="105">
                <a:moveTo>
                  <a:pt x="18" y="12"/>
                </a:moveTo>
                <a:lnTo>
                  <a:pt x="36" y="47"/>
                </a:lnTo>
                <a:lnTo>
                  <a:pt x="0" y="76"/>
                </a:lnTo>
                <a:lnTo>
                  <a:pt x="0" y="105"/>
                </a:lnTo>
                <a:lnTo>
                  <a:pt x="6" y="99"/>
                </a:lnTo>
                <a:lnTo>
                  <a:pt x="12" y="105"/>
                </a:lnTo>
                <a:lnTo>
                  <a:pt x="48" y="70"/>
                </a:lnTo>
                <a:lnTo>
                  <a:pt x="72" y="99"/>
                </a:lnTo>
                <a:lnTo>
                  <a:pt x="84" y="99"/>
                </a:lnTo>
                <a:lnTo>
                  <a:pt x="96" y="87"/>
                </a:lnTo>
                <a:lnTo>
                  <a:pt x="66" y="58"/>
                </a:lnTo>
                <a:lnTo>
                  <a:pt x="108" y="18"/>
                </a:lnTo>
                <a:lnTo>
                  <a:pt x="90" y="6"/>
                </a:lnTo>
                <a:lnTo>
                  <a:pt x="60" y="35"/>
                </a:lnTo>
                <a:lnTo>
                  <a:pt x="36" y="0"/>
                </a:lnTo>
                <a:lnTo>
                  <a:pt x="30" y="6"/>
                </a:lnTo>
                <a:lnTo>
                  <a:pt x="24" y="0"/>
                </a:lnTo>
                <a:lnTo>
                  <a:pt x="18" y="12"/>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47" name="Freeform 144"/>
          <p:cNvSpPr>
            <a:spLocks/>
          </p:cNvSpPr>
          <p:nvPr/>
        </p:nvSpPr>
        <p:spPr bwMode="auto">
          <a:xfrm>
            <a:off x="8601075" y="4729163"/>
            <a:ext cx="114300" cy="147637"/>
          </a:xfrm>
          <a:custGeom>
            <a:avLst/>
            <a:gdLst>
              <a:gd name="T0" fmla="*/ 48 w 72"/>
              <a:gd name="T1" fmla="*/ 0 h 93"/>
              <a:gd name="T2" fmla="*/ 54 w 72"/>
              <a:gd name="T3" fmla="*/ 0 h 93"/>
              <a:gd name="T4" fmla="*/ 54 w 72"/>
              <a:gd name="T5" fmla="*/ 6 h 93"/>
              <a:gd name="T6" fmla="*/ 60 w 72"/>
              <a:gd name="T7" fmla="*/ 6 h 93"/>
              <a:gd name="T8" fmla="*/ 60 w 72"/>
              <a:gd name="T9" fmla="*/ 12 h 93"/>
              <a:gd name="T10" fmla="*/ 66 w 72"/>
              <a:gd name="T11" fmla="*/ 12 h 93"/>
              <a:gd name="T12" fmla="*/ 66 w 72"/>
              <a:gd name="T13" fmla="*/ 17 h 93"/>
              <a:gd name="T14" fmla="*/ 66 w 72"/>
              <a:gd name="T15" fmla="*/ 23 h 93"/>
              <a:gd name="T16" fmla="*/ 72 w 72"/>
              <a:gd name="T17" fmla="*/ 23 h 93"/>
              <a:gd name="T18" fmla="*/ 72 w 72"/>
              <a:gd name="T19" fmla="*/ 29 h 93"/>
              <a:gd name="T20" fmla="*/ 72 w 72"/>
              <a:gd name="T21" fmla="*/ 35 h 93"/>
              <a:gd name="T22" fmla="*/ 72 w 72"/>
              <a:gd name="T23" fmla="*/ 41 h 93"/>
              <a:gd name="T24" fmla="*/ 72 w 72"/>
              <a:gd name="T25" fmla="*/ 46 h 93"/>
              <a:gd name="T26" fmla="*/ 72 w 72"/>
              <a:gd name="T27" fmla="*/ 52 h 93"/>
              <a:gd name="T28" fmla="*/ 72 w 72"/>
              <a:gd name="T29" fmla="*/ 58 h 93"/>
              <a:gd name="T30" fmla="*/ 66 w 72"/>
              <a:gd name="T31" fmla="*/ 64 h 93"/>
              <a:gd name="T32" fmla="*/ 66 w 72"/>
              <a:gd name="T33" fmla="*/ 70 h 93"/>
              <a:gd name="T34" fmla="*/ 66 w 72"/>
              <a:gd name="T35" fmla="*/ 75 h 93"/>
              <a:gd name="T36" fmla="*/ 60 w 72"/>
              <a:gd name="T37" fmla="*/ 75 h 93"/>
              <a:gd name="T38" fmla="*/ 60 w 72"/>
              <a:gd name="T39" fmla="*/ 81 h 93"/>
              <a:gd name="T40" fmla="*/ 54 w 72"/>
              <a:gd name="T41" fmla="*/ 81 h 93"/>
              <a:gd name="T42" fmla="*/ 54 w 72"/>
              <a:gd name="T43" fmla="*/ 87 h 93"/>
              <a:gd name="T44" fmla="*/ 48 w 72"/>
              <a:gd name="T45" fmla="*/ 87 h 93"/>
              <a:gd name="T46" fmla="*/ 48 w 72"/>
              <a:gd name="T47" fmla="*/ 93 h 93"/>
              <a:gd name="T48" fmla="*/ 42 w 72"/>
              <a:gd name="T49" fmla="*/ 93 h 93"/>
              <a:gd name="T50" fmla="*/ 36 w 72"/>
              <a:gd name="T51" fmla="*/ 93 h 93"/>
              <a:gd name="T52" fmla="*/ 30 w 72"/>
              <a:gd name="T53" fmla="*/ 93 h 93"/>
              <a:gd name="T54" fmla="*/ 24 w 72"/>
              <a:gd name="T55" fmla="*/ 93 h 93"/>
              <a:gd name="T56" fmla="*/ 18 w 72"/>
              <a:gd name="T57" fmla="*/ 93 h 93"/>
              <a:gd name="T58" fmla="*/ 18 w 72"/>
              <a:gd name="T59" fmla="*/ 87 h 93"/>
              <a:gd name="T60" fmla="*/ 12 w 72"/>
              <a:gd name="T61" fmla="*/ 87 h 93"/>
              <a:gd name="T62" fmla="*/ 12 w 72"/>
              <a:gd name="T63" fmla="*/ 81 h 93"/>
              <a:gd name="T64" fmla="*/ 6 w 72"/>
              <a:gd name="T65" fmla="*/ 81 h 93"/>
              <a:gd name="T66" fmla="*/ 6 w 72"/>
              <a:gd name="T67" fmla="*/ 75 h 93"/>
              <a:gd name="T68" fmla="*/ 6 w 72"/>
              <a:gd name="T69" fmla="*/ 70 h 93"/>
              <a:gd name="T70" fmla="*/ 6 w 72"/>
              <a:gd name="T71" fmla="*/ 64 h 93"/>
              <a:gd name="T72" fmla="*/ 6 w 72"/>
              <a:gd name="T73" fmla="*/ 58 h 93"/>
              <a:gd name="T74" fmla="*/ 0 w 72"/>
              <a:gd name="T75" fmla="*/ 58 h 93"/>
              <a:gd name="T76" fmla="*/ 0 w 72"/>
              <a:gd name="T77" fmla="*/ 52 h 93"/>
              <a:gd name="T78" fmla="*/ 6 w 72"/>
              <a:gd name="T79" fmla="*/ 46 h 93"/>
              <a:gd name="T80" fmla="*/ 6 w 72"/>
              <a:gd name="T81" fmla="*/ 41 h 93"/>
              <a:gd name="T82" fmla="*/ 6 w 72"/>
              <a:gd name="T83" fmla="*/ 35 h 93"/>
              <a:gd name="T84" fmla="*/ 6 w 72"/>
              <a:gd name="T85" fmla="*/ 29 h 93"/>
              <a:gd name="T86" fmla="*/ 12 w 72"/>
              <a:gd name="T87" fmla="*/ 23 h 93"/>
              <a:gd name="T88" fmla="*/ 12 w 72"/>
              <a:gd name="T89" fmla="*/ 17 h 93"/>
              <a:gd name="T90" fmla="*/ 18 w 72"/>
              <a:gd name="T91" fmla="*/ 17 h 93"/>
              <a:gd name="T92" fmla="*/ 18 w 72"/>
              <a:gd name="T93" fmla="*/ 12 h 93"/>
              <a:gd name="T94" fmla="*/ 24 w 72"/>
              <a:gd name="T95" fmla="*/ 12 h 93"/>
              <a:gd name="T96" fmla="*/ 24 w 72"/>
              <a:gd name="T97" fmla="*/ 6 h 93"/>
              <a:gd name="T98" fmla="*/ 30 w 72"/>
              <a:gd name="T99" fmla="*/ 6 h 93"/>
              <a:gd name="T100" fmla="*/ 30 w 72"/>
              <a:gd name="T101" fmla="*/ 0 h 93"/>
              <a:gd name="T102" fmla="*/ 36 w 72"/>
              <a:gd name="T103" fmla="*/ 0 h 93"/>
              <a:gd name="T104" fmla="*/ 42 w 72"/>
              <a:gd name="T105" fmla="*/ 0 h 93"/>
              <a:gd name="T106" fmla="*/ 48 w 72"/>
              <a:gd name="T107" fmla="*/ 0 h 9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2"/>
              <a:gd name="T163" fmla="*/ 0 h 93"/>
              <a:gd name="T164" fmla="*/ 72 w 72"/>
              <a:gd name="T165" fmla="*/ 93 h 9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2" h="93">
                <a:moveTo>
                  <a:pt x="48" y="0"/>
                </a:moveTo>
                <a:lnTo>
                  <a:pt x="54" y="0"/>
                </a:lnTo>
                <a:lnTo>
                  <a:pt x="54" y="6"/>
                </a:lnTo>
                <a:lnTo>
                  <a:pt x="60" y="6"/>
                </a:lnTo>
                <a:lnTo>
                  <a:pt x="60" y="12"/>
                </a:lnTo>
                <a:lnTo>
                  <a:pt x="66" y="12"/>
                </a:lnTo>
                <a:lnTo>
                  <a:pt x="66" y="17"/>
                </a:lnTo>
                <a:lnTo>
                  <a:pt x="66" y="23"/>
                </a:lnTo>
                <a:lnTo>
                  <a:pt x="72" y="23"/>
                </a:lnTo>
                <a:lnTo>
                  <a:pt x="72" y="29"/>
                </a:lnTo>
                <a:lnTo>
                  <a:pt x="72" y="35"/>
                </a:lnTo>
                <a:lnTo>
                  <a:pt x="72" y="41"/>
                </a:lnTo>
                <a:lnTo>
                  <a:pt x="72" y="46"/>
                </a:lnTo>
                <a:lnTo>
                  <a:pt x="72" y="52"/>
                </a:lnTo>
                <a:lnTo>
                  <a:pt x="72" y="58"/>
                </a:lnTo>
                <a:lnTo>
                  <a:pt x="66" y="64"/>
                </a:lnTo>
                <a:lnTo>
                  <a:pt x="66" y="70"/>
                </a:lnTo>
                <a:lnTo>
                  <a:pt x="66" y="75"/>
                </a:lnTo>
                <a:lnTo>
                  <a:pt x="60" y="75"/>
                </a:lnTo>
                <a:lnTo>
                  <a:pt x="60" y="81"/>
                </a:lnTo>
                <a:lnTo>
                  <a:pt x="54" y="81"/>
                </a:lnTo>
                <a:lnTo>
                  <a:pt x="54" y="87"/>
                </a:lnTo>
                <a:lnTo>
                  <a:pt x="48" y="87"/>
                </a:lnTo>
                <a:lnTo>
                  <a:pt x="48" y="93"/>
                </a:lnTo>
                <a:lnTo>
                  <a:pt x="42" y="93"/>
                </a:lnTo>
                <a:lnTo>
                  <a:pt x="36" y="93"/>
                </a:lnTo>
                <a:lnTo>
                  <a:pt x="30" y="93"/>
                </a:lnTo>
                <a:lnTo>
                  <a:pt x="24" y="93"/>
                </a:lnTo>
                <a:lnTo>
                  <a:pt x="18" y="93"/>
                </a:lnTo>
                <a:lnTo>
                  <a:pt x="18" y="87"/>
                </a:lnTo>
                <a:lnTo>
                  <a:pt x="12" y="87"/>
                </a:lnTo>
                <a:lnTo>
                  <a:pt x="12" y="81"/>
                </a:lnTo>
                <a:lnTo>
                  <a:pt x="6" y="81"/>
                </a:lnTo>
                <a:lnTo>
                  <a:pt x="6" y="75"/>
                </a:lnTo>
                <a:lnTo>
                  <a:pt x="6" y="70"/>
                </a:lnTo>
                <a:lnTo>
                  <a:pt x="6" y="64"/>
                </a:lnTo>
                <a:lnTo>
                  <a:pt x="6" y="58"/>
                </a:lnTo>
                <a:lnTo>
                  <a:pt x="0" y="58"/>
                </a:lnTo>
                <a:lnTo>
                  <a:pt x="0" y="52"/>
                </a:lnTo>
                <a:lnTo>
                  <a:pt x="6" y="46"/>
                </a:lnTo>
                <a:lnTo>
                  <a:pt x="6" y="41"/>
                </a:lnTo>
                <a:lnTo>
                  <a:pt x="6" y="35"/>
                </a:lnTo>
                <a:lnTo>
                  <a:pt x="6" y="29"/>
                </a:lnTo>
                <a:lnTo>
                  <a:pt x="12" y="23"/>
                </a:lnTo>
                <a:lnTo>
                  <a:pt x="12" y="17"/>
                </a:lnTo>
                <a:lnTo>
                  <a:pt x="18" y="17"/>
                </a:lnTo>
                <a:lnTo>
                  <a:pt x="18" y="12"/>
                </a:lnTo>
                <a:lnTo>
                  <a:pt x="24" y="12"/>
                </a:lnTo>
                <a:lnTo>
                  <a:pt x="24" y="6"/>
                </a:lnTo>
                <a:lnTo>
                  <a:pt x="30" y="6"/>
                </a:lnTo>
                <a:lnTo>
                  <a:pt x="30" y="0"/>
                </a:lnTo>
                <a:lnTo>
                  <a:pt x="36" y="0"/>
                </a:lnTo>
                <a:lnTo>
                  <a:pt x="42" y="0"/>
                </a:lnTo>
                <a:lnTo>
                  <a:pt x="4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8" name="Freeform 145"/>
          <p:cNvSpPr>
            <a:spLocks/>
          </p:cNvSpPr>
          <p:nvPr/>
        </p:nvSpPr>
        <p:spPr bwMode="auto">
          <a:xfrm>
            <a:off x="8610600" y="4729163"/>
            <a:ext cx="104775" cy="147637"/>
          </a:xfrm>
          <a:custGeom>
            <a:avLst/>
            <a:gdLst>
              <a:gd name="T0" fmla="*/ 42 w 66"/>
              <a:gd name="T1" fmla="*/ 0 h 93"/>
              <a:gd name="T2" fmla="*/ 54 w 66"/>
              <a:gd name="T3" fmla="*/ 6 h 93"/>
              <a:gd name="T4" fmla="*/ 60 w 66"/>
              <a:gd name="T5" fmla="*/ 17 h 93"/>
              <a:gd name="T6" fmla="*/ 66 w 66"/>
              <a:gd name="T7" fmla="*/ 35 h 93"/>
              <a:gd name="T8" fmla="*/ 66 w 66"/>
              <a:gd name="T9" fmla="*/ 52 h 93"/>
              <a:gd name="T10" fmla="*/ 60 w 66"/>
              <a:gd name="T11" fmla="*/ 70 h 93"/>
              <a:gd name="T12" fmla="*/ 48 w 66"/>
              <a:gd name="T13" fmla="*/ 87 h 93"/>
              <a:gd name="T14" fmla="*/ 36 w 66"/>
              <a:gd name="T15" fmla="*/ 93 h 93"/>
              <a:gd name="T16" fmla="*/ 24 w 66"/>
              <a:gd name="T17" fmla="*/ 93 h 93"/>
              <a:gd name="T18" fmla="*/ 12 w 66"/>
              <a:gd name="T19" fmla="*/ 87 h 93"/>
              <a:gd name="T20" fmla="*/ 0 w 66"/>
              <a:gd name="T21" fmla="*/ 75 h 93"/>
              <a:gd name="T22" fmla="*/ 0 w 66"/>
              <a:gd name="T23" fmla="*/ 58 h 93"/>
              <a:gd name="T24" fmla="*/ 0 w 66"/>
              <a:gd name="T25" fmla="*/ 41 h 93"/>
              <a:gd name="T26" fmla="*/ 6 w 66"/>
              <a:gd name="T27" fmla="*/ 23 h 93"/>
              <a:gd name="T28" fmla="*/ 12 w 66"/>
              <a:gd name="T29" fmla="*/ 12 h 93"/>
              <a:gd name="T30" fmla="*/ 24 w 66"/>
              <a:gd name="T31" fmla="*/ 0 h 93"/>
              <a:gd name="T32" fmla="*/ 42 w 66"/>
              <a:gd name="T33" fmla="*/ 0 h 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6"/>
              <a:gd name="T52" fmla="*/ 0 h 93"/>
              <a:gd name="T53" fmla="*/ 66 w 66"/>
              <a:gd name="T54" fmla="*/ 93 h 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6" h="93">
                <a:moveTo>
                  <a:pt x="42" y="0"/>
                </a:moveTo>
                <a:lnTo>
                  <a:pt x="54" y="6"/>
                </a:lnTo>
                <a:lnTo>
                  <a:pt x="60" y="17"/>
                </a:lnTo>
                <a:lnTo>
                  <a:pt x="66" y="35"/>
                </a:lnTo>
                <a:lnTo>
                  <a:pt x="66" y="52"/>
                </a:lnTo>
                <a:lnTo>
                  <a:pt x="60" y="70"/>
                </a:lnTo>
                <a:lnTo>
                  <a:pt x="48" y="87"/>
                </a:lnTo>
                <a:lnTo>
                  <a:pt x="36" y="93"/>
                </a:lnTo>
                <a:lnTo>
                  <a:pt x="24" y="93"/>
                </a:lnTo>
                <a:lnTo>
                  <a:pt x="12" y="87"/>
                </a:lnTo>
                <a:lnTo>
                  <a:pt x="0" y="75"/>
                </a:lnTo>
                <a:lnTo>
                  <a:pt x="0" y="58"/>
                </a:lnTo>
                <a:lnTo>
                  <a:pt x="0" y="41"/>
                </a:lnTo>
                <a:lnTo>
                  <a:pt x="6" y="23"/>
                </a:lnTo>
                <a:lnTo>
                  <a:pt x="12" y="12"/>
                </a:lnTo>
                <a:lnTo>
                  <a:pt x="24" y="0"/>
                </a:lnTo>
                <a:lnTo>
                  <a:pt x="42"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49" name="Freeform 146"/>
          <p:cNvSpPr>
            <a:spLocks/>
          </p:cNvSpPr>
          <p:nvPr/>
        </p:nvSpPr>
        <p:spPr bwMode="auto">
          <a:xfrm>
            <a:off x="8639175" y="4756150"/>
            <a:ext cx="38100" cy="84138"/>
          </a:xfrm>
          <a:custGeom>
            <a:avLst/>
            <a:gdLst>
              <a:gd name="T0" fmla="*/ 18 w 24"/>
              <a:gd name="T1" fmla="*/ 0 h 53"/>
              <a:gd name="T2" fmla="*/ 18 w 24"/>
              <a:gd name="T3" fmla="*/ 6 h 53"/>
              <a:gd name="T4" fmla="*/ 24 w 24"/>
              <a:gd name="T5" fmla="*/ 6 h 53"/>
              <a:gd name="T6" fmla="*/ 24 w 24"/>
              <a:gd name="T7" fmla="*/ 12 h 53"/>
              <a:gd name="T8" fmla="*/ 24 w 24"/>
              <a:gd name="T9" fmla="*/ 18 h 53"/>
              <a:gd name="T10" fmla="*/ 24 w 24"/>
              <a:gd name="T11" fmla="*/ 24 h 53"/>
              <a:gd name="T12" fmla="*/ 24 w 24"/>
              <a:gd name="T13" fmla="*/ 29 h 53"/>
              <a:gd name="T14" fmla="*/ 24 w 24"/>
              <a:gd name="T15" fmla="*/ 35 h 53"/>
              <a:gd name="T16" fmla="*/ 24 w 24"/>
              <a:gd name="T17" fmla="*/ 41 h 53"/>
              <a:gd name="T18" fmla="*/ 18 w 24"/>
              <a:gd name="T19" fmla="*/ 41 h 53"/>
              <a:gd name="T20" fmla="*/ 18 w 24"/>
              <a:gd name="T21" fmla="*/ 47 h 53"/>
              <a:gd name="T22" fmla="*/ 12 w 24"/>
              <a:gd name="T23" fmla="*/ 53 h 53"/>
              <a:gd name="T24" fmla="*/ 6 w 24"/>
              <a:gd name="T25" fmla="*/ 53 h 53"/>
              <a:gd name="T26" fmla="*/ 0 w 24"/>
              <a:gd name="T27" fmla="*/ 53 h 53"/>
              <a:gd name="T28" fmla="*/ 0 w 24"/>
              <a:gd name="T29" fmla="*/ 47 h 53"/>
              <a:gd name="T30" fmla="*/ 0 w 24"/>
              <a:gd name="T31" fmla="*/ 41 h 53"/>
              <a:gd name="T32" fmla="*/ 0 w 24"/>
              <a:gd name="T33" fmla="*/ 35 h 53"/>
              <a:gd name="T34" fmla="*/ 0 w 24"/>
              <a:gd name="T35" fmla="*/ 29 h 53"/>
              <a:gd name="T36" fmla="*/ 0 w 24"/>
              <a:gd name="T37" fmla="*/ 24 h 53"/>
              <a:gd name="T38" fmla="*/ 0 w 24"/>
              <a:gd name="T39" fmla="*/ 18 h 53"/>
              <a:gd name="T40" fmla="*/ 0 w 24"/>
              <a:gd name="T41" fmla="*/ 12 h 53"/>
              <a:gd name="T42" fmla="*/ 6 w 24"/>
              <a:gd name="T43" fmla="*/ 12 h 53"/>
              <a:gd name="T44" fmla="*/ 6 w 24"/>
              <a:gd name="T45" fmla="*/ 6 h 53"/>
              <a:gd name="T46" fmla="*/ 12 w 24"/>
              <a:gd name="T47" fmla="*/ 6 h 53"/>
              <a:gd name="T48" fmla="*/ 12 w 24"/>
              <a:gd name="T49" fmla="*/ 0 h 53"/>
              <a:gd name="T50" fmla="*/ 18 w 24"/>
              <a:gd name="T51" fmla="*/ 0 h 5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4"/>
              <a:gd name="T79" fmla="*/ 0 h 53"/>
              <a:gd name="T80" fmla="*/ 24 w 24"/>
              <a:gd name="T81" fmla="*/ 53 h 5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4" h="53">
                <a:moveTo>
                  <a:pt x="18" y="0"/>
                </a:moveTo>
                <a:lnTo>
                  <a:pt x="18" y="6"/>
                </a:lnTo>
                <a:lnTo>
                  <a:pt x="24" y="6"/>
                </a:lnTo>
                <a:lnTo>
                  <a:pt x="24" y="12"/>
                </a:lnTo>
                <a:lnTo>
                  <a:pt x="24" y="18"/>
                </a:lnTo>
                <a:lnTo>
                  <a:pt x="24" y="24"/>
                </a:lnTo>
                <a:lnTo>
                  <a:pt x="24" y="29"/>
                </a:lnTo>
                <a:lnTo>
                  <a:pt x="24" y="35"/>
                </a:lnTo>
                <a:lnTo>
                  <a:pt x="24" y="41"/>
                </a:lnTo>
                <a:lnTo>
                  <a:pt x="18" y="41"/>
                </a:lnTo>
                <a:lnTo>
                  <a:pt x="18" y="47"/>
                </a:lnTo>
                <a:lnTo>
                  <a:pt x="12" y="53"/>
                </a:lnTo>
                <a:lnTo>
                  <a:pt x="6" y="53"/>
                </a:lnTo>
                <a:lnTo>
                  <a:pt x="0" y="53"/>
                </a:lnTo>
                <a:lnTo>
                  <a:pt x="0" y="47"/>
                </a:lnTo>
                <a:lnTo>
                  <a:pt x="0" y="41"/>
                </a:lnTo>
                <a:lnTo>
                  <a:pt x="0" y="35"/>
                </a:lnTo>
                <a:lnTo>
                  <a:pt x="0" y="29"/>
                </a:lnTo>
                <a:lnTo>
                  <a:pt x="0" y="24"/>
                </a:lnTo>
                <a:lnTo>
                  <a:pt x="0" y="18"/>
                </a:lnTo>
                <a:lnTo>
                  <a:pt x="0" y="12"/>
                </a:lnTo>
                <a:lnTo>
                  <a:pt x="6" y="12"/>
                </a:lnTo>
                <a:lnTo>
                  <a:pt x="6" y="6"/>
                </a:lnTo>
                <a:lnTo>
                  <a:pt x="12" y="6"/>
                </a:lnTo>
                <a:lnTo>
                  <a:pt x="12" y="0"/>
                </a:lnTo>
                <a:lnTo>
                  <a:pt x="1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50" name="Freeform 147"/>
          <p:cNvSpPr>
            <a:spLocks/>
          </p:cNvSpPr>
          <p:nvPr/>
        </p:nvSpPr>
        <p:spPr bwMode="auto">
          <a:xfrm>
            <a:off x="8639175" y="4756150"/>
            <a:ext cx="38100" cy="84138"/>
          </a:xfrm>
          <a:custGeom>
            <a:avLst/>
            <a:gdLst>
              <a:gd name="T0" fmla="*/ 18 w 24"/>
              <a:gd name="T1" fmla="*/ 0 h 53"/>
              <a:gd name="T2" fmla="*/ 18 w 24"/>
              <a:gd name="T3" fmla="*/ 6 h 53"/>
              <a:gd name="T4" fmla="*/ 24 w 24"/>
              <a:gd name="T5" fmla="*/ 12 h 53"/>
              <a:gd name="T6" fmla="*/ 24 w 24"/>
              <a:gd name="T7" fmla="*/ 18 h 53"/>
              <a:gd name="T8" fmla="*/ 24 w 24"/>
              <a:gd name="T9" fmla="*/ 29 h 53"/>
              <a:gd name="T10" fmla="*/ 24 w 24"/>
              <a:gd name="T11" fmla="*/ 41 h 53"/>
              <a:gd name="T12" fmla="*/ 18 w 24"/>
              <a:gd name="T13" fmla="*/ 47 h 53"/>
              <a:gd name="T14" fmla="*/ 12 w 24"/>
              <a:gd name="T15" fmla="*/ 53 h 53"/>
              <a:gd name="T16" fmla="*/ 6 w 24"/>
              <a:gd name="T17" fmla="*/ 53 h 53"/>
              <a:gd name="T18" fmla="*/ 0 w 24"/>
              <a:gd name="T19" fmla="*/ 53 h 53"/>
              <a:gd name="T20" fmla="*/ 0 w 24"/>
              <a:gd name="T21" fmla="*/ 47 h 53"/>
              <a:gd name="T22" fmla="*/ 0 w 24"/>
              <a:gd name="T23" fmla="*/ 35 h 53"/>
              <a:gd name="T24" fmla="*/ 0 w 24"/>
              <a:gd name="T25" fmla="*/ 24 h 53"/>
              <a:gd name="T26" fmla="*/ 0 w 24"/>
              <a:gd name="T27" fmla="*/ 18 h 53"/>
              <a:gd name="T28" fmla="*/ 6 w 24"/>
              <a:gd name="T29" fmla="*/ 6 h 53"/>
              <a:gd name="T30" fmla="*/ 12 w 24"/>
              <a:gd name="T31" fmla="*/ 0 h 53"/>
              <a:gd name="T32" fmla="*/ 18 w 24"/>
              <a:gd name="T33" fmla="*/ 0 h 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
              <a:gd name="T52" fmla="*/ 0 h 53"/>
              <a:gd name="T53" fmla="*/ 24 w 24"/>
              <a:gd name="T54" fmla="*/ 53 h 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 h="53">
                <a:moveTo>
                  <a:pt x="18" y="0"/>
                </a:moveTo>
                <a:lnTo>
                  <a:pt x="18" y="6"/>
                </a:lnTo>
                <a:lnTo>
                  <a:pt x="24" y="12"/>
                </a:lnTo>
                <a:lnTo>
                  <a:pt x="24" y="18"/>
                </a:lnTo>
                <a:lnTo>
                  <a:pt x="24" y="29"/>
                </a:lnTo>
                <a:lnTo>
                  <a:pt x="24" y="41"/>
                </a:lnTo>
                <a:lnTo>
                  <a:pt x="18" y="47"/>
                </a:lnTo>
                <a:lnTo>
                  <a:pt x="12" y="53"/>
                </a:lnTo>
                <a:lnTo>
                  <a:pt x="6" y="53"/>
                </a:lnTo>
                <a:lnTo>
                  <a:pt x="0" y="53"/>
                </a:lnTo>
                <a:lnTo>
                  <a:pt x="0" y="47"/>
                </a:lnTo>
                <a:lnTo>
                  <a:pt x="0" y="35"/>
                </a:lnTo>
                <a:lnTo>
                  <a:pt x="0" y="24"/>
                </a:lnTo>
                <a:lnTo>
                  <a:pt x="0" y="18"/>
                </a:lnTo>
                <a:lnTo>
                  <a:pt x="6" y="6"/>
                </a:lnTo>
                <a:lnTo>
                  <a:pt x="12" y="0"/>
                </a:lnTo>
                <a:lnTo>
                  <a:pt x="1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51" name="Line 148"/>
          <p:cNvSpPr>
            <a:spLocks noChangeShapeType="1"/>
          </p:cNvSpPr>
          <p:nvPr/>
        </p:nvSpPr>
        <p:spPr bwMode="auto">
          <a:xfrm flipH="1" flipV="1">
            <a:off x="7237413" y="5153025"/>
            <a:ext cx="425450" cy="92075"/>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2" name="Line 149"/>
          <p:cNvSpPr>
            <a:spLocks noChangeShapeType="1"/>
          </p:cNvSpPr>
          <p:nvPr/>
        </p:nvSpPr>
        <p:spPr bwMode="auto">
          <a:xfrm flipV="1">
            <a:off x="7170738" y="4516438"/>
            <a:ext cx="227012" cy="369887"/>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3" name="Line 150"/>
          <p:cNvSpPr>
            <a:spLocks noChangeShapeType="1"/>
          </p:cNvSpPr>
          <p:nvPr/>
        </p:nvSpPr>
        <p:spPr bwMode="auto">
          <a:xfrm>
            <a:off x="7596188" y="4562475"/>
            <a:ext cx="312737" cy="600075"/>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4" name="Line 151"/>
          <p:cNvSpPr>
            <a:spLocks noChangeShapeType="1"/>
          </p:cNvSpPr>
          <p:nvPr/>
        </p:nvSpPr>
        <p:spPr bwMode="auto">
          <a:xfrm flipV="1">
            <a:off x="7720013" y="4203700"/>
            <a:ext cx="407987" cy="82550"/>
          </a:xfrm>
          <a:prstGeom prst="line">
            <a:avLst/>
          </a:prstGeom>
          <a:noFill/>
          <a:ln w="28575">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5" name="Line 152"/>
          <p:cNvSpPr>
            <a:spLocks noChangeShapeType="1"/>
          </p:cNvSpPr>
          <p:nvPr/>
        </p:nvSpPr>
        <p:spPr bwMode="auto">
          <a:xfrm flipV="1">
            <a:off x="8212138" y="4894263"/>
            <a:ext cx="312737" cy="249237"/>
          </a:xfrm>
          <a:prstGeom prst="line">
            <a:avLst/>
          </a:prstGeom>
          <a:noFill/>
          <a:ln w="28575">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6" name="Line 153"/>
          <p:cNvSpPr>
            <a:spLocks noChangeShapeType="1"/>
          </p:cNvSpPr>
          <p:nvPr/>
        </p:nvSpPr>
        <p:spPr bwMode="auto">
          <a:xfrm>
            <a:off x="7700963" y="4460875"/>
            <a:ext cx="823912" cy="231775"/>
          </a:xfrm>
          <a:prstGeom prst="line">
            <a:avLst/>
          </a:prstGeom>
          <a:noFill/>
          <a:ln w="28575">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7" name="Freeform 154"/>
          <p:cNvSpPr>
            <a:spLocks/>
          </p:cNvSpPr>
          <p:nvPr/>
        </p:nvSpPr>
        <p:spPr bwMode="auto">
          <a:xfrm>
            <a:off x="8364538" y="3944938"/>
            <a:ext cx="9525" cy="26987"/>
          </a:xfrm>
          <a:custGeom>
            <a:avLst/>
            <a:gdLst>
              <a:gd name="T0" fmla="*/ 0 w 6"/>
              <a:gd name="T1" fmla="*/ 0 h 17"/>
              <a:gd name="T2" fmla="*/ 6 w 6"/>
              <a:gd name="T3" fmla="*/ 0 h 17"/>
              <a:gd name="T4" fmla="*/ 6 w 6"/>
              <a:gd name="T5" fmla="*/ 6 h 17"/>
              <a:gd name="T6" fmla="*/ 6 w 6"/>
              <a:gd name="T7" fmla="*/ 12 h 17"/>
              <a:gd name="T8" fmla="*/ 6 w 6"/>
              <a:gd name="T9" fmla="*/ 17 h 17"/>
              <a:gd name="T10" fmla="*/ 6 w 6"/>
              <a:gd name="T11" fmla="*/ 12 h 17"/>
              <a:gd name="T12" fmla="*/ 6 w 6"/>
              <a:gd name="T13" fmla="*/ 6 h 17"/>
              <a:gd name="T14" fmla="*/ 0 w 6"/>
              <a:gd name="T15" fmla="*/ 6 h 17"/>
              <a:gd name="T16" fmla="*/ 0 w 6"/>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7"/>
              <a:gd name="T29" fmla="*/ 6 w 6"/>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7">
                <a:moveTo>
                  <a:pt x="0" y="0"/>
                </a:moveTo>
                <a:lnTo>
                  <a:pt x="6" y="0"/>
                </a:lnTo>
                <a:lnTo>
                  <a:pt x="6" y="6"/>
                </a:lnTo>
                <a:lnTo>
                  <a:pt x="6" y="12"/>
                </a:lnTo>
                <a:lnTo>
                  <a:pt x="6" y="17"/>
                </a:lnTo>
                <a:lnTo>
                  <a:pt x="6" y="12"/>
                </a:lnTo>
                <a:lnTo>
                  <a:pt x="6" y="6"/>
                </a:lnTo>
                <a:lnTo>
                  <a:pt x="0" y="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58" name="Freeform 155"/>
          <p:cNvSpPr>
            <a:spLocks/>
          </p:cNvSpPr>
          <p:nvPr/>
        </p:nvSpPr>
        <p:spPr bwMode="auto">
          <a:xfrm>
            <a:off x="8364538" y="3971925"/>
            <a:ext cx="1587" cy="1588"/>
          </a:xfrm>
          <a:custGeom>
            <a:avLst/>
            <a:gdLst>
              <a:gd name="T0" fmla="*/ 0 w 1587"/>
              <a:gd name="T1" fmla="*/ 0 h 1588"/>
              <a:gd name="T2" fmla="*/ 0 w 1587"/>
              <a:gd name="T3" fmla="*/ 0 h 1588"/>
              <a:gd name="T4" fmla="*/ 0 w 1587"/>
              <a:gd name="T5" fmla="*/ 0 h 1588"/>
              <a:gd name="T6" fmla="*/ 0 60000 65536"/>
              <a:gd name="T7" fmla="*/ 0 60000 65536"/>
              <a:gd name="T8" fmla="*/ 0 60000 65536"/>
              <a:gd name="T9" fmla="*/ 0 w 1587"/>
              <a:gd name="T10" fmla="*/ 0 h 1588"/>
              <a:gd name="T11" fmla="*/ 1587 w 1587"/>
              <a:gd name="T12" fmla="*/ 1588 h 1588"/>
            </a:gdLst>
            <a:ahLst/>
            <a:cxnLst>
              <a:cxn ang="T6">
                <a:pos x="T0" y="T1"/>
              </a:cxn>
              <a:cxn ang="T7">
                <a:pos x="T2" y="T3"/>
              </a:cxn>
              <a:cxn ang="T8">
                <a:pos x="T4" y="T5"/>
              </a:cxn>
            </a:cxnLst>
            <a:rect l="T9" t="T10" r="T11" b="T12"/>
            <a:pathLst>
              <a:path w="1587" h="1588">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59" name="Rectangle 156"/>
          <p:cNvSpPr>
            <a:spLocks noChangeArrowheads="1"/>
          </p:cNvSpPr>
          <p:nvPr/>
        </p:nvSpPr>
        <p:spPr bwMode="auto">
          <a:xfrm>
            <a:off x="8099425" y="3935413"/>
            <a:ext cx="341313" cy="387350"/>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60" name="Rectangle 157"/>
          <p:cNvSpPr>
            <a:spLocks noChangeArrowheads="1"/>
          </p:cNvSpPr>
          <p:nvPr/>
        </p:nvSpPr>
        <p:spPr bwMode="auto">
          <a:xfrm>
            <a:off x="8099425" y="3935413"/>
            <a:ext cx="341313" cy="3873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61" name="Rectangle 158"/>
          <p:cNvSpPr>
            <a:spLocks noChangeArrowheads="1"/>
          </p:cNvSpPr>
          <p:nvPr/>
        </p:nvSpPr>
        <p:spPr bwMode="auto">
          <a:xfrm>
            <a:off x="8108950" y="3954463"/>
            <a:ext cx="322263" cy="350837"/>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62" name="Rectangle 159"/>
          <p:cNvSpPr>
            <a:spLocks noChangeArrowheads="1"/>
          </p:cNvSpPr>
          <p:nvPr/>
        </p:nvSpPr>
        <p:spPr bwMode="auto">
          <a:xfrm>
            <a:off x="8108950" y="3954463"/>
            <a:ext cx="322263" cy="350837"/>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63" name="Freeform 160"/>
          <p:cNvSpPr>
            <a:spLocks/>
          </p:cNvSpPr>
          <p:nvPr/>
        </p:nvSpPr>
        <p:spPr bwMode="auto">
          <a:xfrm>
            <a:off x="8288338" y="4083050"/>
            <a:ext cx="114300" cy="184150"/>
          </a:xfrm>
          <a:custGeom>
            <a:avLst/>
            <a:gdLst>
              <a:gd name="T0" fmla="*/ 12 w 72"/>
              <a:gd name="T1" fmla="*/ 18 h 116"/>
              <a:gd name="T2" fmla="*/ 0 w 72"/>
              <a:gd name="T3" fmla="*/ 99 h 116"/>
              <a:gd name="T4" fmla="*/ 18 w 72"/>
              <a:gd name="T5" fmla="*/ 116 h 116"/>
              <a:gd name="T6" fmla="*/ 18 w 72"/>
              <a:gd name="T7" fmla="*/ 105 h 116"/>
              <a:gd name="T8" fmla="*/ 24 w 72"/>
              <a:gd name="T9" fmla="*/ 105 h 116"/>
              <a:gd name="T10" fmla="*/ 24 w 72"/>
              <a:gd name="T11" fmla="*/ 70 h 116"/>
              <a:gd name="T12" fmla="*/ 42 w 72"/>
              <a:gd name="T13" fmla="*/ 116 h 116"/>
              <a:gd name="T14" fmla="*/ 54 w 72"/>
              <a:gd name="T15" fmla="*/ 116 h 116"/>
              <a:gd name="T16" fmla="*/ 54 w 72"/>
              <a:gd name="T17" fmla="*/ 99 h 116"/>
              <a:gd name="T18" fmla="*/ 30 w 72"/>
              <a:gd name="T19" fmla="*/ 52 h 116"/>
              <a:gd name="T20" fmla="*/ 72 w 72"/>
              <a:gd name="T21" fmla="*/ 29 h 116"/>
              <a:gd name="T22" fmla="*/ 66 w 72"/>
              <a:gd name="T23" fmla="*/ 12 h 116"/>
              <a:gd name="T24" fmla="*/ 24 w 72"/>
              <a:gd name="T25" fmla="*/ 35 h 116"/>
              <a:gd name="T26" fmla="*/ 30 w 72"/>
              <a:gd name="T27" fmla="*/ 12 h 116"/>
              <a:gd name="T28" fmla="*/ 18 w 72"/>
              <a:gd name="T29" fmla="*/ 0 h 116"/>
              <a:gd name="T30" fmla="*/ 12 w 72"/>
              <a:gd name="T31" fmla="*/ 18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116"/>
              <a:gd name="T50" fmla="*/ 72 w 72"/>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116">
                <a:moveTo>
                  <a:pt x="12" y="18"/>
                </a:moveTo>
                <a:lnTo>
                  <a:pt x="0" y="99"/>
                </a:lnTo>
                <a:lnTo>
                  <a:pt x="18" y="116"/>
                </a:lnTo>
                <a:lnTo>
                  <a:pt x="18" y="105"/>
                </a:lnTo>
                <a:lnTo>
                  <a:pt x="24" y="105"/>
                </a:lnTo>
                <a:lnTo>
                  <a:pt x="24" y="70"/>
                </a:lnTo>
                <a:lnTo>
                  <a:pt x="42" y="116"/>
                </a:lnTo>
                <a:lnTo>
                  <a:pt x="54" y="116"/>
                </a:lnTo>
                <a:lnTo>
                  <a:pt x="54" y="99"/>
                </a:lnTo>
                <a:lnTo>
                  <a:pt x="30" y="52"/>
                </a:lnTo>
                <a:lnTo>
                  <a:pt x="72" y="29"/>
                </a:lnTo>
                <a:lnTo>
                  <a:pt x="66" y="12"/>
                </a:lnTo>
                <a:lnTo>
                  <a:pt x="24" y="35"/>
                </a:lnTo>
                <a:lnTo>
                  <a:pt x="30" y="12"/>
                </a:lnTo>
                <a:lnTo>
                  <a:pt x="18" y="0"/>
                </a:lnTo>
                <a:lnTo>
                  <a:pt x="12" y="18"/>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64" name="Freeform 161"/>
          <p:cNvSpPr>
            <a:spLocks/>
          </p:cNvSpPr>
          <p:nvPr/>
        </p:nvSpPr>
        <p:spPr bwMode="auto">
          <a:xfrm>
            <a:off x="8288338" y="4083050"/>
            <a:ext cx="114300" cy="184150"/>
          </a:xfrm>
          <a:custGeom>
            <a:avLst/>
            <a:gdLst>
              <a:gd name="T0" fmla="*/ 12 w 72"/>
              <a:gd name="T1" fmla="*/ 18 h 116"/>
              <a:gd name="T2" fmla="*/ 0 w 72"/>
              <a:gd name="T3" fmla="*/ 99 h 116"/>
              <a:gd name="T4" fmla="*/ 18 w 72"/>
              <a:gd name="T5" fmla="*/ 116 h 116"/>
              <a:gd name="T6" fmla="*/ 18 w 72"/>
              <a:gd name="T7" fmla="*/ 105 h 116"/>
              <a:gd name="T8" fmla="*/ 24 w 72"/>
              <a:gd name="T9" fmla="*/ 105 h 116"/>
              <a:gd name="T10" fmla="*/ 24 w 72"/>
              <a:gd name="T11" fmla="*/ 70 h 116"/>
              <a:gd name="T12" fmla="*/ 42 w 72"/>
              <a:gd name="T13" fmla="*/ 116 h 116"/>
              <a:gd name="T14" fmla="*/ 54 w 72"/>
              <a:gd name="T15" fmla="*/ 116 h 116"/>
              <a:gd name="T16" fmla="*/ 54 w 72"/>
              <a:gd name="T17" fmla="*/ 99 h 116"/>
              <a:gd name="T18" fmla="*/ 30 w 72"/>
              <a:gd name="T19" fmla="*/ 52 h 116"/>
              <a:gd name="T20" fmla="*/ 72 w 72"/>
              <a:gd name="T21" fmla="*/ 29 h 116"/>
              <a:gd name="T22" fmla="*/ 66 w 72"/>
              <a:gd name="T23" fmla="*/ 12 h 116"/>
              <a:gd name="T24" fmla="*/ 24 w 72"/>
              <a:gd name="T25" fmla="*/ 35 h 116"/>
              <a:gd name="T26" fmla="*/ 30 w 72"/>
              <a:gd name="T27" fmla="*/ 12 h 116"/>
              <a:gd name="T28" fmla="*/ 18 w 72"/>
              <a:gd name="T29" fmla="*/ 0 h 116"/>
              <a:gd name="T30" fmla="*/ 12 w 72"/>
              <a:gd name="T31" fmla="*/ 18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116"/>
              <a:gd name="T50" fmla="*/ 72 w 72"/>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116">
                <a:moveTo>
                  <a:pt x="12" y="18"/>
                </a:moveTo>
                <a:lnTo>
                  <a:pt x="0" y="99"/>
                </a:lnTo>
                <a:lnTo>
                  <a:pt x="18" y="116"/>
                </a:lnTo>
                <a:lnTo>
                  <a:pt x="18" y="105"/>
                </a:lnTo>
                <a:lnTo>
                  <a:pt x="24" y="105"/>
                </a:lnTo>
                <a:lnTo>
                  <a:pt x="24" y="70"/>
                </a:lnTo>
                <a:lnTo>
                  <a:pt x="42" y="116"/>
                </a:lnTo>
                <a:lnTo>
                  <a:pt x="54" y="116"/>
                </a:lnTo>
                <a:lnTo>
                  <a:pt x="54" y="99"/>
                </a:lnTo>
                <a:lnTo>
                  <a:pt x="30" y="52"/>
                </a:lnTo>
                <a:lnTo>
                  <a:pt x="72" y="29"/>
                </a:lnTo>
                <a:lnTo>
                  <a:pt x="66" y="12"/>
                </a:lnTo>
                <a:lnTo>
                  <a:pt x="24" y="35"/>
                </a:lnTo>
                <a:lnTo>
                  <a:pt x="30" y="12"/>
                </a:lnTo>
                <a:lnTo>
                  <a:pt x="18" y="0"/>
                </a:lnTo>
                <a:lnTo>
                  <a:pt x="12" y="1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65" name="Freeform 162"/>
          <p:cNvSpPr>
            <a:spLocks/>
          </p:cNvSpPr>
          <p:nvPr/>
        </p:nvSpPr>
        <p:spPr bwMode="auto">
          <a:xfrm>
            <a:off x="8147050" y="3971925"/>
            <a:ext cx="179388" cy="157163"/>
          </a:xfrm>
          <a:custGeom>
            <a:avLst/>
            <a:gdLst>
              <a:gd name="T0" fmla="*/ 23 w 113"/>
              <a:gd name="T1" fmla="*/ 6 h 99"/>
              <a:gd name="T2" fmla="*/ 41 w 113"/>
              <a:gd name="T3" fmla="*/ 47 h 99"/>
              <a:gd name="T4" fmla="*/ 0 w 113"/>
              <a:gd name="T5" fmla="*/ 76 h 99"/>
              <a:gd name="T6" fmla="*/ 6 w 113"/>
              <a:gd name="T7" fmla="*/ 99 h 99"/>
              <a:gd name="T8" fmla="*/ 11 w 113"/>
              <a:gd name="T9" fmla="*/ 93 h 99"/>
              <a:gd name="T10" fmla="*/ 17 w 113"/>
              <a:gd name="T11" fmla="*/ 99 h 99"/>
              <a:gd name="T12" fmla="*/ 53 w 113"/>
              <a:gd name="T13" fmla="*/ 70 h 99"/>
              <a:gd name="T14" fmla="*/ 71 w 113"/>
              <a:gd name="T15" fmla="*/ 99 h 99"/>
              <a:gd name="T16" fmla="*/ 89 w 113"/>
              <a:gd name="T17" fmla="*/ 99 h 99"/>
              <a:gd name="T18" fmla="*/ 95 w 113"/>
              <a:gd name="T19" fmla="*/ 88 h 99"/>
              <a:gd name="T20" fmla="*/ 71 w 113"/>
              <a:gd name="T21" fmla="*/ 59 h 99"/>
              <a:gd name="T22" fmla="*/ 113 w 113"/>
              <a:gd name="T23" fmla="*/ 12 h 99"/>
              <a:gd name="T24" fmla="*/ 95 w 113"/>
              <a:gd name="T25" fmla="*/ 0 h 99"/>
              <a:gd name="T26" fmla="*/ 59 w 113"/>
              <a:gd name="T27" fmla="*/ 30 h 99"/>
              <a:gd name="T28" fmla="*/ 41 w 113"/>
              <a:gd name="T29" fmla="*/ 0 h 99"/>
              <a:gd name="T30" fmla="*/ 35 w 113"/>
              <a:gd name="T31" fmla="*/ 6 h 99"/>
              <a:gd name="T32" fmla="*/ 23 w 113"/>
              <a:gd name="T33" fmla="*/ 0 h 99"/>
              <a:gd name="T34" fmla="*/ 23 w 113"/>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
              <a:gd name="T55" fmla="*/ 0 h 99"/>
              <a:gd name="T56" fmla="*/ 113 w 113"/>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 h="99">
                <a:moveTo>
                  <a:pt x="23" y="6"/>
                </a:moveTo>
                <a:lnTo>
                  <a:pt x="41" y="47"/>
                </a:lnTo>
                <a:lnTo>
                  <a:pt x="0" y="76"/>
                </a:lnTo>
                <a:lnTo>
                  <a:pt x="6" y="99"/>
                </a:lnTo>
                <a:lnTo>
                  <a:pt x="11" y="93"/>
                </a:lnTo>
                <a:lnTo>
                  <a:pt x="17" y="99"/>
                </a:lnTo>
                <a:lnTo>
                  <a:pt x="53" y="70"/>
                </a:lnTo>
                <a:lnTo>
                  <a:pt x="71" y="99"/>
                </a:lnTo>
                <a:lnTo>
                  <a:pt x="89" y="99"/>
                </a:lnTo>
                <a:lnTo>
                  <a:pt x="95" y="88"/>
                </a:lnTo>
                <a:lnTo>
                  <a:pt x="71" y="59"/>
                </a:lnTo>
                <a:lnTo>
                  <a:pt x="113" y="12"/>
                </a:lnTo>
                <a:lnTo>
                  <a:pt x="95" y="0"/>
                </a:lnTo>
                <a:lnTo>
                  <a:pt x="59" y="30"/>
                </a:lnTo>
                <a:lnTo>
                  <a:pt x="41" y="0"/>
                </a:lnTo>
                <a:lnTo>
                  <a:pt x="35" y="6"/>
                </a:lnTo>
                <a:lnTo>
                  <a:pt x="23" y="0"/>
                </a:lnTo>
                <a:lnTo>
                  <a:pt x="23" y="6"/>
                </a:lnTo>
                <a:close/>
              </a:path>
            </a:pathLst>
          </a:custGeom>
          <a:solidFill>
            <a:srgbClr val="FF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66" name="Freeform 163"/>
          <p:cNvSpPr>
            <a:spLocks/>
          </p:cNvSpPr>
          <p:nvPr/>
        </p:nvSpPr>
        <p:spPr bwMode="auto">
          <a:xfrm>
            <a:off x="8147050" y="3971925"/>
            <a:ext cx="179388" cy="157163"/>
          </a:xfrm>
          <a:custGeom>
            <a:avLst/>
            <a:gdLst>
              <a:gd name="T0" fmla="*/ 23 w 113"/>
              <a:gd name="T1" fmla="*/ 6 h 99"/>
              <a:gd name="T2" fmla="*/ 41 w 113"/>
              <a:gd name="T3" fmla="*/ 47 h 99"/>
              <a:gd name="T4" fmla="*/ 0 w 113"/>
              <a:gd name="T5" fmla="*/ 76 h 99"/>
              <a:gd name="T6" fmla="*/ 6 w 113"/>
              <a:gd name="T7" fmla="*/ 99 h 99"/>
              <a:gd name="T8" fmla="*/ 11 w 113"/>
              <a:gd name="T9" fmla="*/ 93 h 99"/>
              <a:gd name="T10" fmla="*/ 17 w 113"/>
              <a:gd name="T11" fmla="*/ 99 h 99"/>
              <a:gd name="T12" fmla="*/ 53 w 113"/>
              <a:gd name="T13" fmla="*/ 70 h 99"/>
              <a:gd name="T14" fmla="*/ 71 w 113"/>
              <a:gd name="T15" fmla="*/ 99 h 99"/>
              <a:gd name="T16" fmla="*/ 89 w 113"/>
              <a:gd name="T17" fmla="*/ 99 h 99"/>
              <a:gd name="T18" fmla="*/ 95 w 113"/>
              <a:gd name="T19" fmla="*/ 88 h 99"/>
              <a:gd name="T20" fmla="*/ 71 w 113"/>
              <a:gd name="T21" fmla="*/ 59 h 99"/>
              <a:gd name="T22" fmla="*/ 113 w 113"/>
              <a:gd name="T23" fmla="*/ 12 h 99"/>
              <a:gd name="T24" fmla="*/ 95 w 113"/>
              <a:gd name="T25" fmla="*/ 0 h 99"/>
              <a:gd name="T26" fmla="*/ 59 w 113"/>
              <a:gd name="T27" fmla="*/ 30 h 99"/>
              <a:gd name="T28" fmla="*/ 41 w 113"/>
              <a:gd name="T29" fmla="*/ 0 h 99"/>
              <a:gd name="T30" fmla="*/ 35 w 113"/>
              <a:gd name="T31" fmla="*/ 6 h 99"/>
              <a:gd name="T32" fmla="*/ 23 w 113"/>
              <a:gd name="T33" fmla="*/ 0 h 99"/>
              <a:gd name="T34" fmla="*/ 23 w 113"/>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
              <a:gd name="T55" fmla="*/ 0 h 99"/>
              <a:gd name="T56" fmla="*/ 113 w 113"/>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 h="99">
                <a:moveTo>
                  <a:pt x="23" y="6"/>
                </a:moveTo>
                <a:lnTo>
                  <a:pt x="41" y="47"/>
                </a:lnTo>
                <a:lnTo>
                  <a:pt x="0" y="76"/>
                </a:lnTo>
                <a:lnTo>
                  <a:pt x="6" y="99"/>
                </a:lnTo>
                <a:lnTo>
                  <a:pt x="11" y="93"/>
                </a:lnTo>
                <a:lnTo>
                  <a:pt x="17" y="99"/>
                </a:lnTo>
                <a:lnTo>
                  <a:pt x="53" y="70"/>
                </a:lnTo>
                <a:lnTo>
                  <a:pt x="71" y="99"/>
                </a:lnTo>
                <a:lnTo>
                  <a:pt x="89" y="99"/>
                </a:lnTo>
                <a:lnTo>
                  <a:pt x="95" y="88"/>
                </a:lnTo>
                <a:lnTo>
                  <a:pt x="71" y="59"/>
                </a:lnTo>
                <a:lnTo>
                  <a:pt x="113" y="12"/>
                </a:lnTo>
                <a:lnTo>
                  <a:pt x="95" y="0"/>
                </a:lnTo>
                <a:lnTo>
                  <a:pt x="59" y="30"/>
                </a:lnTo>
                <a:lnTo>
                  <a:pt x="41" y="0"/>
                </a:lnTo>
                <a:lnTo>
                  <a:pt x="35" y="6"/>
                </a:lnTo>
                <a:lnTo>
                  <a:pt x="23" y="0"/>
                </a:lnTo>
                <a:lnTo>
                  <a:pt x="23" y="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67" name="Freeform 164"/>
          <p:cNvSpPr>
            <a:spLocks/>
          </p:cNvSpPr>
          <p:nvPr/>
        </p:nvSpPr>
        <p:spPr bwMode="auto">
          <a:xfrm>
            <a:off x="8156575" y="4129088"/>
            <a:ext cx="112713" cy="147637"/>
          </a:xfrm>
          <a:custGeom>
            <a:avLst/>
            <a:gdLst>
              <a:gd name="T0" fmla="*/ 41 w 71"/>
              <a:gd name="T1" fmla="*/ 0 h 93"/>
              <a:gd name="T2" fmla="*/ 47 w 71"/>
              <a:gd name="T3" fmla="*/ 0 h 93"/>
              <a:gd name="T4" fmla="*/ 53 w 71"/>
              <a:gd name="T5" fmla="*/ 0 h 93"/>
              <a:gd name="T6" fmla="*/ 53 w 71"/>
              <a:gd name="T7" fmla="*/ 6 h 93"/>
              <a:gd name="T8" fmla="*/ 59 w 71"/>
              <a:gd name="T9" fmla="*/ 6 h 93"/>
              <a:gd name="T10" fmla="*/ 59 w 71"/>
              <a:gd name="T11" fmla="*/ 12 h 93"/>
              <a:gd name="T12" fmla="*/ 65 w 71"/>
              <a:gd name="T13" fmla="*/ 12 h 93"/>
              <a:gd name="T14" fmla="*/ 65 w 71"/>
              <a:gd name="T15" fmla="*/ 18 h 93"/>
              <a:gd name="T16" fmla="*/ 65 w 71"/>
              <a:gd name="T17" fmla="*/ 23 h 93"/>
              <a:gd name="T18" fmla="*/ 65 w 71"/>
              <a:gd name="T19" fmla="*/ 29 h 93"/>
              <a:gd name="T20" fmla="*/ 71 w 71"/>
              <a:gd name="T21" fmla="*/ 35 h 93"/>
              <a:gd name="T22" fmla="*/ 71 w 71"/>
              <a:gd name="T23" fmla="*/ 41 h 93"/>
              <a:gd name="T24" fmla="*/ 71 w 71"/>
              <a:gd name="T25" fmla="*/ 47 h 93"/>
              <a:gd name="T26" fmla="*/ 65 w 71"/>
              <a:gd name="T27" fmla="*/ 47 h 93"/>
              <a:gd name="T28" fmla="*/ 65 w 71"/>
              <a:gd name="T29" fmla="*/ 53 h 93"/>
              <a:gd name="T30" fmla="*/ 65 w 71"/>
              <a:gd name="T31" fmla="*/ 58 h 93"/>
              <a:gd name="T32" fmla="*/ 65 w 71"/>
              <a:gd name="T33" fmla="*/ 64 h 93"/>
              <a:gd name="T34" fmla="*/ 65 w 71"/>
              <a:gd name="T35" fmla="*/ 70 h 93"/>
              <a:gd name="T36" fmla="*/ 59 w 71"/>
              <a:gd name="T37" fmla="*/ 70 h 93"/>
              <a:gd name="T38" fmla="*/ 59 w 71"/>
              <a:gd name="T39" fmla="*/ 76 h 93"/>
              <a:gd name="T40" fmla="*/ 53 w 71"/>
              <a:gd name="T41" fmla="*/ 82 h 93"/>
              <a:gd name="T42" fmla="*/ 47 w 71"/>
              <a:gd name="T43" fmla="*/ 87 h 93"/>
              <a:gd name="T44" fmla="*/ 41 w 71"/>
              <a:gd name="T45" fmla="*/ 87 h 93"/>
              <a:gd name="T46" fmla="*/ 41 w 71"/>
              <a:gd name="T47" fmla="*/ 93 h 93"/>
              <a:gd name="T48" fmla="*/ 35 w 71"/>
              <a:gd name="T49" fmla="*/ 93 h 93"/>
              <a:gd name="T50" fmla="*/ 29 w 71"/>
              <a:gd name="T51" fmla="*/ 93 h 93"/>
              <a:gd name="T52" fmla="*/ 23 w 71"/>
              <a:gd name="T53" fmla="*/ 93 h 93"/>
              <a:gd name="T54" fmla="*/ 17 w 71"/>
              <a:gd name="T55" fmla="*/ 93 h 93"/>
              <a:gd name="T56" fmla="*/ 17 w 71"/>
              <a:gd name="T57" fmla="*/ 87 h 93"/>
              <a:gd name="T58" fmla="*/ 11 w 71"/>
              <a:gd name="T59" fmla="*/ 87 h 93"/>
              <a:gd name="T60" fmla="*/ 11 w 71"/>
              <a:gd name="T61" fmla="*/ 82 h 93"/>
              <a:gd name="T62" fmla="*/ 5 w 71"/>
              <a:gd name="T63" fmla="*/ 82 h 93"/>
              <a:gd name="T64" fmla="*/ 5 w 71"/>
              <a:gd name="T65" fmla="*/ 76 h 93"/>
              <a:gd name="T66" fmla="*/ 5 w 71"/>
              <a:gd name="T67" fmla="*/ 70 h 93"/>
              <a:gd name="T68" fmla="*/ 0 w 71"/>
              <a:gd name="T69" fmla="*/ 70 h 93"/>
              <a:gd name="T70" fmla="*/ 0 w 71"/>
              <a:gd name="T71" fmla="*/ 64 h 93"/>
              <a:gd name="T72" fmla="*/ 0 w 71"/>
              <a:gd name="T73" fmla="*/ 58 h 93"/>
              <a:gd name="T74" fmla="*/ 0 w 71"/>
              <a:gd name="T75" fmla="*/ 53 h 93"/>
              <a:gd name="T76" fmla="*/ 0 w 71"/>
              <a:gd name="T77" fmla="*/ 47 h 93"/>
              <a:gd name="T78" fmla="*/ 0 w 71"/>
              <a:gd name="T79" fmla="*/ 41 h 93"/>
              <a:gd name="T80" fmla="*/ 0 w 71"/>
              <a:gd name="T81" fmla="*/ 35 h 93"/>
              <a:gd name="T82" fmla="*/ 5 w 71"/>
              <a:gd name="T83" fmla="*/ 35 h 93"/>
              <a:gd name="T84" fmla="*/ 5 w 71"/>
              <a:gd name="T85" fmla="*/ 29 h 93"/>
              <a:gd name="T86" fmla="*/ 5 w 71"/>
              <a:gd name="T87" fmla="*/ 23 h 93"/>
              <a:gd name="T88" fmla="*/ 5 w 71"/>
              <a:gd name="T89" fmla="*/ 18 h 93"/>
              <a:gd name="T90" fmla="*/ 11 w 71"/>
              <a:gd name="T91" fmla="*/ 18 h 93"/>
              <a:gd name="T92" fmla="*/ 11 w 71"/>
              <a:gd name="T93" fmla="*/ 12 h 93"/>
              <a:gd name="T94" fmla="*/ 17 w 71"/>
              <a:gd name="T95" fmla="*/ 12 h 93"/>
              <a:gd name="T96" fmla="*/ 17 w 71"/>
              <a:gd name="T97" fmla="*/ 6 h 93"/>
              <a:gd name="T98" fmla="*/ 23 w 71"/>
              <a:gd name="T99" fmla="*/ 6 h 93"/>
              <a:gd name="T100" fmla="*/ 23 w 71"/>
              <a:gd name="T101" fmla="*/ 0 h 93"/>
              <a:gd name="T102" fmla="*/ 29 w 71"/>
              <a:gd name="T103" fmla="*/ 0 h 93"/>
              <a:gd name="T104" fmla="*/ 35 w 71"/>
              <a:gd name="T105" fmla="*/ 0 h 93"/>
              <a:gd name="T106" fmla="*/ 41 w 71"/>
              <a:gd name="T107" fmla="*/ 0 h 9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1"/>
              <a:gd name="T163" fmla="*/ 0 h 93"/>
              <a:gd name="T164" fmla="*/ 71 w 71"/>
              <a:gd name="T165" fmla="*/ 93 h 9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1" h="93">
                <a:moveTo>
                  <a:pt x="41" y="0"/>
                </a:moveTo>
                <a:lnTo>
                  <a:pt x="47" y="0"/>
                </a:lnTo>
                <a:lnTo>
                  <a:pt x="53" y="0"/>
                </a:lnTo>
                <a:lnTo>
                  <a:pt x="53" y="6"/>
                </a:lnTo>
                <a:lnTo>
                  <a:pt x="59" y="6"/>
                </a:lnTo>
                <a:lnTo>
                  <a:pt x="59" y="12"/>
                </a:lnTo>
                <a:lnTo>
                  <a:pt x="65" y="12"/>
                </a:lnTo>
                <a:lnTo>
                  <a:pt x="65" y="18"/>
                </a:lnTo>
                <a:lnTo>
                  <a:pt x="65" y="23"/>
                </a:lnTo>
                <a:lnTo>
                  <a:pt x="65" y="29"/>
                </a:lnTo>
                <a:lnTo>
                  <a:pt x="71" y="35"/>
                </a:lnTo>
                <a:lnTo>
                  <a:pt x="71" y="41"/>
                </a:lnTo>
                <a:lnTo>
                  <a:pt x="71" y="47"/>
                </a:lnTo>
                <a:lnTo>
                  <a:pt x="65" y="47"/>
                </a:lnTo>
                <a:lnTo>
                  <a:pt x="65" y="53"/>
                </a:lnTo>
                <a:lnTo>
                  <a:pt x="65" y="58"/>
                </a:lnTo>
                <a:lnTo>
                  <a:pt x="65" y="64"/>
                </a:lnTo>
                <a:lnTo>
                  <a:pt x="65" y="70"/>
                </a:lnTo>
                <a:lnTo>
                  <a:pt x="59" y="70"/>
                </a:lnTo>
                <a:lnTo>
                  <a:pt x="59" y="76"/>
                </a:lnTo>
                <a:lnTo>
                  <a:pt x="53" y="82"/>
                </a:lnTo>
                <a:lnTo>
                  <a:pt x="47" y="87"/>
                </a:lnTo>
                <a:lnTo>
                  <a:pt x="41" y="87"/>
                </a:lnTo>
                <a:lnTo>
                  <a:pt x="41" y="93"/>
                </a:lnTo>
                <a:lnTo>
                  <a:pt x="35" y="93"/>
                </a:lnTo>
                <a:lnTo>
                  <a:pt x="29" y="93"/>
                </a:lnTo>
                <a:lnTo>
                  <a:pt x="23" y="93"/>
                </a:lnTo>
                <a:lnTo>
                  <a:pt x="17" y="93"/>
                </a:lnTo>
                <a:lnTo>
                  <a:pt x="17" y="87"/>
                </a:lnTo>
                <a:lnTo>
                  <a:pt x="11" y="87"/>
                </a:lnTo>
                <a:lnTo>
                  <a:pt x="11" y="82"/>
                </a:lnTo>
                <a:lnTo>
                  <a:pt x="5" y="82"/>
                </a:lnTo>
                <a:lnTo>
                  <a:pt x="5" y="76"/>
                </a:lnTo>
                <a:lnTo>
                  <a:pt x="5" y="70"/>
                </a:lnTo>
                <a:lnTo>
                  <a:pt x="0" y="70"/>
                </a:lnTo>
                <a:lnTo>
                  <a:pt x="0" y="64"/>
                </a:lnTo>
                <a:lnTo>
                  <a:pt x="0" y="58"/>
                </a:lnTo>
                <a:lnTo>
                  <a:pt x="0" y="53"/>
                </a:lnTo>
                <a:lnTo>
                  <a:pt x="0" y="47"/>
                </a:lnTo>
                <a:lnTo>
                  <a:pt x="0" y="41"/>
                </a:lnTo>
                <a:lnTo>
                  <a:pt x="0" y="35"/>
                </a:lnTo>
                <a:lnTo>
                  <a:pt x="5" y="35"/>
                </a:lnTo>
                <a:lnTo>
                  <a:pt x="5" y="29"/>
                </a:lnTo>
                <a:lnTo>
                  <a:pt x="5" y="23"/>
                </a:lnTo>
                <a:lnTo>
                  <a:pt x="5" y="18"/>
                </a:lnTo>
                <a:lnTo>
                  <a:pt x="11" y="18"/>
                </a:lnTo>
                <a:lnTo>
                  <a:pt x="11" y="12"/>
                </a:lnTo>
                <a:lnTo>
                  <a:pt x="17" y="12"/>
                </a:lnTo>
                <a:lnTo>
                  <a:pt x="17" y="6"/>
                </a:lnTo>
                <a:lnTo>
                  <a:pt x="23" y="6"/>
                </a:lnTo>
                <a:lnTo>
                  <a:pt x="23" y="0"/>
                </a:lnTo>
                <a:lnTo>
                  <a:pt x="29" y="0"/>
                </a:lnTo>
                <a:lnTo>
                  <a:pt x="35" y="0"/>
                </a:lnTo>
                <a:lnTo>
                  <a:pt x="41" y="0"/>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68" name="Freeform 165"/>
          <p:cNvSpPr>
            <a:spLocks/>
          </p:cNvSpPr>
          <p:nvPr/>
        </p:nvSpPr>
        <p:spPr bwMode="auto">
          <a:xfrm>
            <a:off x="8156575" y="4129088"/>
            <a:ext cx="112713" cy="147637"/>
          </a:xfrm>
          <a:custGeom>
            <a:avLst/>
            <a:gdLst>
              <a:gd name="T0" fmla="*/ 41 w 71"/>
              <a:gd name="T1" fmla="*/ 0 h 93"/>
              <a:gd name="T2" fmla="*/ 53 w 71"/>
              <a:gd name="T3" fmla="*/ 6 h 93"/>
              <a:gd name="T4" fmla="*/ 65 w 71"/>
              <a:gd name="T5" fmla="*/ 18 h 93"/>
              <a:gd name="T6" fmla="*/ 71 w 71"/>
              <a:gd name="T7" fmla="*/ 35 h 93"/>
              <a:gd name="T8" fmla="*/ 65 w 71"/>
              <a:gd name="T9" fmla="*/ 53 h 93"/>
              <a:gd name="T10" fmla="*/ 59 w 71"/>
              <a:gd name="T11" fmla="*/ 70 h 93"/>
              <a:gd name="T12" fmla="*/ 53 w 71"/>
              <a:gd name="T13" fmla="*/ 82 h 93"/>
              <a:gd name="T14" fmla="*/ 41 w 71"/>
              <a:gd name="T15" fmla="*/ 93 h 93"/>
              <a:gd name="T16" fmla="*/ 23 w 71"/>
              <a:gd name="T17" fmla="*/ 93 h 93"/>
              <a:gd name="T18" fmla="*/ 11 w 71"/>
              <a:gd name="T19" fmla="*/ 87 h 93"/>
              <a:gd name="T20" fmla="*/ 5 w 71"/>
              <a:gd name="T21" fmla="*/ 76 h 93"/>
              <a:gd name="T22" fmla="*/ 0 w 71"/>
              <a:gd name="T23" fmla="*/ 58 h 93"/>
              <a:gd name="T24" fmla="*/ 0 w 71"/>
              <a:gd name="T25" fmla="*/ 41 h 93"/>
              <a:gd name="T26" fmla="*/ 5 w 71"/>
              <a:gd name="T27" fmla="*/ 23 h 93"/>
              <a:gd name="T28" fmla="*/ 17 w 71"/>
              <a:gd name="T29" fmla="*/ 6 h 93"/>
              <a:gd name="T30" fmla="*/ 29 w 71"/>
              <a:gd name="T31" fmla="*/ 0 h 93"/>
              <a:gd name="T32" fmla="*/ 41 w 71"/>
              <a:gd name="T33" fmla="*/ 0 h 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1"/>
              <a:gd name="T52" fmla="*/ 0 h 93"/>
              <a:gd name="T53" fmla="*/ 71 w 71"/>
              <a:gd name="T54" fmla="*/ 93 h 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1" h="93">
                <a:moveTo>
                  <a:pt x="41" y="0"/>
                </a:moveTo>
                <a:lnTo>
                  <a:pt x="53" y="6"/>
                </a:lnTo>
                <a:lnTo>
                  <a:pt x="65" y="18"/>
                </a:lnTo>
                <a:lnTo>
                  <a:pt x="71" y="35"/>
                </a:lnTo>
                <a:lnTo>
                  <a:pt x="65" y="53"/>
                </a:lnTo>
                <a:lnTo>
                  <a:pt x="59" y="70"/>
                </a:lnTo>
                <a:lnTo>
                  <a:pt x="53" y="82"/>
                </a:lnTo>
                <a:lnTo>
                  <a:pt x="41" y="93"/>
                </a:lnTo>
                <a:lnTo>
                  <a:pt x="23" y="93"/>
                </a:lnTo>
                <a:lnTo>
                  <a:pt x="11" y="87"/>
                </a:lnTo>
                <a:lnTo>
                  <a:pt x="5" y="76"/>
                </a:lnTo>
                <a:lnTo>
                  <a:pt x="0" y="58"/>
                </a:lnTo>
                <a:lnTo>
                  <a:pt x="0" y="41"/>
                </a:lnTo>
                <a:lnTo>
                  <a:pt x="5" y="23"/>
                </a:lnTo>
                <a:lnTo>
                  <a:pt x="17" y="6"/>
                </a:lnTo>
                <a:lnTo>
                  <a:pt x="29" y="0"/>
                </a:lnTo>
                <a:lnTo>
                  <a:pt x="4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69" name="Freeform 166"/>
          <p:cNvSpPr>
            <a:spLocks/>
          </p:cNvSpPr>
          <p:nvPr/>
        </p:nvSpPr>
        <p:spPr bwMode="auto">
          <a:xfrm>
            <a:off x="8183563" y="4157663"/>
            <a:ext cx="47625" cy="82550"/>
          </a:xfrm>
          <a:custGeom>
            <a:avLst/>
            <a:gdLst>
              <a:gd name="T0" fmla="*/ 18 w 30"/>
              <a:gd name="T1" fmla="*/ 0 h 52"/>
              <a:gd name="T2" fmla="*/ 24 w 30"/>
              <a:gd name="T3" fmla="*/ 0 h 52"/>
              <a:gd name="T4" fmla="*/ 24 w 30"/>
              <a:gd name="T5" fmla="*/ 5 h 52"/>
              <a:gd name="T6" fmla="*/ 30 w 30"/>
              <a:gd name="T7" fmla="*/ 5 h 52"/>
              <a:gd name="T8" fmla="*/ 30 w 30"/>
              <a:gd name="T9" fmla="*/ 11 h 52"/>
              <a:gd name="T10" fmla="*/ 30 w 30"/>
              <a:gd name="T11" fmla="*/ 17 h 52"/>
              <a:gd name="T12" fmla="*/ 30 w 30"/>
              <a:gd name="T13" fmla="*/ 23 h 52"/>
              <a:gd name="T14" fmla="*/ 30 w 30"/>
              <a:gd name="T15" fmla="*/ 29 h 52"/>
              <a:gd name="T16" fmla="*/ 24 w 30"/>
              <a:gd name="T17" fmla="*/ 35 h 52"/>
              <a:gd name="T18" fmla="*/ 24 w 30"/>
              <a:gd name="T19" fmla="*/ 40 h 52"/>
              <a:gd name="T20" fmla="*/ 24 w 30"/>
              <a:gd name="T21" fmla="*/ 46 h 52"/>
              <a:gd name="T22" fmla="*/ 18 w 30"/>
              <a:gd name="T23" fmla="*/ 46 h 52"/>
              <a:gd name="T24" fmla="*/ 18 w 30"/>
              <a:gd name="T25" fmla="*/ 52 h 52"/>
              <a:gd name="T26" fmla="*/ 12 w 30"/>
              <a:gd name="T27" fmla="*/ 52 h 52"/>
              <a:gd name="T28" fmla="*/ 6 w 30"/>
              <a:gd name="T29" fmla="*/ 52 h 52"/>
              <a:gd name="T30" fmla="*/ 6 w 30"/>
              <a:gd name="T31" fmla="*/ 46 h 52"/>
              <a:gd name="T32" fmla="*/ 0 w 30"/>
              <a:gd name="T33" fmla="*/ 40 h 52"/>
              <a:gd name="T34" fmla="*/ 0 w 30"/>
              <a:gd name="T35" fmla="*/ 35 h 52"/>
              <a:gd name="T36" fmla="*/ 0 w 30"/>
              <a:gd name="T37" fmla="*/ 29 h 52"/>
              <a:gd name="T38" fmla="*/ 0 w 30"/>
              <a:gd name="T39" fmla="*/ 23 h 52"/>
              <a:gd name="T40" fmla="*/ 0 w 30"/>
              <a:gd name="T41" fmla="*/ 17 h 52"/>
              <a:gd name="T42" fmla="*/ 6 w 30"/>
              <a:gd name="T43" fmla="*/ 17 h 52"/>
              <a:gd name="T44" fmla="*/ 6 w 30"/>
              <a:gd name="T45" fmla="*/ 11 h 52"/>
              <a:gd name="T46" fmla="*/ 6 w 30"/>
              <a:gd name="T47" fmla="*/ 5 h 52"/>
              <a:gd name="T48" fmla="*/ 12 w 30"/>
              <a:gd name="T49" fmla="*/ 5 h 52"/>
              <a:gd name="T50" fmla="*/ 12 w 30"/>
              <a:gd name="T51" fmla="*/ 0 h 52"/>
              <a:gd name="T52" fmla="*/ 18 w 30"/>
              <a:gd name="T53" fmla="*/ 0 h 5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
              <a:gd name="T82" fmla="*/ 0 h 52"/>
              <a:gd name="T83" fmla="*/ 30 w 30"/>
              <a:gd name="T84" fmla="*/ 52 h 5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 h="52">
                <a:moveTo>
                  <a:pt x="18" y="0"/>
                </a:moveTo>
                <a:lnTo>
                  <a:pt x="24" y="0"/>
                </a:lnTo>
                <a:lnTo>
                  <a:pt x="24" y="5"/>
                </a:lnTo>
                <a:lnTo>
                  <a:pt x="30" y="5"/>
                </a:lnTo>
                <a:lnTo>
                  <a:pt x="30" y="11"/>
                </a:lnTo>
                <a:lnTo>
                  <a:pt x="30" y="17"/>
                </a:lnTo>
                <a:lnTo>
                  <a:pt x="30" y="23"/>
                </a:lnTo>
                <a:lnTo>
                  <a:pt x="30" y="29"/>
                </a:lnTo>
                <a:lnTo>
                  <a:pt x="24" y="35"/>
                </a:lnTo>
                <a:lnTo>
                  <a:pt x="24" y="40"/>
                </a:lnTo>
                <a:lnTo>
                  <a:pt x="24" y="46"/>
                </a:lnTo>
                <a:lnTo>
                  <a:pt x="18" y="46"/>
                </a:lnTo>
                <a:lnTo>
                  <a:pt x="18" y="52"/>
                </a:lnTo>
                <a:lnTo>
                  <a:pt x="12" y="52"/>
                </a:lnTo>
                <a:lnTo>
                  <a:pt x="6" y="52"/>
                </a:lnTo>
                <a:lnTo>
                  <a:pt x="6" y="46"/>
                </a:lnTo>
                <a:lnTo>
                  <a:pt x="0" y="40"/>
                </a:lnTo>
                <a:lnTo>
                  <a:pt x="0" y="35"/>
                </a:lnTo>
                <a:lnTo>
                  <a:pt x="0" y="29"/>
                </a:lnTo>
                <a:lnTo>
                  <a:pt x="0" y="23"/>
                </a:lnTo>
                <a:lnTo>
                  <a:pt x="0" y="17"/>
                </a:lnTo>
                <a:lnTo>
                  <a:pt x="6" y="17"/>
                </a:lnTo>
                <a:lnTo>
                  <a:pt x="6" y="11"/>
                </a:lnTo>
                <a:lnTo>
                  <a:pt x="6" y="5"/>
                </a:lnTo>
                <a:lnTo>
                  <a:pt x="12" y="5"/>
                </a:lnTo>
                <a:lnTo>
                  <a:pt x="12" y="0"/>
                </a:lnTo>
                <a:lnTo>
                  <a:pt x="18"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70" name="Freeform 167"/>
          <p:cNvSpPr>
            <a:spLocks/>
          </p:cNvSpPr>
          <p:nvPr/>
        </p:nvSpPr>
        <p:spPr bwMode="auto">
          <a:xfrm>
            <a:off x="8183563" y="4157663"/>
            <a:ext cx="47625" cy="82550"/>
          </a:xfrm>
          <a:custGeom>
            <a:avLst/>
            <a:gdLst>
              <a:gd name="T0" fmla="*/ 18 w 30"/>
              <a:gd name="T1" fmla="*/ 0 h 52"/>
              <a:gd name="T2" fmla="*/ 24 w 30"/>
              <a:gd name="T3" fmla="*/ 0 h 52"/>
              <a:gd name="T4" fmla="*/ 30 w 30"/>
              <a:gd name="T5" fmla="*/ 5 h 52"/>
              <a:gd name="T6" fmla="*/ 30 w 30"/>
              <a:gd name="T7" fmla="*/ 17 h 52"/>
              <a:gd name="T8" fmla="*/ 30 w 30"/>
              <a:gd name="T9" fmla="*/ 29 h 52"/>
              <a:gd name="T10" fmla="*/ 24 w 30"/>
              <a:gd name="T11" fmla="*/ 35 h 52"/>
              <a:gd name="T12" fmla="*/ 18 w 30"/>
              <a:gd name="T13" fmla="*/ 46 h 52"/>
              <a:gd name="T14" fmla="*/ 18 w 30"/>
              <a:gd name="T15" fmla="*/ 52 h 52"/>
              <a:gd name="T16" fmla="*/ 12 w 30"/>
              <a:gd name="T17" fmla="*/ 52 h 52"/>
              <a:gd name="T18" fmla="*/ 6 w 30"/>
              <a:gd name="T19" fmla="*/ 46 h 52"/>
              <a:gd name="T20" fmla="*/ 0 w 30"/>
              <a:gd name="T21" fmla="*/ 40 h 52"/>
              <a:gd name="T22" fmla="*/ 0 w 30"/>
              <a:gd name="T23" fmla="*/ 35 h 52"/>
              <a:gd name="T24" fmla="*/ 0 w 30"/>
              <a:gd name="T25" fmla="*/ 23 h 52"/>
              <a:gd name="T26" fmla="*/ 6 w 30"/>
              <a:gd name="T27" fmla="*/ 11 h 52"/>
              <a:gd name="T28" fmla="*/ 6 w 30"/>
              <a:gd name="T29" fmla="*/ 5 h 52"/>
              <a:gd name="T30" fmla="*/ 12 w 30"/>
              <a:gd name="T31" fmla="*/ 0 h 52"/>
              <a:gd name="T32" fmla="*/ 18 w 30"/>
              <a:gd name="T33" fmla="*/ 0 h 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52"/>
              <a:gd name="T53" fmla="*/ 30 w 30"/>
              <a:gd name="T54" fmla="*/ 52 h 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52">
                <a:moveTo>
                  <a:pt x="18" y="0"/>
                </a:moveTo>
                <a:lnTo>
                  <a:pt x="24" y="0"/>
                </a:lnTo>
                <a:lnTo>
                  <a:pt x="30" y="5"/>
                </a:lnTo>
                <a:lnTo>
                  <a:pt x="30" y="17"/>
                </a:lnTo>
                <a:lnTo>
                  <a:pt x="30" y="29"/>
                </a:lnTo>
                <a:lnTo>
                  <a:pt x="24" y="35"/>
                </a:lnTo>
                <a:lnTo>
                  <a:pt x="18" y="46"/>
                </a:lnTo>
                <a:lnTo>
                  <a:pt x="18" y="52"/>
                </a:lnTo>
                <a:lnTo>
                  <a:pt x="12" y="52"/>
                </a:lnTo>
                <a:lnTo>
                  <a:pt x="6" y="46"/>
                </a:lnTo>
                <a:lnTo>
                  <a:pt x="0" y="40"/>
                </a:lnTo>
                <a:lnTo>
                  <a:pt x="0" y="35"/>
                </a:lnTo>
                <a:lnTo>
                  <a:pt x="0" y="23"/>
                </a:lnTo>
                <a:lnTo>
                  <a:pt x="6" y="11"/>
                </a:lnTo>
                <a:lnTo>
                  <a:pt x="6" y="5"/>
                </a:lnTo>
                <a:lnTo>
                  <a:pt x="12" y="0"/>
                </a:lnTo>
                <a:lnTo>
                  <a:pt x="1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71" name="Freeform 168"/>
          <p:cNvSpPr>
            <a:spLocks/>
          </p:cNvSpPr>
          <p:nvPr/>
        </p:nvSpPr>
        <p:spPr bwMode="auto">
          <a:xfrm>
            <a:off x="7834313" y="5070475"/>
            <a:ext cx="387350" cy="387350"/>
          </a:xfrm>
          <a:custGeom>
            <a:avLst/>
            <a:gdLst>
              <a:gd name="T0" fmla="*/ 197 w 244"/>
              <a:gd name="T1" fmla="*/ 221 h 244"/>
              <a:gd name="T2" fmla="*/ 185 w 244"/>
              <a:gd name="T3" fmla="*/ 226 h 244"/>
              <a:gd name="T4" fmla="*/ 179 w 244"/>
              <a:gd name="T5" fmla="*/ 215 h 244"/>
              <a:gd name="T6" fmla="*/ 161 w 244"/>
              <a:gd name="T7" fmla="*/ 232 h 244"/>
              <a:gd name="T8" fmla="*/ 155 w 244"/>
              <a:gd name="T9" fmla="*/ 232 h 244"/>
              <a:gd name="T10" fmla="*/ 137 w 244"/>
              <a:gd name="T11" fmla="*/ 232 h 244"/>
              <a:gd name="T12" fmla="*/ 131 w 244"/>
              <a:gd name="T13" fmla="*/ 244 h 244"/>
              <a:gd name="T14" fmla="*/ 119 w 244"/>
              <a:gd name="T15" fmla="*/ 238 h 244"/>
              <a:gd name="T16" fmla="*/ 107 w 244"/>
              <a:gd name="T17" fmla="*/ 238 h 244"/>
              <a:gd name="T18" fmla="*/ 89 w 244"/>
              <a:gd name="T19" fmla="*/ 238 h 244"/>
              <a:gd name="T20" fmla="*/ 77 w 244"/>
              <a:gd name="T21" fmla="*/ 221 h 244"/>
              <a:gd name="T22" fmla="*/ 65 w 244"/>
              <a:gd name="T23" fmla="*/ 226 h 244"/>
              <a:gd name="T24" fmla="*/ 65 w 244"/>
              <a:gd name="T25" fmla="*/ 221 h 244"/>
              <a:gd name="T26" fmla="*/ 47 w 244"/>
              <a:gd name="T27" fmla="*/ 215 h 244"/>
              <a:gd name="T28" fmla="*/ 35 w 244"/>
              <a:gd name="T29" fmla="*/ 209 h 244"/>
              <a:gd name="T30" fmla="*/ 41 w 244"/>
              <a:gd name="T31" fmla="*/ 197 h 244"/>
              <a:gd name="T32" fmla="*/ 17 w 244"/>
              <a:gd name="T33" fmla="*/ 192 h 244"/>
              <a:gd name="T34" fmla="*/ 23 w 244"/>
              <a:gd name="T35" fmla="*/ 180 h 244"/>
              <a:gd name="T36" fmla="*/ 12 w 244"/>
              <a:gd name="T37" fmla="*/ 163 h 244"/>
              <a:gd name="T38" fmla="*/ 6 w 244"/>
              <a:gd name="T39" fmla="*/ 151 h 244"/>
              <a:gd name="T40" fmla="*/ 0 w 244"/>
              <a:gd name="T41" fmla="*/ 133 h 244"/>
              <a:gd name="T42" fmla="*/ 6 w 244"/>
              <a:gd name="T43" fmla="*/ 122 h 244"/>
              <a:gd name="T44" fmla="*/ 0 w 244"/>
              <a:gd name="T45" fmla="*/ 104 h 244"/>
              <a:gd name="T46" fmla="*/ 6 w 244"/>
              <a:gd name="T47" fmla="*/ 93 h 244"/>
              <a:gd name="T48" fmla="*/ 12 w 244"/>
              <a:gd name="T49" fmla="*/ 75 h 244"/>
              <a:gd name="T50" fmla="*/ 17 w 244"/>
              <a:gd name="T51" fmla="*/ 64 h 244"/>
              <a:gd name="T52" fmla="*/ 29 w 244"/>
              <a:gd name="T53" fmla="*/ 46 h 244"/>
              <a:gd name="T54" fmla="*/ 29 w 244"/>
              <a:gd name="T55" fmla="*/ 41 h 244"/>
              <a:gd name="T56" fmla="*/ 41 w 244"/>
              <a:gd name="T57" fmla="*/ 46 h 244"/>
              <a:gd name="T58" fmla="*/ 47 w 244"/>
              <a:gd name="T59" fmla="*/ 23 h 244"/>
              <a:gd name="T60" fmla="*/ 59 w 244"/>
              <a:gd name="T61" fmla="*/ 17 h 244"/>
              <a:gd name="T62" fmla="*/ 65 w 244"/>
              <a:gd name="T63" fmla="*/ 29 h 244"/>
              <a:gd name="T64" fmla="*/ 77 w 244"/>
              <a:gd name="T65" fmla="*/ 6 h 244"/>
              <a:gd name="T66" fmla="*/ 89 w 244"/>
              <a:gd name="T67" fmla="*/ 11 h 244"/>
              <a:gd name="T68" fmla="*/ 107 w 244"/>
              <a:gd name="T69" fmla="*/ 11 h 244"/>
              <a:gd name="T70" fmla="*/ 113 w 244"/>
              <a:gd name="T71" fmla="*/ 0 h 244"/>
              <a:gd name="T72" fmla="*/ 119 w 244"/>
              <a:gd name="T73" fmla="*/ 11 h 244"/>
              <a:gd name="T74" fmla="*/ 137 w 244"/>
              <a:gd name="T75" fmla="*/ 6 h 244"/>
              <a:gd name="T76" fmla="*/ 143 w 244"/>
              <a:gd name="T77" fmla="*/ 6 h 244"/>
              <a:gd name="T78" fmla="*/ 155 w 244"/>
              <a:gd name="T79" fmla="*/ 11 h 244"/>
              <a:gd name="T80" fmla="*/ 167 w 244"/>
              <a:gd name="T81" fmla="*/ 23 h 244"/>
              <a:gd name="T82" fmla="*/ 179 w 244"/>
              <a:gd name="T83" fmla="*/ 11 h 244"/>
              <a:gd name="T84" fmla="*/ 179 w 244"/>
              <a:gd name="T85" fmla="*/ 17 h 244"/>
              <a:gd name="T86" fmla="*/ 191 w 244"/>
              <a:gd name="T87" fmla="*/ 35 h 244"/>
              <a:gd name="T88" fmla="*/ 203 w 244"/>
              <a:gd name="T89" fmla="*/ 35 h 244"/>
              <a:gd name="T90" fmla="*/ 203 w 244"/>
              <a:gd name="T91" fmla="*/ 41 h 244"/>
              <a:gd name="T92" fmla="*/ 220 w 244"/>
              <a:gd name="T93" fmla="*/ 52 h 244"/>
              <a:gd name="T94" fmla="*/ 226 w 244"/>
              <a:gd name="T95" fmla="*/ 64 h 244"/>
              <a:gd name="T96" fmla="*/ 226 w 244"/>
              <a:gd name="T97" fmla="*/ 81 h 244"/>
              <a:gd name="T98" fmla="*/ 238 w 244"/>
              <a:gd name="T99" fmla="*/ 81 h 244"/>
              <a:gd name="T100" fmla="*/ 232 w 244"/>
              <a:gd name="T101" fmla="*/ 93 h 244"/>
              <a:gd name="T102" fmla="*/ 244 w 244"/>
              <a:gd name="T103" fmla="*/ 116 h 244"/>
              <a:gd name="T104" fmla="*/ 232 w 244"/>
              <a:gd name="T105" fmla="*/ 122 h 244"/>
              <a:gd name="T106" fmla="*/ 244 w 244"/>
              <a:gd name="T107" fmla="*/ 139 h 244"/>
              <a:gd name="T108" fmla="*/ 238 w 244"/>
              <a:gd name="T109" fmla="*/ 151 h 244"/>
              <a:gd name="T110" fmla="*/ 232 w 244"/>
              <a:gd name="T111" fmla="*/ 168 h 244"/>
              <a:gd name="T112" fmla="*/ 226 w 244"/>
              <a:gd name="T113" fmla="*/ 180 h 244"/>
              <a:gd name="T114" fmla="*/ 208 w 244"/>
              <a:gd name="T115" fmla="*/ 186 h 244"/>
              <a:gd name="T116" fmla="*/ 220 w 244"/>
              <a:gd name="T117" fmla="*/ 197 h 244"/>
              <a:gd name="T118" fmla="*/ 208 w 244"/>
              <a:gd name="T119" fmla="*/ 203 h 244"/>
              <a:gd name="T120" fmla="*/ 191 w 244"/>
              <a:gd name="T121" fmla="*/ 209 h 24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4"/>
              <a:gd name="T184" fmla="*/ 0 h 244"/>
              <a:gd name="T185" fmla="*/ 244 w 244"/>
              <a:gd name="T186" fmla="*/ 244 h 24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4" h="244">
                <a:moveTo>
                  <a:pt x="191" y="209"/>
                </a:moveTo>
                <a:lnTo>
                  <a:pt x="197" y="215"/>
                </a:lnTo>
                <a:lnTo>
                  <a:pt x="197" y="221"/>
                </a:lnTo>
                <a:lnTo>
                  <a:pt x="191" y="221"/>
                </a:lnTo>
                <a:lnTo>
                  <a:pt x="191" y="226"/>
                </a:lnTo>
                <a:lnTo>
                  <a:pt x="185" y="226"/>
                </a:lnTo>
                <a:lnTo>
                  <a:pt x="185" y="221"/>
                </a:lnTo>
                <a:lnTo>
                  <a:pt x="179" y="221"/>
                </a:lnTo>
                <a:lnTo>
                  <a:pt x="179" y="215"/>
                </a:lnTo>
                <a:lnTo>
                  <a:pt x="167" y="221"/>
                </a:lnTo>
                <a:lnTo>
                  <a:pt x="167" y="232"/>
                </a:lnTo>
                <a:lnTo>
                  <a:pt x="161" y="232"/>
                </a:lnTo>
                <a:lnTo>
                  <a:pt x="161" y="238"/>
                </a:lnTo>
                <a:lnTo>
                  <a:pt x="155" y="238"/>
                </a:lnTo>
                <a:lnTo>
                  <a:pt x="155" y="232"/>
                </a:lnTo>
                <a:lnTo>
                  <a:pt x="149" y="232"/>
                </a:lnTo>
                <a:lnTo>
                  <a:pt x="149" y="226"/>
                </a:lnTo>
                <a:lnTo>
                  <a:pt x="137" y="232"/>
                </a:lnTo>
                <a:lnTo>
                  <a:pt x="137" y="238"/>
                </a:lnTo>
                <a:lnTo>
                  <a:pt x="137" y="244"/>
                </a:lnTo>
                <a:lnTo>
                  <a:pt x="131" y="244"/>
                </a:lnTo>
                <a:lnTo>
                  <a:pt x="125" y="244"/>
                </a:lnTo>
                <a:lnTo>
                  <a:pt x="125" y="238"/>
                </a:lnTo>
                <a:lnTo>
                  <a:pt x="119" y="238"/>
                </a:lnTo>
                <a:lnTo>
                  <a:pt x="119" y="232"/>
                </a:lnTo>
                <a:lnTo>
                  <a:pt x="107" y="232"/>
                </a:lnTo>
                <a:lnTo>
                  <a:pt x="107" y="238"/>
                </a:lnTo>
                <a:lnTo>
                  <a:pt x="101" y="238"/>
                </a:lnTo>
                <a:lnTo>
                  <a:pt x="95" y="238"/>
                </a:lnTo>
                <a:lnTo>
                  <a:pt x="89" y="238"/>
                </a:lnTo>
                <a:lnTo>
                  <a:pt x="89" y="232"/>
                </a:lnTo>
                <a:lnTo>
                  <a:pt x="89" y="226"/>
                </a:lnTo>
                <a:lnTo>
                  <a:pt x="77" y="221"/>
                </a:lnTo>
                <a:lnTo>
                  <a:pt x="71" y="232"/>
                </a:lnTo>
                <a:lnTo>
                  <a:pt x="65" y="232"/>
                </a:lnTo>
                <a:lnTo>
                  <a:pt x="65" y="226"/>
                </a:lnTo>
                <a:lnTo>
                  <a:pt x="59" y="226"/>
                </a:lnTo>
                <a:lnTo>
                  <a:pt x="59" y="221"/>
                </a:lnTo>
                <a:lnTo>
                  <a:pt x="65" y="221"/>
                </a:lnTo>
                <a:lnTo>
                  <a:pt x="65" y="215"/>
                </a:lnTo>
                <a:lnTo>
                  <a:pt x="53" y="209"/>
                </a:lnTo>
                <a:lnTo>
                  <a:pt x="47" y="215"/>
                </a:lnTo>
                <a:lnTo>
                  <a:pt x="41" y="215"/>
                </a:lnTo>
                <a:lnTo>
                  <a:pt x="41" y="209"/>
                </a:lnTo>
                <a:lnTo>
                  <a:pt x="35" y="209"/>
                </a:lnTo>
                <a:lnTo>
                  <a:pt x="35" y="203"/>
                </a:lnTo>
                <a:lnTo>
                  <a:pt x="41" y="203"/>
                </a:lnTo>
                <a:lnTo>
                  <a:pt x="41" y="197"/>
                </a:lnTo>
                <a:lnTo>
                  <a:pt x="29" y="186"/>
                </a:lnTo>
                <a:lnTo>
                  <a:pt x="23" y="192"/>
                </a:lnTo>
                <a:lnTo>
                  <a:pt x="17" y="192"/>
                </a:lnTo>
                <a:lnTo>
                  <a:pt x="17" y="186"/>
                </a:lnTo>
                <a:lnTo>
                  <a:pt x="17" y="180"/>
                </a:lnTo>
                <a:lnTo>
                  <a:pt x="23" y="180"/>
                </a:lnTo>
                <a:lnTo>
                  <a:pt x="23" y="174"/>
                </a:lnTo>
                <a:lnTo>
                  <a:pt x="17" y="163"/>
                </a:lnTo>
                <a:lnTo>
                  <a:pt x="12" y="163"/>
                </a:lnTo>
                <a:lnTo>
                  <a:pt x="6" y="163"/>
                </a:lnTo>
                <a:lnTo>
                  <a:pt x="6" y="157"/>
                </a:lnTo>
                <a:lnTo>
                  <a:pt x="6" y="151"/>
                </a:lnTo>
                <a:lnTo>
                  <a:pt x="12" y="151"/>
                </a:lnTo>
                <a:lnTo>
                  <a:pt x="12" y="133"/>
                </a:lnTo>
                <a:lnTo>
                  <a:pt x="0" y="133"/>
                </a:lnTo>
                <a:lnTo>
                  <a:pt x="0" y="128"/>
                </a:lnTo>
                <a:lnTo>
                  <a:pt x="0" y="122"/>
                </a:lnTo>
                <a:lnTo>
                  <a:pt x="6" y="122"/>
                </a:lnTo>
                <a:lnTo>
                  <a:pt x="12" y="122"/>
                </a:lnTo>
                <a:lnTo>
                  <a:pt x="12" y="110"/>
                </a:lnTo>
                <a:lnTo>
                  <a:pt x="0" y="104"/>
                </a:lnTo>
                <a:lnTo>
                  <a:pt x="0" y="99"/>
                </a:lnTo>
                <a:lnTo>
                  <a:pt x="0" y="93"/>
                </a:lnTo>
                <a:lnTo>
                  <a:pt x="6" y="93"/>
                </a:lnTo>
                <a:lnTo>
                  <a:pt x="12" y="93"/>
                </a:lnTo>
                <a:lnTo>
                  <a:pt x="17" y="81"/>
                </a:lnTo>
                <a:lnTo>
                  <a:pt x="12" y="75"/>
                </a:lnTo>
                <a:lnTo>
                  <a:pt x="12" y="70"/>
                </a:lnTo>
                <a:lnTo>
                  <a:pt x="12" y="64"/>
                </a:lnTo>
                <a:lnTo>
                  <a:pt x="17" y="64"/>
                </a:lnTo>
                <a:lnTo>
                  <a:pt x="23" y="64"/>
                </a:lnTo>
                <a:lnTo>
                  <a:pt x="29" y="58"/>
                </a:lnTo>
                <a:lnTo>
                  <a:pt x="29" y="46"/>
                </a:lnTo>
                <a:lnTo>
                  <a:pt x="23" y="46"/>
                </a:lnTo>
                <a:lnTo>
                  <a:pt x="29" y="46"/>
                </a:lnTo>
                <a:lnTo>
                  <a:pt x="29" y="41"/>
                </a:lnTo>
                <a:lnTo>
                  <a:pt x="35" y="41"/>
                </a:lnTo>
                <a:lnTo>
                  <a:pt x="41" y="41"/>
                </a:lnTo>
                <a:lnTo>
                  <a:pt x="41" y="46"/>
                </a:lnTo>
                <a:lnTo>
                  <a:pt x="53" y="35"/>
                </a:lnTo>
                <a:lnTo>
                  <a:pt x="47" y="29"/>
                </a:lnTo>
                <a:lnTo>
                  <a:pt x="47" y="23"/>
                </a:lnTo>
                <a:lnTo>
                  <a:pt x="53" y="23"/>
                </a:lnTo>
                <a:lnTo>
                  <a:pt x="53" y="17"/>
                </a:lnTo>
                <a:lnTo>
                  <a:pt x="59" y="17"/>
                </a:lnTo>
                <a:lnTo>
                  <a:pt x="59" y="23"/>
                </a:lnTo>
                <a:lnTo>
                  <a:pt x="65" y="23"/>
                </a:lnTo>
                <a:lnTo>
                  <a:pt x="65" y="29"/>
                </a:lnTo>
                <a:lnTo>
                  <a:pt x="77" y="23"/>
                </a:lnTo>
                <a:lnTo>
                  <a:pt x="77" y="11"/>
                </a:lnTo>
                <a:lnTo>
                  <a:pt x="77" y="6"/>
                </a:lnTo>
                <a:lnTo>
                  <a:pt x="83" y="6"/>
                </a:lnTo>
                <a:lnTo>
                  <a:pt x="89" y="6"/>
                </a:lnTo>
                <a:lnTo>
                  <a:pt x="89" y="11"/>
                </a:lnTo>
                <a:lnTo>
                  <a:pt x="95" y="11"/>
                </a:lnTo>
                <a:lnTo>
                  <a:pt x="95" y="17"/>
                </a:lnTo>
                <a:lnTo>
                  <a:pt x="107" y="11"/>
                </a:lnTo>
                <a:lnTo>
                  <a:pt x="107" y="6"/>
                </a:lnTo>
                <a:lnTo>
                  <a:pt x="107" y="0"/>
                </a:lnTo>
                <a:lnTo>
                  <a:pt x="113" y="0"/>
                </a:lnTo>
                <a:lnTo>
                  <a:pt x="119" y="0"/>
                </a:lnTo>
                <a:lnTo>
                  <a:pt x="119" y="6"/>
                </a:lnTo>
                <a:lnTo>
                  <a:pt x="119" y="11"/>
                </a:lnTo>
                <a:lnTo>
                  <a:pt x="125" y="11"/>
                </a:lnTo>
                <a:lnTo>
                  <a:pt x="137" y="11"/>
                </a:lnTo>
                <a:lnTo>
                  <a:pt x="137" y="6"/>
                </a:lnTo>
                <a:lnTo>
                  <a:pt x="143" y="6"/>
                </a:lnTo>
                <a:lnTo>
                  <a:pt x="143" y="0"/>
                </a:lnTo>
                <a:lnTo>
                  <a:pt x="143" y="6"/>
                </a:lnTo>
                <a:lnTo>
                  <a:pt x="149" y="6"/>
                </a:lnTo>
                <a:lnTo>
                  <a:pt x="155" y="6"/>
                </a:lnTo>
                <a:lnTo>
                  <a:pt x="155" y="11"/>
                </a:lnTo>
                <a:lnTo>
                  <a:pt x="155" y="17"/>
                </a:lnTo>
                <a:lnTo>
                  <a:pt x="149" y="17"/>
                </a:lnTo>
                <a:lnTo>
                  <a:pt x="167" y="23"/>
                </a:lnTo>
                <a:lnTo>
                  <a:pt x="167" y="11"/>
                </a:lnTo>
                <a:lnTo>
                  <a:pt x="173" y="11"/>
                </a:lnTo>
                <a:lnTo>
                  <a:pt x="179" y="11"/>
                </a:lnTo>
                <a:lnTo>
                  <a:pt x="179" y="17"/>
                </a:lnTo>
                <a:lnTo>
                  <a:pt x="185" y="17"/>
                </a:lnTo>
                <a:lnTo>
                  <a:pt x="179" y="17"/>
                </a:lnTo>
                <a:lnTo>
                  <a:pt x="179" y="23"/>
                </a:lnTo>
                <a:lnTo>
                  <a:pt x="179" y="29"/>
                </a:lnTo>
                <a:lnTo>
                  <a:pt x="191" y="35"/>
                </a:lnTo>
                <a:lnTo>
                  <a:pt x="197" y="29"/>
                </a:lnTo>
                <a:lnTo>
                  <a:pt x="203" y="29"/>
                </a:lnTo>
                <a:lnTo>
                  <a:pt x="203" y="35"/>
                </a:lnTo>
                <a:lnTo>
                  <a:pt x="208" y="35"/>
                </a:lnTo>
                <a:lnTo>
                  <a:pt x="208" y="41"/>
                </a:lnTo>
                <a:lnTo>
                  <a:pt x="203" y="41"/>
                </a:lnTo>
                <a:lnTo>
                  <a:pt x="203" y="46"/>
                </a:lnTo>
                <a:lnTo>
                  <a:pt x="208" y="52"/>
                </a:lnTo>
                <a:lnTo>
                  <a:pt x="220" y="52"/>
                </a:lnTo>
                <a:lnTo>
                  <a:pt x="226" y="52"/>
                </a:lnTo>
                <a:lnTo>
                  <a:pt x="226" y="58"/>
                </a:lnTo>
                <a:lnTo>
                  <a:pt x="226" y="64"/>
                </a:lnTo>
                <a:lnTo>
                  <a:pt x="220" y="64"/>
                </a:lnTo>
                <a:lnTo>
                  <a:pt x="220" y="70"/>
                </a:lnTo>
                <a:lnTo>
                  <a:pt x="226" y="81"/>
                </a:lnTo>
                <a:lnTo>
                  <a:pt x="232" y="75"/>
                </a:lnTo>
                <a:lnTo>
                  <a:pt x="238" y="75"/>
                </a:lnTo>
                <a:lnTo>
                  <a:pt x="238" y="81"/>
                </a:lnTo>
                <a:lnTo>
                  <a:pt x="238" y="87"/>
                </a:lnTo>
                <a:lnTo>
                  <a:pt x="238" y="93"/>
                </a:lnTo>
                <a:lnTo>
                  <a:pt x="232" y="93"/>
                </a:lnTo>
                <a:lnTo>
                  <a:pt x="232" y="104"/>
                </a:lnTo>
                <a:lnTo>
                  <a:pt x="244" y="110"/>
                </a:lnTo>
                <a:lnTo>
                  <a:pt x="244" y="116"/>
                </a:lnTo>
                <a:lnTo>
                  <a:pt x="244" y="122"/>
                </a:lnTo>
                <a:lnTo>
                  <a:pt x="238" y="122"/>
                </a:lnTo>
                <a:lnTo>
                  <a:pt x="232" y="122"/>
                </a:lnTo>
                <a:lnTo>
                  <a:pt x="232" y="133"/>
                </a:lnTo>
                <a:lnTo>
                  <a:pt x="238" y="139"/>
                </a:lnTo>
                <a:lnTo>
                  <a:pt x="244" y="139"/>
                </a:lnTo>
                <a:lnTo>
                  <a:pt x="244" y="145"/>
                </a:lnTo>
                <a:lnTo>
                  <a:pt x="244" y="151"/>
                </a:lnTo>
                <a:lnTo>
                  <a:pt x="238" y="151"/>
                </a:lnTo>
                <a:lnTo>
                  <a:pt x="232" y="151"/>
                </a:lnTo>
                <a:lnTo>
                  <a:pt x="226" y="163"/>
                </a:lnTo>
                <a:lnTo>
                  <a:pt x="232" y="168"/>
                </a:lnTo>
                <a:lnTo>
                  <a:pt x="232" y="174"/>
                </a:lnTo>
                <a:lnTo>
                  <a:pt x="232" y="180"/>
                </a:lnTo>
                <a:lnTo>
                  <a:pt x="226" y="180"/>
                </a:lnTo>
                <a:lnTo>
                  <a:pt x="220" y="180"/>
                </a:lnTo>
                <a:lnTo>
                  <a:pt x="220" y="174"/>
                </a:lnTo>
                <a:lnTo>
                  <a:pt x="208" y="186"/>
                </a:lnTo>
                <a:lnTo>
                  <a:pt x="214" y="192"/>
                </a:lnTo>
                <a:lnTo>
                  <a:pt x="214" y="197"/>
                </a:lnTo>
                <a:lnTo>
                  <a:pt x="220" y="197"/>
                </a:lnTo>
                <a:lnTo>
                  <a:pt x="214" y="197"/>
                </a:lnTo>
                <a:lnTo>
                  <a:pt x="214" y="203"/>
                </a:lnTo>
                <a:lnTo>
                  <a:pt x="208" y="203"/>
                </a:lnTo>
                <a:lnTo>
                  <a:pt x="203" y="203"/>
                </a:lnTo>
                <a:lnTo>
                  <a:pt x="203" y="197"/>
                </a:lnTo>
                <a:lnTo>
                  <a:pt x="191" y="209"/>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72" name="Freeform 169"/>
          <p:cNvSpPr>
            <a:spLocks/>
          </p:cNvSpPr>
          <p:nvPr/>
        </p:nvSpPr>
        <p:spPr bwMode="auto">
          <a:xfrm>
            <a:off x="7834313" y="5070475"/>
            <a:ext cx="387350" cy="387350"/>
          </a:xfrm>
          <a:custGeom>
            <a:avLst/>
            <a:gdLst>
              <a:gd name="T0" fmla="*/ 197 w 244"/>
              <a:gd name="T1" fmla="*/ 221 h 244"/>
              <a:gd name="T2" fmla="*/ 185 w 244"/>
              <a:gd name="T3" fmla="*/ 226 h 244"/>
              <a:gd name="T4" fmla="*/ 179 w 244"/>
              <a:gd name="T5" fmla="*/ 215 h 244"/>
              <a:gd name="T6" fmla="*/ 161 w 244"/>
              <a:gd name="T7" fmla="*/ 238 h 244"/>
              <a:gd name="T8" fmla="*/ 149 w 244"/>
              <a:gd name="T9" fmla="*/ 232 h 244"/>
              <a:gd name="T10" fmla="*/ 137 w 244"/>
              <a:gd name="T11" fmla="*/ 238 h 244"/>
              <a:gd name="T12" fmla="*/ 125 w 244"/>
              <a:gd name="T13" fmla="*/ 244 h 244"/>
              <a:gd name="T14" fmla="*/ 119 w 244"/>
              <a:gd name="T15" fmla="*/ 232 h 244"/>
              <a:gd name="T16" fmla="*/ 101 w 244"/>
              <a:gd name="T17" fmla="*/ 238 h 244"/>
              <a:gd name="T18" fmla="*/ 89 w 244"/>
              <a:gd name="T19" fmla="*/ 232 h 244"/>
              <a:gd name="T20" fmla="*/ 71 w 244"/>
              <a:gd name="T21" fmla="*/ 232 h 244"/>
              <a:gd name="T22" fmla="*/ 59 w 244"/>
              <a:gd name="T23" fmla="*/ 226 h 244"/>
              <a:gd name="T24" fmla="*/ 65 w 244"/>
              <a:gd name="T25" fmla="*/ 215 h 244"/>
              <a:gd name="T26" fmla="*/ 41 w 244"/>
              <a:gd name="T27" fmla="*/ 215 h 244"/>
              <a:gd name="T28" fmla="*/ 35 w 244"/>
              <a:gd name="T29" fmla="*/ 203 h 244"/>
              <a:gd name="T30" fmla="*/ 29 w 244"/>
              <a:gd name="T31" fmla="*/ 186 h 244"/>
              <a:gd name="T32" fmla="*/ 17 w 244"/>
              <a:gd name="T33" fmla="*/ 186 h 244"/>
              <a:gd name="T34" fmla="*/ 23 w 244"/>
              <a:gd name="T35" fmla="*/ 174 h 244"/>
              <a:gd name="T36" fmla="*/ 6 w 244"/>
              <a:gd name="T37" fmla="*/ 163 h 244"/>
              <a:gd name="T38" fmla="*/ 12 w 244"/>
              <a:gd name="T39" fmla="*/ 151 h 244"/>
              <a:gd name="T40" fmla="*/ 0 w 244"/>
              <a:gd name="T41" fmla="*/ 128 h 244"/>
              <a:gd name="T42" fmla="*/ 12 w 244"/>
              <a:gd name="T43" fmla="*/ 122 h 244"/>
              <a:gd name="T44" fmla="*/ 0 w 244"/>
              <a:gd name="T45" fmla="*/ 99 h 244"/>
              <a:gd name="T46" fmla="*/ 12 w 244"/>
              <a:gd name="T47" fmla="*/ 93 h 244"/>
              <a:gd name="T48" fmla="*/ 12 w 244"/>
              <a:gd name="T49" fmla="*/ 70 h 244"/>
              <a:gd name="T50" fmla="*/ 23 w 244"/>
              <a:gd name="T51" fmla="*/ 64 h 244"/>
              <a:gd name="T52" fmla="*/ 23 w 244"/>
              <a:gd name="T53" fmla="*/ 46 h 244"/>
              <a:gd name="T54" fmla="*/ 41 w 244"/>
              <a:gd name="T55" fmla="*/ 41 h 244"/>
              <a:gd name="T56" fmla="*/ 47 w 244"/>
              <a:gd name="T57" fmla="*/ 29 h 244"/>
              <a:gd name="T58" fmla="*/ 53 w 244"/>
              <a:gd name="T59" fmla="*/ 17 h 244"/>
              <a:gd name="T60" fmla="*/ 65 w 244"/>
              <a:gd name="T61" fmla="*/ 23 h 244"/>
              <a:gd name="T62" fmla="*/ 77 w 244"/>
              <a:gd name="T63" fmla="*/ 11 h 244"/>
              <a:gd name="T64" fmla="*/ 89 w 244"/>
              <a:gd name="T65" fmla="*/ 11 h 244"/>
              <a:gd name="T66" fmla="*/ 107 w 244"/>
              <a:gd name="T67" fmla="*/ 11 h 244"/>
              <a:gd name="T68" fmla="*/ 113 w 244"/>
              <a:gd name="T69" fmla="*/ 0 h 244"/>
              <a:gd name="T70" fmla="*/ 125 w 244"/>
              <a:gd name="T71" fmla="*/ 11 h 244"/>
              <a:gd name="T72" fmla="*/ 143 w 244"/>
              <a:gd name="T73" fmla="*/ 6 h 244"/>
              <a:gd name="T74" fmla="*/ 155 w 244"/>
              <a:gd name="T75" fmla="*/ 11 h 244"/>
              <a:gd name="T76" fmla="*/ 167 w 244"/>
              <a:gd name="T77" fmla="*/ 11 h 244"/>
              <a:gd name="T78" fmla="*/ 179 w 244"/>
              <a:gd name="T79" fmla="*/ 17 h 244"/>
              <a:gd name="T80" fmla="*/ 191 w 244"/>
              <a:gd name="T81" fmla="*/ 35 h 244"/>
              <a:gd name="T82" fmla="*/ 208 w 244"/>
              <a:gd name="T83" fmla="*/ 35 h 244"/>
              <a:gd name="T84" fmla="*/ 203 w 244"/>
              <a:gd name="T85" fmla="*/ 46 h 244"/>
              <a:gd name="T86" fmla="*/ 226 w 244"/>
              <a:gd name="T87" fmla="*/ 52 h 244"/>
              <a:gd name="T88" fmla="*/ 220 w 244"/>
              <a:gd name="T89" fmla="*/ 64 h 244"/>
              <a:gd name="T90" fmla="*/ 232 w 244"/>
              <a:gd name="T91" fmla="*/ 75 h 244"/>
              <a:gd name="T92" fmla="*/ 238 w 244"/>
              <a:gd name="T93" fmla="*/ 87 h 244"/>
              <a:gd name="T94" fmla="*/ 232 w 244"/>
              <a:gd name="T95" fmla="*/ 104 h 244"/>
              <a:gd name="T96" fmla="*/ 244 w 244"/>
              <a:gd name="T97" fmla="*/ 122 h 244"/>
              <a:gd name="T98" fmla="*/ 232 w 244"/>
              <a:gd name="T99" fmla="*/ 133 h 244"/>
              <a:gd name="T100" fmla="*/ 244 w 244"/>
              <a:gd name="T101" fmla="*/ 145 h 244"/>
              <a:gd name="T102" fmla="*/ 232 w 244"/>
              <a:gd name="T103" fmla="*/ 151 h 244"/>
              <a:gd name="T104" fmla="*/ 232 w 244"/>
              <a:gd name="T105" fmla="*/ 174 h 244"/>
              <a:gd name="T106" fmla="*/ 220 w 244"/>
              <a:gd name="T107" fmla="*/ 180 h 244"/>
              <a:gd name="T108" fmla="*/ 214 w 244"/>
              <a:gd name="T109" fmla="*/ 192 h 244"/>
              <a:gd name="T110" fmla="*/ 214 w 244"/>
              <a:gd name="T111" fmla="*/ 197 h 244"/>
              <a:gd name="T112" fmla="*/ 203 w 244"/>
              <a:gd name="T113" fmla="*/ 203 h 24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4"/>
              <a:gd name="T172" fmla="*/ 0 h 244"/>
              <a:gd name="T173" fmla="*/ 244 w 244"/>
              <a:gd name="T174" fmla="*/ 244 h 24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4" h="244">
                <a:moveTo>
                  <a:pt x="191" y="209"/>
                </a:moveTo>
                <a:lnTo>
                  <a:pt x="197" y="215"/>
                </a:lnTo>
                <a:lnTo>
                  <a:pt x="197" y="221"/>
                </a:lnTo>
                <a:lnTo>
                  <a:pt x="191" y="221"/>
                </a:lnTo>
                <a:lnTo>
                  <a:pt x="191" y="226"/>
                </a:lnTo>
                <a:lnTo>
                  <a:pt x="185" y="226"/>
                </a:lnTo>
                <a:lnTo>
                  <a:pt x="185" y="221"/>
                </a:lnTo>
                <a:lnTo>
                  <a:pt x="179" y="221"/>
                </a:lnTo>
                <a:lnTo>
                  <a:pt x="179" y="215"/>
                </a:lnTo>
                <a:lnTo>
                  <a:pt x="167" y="221"/>
                </a:lnTo>
                <a:lnTo>
                  <a:pt x="167" y="232"/>
                </a:lnTo>
                <a:lnTo>
                  <a:pt x="161" y="238"/>
                </a:lnTo>
                <a:lnTo>
                  <a:pt x="155" y="238"/>
                </a:lnTo>
                <a:lnTo>
                  <a:pt x="155" y="232"/>
                </a:lnTo>
                <a:lnTo>
                  <a:pt x="149" y="232"/>
                </a:lnTo>
                <a:lnTo>
                  <a:pt x="149" y="226"/>
                </a:lnTo>
                <a:lnTo>
                  <a:pt x="137" y="232"/>
                </a:lnTo>
                <a:lnTo>
                  <a:pt x="137" y="238"/>
                </a:lnTo>
                <a:lnTo>
                  <a:pt x="137" y="244"/>
                </a:lnTo>
                <a:lnTo>
                  <a:pt x="131" y="244"/>
                </a:lnTo>
                <a:lnTo>
                  <a:pt x="125" y="244"/>
                </a:lnTo>
                <a:lnTo>
                  <a:pt x="125" y="238"/>
                </a:lnTo>
                <a:lnTo>
                  <a:pt x="119" y="238"/>
                </a:lnTo>
                <a:lnTo>
                  <a:pt x="119" y="232"/>
                </a:lnTo>
                <a:lnTo>
                  <a:pt x="107" y="232"/>
                </a:lnTo>
                <a:lnTo>
                  <a:pt x="107" y="238"/>
                </a:lnTo>
                <a:lnTo>
                  <a:pt x="101" y="238"/>
                </a:lnTo>
                <a:lnTo>
                  <a:pt x="95" y="238"/>
                </a:lnTo>
                <a:lnTo>
                  <a:pt x="89" y="238"/>
                </a:lnTo>
                <a:lnTo>
                  <a:pt x="89" y="232"/>
                </a:lnTo>
                <a:lnTo>
                  <a:pt x="89" y="226"/>
                </a:lnTo>
                <a:lnTo>
                  <a:pt x="77" y="221"/>
                </a:lnTo>
                <a:lnTo>
                  <a:pt x="71" y="232"/>
                </a:lnTo>
                <a:lnTo>
                  <a:pt x="65" y="232"/>
                </a:lnTo>
                <a:lnTo>
                  <a:pt x="65" y="226"/>
                </a:lnTo>
                <a:lnTo>
                  <a:pt x="59" y="226"/>
                </a:lnTo>
                <a:lnTo>
                  <a:pt x="59" y="221"/>
                </a:lnTo>
                <a:lnTo>
                  <a:pt x="65" y="221"/>
                </a:lnTo>
                <a:lnTo>
                  <a:pt x="65" y="215"/>
                </a:lnTo>
                <a:lnTo>
                  <a:pt x="53" y="209"/>
                </a:lnTo>
                <a:lnTo>
                  <a:pt x="47" y="215"/>
                </a:lnTo>
                <a:lnTo>
                  <a:pt x="41" y="215"/>
                </a:lnTo>
                <a:lnTo>
                  <a:pt x="41" y="209"/>
                </a:lnTo>
                <a:lnTo>
                  <a:pt x="35" y="209"/>
                </a:lnTo>
                <a:lnTo>
                  <a:pt x="35" y="203"/>
                </a:lnTo>
                <a:lnTo>
                  <a:pt x="41" y="203"/>
                </a:lnTo>
                <a:lnTo>
                  <a:pt x="41" y="197"/>
                </a:lnTo>
                <a:lnTo>
                  <a:pt x="29" y="186"/>
                </a:lnTo>
                <a:lnTo>
                  <a:pt x="23" y="192"/>
                </a:lnTo>
                <a:lnTo>
                  <a:pt x="17" y="192"/>
                </a:lnTo>
                <a:lnTo>
                  <a:pt x="17" y="186"/>
                </a:lnTo>
                <a:lnTo>
                  <a:pt x="17" y="180"/>
                </a:lnTo>
                <a:lnTo>
                  <a:pt x="23" y="180"/>
                </a:lnTo>
                <a:lnTo>
                  <a:pt x="23" y="174"/>
                </a:lnTo>
                <a:lnTo>
                  <a:pt x="17" y="163"/>
                </a:lnTo>
                <a:lnTo>
                  <a:pt x="12" y="163"/>
                </a:lnTo>
                <a:lnTo>
                  <a:pt x="6" y="163"/>
                </a:lnTo>
                <a:lnTo>
                  <a:pt x="6" y="157"/>
                </a:lnTo>
                <a:lnTo>
                  <a:pt x="6" y="151"/>
                </a:lnTo>
                <a:lnTo>
                  <a:pt x="12" y="151"/>
                </a:lnTo>
                <a:lnTo>
                  <a:pt x="12" y="133"/>
                </a:lnTo>
                <a:lnTo>
                  <a:pt x="0" y="133"/>
                </a:lnTo>
                <a:lnTo>
                  <a:pt x="0" y="128"/>
                </a:lnTo>
                <a:lnTo>
                  <a:pt x="0" y="122"/>
                </a:lnTo>
                <a:lnTo>
                  <a:pt x="6" y="122"/>
                </a:lnTo>
                <a:lnTo>
                  <a:pt x="12" y="122"/>
                </a:lnTo>
                <a:lnTo>
                  <a:pt x="12" y="110"/>
                </a:lnTo>
                <a:lnTo>
                  <a:pt x="0" y="104"/>
                </a:lnTo>
                <a:lnTo>
                  <a:pt x="0" y="99"/>
                </a:lnTo>
                <a:lnTo>
                  <a:pt x="0" y="93"/>
                </a:lnTo>
                <a:lnTo>
                  <a:pt x="6" y="93"/>
                </a:lnTo>
                <a:lnTo>
                  <a:pt x="12" y="93"/>
                </a:lnTo>
                <a:lnTo>
                  <a:pt x="17" y="81"/>
                </a:lnTo>
                <a:lnTo>
                  <a:pt x="12" y="75"/>
                </a:lnTo>
                <a:lnTo>
                  <a:pt x="12" y="70"/>
                </a:lnTo>
                <a:lnTo>
                  <a:pt x="12" y="64"/>
                </a:lnTo>
                <a:lnTo>
                  <a:pt x="17" y="64"/>
                </a:lnTo>
                <a:lnTo>
                  <a:pt x="23" y="64"/>
                </a:lnTo>
                <a:lnTo>
                  <a:pt x="29" y="58"/>
                </a:lnTo>
                <a:lnTo>
                  <a:pt x="29" y="46"/>
                </a:lnTo>
                <a:lnTo>
                  <a:pt x="23" y="46"/>
                </a:lnTo>
                <a:lnTo>
                  <a:pt x="29" y="41"/>
                </a:lnTo>
                <a:lnTo>
                  <a:pt x="35" y="41"/>
                </a:lnTo>
                <a:lnTo>
                  <a:pt x="41" y="41"/>
                </a:lnTo>
                <a:lnTo>
                  <a:pt x="41" y="46"/>
                </a:lnTo>
                <a:lnTo>
                  <a:pt x="53" y="35"/>
                </a:lnTo>
                <a:lnTo>
                  <a:pt x="47" y="29"/>
                </a:lnTo>
                <a:lnTo>
                  <a:pt x="47" y="23"/>
                </a:lnTo>
                <a:lnTo>
                  <a:pt x="53" y="23"/>
                </a:lnTo>
                <a:lnTo>
                  <a:pt x="53" y="17"/>
                </a:lnTo>
                <a:lnTo>
                  <a:pt x="59" y="17"/>
                </a:lnTo>
                <a:lnTo>
                  <a:pt x="59" y="23"/>
                </a:lnTo>
                <a:lnTo>
                  <a:pt x="65" y="23"/>
                </a:lnTo>
                <a:lnTo>
                  <a:pt x="65" y="29"/>
                </a:lnTo>
                <a:lnTo>
                  <a:pt x="77" y="23"/>
                </a:lnTo>
                <a:lnTo>
                  <a:pt x="77" y="11"/>
                </a:lnTo>
                <a:lnTo>
                  <a:pt x="83" y="6"/>
                </a:lnTo>
                <a:lnTo>
                  <a:pt x="89" y="6"/>
                </a:lnTo>
                <a:lnTo>
                  <a:pt x="89" y="11"/>
                </a:lnTo>
                <a:lnTo>
                  <a:pt x="95" y="11"/>
                </a:lnTo>
                <a:lnTo>
                  <a:pt x="95" y="17"/>
                </a:lnTo>
                <a:lnTo>
                  <a:pt x="107" y="11"/>
                </a:lnTo>
                <a:lnTo>
                  <a:pt x="107" y="6"/>
                </a:lnTo>
                <a:lnTo>
                  <a:pt x="107" y="0"/>
                </a:lnTo>
                <a:lnTo>
                  <a:pt x="113" y="0"/>
                </a:lnTo>
                <a:lnTo>
                  <a:pt x="119" y="0"/>
                </a:lnTo>
                <a:lnTo>
                  <a:pt x="119" y="6"/>
                </a:lnTo>
                <a:lnTo>
                  <a:pt x="125" y="11"/>
                </a:lnTo>
                <a:lnTo>
                  <a:pt x="137" y="11"/>
                </a:lnTo>
                <a:lnTo>
                  <a:pt x="137" y="6"/>
                </a:lnTo>
                <a:lnTo>
                  <a:pt x="143" y="6"/>
                </a:lnTo>
                <a:lnTo>
                  <a:pt x="149" y="6"/>
                </a:lnTo>
                <a:lnTo>
                  <a:pt x="155" y="6"/>
                </a:lnTo>
                <a:lnTo>
                  <a:pt x="155" y="11"/>
                </a:lnTo>
                <a:lnTo>
                  <a:pt x="149" y="17"/>
                </a:lnTo>
                <a:lnTo>
                  <a:pt x="167" y="23"/>
                </a:lnTo>
                <a:lnTo>
                  <a:pt x="167" y="11"/>
                </a:lnTo>
                <a:lnTo>
                  <a:pt x="173" y="11"/>
                </a:lnTo>
                <a:lnTo>
                  <a:pt x="179" y="11"/>
                </a:lnTo>
                <a:lnTo>
                  <a:pt x="179" y="17"/>
                </a:lnTo>
                <a:lnTo>
                  <a:pt x="179" y="23"/>
                </a:lnTo>
                <a:lnTo>
                  <a:pt x="179" y="29"/>
                </a:lnTo>
                <a:lnTo>
                  <a:pt x="191" y="35"/>
                </a:lnTo>
                <a:lnTo>
                  <a:pt x="197" y="29"/>
                </a:lnTo>
                <a:lnTo>
                  <a:pt x="203" y="29"/>
                </a:lnTo>
                <a:lnTo>
                  <a:pt x="208" y="35"/>
                </a:lnTo>
                <a:lnTo>
                  <a:pt x="208" y="41"/>
                </a:lnTo>
                <a:lnTo>
                  <a:pt x="203" y="41"/>
                </a:lnTo>
                <a:lnTo>
                  <a:pt x="203" y="46"/>
                </a:lnTo>
                <a:lnTo>
                  <a:pt x="208" y="52"/>
                </a:lnTo>
                <a:lnTo>
                  <a:pt x="220" y="52"/>
                </a:lnTo>
                <a:lnTo>
                  <a:pt x="226" y="52"/>
                </a:lnTo>
                <a:lnTo>
                  <a:pt x="226" y="58"/>
                </a:lnTo>
                <a:lnTo>
                  <a:pt x="226" y="64"/>
                </a:lnTo>
                <a:lnTo>
                  <a:pt x="220" y="64"/>
                </a:lnTo>
                <a:lnTo>
                  <a:pt x="220" y="70"/>
                </a:lnTo>
                <a:lnTo>
                  <a:pt x="226" y="81"/>
                </a:lnTo>
                <a:lnTo>
                  <a:pt x="232" y="75"/>
                </a:lnTo>
                <a:lnTo>
                  <a:pt x="238" y="75"/>
                </a:lnTo>
                <a:lnTo>
                  <a:pt x="238" y="81"/>
                </a:lnTo>
                <a:lnTo>
                  <a:pt x="238" y="87"/>
                </a:lnTo>
                <a:lnTo>
                  <a:pt x="238" y="93"/>
                </a:lnTo>
                <a:lnTo>
                  <a:pt x="232" y="93"/>
                </a:lnTo>
                <a:lnTo>
                  <a:pt x="232" y="104"/>
                </a:lnTo>
                <a:lnTo>
                  <a:pt x="244" y="110"/>
                </a:lnTo>
                <a:lnTo>
                  <a:pt x="244" y="116"/>
                </a:lnTo>
                <a:lnTo>
                  <a:pt x="244" y="122"/>
                </a:lnTo>
                <a:lnTo>
                  <a:pt x="238" y="122"/>
                </a:lnTo>
                <a:lnTo>
                  <a:pt x="232" y="122"/>
                </a:lnTo>
                <a:lnTo>
                  <a:pt x="232" y="133"/>
                </a:lnTo>
                <a:lnTo>
                  <a:pt x="238" y="139"/>
                </a:lnTo>
                <a:lnTo>
                  <a:pt x="244" y="139"/>
                </a:lnTo>
                <a:lnTo>
                  <a:pt x="244" y="145"/>
                </a:lnTo>
                <a:lnTo>
                  <a:pt x="244" y="151"/>
                </a:lnTo>
                <a:lnTo>
                  <a:pt x="238" y="151"/>
                </a:lnTo>
                <a:lnTo>
                  <a:pt x="232" y="151"/>
                </a:lnTo>
                <a:lnTo>
                  <a:pt x="226" y="163"/>
                </a:lnTo>
                <a:lnTo>
                  <a:pt x="232" y="168"/>
                </a:lnTo>
                <a:lnTo>
                  <a:pt x="232" y="174"/>
                </a:lnTo>
                <a:lnTo>
                  <a:pt x="232" y="180"/>
                </a:lnTo>
                <a:lnTo>
                  <a:pt x="226" y="180"/>
                </a:lnTo>
                <a:lnTo>
                  <a:pt x="220" y="180"/>
                </a:lnTo>
                <a:lnTo>
                  <a:pt x="220" y="174"/>
                </a:lnTo>
                <a:lnTo>
                  <a:pt x="208" y="186"/>
                </a:lnTo>
                <a:lnTo>
                  <a:pt x="214" y="192"/>
                </a:lnTo>
                <a:lnTo>
                  <a:pt x="214" y="197"/>
                </a:lnTo>
                <a:lnTo>
                  <a:pt x="220" y="197"/>
                </a:lnTo>
                <a:lnTo>
                  <a:pt x="214" y="197"/>
                </a:lnTo>
                <a:lnTo>
                  <a:pt x="214" y="203"/>
                </a:lnTo>
                <a:lnTo>
                  <a:pt x="208" y="203"/>
                </a:lnTo>
                <a:lnTo>
                  <a:pt x="203" y="203"/>
                </a:lnTo>
                <a:lnTo>
                  <a:pt x="203" y="197"/>
                </a:lnTo>
                <a:lnTo>
                  <a:pt x="191" y="209"/>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73" name="Freeform 170"/>
          <p:cNvSpPr>
            <a:spLocks/>
          </p:cNvSpPr>
          <p:nvPr/>
        </p:nvSpPr>
        <p:spPr bwMode="auto">
          <a:xfrm>
            <a:off x="7634288" y="5097463"/>
            <a:ext cx="219075" cy="203200"/>
          </a:xfrm>
          <a:custGeom>
            <a:avLst/>
            <a:gdLst>
              <a:gd name="T0" fmla="*/ 18 w 138"/>
              <a:gd name="T1" fmla="*/ 99 h 128"/>
              <a:gd name="T2" fmla="*/ 18 w 138"/>
              <a:gd name="T3" fmla="*/ 99 h 128"/>
              <a:gd name="T4" fmla="*/ 24 w 138"/>
              <a:gd name="T5" fmla="*/ 105 h 128"/>
              <a:gd name="T6" fmla="*/ 42 w 138"/>
              <a:gd name="T7" fmla="*/ 111 h 128"/>
              <a:gd name="T8" fmla="*/ 36 w 138"/>
              <a:gd name="T9" fmla="*/ 116 h 128"/>
              <a:gd name="T10" fmla="*/ 42 w 138"/>
              <a:gd name="T11" fmla="*/ 122 h 128"/>
              <a:gd name="T12" fmla="*/ 54 w 138"/>
              <a:gd name="T13" fmla="*/ 116 h 128"/>
              <a:gd name="T14" fmla="*/ 66 w 138"/>
              <a:gd name="T15" fmla="*/ 122 h 128"/>
              <a:gd name="T16" fmla="*/ 72 w 138"/>
              <a:gd name="T17" fmla="*/ 128 h 128"/>
              <a:gd name="T18" fmla="*/ 78 w 138"/>
              <a:gd name="T19" fmla="*/ 122 h 128"/>
              <a:gd name="T20" fmla="*/ 90 w 138"/>
              <a:gd name="T21" fmla="*/ 111 h 128"/>
              <a:gd name="T22" fmla="*/ 96 w 138"/>
              <a:gd name="T23" fmla="*/ 116 h 128"/>
              <a:gd name="T24" fmla="*/ 102 w 138"/>
              <a:gd name="T25" fmla="*/ 122 h 128"/>
              <a:gd name="T26" fmla="*/ 108 w 138"/>
              <a:gd name="T27" fmla="*/ 116 h 128"/>
              <a:gd name="T28" fmla="*/ 108 w 138"/>
              <a:gd name="T29" fmla="*/ 105 h 128"/>
              <a:gd name="T30" fmla="*/ 120 w 138"/>
              <a:gd name="T31" fmla="*/ 99 h 128"/>
              <a:gd name="T32" fmla="*/ 126 w 138"/>
              <a:gd name="T33" fmla="*/ 93 h 128"/>
              <a:gd name="T34" fmla="*/ 132 w 138"/>
              <a:gd name="T35" fmla="*/ 87 h 128"/>
              <a:gd name="T36" fmla="*/ 120 w 138"/>
              <a:gd name="T37" fmla="*/ 82 h 128"/>
              <a:gd name="T38" fmla="*/ 132 w 138"/>
              <a:gd name="T39" fmla="*/ 70 h 128"/>
              <a:gd name="T40" fmla="*/ 138 w 138"/>
              <a:gd name="T41" fmla="*/ 64 h 128"/>
              <a:gd name="T42" fmla="*/ 132 w 138"/>
              <a:gd name="T43" fmla="*/ 58 h 128"/>
              <a:gd name="T44" fmla="*/ 126 w 138"/>
              <a:gd name="T45" fmla="*/ 47 h 128"/>
              <a:gd name="T46" fmla="*/ 132 w 138"/>
              <a:gd name="T47" fmla="*/ 41 h 128"/>
              <a:gd name="T48" fmla="*/ 132 w 138"/>
              <a:gd name="T49" fmla="*/ 29 h 128"/>
              <a:gd name="T50" fmla="*/ 120 w 138"/>
              <a:gd name="T51" fmla="*/ 35 h 128"/>
              <a:gd name="T52" fmla="*/ 114 w 138"/>
              <a:gd name="T53" fmla="*/ 24 h 128"/>
              <a:gd name="T54" fmla="*/ 114 w 138"/>
              <a:gd name="T55" fmla="*/ 12 h 128"/>
              <a:gd name="T56" fmla="*/ 108 w 138"/>
              <a:gd name="T57" fmla="*/ 6 h 128"/>
              <a:gd name="T58" fmla="*/ 102 w 138"/>
              <a:gd name="T59" fmla="*/ 12 h 128"/>
              <a:gd name="T60" fmla="*/ 84 w 138"/>
              <a:gd name="T61" fmla="*/ 12 h 128"/>
              <a:gd name="T62" fmla="*/ 84 w 138"/>
              <a:gd name="T63" fmla="*/ 0 h 128"/>
              <a:gd name="T64" fmla="*/ 72 w 138"/>
              <a:gd name="T65" fmla="*/ 0 h 128"/>
              <a:gd name="T66" fmla="*/ 60 w 138"/>
              <a:gd name="T67" fmla="*/ 6 h 128"/>
              <a:gd name="T68" fmla="*/ 54 w 138"/>
              <a:gd name="T69" fmla="*/ 0 h 128"/>
              <a:gd name="T70" fmla="*/ 42 w 138"/>
              <a:gd name="T71" fmla="*/ 0 h 128"/>
              <a:gd name="T72" fmla="*/ 48 w 138"/>
              <a:gd name="T73" fmla="*/ 12 h 128"/>
              <a:gd name="T74" fmla="*/ 30 w 138"/>
              <a:gd name="T75" fmla="*/ 18 h 128"/>
              <a:gd name="T76" fmla="*/ 24 w 138"/>
              <a:gd name="T77" fmla="*/ 12 h 128"/>
              <a:gd name="T78" fmla="*/ 18 w 138"/>
              <a:gd name="T79" fmla="*/ 18 h 128"/>
              <a:gd name="T80" fmla="*/ 24 w 138"/>
              <a:gd name="T81" fmla="*/ 29 h 128"/>
              <a:gd name="T82" fmla="*/ 12 w 138"/>
              <a:gd name="T83" fmla="*/ 41 h 128"/>
              <a:gd name="T84" fmla="*/ 6 w 138"/>
              <a:gd name="T85" fmla="*/ 47 h 128"/>
              <a:gd name="T86" fmla="*/ 12 w 138"/>
              <a:gd name="T87" fmla="*/ 53 h 128"/>
              <a:gd name="T88" fmla="*/ 6 w 138"/>
              <a:gd name="T89" fmla="*/ 64 h 128"/>
              <a:gd name="T90" fmla="*/ 0 w 138"/>
              <a:gd name="T91" fmla="*/ 70 h 128"/>
              <a:gd name="T92" fmla="*/ 6 w 138"/>
              <a:gd name="T93" fmla="*/ 76 h 128"/>
              <a:gd name="T94" fmla="*/ 18 w 138"/>
              <a:gd name="T95" fmla="*/ 82 h 12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38"/>
              <a:gd name="T145" fmla="*/ 0 h 128"/>
              <a:gd name="T146" fmla="*/ 138 w 138"/>
              <a:gd name="T147" fmla="*/ 128 h 12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38" h="128">
                <a:moveTo>
                  <a:pt x="18" y="93"/>
                </a:moveTo>
                <a:lnTo>
                  <a:pt x="18" y="99"/>
                </a:lnTo>
                <a:lnTo>
                  <a:pt x="12" y="99"/>
                </a:lnTo>
                <a:lnTo>
                  <a:pt x="18" y="99"/>
                </a:lnTo>
                <a:lnTo>
                  <a:pt x="18" y="105"/>
                </a:lnTo>
                <a:lnTo>
                  <a:pt x="24" y="105"/>
                </a:lnTo>
                <a:lnTo>
                  <a:pt x="30" y="105"/>
                </a:lnTo>
                <a:lnTo>
                  <a:pt x="42" y="111"/>
                </a:lnTo>
                <a:lnTo>
                  <a:pt x="36" y="111"/>
                </a:lnTo>
                <a:lnTo>
                  <a:pt x="36" y="116"/>
                </a:lnTo>
                <a:lnTo>
                  <a:pt x="36" y="122"/>
                </a:lnTo>
                <a:lnTo>
                  <a:pt x="42" y="122"/>
                </a:lnTo>
                <a:lnTo>
                  <a:pt x="48" y="122"/>
                </a:lnTo>
                <a:lnTo>
                  <a:pt x="54" y="116"/>
                </a:lnTo>
                <a:lnTo>
                  <a:pt x="66" y="116"/>
                </a:lnTo>
                <a:lnTo>
                  <a:pt x="66" y="122"/>
                </a:lnTo>
                <a:lnTo>
                  <a:pt x="66" y="128"/>
                </a:lnTo>
                <a:lnTo>
                  <a:pt x="72" y="128"/>
                </a:lnTo>
                <a:lnTo>
                  <a:pt x="78" y="128"/>
                </a:lnTo>
                <a:lnTo>
                  <a:pt x="78" y="122"/>
                </a:lnTo>
                <a:lnTo>
                  <a:pt x="78" y="116"/>
                </a:lnTo>
                <a:lnTo>
                  <a:pt x="90" y="111"/>
                </a:lnTo>
                <a:lnTo>
                  <a:pt x="96" y="111"/>
                </a:lnTo>
                <a:lnTo>
                  <a:pt x="96" y="116"/>
                </a:lnTo>
                <a:lnTo>
                  <a:pt x="96" y="122"/>
                </a:lnTo>
                <a:lnTo>
                  <a:pt x="102" y="122"/>
                </a:lnTo>
                <a:lnTo>
                  <a:pt x="102" y="116"/>
                </a:lnTo>
                <a:lnTo>
                  <a:pt x="108" y="116"/>
                </a:lnTo>
                <a:lnTo>
                  <a:pt x="108" y="111"/>
                </a:lnTo>
                <a:lnTo>
                  <a:pt x="108" y="105"/>
                </a:lnTo>
                <a:lnTo>
                  <a:pt x="114" y="99"/>
                </a:lnTo>
                <a:lnTo>
                  <a:pt x="120" y="99"/>
                </a:lnTo>
                <a:lnTo>
                  <a:pt x="126" y="99"/>
                </a:lnTo>
                <a:lnTo>
                  <a:pt x="126" y="93"/>
                </a:lnTo>
                <a:lnTo>
                  <a:pt x="132" y="93"/>
                </a:lnTo>
                <a:lnTo>
                  <a:pt x="132" y="87"/>
                </a:lnTo>
                <a:lnTo>
                  <a:pt x="126" y="87"/>
                </a:lnTo>
                <a:lnTo>
                  <a:pt x="120" y="82"/>
                </a:lnTo>
                <a:lnTo>
                  <a:pt x="126" y="70"/>
                </a:lnTo>
                <a:lnTo>
                  <a:pt x="132" y="70"/>
                </a:lnTo>
                <a:lnTo>
                  <a:pt x="138" y="70"/>
                </a:lnTo>
                <a:lnTo>
                  <a:pt x="138" y="64"/>
                </a:lnTo>
                <a:lnTo>
                  <a:pt x="138" y="58"/>
                </a:lnTo>
                <a:lnTo>
                  <a:pt x="132" y="58"/>
                </a:lnTo>
                <a:lnTo>
                  <a:pt x="126" y="58"/>
                </a:lnTo>
                <a:lnTo>
                  <a:pt x="126" y="47"/>
                </a:lnTo>
                <a:lnTo>
                  <a:pt x="126" y="41"/>
                </a:lnTo>
                <a:lnTo>
                  <a:pt x="132" y="41"/>
                </a:lnTo>
                <a:lnTo>
                  <a:pt x="132" y="35"/>
                </a:lnTo>
                <a:lnTo>
                  <a:pt x="132" y="29"/>
                </a:lnTo>
                <a:lnTo>
                  <a:pt x="126" y="29"/>
                </a:lnTo>
                <a:lnTo>
                  <a:pt x="120" y="35"/>
                </a:lnTo>
                <a:lnTo>
                  <a:pt x="108" y="24"/>
                </a:lnTo>
                <a:lnTo>
                  <a:pt x="114" y="24"/>
                </a:lnTo>
                <a:lnTo>
                  <a:pt x="114" y="18"/>
                </a:lnTo>
                <a:lnTo>
                  <a:pt x="114" y="12"/>
                </a:lnTo>
                <a:lnTo>
                  <a:pt x="108" y="12"/>
                </a:lnTo>
                <a:lnTo>
                  <a:pt x="108" y="6"/>
                </a:lnTo>
                <a:lnTo>
                  <a:pt x="102" y="6"/>
                </a:lnTo>
                <a:lnTo>
                  <a:pt x="102" y="12"/>
                </a:lnTo>
                <a:lnTo>
                  <a:pt x="96" y="12"/>
                </a:lnTo>
                <a:lnTo>
                  <a:pt x="84" y="12"/>
                </a:lnTo>
                <a:lnTo>
                  <a:pt x="84" y="6"/>
                </a:lnTo>
                <a:lnTo>
                  <a:pt x="84" y="0"/>
                </a:lnTo>
                <a:lnTo>
                  <a:pt x="78" y="0"/>
                </a:lnTo>
                <a:lnTo>
                  <a:pt x="72" y="0"/>
                </a:lnTo>
                <a:lnTo>
                  <a:pt x="72" y="6"/>
                </a:lnTo>
                <a:lnTo>
                  <a:pt x="60" y="6"/>
                </a:lnTo>
                <a:lnTo>
                  <a:pt x="54" y="6"/>
                </a:lnTo>
                <a:lnTo>
                  <a:pt x="54" y="0"/>
                </a:lnTo>
                <a:lnTo>
                  <a:pt x="48" y="0"/>
                </a:lnTo>
                <a:lnTo>
                  <a:pt x="42" y="0"/>
                </a:lnTo>
                <a:lnTo>
                  <a:pt x="42" y="6"/>
                </a:lnTo>
                <a:lnTo>
                  <a:pt x="48" y="12"/>
                </a:lnTo>
                <a:lnTo>
                  <a:pt x="36" y="18"/>
                </a:lnTo>
                <a:lnTo>
                  <a:pt x="30" y="18"/>
                </a:lnTo>
                <a:lnTo>
                  <a:pt x="30" y="12"/>
                </a:lnTo>
                <a:lnTo>
                  <a:pt x="24" y="12"/>
                </a:lnTo>
                <a:lnTo>
                  <a:pt x="24" y="18"/>
                </a:lnTo>
                <a:lnTo>
                  <a:pt x="18" y="18"/>
                </a:lnTo>
                <a:lnTo>
                  <a:pt x="18" y="24"/>
                </a:lnTo>
                <a:lnTo>
                  <a:pt x="24" y="29"/>
                </a:lnTo>
                <a:lnTo>
                  <a:pt x="18" y="41"/>
                </a:lnTo>
                <a:lnTo>
                  <a:pt x="12" y="41"/>
                </a:lnTo>
                <a:lnTo>
                  <a:pt x="6" y="41"/>
                </a:lnTo>
                <a:lnTo>
                  <a:pt x="6" y="47"/>
                </a:lnTo>
                <a:lnTo>
                  <a:pt x="6" y="53"/>
                </a:lnTo>
                <a:lnTo>
                  <a:pt x="12" y="53"/>
                </a:lnTo>
                <a:lnTo>
                  <a:pt x="12" y="64"/>
                </a:lnTo>
                <a:lnTo>
                  <a:pt x="6" y="64"/>
                </a:lnTo>
                <a:lnTo>
                  <a:pt x="6" y="70"/>
                </a:lnTo>
                <a:lnTo>
                  <a:pt x="0" y="70"/>
                </a:lnTo>
                <a:lnTo>
                  <a:pt x="0" y="76"/>
                </a:lnTo>
                <a:lnTo>
                  <a:pt x="6" y="76"/>
                </a:lnTo>
                <a:lnTo>
                  <a:pt x="6" y="82"/>
                </a:lnTo>
                <a:lnTo>
                  <a:pt x="18" y="82"/>
                </a:lnTo>
                <a:lnTo>
                  <a:pt x="18" y="93"/>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74" name="Freeform 171"/>
          <p:cNvSpPr>
            <a:spLocks/>
          </p:cNvSpPr>
          <p:nvPr/>
        </p:nvSpPr>
        <p:spPr bwMode="auto">
          <a:xfrm>
            <a:off x="7634288" y="5097463"/>
            <a:ext cx="219075" cy="203200"/>
          </a:xfrm>
          <a:custGeom>
            <a:avLst/>
            <a:gdLst>
              <a:gd name="T0" fmla="*/ 18 w 138"/>
              <a:gd name="T1" fmla="*/ 99 h 128"/>
              <a:gd name="T2" fmla="*/ 18 w 138"/>
              <a:gd name="T3" fmla="*/ 99 h 128"/>
              <a:gd name="T4" fmla="*/ 24 w 138"/>
              <a:gd name="T5" fmla="*/ 105 h 128"/>
              <a:gd name="T6" fmla="*/ 42 w 138"/>
              <a:gd name="T7" fmla="*/ 111 h 128"/>
              <a:gd name="T8" fmla="*/ 36 w 138"/>
              <a:gd name="T9" fmla="*/ 122 h 128"/>
              <a:gd name="T10" fmla="*/ 48 w 138"/>
              <a:gd name="T11" fmla="*/ 122 h 128"/>
              <a:gd name="T12" fmla="*/ 66 w 138"/>
              <a:gd name="T13" fmla="*/ 116 h 128"/>
              <a:gd name="T14" fmla="*/ 66 w 138"/>
              <a:gd name="T15" fmla="*/ 128 h 128"/>
              <a:gd name="T16" fmla="*/ 78 w 138"/>
              <a:gd name="T17" fmla="*/ 128 h 128"/>
              <a:gd name="T18" fmla="*/ 78 w 138"/>
              <a:gd name="T19" fmla="*/ 116 h 128"/>
              <a:gd name="T20" fmla="*/ 96 w 138"/>
              <a:gd name="T21" fmla="*/ 116 h 128"/>
              <a:gd name="T22" fmla="*/ 102 w 138"/>
              <a:gd name="T23" fmla="*/ 116 h 128"/>
              <a:gd name="T24" fmla="*/ 108 w 138"/>
              <a:gd name="T25" fmla="*/ 111 h 128"/>
              <a:gd name="T26" fmla="*/ 114 w 138"/>
              <a:gd name="T27" fmla="*/ 99 h 128"/>
              <a:gd name="T28" fmla="*/ 126 w 138"/>
              <a:gd name="T29" fmla="*/ 99 h 128"/>
              <a:gd name="T30" fmla="*/ 132 w 138"/>
              <a:gd name="T31" fmla="*/ 93 h 128"/>
              <a:gd name="T32" fmla="*/ 126 w 138"/>
              <a:gd name="T33" fmla="*/ 87 h 128"/>
              <a:gd name="T34" fmla="*/ 126 w 138"/>
              <a:gd name="T35" fmla="*/ 70 h 128"/>
              <a:gd name="T36" fmla="*/ 138 w 138"/>
              <a:gd name="T37" fmla="*/ 70 h 128"/>
              <a:gd name="T38" fmla="*/ 138 w 138"/>
              <a:gd name="T39" fmla="*/ 58 h 128"/>
              <a:gd name="T40" fmla="*/ 126 w 138"/>
              <a:gd name="T41" fmla="*/ 58 h 128"/>
              <a:gd name="T42" fmla="*/ 126 w 138"/>
              <a:gd name="T43" fmla="*/ 41 h 128"/>
              <a:gd name="T44" fmla="*/ 132 w 138"/>
              <a:gd name="T45" fmla="*/ 35 h 128"/>
              <a:gd name="T46" fmla="*/ 120 w 138"/>
              <a:gd name="T47" fmla="*/ 35 h 128"/>
              <a:gd name="T48" fmla="*/ 114 w 138"/>
              <a:gd name="T49" fmla="*/ 24 h 128"/>
              <a:gd name="T50" fmla="*/ 114 w 138"/>
              <a:gd name="T51" fmla="*/ 12 h 128"/>
              <a:gd name="T52" fmla="*/ 108 w 138"/>
              <a:gd name="T53" fmla="*/ 6 h 128"/>
              <a:gd name="T54" fmla="*/ 102 w 138"/>
              <a:gd name="T55" fmla="*/ 12 h 128"/>
              <a:gd name="T56" fmla="*/ 84 w 138"/>
              <a:gd name="T57" fmla="*/ 12 h 128"/>
              <a:gd name="T58" fmla="*/ 84 w 138"/>
              <a:gd name="T59" fmla="*/ 0 h 128"/>
              <a:gd name="T60" fmla="*/ 72 w 138"/>
              <a:gd name="T61" fmla="*/ 0 h 128"/>
              <a:gd name="T62" fmla="*/ 60 w 138"/>
              <a:gd name="T63" fmla="*/ 6 h 128"/>
              <a:gd name="T64" fmla="*/ 48 w 138"/>
              <a:gd name="T65" fmla="*/ 0 h 128"/>
              <a:gd name="T66" fmla="*/ 42 w 138"/>
              <a:gd name="T67" fmla="*/ 6 h 128"/>
              <a:gd name="T68" fmla="*/ 36 w 138"/>
              <a:gd name="T69" fmla="*/ 18 h 128"/>
              <a:gd name="T70" fmla="*/ 30 w 138"/>
              <a:gd name="T71" fmla="*/ 12 h 128"/>
              <a:gd name="T72" fmla="*/ 24 w 138"/>
              <a:gd name="T73" fmla="*/ 18 h 128"/>
              <a:gd name="T74" fmla="*/ 18 w 138"/>
              <a:gd name="T75" fmla="*/ 24 h 128"/>
              <a:gd name="T76" fmla="*/ 18 w 138"/>
              <a:gd name="T77" fmla="*/ 41 h 128"/>
              <a:gd name="T78" fmla="*/ 6 w 138"/>
              <a:gd name="T79" fmla="*/ 41 h 128"/>
              <a:gd name="T80" fmla="*/ 6 w 138"/>
              <a:gd name="T81" fmla="*/ 53 h 128"/>
              <a:gd name="T82" fmla="*/ 12 w 138"/>
              <a:gd name="T83" fmla="*/ 64 h 128"/>
              <a:gd name="T84" fmla="*/ 0 w 138"/>
              <a:gd name="T85" fmla="*/ 70 h 128"/>
              <a:gd name="T86" fmla="*/ 6 w 138"/>
              <a:gd name="T87" fmla="*/ 76 h 128"/>
              <a:gd name="T88" fmla="*/ 18 w 138"/>
              <a:gd name="T89" fmla="*/ 82 h 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8"/>
              <a:gd name="T136" fmla="*/ 0 h 128"/>
              <a:gd name="T137" fmla="*/ 138 w 138"/>
              <a:gd name="T138" fmla="*/ 128 h 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8" h="128">
                <a:moveTo>
                  <a:pt x="18" y="93"/>
                </a:moveTo>
                <a:lnTo>
                  <a:pt x="18" y="99"/>
                </a:lnTo>
                <a:lnTo>
                  <a:pt x="12" y="99"/>
                </a:lnTo>
                <a:lnTo>
                  <a:pt x="18" y="99"/>
                </a:lnTo>
                <a:lnTo>
                  <a:pt x="18" y="105"/>
                </a:lnTo>
                <a:lnTo>
                  <a:pt x="24" y="105"/>
                </a:lnTo>
                <a:lnTo>
                  <a:pt x="30" y="105"/>
                </a:lnTo>
                <a:lnTo>
                  <a:pt x="42" y="111"/>
                </a:lnTo>
                <a:lnTo>
                  <a:pt x="36" y="116"/>
                </a:lnTo>
                <a:lnTo>
                  <a:pt x="36" y="122"/>
                </a:lnTo>
                <a:lnTo>
                  <a:pt x="42" y="122"/>
                </a:lnTo>
                <a:lnTo>
                  <a:pt x="48" y="122"/>
                </a:lnTo>
                <a:lnTo>
                  <a:pt x="54" y="116"/>
                </a:lnTo>
                <a:lnTo>
                  <a:pt x="66" y="116"/>
                </a:lnTo>
                <a:lnTo>
                  <a:pt x="66" y="122"/>
                </a:lnTo>
                <a:lnTo>
                  <a:pt x="66" y="128"/>
                </a:lnTo>
                <a:lnTo>
                  <a:pt x="72" y="128"/>
                </a:lnTo>
                <a:lnTo>
                  <a:pt x="78" y="128"/>
                </a:lnTo>
                <a:lnTo>
                  <a:pt x="78" y="122"/>
                </a:lnTo>
                <a:lnTo>
                  <a:pt x="78" y="116"/>
                </a:lnTo>
                <a:lnTo>
                  <a:pt x="90" y="111"/>
                </a:lnTo>
                <a:lnTo>
                  <a:pt x="96" y="116"/>
                </a:lnTo>
                <a:lnTo>
                  <a:pt x="102" y="122"/>
                </a:lnTo>
                <a:lnTo>
                  <a:pt x="102" y="116"/>
                </a:lnTo>
                <a:lnTo>
                  <a:pt x="108" y="116"/>
                </a:lnTo>
                <a:lnTo>
                  <a:pt x="108" y="111"/>
                </a:lnTo>
                <a:lnTo>
                  <a:pt x="108" y="105"/>
                </a:lnTo>
                <a:lnTo>
                  <a:pt x="114" y="99"/>
                </a:lnTo>
                <a:lnTo>
                  <a:pt x="120" y="99"/>
                </a:lnTo>
                <a:lnTo>
                  <a:pt x="126" y="99"/>
                </a:lnTo>
                <a:lnTo>
                  <a:pt x="126" y="93"/>
                </a:lnTo>
                <a:lnTo>
                  <a:pt x="132" y="93"/>
                </a:lnTo>
                <a:lnTo>
                  <a:pt x="132" y="87"/>
                </a:lnTo>
                <a:lnTo>
                  <a:pt x="126" y="87"/>
                </a:lnTo>
                <a:lnTo>
                  <a:pt x="120" y="82"/>
                </a:lnTo>
                <a:lnTo>
                  <a:pt x="126" y="70"/>
                </a:lnTo>
                <a:lnTo>
                  <a:pt x="132" y="70"/>
                </a:lnTo>
                <a:lnTo>
                  <a:pt x="138" y="70"/>
                </a:lnTo>
                <a:lnTo>
                  <a:pt x="138" y="64"/>
                </a:lnTo>
                <a:lnTo>
                  <a:pt x="138" y="58"/>
                </a:lnTo>
                <a:lnTo>
                  <a:pt x="132" y="58"/>
                </a:lnTo>
                <a:lnTo>
                  <a:pt x="126" y="58"/>
                </a:lnTo>
                <a:lnTo>
                  <a:pt x="126" y="47"/>
                </a:lnTo>
                <a:lnTo>
                  <a:pt x="126" y="41"/>
                </a:lnTo>
                <a:lnTo>
                  <a:pt x="132" y="41"/>
                </a:lnTo>
                <a:lnTo>
                  <a:pt x="132" y="35"/>
                </a:lnTo>
                <a:lnTo>
                  <a:pt x="126" y="29"/>
                </a:lnTo>
                <a:lnTo>
                  <a:pt x="120" y="35"/>
                </a:lnTo>
                <a:lnTo>
                  <a:pt x="108" y="24"/>
                </a:lnTo>
                <a:lnTo>
                  <a:pt x="114" y="24"/>
                </a:lnTo>
                <a:lnTo>
                  <a:pt x="114" y="18"/>
                </a:lnTo>
                <a:lnTo>
                  <a:pt x="114" y="12"/>
                </a:lnTo>
                <a:lnTo>
                  <a:pt x="108" y="12"/>
                </a:lnTo>
                <a:lnTo>
                  <a:pt x="108" y="6"/>
                </a:lnTo>
                <a:lnTo>
                  <a:pt x="102" y="6"/>
                </a:lnTo>
                <a:lnTo>
                  <a:pt x="102" y="12"/>
                </a:lnTo>
                <a:lnTo>
                  <a:pt x="96" y="12"/>
                </a:lnTo>
                <a:lnTo>
                  <a:pt x="84" y="12"/>
                </a:lnTo>
                <a:lnTo>
                  <a:pt x="84" y="6"/>
                </a:lnTo>
                <a:lnTo>
                  <a:pt x="84" y="0"/>
                </a:lnTo>
                <a:lnTo>
                  <a:pt x="78" y="0"/>
                </a:lnTo>
                <a:lnTo>
                  <a:pt x="72" y="0"/>
                </a:lnTo>
                <a:lnTo>
                  <a:pt x="72" y="6"/>
                </a:lnTo>
                <a:lnTo>
                  <a:pt x="60" y="6"/>
                </a:lnTo>
                <a:lnTo>
                  <a:pt x="54" y="0"/>
                </a:lnTo>
                <a:lnTo>
                  <a:pt x="48" y="0"/>
                </a:lnTo>
                <a:lnTo>
                  <a:pt x="42" y="0"/>
                </a:lnTo>
                <a:lnTo>
                  <a:pt x="42" y="6"/>
                </a:lnTo>
                <a:lnTo>
                  <a:pt x="48" y="12"/>
                </a:lnTo>
                <a:lnTo>
                  <a:pt x="36" y="18"/>
                </a:lnTo>
                <a:lnTo>
                  <a:pt x="30" y="18"/>
                </a:lnTo>
                <a:lnTo>
                  <a:pt x="30" y="12"/>
                </a:lnTo>
                <a:lnTo>
                  <a:pt x="24" y="12"/>
                </a:lnTo>
                <a:lnTo>
                  <a:pt x="24" y="18"/>
                </a:lnTo>
                <a:lnTo>
                  <a:pt x="18" y="18"/>
                </a:lnTo>
                <a:lnTo>
                  <a:pt x="18" y="24"/>
                </a:lnTo>
                <a:lnTo>
                  <a:pt x="24" y="29"/>
                </a:lnTo>
                <a:lnTo>
                  <a:pt x="18" y="41"/>
                </a:lnTo>
                <a:lnTo>
                  <a:pt x="12" y="41"/>
                </a:lnTo>
                <a:lnTo>
                  <a:pt x="6" y="41"/>
                </a:lnTo>
                <a:lnTo>
                  <a:pt x="6" y="47"/>
                </a:lnTo>
                <a:lnTo>
                  <a:pt x="6" y="53"/>
                </a:lnTo>
                <a:lnTo>
                  <a:pt x="12" y="53"/>
                </a:lnTo>
                <a:lnTo>
                  <a:pt x="12" y="64"/>
                </a:lnTo>
                <a:lnTo>
                  <a:pt x="6" y="70"/>
                </a:lnTo>
                <a:lnTo>
                  <a:pt x="0" y="70"/>
                </a:lnTo>
                <a:lnTo>
                  <a:pt x="0" y="76"/>
                </a:lnTo>
                <a:lnTo>
                  <a:pt x="6" y="76"/>
                </a:lnTo>
                <a:lnTo>
                  <a:pt x="6" y="82"/>
                </a:lnTo>
                <a:lnTo>
                  <a:pt x="18" y="82"/>
                </a:lnTo>
                <a:lnTo>
                  <a:pt x="18" y="9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75" name="Freeform 172"/>
          <p:cNvSpPr>
            <a:spLocks/>
          </p:cNvSpPr>
          <p:nvPr/>
        </p:nvSpPr>
        <p:spPr bwMode="auto">
          <a:xfrm>
            <a:off x="7653338" y="5281613"/>
            <a:ext cx="227012" cy="222250"/>
          </a:xfrm>
          <a:custGeom>
            <a:avLst/>
            <a:gdLst>
              <a:gd name="T0" fmla="*/ 18 w 143"/>
              <a:gd name="T1" fmla="*/ 105 h 140"/>
              <a:gd name="T2" fmla="*/ 18 w 143"/>
              <a:gd name="T3" fmla="*/ 117 h 140"/>
              <a:gd name="T4" fmla="*/ 24 w 143"/>
              <a:gd name="T5" fmla="*/ 122 h 140"/>
              <a:gd name="T6" fmla="*/ 30 w 143"/>
              <a:gd name="T7" fmla="*/ 117 h 140"/>
              <a:gd name="T8" fmla="*/ 42 w 143"/>
              <a:gd name="T9" fmla="*/ 128 h 140"/>
              <a:gd name="T10" fmla="*/ 48 w 143"/>
              <a:gd name="T11" fmla="*/ 134 h 140"/>
              <a:gd name="T12" fmla="*/ 60 w 143"/>
              <a:gd name="T13" fmla="*/ 128 h 140"/>
              <a:gd name="T14" fmla="*/ 72 w 143"/>
              <a:gd name="T15" fmla="*/ 134 h 140"/>
              <a:gd name="T16" fmla="*/ 78 w 143"/>
              <a:gd name="T17" fmla="*/ 140 h 140"/>
              <a:gd name="T18" fmla="*/ 84 w 143"/>
              <a:gd name="T19" fmla="*/ 134 h 140"/>
              <a:gd name="T20" fmla="*/ 84 w 143"/>
              <a:gd name="T21" fmla="*/ 128 h 140"/>
              <a:gd name="T22" fmla="*/ 102 w 143"/>
              <a:gd name="T23" fmla="*/ 128 h 140"/>
              <a:gd name="T24" fmla="*/ 114 w 143"/>
              <a:gd name="T25" fmla="*/ 128 h 140"/>
              <a:gd name="T26" fmla="*/ 114 w 143"/>
              <a:gd name="T27" fmla="*/ 111 h 140"/>
              <a:gd name="T28" fmla="*/ 126 w 143"/>
              <a:gd name="T29" fmla="*/ 105 h 140"/>
              <a:gd name="T30" fmla="*/ 131 w 143"/>
              <a:gd name="T31" fmla="*/ 99 h 140"/>
              <a:gd name="T32" fmla="*/ 137 w 143"/>
              <a:gd name="T33" fmla="*/ 93 h 140"/>
              <a:gd name="T34" fmla="*/ 126 w 143"/>
              <a:gd name="T35" fmla="*/ 88 h 140"/>
              <a:gd name="T36" fmla="*/ 137 w 143"/>
              <a:gd name="T37" fmla="*/ 76 h 140"/>
              <a:gd name="T38" fmla="*/ 143 w 143"/>
              <a:gd name="T39" fmla="*/ 70 h 140"/>
              <a:gd name="T40" fmla="*/ 137 w 143"/>
              <a:gd name="T41" fmla="*/ 64 h 140"/>
              <a:gd name="T42" fmla="*/ 126 w 143"/>
              <a:gd name="T43" fmla="*/ 47 h 140"/>
              <a:gd name="T44" fmla="*/ 131 w 143"/>
              <a:gd name="T45" fmla="*/ 41 h 140"/>
              <a:gd name="T46" fmla="*/ 131 w 143"/>
              <a:gd name="T47" fmla="*/ 41 h 140"/>
              <a:gd name="T48" fmla="*/ 126 w 143"/>
              <a:gd name="T49" fmla="*/ 35 h 140"/>
              <a:gd name="T50" fmla="*/ 108 w 143"/>
              <a:gd name="T51" fmla="*/ 30 h 140"/>
              <a:gd name="T52" fmla="*/ 114 w 143"/>
              <a:gd name="T53" fmla="*/ 24 h 140"/>
              <a:gd name="T54" fmla="*/ 114 w 143"/>
              <a:gd name="T55" fmla="*/ 12 h 140"/>
              <a:gd name="T56" fmla="*/ 102 w 143"/>
              <a:gd name="T57" fmla="*/ 12 h 140"/>
              <a:gd name="T58" fmla="*/ 84 w 143"/>
              <a:gd name="T59" fmla="*/ 12 h 140"/>
              <a:gd name="T60" fmla="*/ 84 w 143"/>
              <a:gd name="T61" fmla="*/ 0 h 140"/>
              <a:gd name="T62" fmla="*/ 72 w 143"/>
              <a:gd name="T63" fmla="*/ 0 h 140"/>
              <a:gd name="T64" fmla="*/ 72 w 143"/>
              <a:gd name="T65" fmla="*/ 12 h 140"/>
              <a:gd name="T66" fmla="*/ 54 w 143"/>
              <a:gd name="T67" fmla="*/ 6 h 140"/>
              <a:gd name="T68" fmla="*/ 42 w 143"/>
              <a:gd name="T69" fmla="*/ 6 h 140"/>
              <a:gd name="T70" fmla="*/ 42 w 143"/>
              <a:gd name="T71" fmla="*/ 18 h 140"/>
              <a:gd name="T72" fmla="*/ 30 w 143"/>
              <a:gd name="T73" fmla="*/ 24 h 140"/>
              <a:gd name="T74" fmla="*/ 18 w 143"/>
              <a:gd name="T75" fmla="*/ 24 h 140"/>
              <a:gd name="T76" fmla="*/ 12 w 143"/>
              <a:gd name="T77" fmla="*/ 30 h 140"/>
              <a:gd name="T78" fmla="*/ 18 w 143"/>
              <a:gd name="T79" fmla="*/ 35 h 140"/>
              <a:gd name="T80" fmla="*/ 12 w 143"/>
              <a:gd name="T81" fmla="*/ 53 h 140"/>
              <a:gd name="T82" fmla="*/ 6 w 143"/>
              <a:gd name="T83" fmla="*/ 47 h 140"/>
              <a:gd name="T84" fmla="*/ 0 w 143"/>
              <a:gd name="T85" fmla="*/ 53 h 140"/>
              <a:gd name="T86" fmla="*/ 0 w 143"/>
              <a:gd name="T87" fmla="*/ 64 h 140"/>
              <a:gd name="T88" fmla="*/ 12 w 143"/>
              <a:gd name="T89" fmla="*/ 64 h 140"/>
              <a:gd name="T90" fmla="*/ 6 w 143"/>
              <a:gd name="T91" fmla="*/ 82 h 140"/>
              <a:gd name="T92" fmla="*/ 0 w 143"/>
              <a:gd name="T93" fmla="*/ 88 h 140"/>
              <a:gd name="T94" fmla="*/ 6 w 143"/>
              <a:gd name="T95" fmla="*/ 93 h 140"/>
              <a:gd name="T96" fmla="*/ 24 w 143"/>
              <a:gd name="T97" fmla="*/ 105 h 1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43"/>
              <a:gd name="T148" fmla="*/ 0 h 140"/>
              <a:gd name="T149" fmla="*/ 143 w 143"/>
              <a:gd name="T150" fmla="*/ 140 h 14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43" h="140">
                <a:moveTo>
                  <a:pt x="24" y="105"/>
                </a:moveTo>
                <a:lnTo>
                  <a:pt x="18" y="105"/>
                </a:lnTo>
                <a:lnTo>
                  <a:pt x="18" y="111"/>
                </a:lnTo>
                <a:lnTo>
                  <a:pt x="18" y="117"/>
                </a:lnTo>
                <a:lnTo>
                  <a:pt x="24" y="117"/>
                </a:lnTo>
                <a:lnTo>
                  <a:pt x="24" y="122"/>
                </a:lnTo>
                <a:lnTo>
                  <a:pt x="24" y="117"/>
                </a:lnTo>
                <a:lnTo>
                  <a:pt x="30" y="117"/>
                </a:lnTo>
                <a:lnTo>
                  <a:pt x="42" y="122"/>
                </a:lnTo>
                <a:lnTo>
                  <a:pt x="42" y="128"/>
                </a:lnTo>
                <a:lnTo>
                  <a:pt x="42" y="134"/>
                </a:lnTo>
                <a:lnTo>
                  <a:pt x="48" y="134"/>
                </a:lnTo>
                <a:lnTo>
                  <a:pt x="54" y="134"/>
                </a:lnTo>
                <a:lnTo>
                  <a:pt x="60" y="128"/>
                </a:lnTo>
                <a:lnTo>
                  <a:pt x="72" y="128"/>
                </a:lnTo>
                <a:lnTo>
                  <a:pt x="72" y="134"/>
                </a:lnTo>
                <a:lnTo>
                  <a:pt x="72" y="140"/>
                </a:lnTo>
                <a:lnTo>
                  <a:pt x="78" y="140"/>
                </a:lnTo>
                <a:lnTo>
                  <a:pt x="84" y="140"/>
                </a:lnTo>
                <a:lnTo>
                  <a:pt x="84" y="134"/>
                </a:lnTo>
                <a:lnTo>
                  <a:pt x="90" y="134"/>
                </a:lnTo>
                <a:lnTo>
                  <a:pt x="84" y="128"/>
                </a:lnTo>
                <a:lnTo>
                  <a:pt x="102" y="122"/>
                </a:lnTo>
                <a:lnTo>
                  <a:pt x="102" y="128"/>
                </a:lnTo>
                <a:lnTo>
                  <a:pt x="108" y="128"/>
                </a:lnTo>
                <a:lnTo>
                  <a:pt x="114" y="128"/>
                </a:lnTo>
                <a:lnTo>
                  <a:pt x="114" y="122"/>
                </a:lnTo>
                <a:lnTo>
                  <a:pt x="114" y="111"/>
                </a:lnTo>
                <a:lnTo>
                  <a:pt x="120" y="105"/>
                </a:lnTo>
                <a:lnTo>
                  <a:pt x="126" y="105"/>
                </a:lnTo>
                <a:lnTo>
                  <a:pt x="131" y="105"/>
                </a:lnTo>
                <a:lnTo>
                  <a:pt x="131" y="99"/>
                </a:lnTo>
                <a:lnTo>
                  <a:pt x="137" y="99"/>
                </a:lnTo>
                <a:lnTo>
                  <a:pt x="137" y="93"/>
                </a:lnTo>
                <a:lnTo>
                  <a:pt x="131" y="93"/>
                </a:lnTo>
                <a:lnTo>
                  <a:pt x="126" y="88"/>
                </a:lnTo>
                <a:lnTo>
                  <a:pt x="131" y="76"/>
                </a:lnTo>
                <a:lnTo>
                  <a:pt x="137" y="76"/>
                </a:lnTo>
                <a:lnTo>
                  <a:pt x="143" y="76"/>
                </a:lnTo>
                <a:lnTo>
                  <a:pt x="143" y="70"/>
                </a:lnTo>
                <a:lnTo>
                  <a:pt x="143" y="64"/>
                </a:lnTo>
                <a:lnTo>
                  <a:pt x="137" y="64"/>
                </a:lnTo>
                <a:lnTo>
                  <a:pt x="131" y="64"/>
                </a:lnTo>
                <a:lnTo>
                  <a:pt x="126" y="47"/>
                </a:lnTo>
                <a:lnTo>
                  <a:pt x="131" y="47"/>
                </a:lnTo>
                <a:lnTo>
                  <a:pt x="131" y="41"/>
                </a:lnTo>
                <a:lnTo>
                  <a:pt x="137" y="41"/>
                </a:lnTo>
                <a:lnTo>
                  <a:pt x="131" y="41"/>
                </a:lnTo>
                <a:lnTo>
                  <a:pt x="131" y="35"/>
                </a:lnTo>
                <a:lnTo>
                  <a:pt x="126" y="35"/>
                </a:lnTo>
                <a:lnTo>
                  <a:pt x="120" y="35"/>
                </a:lnTo>
                <a:lnTo>
                  <a:pt x="108" y="30"/>
                </a:lnTo>
                <a:lnTo>
                  <a:pt x="114" y="30"/>
                </a:lnTo>
                <a:lnTo>
                  <a:pt x="114" y="24"/>
                </a:lnTo>
                <a:lnTo>
                  <a:pt x="114" y="18"/>
                </a:lnTo>
                <a:lnTo>
                  <a:pt x="114" y="12"/>
                </a:lnTo>
                <a:lnTo>
                  <a:pt x="108" y="12"/>
                </a:lnTo>
                <a:lnTo>
                  <a:pt x="102" y="12"/>
                </a:lnTo>
                <a:lnTo>
                  <a:pt x="96" y="18"/>
                </a:lnTo>
                <a:lnTo>
                  <a:pt x="84" y="12"/>
                </a:lnTo>
                <a:lnTo>
                  <a:pt x="84" y="6"/>
                </a:lnTo>
                <a:lnTo>
                  <a:pt x="84" y="0"/>
                </a:lnTo>
                <a:lnTo>
                  <a:pt x="78" y="0"/>
                </a:lnTo>
                <a:lnTo>
                  <a:pt x="72" y="0"/>
                </a:lnTo>
                <a:lnTo>
                  <a:pt x="72" y="6"/>
                </a:lnTo>
                <a:lnTo>
                  <a:pt x="72" y="12"/>
                </a:lnTo>
                <a:lnTo>
                  <a:pt x="54" y="12"/>
                </a:lnTo>
                <a:lnTo>
                  <a:pt x="54" y="6"/>
                </a:lnTo>
                <a:lnTo>
                  <a:pt x="48" y="6"/>
                </a:lnTo>
                <a:lnTo>
                  <a:pt x="42" y="6"/>
                </a:lnTo>
                <a:lnTo>
                  <a:pt x="42" y="12"/>
                </a:lnTo>
                <a:lnTo>
                  <a:pt x="42" y="18"/>
                </a:lnTo>
                <a:lnTo>
                  <a:pt x="30" y="30"/>
                </a:lnTo>
                <a:lnTo>
                  <a:pt x="30" y="24"/>
                </a:lnTo>
                <a:lnTo>
                  <a:pt x="24" y="24"/>
                </a:lnTo>
                <a:lnTo>
                  <a:pt x="18" y="24"/>
                </a:lnTo>
                <a:lnTo>
                  <a:pt x="18" y="30"/>
                </a:lnTo>
                <a:lnTo>
                  <a:pt x="12" y="30"/>
                </a:lnTo>
                <a:lnTo>
                  <a:pt x="12" y="35"/>
                </a:lnTo>
                <a:lnTo>
                  <a:pt x="18" y="35"/>
                </a:lnTo>
                <a:lnTo>
                  <a:pt x="18" y="41"/>
                </a:lnTo>
                <a:lnTo>
                  <a:pt x="12" y="53"/>
                </a:lnTo>
                <a:lnTo>
                  <a:pt x="6" y="53"/>
                </a:lnTo>
                <a:lnTo>
                  <a:pt x="6" y="47"/>
                </a:lnTo>
                <a:lnTo>
                  <a:pt x="6" y="53"/>
                </a:lnTo>
                <a:lnTo>
                  <a:pt x="0" y="53"/>
                </a:lnTo>
                <a:lnTo>
                  <a:pt x="0" y="59"/>
                </a:lnTo>
                <a:lnTo>
                  <a:pt x="0" y="64"/>
                </a:lnTo>
                <a:lnTo>
                  <a:pt x="6" y="64"/>
                </a:lnTo>
                <a:lnTo>
                  <a:pt x="12" y="64"/>
                </a:lnTo>
                <a:lnTo>
                  <a:pt x="12" y="76"/>
                </a:lnTo>
                <a:lnTo>
                  <a:pt x="6" y="82"/>
                </a:lnTo>
                <a:lnTo>
                  <a:pt x="0" y="82"/>
                </a:lnTo>
                <a:lnTo>
                  <a:pt x="0" y="88"/>
                </a:lnTo>
                <a:lnTo>
                  <a:pt x="0" y="93"/>
                </a:lnTo>
                <a:lnTo>
                  <a:pt x="6" y="93"/>
                </a:lnTo>
                <a:lnTo>
                  <a:pt x="18" y="93"/>
                </a:lnTo>
                <a:lnTo>
                  <a:pt x="24" y="105"/>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76" name="Freeform 173"/>
          <p:cNvSpPr>
            <a:spLocks/>
          </p:cNvSpPr>
          <p:nvPr/>
        </p:nvSpPr>
        <p:spPr bwMode="auto">
          <a:xfrm>
            <a:off x="7653338" y="5281613"/>
            <a:ext cx="227012" cy="222250"/>
          </a:xfrm>
          <a:custGeom>
            <a:avLst/>
            <a:gdLst>
              <a:gd name="T0" fmla="*/ 18 w 143"/>
              <a:gd name="T1" fmla="*/ 105 h 140"/>
              <a:gd name="T2" fmla="*/ 18 w 143"/>
              <a:gd name="T3" fmla="*/ 117 h 140"/>
              <a:gd name="T4" fmla="*/ 24 w 143"/>
              <a:gd name="T5" fmla="*/ 117 h 140"/>
              <a:gd name="T6" fmla="*/ 42 w 143"/>
              <a:gd name="T7" fmla="*/ 122 h 140"/>
              <a:gd name="T8" fmla="*/ 42 w 143"/>
              <a:gd name="T9" fmla="*/ 134 h 140"/>
              <a:gd name="T10" fmla="*/ 54 w 143"/>
              <a:gd name="T11" fmla="*/ 134 h 140"/>
              <a:gd name="T12" fmla="*/ 72 w 143"/>
              <a:gd name="T13" fmla="*/ 128 h 140"/>
              <a:gd name="T14" fmla="*/ 72 w 143"/>
              <a:gd name="T15" fmla="*/ 140 h 140"/>
              <a:gd name="T16" fmla="*/ 84 w 143"/>
              <a:gd name="T17" fmla="*/ 140 h 140"/>
              <a:gd name="T18" fmla="*/ 90 w 143"/>
              <a:gd name="T19" fmla="*/ 134 h 140"/>
              <a:gd name="T20" fmla="*/ 102 w 143"/>
              <a:gd name="T21" fmla="*/ 122 h 140"/>
              <a:gd name="T22" fmla="*/ 108 w 143"/>
              <a:gd name="T23" fmla="*/ 128 h 140"/>
              <a:gd name="T24" fmla="*/ 114 w 143"/>
              <a:gd name="T25" fmla="*/ 122 h 140"/>
              <a:gd name="T26" fmla="*/ 120 w 143"/>
              <a:gd name="T27" fmla="*/ 105 h 140"/>
              <a:gd name="T28" fmla="*/ 131 w 143"/>
              <a:gd name="T29" fmla="*/ 105 h 140"/>
              <a:gd name="T30" fmla="*/ 137 w 143"/>
              <a:gd name="T31" fmla="*/ 93 h 140"/>
              <a:gd name="T32" fmla="*/ 126 w 143"/>
              <a:gd name="T33" fmla="*/ 88 h 140"/>
              <a:gd name="T34" fmla="*/ 137 w 143"/>
              <a:gd name="T35" fmla="*/ 76 h 140"/>
              <a:gd name="T36" fmla="*/ 143 w 143"/>
              <a:gd name="T37" fmla="*/ 70 h 140"/>
              <a:gd name="T38" fmla="*/ 137 w 143"/>
              <a:gd name="T39" fmla="*/ 64 h 140"/>
              <a:gd name="T40" fmla="*/ 126 w 143"/>
              <a:gd name="T41" fmla="*/ 47 h 140"/>
              <a:gd name="T42" fmla="*/ 137 w 143"/>
              <a:gd name="T43" fmla="*/ 41 h 140"/>
              <a:gd name="T44" fmla="*/ 131 w 143"/>
              <a:gd name="T45" fmla="*/ 35 h 140"/>
              <a:gd name="T46" fmla="*/ 120 w 143"/>
              <a:gd name="T47" fmla="*/ 35 h 140"/>
              <a:gd name="T48" fmla="*/ 114 w 143"/>
              <a:gd name="T49" fmla="*/ 24 h 140"/>
              <a:gd name="T50" fmla="*/ 114 w 143"/>
              <a:gd name="T51" fmla="*/ 12 h 140"/>
              <a:gd name="T52" fmla="*/ 102 w 143"/>
              <a:gd name="T53" fmla="*/ 12 h 140"/>
              <a:gd name="T54" fmla="*/ 84 w 143"/>
              <a:gd name="T55" fmla="*/ 12 h 140"/>
              <a:gd name="T56" fmla="*/ 84 w 143"/>
              <a:gd name="T57" fmla="*/ 0 h 140"/>
              <a:gd name="T58" fmla="*/ 72 w 143"/>
              <a:gd name="T59" fmla="*/ 0 h 140"/>
              <a:gd name="T60" fmla="*/ 72 w 143"/>
              <a:gd name="T61" fmla="*/ 12 h 140"/>
              <a:gd name="T62" fmla="*/ 54 w 143"/>
              <a:gd name="T63" fmla="*/ 6 h 140"/>
              <a:gd name="T64" fmla="*/ 42 w 143"/>
              <a:gd name="T65" fmla="*/ 6 h 140"/>
              <a:gd name="T66" fmla="*/ 42 w 143"/>
              <a:gd name="T67" fmla="*/ 18 h 140"/>
              <a:gd name="T68" fmla="*/ 30 w 143"/>
              <a:gd name="T69" fmla="*/ 24 h 140"/>
              <a:gd name="T70" fmla="*/ 18 w 143"/>
              <a:gd name="T71" fmla="*/ 24 h 140"/>
              <a:gd name="T72" fmla="*/ 12 w 143"/>
              <a:gd name="T73" fmla="*/ 30 h 140"/>
              <a:gd name="T74" fmla="*/ 18 w 143"/>
              <a:gd name="T75" fmla="*/ 41 h 140"/>
              <a:gd name="T76" fmla="*/ 6 w 143"/>
              <a:gd name="T77" fmla="*/ 53 h 140"/>
              <a:gd name="T78" fmla="*/ 6 w 143"/>
              <a:gd name="T79" fmla="*/ 53 h 140"/>
              <a:gd name="T80" fmla="*/ 0 w 143"/>
              <a:gd name="T81" fmla="*/ 59 h 140"/>
              <a:gd name="T82" fmla="*/ 6 w 143"/>
              <a:gd name="T83" fmla="*/ 64 h 140"/>
              <a:gd name="T84" fmla="*/ 12 w 143"/>
              <a:gd name="T85" fmla="*/ 76 h 140"/>
              <a:gd name="T86" fmla="*/ 0 w 143"/>
              <a:gd name="T87" fmla="*/ 82 h 140"/>
              <a:gd name="T88" fmla="*/ 6 w 143"/>
              <a:gd name="T89" fmla="*/ 93 h 140"/>
              <a:gd name="T90" fmla="*/ 24 w 143"/>
              <a:gd name="T91" fmla="*/ 105 h 1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3"/>
              <a:gd name="T139" fmla="*/ 0 h 140"/>
              <a:gd name="T140" fmla="*/ 143 w 143"/>
              <a:gd name="T141" fmla="*/ 140 h 14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3" h="140">
                <a:moveTo>
                  <a:pt x="24" y="105"/>
                </a:moveTo>
                <a:lnTo>
                  <a:pt x="18" y="105"/>
                </a:lnTo>
                <a:lnTo>
                  <a:pt x="18" y="111"/>
                </a:lnTo>
                <a:lnTo>
                  <a:pt x="18" y="117"/>
                </a:lnTo>
                <a:lnTo>
                  <a:pt x="24" y="122"/>
                </a:lnTo>
                <a:lnTo>
                  <a:pt x="24" y="117"/>
                </a:lnTo>
                <a:lnTo>
                  <a:pt x="30" y="117"/>
                </a:lnTo>
                <a:lnTo>
                  <a:pt x="42" y="122"/>
                </a:lnTo>
                <a:lnTo>
                  <a:pt x="42" y="128"/>
                </a:lnTo>
                <a:lnTo>
                  <a:pt x="42" y="134"/>
                </a:lnTo>
                <a:lnTo>
                  <a:pt x="48" y="134"/>
                </a:lnTo>
                <a:lnTo>
                  <a:pt x="54" y="134"/>
                </a:lnTo>
                <a:lnTo>
                  <a:pt x="60" y="128"/>
                </a:lnTo>
                <a:lnTo>
                  <a:pt x="72" y="128"/>
                </a:lnTo>
                <a:lnTo>
                  <a:pt x="72" y="134"/>
                </a:lnTo>
                <a:lnTo>
                  <a:pt x="72" y="140"/>
                </a:lnTo>
                <a:lnTo>
                  <a:pt x="78" y="140"/>
                </a:lnTo>
                <a:lnTo>
                  <a:pt x="84" y="140"/>
                </a:lnTo>
                <a:lnTo>
                  <a:pt x="84" y="134"/>
                </a:lnTo>
                <a:lnTo>
                  <a:pt x="90" y="134"/>
                </a:lnTo>
                <a:lnTo>
                  <a:pt x="84" y="128"/>
                </a:lnTo>
                <a:lnTo>
                  <a:pt x="102" y="122"/>
                </a:lnTo>
                <a:lnTo>
                  <a:pt x="102" y="128"/>
                </a:lnTo>
                <a:lnTo>
                  <a:pt x="108" y="128"/>
                </a:lnTo>
                <a:lnTo>
                  <a:pt x="114" y="128"/>
                </a:lnTo>
                <a:lnTo>
                  <a:pt x="114" y="122"/>
                </a:lnTo>
                <a:lnTo>
                  <a:pt x="114" y="111"/>
                </a:lnTo>
                <a:lnTo>
                  <a:pt x="120" y="105"/>
                </a:lnTo>
                <a:lnTo>
                  <a:pt x="126" y="105"/>
                </a:lnTo>
                <a:lnTo>
                  <a:pt x="131" y="105"/>
                </a:lnTo>
                <a:lnTo>
                  <a:pt x="137" y="99"/>
                </a:lnTo>
                <a:lnTo>
                  <a:pt x="137" y="93"/>
                </a:lnTo>
                <a:lnTo>
                  <a:pt x="131" y="93"/>
                </a:lnTo>
                <a:lnTo>
                  <a:pt x="126" y="88"/>
                </a:lnTo>
                <a:lnTo>
                  <a:pt x="131" y="76"/>
                </a:lnTo>
                <a:lnTo>
                  <a:pt x="137" y="76"/>
                </a:lnTo>
                <a:lnTo>
                  <a:pt x="143" y="76"/>
                </a:lnTo>
                <a:lnTo>
                  <a:pt x="143" y="70"/>
                </a:lnTo>
                <a:lnTo>
                  <a:pt x="143" y="64"/>
                </a:lnTo>
                <a:lnTo>
                  <a:pt x="137" y="64"/>
                </a:lnTo>
                <a:lnTo>
                  <a:pt x="131" y="64"/>
                </a:lnTo>
                <a:lnTo>
                  <a:pt x="126" y="47"/>
                </a:lnTo>
                <a:lnTo>
                  <a:pt x="131" y="47"/>
                </a:lnTo>
                <a:lnTo>
                  <a:pt x="137" y="41"/>
                </a:lnTo>
                <a:lnTo>
                  <a:pt x="131" y="41"/>
                </a:lnTo>
                <a:lnTo>
                  <a:pt x="131" y="35"/>
                </a:lnTo>
                <a:lnTo>
                  <a:pt x="126" y="35"/>
                </a:lnTo>
                <a:lnTo>
                  <a:pt x="120" y="35"/>
                </a:lnTo>
                <a:lnTo>
                  <a:pt x="108" y="30"/>
                </a:lnTo>
                <a:lnTo>
                  <a:pt x="114" y="24"/>
                </a:lnTo>
                <a:lnTo>
                  <a:pt x="114" y="18"/>
                </a:lnTo>
                <a:lnTo>
                  <a:pt x="114" y="12"/>
                </a:lnTo>
                <a:lnTo>
                  <a:pt x="108" y="12"/>
                </a:lnTo>
                <a:lnTo>
                  <a:pt x="102" y="12"/>
                </a:lnTo>
                <a:lnTo>
                  <a:pt x="96" y="18"/>
                </a:lnTo>
                <a:lnTo>
                  <a:pt x="84" y="12"/>
                </a:lnTo>
                <a:lnTo>
                  <a:pt x="84" y="6"/>
                </a:lnTo>
                <a:lnTo>
                  <a:pt x="84" y="0"/>
                </a:lnTo>
                <a:lnTo>
                  <a:pt x="78" y="0"/>
                </a:lnTo>
                <a:lnTo>
                  <a:pt x="72" y="0"/>
                </a:lnTo>
                <a:lnTo>
                  <a:pt x="72" y="6"/>
                </a:lnTo>
                <a:lnTo>
                  <a:pt x="72" y="12"/>
                </a:lnTo>
                <a:lnTo>
                  <a:pt x="54" y="12"/>
                </a:lnTo>
                <a:lnTo>
                  <a:pt x="54" y="6"/>
                </a:lnTo>
                <a:lnTo>
                  <a:pt x="48" y="6"/>
                </a:lnTo>
                <a:lnTo>
                  <a:pt x="42" y="6"/>
                </a:lnTo>
                <a:lnTo>
                  <a:pt x="42" y="12"/>
                </a:lnTo>
                <a:lnTo>
                  <a:pt x="42" y="18"/>
                </a:lnTo>
                <a:lnTo>
                  <a:pt x="30" y="30"/>
                </a:lnTo>
                <a:lnTo>
                  <a:pt x="30" y="24"/>
                </a:lnTo>
                <a:lnTo>
                  <a:pt x="24" y="24"/>
                </a:lnTo>
                <a:lnTo>
                  <a:pt x="18" y="24"/>
                </a:lnTo>
                <a:lnTo>
                  <a:pt x="18" y="30"/>
                </a:lnTo>
                <a:lnTo>
                  <a:pt x="12" y="30"/>
                </a:lnTo>
                <a:lnTo>
                  <a:pt x="18" y="35"/>
                </a:lnTo>
                <a:lnTo>
                  <a:pt x="18" y="41"/>
                </a:lnTo>
                <a:lnTo>
                  <a:pt x="12" y="53"/>
                </a:lnTo>
                <a:lnTo>
                  <a:pt x="6" y="53"/>
                </a:lnTo>
                <a:lnTo>
                  <a:pt x="6" y="47"/>
                </a:lnTo>
                <a:lnTo>
                  <a:pt x="6" y="53"/>
                </a:lnTo>
                <a:lnTo>
                  <a:pt x="0" y="53"/>
                </a:lnTo>
                <a:lnTo>
                  <a:pt x="0" y="59"/>
                </a:lnTo>
                <a:lnTo>
                  <a:pt x="0" y="64"/>
                </a:lnTo>
                <a:lnTo>
                  <a:pt x="6" y="64"/>
                </a:lnTo>
                <a:lnTo>
                  <a:pt x="12" y="64"/>
                </a:lnTo>
                <a:lnTo>
                  <a:pt x="12" y="76"/>
                </a:lnTo>
                <a:lnTo>
                  <a:pt x="6" y="82"/>
                </a:lnTo>
                <a:lnTo>
                  <a:pt x="0" y="82"/>
                </a:lnTo>
                <a:lnTo>
                  <a:pt x="0" y="88"/>
                </a:lnTo>
                <a:lnTo>
                  <a:pt x="6" y="93"/>
                </a:lnTo>
                <a:lnTo>
                  <a:pt x="18" y="93"/>
                </a:lnTo>
                <a:lnTo>
                  <a:pt x="24" y="10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77" name="Freeform 174"/>
          <p:cNvSpPr>
            <a:spLocks/>
          </p:cNvSpPr>
          <p:nvPr/>
        </p:nvSpPr>
        <p:spPr bwMode="auto">
          <a:xfrm>
            <a:off x="7947025" y="5264150"/>
            <a:ext cx="85725" cy="128588"/>
          </a:xfrm>
          <a:custGeom>
            <a:avLst/>
            <a:gdLst>
              <a:gd name="T0" fmla="*/ 36 w 54"/>
              <a:gd name="T1" fmla="*/ 0 h 81"/>
              <a:gd name="T2" fmla="*/ 42 w 54"/>
              <a:gd name="T3" fmla="*/ 6 h 81"/>
              <a:gd name="T4" fmla="*/ 48 w 54"/>
              <a:gd name="T5" fmla="*/ 6 h 81"/>
              <a:gd name="T6" fmla="*/ 48 w 54"/>
              <a:gd name="T7" fmla="*/ 11 h 81"/>
              <a:gd name="T8" fmla="*/ 48 w 54"/>
              <a:gd name="T9" fmla="*/ 17 h 81"/>
              <a:gd name="T10" fmla="*/ 54 w 54"/>
              <a:gd name="T11" fmla="*/ 17 h 81"/>
              <a:gd name="T12" fmla="*/ 54 w 54"/>
              <a:gd name="T13" fmla="*/ 23 h 81"/>
              <a:gd name="T14" fmla="*/ 54 w 54"/>
              <a:gd name="T15" fmla="*/ 29 h 81"/>
              <a:gd name="T16" fmla="*/ 54 w 54"/>
              <a:gd name="T17" fmla="*/ 35 h 81"/>
              <a:gd name="T18" fmla="*/ 54 w 54"/>
              <a:gd name="T19" fmla="*/ 41 h 81"/>
              <a:gd name="T20" fmla="*/ 54 w 54"/>
              <a:gd name="T21" fmla="*/ 46 h 81"/>
              <a:gd name="T22" fmla="*/ 54 w 54"/>
              <a:gd name="T23" fmla="*/ 52 h 81"/>
              <a:gd name="T24" fmla="*/ 48 w 54"/>
              <a:gd name="T25" fmla="*/ 58 h 81"/>
              <a:gd name="T26" fmla="*/ 48 w 54"/>
              <a:gd name="T27" fmla="*/ 64 h 81"/>
              <a:gd name="T28" fmla="*/ 42 w 54"/>
              <a:gd name="T29" fmla="*/ 64 h 81"/>
              <a:gd name="T30" fmla="*/ 42 w 54"/>
              <a:gd name="T31" fmla="*/ 70 h 81"/>
              <a:gd name="T32" fmla="*/ 36 w 54"/>
              <a:gd name="T33" fmla="*/ 75 h 81"/>
              <a:gd name="T34" fmla="*/ 30 w 54"/>
              <a:gd name="T35" fmla="*/ 75 h 81"/>
              <a:gd name="T36" fmla="*/ 30 w 54"/>
              <a:gd name="T37" fmla="*/ 81 h 81"/>
              <a:gd name="T38" fmla="*/ 24 w 54"/>
              <a:gd name="T39" fmla="*/ 81 h 81"/>
              <a:gd name="T40" fmla="*/ 18 w 54"/>
              <a:gd name="T41" fmla="*/ 81 h 81"/>
              <a:gd name="T42" fmla="*/ 12 w 54"/>
              <a:gd name="T43" fmla="*/ 75 h 81"/>
              <a:gd name="T44" fmla="*/ 6 w 54"/>
              <a:gd name="T45" fmla="*/ 75 h 81"/>
              <a:gd name="T46" fmla="*/ 6 w 54"/>
              <a:gd name="T47" fmla="*/ 70 h 81"/>
              <a:gd name="T48" fmla="*/ 0 w 54"/>
              <a:gd name="T49" fmla="*/ 70 h 81"/>
              <a:gd name="T50" fmla="*/ 0 w 54"/>
              <a:gd name="T51" fmla="*/ 64 h 81"/>
              <a:gd name="T52" fmla="*/ 0 w 54"/>
              <a:gd name="T53" fmla="*/ 58 h 81"/>
              <a:gd name="T54" fmla="*/ 0 w 54"/>
              <a:gd name="T55" fmla="*/ 52 h 81"/>
              <a:gd name="T56" fmla="*/ 0 w 54"/>
              <a:gd name="T57" fmla="*/ 46 h 81"/>
              <a:gd name="T58" fmla="*/ 0 w 54"/>
              <a:gd name="T59" fmla="*/ 41 h 81"/>
              <a:gd name="T60" fmla="*/ 0 w 54"/>
              <a:gd name="T61" fmla="*/ 35 h 81"/>
              <a:gd name="T62" fmla="*/ 0 w 54"/>
              <a:gd name="T63" fmla="*/ 29 h 81"/>
              <a:gd name="T64" fmla="*/ 0 w 54"/>
              <a:gd name="T65" fmla="*/ 23 h 81"/>
              <a:gd name="T66" fmla="*/ 6 w 54"/>
              <a:gd name="T67" fmla="*/ 17 h 81"/>
              <a:gd name="T68" fmla="*/ 6 w 54"/>
              <a:gd name="T69" fmla="*/ 11 h 81"/>
              <a:gd name="T70" fmla="*/ 12 w 54"/>
              <a:gd name="T71" fmla="*/ 11 h 81"/>
              <a:gd name="T72" fmla="*/ 12 w 54"/>
              <a:gd name="T73" fmla="*/ 6 h 81"/>
              <a:gd name="T74" fmla="*/ 18 w 54"/>
              <a:gd name="T75" fmla="*/ 6 h 81"/>
              <a:gd name="T76" fmla="*/ 18 w 54"/>
              <a:gd name="T77" fmla="*/ 0 h 81"/>
              <a:gd name="T78" fmla="*/ 24 w 54"/>
              <a:gd name="T79" fmla="*/ 0 h 81"/>
              <a:gd name="T80" fmla="*/ 30 w 54"/>
              <a:gd name="T81" fmla="*/ 0 h 81"/>
              <a:gd name="T82" fmla="*/ 36 w 54"/>
              <a:gd name="T83" fmla="*/ 0 h 8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4"/>
              <a:gd name="T127" fmla="*/ 0 h 81"/>
              <a:gd name="T128" fmla="*/ 54 w 54"/>
              <a:gd name="T129" fmla="*/ 81 h 8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4" h="81">
                <a:moveTo>
                  <a:pt x="36" y="0"/>
                </a:moveTo>
                <a:lnTo>
                  <a:pt x="42" y="6"/>
                </a:lnTo>
                <a:lnTo>
                  <a:pt x="48" y="6"/>
                </a:lnTo>
                <a:lnTo>
                  <a:pt x="48" y="11"/>
                </a:lnTo>
                <a:lnTo>
                  <a:pt x="48" y="17"/>
                </a:lnTo>
                <a:lnTo>
                  <a:pt x="54" y="17"/>
                </a:lnTo>
                <a:lnTo>
                  <a:pt x="54" y="23"/>
                </a:lnTo>
                <a:lnTo>
                  <a:pt x="54" y="29"/>
                </a:lnTo>
                <a:lnTo>
                  <a:pt x="54" y="35"/>
                </a:lnTo>
                <a:lnTo>
                  <a:pt x="54" y="41"/>
                </a:lnTo>
                <a:lnTo>
                  <a:pt x="54" y="46"/>
                </a:lnTo>
                <a:lnTo>
                  <a:pt x="54" y="52"/>
                </a:lnTo>
                <a:lnTo>
                  <a:pt x="48" y="58"/>
                </a:lnTo>
                <a:lnTo>
                  <a:pt x="48" y="64"/>
                </a:lnTo>
                <a:lnTo>
                  <a:pt x="42" y="64"/>
                </a:lnTo>
                <a:lnTo>
                  <a:pt x="42" y="70"/>
                </a:lnTo>
                <a:lnTo>
                  <a:pt x="36" y="75"/>
                </a:lnTo>
                <a:lnTo>
                  <a:pt x="30" y="75"/>
                </a:lnTo>
                <a:lnTo>
                  <a:pt x="30" y="81"/>
                </a:lnTo>
                <a:lnTo>
                  <a:pt x="24" y="81"/>
                </a:lnTo>
                <a:lnTo>
                  <a:pt x="18" y="81"/>
                </a:lnTo>
                <a:lnTo>
                  <a:pt x="12" y="75"/>
                </a:lnTo>
                <a:lnTo>
                  <a:pt x="6" y="75"/>
                </a:lnTo>
                <a:lnTo>
                  <a:pt x="6" y="70"/>
                </a:lnTo>
                <a:lnTo>
                  <a:pt x="0" y="70"/>
                </a:lnTo>
                <a:lnTo>
                  <a:pt x="0" y="64"/>
                </a:lnTo>
                <a:lnTo>
                  <a:pt x="0" y="58"/>
                </a:lnTo>
                <a:lnTo>
                  <a:pt x="0" y="52"/>
                </a:lnTo>
                <a:lnTo>
                  <a:pt x="0" y="46"/>
                </a:lnTo>
                <a:lnTo>
                  <a:pt x="0" y="41"/>
                </a:lnTo>
                <a:lnTo>
                  <a:pt x="0" y="35"/>
                </a:lnTo>
                <a:lnTo>
                  <a:pt x="0" y="29"/>
                </a:lnTo>
                <a:lnTo>
                  <a:pt x="0" y="23"/>
                </a:lnTo>
                <a:lnTo>
                  <a:pt x="6" y="17"/>
                </a:lnTo>
                <a:lnTo>
                  <a:pt x="6" y="11"/>
                </a:lnTo>
                <a:lnTo>
                  <a:pt x="12" y="11"/>
                </a:lnTo>
                <a:lnTo>
                  <a:pt x="12" y="6"/>
                </a:lnTo>
                <a:lnTo>
                  <a:pt x="18" y="6"/>
                </a:lnTo>
                <a:lnTo>
                  <a:pt x="18" y="0"/>
                </a:lnTo>
                <a:lnTo>
                  <a:pt x="24" y="0"/>
                </a:lnTo>
                <a:lnTo>
                  <a:pt x="30" y="0"/>
                </a:lnTo>
                <a:lnTo>
                  <a:pt x="36" y="0"/>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78" name="Freeform 175"/>
          <p:cNvSpPr>
            <a:spLocks/>
          </p:cNvSpPr>
          <p:nvPr/>
        </p:nvSpPr>
        <p:spPr bwMode="auto">
          <a:xfrm>
            <a:off x="7947025" y="5264150"/>
            <a:ext cx="85725" cy="128588"/>
          </a:xfrm>
          <a:custGeom>
            <a:avLst/>
            <a:gdLst>
              <a:gd name="T0" fmla="*/ 36 w 54"/>
              <a:gd name="T1" fmla="*/ 0 h 81"/>
              <a:gd name="T2" fmla="*/ 42 w 54"/>
              <a:gd name="T3" fmla="*/ 6 h 81"/>
              <a:gd name="T4" fmla="*/ 48 w 54"/>
              <a:gd name="T5" fmla="*/ 17 h 81"/>
              <a:gd name="T6" fmla="*/ 54 w 54"/>
              <a:gd name="T7" fmla="*/ 29 h 81"/>
              <a:gd name="T8" fmla="*/ 54 w 54"/>
              <a:gd name="T9" fmla="*/ 46 h 81"/>
              <a:gd name="T10" fmla="*/ 48 w 54"/>
              <a:gd name="T11" fmla="*/ 58 h 81"/>
              <a:gd name="T12" fmla="*/ 42 w 54"/>
              <a:gd name="T13" fmla="*/ 70 h 81"/>
              <a:gd name="T14" fmla="*/ 30 w 54"/>
              <a:gd name="T15" fmla="*/ 75 h 81"/>
              <a:gd name="T16" fmla="*/ 18 w 54"/>
              <a:gd name="T17" fmla="*/ 81 h 81"/>
              <a:gd name="T18" fmla="*/ 6 w 54"/>
              <a:gd name="T19" fmla="*/ 75 h 81"/>
              <a:gd name="T20" fmla="*/ 0 w 54"/>
              <a:gd name="T21" fmla="*/ 64 h 81"/>
              <a:gd name="T22" fmla="*/ 0 w 54"/>
              <a:gd name="T23" fmla="*/ 52 h 81"/>
              <a:gd name="T24" fmla="*/ 0 w 54"/>
              <a:gd name="T25" fmla="*/ 35 h 81"/>
              <a:gd name="T26" fmla="*/ 6 w 54"/>
              <a:gd name="T27" fmla="*/ 17 h 81"/>
              <a:gd name="T28" fmla="*/ 12 w 54"/>
              <a:gd name="T29" fmla="*/ 11 h 81"/>
              <a:gd name="T30" fmla="*/ 24 w 54"/>
              <a:gd name="T31" fmla="*/ 0 h 81"/>
              <a:gd name="T32" fmla="*/ 36 w 54"/>
              <a:gd name="T33" fmla="*/ 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81"/>
              <a:gd name="T53" fmla="*/ 54 w 54"/>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81">
                <a:moveTo>
                  <a:pt x="36" y="0"/>
                </a:moveTo>
                <a:lnTo>
                  <a:pt x="42" y="6"/>
                </a:lnTo>
                <a:lnTo>
                  <a:pt x="48" y="17"/>
                </a:lnTo>
                <a:lnTo>
                  <a:pt x="54" y="29"/>
                </a:lnTo>
                <a:lnTo>
                  <a:pt x="54" y="46"/>
                </a:lnTo>
                <a:lnTo>
                  <a:pt x="48" y="58"/>
                </a:lnTo>
                <a:lnTo>
                  <a:pt x="42" y="70"/>
                </a:lnTo>
                <a:lnTo>
                  <a:pt x="30" y="75"/>
                </a:lnTo>
                <a:lnTo>
                  <a:pt x="18" y="81"/>
                </a:lnTo>
                <a:lnTo>
                  <a:pt x="6" y="75"/>
                </a:lnTo>
                <a:lnTo>
                  <a:pt x="0" y="64"/>
                </a:lnTo>
                <a:lnTo>
                  <a:pt x="0" y="52"/>
                </a:lnTo>
                <a:lnTo>
                  <a:pt x="0" y="35"/>
                </a:lnTo>
                <a:lnTo>
                  <a:pt x="6" y="17"/>
                </a:lnTo>
                <a:lnTo>
                  <a:pt x="12" y="11"/>
                </a:lnTo>
                <a:lnTo>
                  <a:pt x="24" y="0"/>
                </a:lnTo>
                <a:lnTo>
                  <a:pt x="36"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79" name="Freeform 176"/>
          <p:cNvSpPr>
            <a:spLocks/>
          </p:cNvSpPr>
          <p:nvPr/>
        </p:nvSpPr>
        <p:spPr bwMode="auto">
          <a:xfrm>
            <a:off x="7966075" y="5291138"/>
            <a:ext cx="38100" cy="65087"/>
          </a:xfrm>
          <a:custGeom>
            <a:avLst/>
            <a:gdLst>
              <a:gd name="T0" fmla="*/ 18 w 24"/>
              <a:gd name="T1" fmla="*/ 0 h 41"/>
              <a:gd name="T2" fmla="*/ 24 w 24"/>
              <a:gd name="T3" fmla="*/ 0 h 41"/>
              <a:gd name="T4" fmla="*/ 24 w 24"/>
              <a:gd name="T5" fmla="*/ 6 h 41"/>
              <a:gd name="T6" fmla="*/ 24 w 24"/>
              <a:gd name="T7" fmla="*/ 12 h 41"/>
              <a:gd name="T8" fmla="*/ 24 w 24"/>
              <a:gd name="T9" fmla="*/ 18 h 41"/>
              <a:gd name="T10" fmla="*/ 24 w 24"/>
              <a:gd name="T11" fmla="*/ 24 h 41"/>
              <a:gd name="T12" fmla="*/ 24 w 24"/>
              <a:gd name="T13" fmla="*/ 29 h 41"/>
              <a:gd name="T14" fmla="*/ 18 w 24"/>
              <a:gd name="T15" fmla="*/ 29 h 41"/>
              <a:gd name="T16" fmla="*/ 18 w 24"/>
              <a:gd name="T17" fmla="*/ 35 h 41"/>
              <a:gd name="T18" fmla="*/ 18 w 24"/>
              <a:gd name="T19" fmla="*/ 41 h 41"/>
              <a:gd name="T20" fmla="*/ 12 w 24"/>
              <a:gd name="T21" fmla="*/ 41 h 41"/>
              <a:gd name="T22" fmla="*/ 6 w 24"/>
              <a:gd name="T23" fmla="*/ 41 h 41"/>
              <a:gd name="T24" fmla="*/ 6 w 24"/>
              <a:gd name="T25" fmla="*/ 35 h 41"/>
              <a:gd name="T26" fmla="*/ 0 w 24"/>
              <a:gd name="T27" fmla="*/ 35 h 41"/>
              <a:gd name="T28" fmla="*/ 0 w 24"/>
              <a:gd name="T29" fmla="*/ 29 h 41"/>
              <a:gd name="T30" fmla="*/ 0 w 24"/>
              <a:gd name="T31" fmla="*/ 24 h 41"/>
              <a:gd name="T32" fmla="*/ 0 w 24"/>
              <a:gd name="T33" fmla="*/ 18 h 41"/>
              <a:gd name="T34" fmla="*/ 0 w 24"/>
              <a:gd name="T35" fmla="*/ 12 h 41"/>
              <a:gd name="T36" fmla="*/ 6 w 24"/>
              <a:gd name="T37" fmla="*/ 12 h 41"/>
              <a:gd name="T38" fmla="*/ 6 w 24"/>
              <a:gd name="T39" fmla="*/ 6 h 41"/>
              <a:gd name="T40" fmla="*/ 6 w 24"/>
              <a:gd name="T41" fmla="*/ 0 h 41"/>
              <a:gd name="T42" fmla="*/ 12 w 24"/>
              <a:gd name="T43" fmla="*/ 0 h 41"/>
              <a:gd name="T44" fmla="*/ 18 w 24"/>
              <a:gd name="T45" fmla="*/ 0 h 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
              <a:gd name="T70" fmla="*/ 0 h 41"/>
              <a:gd name="T71" fmla="*/ 24 w 24"/>
              <a:gd name="T72" fmla="*/ 41 h 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 h="41">
                <a:moveTo>
                  <a:pt x="18" y="0"/>
                </a:moveTo>
                <a:lnTo>
                  <a:pt x="24" y="0"/>
                </a:lnTo>
                <a:lnTo>
                  <a:pt x="24" y="6"/>
                </a:lnTo>
                <a:lnTo>
                  <a:pt x="24" y="12"/>
                </a:lnTo>
                <a:lnTo>
                  <a:pt x="24" y="18"/>
                </a:lnTo>
                <a:lnTo>
                  <a:pt x="24" y="24"/>
                </a:lnTo>
                <a:lnTo>
                  <a:pt x="24" y="29"/>
                </a:lnTo>
                <a:lnTo>
                  <a:pt x="18" y="29"/>
                </a:lnTo>
                <a:lnTo>
                  <a:pt x="18" y="35"/>
                </a:lnTo>
                <a:lnTo>
                  <a:pt x="18" y="41"/>
                </a:lnTo>
                <a:lnTo>
                  <a:pt x="12" y="41"/>
                </a:lnTo>
                <a:lnTo>
                  <a:pt x="6" y="41"/>
                </a:lnTo>
                <a:lnTo>
                  <a:pt x="6" y="35"/>
                </a:lnTo>
                <a:lnTo>
                  <a:pt x="0" y="35"/>
                </a:lnTo>
                <a:lnTo>
                  <a:pt x="0" y="29"/>
                </a:lnTo>
                <a:lnTo>
                  <a:pt x="0" y="24"/>
                </a:lnTo>
                <a:lnTo>
                  <a:pt x="0" y="18"/>
                </a:lnTo>
                <a:lnTo>
                  <a:pt x="0" y="12"/>
                </a:lnTo>
                <a:lnTo>
                  <a:pt x="6" y="12"/>
                </a:lnTo>
                <a:lnTo>
                  <a:pt x="6" y="6"/>
                </a:lnTo>
                <a:lnTo>
                  <a:pt x="6" y="0"/>
                </a:lnTo>
                <a:lnTo>
                  <a:pt x="12" y="0"/>
                </a:lnTo>
                <a:lnTo>
                  <a:pt x="18"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80" name="Freeform 177"/>
          <p:cNvSpPr>
            <a:spLocks/>
          </p:cNvSpPr>
          <p:nvPr/>
        </p:nvSpPr>
        <p:spPr bwMode="auto">
          <a:xfrm>
            <a:off x="7966075" y="5291138"/>
            <a:ext cx="38100" cy="65087"/>
          </a:xfrm>
          <a:custGeom>
            <a:avLst/>
            <a:gdLst>
              <a:gd name="T0" fmla="*/ 18 w 24"/>
              <a:gd name="T1" fmla="*/ 0 h 41"/>
              <a:gd name="T2" fmla="*/ 24 w 24"/>
              <a:gd name="T3" fmla="*/ 6 h 41"/>
              <a:gd name="T4" fmla="*/ 24 w 24"/>
              <a:gd name="T5" fmla="*/ 12 h 41"/>
              <a:gd name="T6" fmla="*/ 24 w 24"/>
              <a:gd name="T7" fmla="*/ 24 h 41"/>
              <a:gd name="T8" fmla="*/ 18 w 24"/>
              <a:gd name="T9" fmla="*/ 29 h 41"/>
              <a:gd name="T10" fmla="*/ 18 w 24"/>
              <a:gd name="T11" fmla="*/ 35 h 41"/>
              <a:gd name="T12" fmla="*/ 12 w 24"/>
              <a:gd name="T13" fmla="*/ 41 h 41"/>
              <a:gd name="T14" fmla="*/ 6 w 24"/>
              <a:gd name="T15" fmla="*/ 41 h 41"/>
              <a:gd name="T16" fmla="*/ 0 w 24"/>
              <a:gd name="T17" fmla="*/ 35 h 41"/>
              <a:gd name="T18" fmla="*/ 0 w 24"/>
              <a:gd name="T19" fmla="*/ 29 h 41"/>
              <a:gd name="T20" fmla="*/ 0 w 24"/>
              <a:gd name="T21" fmla="*/ 18 h 41"/>
              <a:gd name="T22" fmla="*/ 6 w 24"/>
              <a:gd name="T23" fmla="*/ 12 h 41"/>
              <a:gd name="T24" fmla="*/ 6 w 24"/>
              <a:gd name="T25" fmla="*/ 6 h 41"/>
              <a:gd name="T26" fmla="*/ 12 w 24"/>
              <a:gd name="T27" fmla="*/ 0 h 41"/>
              <a:gd name="T28" fmla="*/ 18 w 24"/>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
              <a:gd name="T46" fmla="*/ 0 h 41"/>
              <a:gd name="T47" fmla="*/ 24 w 24"/>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 h="41">
                <a:moveTo>
                  <a:pt x="18" y="0"/>
                </a:moveTo>
                <a:lnTo>
                  <a:pt x="24" y="6"/>
                </a:lnTo>
                <a:lnTo>
                  <a:pt x="24" y="12"/>
                </a:lnTo>
                <a:lnTo>
                  <a:pt x="24" y="24"/>
                </a:lnTo>
                <a:lnTo>
                  <a:pt x="18" y="29"/>
                </a:lnTo>
                <a:lnTo>
                  <a:pt x="18" y="35"/>
                </a:lnTo>
                <a:lnTo>
                  <a:pt x="12" y="41"/>
                </a:lnTo>
                <a:lnTo>
                  <a:pt x="6" y="41"/>
                </a:lnTo>
                <a:lnTo>
                  <a:pt x="0" y="35"/>
                </a:lnTo>
                <a:lnTo>
                  <a:pt x="0" y="29"/>
                </a:lnTo>
                <a:lnTo>
                  <a:pt x="0" y="18"/>
                </a:lnTo>
                <a:lnTo>
                  <a:pt x="6" y="12"/>
                </a:lnTo>
                <a:lnTo>
                  <a:pt x="6" y="6"/>
                </a:lnTo>
                <a:lnTo>
                  <a:pt x="12" y="0"/>
                </a:lnTo>
                <a:lnTo>
                  <a:pt x="1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81" name="Freeform 178"/>
          <p:cNvSpPr>
            <a:spLocks/>
          </p:cNvSpPr>
          <p:nvPr/>
        </p:nvSpPr>
        <p:spPr bwMode="auto">
          <a:xfrm>
            <a:off x="8051800" y="5227638"/>
            <a:ext cx="95250" cy="155575"/>
          </a:xfrm>
          <a:custGeom>
            <a:avLst/>
            <a:gdLst>
              <a:gd name="T0" fmla="*/ 12 w 60"/>
              <a:gd name="T1" fmla="*/ 17 h 98"/>
              <a:gd name="T2" fmla="*/ 0 w 60"/>
              <a:gd name="T3" fmla="*/ 87 h 98"/>
              <a:gd name="T4" fmla="*/ 12 w 60"/>
              <a:gd name="T5" fmla="*/ 93 h 98"/>
              <a:gd name="T6" fmla="*/ 12 w 60"/>
              <a:gd name="T7" fmla="*/ 87 h 98"/>
              <a:gd name="T8" fmla="*/ 18 w 60"/>
              <a:gd name="T9" fmla="*/ 93 h 98"/>
              <a:gd name="T10" fmla="*/ 18 w 60"/>
              <a:gd name="T11" fmla="*/ 64 h 98"/>
              <a:gd name="T12" fmla="*/ 36 w 60"/>
              <a:gd name="T13" fmla="*/ 98 h 98"/>
              <a:gd name="T14" fmla="*/ 48 w 60"/>
              <a:gd name="T15" fmla="*/ 98 h 98"/>
              <a:gd name="T16" fmla="*/ 48 w 60"/>
              <a:gd name="T17" fmla="*/ 81 h 98"/>
              <a:gd name="T18" fmla="*/ 24 w 60"/>
              <a:gd name="T19" fmla="*/ 46 h 98"/>
              <a:gd name="T20" fmla="*/ 60 w 60"/>
              <a:gd name="T21" fmla="*/ 29 h 98"/>
              <a:gd name="T22" fmla="*/ 54 w 60"/>
              <a:gd name="T23" fmla="*/ 11 h 98"/>
              <a:gd name="T24" fmla="*/ 24 w 60"/>
              <a:gd name="T25" fmla="*/ 29 h 98"/>
              <a:gd name="T26" fmla="*/ 30 w 60"/>
              <a:gd name="T27" fmla="*/ 11 h 98"/>
              <a:gd name="T28" fmla="*/ 18 w 60"/>
              <a:gd name="T29" fmla="*/ 0 h 98"/>
              <a:gd name="T30" fmla="*/ 12 w 60"/>
              <a:gd name="T31" fmla="*/ 17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98"/>
              <a:gd name="T50" fmla="*/ 60 w 60"/>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98">
                <a:moveTo>
                  <a:pt x="12" y="17"/>
                </a:moveTo>
                <a:lnTo>
                  <a:pt x="0" y="87"/>
                </a:lnTo>
                <a:lnTo>
                  <a:pt x="12" y="93"/>
                </a:lnTo>
                <a:lnTo>
                  <a:pt x="12" y="87"/>
                </a:lnTo>
                <a:lnTo>
                  <a:pt x="18" y="93"/>
                </a:lnTo>
                <a:lnTo>
                  <a:pt x="18" y="64"/>
                </a:lnTo>
                <a:lnTo>
                  <a:pt x="36" y="98"/>
                </a:lnTo>
                <a:lnTo>
                  <a:pt x="48" y="98"/>
                </a:lnTo>
                <a:lnTo>
                  <a:pt x="48" y="81"/>
                </a:lnTo>
                <a:lnTo>
                  <a:pt x="24" y="46"/>
                </a:lnTo>
                <a:lnTo>
                  <a:pt x="60" y="29"/>
                </a:lnTo>
                <a:lnTo>
                  <a:pt x="54" y="11"/>
                </a:lnTo>
                <a:lnTo>
                  <a:pt x="24" y="29"/>
                </a:lnTo>
                <a:lnTo>
                  <a:pt x="30" y="11"/>
                </a:lnTo>
                <a:lnTo>
                  <a:pt x="18" y="0"/>
                </a:lnTo>
                <a:lnTo>
                  <a:pt x="12" y="17"/>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82" name="Freeform 179"/>
          <p:cNvSpPr>
            <a:spLocks/>
          </p:cNvSpPr>
          <p:nvPr/>
        </p:nvSpPr>
        <p:spPr bwMode="auto">
          <a:xfrm>
            <a:off x="8051800" y="5227638"/>
            <a:ext cx="95250" cy="155575"/>
          </a:xfrm>
          <a:custGeom>
            <a:avLst/>
            <a:gdLst>
              <a:gd name="T0" fmla="*/ 12 w 60"/>
              <a:gd name="T1" fmla="*/ 17 h 98"/>
              <a:gd name="T2" fmla="*/ 0 w 60"/>
              <a:gd name="T3" fmla="*/ 87 h 98"/>
              <a:gd name="T4" fmla="*/ 12 w 60"/>
              <a:gd name="T5" fmla="*/ 93 h 98"/>
              <a:gd name="T6" fmla="*/ 12 w 60"/>
              <a:gd name="T7" fmla="*/ 87 h 98"/>
              <a:gd name="T8" fmla="*/ 18 w 60"/>
              <a:gd name="T9" fmla="*/ 93 h 98"/>
              <a:gd name="T10" fmla="*/ 18 w 60"/>
              <a:gd name="T11" fmla="*/ 64 h 98"/>
              <a:gd name="T12" fmla="*/ 36 w 60"/>
              <a:gd name="T13" fmla="*/ 98 h 98"/>
              <a:gd name="T14" fmla="*/ 48 w 60"/>
              <a:gd name="T15" fmla="*/ 98 h 98"/>
              <a:gd name="T16" fmla="*/ 48 w 60"/>
              <a:gd name="T17" fmla="*/ 81 h 98"/>
              <a:gd name="T18" fmla="*/ 24 w 60"/>
              <a:gd name="T19" fmla="*/ 46 h 98"/>
              <a:gd name="T20" fmla="*/ 60 w 60"/>
              <a:gd name="T21" fmla="*/ 29 h 98"/>
              <a:gd name="T22" fmla="*/ 54 w 60"/>
              <a:gd name="T23" fmla="*/ 11 h 98"/>
              <a:gd name="T24" fmla="*/ 24 w 60"/>
              <a:gd name="T25" fmla="*/ 29 h 98"/>
              <a:gd name="T26" fmla="*/ 30 w 60"/>
              <a:gd name="T27" fmla="*/ 11 h 98"/>
              <a:gd name="T28" fmla="*/ 18 w 60"/>
              <a:gd name="T29" fmla="*/ 0 h 98"/>
              <a:gd name="T30" fmla="*/ 12 w 60"/>
              <a:gd name="T31" fmla="*/ 17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98"/>
              <a:gd name="T50" fmla="*/ 60 w 60"/>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98">
                <a:moveTo>
                  <a:pt x="12" y="17"/>
                </a:moveTo>
                <a:lnTo>
                  <a:pt x="0" y="87"/>
                </a:lnTo>
                <a:lnTo>
                  <a:pt x="12" y="93"/>
                </a:lnTo>
                <a:lnTo>
                  <a:pt x="12" y="87"/>
                </a:lnTo>
                <a:lnTo>
                  <a:pt x="18" y="93"/>
                </a:lnTo>
                <a:lnTo>
                  <a:pt x="18" y="64"/>
                </a:lnTo>
                <a:lnTo>
                  <a:pt x="36" y="98"/>
                </a:lnTo>
                <a:lnTo>
                  <a:pt x="48" y="98"/>
                </a:lnTo>
                <a:lnTo>
                  <a:pt x="48" y="81"/>
                </a:lnTo>
                <a:lnTo>
                  <a:pt x="24" y="46"/>
                </a:lnTo>
                <a:lnTo>
                  <a:pt x="60" y="29"/>
                </a:lnTo>
                <a:lnTo>
                  <a:pt x="54" y="11"/>
                </a:lnTo>
                <a:lnTo>
                  <a:pt x="24" y="29"/>
                </a:lnTo>
                <a:lnTo>
                  <a:pt x="30" y="11"/>
                </a:lnTo>
                <a:lnTo>
                  <a:pt x="18" y="0"/>
                </a:lnTo>
                <a:lnTo>
                  <a:pt x="12" y="1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83" name="Freeform 180"/>
          <p:cNvSpPr>
            <a:spLocks/>
          </p:cNvSpPr>
          <p:nvPr/>
        </p:nvSpPr>
        <p:spPr bwMode="auto">
          <a:xfrm>
            <a:off x="7937500" y="5135563"/>
            <a:ext cx="142875" cy="138112"/>
          </a:xfrm>
          <a:custGeom>
            <a:avLst/>
            <a:gdLst>
              <a:gd name="T0" fmla="*/ 18 w 90"/>
              <a:gd name="T1" fmla="*/ 5 h 87"/>
              <a:gd name="T2" fmla="*/ 36 w 90"/>
              <a:gd name="T3" fmla="*/ 40 h 87"/>
              <a:gd name="T4" fmla="*/ 0 w 90"/>
              <a:gd name="T5" fmla="*/ 63 h 87"/>
              <a:gd name="T6" fmla="*/ 0 w 90"/>
              <a:gd name="T7" fmla="*/ 81 h 87"/>
              <a:gd name="T8" fmla="*/ 6 w 90"/>
              <a:gd name="T9" fmla="*/ 81 h 87"/>
              <a:gd name="T10" fmla="*/ 12 w 90"/>
              <a:gd name="T11" fmla="*/ 87 h 87"/>
              <a:gd name="T12" fmla="*/ 42 w 90"/>
              <a:gd name="T13" fmla="*/ 58 h 87"/>
              <a:gd name="T14" fmla="*/ 60 w 90"/>
              <a:gd name="T15" fmla="*/ 81 h 87"/>
              <a:gd name="T16" fmla="*/ 72 w 90"/>
              <a:gd name="T17" fmla="*/ 81 h 87"/>
              <a:gd name="T18" fmla="*/ 78 w 90"/>
              <a:gd name="T19" fmla="*/ 75 h 87"/>
              <a:gd name="T20" fmla="*/ 60 w 90"/>
              <a:gd name="T21" fmla="*/ 46 h 87"/>
              <a:gd name="T22" fmla="*/ 90 w 90"/>
              <a:gd name="T23" fmla="*/ 11 h 87"/>
              <a:gd name="T24" fmla="*/ 78 w 90"/>
              <a:gd name="T25" fmla="*/ 5 h 87"/>
              <a:gd name="T26" fmla="*/ 48 w 90"/>
              <a:gd name="T27" fmla="*/ 29 h 87"/>
              <a:gd name="T28" fmla="*/ 30 w 90"/>
              <a:gd name="T29" fmla="*/ 0 h 87"/>
              <a:gd name="T30" fmla="*/ 24 w 90"/>
              <a:gd name="T31" fmla="*/ 5 h 87"/>
              <a:gd name="T32" fmla="*/ 18 w 90"/>
              <a:gd name="T33" fmla="*/ 0 h 87"/>
              <a:gd name="T34" fmla="*/ 18 w 90"/>
              <a:gd name="T35" fmla="*/ 5 h 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87"/>
              <a:gd name="T56" fmla="*/ 90 w 90"/>
              <a:gd name="T57" fmla="*/ 87 h 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87">
                <a:moveTo>
                  <a:pt x="18" y="5"/>
                </a:moveTo>
                <a:lnTo>
                  <a:pt x="36" y="40"/>
                </a:lnTo>
                <a:lnTo>
                  <a:pt x="0" y="63"/>
                </a:lnTo>
                <a:lnTo>
                  <a:pt x="0" y="81"/>
                </a:lnTo>
                <a:lnTo>
                  <a:pt x="6" y="81"/>
                </a:lnTo>
                <a:lnTo>
                  <a:pt x="12" y="87"/>
                </a:lnTo>
                <a:lnTo>
                  <a:pt x="42" y="58"/>
                </a:lnTo>
                <a:lnTo>
                  <a:pt x="60" y="81"/>
                </a:lnTo>
                <a:lnTo>
                  <a:pt x="72" y="81"/>
                </a:lnTo>
                <a:lnTo>
                  <a:pt x="78" y="75"/>
                </a:lnTo>
                <a:lnTo>
                  <a:pt x="60" y="46"/>
                </a:lnTo>
                <a:lnTo>
                  <a:pt x="90" y="11"/>
                </a:lnTo>
                <a:lnTo>
                  <a:pt x="78" y="5"/>
                </a:lnTo>
                <a:lnTo>
                  <a:pt x="48" y="29"/>
                </a:lnTo>
                <a:lnTo>
                  <a:pt x="30" y="0"/>
                </a:lnTo>
                <a:lnTo>
                  <a:pt x="24" y="5"/>
                </a:lnTo>
                <a:lnTo>
                  <a:pt x="18" y="0"/>
                </a:lnTo>
                <a:lnTo>
                  <a:pt x="18" y="5"/>
                </a:lnTo>
                <a:close/>
              </a:path>
            </a:pathLst>
          </a:custGeom>
          <a:solidFill>
            <a:srgbClr val="FF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84" name="Freeform 181"/>
          <p:cNvSpPr>
            <a:spLocks/>
          </p:cNvSpPr>
          <p:nvPr/>
        </p:nvSpPr>
        <p:spPr bwMode="auto">
          <a:xfrm>
            <a:off x="7937500" y="5135563"/>
            <a:ext cx="142875" cy="138112"/>
          </a:xfrm>
          <a:custGeom>
            <a:avLst/>
            <a:gdLst>
              <a:gd name="T0" fmla="*/ 18 w 90"/>
              <a:gd name="T1" fmla="*/ 5 h 87"/>
              <a:gd name="T2" fmla="*/ 36 w 90"/>
              <a:gd name="T3" fmla="*/ 40 h 87"/>
              <a:gd name="T4" fmla="*/ 0 w 90"/>
              <a:gd name="T5" fmla="*/ 63 h 87"/>
              <a:gd name="T6" fmla="*/ 0 w 90"/>
              <a:gd name="T7" fmla="*/ 81 h 87"/>
              <a:gd name="T8" fmla="*/ 6 w 90"/>
              <a:gd name="T9" fmla="*/ 81 h 87"/>
              <a:gd name="T10" fmla="*/ 12 w 90"/>
              <a:gd name="T11" fmla="*/ 87 h 87"/>
              <a:gd name="T12" fmla="*/ 42 w 90"/>
              <a:gd name="T13" fmla="*/ 58 h 87"/>
              <a:gd name="T14" fmla="*/ 60 w 90"/>
              <a:gd name="T15" fmla="*/ 81 h 87"/>
              <a:gd name="T16" fmla="*/ 72 w 90"/>
              <a:gd name="T17" fmla="*/ 81 h 87"/>
              <a:gd name="T18" fmla="*/ 78 w 90"/>
              <a:gd name="T19" fmla="*/ 75 h 87"/>
              <a:gd name="T20" fmla="*/ 60 w 90"/>
              <a:gd name="T21" fmla="*/ 46 h 87"/>
              <a:gd name="T22" fmla="*/ 90 w 90"/>
              <a:gd name="T23" fmla="*/ 11 h 87"/>
              <a:gd name="T24" fmla="*/ 78 w 90"/>
              <a:gd name="T25" fmla="*/ 5 h 87"/>
              <a:gd name="T26" fmla="*/ 48 w 90"/>
              <a:gd name="T27" fmla="*/ 29 h 87"/>
              <a:gd name="T28" fmla="*/ 30 w 90"/>
              <a:gd name="T29" fmla="*/ 0 h 87"/>
              <a:gd name="T30" fmla="*/ 24 w 90"/>
              <a:gd name="T31" fmla="*/ 5 h 87"/>
              <a:gd name="T32" fmla="*/ 18 w 90"/>
              <a:gd name="T33" fmla="*/ 0 h 87"/>
              <a:gd name="T34" fmla="*/ 18 w 90"/>
              <a:gd name="T35" fmla="*/ 5 h 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87"/>
              <a:gd name="T56" fmla="*/ 90 w 90"/>
              <a:gd name="T57" fmla="*/ 87 h 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87">
                <a:moveTo>
                  <a:pt x="18" y="5"/>
                </a:moveTo>
                <a:lnTo>
                  <a:pt x="36" y="40"/>
                </a:lnTo>
                <a:lnTo>
                  <a:pt x="0" y="63"/>
                </a:lnTo>
                <a:lnTo>
                  <a:pt x="0" y="81"/>
                </a:lnTo>
                <a:lnTo>
                  <a:pt x="6" y="81"/>
                </a:lnTo>
                <a:lnTo>
                  <a:pt x="12" y="87"/>
                </a:lnTo>
                <a:lnTo>
                  <a:pt x="42" y="58"/>
                </a:lnTo>
                <a:lnTo>
                  <a:pt x="60" y="81"/>
                </a:lnTo>
                <a:lnTo>
                  <a:pt x="72" y="81"/>
                </a:lnTo>
                <a:lnTo>
                  <a:pt x="78" y="75"/>
                </a:lnTo>
                <a:lnTo>
                  <a:pt x="60" y="46"/>
                </a:lnTo>
                <a:lnTo>
                  <a:pt x="90" y="11"/>
                </a:lnTo>
                <a:lnTo>
                  <a:pt x="78" y="5"/>
                </a:lnTo>
                <a:lnTo>
                  <a:pt x="48" y="29"/>
                </a:lnTo>
                <a:lnTo>
                  <a:pt x="30" y="0"/>
                </a:lnTo>
                <a:lnTo>
                  <a:pt x="24" y="5"/>
                </a:lnTo>
                <a:lnTo>
                  <a:pt x="18" y="0"/>
                </a:lnTo>
                <a:lnTo>
                  <a:pt x="18" y="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85" name="Freeform 182"/>
          <p:cNvSpPr>
            <a:spLocks/>
          </p:cNvSpPr>
          <p:nvPr/>
        </p:nvSpPr>
        <p:spPr bwMode="auto">
          <a:xfrm>
            <a:off x="7094538" y="4876800"/>
            <a:ext cx="1587" cy="17463"/>
          </a:xfrm>
          <a:custGeom>
            <a:avLst/>
            <a:gdLst>
              <a:gd name="T0" fmla="*/ 0 w 1587"/>
              <a:gd name="T1" fmla="*/ 0 h 11"/>
              <a:gd name="T2" fmla="*/ 0 w 1587"/>
              <a:gd name="T3" fmla="*/ 6 h 11"/>
              <a:gd name="T4" fmla="*/ 0 w 1587"/>
              <a:gd name="T5" fmla="*/ 11 h 11"/>
              <a:gd name="T6" fmla="*/ 0 w 1587"/>
              <a:gd name="T7" fmla="*/ 6 h 11"/>
              <a:gd name="T8" fmla="*/ 0 w 1587"/>
              <a:gd name="T9" fmla="*/ 0 h 11"/>
              <a:gd name="T10" fmla="*/ 0 60000 65536"/>
              <a:gd name="T11" fmla="*/ 0 60000 65536"/>
              <a:gd name="T12" fmla="*/ 0 60000 65536"/>
              <a:gd name="T13" fmla="*/ 0 60000 65536"/>
              <a:gd name="T14" fmla="*/ 0 60000 65536"/>
              <a:gd name="T15" fmla="*/ 0 w 1587"/>
              <a:gd name="T16" fmla="*/ 0 h 11"/>
              <a:gd name="T17" fmla="*/ 1587 w 1587"/>
              <a:gd name="T18" fmla="*/ 11 h 11"/>
            </a:gdLst>
            <a:ahLst/>
            <a:cxnLst>
              <a:cxn ang="T10">
                <a:pos x="T0" y="T1"/>
              </a:cxn>
              <a:cxn ang="T11">
                <a:pos x="T2" y="T3"/>
              </a:cxn>
              <a:cxn ang="T12">
                <a:pos x="T4" y="T5"/>
              </a:cxn>
              <a:cxn ang="T13">
                <a:pos x="T6" y="T7"/>
              </a:cxn>
              <a:cxn ang="T14">
                <a:pos x="T8" y="T9"/>
              </a:cxn>
            </a:cxnLst>
            <a:rect l="T15" t="T16" r="T17" b="T18"/>
            <a:pathLst>
              <a:path w="1587" h="11">
                <a:moveTo>
                  <a:pt x="0" y="0"/>
                </a:moveTo>
                <a:lnTo>
                  <a:pt x="0" y="6"/>
                </a:lnTo>
                <a:lnTo>
                  <a:pt x="0" y="11"/>
                </a:lnTo>
                <a:lnTo>
                  <a:pt x="0" y="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86" name="Freeform 183"/>
          <p:cNvSpPr>
            <a:spLocks/>
          </p:cNvSpPr>
          <p:nvPr/>
        </p:nvSpPr>
        <p:spPr bwMode="auto">
          <a:xfrm>
            <a:off x="7094538" y="4894263"/>
            <a:ext cx="1587"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 name="T9" fmla="*/ 0 w 1587"/>
              <a:gd name="T10" fmla="*/ 0 h 1587"/>
              <a:gd name="T11" fmla="*/ 1587 w 1587"/>
              <a:gd name="T12" fmla="*/ 1587 h 1587"/>
            </a:gdLst>
            <a:ahLst/>
            <a:cxnLst>
              <a:cxn ang="T6">
                <a:pos x="T0" y="T1"/>
              </a:cxn>
              <a:cxn ang="T7">
                <a:pos x="T2" y="T3"/>
              </a:cxn>
              <a:cxn ang="T8">
                <a:pos x="T4" y="T5"/>
              </a:cxn>
            </a:cxnLst>
            <a:rect l="T9" t="T10" r="T11" b="T12"/>
            <a:pathLst>
              <a:path w="1587" h="1587">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87" name="Rectangle 184"/>
          <p:cNvSpPr>
            <a:spLocks noChangeArrowheads="1"/>
          </p:cNvSpPr>
          <p:nvPr/>
        </p:nvSpPr>
        <p:spPr bwMode="auto">
          <a:xfrm>
            <a:off x="6819900" y="4867275"/>
            <a:ext cx="350838" cy="377825"/>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88" name="Rectangle 185"/>
          <p:cNvSpPr>
            <a:spLocks noChangeArrowheads="1"/>
          </p:cNvSpPr>
          <p:nvPr/>
        </p:nvSpPr>
        <p:spPr bwMode="auto">
          <a:xfrm>
            <a:off x="6819900" y="4867275"/>
            <a:ext cx="350838" cy="37782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89" name="Rectangle 186"/>
          <p:cNvSpPr>
            <a:spLocks noChangeArrowheads="1"/>
          </p:cNvSpPr>
          <p:nvPr/>
        </p:nvSpPr>
        <p:spPr bwMode="auto">
          <a:xfrm>
            <a:off x="6838950" y="4876800"/>
            <a:ext cx="312738" cy="35877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90" name="Rectangle 187"/>
          <p:cNvSpPr>
            <a:spLocks noChangeArrowheads="1"/>
          </p:cNvSpPr>
          <p:nvPr/>
        </p:nvSpPr>
        <p:spPr bwMode="auto">
          <a:xfrm>
            <a:off x="6838950" y="4876800"/>
            <a:ext cx="312738" cy="35877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91" name="Freeform 188"/>
          <p:cNvSpPr>
            <a:spLocks/>
          </p:cNvSpPr>
          <p:nvPr/>
        </p:nvSpPr>
        <p:spPr bwMode="auto">
          <a:xfrm>
            <a:off x="7018338" y="5005388"/>
            <a:ext cx="104775" cy="193675"/>
          </a:xfrm>
          <a:custGeom>
            <a:avLst/>
            <a:gdLst>
              <a:gd name="T0" fmla="*/ 6 w 66"/>
              <a:gd name="T1" fmla="*/ 23 h 122"/>
              <a:gd name="T2" fmla="*/ 0 w 66"/>
              <a:gd name="T3" fmla="*/ 105 h 122"/>
              <a:gd name="T4" fmla="*/ 12 w 66"/>
              <a:gd name="T5" fmla="*/ 116 h 122"/>
              <a:gd name="T6" fmla="*/ 12 w 66"/>
              <a:gd name="T7" fmla="*/ 111 h 122"/>
              <a:gd name="T8" fmla="*/ 18 w 66"/>
              <a:gd name="T9" fmla="*/ 111 h 122"/>
              <a:gd name="T10" fmla="*/ 18 w 66"/>
              <a:gd name="T11" fmla="*/ 76 h 122"/>
              <a:gd name="T12" fmla="*/ 42 w 66"/>
              <a:gd name="T13" fmla="*/ 122 h 122"/>
              <a:gd name="T14" fmla="*/ 54 w 66"/>
              <a:gd name="T15" fmla="*/ 122 h 122"/>
              <a:gd name="T16" fmla="*/ 54 w 66"/>
              <a:gd name="T17" fmla="*/ 99 h 122"/>
              <a:gd name="T18" fmla="*/ 30 w 66"/>
              <a:gd name="T19" fmla="*/ 52 h 122"/>
              <a:gd name="T20" fmla="*/ 66 w 66"/>
              <a:gd name="T21" fmla="*/ 29 h 122"/>
              <a:gd name="T22" fmla="*/ 60 w 66"/>
              <a:gd name="T23" fmla="*/ 12 h 122"/>
              <a:gd name="T24" fmla="*/ 24 w 66"/>
              <a:gd name="T25" fmla="*/ 35 h 122"/>
              <a:gd name="T26" fmla="*/ 30 w 66"/>
              <a:gd name="T27" fmla="*/ 12 h 122"/>
              <a:gd name="T28" fmla="*/ 18 w 66"/>
              <a:gd name="T29" fmla="*/ 0 h 122"/>
              <a:gd name="T30" fmla="*/ 6 w 66"/>
              <a:gd name="T31" fmla="*/ 23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6"/>
              <a:gd name="T49" fmla="*/ 0 h 122"/>
              <a:gd name="T50" fmla="*/ 66 w 66"/>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6" h="122">
                <a:moveTo>
                  <a:pt x="6" y="23"/>
                </a:moveTo>
                <a:lnTo>
                  <a:pt x="0" y="105"/>
                </a:lnTo>
                <a:lnTo>
                  <a:pt x="12" y="116"/>
                </a:lnTo>
                <a:lnTo>
                  <a:pt x="12" y="111"/>
                </a:lnTo>
                <a:lnTo>
                  <a:pt x="18" y="111"/>
                </a:lnTo>
                <a:lnTo>
                  <a:pt x="18" y="76"/>
                </a:lnTo>
                <a:lnTo>
                  <a:pt x="42" y="122"/>
                </a:lnTo>
                <a:lnTo>
                  <a:pt x="54" y="122"/>
                </a:lnTo>
                <a:lnTo>
                  <a:pt x="54" y="99"/>
                </a:lnTo>
                <a:lnTo>
                  <a:pt x="30" y="52"/>
                </a:lnTo>
                <a:lnTo>
                  <a:pt x="66" y="29"/>
                </a:lnTo>
                <a:lnTo>
                  <a:pt x="60" y="12"/>
                </a:lnTo>
                <a:lnTo>
                  <a:pt x="24" y="35"/>
                </a:lnTo>
                <a:lnTo>
                  <a:pt x="30" y="12"/>
                </a:lnTo>
                <a:lnTo>
                  <a:pt x="18" y="0"/>
                </a:lnTo>
                <a:lnTo>
                  <a:pt x="6" y="23"/>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92" name="Freeform 189"/>
          <p:cNvSpPr>
            <a:spLocks/>
          </p:cNvSpPr>
          <p:nvPr/>
        </p:nvSpPr>
        <p:spPr bwMode="auto">
          <a:xfrm>
            <a:off x="7018338" y="5005388"/>
            <a:ext cx="104775" cy="193675"/>
          </a:xfrm>
          <a:custGeom>
            <a:avLst/>
            <a:gdLst>
              <a:gd name="T0" fmla="*/ 6 w 66"/>
              <a:gd name="T1" fmla="*/ 23 h 122"/>
              <a:gd name="T2" fmla="*/ 0 w 66"/>
              <a:gd name="T3" fmla="*/ 105 h 122"/>
              <a:gd name="T4" fmla="*/ 12 w 66"/>
              <a:gd name="T5" fmla="*/ 116 h 122"/>
              <a:gd name="T6" fmla="*/ 12 w 66"/>
              <a:gd name="T7" fmla="*/ 111 h 122"/>
              <a:gd name="T8" fmla="*/ 18 w 66"/>
              <a:gd name="T9" fmla="*/ 111 h 122"/>
              <a:gd name="T10" fmla="*/ 18 w 66"/>
              <a:gd name="T11" fmla="*/ 76 h 122"/>
              <a:gd name="T12" fmla="*/ 42 w 66"/>
              <a:gd name="T13" fmla="*/ 122 h 122"/>
              <a:gd name="T14" fmla="*/ 54 w 66"/>
              <a:gd name="T15" fmla="*/ 122 h 122"/>
              <a:gd name="T16" fmla="*/ 54 w 66"/>
              <a:gd name="T17" fmla="*/ 99 h 122"/>
              <a:gd name="T18" fmla="*/ 30 w 66"/>
              <a:gd name="T19" fmla="*/ 52 h 122"/>
              <a:gd name="T20" fmla="*/ 66 w 66"/>
              <a:gd name="T21" fmla="*/ 29 h 122"/>
              <a:gd name="T22" fmla="*/ 60 w 66"/>
              <a:gd name="T23" fmla="*/ 12 h 122"/>
              <a:gd name="T24" fmla="*/ 24 w 66"/>
              <a:gd name="T25" fmla="*/ 35 h 122"/>
              <a:gd name="T26" fmla="*/ 30 w 66"/>
              <a:gd name="T27" fmla="*/ 12 h 122"/>
              <a:gd name="T28" fmla="*/ 18 w 66"/>
              <a:gd name="T29" fmla="*/ 0 h 122"/>
              <a:gd name="T30" fmla="*/ 6 w 66"/>
              <a:gd name="T31" fmla="*/ 23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6"/>
              <a:gd name="T49" fmla="*/ 0 h 122"/>
              <a:gd name="T50" fmla="*/ 66 w 66"/>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6" h="122">
                <a:moveTo>
                  <a:pt x="6" y="23"/>
                </a:moveTo>
                <a:lnTo>
                  <a:pt x="0" y="105"/>
                </a:lnTo>
                <a:lnTo>
                  <a:pt x="12" y="116"/>
                </a:lnTo>
                <a:lnTo>
                  <a:pt x="12" y="111"/>
                </a:lnTo>
                <a:lnTo>
                  <a:pt x="18" y="111"/>
                </a:lnTo>
                <a:lnTo>
                  <a:pt x="18" y="76"/>
                </a:lnTo>
                <a:lnTo>
                  <a:pt x="42" y="122"/>
                </a:lnTo>
                <a:lnTo>
                  <a:pt x="54" y="122"/>
                </a:lnTo>
                <a:lnTo>
                  <a:pt x="54" y="99"/>
                </a:lnTo>
                <a:lnTo>
                  <a:pt x="30" y="52"/>
                </a:lnTo>
                <a:lnTo>
                  <a:pt x="66" y="29"/>
                </a:lnTo>
                <a:lnTo>
                  <a:pt x="60" y="12"/>
                </a:lnTo>
                <a:lnTo>
                  <a:pt x="24" y="35"/>
                </a:lnTo>
                <a:lnTo>
                  <a:pt x="30" y="12"/>
                </a:lnTo>
                <a:lnTo>
                  <a:pt x="18" y="0"/>
                </a:lnTo>
                <a:lnTo>
                  <a:pt x="6" y="2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93" name="Freeform 190"/>
          <p:cNvSpPr>
            <a:spLocks/>
          </p:cNvSpPr>
          <p:nvPr/>
        </p:nvSpPr>
        <p:spPr bwMode="auto">
          <a:xfrm>
            <a:off x="6877050" y="4894263"/>
            <a:ext cx="179388" cy="166687"/>
          </a:xfrm>
          <a:custGeom>
            <a:avLst/>
            <a:gdLst>
              <a:gd name="T0" fmla="*/ 18 w 113"/>
              <a:gd name="T1" fmla="*/ 6 h 105"/>
              <a:gd name="T2" fmla="*/ 41 w 113"/>
              <a:gd name="T3" fmla="*/ 47 h 105"/>
              <a:gd name="T4" fmla="*/ 0 w 113"/>
              <a:gd name="T5" fmla="*/ 76 h 105"/>
              <a:gd name="T6" fmla="*/ 6 w 113"/>
              <a:gd name="T7" fmla="*/ 99 h 105"/>
              <a:gd name="T8" fmla="*/ 12 w 113"/>
              <a:gd name="T9" fmla="*/ 105 h 105"/>
              <a:gd name="T10" fmla="*/ 53 w 113"/>
              <a:gd name="T11" fmla="*/ 70 h 105"/>
              <a:gd name="T12" fmla="*/ 71 w 113"/>
              <a:gd name="T13" fmla="*/ 99 h 105"/>
              <a:gd name="T14" fmla="*/ 89 w 113"/>
              <a:gd name="T15" fmla="*/ 99 h 105"/>
              <a:gd name="T16" fmla="*/ 95 w 113"/>
              <a:gd name="T17" fmla="*/ 88 h 105"/>
              <a:gd name="T18" fmla="*/ 71 w 113"/>
              <a:gd name="T19" fmla="*/ 59 h 105"/>
              <a:gd name="T20" fmla="*/ 113 w 113"/>
              <a:gd name="T21" fmla="*/ 18 h 105"/>
              <a:gd name="T22" fmla="*/ 95 w 113"/>
              <a:gd name="T23" fmla="*/ 0 h 105"/>
              <a:gd name="T24" fmla="*/ 59 w 113"/>
              <a:gd name="T25" fmla="*/ 35 h 105"/>
              <a:gd name="T26" fmla="*/ 41 w 113"/>
              <a:gd name="T27" fmla="*/ 0 h 105"/>
              <a:gd name="T28" fmla="*/ 30 w 113"/>
              <a:gd name="T29" fmla="*/ 6 h 105"/>
              <a:gd name="T30" fmla="*/ 24 w 113"/>
              <a:gd name="T31" fmla="*/ 0 h 105"/>
              <a:gd name="T32" fmla="*/ 18 w 113"/>
              <a:gd name="T33" fmla="*/ 6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3"/>
              <a:gd name="T52" fmla="*/ 0 h 105"/>
              <a:gd name="T53" fmla="*/ 113 w 113"/>
              <a:gd name="T54" fmla="*/ 105 h 10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3" h="105">
                <a:moveTo>
                  <a:pt x="18" y="6"/>
                </a:moveTo>
                <a:lnTo>
                  <a:pt x="41" y="47"/>
                </a:lnTo>
                <a:lnTo>
                  <a:pt x="0" y="76"/>
                </a:lnTo>
                <a:lnTo>
                  <a:pt x="6" y="99"/>
                </a:lnTo>
                <a:lnTo>
                  <a:pt x="12" y="105"/>
                </a:lnTo>
                <a:lnTo>
                  <a:pt x="53" y="70"/>
                </a:lnTo>
                <a:lnTo>
                  <a:pt x="71" y="99"/>
                </a:lnTo>
                <a:lnTo>
                  <a:pt x="89" y="99"/>
                </a:lnTo>
                <a:lnTo>
                  <a:pt x="95" y="88"/>
                </a:lnTo>
                <a:lnTo>
                  <a:pt x="71" y="59"/>
                </a:lnTo>
                <a:lnTo>
                  <a:pt x="113" y="18"/>
                </a:lnTo>
                <a:lnTo>
                  <a:pt x="95" y="0"/>
                </a:lnTo>
                <a:lnTo>
                  <a:pt x="59" y="35"/>
                </a:lnTo>
                <a:lnTo>
                  <a:pt x="41" y="0"/>
                </a:lnTo>
                <a:lnTo>
                  <a:pt x="30" y="6"/>
                </a:lnTo>
                <a:lnTo>
                  <a:pt x="24" y="0"/>
                </a:lnTo>
                <a:lnTo>
                  <a:pt x="18" y="6"/>
                </a:lnTo>
                <a:close/>
              </a:path>
            </a:pathLst>
          </a:custGeom>
          <a:solidFill>
            <a:srgbClr val="FF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94" name="Freeform 191"/>
          <p:cNvSpPr>
            <a:spLocks/>
          </p:cNvSpPr>
          <p:nvPr/>
        </p:nvSpPr>
        <p:spPr bwMode="auto">
          <a:xfrm>
            <a:off x="6877050" y="4894263"/>
            <a:ext cx="179388" cy="166687"/>
          </a:xfrm>
          <a:custGeom>
            <a:avLst/>
            <a:gdLst>
              <a:gd name="T0" fmla="*/ 18 w 113"/>
              <a:gd name="T1" fmla="*/ 6 h 105"/>
              <a:gd name="T2" fmla="*/ 41 w 113"/>
              <a:gd name="T3" fmla="*/ 47 h 105"/>
              <a:gd name="T4" fmla="*/ 0 w 113"/>
              <a:gd name="T5" fmla="*/ 76 h 105"/>
              <a:gd name="T6" fmla="*/ 6 w 113"/>
              <a:gd name="T7" fmla="*/ 99 h 105"/>
              <a:gd name="T8" fmla="*/ 12 w 113"/>
              <a:gd name="T9" fmla="*/ 105 h 105"/>
              <a:gd name="T10" fmla="*/ 53 w 113"/>
              <a:gd name="T11" fmla="*/ 70 h 105"/>
              <a:gd name="T12" fmla="*/ 71 w 113"/>
              <a:gd name="T13" fmla="*/ 99 h 105"/>
              <a:gd name="T14" fmla="*/ 89 w 113"/>
              <a:gd name="T15" fmla="*/ 99 h 105"/>
              <a:gd name="T16" fmla="*/ 95 w 113"/>
              <a:gd name="T17" fmla="*/ 88 h 105"/>
              <a:gd name="T18" fmla="*/ 71 w 113"/>
              <a:gd name="T19" fmla="*/ 59 h 105"/>
              <a:gd name="T20" fmla="*/ 113 w 113"/>
              <a:gd name="T21" fmla="*/ 18 h 105"/>
              <a:gd name="T22" fmla="*/ 95 w 113"/>
              <a:gd name="T23" fmla="*/ 0 h 105"/>
              <a:gd name="T24" fmla="*/ 59 w 113"/>
              <a:gd name="T25" fmla="*/ 35 h 105"/>
              <a:gd name="T26" fmla="*/ 41 w 113"/>
              <a:gd name="T27" fmla="*/ 0 h 105"/>
              <a:gd name="T28" fmla="*/ 30 w 113"/>
              <a:gd name="T29" fmla="*/ 6 h 105"/>
              <a:gd name="T30" fmla="*/ 24 w 113"/>
              <a:gd name="T31" fmla="*/ 0 h 105"/>
              <a:gd name="T32" fmla="*/ 18 w 113"/>
              <a:gd name="T33" fmla="*/ 6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3"/>
              <a:gd name="T52" fmla="*/ 0 h 105"/>
              <a:gd name="T53" fmla="*/ 113 w 113"/>
              <a:gd name="T54" fmla="*/ 105 h 10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3" h="105">
                <a:moveTo>
                  <a:pt x="18" y="6"/>
                </a:moveTo>
                <a:lnTo>
                  <a:pt x="41" y="47"/>
                </a:lnTo>
                <a:lnTo>
                  <a:pt x="0" y="76"/>
                </a:lnTo>
                <a:lnTo>
                  <a:pt x="6" y="99"/>
                </a:lnTo>
                <a:lnTo>
                  <a:pt x="12" y="105"/>
                </a:lnTo>
                <a:lnTo>
                  <a:pt x="53" y="70"/>
                </a:lnTo>
                <a:lnTo>
                  <a:pt x="71" y="99"/>
                </a:lnTo>
                <a:lnTo>
                  <a:pt x="89" y="99"/>
                </a:lnTo>
                <a:lnTo>
                  <a:pt x="95" y="88"/>
                </a:lnTo>
                <a:lnTo>
                  <a:pt x="71" y="59"/>
                </a:lnTo>
                <a:lnTo>
                  <a:pt x="113" y="18"/>
                </a:lnTo>
                <a:lnTo>
                  <a:pt x="95" y="0"/>
                </a:lnTo>
                <a:lnTo>
                  <a:pt x="59" y="35"/>
                </a:lnTo>
                <a:lnTo>
                  <a:pt x="41" y="0"/>
                </a:lnTo>
                <a:lnTo>
                  <a:pt x="30" y="6"/>
                </a:lnTo>
                <a:lnTo>
                  <a:pt x="24" y="0"/>
                </a:lnTo>
                <a:lnTo>
                  <a:pt x="18" y="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95" name="Freeform 192"/>
          <p:cNvSpPr>
            <a:spLocks/>
          </p:cNvSpPr>
          <p:nvPr/>
        </p:nvSpPr>
        <p:spPr bwMode="auto">
          <a:xfrm>
            <a:off x="6886575" y="5051425"/>
            <a:ext cx="103188" cy="147638"/>
          </a:xfrm>
          <a:custGeom>
            <a:avLst/>
            <a:gdLst>
              <a:gd name="T0" fmla="*/ 41 w 65"/>
              <a:gd name="T1" fmla="*/ 0 h 93"/>
              <a:gd name="T2" fmla="*/ 47 w 65"/>
              <a:gd name="T3" fmla="*/ 0 h 93"/>
              <a:gd name="T4" fmla="*/ 53 w 65"/>
              <a:gd name="T5" fmla="*/ 0 h 93"/>
              <a:gd name="T6" fmla="*/ 53 w 65"/>
              <a:gd name="T7" fmla="*/ 6 h 93"/>
              <a:gd name="T8" fmla="*/ 59 w 65"/>
              <a:gd name="T9" fmla="*/ 12 h 93"/>
              <a:gd name="T10" fmla="*/ 59 w 65"/>
              <a:gd name="T11" fmla="*/ 18 h 93"/>
              <a:gd name="T12" fmla="*/ 65 w 65"/>
              <a:gd name="T13" fmla="*/ 18 h 93"/>
              <a:gd name="T14" fmla="*/ 65 w 65"/>
              <a:gd name="T15" fmla="*/ 23 h 93"/>
              <a:gd name="T16" fmla="*/ 65 w 65"/>
              <a:gd name="T17" fmla="*/ 29 h 93"/>
              <a:gd name="T18" fmla="*/ 65 w 65"/>
              <a:gd name="T19" fmla="*/ 35 h 93"/>
              <a:gd name="T20" fmla="*/ 65 w 65"/>
              <a:gd name="T21" fmla="*/ 41 h 93"/>
              <a:gd name="T22" fmla="*/ 65 w 65"/>
              <a:gd name="T23" fmla="*/ 47 h 93"/>
              <a:gd name="T24" fmla="*/ 65 w 65"/>
              <a:gd name="T25" fmla="*/ 53 h 93"/>
              <a:gd name="T26" fmla="*/ 65 w 65"/>
              <a:gd name="T27" fmla="*/ 58 h 93"/>
              <a:gd name="T28" fmla="*/ 65 w 65"/>
              <a:gd name="T29" fmla="*/ 64 h 93"/>
              <a:gd name="T30" fmla="*/ 59 w 65"/>
              <a:gd name="T31" fmla="*/ 64 h 93"/>
              <a:gd name="T32" fmla="*/ 59 w 65"/>
              <a:gd name="T33" fmla="*/ 70 h 93"/>
              <a:gd name="T34" fmla="*/ 59 w 65"/>
              <a:gd name="T35" fmla="*/ 76 h 93"/>
              <a:gd name="T36" fmla="*/ 53 w 65"/>
              <a:gd name="T37" fmla="*/ 76 h 93"/>
              <a:gd name="T38" fmla="*/ 53 w 65"/>
              <a:gd name="T39" fmla="*/ 82 h 93"/>
              <a:gd name="T40" fmla="*/ 47 w 65"/>
              <a:gd name="T41" fmla="*/ 82 h 93"/>
              <a:gd name="T42" fmla="*/ 47 w 65"/>
              <a:gd name="T43" fmla="*/ 87 h 93"/>
              <a:gd name="T44" fmla="*/ 41 w 65"/>
              <a:gd name="T45" fmla="*/ 87 h 93"/>
              <a:gd name="T46" fmla="*/ 41 w 65"/>
              <a:gd name="T47" fmla="*/ 93 h 93"/>
              <a:gd name="T48" fmla="*/ 35 w 65"/>
              <a:gd name="T49" fmla="*/ 93 h 93"/>
              <a:gd name="T50" fmla="*/ 30 w 65"/>
              <a:gd name="T51" fmla="*/ 93 h 93"/>
              <a:gd name="T52" fmla="*/ 24 w 65"/>
              <a:gd name="T53" fmla="*/ 93 h 93"/>
              <a:gd name="T54" fmla="*/ 18 w 65"/>
              <a:gd name="T55" fmla="*/ 93 h 93"/>
              <a:gd name="T56" fmla="*/ 12 w 65"/>
              <a:gd name="T57" fmla="*/ 93 h 93"/>
              <a:gd name="T58" fmla="*/ 12 w 65"/>
              <a:gd name="T59" fmla="*/ 87 h 93"/>
              <a:gd name="T60" fmla="*/ 6 w 65"/>
              <a:gd name="T61" fmla="*/ 82 h 93"/>
              <a:gd name="T62" fmla="*/ 6 w 65"/>
              <a:gd name="T63" fmla="*/ 76 h 93"/>
              <a:gd name="T64" fmla="*/ 0 w 65"/>
              <a:gd name="T65" fmla="*/ 76 h 93"/>
              <a:gd name="T66" fmla="*/ 0 w 65"/>
              <a:gd name="T67" fmla="*/ 70 h 93"/>
              <a:gd name="T68" fmla="*/ 0 w 65"/>
              <a:gd name="T69" fmla="*/ 64 h 93"/>
              <a:gd name="T70" fmla="*/ 0 w 65"/>
              <a:gd name="T71" fmla="*/ 58 h 93"/>
              <a:gd name="T72" fmla="*/ 0 w 65"/>
              <a:gd name="T73" fmla="*/ 53 h 93"/>
              <a:gd name="T74" fmla="*/ 0 w 65"/>
              <a:gd name="T75" fmla="*/ 47 h 93"/>
              <a:gd name="T76" fmla="*/ 0 w 65"/>
              <a:gd name="T77" fmla="*/ 41 h 93"/>
              <a:gd name="T78" fmla="*/ 0 w 65"/>
              <a:gd name="T79" fmla="*/ 35 h 93"/>
              <a:gd name="T80" fmla="*/ 0 w 65"/>
              <a:gd name="T81" fmla="*/ 29 h 93"/>
              <a:gd name="T82" fmla="*/ 6 w 65"/>
              <a:gd name="T83" fmla="*/ 29 h 93"/>
              <a:gd name="T84" fmla="*/ 6 w 65"/>
              <a:gd name="T85" fmla="*/ 23 h 93"/>
              <a:gd name="T86" fmla="*/ 6 w 65"/>
              <a:gd name="T87" fmla="*/ 18 h 93"/>
              <a:gd name="T88" fmla="*/ 12 w 65"/>
              <a:gd name="T89" fmla="*/ 18 h 93"/>
              <a:gd name="T90" fmla="*/ 12 w 65"/>
              <a:gd name="T91" fmla="*/ 12 h 93"/>
              <a:gd name="T92" fmla="*/ 18 w 65"/>
              <a:gd name="T93" fmla="*/ 12 h 93"/>
              <a:gd name="T94" fmla="*/ 18 w 65"/>
              <a:gd name="T95" fmla="*/ 6 h 93"/>
              <a:gd name="T96" fmla="*/ 24 w 65"/>
              <a:gd name="T97" fmla="*/ 6 h 93"/>
              <a:gd name="T98" fmla="*/ 24 w 65"/>
              <a:gd name="T99" fmla="*/ 0 h 93"/>
              <a:gd name="T100" fmla="*/ 30 w 65"/>
              <a:gd name="T101" fmla="*/ 0 h 93"/>
              <a:gd name="T102" fmla="*/ 35 w 65"/>
              <a:gd name="T103" fmla="*/ 0 h 93"/>
              <a:gd name="T104" fmla="*/ 41 w 65"/>
              <a:gd name="T105" fmla="*/ 0 h 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5"/>
              <a:gd name="T160" fmla="*/ 0 h 93"/>
              <a:gd name="T161" fmla="*/ 65 w 65"/>
              <a:gd name="T162" fmla="*/ 93 h 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5" h="93">
                <a:moveTo>
                  <a:pt x="41" y="0"/>
                </a:moveTo>
                <a:lnTo>
                  <a:pt x="47" y="0"/>
                </a:lnTo>
                <a:lnTo>
                  <a:pt x="53" y="0"/>
                </a:lnTo>
                <a:lnTo>
                  <a:pt x="53" y="6"/>
                </a:lnTo>
                <a:lnTo>
                  <a:pt x="59" y="12"/>
                </a:lnTo>
                <a:lnTo>
                  <a:pt x="59" y="18"/>
                </a:lnTo>
                <a:lnTo>
                  <a:pt x="65" y="18"/>
                </a:lnTo>
                <a:lnTo>
                  <a:pt x="65" y="23"/>
                </a:lnTo>
                <a:lnTo>
                  <a:pt x="65" y="29"/>
                </a:lnTo>
                <a:lnTo>
                  <a:pt x="65" y="35"/>
                </a:lnTo>
                <a:lnTo>
                  <a:pt x="65" y="41"/>
                </a:lnTo>
                <a:lnTo>
                  <a:pt x="65" y="47"/>
                </a:lnTo>
                <a:lnTo>
                  <a:pt x="65" y="53"/>
                </a:lnTo>
                <a:lnTo>
                  <a:pt x="65" y="58"/>
                </a:lnTo>
                <a:lnTo>
                  <a:pt x="65" y="64"/>
                </a:lnTo>
                <a:lnTo>
                  <a:pt x="59" y="64"/>
                </a:lnTo>
                <a:lnTo>
                  <a:pt x="59" y="70"/>
                </a:lnTo>
                <a:lnTo>
                  <a:pt x="59" y="76"/>
                </a:lnTo>
                <a:lnTo>
                  <a:pt x="53" y="76"/>
                </a:lnTo>
                <a:lnTo>
                  <a:pt x="53" y="82"/>
                </a:lnTo>
                <a:lnTo>
                  <a:pt x="47" y="82"/>
                </a:lnTo>
                <a:lnTo>
                  <a:pt x="47" y="87"/>
                </a:lnTo>
                <a:lnTo>
                  <a:pt x="41" y="87"/>
                </a:lnTo>
                <a:lnTo>
                  <a:pt x="41" y="93"/>
                </a:lnTo>
                <a:lnTo>
                  <a:pt x="35" y="93"/>
                </a:lnTo>
                <a:lnTo>
                  <a:pt x="30" y="93"/>
                </a:lnTo>
                <a:lnTo>
                  <a:pt x="24" y="93"/>
                </a:lnTo>
                <a:lnTo>
                  <a:pt x="18" y="93"/>
                </a:lnTo>
                <a:lnTo>
                  <a:pt x="12" y="93"/>
                </a:lnTo>
                <a:lnTo>
                  <a:pt x="12" y="87"/>
                </a:lnTo>
                <a:lnTo>
                  <a:pt x="6" y="82"/>
                </a:lnTo>
                <a:lnTo>
                  <a:pt x="6" y="76"/>
                </a:lnTo>
                <a:lnTo>
                  <a:pt x="0" y="76"/>
                </a:lnTo>
                <a:lnTo>
                  <a:pt x="0" y="70"/>
                </a:lnTo>
                <a:lnTo>
                  <a:pt x="0" y="64"/>
                </a:lnTo>
                <a:lnTo>
                  <a:pt x="0" y="58"/>
                </a:lnTo>
                <a:lnTo>
                  <a:pt x="0" y="53"/>
                </a:lnTo>
                <a:lnTo>
                  <a:pt x="0" y="47"/>
                </a:lnTo>
                <a:lnTo>
                  <a:pt x="0" y="41"/>
                </a:lnTo>
                <a:lnTo>
                  <a:pt x="0" y="35"/>
                </a:lnTo>
                <a:lnTo>
                  <a:pt x="0" y="29"/>
                </a:lnTo>
                <a:lnTo>
                  <a:pt x="6" y="29"/>
                </a:lnTo>
                <a:lnTo>
                  <a:pt x="6" y="23"/>
                </a:lnTo>
                <a:lnTo>
                  <a:pt x="6" y="18"/>
                </a:lnTo>
                <a:lnTo>
                  <a:pt x="12" y="18"/>
                </a:lnTo>
                <a:lnTo>
                  <a:pt x="12" y="12"/>
                </a:lnTo>
                <a:lnTo>
                  <a:pt x="18" y="12"/>
                </a:lnTo>
                <a:lnTo>
                  <a:pt x="18" y="6"/>
                </a:lnTo>
                <a:lnTo>
                  <a:pt x="24" y="6"/>
                </a:lnTo>
                <a:lnTo>
                  <a:pt x="24" y="0"/>
                </a:lnTo>
                <a:lnTo>
                  <a:pt x="30" y="0"/>
                </a:lnTo>
                <a:lnTo>
                  <a:pt x="35" y="0"/>
                </a:lnTo>
                <a:lnTo>
                  <a:pt x="41" y="0"/>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96" name="Freeform 193"/>
          <p:cNvSpPr>
            <a:spLocks/>
          </p:cNvSpPr>
          <p:nvPr/>
        </p:nvSpPr>
        <p:spPr bwMode="auto">
          <a:xfrm>
            <a:off x="6886575" y="5051425"/>
            <a:ext cx="103188" cy="147638"/>
          </a:xfrm>
          <a:custGeom>
            <a:avLst/>
            <a:gdLst>
              <a:gd name="T0" fmla="*/ 41 w 65"/>
              <a:gd name="T1" fmla="*/ 0 h 93"/>
              <a:gd name="T2" fmla="*/ 53 w 65"/>
              <a:gd name="T3" fmla="*/ 6 h 93"/>
              <a:gd name="T4" fmla="*/ 59 w 65"/>
              <a:gd name="T5" fmla="*/ 18 h 93"/>
              <a:gd name="T6" fmla="*/ 65 w 65"/>
              <a:gd name="T7" fmla="*/ 35 h 93"/>
              <a:gd name="T8" fmla="*/ 65 w 65"/>
              <a:gd name="T9" fmla="*/ 53 h 93"/>
              <a:gd name="T10" fmla="*/ 59 w 65"/>
              <a:gd name="T11" fmla="*/ 70 h 93"/>
              <a:gd name="T12" fmla="*/ 47 w 65"/>
              <a:gd name="T13" fmla="*/ 82 h 93"/>
              <a:gd name="T14" fmla="*/ 35 w 65"/>
              <a:gd name="T15" fmla="*/ 93 h 93"/>
              <a:gd name="T16" fmla="*/ 24 w 65"/>
              <a:gd name="T17" fmla="*/ 93 h 93"/>
              <a:gd name="T18" fmla="*/ 12 w 65"/>
              <a:gd name="T19" fmla="*/ 87 h 93"/>
              <a:gd name="T20" fmla="*/ 0 w 65"/>
              <a:gd name="T21" fmla="*/ 76 h 93"/>
              <a:gd name="T22" fmla="*/ 0 w 65"/>
              <a:gd name="T23" fmla="*/ 58 h 93"/>
              <a:gd name="T24" fmla="*/ 0 w 65"/>
              <a:gd name="T25" fmla="*/ 41 h 93"/>
              <a:gd name="T26" fmla="*/ 6 w 65"/>
              <a:gd name="T27" fmla="*/ 23 h 93"/>
              <a:gd name="T28" fmla="*/ 18 w 65"/>
              <a:gd name="T29" fmla="*/ 12 h 93"/>
              <a:gd name="T30" fmla="*/ 30 w 65"/>
              <a:gd name="T31" fmla="*/ 0 h 93"/>
              <a:gd name="T32" fmla="*/ 41 w 65"/>
              <a:gd name="T33" fmla="*/ 0 h 9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
              <a:gd name="T52" fmla="*/ 0 h 93"/>
              <a:gd name="T53" fmla="*/ 65 w 65"/>
              <a:gd name="T54" fmla="*/ 93 h 9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 h="93">
                <a:moveTo>
                  <a:pt x="41" y="0"/>
                </a:moveTo>
                <a:lnTo>
                  <a:pt x="53" y="6"/>
                </a:lnTo>
                <a:lnTo>
                  <a:pt x="59" y="18"/>
                </a:lnTo>
                <a:lnTo>
                  <a:pt x="65" y="35"/>
                </a:lnTo>
                <a:lnTo>
                  <a:pt x="65" y="53"/>
                </a:lnTo>
                <a:lnTo>
                  <a:pt x="59" y="70"/>
                </a:lnTo>
                <a:lnTo>
                  <a:pt x="47" y="82"/>
                </a:lnTo>
                <a:lnTo>
                  <a:pt x="35" y="93"/>
                </a:lnTo>
                <a:lnTo>
                  <a:pt x="24" y="93"/>
                </a:lnTo>
                <a:lnTo>
                  <a:pt x="12" y="87"/>
                </a:lnTo>
                <a:lnTo>
                  <a:pt x="0" y="76"/>
                </a:lnTo>
                <a:lnTo>
                  <a:pt x="0" y="58"/>
                </a:lnTo>
                <a:lnTo>
                  <a:pt x="0" y="41"/>
                </a:lnTo>
                <a:lnTo>
                  <a:pt x="6" y="23"/>
                </a:lnTo>
                <a:lnTo>
                  <a:pt x="18" y="12"/>
                </a:lnTo>
                <a:lnTo>
                  <a:pt x="30" y="0"/>
                </a:lnTo>
                <a:lnTo>
                  <a:pt x="4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97" name="Freeform 194"/>
          <p:cNvSpPr>
            <a:spLocks/>
          </p:cNvSpPr>
          <p:nvPr/>
        </p:nvSpPr>
        <p:spPr bwMode="auto">
          <a:xfrm>
            <a:off x="6915150" y="5080000"/>
            <a:ext cx="36513" cy="82550"/>
          </a:xfrm>
          <a:custGeom>
            <a:avLst/>
            <a:gdLst>
              <a:gd name="T0" fmla="*/ 17 w 23"/>
              <a:gd name="T1" fmla="*/ 0 h 52"/>
              <a:gd name="T2" fmla="*/ 23 w 23"/>
              <a:gd name="T3" fmla="*/ 0 h 52"/>
              <a:gd name="T4" fmla="*/ 23 w 23"/>
              <a:gd name="T5" fmla="*/ 5 h 52"/>
              <a:gd name="T6" fmla="*/ 23 w 23"/>
              <a:gd name="T7" fmla="*/ 11 h 52"/>
              <a:gd name="T8" fmla="*/ 23 w 23"/>
              <a:gd name="T9" fmla="*/ 17 h 52"/>
              <a:gd name="T10" fmla="*/ 23 w 23"/>
              <a:gd name="T11" fmla="*/ 23 h 52"/>
              <a:gd name="T12" fmla="*/ 23 w 23"/>
              <a:gd name="T13" fmla="*/ 29 h 52"/>
              <a:gd name="T14" fmla="*/ 23 w 23"/>
              <a:gd name="T15" fmla="*/ 35 h 52"/>
              <a:gd name="T16" fmla="*/ 23 w 23"/>
              <a:gd name="T17" fmla="*/ 40 h 52"/>
              <a:gd name="T18" fmla="*/ 17 w 23"/>
              <a:gd name="T19" fmla="*/ 40 h 52"/>
              <a:gd name="T20" fmla="*/ 17 w 23"/>
              <a:gd name="T21" fmla="*/ 46 h 52"/>
              <a:gd name="T22" fmla="*/ 12 w 23"/>
              <a:gd name="T23" fmla="*/ 52 h 52"/>
              <a:gd name="T24" fmla="*/ 6 w 23"/>
              <a:gd name="T25" fmla="*/ 52 h 52"/>
              <a:gd name="T26" fmla="*/ 6 w 23"/>
              <a:gd name="T27" fmla="*/ 46 h 52"/>
              <a:gd name="T28" fmla="*/ 0 w 23"/>
              <a:gd name="T29" fmla="*/ 46 h 52"/>
              <a:gd name="T30" fmla="*/ 0 w 23"/>
              <a:gd name="T31" fmla="*/ 40 h 52"/>
              <a:gd name="T32" fmla="*/ 0 w 23"/>
              <a:gd name="T33" fmla="*/ 35 h 52"/>
              <a:gd name="T34" fmla="*/ 0 w 23"/>
              <a:gd name="T35" fmla="*/ 29 h 52"/>
              <a:gd name="T36" fmla="*/ 0 w 23"/>
              <a:gd name="T37" fmla="*/ 23 h 52"/>
              <a:gd name="T38" fmla="*/ 0 w 23"/>
              <a:gd name="T39" fmla="*/ 17 h 52"/>
              <a:gd name="T40" fmla="*/ 0 w 23"/>
              <a:gd name="T41" fmla="*/ 11 h 52"/>
              <a:gd name="T42" fmla="*/ 6 w 23"/>
              <a:gd name="T43" fmla="*/ 11 h 52"/>
              <a:gd name="T44" fmla="*/ 6 w 23"/>
              <a:gd name="T45" fmla="*/ 5 h 52"/>
              <a:gd name="T46" fmla="*/ 12 w 23"/>
              <a:gd name="T47" fmla="*/ 5 h 52"/>
              <a:gd name="T48" fmla="*/ 12 w 23"/>
              <a:gd name="T49" fmla="*/ 0 h 52"/>
              <a:gd name="T50" fmla="*/ 17 w 23"/>
              <a:gd name="T51" fmla="*/ 0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3"/>
              <a:gd name="T79" fmla="*/ 0 h 52"/>
              <a:gd name="T80" fmla="*/ 23 w 23"/>
              <a:gd name="T81" fmla="*/ 52 h 5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3" h="52">
                <a:moveTo>
                  <a:pt x="17" y="0"/>
                </a:moveTo>
                <a:lnTo>
                  <a:pt x="23" y="0"/>
                </a:lnTo>
                <a:lnTo>
                  <a:pt x="23" y="5"/>
                </a:lnTo>
                <a:lnTo>
                  <a:pt x="23" y="11"/>
                </a:lnTo>
                <a:lnTo>
                  <a:pt x="23" y="17"/>
                </a:lnTo>
                <a:lnTo>
                  <a:pt x="23" y="23"/>
                </a:lnTo>
                <a:lnTo>
                  <a:pt x="23" y="29"/>
                </a:lnTo>
                <a:lnTo>
                  <a:pt x="23" y="35"/>
                </a:lnTo>
                <a:lnTo>
                  <a:pt x="23" y="40"/>
                </a:lnTo>
                <a:lnTo>
                  <a:pt x="17" y="40"/>
                </a:lnTo>
                <a:lnTo>
                  <a:pt x="17" y="46"/>
                </a:lnTo>
                <a:lnTo>
                  <a:pt x="12" y="52"/>
                </a:lnTo>
                <a:lnTo>
                  <a:pt x="6" y="52"/>
                </a:lnTo>
                <a:lnTo>
                  <a:pt x="6" y="46"/>
                </a:lnTo>
                <a:lnTo>
                  <a:pt x="0" y="46"/>
                </a:lnTo>
                <a:lnTo>
                  <a:pt x="0" y="40"/>
                </a:lnTo>
                <a:lnTo>
                  <a:pt x="0" y="35"/>
                </a:lnTo>
                <a:lnTo>
                  <a:pt x="0" y="29"/>
                </a:lnTo>
                <a:lnTo>
                  <a:pt x="0" y="23"/>
                </a:lnTo>
                <a:lnTo>
                  <a:pt x="0" y="17"/>
                </a:lnTo>
                <a:lnTo>
                  <a:pt x="0" y="11"/>
                </a:lnTo>
                <a:lnTo>
                  <a:pt x="6" y="11"/>
                </a:lnTo>
                <a:lnTo>
                  <a:pt x="6" y="5"/>
                </a:lnTo>
                <a:lnTo>
                  <a:pt x="12" y="5"/>
                </a:lnTo>
                <a:lnTo>
                  <a:pt x="12" y="0"/>
                </a:lnTo>
                <a:lnTo>
                  <a:pt x="17"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98" name="Freeform 195"/>
          <p:cNvSpPr>
            <a:spLocks/>
          </p:cNvSpPr>
          <p:nvPr/>
        </p:nvSpPr>
        <p:spPr bwMode="auto">
          <a:xfrm>
            <a:off x="6915150" y="5080000"/>
            <a:ext cx="36513" cy="82550"/>
          </a:xfrm>
          <a:custGeom>
            <a:avLst/>
            <a:gdLst>
              <a:gd name="T0" fmla="*/ 17 w 23"/>
              <a:gd name="T1" fmla="*/ 0 h 52"/>
              <a:gd name="T2" fmla="*/ 23 w 23"/>
              <a:gd name="T3" fmla="*/ 0 h 52"/>
              <a:gd name="T4" fmla="*/ 23 w 23"/>
              <a:gd name="T5" fmla="*/ 11 h 52"/>
              <a:gd name="T6" fmla="*/ 23 w 23"/>
              <a:gd name="T7" fmla="*/ 17 h 52"/>
              <a:gd name="T8" fmla="*/ 23 w 23"/>
              <a:gd name="T9" fmla="*/ 29 h 52"/>
              <a:gd name="T10" fmla="*/ 23 w 23"/>
              <a:gd name="T11" fmla="*/ 40 h 52"/>
              <a:gd name="T12" fmla="*/ 17 w 23"/>
              <a:gd name="T13" fmla="*/ 46 h 52"/>
              <a:gd name="T14" fmla="*/ 12 w 23"/>
              <a:gd name="T15" fmla="*/ 52 h 52"/>
              <a:gd name="T16" fmla="*/ 6 w 23"/>
              <a:gd name="T17" fmla="*/ 52 h 52"/>
              <a:gd name="T18" fmla="*/ 6 w 23"/>
              <a:gd name="T19" fmla="*/ 46 h 52"/>
              <a:gd name="T20" fmla="*/ 0 w 23"/>
              <a:gd name="T21" fmla="*/ 40 h 52"/>
              <a:gd name="T22" fmla="*/ 0 w 23"/>
              <a:gd name="T23" fmla="*/ 35 h 52"/>
              <a:gd name="T24" fmla="*/ 0 w 23"/>
              <a:gd name="T25" fmla="*/ 23 h 52"/>
              <a:gd name="T26" fmla="*/ 0 w 23"/>
              <a:gd name="T27" fmla="*/ 11 h 52"/>
              <a:gd name="T28" fmla="*/ 6 w 23"/>
              <a:gd name="T29" fmla="*/ 5 h 52"/>
              <a:gd name="T30" fmla="*/ 12 w 23"/>
              <a:gd name="T31" fmla="*/ 0 h 52"/>
              <a:gd name="T32" fmla="*/ 17 w 23"/>
              <a:gd name="T33" fmla="*/ 0 h 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52"/>
              <a:gd name="T53" fmla="*/ 23 w 23"/>
              <a:gd name="T54" fmla="*/ 52 h 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52">
                <a:moveTo>
                  <a:pt x="17" y="0"/>
                </a:moveTo>
                <a:lnTo>
                  <a:pt x="23" y="0"/>
                </a:lnTo>
                <a:lnTo>
                  <a:pt x="23" y="11"/>
                </a:lnTo>
                <a:lnTo>
                  <a:pt x="23" y="17"/>
                </a:lnTo>
                <a:lnTo>
                  <a:pt x="23" y="29"/>
                </a:lnTo>
                <a:lnTo>
                  <a:pt x="23" y="40"/>
                </a:lnTo>
                <a:lnTo>
                  <a:pt x="17" y="46"/>
                </a:lnTo>
                <a:lnTo>
                  <a:pt x="12" y="52"/>
                </a:lnTo>
                <a:lnTo>
                  <a:pt x="6" y="52"/>
                </a:lnTo>
                <a:lnTo>
                  <a:pt x="6" y="46"/>
                </a:lnTo>
                <a:lnTo>
                  <a:pt x="0" y="40"/>
                </a:lnTo>
                <a:lnTo>
                  <a:pt x="0" y="35"/>
                </a:lnTo>
                <a:lnTo>
                  <a:pt x="0" y="23"/>
                </a:lnTo>
                <a:lnTo>
                  <a:pt x="0" y="11"/>
                </a:lnTo>
                <a:lnTo>
                  <a:pt x="6" y="5"/>
                </a:lnTo>
                <a:lnTo>
                  <a:pt x="12" y="0"/>
                </a:lnTo>
                <a:lnTo>
                  <a:pt x="1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99" name="Freeform 196"/>
          <p:cNvSpPr>
            <a:spLocks/>
          </p:cNvSpPr>
          <p:nvPr/>
        </p:nvSpPr>
        <p:spPr bwMode="auto">
          <a:xfrm>
            <a:off x="8772525" y="4498975"/>
            <a:ext cx="1588" cy="26988"/>
          </a:xfrm>
          <a:custGeom>
            <a:avLst/>
            <a:gdLst>
              <a:gd name="T0" fmla="*/ 0 w 1588"/>
              <a:gd name="T1" fmla="*/ 0 h 17"/>
              <a:gd name="T2" fmla="*/ 0 w 1588"/>
              <a:gd name="T3" fmla="*/ 5 h 17"/>
              <a:gd name="T4" fmla="*/ 0 w 1588"/>
              <a:gd name="T5" fmla="*/ 11 h 17"/>
              <a:gd name="T6" fmla="*/ 0 w 1588"/>
              <a:gd name="T7" fmla="*/ 17 h 17"/>
              <a:gd name="T8" fmla="*/ 0 w 1588"/>
              <a:gd name="T9" fmla="*/ 11 h 17"/>
              <a:gd name="T10" fmla="*/ 0 w 1588"/>
              <a:gd name="T11" fmla="*/ 5 h 17"/>
              <a:gd name="T12" fmla="*/ 0 w 1588"/>
              <a:gd name="T13" fmla="*/ 0 h 17"/>
              <a:gd name="T14" fmla="*/ 0 60000 65536"/>
              <a:gd name="T15" fmla="*/ 0 60000 65536"/>
              <a:gd name="T16" fmla="*/ 0 60000 65536"/>
              <a:gd name="T17" fmla="*/ 0 60000 65536"/>
              <a:gd name="T18" fmla="*/ 0 60000 65536"/>
              <a:gd name="T19" fmla="*/ 0 60000 65536"/>
              <a:gd name="T20" fmla="*/ 0 60000 65536"/>
              <a:gd name="T21" fmla="*/ 0 w 1588"/>
              <a:gd name="T22" fmla="*/ 0 h 17"/>
              <a:gd name="T23" fmla="*/ 1588 w 1588"/>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7">
                <a:moveTo>
                  <a:pt x="0" y="0"/>
                </a:moveTo>
                <a:lnTo>
                  <a:pt x="0" y="5"/>
                </a:lnTo>
                <a:lnTo>
                  <a:pt x="0" y="11"/>
                </a:lnTo>
                <a:lnTo>
                  <a:pt x="0" y="17"/>
                </a:lnTo>
                <a:lnTo>
                  <a:pt x="0" y="11"/>
                </a:lnTo>
                <a:lnTo>
                  <a:pt x="0" y="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00" name="Freeform 197"/>
          <p:cNvSpPr>
            <a:spLocks/>
          </p:cNvSpPr>
          <p:nvPr/>
        </p:nvSpPr>
        <p:spPr bwMode="auto">
          <a:xfrm>
            <a:off x="8763000" y="4525963"/>
            <a:ext cx="9525" cy="1587"/>
          </a:xfrm>
          <a:custGeom>
            <a:avLst/>
            <a:gdLst>
              <a:gd name="T0" fmla="*/ 6 w 6"/>
              <a:gd name="T1" fmla="*/ 0 h 1587"/>
              <a:gd name="T2" fmla="*/ 0 w 6"/>
              <a:gd name="T3" fmla="*/ 0 h 1587"/>
              <a:gd name="T4" fmla="*/ 6 w 6"/>
              <a:gd name="T5" fmla="*/ 0 h 1587"/>
              <a:gd name="T6" fmla="*/ 0 60000 65536"/>
              <a:gd name="T7" fmla="*/ 0 60000 65536"/>
              <a:gd name="T8" fmla="*/ 0 60000 65536"/>
              <a:gd name="T9" fmla="*/ 0 w 6"/>
              <a:gd name="T10" fmla="*/ 0 h 1587"/>
              <a:gd name="T11" fmla="*/ 6 w 6"/>
              <a:gd name="T12" fmla="*/ 1587 h 1587"/>
            </a:gdLst>
            <a:ahLst/>
            <a:cxnLst>
              <a:cxn ang="T6">
                <a:pos x="T0" y="T1"/>
              </a:cxn>
              <a:cxn ang="T7">
                <a:pos x="T2" y="T3"/>
              </a:cxn>
              <a:cxn ang="T8">
                <a:pos x="T4" y="T5"/>
              </a:cxn>
            </a:cxnLst>
            <a:rect l="T9" t="T10" r="T11" b="T12"/>
            <a:pathLst>
              <a:path w="6" h="1587">
                <a:moveTo>
                  <a:pt x="6" y="0"/>
                </a:moveTo>
                <a:lnTo>
                  <a:pt x="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01" name="Rectangle 198"/>
          <p:cNvSpPr>
            <a:spLocks noChangeArrowheads="1"/>
          </p:cNvSpPr>
          <p:nvPr/>
        </p:nvSpPr>
        <p:spPr bwMode="auto">
          <a:xfrm>
            <a:off x="8496300" y="4489450"/>
            <a:ext cx="341313" cy="387350"/>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02" name="Rectangle 199"/>
          <p:cNvSpPr>
            <a:spLocks noChangeArrowheads="1"/>
          </p:cNvSpPr>
          <p:nvPr/>
        </p:nvSpPr>
        <p:spPr bwMode="auto">
          <a:xfrm>
            <a:off x="8496300" y="4489450"/>
            <a:ext cx="341313" cy="3873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03" name="Rectangle 200"/>
          <p:cNvSpPr>
            <a:spLocks noChangeArrowheads="1"/>
          </p:cNvSpPr>
          <p:nvPr/>
        </p:nvSpPr>
        <p:spPr bwMode="auto">
          <a:xfrm>
            <a:off x="8515350" y="4506913"/>
            <a:ext cx="312738" cy="350837"/>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04" name="Rectangle 201"/>
          <p:cNvSpPr>
            <a:spLocks noChangeArrowheads="1"/>
          </p:cNvSpPr>
          <p:nvPr/>
        </p:nvSpPr>
        <p:spPr bwMode="auto">
          <a:xfrm>
            <a:off x="8515350" y="4506913"/>
            <a:ext cx="312738" cy="350837"/>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05" name="Freeform 202"/>
          <p:cNvSpPr>
            <a:spLocks/>
          </p:cNvSpPr>
          <p:nvPr/>
        </p:nvSpPr>
        <p:spPr bwMode="auto">
          <a:xfrm>
            <a:off x="8696325" y="4637088"/>
            <a:ext cx="103188" cy="184150"/>
          </a:xfrm>
          <a:custGeom>
            <a:avLst/>
            <a:gdLst>
              <a:gd name="T0" fmla="*/ 6 w 65"/>
              <a:gd name="T1" fmla="*/ 17 h 116"/>
              <a:gd name="T2" fmla="*/ 0 w 65"/>
              <a:gd name="T3" fmla="*/ 99 h 116"/>
              <a:gd name="T4" fmla="*/ 12 w 65"/>
              <a:gd name="T5" fmla="*/ 110 h 116"/>
              <a:gd name="T6" fmla="*/ 12 w 65"/>
              <a:gd name="T7" fmla="*/ 104 h 116"/>
              <a:gd name="T8" fmla="*/ 18 w 65"/>
              <a:gd name="T9" fmla="*/ 104 h 116"/>
              <a:gd name="T10" fmla="*/ 18 w 65"/>
              <a:gd name="T11" fmla="*/ 70 h 116"/>
              <a:gd name="T12" fmla="*/ 42 w 65"/>
              <a:gd name="T13" fmla="*/ 116 h 116"/>
              <a:gd name="T14" fmla="*/ 48 w 65"/>
              <a:gd name="T15" fmla="*/ 116 h 116"/>
              <a:gd name="T16" fmla="*/ 53 w 65"/>
              <a:gd name="T17" fmla="*/ 99 h 116"/>
              <a:gd name="T18" fmla="*/ 30 w 65"/>
              <a:gd name="T19" fmla="*/ 52 h 116"/>
              <a:gd name="T20" fmla="*/ 65 w 65"/>
              <a:gd name="T21" fmla="*/ 29 h 116"/>
              <a:gd name="T22" fmla="*/ 59 w 65"/>
              <a:gd name="T23" fmla="*/ 11 h 116"/>
              <a:gd name="T24" fmla="*/ 24 w 65"/>
              <a:gd name="T25" fmla="*/ 35 h 116"/>
              <a:gd name="T26" fmla="*/ 30 w 65"/>
              <a:gd name="T27" fmla="*/ 11 h 116"/>
              <a:gd name="T28" fmla="*/ 12 w 65"/>
              <a:gd name="T29" fmla="*/ 0 h 116"/>
              <a:gd name="T30" fmla="*/ 6 w 65"/>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116"/>
              <a:gd name="T50" fmla="*/ 65 w 65"/>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116">
                <a:moveTo>
                  <a:pt x="6" y="17"/>
                </a:moveTo>
                <a:lnTo>
                  <a:pt x="0" y="99"/>
                </a:lnTo>
                <a:lnTo>
                  <a:pt x="12" y="110"/>
                </a:lnTo>
                <a:lnTo>
                  <a:pt x="12" y="104"/>
                </a:lnTo>
                <a:lnTo>
                  <a:pt x="18" y="104"/>
                </a:lnTo>
                <a:lnTo>
                  <a:pt x="18" y="70"/>
                </a:lnTo>
                <a:lnTo>
                  <a:pt x="42" y="116"/>
                </a:lnTo>
                <a:lnTo>
                  <a:pt x="48" y="116"/>
                </a:lnTo>
                <a:lnTo>
                  <a:pt x="53" y="99"/>
                </a:lnTo>
                <a:lnTo>
                  <a:pt x="30" y="52"/>
                </a:lnTo>
                <a:lnTo>
                  <a:pt x="65" y="29"/>
                </a:lnTo>
                <a:lnTo>
                  <a:pt x="59" y="11"/>
                </a:lnTo>
                <a:lnTo>
                  <a:pt x="24" y="35"/>
                </a:lnTo>
                <a:lnTo>
                  <a:pt x="30" y="11"/>
                </a:lnTo>
                <a:lnTo>
                  <a:pt x="12" y="0"/>
                </a:lnTo>
                <a:lnTo>
                  <a:pt x="6" y="17"/>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06" name="Freeform 203"/>
          <p:cNvSpPr>
            <a:spLocks/>
          </p:cNvSpPr>
          <p:nvPr/>
        </p:nvSpPr>
        <p:spPr bwMode="auto">
          <a:xfrm>
            <a:off x="8696325" y="4637088"/>
            <a:ext cx="103188" cy="184150"/>
          </a:xfrm>
          <a:custGeom>
            <a:avLst/>
            <a:gdLst>
              <a:gd name="T0" fmla="*/ 6 w 65"/>
              <a:gd name="T1" fmla="*/ 17 h 116"/>
              <a:gd name="T2" fmla="*/ 0 w 65"/>
              <a:gd name="T3" fmla="*/ 99 h 116"/>
              <a:gd name="T4" fmla="*/ 12 w 65"/>
              <a:gd name="T5" fmla="*/ 110 h 116"/>
              <a:gd name="T6" fmla="*/ 12 w 65"/>
              <a:gd name="T7" fmla="*/ 104 h 116"/>
              <a:gd name="T8" fmla="*/ 18 w 65"/>
              <a:gd name="T9" fmla="*/ 104 h 116"/>
              <a:gd name="T10" fmla="*/ 18 w 65"/>
              <a:gd name="T11" fmla="*/ 70 h 116"/>
              <a:gd name="T12" fmla="*/ 42 w 65"/>
              <a:gd name="T13" fmla="*/ 116 h 116"/>
              <a:gd name="T14" fmla="*/ 48 w 65"/>
              <a:gd name="T15" fmla="*/ 116 h 116"/>
              <a:gd name="T16" fmla="*/ 53 w 65"/>
              <a:gd name="T17" fmla="*/ 99 h 116"/>
              <a:gd name="T18" fmla="*/ 30 w 65"/>
              <a:gd name="T19" fmla="*/ 52 h 116"/>
              <a:gd name="T20" fmla="*/ 65 w 65"/>
              <a:gd name="T21" fmla="*/ 29 h 116"/>
              <a:gd name="T22" fmla="*/ 59 w 65"/>
              <a:gd name="T23" fmla="*/ 11 h 116"/>
              <a:gd name="T24" fmla="*/ 24 w 65"/>
              <a:gd name="T25" fmla="*/ 35 h 116"/>
              <a:gd name="T26" fmla="*/ 30 w 65"/>
              <a:gd name="T27" fmla="*/ 11 h 116"/>
              <a:gd name="T28" fmla="*/ 12 w 65"/>
              <a:gd name="T29" fmla="*/ 0 h 116"/>
              <a:gd name="T30" fmla="*/ 6 w 65"/>
              <a:gd name="T31" fmla="*/ 17 h 1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116"/>
              <a:gd name="T50" fmla="*/ 65 w 65"/>
              <a:gd name="T51" fmla="*/ 116 h 1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116">
                <a:moveTo>
                  <a:pt x="6" y="17"/>
                </a:moveTo>
                <a:lnTo>
                  <a:pt x="0" y="99"/>
                </a:lnTo>
                <a:lnTo>
                  <a:pt x="12" y="110"/>
                </a:lnTo>
                <a:lnTo>
                  <a:pt x="12" y="104"/>
                </a:lnTo>
                <a:lnTo>
                  <a:pt x="18" y="104"/>
                </a:lnTo>
                <a:lnTo>
                  <a:pt x="18" y="70"/>
                </a:lnTo>
                <a:lnTo>
                  <a:pt x="42" y="116"/>
                </a:lnTo>
                <a:lnTo>
                  <a:pt x="48" y="116"/>
                </a:lnTo>
                <a:lnTo>
                  <a:pt x="53" y="99"/>
                </a:lnTo>
                <a:lnTo>
                  <a:pt x="30" y="52"/>
                </a:lnTo>
                <a:lnTo>
                  <a:pt x="65" y="29"/>
                </a:lnTo>
                <a:lnTo>
                  <a:pt x="59" y="11"/>
                </a:lnTo>
                <a:lnTo>
                  <a:pt x="24" y="35"/>
                </a:lnTo>
                <a:lnTo>
                  <a:pt x="30" y="11"/>
                </a:lnTo>
                <a:lnTo>
                  <a:pt x="12" y="0"/>
                </a:lnTo>
                <a:lnTo>
                  <a:pt x="6" y="1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07" name="Freeform 204"/>
          <p:cNvSpPr>
            <a:spLocks/>
          </p:cNvSpPr>
          <p:nvPr/>
        </p:nvSpPr>
        <p:spPr bwMode="auto">
          <a:xfrm>
            <a:off x="8543925" y="4525963"/>
            <a:ext cx="180975" cy="157162"/>
          </a:xfrm>
          <a:custGeom>
            <a:avLst/>
            <a:gdLst>
              <a:gd name="T0" fmla="*/ 24 w 114"/>
              <a:gd name="T1" fmla="*/ 6 h 99"/>
              <a:gd name="T2" fmla="*/ 42 w 114"/>
              <a:gd name="T3" fmla="*/ 47 h 99"/>
              <a:gd name="T4" fmla="*/ 0 w 114"/>
              <a:gd name="T5" fmla="*/ 76 h 99"/>
              <a:gd name="T6" fmla="*/ 6 w 114"/>
              <a:gd name="T7" fmla="*/ 99 h 99"/>
              <a:gd name="T8" fmla="*/ 12 w 114"/>
              <a:gd name="T9" fmla="*/ 93 h 99"/>
              <a:gd name="T10" fmla="*/ 18 w 114"/>
              <a:gd name="T11" fmla="*/ 99 h 99"/>
              <a:gd name="T12" fmla="*/ 54 w 114"/>
              <a:gd name="T13" fmla="*/ 64 h 99"/>
              <a:gd name="T14" fmla="*/ 78 w 114"/>
              <a:gd name="T15" fmla="*/ 99 h 99"/>
              <a:gd name="T16" fmla="*/ 90 w 114"/>
              <a:gd name="T17" fmla="*/ 93 h 99"/>
              <a:gd name="T18" fmla="*/ 96 w 114"/>
              <a:gd name="T19" fmla="*/ 87 h 99"/>
              <a:gd name="T20" fmla="*/ 72 w 114"/>
              <a:gd name="T21" fmla="*/ 52 h 99"/>
              <a:gd name="T22" fmla="*/ 114 w 114"/>
              <a:gd name="T23" fmla="*/ 12 h 99"/>
              <a:gd name="T24" fmla="*/ 96 w 114"/>
              <a:gd name="T25" fmla="*/ 0 h 99"/>
              <a:gd name="T26" fmla="*/ 60 w 114"/>
              <a:gd name="T27" fmla="*/ 29 h 99"/>
              <a:gd name="T28" fmla="*/ 42 w 114"/>
              <a:gd name="T29" fmla="*/ 0 h 99"/>
              <a:gd name="T30" fmla="*/ 36 w 114"/>
              <a:gd name="T31" fmla="*/ 0 h 99"/>
              <a:gd name="T32" fmla="*/ 30 w 114"/>
              <a:gd name="T33" fmla="*/ 0 h 99"/>
              <a:gd name="T34" fmla="*/ 24 w 114"/>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9"/>
              <a:gd name="T56" fmla="*/ 114 w 114"/>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9">
                <a:moveTo>
                  <a:pt x="24" y="6"/>
                </a:moveTo>
                <a:lnTo>
                  <a:pt x="42" y="47"/>
                </a:lnTo>
                <a:lnTo>
                  <a:pt x="0" y="76"/>
                </a:lnTo>
                <a:lnTo>
                  <a:pt x="6" y="99"/>
                </a:lnTo>
                <a:lnTo>
                  <a:pt x="12" y="93"/>
                </a:lnTo>
                <a:lnTo>
                  <a:pt x="18" y="99"/>
                </a:lnTo>
                <a:lnTo>
                  <a:pt x="54" y="64"/>
                </a:lnTo>
                <a:lnTo>
                  <a:pt x="78" y="99"/>
                </a:lnTo>
                <a:lnTo>
                  <a:pt x="90" y="93"/>
                </a:lnTo>
                <a:lnTo>
                  <a:pt x="96" y="87"/>
                </a:lnTo>
                <a:lnTo>
                  <a:pt x="72" y="52"/>
                </a:lnTo>
                <a:lnTo>
                  <a:pt x="114" y="12"/>
                </a:lnTo>
                <a:lnTo>
                  <a:pt x="96" y="0"/>
                </a:lnTo>
                <a:lnTo>
                  <a:pt x="60" y="29"/>
                </a:lnTo>
                <a:lnTo>
                  <a:pt x="42" y="0"/>
                </a:lnTo>
                <a:lnTo>
                  <a:pt x="36" y="0"/>
                </a:lnTo>
                <a:lnTo>
                  <a:pt x="30" y="0"/>
                </a:lnTo>
                <a:lnTo>
                  <a:pt x="24" y="6"/>
                </a:lnTo>
                <a:close/>
              </a:path>
            </a:pathLst>
          </a:custGeom>
          <a:solidFill>
            <a:srgbClr val="FF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08" name="Freeform 205"/>
          <p:cNvSpPr>
            <a:spLocks/>
          </p:cNvSpPr>
          <p:nvPr/>
        </p:nvSpPr>
        <p:spPr bwMode="auto">
          <a:xfrm>
            <a:off x="8543925" y="4525963"/>
            <a:ext cx="180975" cy="157162"/>
          </a:xfrm>
          <a:custGeom>
            <a:avLst/>
            <a:gdLst>
              <a:gd name="T0" fmla="*/ 24 w 114"/>
              <a:gd name="T1" fmla="*/ 6 h 99"/>
              <a:gd name="T2" fmla="*/ 42 w 114"/>
              <a:gd name="T3" fmla="*/ 47 h 99"/>
              <a:gd name="T4" fmla="*/ 0 w 114"/>
              <a:gd name="T5" fmla="*/ 76 h 99"/>
              <a:gd name="T6" fmla="*/ 6 w 114"/>
              <a:gd name="T7" fmla="*/ 99 h 99"/>
              <a:gd name="T8" fmla="*/ 12 w 114"/>
              <a:gd name="T9" fmla="*/ 93 h 99"/>
              <a:gd name="T10" fmla="*/ 18 w 114"/>
              <a:gd name="T11" fmla="*/ 99 h 99"/>
              <a:gd name="T12" fmla="*/ 54 w 114"/>
              <a:gd name="T13" fmla="*/ 64 h 99"/>
              <a:gd name="T14" fmla="*/ 78 w 114"/>
              <a:gd name="T15" fmla="*/ 99 h 99"/>
              <a:gd name="T16" fmla="*/ 90 w 114"/>
              <a:gd name="T17" fmla="*/ 93 h 99"/>
              <a:gd name="T18" fmla="*/ 96 w 114"/>
              <a:gd name="T19" fmla="*/ 87 h 99"/>
              <a:gd name="T20" fmla="*/ 72 w 114"/>
              <a:gd name="T21" fmla="*/ 52 h 99"/>
              <a:gd name="T22" fmla="*/ 114 w 114"/>
              <a:gd name="T23" fmla="*/ 12 h 99"/>
              <a:gd name="T24" fmla="*/ 96 w 114"/>
              <a:gd name="T25" fmla="*/ 0 h 99"/>
              <a:gd name="T26" fmla="*/ 60 w 114"/>
              <a:gd name="T27" fmla="*/ 29 h 99"/>
              <a:gd name="T28" fmla="*/ 42 w 114"/>
              <a:gd name="T29" fmla="*/ 0 h 99"/>
              <a:gd name="T30" fmla="*/ 36 w 114"/>
              <a:gd name="T31" fmla="*/ 0 h 99"/>
              <a:gd name="T32" fmla="*/ 30 w 114"/>
              <a:gd name="T33" fmla="*/ 0 h 99"/>
              <a:gd name="T34" fmla="*/ 24 w 114"/>
              <a:gd name="T35" fmla="*/ 6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4"/>
              <a:gd name="T55" fmla="*/ 0 h 99"/>
              <a:gd name="T56" fmla="*/ 114 w 114"/>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4" h="99">
                <a:moveTo>
                  <a:pt x="24" y="6"/>
                </a:moveTo>
                <a:lnTo>
                  <a:pt x="42" y="47"/>
                </a:lnTo>
                <a:lnTo>
                  <a:pt x="0" y="76"/>
                </a:lnTo>
                <a:lnTo>
                  <a:pt x="6" y="99"/>
                </a:lnTo>
                <a:lnTo>
                  <a:pt x="12" y="93"/>
                </a:lnTo>
                <a:lnTo>
                  <a:pt x="18" y="99"/>
                </a:lnTo>
                <a:lnTo>
                  <a:pt x="54" y="64"/>
                </a:lnTo>
                <a:lnTo>
                  <a:pt x="78" y="99"/>
                </a:lnTo>
                <a:lnTo>
                  <a:pt x="90" y="93"/>
                </a:lnTo>
                <a:lnTo>
                  <a:pt x="96" y="87"/>
                </a:lnTo>
                <a:lnTo>
                  <a:pt x="72" y="52"/>
                </a:lnTo>
                <a:lnTo>
                  <a:pt x="114" y="12"/>
                </a:lnTo>
                <a:lnTo>
                  <a:pt x="96" y="0"/>
                </a:lnTo>
                <a:lnTo>
                  <a:pt x="60" y="29"/>
                </a:lnTo>
                <a:lnTo>
                  <a:pt x="42" y="0"/>
                </a:lnTo>
                <a:lnTo>
                  <a:pt x="36" y="0"/>
                </a:lnTo>
                <a:lnTo>
                  <a:pt x="30" y="0"/>
                </a:lnTo>
                <a:lnTo>
                  <a:pt x="24" y="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09" name="Freeform 206"/>
          <p:cNvSpPr>
            <a:spLocks/>
          </p:cNvSpPr>
          <p:nvPr/>
        </p:nvSpPr>
        <p:spPr bwMode="auto">
          <a:xfrm>
            <a:off x="8553450" y="4673600"/>
            <a:ext cx="114300" cy="157163"/>
          </a:xfrm>
          <a:custGeom>
            <a:avLst/>
            <a:gdLst>
              <a:gd name="T0" fmla="*/ 48 w 72"/>
              <a:gd name="T1" fmla="*/ 0 h 99"/>
              <a:gd name="T2" fmla="*/ 48 w 72"/>
              <a:gd name="T3" fmla="*/ 6 h 99"/>
              <a:gd name="T4" fmla="*/ 54 w 72"/>
              <a:gd name="T5" fmla="*/ 6 h 99"/>
              <a:gd name="T6" fmla="*/ 60 w 72"/>
              <a:gd name="T7" fmla="*/ 6 h 99"/>
              <a:gd name="T8" fmla="*/ 60 w 72"/>
              <a:gd name="T9" fmla="*/ 12 h 99"/>
              <a:gd name="T10" fmla="*/ 66 w 72"/>
              <a:gd name="T11" fmla="*/ 17 h 99"/>
              <a:gd name="T12" fmla="*/ 66 w 72"/>
              <a:gd name="T13" fmla="*/ 23 h 99"/>
              <a:gd name="T14" fmla="*/ 72 w 72"/>
              <a:gd name="T15" fmla="*/ 29 h 99"/>
              <a:gd name="T16" fmla="*/ 72 w 72"/>
              <a:gd name="T17" fmla="*/ 35 h 99"/>
              <a:gd name="T18" fmla="*/ 72 w 72"/>
              <a:gd name="T19" fmla="*/ 41 h 99"/>
              <a:gd name="T20" fmla="*/ 72 w 72"/>
              <a:gd name="T21" fmla="*/ 47 h 99"/>
              <a:gd name="T22" fmla="*/ 72 w 72"/>
              <a:gd name="T23" fmla="*/ 52 h 99"/>
              <a:gd name="T24" fmla="*/ 72 w 72"/>
              <a:gd name="T25" fmla="*/ 58 h 99"/>
              <a:gd name="T26" fmla="*/ 66 w 72"/>
              <a:gd name="T27" fmla="*/ 64 h 99"/>
              <a:gd name="T28" fmla="*/ 66 w 72"/>
              <a:gd name="T29" fmla="*/ 70 h 99"/>
              <a:gd name="T30" fmla="*/ 66 w 72"/>
              <a:gd name="T31" fmla="*/ 76 h 99"/>
              <a:gd name="T32" fmla="*/ 60 w 72"/>
              <a:gd name="T33" fmla="*/ 76 h 99"/>
              <a:gd name="T34" fmla="*/ 60 w 72"/>
              <a:gd name="T35" fmla="*/ 81 h 99"/>
              <a:gd name="T36" fmla="*/ 60 w 72"/>
              <a:gd name="T37" fmla="*/ 87 h 99"/>
              <a:gd name="T38" fmla="*/ 54 w 72"/>
              <a:gd name="T39" fmla="*/ 87 h 99"/>
              <a:gd name="T40" fmla="*/ 54 w 72"/>
              <a:gd name="T41" fmla="*/ 93 h 99"/>
              <a:gd name="T42" fmla="*/ 48 w 72"/>
              <a:gd name="T43" fmla="*/ 93 h 99"/>
              <a:gd name="T44" fmla="*/ 42 w 72"/>
              <a:gd name="T45" fmla="*/ 93 h 99"/>
              <a:gd name="T46" fmla="*/ 42 w 72"/>
              <a:gd name="T47" fmla="*/ 99 h 99"/>
              <a:gd name="T48" fmla="*/ 36 w 72"/>
              <a:gd name="T49" fmla="*/ 99 h 99"/>
              <a:gd name="T50" fmla="*/ 30 w 72"/>
              <a:gd name="T51" fmla="*/ 99 h 99"/>
              <a:gd name="T52" fmla="*/ 24 w 72"/>
              <a:gd name="T53" fmla="*/ 99 h 99"/>
              <a:gd name="T54" fmla="*/ 24 w 72"/>
              <a:gd name="T55" fmla="*/ 93 h 99"/>
              <a:gd name="T56" fmla="*/ 18 w 72"/>
              <a:gd name="T57" fmla="*/ 93 h 99"/>
              <a:gd name="T58" fmla="*/ 12 w 72"/>
              <a:gd name="T59" fmla="*/ 93 h 99"/>
              <a:gd name="T60" fmla="*/ 12 w 72"/>
              <a:gd name="T61" fmla="*/ 87 h 99"/>
              <a:gd name="T62" fmla="*/ 6 w 72"/>
              <a:gd name="T63" fmla="*/ 81 h 99"/>
              <a:gd name="T64" fmla="*/ 6 w 72"/>
              <a:gd name="T65" fmla="*/ 76 h 99"/>
              <a:gd name="T66" fmla="*/ 6 w 72"/>
              <a:gd name="T67" fmla="*/ 70 h 99"/>
              <a:gd name="T68" fmla="*/ 0 w 72"/>
              <a:gd name="T69" fmla="*/ 64 h 99"/>
              <a:gd name="T70" fmla="*/ 0 w 72"/>
              <a:gd name="T71" fmla="*/ 58 h 99"/>
              <a:gd name="T72" fmla="*/ 0 w 72"/>
              <a:gd name="T73" fmla="*/ 52 h 99"/>
              <a:gd name="T74" fmla="*/ 0 w 72"/>
              <a:gd name="T75" fmla="*/ 47 h 99"/>
              <a:gd name="T76" fmla="*/ 6 w 72"/>
              <a:gd name="T77" fmla="*/ 47 h 99"/>
              <a:gd name="T78" fmla="*/ 6 w 72"/>
              <a:gd name="T79" fmla="*/ 41 h 99"/>
              <a:gd name="T80" fmla="*/ 6 w 72"/>
              <a:gd name="T81" fmla="*/ 35 h 99"/>
              <a:gd name="T82" fmla="*/ 6 w 72"/>
              <a:gd name="T83" fmla="*/ 29 h 99"/>
              <a:gd name="T84" fmla="*/ 12 w 72"/>
              <a:gd name="T85" fmla="*/ 23 h 99"/>
              <a:gd name="T86" fmla="*/ 12 w 72"/>
              <a:gd name="T87" fmla="*/ 17 h 99"/>
              <a:gd name="T88" fmla="*/ 18 w 72"/>
              <a:gd name="T89" fmla="*/ 17 h 99"/>
              <a:gd name="T90" fmla="*/ 18 w 72"/>
              <a:gd name="T91" fmla="*/ 12 h 99"/>
              <a:gd name="T92" fmla="*/ 24 w 72"/>
              <a:gd name="T93" fmla="*/ 12 h 99"/>
              <a:gd name="T94" fmla="*/ 24 w 72"/>
              <a:gd name="T95" fmla="*/ 6 h 99"/>
              <a:gd name="T96" fmla="*/ 30 w 72"/>
              <a:gd name="T97" fmla="*/ 6 h 99"/>
              <a:gd name="T98" fmla="*/ 36 w 72"/>
              <a:gd name="T99" fmla="*/ 6 h 99"/>
              <a:gd name="T100" fmla="*/ 36 w 72"/>
              <a:gd name="T101" fmla="*/ 0 h 99"/>
              <a:gd name="T102" fmla="*/ 42 w 72"/>
              <a:gd name="T103" fmla="*/ 0 h 99"/>
              <a:gd name="T104" fmla="*/ 48 w 72"/>
              <a:gd name="T105" fmla="*/ 0 h 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2"/>
              <a:gd name="T160" fmla="*/ 0 h 99"/>
              <a:gd name="T161" fmla="*/ 72 w 72"/>
              <a:gd name="T162" fmla="*/ 99 h 9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2" h="99">
                <a:moveTo>
                  <a:pt x="48" y="0"/>
                </a:moveTo>
                <a:lnTo>
                  <a:pt x="48" y="6"/>
                </a:lnTo>
                <a:lnTo>
                  <a:pt x="54" y="6"/>
                </a:lnTo>
                <a:lnTo>
                  <a:pt x="60" y="6"/>
                </a:lnTo>
                <a:lnTo>
                  <a:pt x="60" y="12"/>
                </a:lnTo>
                <a:lnTo>
                  <a:pt x="66" y="17"/>
                </a:lnTo>
                <a:lnTo>
                  <a:pt x="66" y="23"/>
                </a:lnTo>
                <a:lnTo>
                  <a:pt x="72" y="29"/>
                </a:lnTo>
                <a:lnTo>
                  <a:pt x="72" y="35"/>
                </a:lnTo>
                <a:lnTo>
                  <a:pt x="72" y="41"/>
                </a:lnTo>
                <a:lnTo>
                  <a:pt x="72" y="47"/>
                </a:lnTo>
                <a:lnTo>
                  <a:pt x="72" y="52"/>
                </a:lnTo>
                <a:lnTo>
                  <a:pt x="72" y="58"/>
                </a:lnTo>
                <a:lnTo>
                  <a:pt x="66" y="64"/>
                </a:lnTo>
                <a:lnTo>
                  <a:pt x="66" y="70"/>
                </a:lnTo>
                <a:lnTo>
                  <a:pt x="66" y="76"/>
                </a:lnTo>
                <a:lnTo>
                  <a:pt x="60" y="76"/>
                </a:lnTo>
                <a:lnTo>
                  <a:pt x="60" y="81"/>
                </a:lnTo>
                <a:lnTo>
                  <a:pt x="60" y="87"/>
                </a:lnTo>
                <a:lnTo>
                  <a:pt x="54" y="87"/>
                </a:lnTo>
                <a:lnTo>
                  <a:pt x="54" y="93"/>
                </a:lnTo>
                <a:lnTo>
                  <a:pt x="48" y="93"/>
                </a:lnTo>
                <a:lnTo>
                  <a:pt x="42" y="93"/>
                </a:lnTo>
                <a:lnTo>
                  <a:pt x="42" y="99"/>
                </a:lnTo>
                <a:lnTo>
                  <a:pt x="36" y="99"/>
                </a:lnTo>
                <a:lnTo>
                  <a:pt x="30" y="99"/>
                </a:lnTo>
                <a:lnTo>
                  <a:pt x="24" y="99"/>
                </a:lnTo>
                <a:lnTo>
                  <a:pt x="24" y="93"/>
                </a:lnTo>
                <a:lnTo>
                  <a:pt x="18" y="93"/>
                </a:lnTo>
                <a:lnTo>
                  <a:pt x="12" y="93"/>
                </a:lnTo>
                <a:lnTo>
                  <a:pt x="12" y="87"/>
                </a:lnTo>
                <a:lnTo>
                  <a:pt x="6" y="81"/>
                </a:lnTo>
                <a:lnTo>
                  <a:pt x="6" y="76"/>
                </a:lnTo>
                <a:lnTo>
                  <a:pt x="6" y="70"/>
                </a:lnTo>
                <a:lnTo>
                  <a:pt x="0" y="64"/>
                </a:lnTo>
                <a:lnTo>
                  <a:pt x="0" y="58"/>
                </a:lnTo>
                <a:lnTo>
                  <a:pt x="0" y="52"/>
                </a:lnTo>
                <a:lnTo>
                  <a:pt x="0" y="47"/>
                </a:lnTo>
                <a:lnTo>
                  <a:pt x="6" y="47"/>
                </a:lnTo>
                <a:lnTo>
                  <a:pt x="6" y="41"/>
                </a:lnTo>
                <a:lnTo>
                  <a:pt x="6" y="35"/>
                </a:lnTo>
                <a:lnTo>
                  <a:pt x="6" y="29"/>
                </a:lnTo>
                <a:lnTo>
                  <a:pt x="12" y="23"/>
                </a:lnTo>
                <a:lnTo>
                  <a:pt x="12" y="17"/>
                </a:lnTo>
                <a:lnTo>
                  <a:pt x="18" y="17"/>
                </a:lnTo>
                <a:lnTo>
                  <a:pt x="18" y="12"/>
                </a:lnTo>
                <a:lnTo>
                  <a:pt x="24" y="12"/>
                </a:lnTo>
                <a:lnTo>
                  <a:pt x="24" y="6"/>
                </a:lnTo>
                <a:lnTo>
                  <a:pt x="30" y="6"/>
                </a:lnTo>
                <a:lnTo>
                  <a:pt x="36" y="6"/>
                </a:lnTo>
                <a:lnTo>
                  <a:pt x="36" y="0"/>
                </a:lnTo>
                <a:lnTo>
                  <a:pt x="42" y="0"/>
                </a:lnTo>
                <a:lnTo>
                  <a:pt x="48" y="0"/>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10" name="Freeform 207"/>
          <p:cNvSpPr>
            <a:spLocks/>
          </p:cNvSpPr>
          <p:nvPr/>
        </p:nvSpPr>
        <p:spPr bwMode="auto">
          <a:xfrm>
            <a:off x="8553450" y="4673600"/>
            <a:ext cx="114300" cy="157163"/>
          </a:xfrm>
          <a:custGeom>
            <a:avLst/>
            <a:gdLst>
              <a:gd name="T0" fmla="*/ 48 w 72"/>
              <a:gd name="T1" fmla="*/ 0 h 99"/>
              <a:gd name="T2" fmla="*/ 60 w 72"/>
              <a:gd name="T3" fmla="*/ 6 h 99"/>
              <a:gd name="T4" fmla="*/ 66 w 72"/>
              <a:gd name="T5" fmla="*/ 17 h 99"/>
              <a:gd name="T6" fmla="*/ 72 w 72"/>
              <a:gd name="T7" fmla="*/ 35 h 99"/>
              <a:gd name="T8" fmla="*/ 72 w 72"/>
              <a:gd name="T9" fmla="*/ 58 h 99"/>
              <a:gd name="T10" fmla="*/ 66 w 72"/>
              <a:gd name="T11" fmla="*/ 76 h 99"/>
              <a:gd name="T12" fmla="*/ 54 w 72"/>
              <a:gd name="T13" fmla="*/ 87 h 99"/>
              <a:gd name="T14" fmla="*/ 42 w 72"/>
              <a:gd name="T15" fmla="*/ 93 h 99"/>
              <a:gd name="T16" fmla="*/ 30 w 72"/>
              <a:gd name="T17" fmla="*/ 99 h 99"/>
              <a:gd name="T18" fmla="*/ 18 w 72"/>
              <a:gd name="T19" fmla="*/ 93 h 99"/>
              <a:gd name="T20" fmla="*/ 6 w 72"/>
              <a:gd name="T21" fmla="*/ 81 h 99"/>
              <a:gd name="T22" fmla="*/ 0 w 72"/>
              <a:gd name="T23" fmla="*/ 64 h 99"/>
              <a:gd name="T24" fmla="*/ 6 w 72"/>
              <a:gd name="T25" fmla="*/ 47 h 99"/>
              <a:gd name="T26" fmla="*/ 12 w 72"/>
              <a:gd name="T27" fmla="*/ 23 h 99"/>
              <a:gd name="T28" fmla="*/ 18 w 72"/>
              <a:gd name="T29" fmla="*/ 12 h 99"/>
              <a:gd name="T30" fmla="*/ 30 w 72"/>
              <a:gd name="T31" fmla="*/ 6 h 99"/>
              <a:gd name="T32" fmla="*/ 48 w 72"/>
              <a:gd name="T33" fmla="*/ 0 h 9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
              <a:gd name="T52" fmla="*/ 0 h 99"/>
              <a:gd name="T53" fmla="*/ 72 w 72"/>
              <a:gd name="T54" fmla="*/ 99 h 9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 h="99">
                <a:moveTo>
                  <a:pt x="48" y="0"/>
                </a:moveTo>
                <a:lnTo>
                  <a:pt x="60" y="6"/>
                </a:lnTo>
                <a:lnTo>
                  <a:pt x="66" y="17"/>
                </a:lnTo>
                <a:lnTo>
                  <a:pt x="72" y="35"/>
                </a:lnTo>
                <a:lnTo>
                  <a:pt x="72" y="58"/>
                </a:lnTo>
                <a:lnTo>
                  <a:pt x="66" y="76"/>
                </a:lnTo>
                <a:lnTo>
                  <a:pt x="54" y="87"/>
                </a:lnTo>
                <a:lnTo>
                  <a:pt x="42" y="93"/>
                </a:lnTo>
                <a:lnTo>
                  <a:pt x="30" y="99"/>
                </a:lnTo>
                <a:lnTo>
                  <a:pt x="18" y="93"/>
                </a:lnTo>
                <a:lnTo>
                  <a:pt x="6" y="81"/>
                </a:lnTo>
                <a:lnTo>
                  <a:pt x="0" y="64"/>
                </a:lnTo>
                <a:lnTo>
                  <a:pt x="6" y="47"/>
                </a:lnTo>
                <a:lnTo>
                  <a:pt x="12" y="23"/>
                </a:lnTo>
                <a:lnTo>
                  <a:pt x="18" y="12"/>
                </a:lnTo>
                <a:lnTo>
                  <a:pt x="30" y="6"/>
                </a:lnTo>
                <a:lnTo>
                  <a:pt x="4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11" name="Freeform 208"/>
          <p:cNvSpPr>
            <a:spLocks/>
          </p:cNvSpPr>
          <p:nvPr/>
        </p:nvSpPr>
        <p:spPr bwMode="auto">
          <a:xfrm>
            <a:off x="8582025" y="4710113"/>
            <a:ext cx="47625" cy="74612"/>
          </a:xfrm>
          <a:custGeom>
            <a:avLst/>
            <a:gdLst>
              <a:gd name="T0" fmla="*/ 24 w 30"/>
              <a:gd name="T1" fmla="*/ 0 h 47"/>
              <a:gd name="T2" fmla="*/ 30 w 30"/>
              <a:gd name="T3" fmla="*/ 0 h 47"/>
              <a:gd name="T4" fmla="*/ 30 w 30"/>
              <a:gd name="T5" fmla="*/ 6 h 47"/>
              <a:gd name="T6" fmla="*/ 30 w 30"/>
              <a:gd name="T7" fmla="*/ 12 h 47"/>
              <a:gd name="T8" fmla="*/ 30 w 30"/>
              <a:gd name="T9" fmla="*/ 18 h 47"/>
              <a:gd name="T10" fmla="*/ 30 w 30"/>
              <a:gd name="T11" fmla="*/ 24 h 47"/>
              <a:gd name="T12" fmla="*/ 30 w 30"/>
              <a:gd name="T13" fmla="*/ 29 h 47"/>
              <a:gd name="T14" fmla="*/ 30 w 30"/>
              <a:gd name="T15" fmla="*/ 35 h 47"/>
              <a:gd name="T16" fmla="*/ 24 w 30"/>
              <a:gd name="T17" fmla="*/ 35 h 47"/>
              <a:gd name="T18" fmla="*/ 24 w 30"/>
              <a:gd name="T19" fmla="*/ 41 h 47"/>
              <a:gd name="T20" fmla="*/ 24 w 30"/>
              <a:gd name="T21" fmla="*/ 47 h 47"/>
              <a:gd name="T22" fmla="*/ 18 w 30"/>
              <a:gd name="T23" fmla="*/ 47 h 47"/>
              <a:gd name="T24" fmla="*/ 12 w 30"/>
              <a:gd name="T25" fmla="*/ 47 h 47"/>
              <a:gd name="T26" fmla="*/ 6 w 30"/>
              <a:gd name="T27" fmla="*/ 47 h 47"/>
              <a:gd name="T28" fmla="*/ 6 w 30"/>
              <a:gd name="T29" fmla="*/ 41 h 47"/>
              <a:gd name="T30" fmla="*/ 6 w 30"/>
              <a:gd name="T31" fmla="*/ 35 h 47"/>
              <a:gd name="T32" fmla="*/ 0 w 30"/>
              <a:gd name="T33" fmla="*/ 29 h 47"/>
              <a:gd name="T34" fmla="*/ 6 w 30"/>
              <a:gd name="T35" fmla="*/ 29 h 47"/>
              <a:gd name="T36" fmla="*/ 6 w 30"/>
              <a:gd name="T37" fmla="*/ 24 h 47"/>
              <a:gd name="T38" fmla="*/ 6 w 30"/>
              <a:gd name="T39" fmla="*/ 18 h 47"/>
              <a:gd name="T40" fmla="*/ 6 w 30"/>
              <a:gd name="T41" fmla="*/ 12 h 47"/>
              <a:gd name="T42" fmla="*/ 6 w 30"/>
              <a:gd name="T43" fmla="*/ 6 h 47"/>
              <a:gd name="T44" fmla="*/ 12 w 30"/>
              <a:gd name="T45" fmla="*/ 6 h 47"/>
              <a:gd name="T46" fmla="*/ 12 w 30"/>
              <a:gd name="T47" fmla="*/ 0 h 47"/>
              <a:gd name="T48" fmla="*/ 18 w 30"/>
              <a:gd name="T49" fmla="*/ 0 h 47"/>
              <a:gd name="T50" fmla="*/ 24 w 30"/>
              <a:gd name="T51" fmla="*/ 0 h 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0"/>
              <a:gd name="T79" fmla="*/ 0 h 47"/>
              <a:gd name="T80" fmla="*/ 30 w 30"/>
              <a:gd name="T81" fmla="*/ 47 h 4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0" h="47">
                <a:moveTo>
                  <a:pt x="24" y="0"/>
                </a:moveTo>
                <a:lnTo>
                  <a:pt x="30" y="0"/>
                </a:lnTo>
                <a:lnTo>
                  <a:pt x="30" y="6"/>
                </a:lnTo>
                <a:lnTo>
                  <a:pt x="30" y="12"/>
                </a:lnTo>
                <a:lnTo>
                  <a:pt x="30" y="18"/>
                </a:lnTo>
                <a:lnTo>
                  <a:pt x="30" y="24"/>
                </a:lnTo>
                <a:lnTo>
                  <a:pt x="30" y="29"/>
                </a:lnTo>
                <a:lnTo>
                  <a:pt x="30" y="35"/>
                </a:lnTo>
                <a:lnTo>
                  <a:pt x="24" y="35"/>
                </a:lnTo>
                <a:lnTo>
                  <a:pt x="24" y="41"/>
                </a:lnTo>
                <a:lnTo>
                  <a:pt x="24" y="47"/>
                </a:lnTo>
                <a:lnTo>
                  <a:pt x="18" y="47"/>
                </a:lnTo>
                <a:lnTo>
                  <a:pt x="12" y="47"/>
                </a:lnTo>
                <a:lnTo>
                  <a:pt x="6" y="47"/>
                </a:lnTo>
                <a:lnTo>
                  <a:pt x="6" y="41"/>
                </a:lnTo>
                <a:lnTo>
                  <a:pt x="6" y="35"/>
                </a:lnTo>
                <a:lnTo>
                  <a:pt x="0" y="29"/>
                </a:lnTo>
                <a:lnTo>
                  <a:pt x="6" y="29"/>
                </a:lnTo>
                <a:lnTo>
                  <a:pt x="6" y="24"/>
                </a:lnTo>
                <a:lnTo>
                  <a:pt x="6" y="18"/>
                </a:lnTo>
                <a:lnTo>
                  <a:pt x="6" y="12"/>
                </a:lnTo>
                <a:lnTo>
                  <a:pt x="6" y="6"/>
                </a:lnTo>
                <a:lnTo>
                  <a:pt x="12" y="6"/>
                </a:lnTo>
                <a:lnTo>
                  <a:pt x="12" y="0"/>
                </a:lnTo>
                <a:lnTo>
                  <a:pt x="18" y="0"/>
                </a:lnTo>
                <a:lnTo>
                  <a:pt x="24"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12" name="Freeform 209"/>
          <p:cNvSpPr>
            <a:spLocks/>
          </p:cNvSpPr>
          <p:nvPr/>
        </p:nvSpPr>
        <p:spPr bwMode="auto">
          <a:xfrm>
            <a:off x="8582025" y="4710113"/>
            <a:ext cx="47625" cy="74612"/>
          </a:xfrm>
          <a:custGeom>
            <a:avLst/>
            <a:gdLst>
              <a:gd name="T0" fmla="*/ 24 w 30"/>
              <a:gd name="T1" fmla="*/ 0 h 47"/>
              <a:gd name="T2" fmla="*/ 30 w 30"/>
              <a:gd name="T3" fmla="*/ 6 h 47"/>
              <a:gd name="T4" fmla="*/ 30 w 30"/>
              <a:gd name="T5" fmla="*/ 18 h 47"/>
              <a:gd name="T6" fmla="*/ 30 w 30"/>
              <a:gd name="T7" fmla="*/ 24 h 47"/>
              <a:gd name="T8" fmla="*/ 30 w 30"/>
              <a:gd name="T9" fmla="*/ 35 h 47"/>
              <a:gd name="T10" fmla="*/ 24 w 30"/>
              <a:gd name="T11" fmla="*/ 41 h 47"/>
              <a:gd name="T12" fmla="*/ 18 w 30"/>
              <a:gd name="T13" fmla="*/ 47 h 47"/>
              <a:gd name="T14" fmla="*/ 12 w 30"/>
              <a:gd name="T15" fmla="*/ 47 h 47"/>
              <a:gd name="T16" fmla="*/ 6 w 30"/>
              <a:gd name="T17" fmla="*/ 47 h 47"/>
              <a:gd name="T18" fmla="*/ 6 w 30"/>
              <a:gd name="T19" fmla="*/ 41 h 47"/>
              <a:gd name="T20" fmla="*/ 0 w 30"/>
              <a:gd name="T21" fmla="*/ 29 h 47"/>
              <a:gd name="T22" fmla="*/ 6 w 30"/>
              <a:gd name="T23" fmla="*/ 24 h 47"/>
              <a:gd name="T24" fmla="*/ 6 w 30"/>
              <a:gd name="T25" fmla="*/ 12 h 47"/>
              <a:gd name="T26" fmla="*/ 12 w 30"/>
              <a:gd name="T27" fmla="*/ 6 h 47"/>
              <a:gd name="T28" fmla="*/ 18 w 30"/>
              <a:gd name="T29" fmla="*/ 0 h 47"/>
              <a:gd name="T30" fmla="*/ 24 w 30"/>
              <a:gd name="T31" fmla="*/ 0 h 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
              <a:gd name="T49" fmla="*/ 0 h 47"/>
              <a:gd name="T50" fmla="*/ 30 w 30"/>
              <a:gd name="T51" fmla="*/ 47 h 4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 h="47">
                <a:moveTo>
                  <a:pt x="24" y="0"/>
                </a:moveTo>
                <a:lnTo>
                  <a:pt x="30" y="6"/>
                </a:lnTo>
                <a:lnTo>
                  <a:pt x="30" y="18"/>
                </a:lnTo>
                <a:lnTo>
                  <a:pt x="30" y="24"/>
                </a:lnTo>
                <a:lnTo>
                  <a:pt x="30" y="35"/>
                </a:lnTo>
                <a:lnTo>
                  <a:pt x="24" y="41"/>
                </a:lnTo>
                <a:lnTo>
                  <a:pt x="18" y="47"/>
                </a:lnTo>
                <a:lnTo>
                  <a:pt x="12" y="47"/>
                </a:lnTo>
                <a:lnTo>
                  <a:pt x="6" y="47"/>
                </a:lnTo>
                <a:lnTo>
                  <a:pt x="6" y="41"/>
                </a:lnTo>
                <a:lnTo>
                  <a:pt x="0" y="29"/>
                </a:lnTo>
                <a:lnTo>
                  <a:pt x="6" y="24"/>
                </a:lnTo>
                <a:lnTo>
                  <a:pt x="6" y="12"/>
                </a:lnTo>
                <a:lnTo>
                  <a:pt x="12" y="6"/>
                </a:lnTo>
                <a:lnTo>
                  <a:pt x="18" y="0"/>
                </a:lnTo>
                <a:lnTo>
                  <a:pt x="24"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13" name="Line 210"/>
          <p:cNvSpPr>
            <a:spLocks noChangeShapeType="1"/>
          </p:cNvSpPr>
          <p:nvPr/>
        </p:nvSpPr>
        <p:spPr bwMode="auto">
          <a:xfrm flipH="1" flipV="1">
            <a:off x="7189788" y="5106988"/>
            <a:ext cx="425450" cy="92075"/>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4" name="Line 211"/>
          <p:cNvSpPr>
            <a:spLocks noChangeShapeType="1"/>
          </p:cNvSpPr>
          <p:nvPr/>
        </p:nvSpPr>
        <p:spPr bwMode="auto">
          <a:xfrm flipV="1">
            <a:off x="7123113" y="4470400"/>
            <a:ext cx="227012" cy="369888"/>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5" name="Line 212"/>
          <p:cNvSpPr>
            <a:spLocks noChangeShapeType="1"/>
          </p:cNvSpPr>
          <p:nvPr/>
        </p:nvSpPr>
        <p:spPr bwMode="auto">
          <a:xfrm>
            <a:off x="7537450" y="4518025"/>
            <a:ext cx="311150" cy="600075"/>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6" name="Line 213"/>
          <p:cNvSpPr>
            <a:spLocks noChangeShapeType="1"/>
          </p:cNvSpPr>
          <p:nvPr/>
        </p:nvSpPr>
        <p:spPr bwMode="auto">
          <a:xfrm flipV="1">
            <a:off x="7662863" y="4148138"/>
            <a:ext cx="417512" cy="825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7" name="Line 214"/>
          <p:cNvSpPr>
            <a:spLocks noChangeShapeType="1"/>
          </p:cNvSpPr>
          <p:nvPr/>
        </p:nvSpPr>
        <p:spPr bwMode="auto">
          <a:xfrm flipV="1">
            <a:off x="8164513" y="4840288"/>
            <a:ext cx="312737" cy="2476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8" name="Line 215"/>
          <p:cNvSpPr>
            <a:spLocks noChangeShapeType="1"/>
          </p:cNvSpPr>
          <p:nvPr/>
        </p:nvSpPr>
        <p:spPr bwMode="auto">
          <a:xfrm>
            <a:off x="7653338" y="4406900"/>
            <a:ext cx="823912" cy="230188"/>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9" name="Rectangle 216"/>
          <p:cNvSpPr>
            <a:spLocks noChangeArrowheads="1"/>
          </p:cNvSpPr>
          <p:nvPr/>
        </p:nvSpPr>
        <p:spPr bwMode="auto">
          <a:xfrm>
            <a:off x="2268538" y="1746250"/>
            <a:ext cx="117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algn="ctr" defTabSz="387350" eaLnBrk="0" hangingPunct="0"/>
            <a:endParaRPr lang="en-US" sz="1400" b="1">
              <a:solidFill>
                <a:schemeClr val="tx1"/>
              </a:solidFill>
              <a:latin typeface="Arial" pitchFamily="34" charset="0"/>
            </a:endParaRPr>
          </a:p>
        </p:txBody>
      </p:sp>
      <p:grpSp>
        <p:nvGrpSpPr>
          <p:cNvPr id="28820" name="Group 217"/>
          <p:cNvGrpSpPr>
            <a:grpSpLocks/>
          </p:cNvGrpSpPr>
          <p:nvPr/>
        </p:nvGrpSpPr>
        <p:grpSpPr bwMode="auto">
          <a:xfrm>
            <a:off x="117475" y="3817940"/>
            <a:ext cx="2035175" cy="1897063"/>
            <a:chOff x="74" y="2205"/>
            <a:chExt cx="1282" cy="1195"/>
          </a:xfrm>
        </p:grpSpPr>
        <p:sp>
          <p:nvSpPr>
            <p:cNvPr id="28867" name="Line 218"/>
            <p:cNvSpPr>
              <a:spLocks noChangeShapeType="1"/>
            </p:cNvSpPr>
            <p:nvPr/>
          </p:nvSpPr>
          <p:spPr bwMode="auto">
            <a:xfrm flipV="1">
              <a:off x="359" y="2345"/>
              <a:ext cx="338" cy="140"/>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8" name="Line 219"/>
            <p:cNvSpPr>
              <a:spLocks noChangeShapeType="1"/>
            </p:cNvSpPr>
            <p:nvPr/>
          </p:nvSpPr>
          <p:spPr bwMode="auto">
            <a:xfrm flipH="1">
              <a:off x="745" y="2517"/>
              <a:ext cx="65" cy="358"/>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9" name="Line 220"/>
            <p:cNvSpPr>
              <a:spLocks noChangeShapeType="1"/>
            </p:cNvSpPr>
            <p:nvPr/>
          </p:nvSpPr>
          <p:spPr bwMode="auto">
            <a:xfrm>
              <a:off x="335" y="2690"/>
              <a:ext cx="226" cy="185"/>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0" name="Line 221"/>
            <p:cNvSpPr>
              <a:spLocks noChangeShapeType="1"/>
            </p:cNvSpPr>
            <p:nvPr/>
          </p:nvSpPr>
          <p:spPr bwMode="auto">
            <a:xfrm flipV="1">
              <a:off x="870" y="2881"/>
              <a:ext cx="255" cy="134"/>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1" name="Rectangle 222"/>
            <p:cNvSpPr>
              <a:spLocks noChangeArrowheads="1"/>
            </p:cNvSpPr>
            <p:nvPr/>
          </p:nvSpPr>
          <p:spPr bwMode="auto">
            <a:xfrm>
              <a:off x="110" y="2402"/>
              <a:ext cx="196" cy="19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72" name="Rectangle 223"/>
            <p:cNvSpPr>
              <a:spLocks noChangeArrowheads="1"/>
            </p:cNvSpPr>
            <p:nvPr/>
          </p:nvSpPr>
          <p:spPr bwMode="auto">
            <a:xfrm>
              <a:off x="110" y="2402"/>
              <a:ext cx="196" cy="198"/>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73" name="Line 224"/>
            <p:cNvSpPr>
              <a:spLocks noChangeShapeType="1"/>
            </p:cNvSpPr>
            <p:nvPr/>
          </p:nvSpPr>
          <p:spPr bwMode="auto">
            <a:xfrm>
              <a:off x="110" y="2473"/>
              <a:ext cx="196"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4" name="Line 225"/>
            <p:cNvSpPr>
              <a:spLocks noChangeShapeType="1"/>
            </p:cNvSpPr>
            <p:nvPr/>
          </p:nvSpPr>
          <p:spPr bwMode="auto">
            <a:xfrm>
              <a:off x="110" y="2517"/>
              <a:ext cx="196"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5" name="Rectangle 226"/>
            <p:cNvSpPr>
              <a:spLocks noChangeArrowheads="1"/>
            </p:cNvSpPr>
            <p:nvPr/>
          </p:nvSpPr>
          <p:spPr bwMode="auto">
            <a:xfrm>
              <a:off x="1155" y="2772"/>
              <a:ext cx="201" cy="19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76" name="Rectangle 227"/>
            <p:cNvSpPr>
              <a:spLocks noChangeArrowheads="1"/>
            </p:cNvSpPr>
            <p:nvPr/>
          </p:nvSpPr>
          <p:spPr bwMode="auto">
            <a:xfrm>
              <a:off x="1155" y="2772"/>
              <a:ext cx="201" cy="198"/>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77" name="Line 228"/>
            <p:cNvSpPr>
              <a:spLocks noChangeShapeType="1"/>
            </p:cNvSpPr>
            <p:nvPr/>
          </p:nvSpPr>
          <p:spPr bwMode="auto">
            <a:xfrm>
              <a:off x="1155" y="2843"/>
              <a:ext cx="201"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8" name="Line 229"/>
            <p:cNvSpPr>
              <a:spLocks noChangeShapeType="1"/>
            </p:cNvSpPr>
            <p:nvPr/>
          </p:nvSpPr>
          <p:spPr bwMode="auto">
            <a:xfrm>
              <a:off x="1155" y="2887"/>
              <a:ext cx="201"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9" name="Rectangle 230"/>
            <p:cNvSpPr>
              <a:spLocks noChangeArrowheads="1"/>
            </p:cNvSpPr>
            <p:nvPr/>
          </p:nvSpPr>
          <p:spPr bwMode="auto">
            <a:xfrm>
              <a:off x="596" y="2906"/>
              <a:ext cx="196" cy="19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80" name="Rectangle 231"/>
            <p:cNvSpPr>
              <a:spLocks noChangeArrowheads="1"/>
            </p:cNvSpPr>
            <p:nvPr/>
          </p:nvSpPr>
          <p:spPr bwMode="auto">
            <a:xfrm>
              <a:off x="596" y="2906"/>
              <a:ext cx="196" cy="198"/>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81" name="Line 232"/>
            <p:cNvSpPr>
              <a:spLocks noChangeShapeType="1"/>
            </p:cNvSpPr>
            <p:nvPr/>
          </p:nvSpPr>
          <p:spPr bwMode="auto">
            <a:xfrm>
              <a:off x="596" y="2977"/>
              <a:ext cx="196"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2" name="Line 233"/>
            <p:cNvSpPr>
              <a:spLocks noChangeShapeType="1"/>
            </p:cNvSpPr>
            <p:nvPr/>
          </p:nvSpPr>
          <p:spPr bwMode="auto">
            <a:xfrm>
              <a:off x="596" y="3021"/>
              <a:ext cx="196"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3" name="Rectangle 234"/>
            <p:cNvSpPr>
              <a:spLocks noChangeArrowheads="1"/>
            </p:cNvSpPr>
            <p:nvPr/>
          </p:nvSpPr>
          <p:spPr bwMode="auto">
            <a:xfrm>
              <a:off x="739" y="2249"/>
              <a:ext cx="202" cy="19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84" name="Rectangle 235"/>
            <p:cNvSpPr>
              <a:spLocks noChangeArrowheads="1"/>
            </p:cNvSpPr>
            <p:nvPr/>
          </p:nvSpPr>
          <p:spPr bwMode="auto">
            <a:xfrm>
              <a:off x="739" y="2249"/>
              <a:ext cx="202" cy="198"/>
            </a:xfrm>
            <a:prstGeom prst="rect">
              <a:avLst/>
            </a:prstGeom>
            <a:noFill/>
            <a:ln w="0">
              <a:solidFill>
                <a:srgbClr val="CCCCCC"/>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85" name="Line 236"/>
            <p:cNvSpPr>
              <a:spLocks noChangeShapeType="1"/>
            </p:cNvSpPr>
            <p:nvPr/>
          </p:nvSpPr>
          <p:spPr bwMode="auto">
            <a:xfrm>
              <a:off x="739" y="2319"/>
              <a:ext cx="202"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6" name="Line 237"/>
            <p:cNvSpPr>
              <a:spLocks noChangeShapeType="1"/>
            </p:cNvSpPr>
            <p:nvPr/>
          </p:nvSpPr>
          <p:spPr bwMode="auto">
            <a:xfrm>
              <a:off x="739" y="2364"/>
              <a:ext cx="202" cy="1"/>
            </a:xfrm>
            <a:prstGeom prst="line">
              <a:avLst/>
            </a:prstGeom>
            <a:noFill/>
            <a:ln w="0">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7" name="Line 238"/>
            <p:cNvSpPr>
              <a:spLocks noChangeShapeType="1"/>
            </p:cNvSpPr>
            <p:nvPr/>
          </p:nvSpPr>
          <p:spPr bwMode="auto">
            <a:xfrm flipV="1">
              <a:off x="323" y="2307"/>
              <a:ext cx="339" cy="1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8" name="Line 239"/>
            <p:cNvSpPr>
              <a:spLocks noChangeShapeType="1"/>
            </p:cNvSpPr>
            <p:nvPr/>
          </p:nvSpPr>
          <p:spPr bwMode="auto">
            <a:xfrm flipH="1">
              <a:off x="709" y="2479"/>
              <a:ext cx="66" cy="3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9" name="Line 240"/>
            <p:cNvSpPr>
              <a:spLocks noChangeShapeType="1"/>
            </p:cNvSpPr>
            <p:nvPr/>
          </p:nvSpPr>
          <p:spPr bwMode="auto">
            <a:xfrm>
              <a:off x="300" y="2651"/>
              <a:ext cx="225" cy="185"/>
            </a:xfrm>
            <a:prstGeom prst="line">
              <a:avLst/>
            </a:prstGeom>
            <a:noFill/>
            <a:ln w="28575">
              <a:solidFill>
                <a:srgbClr val="EAEAE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0" name="Line 241"/>
            <p:cNvSpPr>
              <a:spLocks noChangeShapeType="1"/>
            </p:cNvSpPr>
            <p:nvPr/>
          </p:nvSpPr>
          <p:spPr bwMode="auto">
            <a:xfrm flipV="1">
              <a:off x="834" y="2843"/>
              <a:ext cx="255" cy="1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1" name="Rectangle 242"/>
            <p:cNvSpPr>
              <a:spLocks noChangeArrowheads="1"/>
            </p:cNvSpPr>
            <p:nvPr/>
          </p:nvSpPr>
          <p:spPr bwMode="auto">
            <a:xfrm>
              <a:off x="74" y="2364"/>
              <a:ext cx="196" cy="198"/>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92" name="Rectangle 243"/>
            <p:cNvSpPr>
              <a:spLocks noChangeArrowheads="1"/>
            </p:cNvSpPr>
            <p:nvPr/>
          </p:nvSpPr>
          <p:spPr bwMode="auto">
            <a:xfrm>
              <a:off x="74" y="2364"/>
              <a:ext cx="196" cy="198"/>
            </a:xfrm>
            <a:prstGeom prst="rect">
              <a:avLst/>
            </a:prstGeom>
            <a:solidFill>
              <a:srgbClr val="FFFFCC"/>
            </a:solidFill>
            <a:ln w="0">
              <a:solidFill>
                <a:srgbClr val="000000"/>
              </a:solidFill>
              <a:miter lim="800000"/>
              <a:headEnd/>
              <a:tailEnd/>
            </a:ln>
          </p:spPr>
          <p:txBody>
            <a:bodyPr/>
            <a:lstStyle/>
            <a:p>
              <a:endParaRPr lang="en-US"/>
            </a:p>
          </p:txBody>
        </p:sp>
        <p:sp>
          <p:nvSpPr>
            <p:cNvPr id="28893" name="Line 244"/>
            <p:cNvSpPr>
              <a:spLocks noChangeShapeType="1"/>
            </p:cNvSpPr>
            <p:nvPr/>
          </p:nvSpPr>
          <p:spPr bwMode="auto">
            <a:xfrm>
              <a:off x="74" y="2434"/>
              <a:ext cx="196"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4" name="Line 245"/>
            <p:cNvSpPr>
              <a:spLocks noChangeShapeType="1"/>
            </p:cNvSpPr>
            <p:nvPr/>
          </p:nvSpPr>
          <p:spPr bwMode="auto">
            <a:xfrm>
              <a:off x="74" y="2479"/>
              <a:ext cx="196"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5" name="Rectangle 246"/>
            <p:cNvSpPr>
              <a:spLocks noChangeArrowheads="1"/>
            </p:cNvSpPr>
            <p:nvPr/>
          </p:nvSpPr>
          <p:spPr bwMode="auto">
            <a:xfrm>
              <a:off x="1119" y="2728"/>
              <a:ext cx="202" cy="198"/>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896" name="Rectangle 247"/>
            <p:cNvSpPr>
              <a:spLocks noChangeArrowheads="1"/>
            </p:cNvSpPr>
            <p:nvPr/>
          </p:nvSpPr>
          <p:spPr bwMode="auto">
            <a:xfrm>
              <a:off x="1119" y="2728"/>
              <a:ext cx="202" cy="198"/>
            </a:xfrm>
            <a:prstGeom prst="rect">
              <a:avLst/>
            </a:prstGeom>
            <a:solidFill>
              <a:srgbClr val="FFFFCC"/>
            </a:solidFill>
            <a:ln w="0">
              <a:solidFill>
                <a:srgbClr val="000000"/>
              </a:solidFill>
              <a:miter lim="800000"/>
              <a:headEnd/>
              <a:tailEnd/>
            </a:ln>
          </p:spPr>
          <p:txBody>
            <a:bodyPr/>
            <a:lstStyle/>
            <a:p>
              <a:endParaRPr lang="en-US"/>
            </a:p>
          </p:txBody>
        </p:sp>
        <p:sp>
          <p:nvSpPr>
            <p:cNvPr id="28897" name="Line 248"/>
            <p:cNvSpPr>
              <a:spLocks noChangeShapeType="1"/>
            </p:cNvSpPr>
            <p:nvPr/>
          </p:nvSpPr>
          <p:spPr bwMode="auto">
            <a:xfrm>
              <a:off x="1119" y="2804"/>
              <a:ext cx="202"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8" name="Line 249"/>
            <p:cNvSpPr>
              <a:spLocks noChangeShapeType="1"/>
            </p:cNvSpPr>
            <p:nvPr/>
          </p:nvSpPr>
          <p:spPr bwMode="auto">
            <a:xfrm>
              <a:off x="1119" y="2843"/>
              <a:ext cx="202"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9" name="Rectangle 250"/>
            <p:cNvSpPr>
              <a:spLocks noChangeArrowheads="1"/>
            </p:cNvSpPr>
            <p:nvPr/>
          </p:nvSpPr>
          <p:spPr bwMode="auto">
            <a:xfrm>
              <a:off x="561" y="2862"/>
              <a:ext cx="196" cy="19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00" name="Rectangle 251"/>
            <p:cNvSpPr>
              <a:spLocks noChangeArrowheads="1"/>
            </p:cNvSpPr>
            <p:nvPr/>
          </p:nvSpPr>
          <p:spPr bwMode="auto">
            <a:xfrm>
              <a:off x="561" y="2862"/>
              <a:ext cx="196" cy="19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901" name="Line 252"/>
            <p:cNvSpPr>
              <a:spLocks noChangeShapeType="1"/>
            </p:cNvSpPr>
            <p:nvPr/>
          </p:nvSpPr>
          <p:spPr bwMode="auto">
            <a:xfrm>
              <a:off x="561" y="2932"/>
              <a:ext cx="196"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2" name="Line 253"/>
            <p:cNvSpPr>
              <a:spLocks noChangeShapeType="1"/>
            </p:cNvSpPr>
            <p:nvPr/>
          </p:nvSpPr>
          <p:spPr bwMode="auto">
            <a:xfrm>
              <a:off x="561" y="2977"/>
              <a:ext cx="196"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3" name="Rectangle 254"/>
            <p:cNvSpPr>
              <a:spLocks noChangeArrowheads="1"/>
            </p:cNvSpPr>
            <p:nvPr/>
          </p:nvSpPr>
          <p:spPr bwMode="auto">
            <a:xfrm>
              <a:off x="703" y="2205"/>
              <a:ext cx="202" cy="197"/>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904" name="Rectangle 255"/>
            <p:cNvSpPr>
              <a:spLocks noChangeArrowheads="1"/>
            </p:cNvSpPr>
            <p:nvPr/>
          </p:nvSpPr>
          <p:spPr bwMode="auto">
            <a:xfrm>
              <a:off x="703" y="2205"/>
              <a:ext cx="202" cy="197"/>
            </a:xfrm>
            <a:prstGeom prst="rect">
              <a:avLst/>
            </a:prstGeom>
            <a:solidFill>
              <a:srgbClr val="FFFFCC"/>
            </a:solidFill>
            <a:ln w="0">
              <a:solidFill>
                <a:schemeClr val="bg2"/>
              </a:solidFill>
              <a:miter lim="800000"/>
              <a:headEnd/>
              <a:tailEnd/>
            </a:ln>
          </p:spPr>
          <p:txBody>
            <a:bodyPr/>
            <a:lstStyle/>
            <a:p>
              <a:endParaRPr lang="en-US"/>
            </a:p>
          </p:txBody>
        </p:sp>
        <p:sp>
          <p:nvSpPr>
            <p:cNvPr id="28905" name="Line 256"/>
            <p:cNvSpPr>
              <a:spLocks noChangeShapeType="1"/>
            </p:cNvSpPr>
            <p:nvPr/>
          </p:nvSpPr>
          <p:spPr bwMode="auto">
            <a:xfrm>
              <a:off x="703" y="2281"/>
              <a:ext cx="202"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6" name="Line 257"/>
            <p:cNvSpPr>
              <a:spLocks noChangeShapeType="1"/>
            </p:cNvSpPr>
            <p:nvPr/>
          </p:nvSpPr>
          <p:spPr bwMode="auto">
            <a:xfrm>
              <a:off x="703" y="2319"/>
              <a:ext cx="202" cy="1"/>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7" name="Rectangle 258"/>
            <p:cNvSpPr>
              <a:spLocks noChangeArrowheads="1"/>
            </p:cNvSpPr>
            <p:nvPr/>
          </p:nvSpPr>
          <p:spPr bwMode="auto">
            <a:xfrm>
              <a:off x="144" y="3168"/>
              <a:ext cx="1053"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737" tIns="31749" rIns="58737" bIns="31749">
              <a:spAutoFit/>
            </a:bodyPr>
            <a:lstStyle/>
            <a:p>
              <a:pPr algn="ctr" defTabSz="387350" eaLnBrk="0" hangingPunct="0"/>
              <a:r>
                <a:rPr lang="en-US" sz="2000">
                  <a:solidFill>
                    <a:schemeClr val="tx1"/>
                  </a:solidFill>
                  <a:latin typeface="Arial" pitchFamily="34" charset="0"/>
                </a:rPr>
                <a:t>Design Model</a:t>
              </a:r>
            </a:p>
          </p:txBody>
        </p:sp>
      </p:grpSp>
      <p:sp>
        <p:nvSpPr>
          <p:cNvPr id="28821" name="Freeform 259"/>
          <p:cNvSpPr>
            <a:spLocks/>
          </p:cNvSpPr>
          <p:nvPr/>
        </p:nvSpPr>
        <p:spPr bwMode="auto">
          <a:xfrm>
            <a:off x="3968750" y="1765300"/>
            <a:ext cx="831850" cy="381000"/>
          </a:xfrm>
          <a:custGeom>
            <a:avLst/>
            <a:gdLst>
              <a:gd name="T0" fmla="*/ 281 w 507"/>
              <a:gd name="T1" fmla="*/ 0 h 209"/>
              <a:gd name="T2" fmla="*/ 314 w 507"/>
              <a:gd name="T3" fmla="*/ 6 h 209"/>
              <a:gd name="T4" fmla="*/ 353 w 507"/>
              <a:gd name="T5" fmla="*/ 11 h 209"/>
              <a:gd name="T6" fmla="*/ 386 w 507"/>
              <a:gd name="T7" fmla="*/ 17 h 209"/>
              <a:gd name="T8" fmla="*/ 413 w 507"/>
              <a:gd name="T9" fmla="*/ 22 h 209"/>
              <a:gd name="T10" fmla="*/ 441 w 507"/>
              <a:gd name="T11" fmla="*/ 33 h 209"/>
              <a:gd name="T12" fmla="*/ 463 w 507"/>
              <a:gd name="T13" fmla="*/ 44 h 209"/>
              <a:gd name="T14" fmla="*/ 479 w 507"/>
              <a:gd name="T15" fmla="*/ 61 h 209"/>
              <a:gd name="T16" fmla="*/ 496 w 507"/>
              <a:gd name="T17" fmla="*/ 72 h 209"/>
              <a:gd name="T18" fmla="*/ 501 w 507"/>
              <a:gd name="T19" fmla="*/ 88 h 209"/>
              <a:gd name="T20" fmla="*/ 507 w 507"/>
              <a:gd name="T21" fmla="*/ 105 h 209"/>
              <a:gd name="T22" fmla="*/ 501 w 507"/>
              <a:gd name="T23" fmla="*/ 121 h 209"/>
              <a:gd name="T24" fmla="*/ 496 w 507"/>
              <a:gd name="T25" fmla="*/ 138 h 209"/>
              <a:gd name="T26" fmla="*/ 479 w 507"/>
              <a:gd name="T27" fmla="*/ 149 h 209"/>
              <a:gd name="T28" fmla="*/ 463 w 507"/>
              <a:gd name="T29" fmla="*/ 165 h 209"/>
              <a:gd name="T30" fmla="*/ 441 w 507"/>
              <a:gd name="T31" fmla="*/ 176 h 209"/>
              <a:gd name="T32" fmla="*/ 413 w 507"/>
              <a:gd name="T33" fmla="*/ 187 h 209"/>
              <a:gd name="T34" fmla="*/ 386 w 507"/>
              <a:gd name="T35" fmla="*/ 193 h 209"/>
              <a:gd name="T36" fmla="*/ 353 w 507"/>
              <a:gd name="T37" fmla="*/ 198 h 209"/>
              <a:gd name="T38" fmla="*/ 314 w 507"/>
              <a:gd name="T39" fmla="*/ 204 h 209"/>
              <a:gd name="T40" fmla="*/ 281 w 507"/>
              <a:gd name="T41" fmla="*/ 209 h 209"/>
              <a:gd name="T42" fmla="*/ 243 w 507"/>
              <a:gd name="T43" fmla="*/ 209 h 209"/>
              <a:gd name="T44" fmla="*/ 204 w 507"/>
              <a:gd name="T45" fmla="*/ 209 h 209"/>
              <a:gd name="T46" fmla="*/ 165 w 507"/>
              <a:gd name="T47" fmla="*/ 204 h 209"/>
              <a:gd name="T48" fmla="*/ 132 w 507"/>
              <a:gd name="T49" fmla="*/ 198 h 209"/>
              <a:gd name="T50" fmla="*/ 105 w 507"/>
              <a:gd name="T51" fmla="*/ 187 h 209"/>
              <a:gd name="T52" fmla="*/ 77 w 507"/>
              <a:gd name="T53" fmla="*/ 176 h 209"/>
              <a:gd name="T54" fmla="*/ 50 w 507"/>
              <a:gd name="T55" fmla="*/ 165 h 209"/>
              <a:gd name="T56" fmla="*/ 33 w 507"/>
              <a:gd name="T57" fmla="*/ 154 h 209"/>
              <a:gd name="T58" fmla="*/ 17 w 507"/>
              <a:gd name="T59" fmla="*/ 143 h 209"/>
              <a:gd name="T60" fmla="*/ 6 w 507"/>
              <a:gd name="T61" fmla="*/ 127 h 209"/>
              <a:gd name="T62" fmla="*/ 0 w 507"/>
              <a:gd name="T63" fmla="*/ 110 h 209"/>
              <a:gd name="T64" fmla="*/ 0 w 507"/>
              <a:gd name="T65" fmla="*/ 94 h 209"/>
              <a:gd name="T66" fmla="*/ 6 w 507"/>
              <a:gd name="T67" fmla="*/ 77 h 209"/>
              <a:gd name="T68" fmla="*/ 22 w 507"/>
              <a:gd name="T69" fmla="*/ 66 h 209"/>
              <a:gd name="T70" fmla="*/ 39 w 507"/>
              <a:gd name="T71" fmla="*/ 50 h 209"/>
              <a:gd name="T72" fmla="*/ 61 w 507"/>
              <a:gd name="T73" fmla="*/ 39 h 209"/>
              <a:gd name="T74" fmla="*/ 83 w 507"/>
              <a:gd name="T75" fmla="*/ 28 h 209"/>
              <a:gd name="T76" fmla="*/ 110 w 507"/>
              <a:gd name="T77" fmla="*/ 17 h 209"/>
              <a:gd name="T78" fmla="*/ 143 w 507"/>
              <a:gd name="T79" fmla="*/ 11 h 209"/>
              <a:gd name="T80" fmla="*/ 176 w 507"/>
              <a:gd name="T81" fmla="*/ 6 h 209"/>
              <a:gd name="T82" fmla="*/ 215 w 507"/>
              <a:gd name="T83" fmla="*/ 0 h 209"/>
              <a:gd name="T84" fmla="*/ 254 w 507"/>
              <a:gd name="T85" fmla="*/ 0 h 20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7"/>
              <a:gd name="T130" fmla="*/ 0 h 209"/>
              <a:gd name="T131" fmla="*/ 507 w 507"/>
              <a:gd name="T132" fmla="*/ 209 h 20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7" h="209">
                <a:moveTo>
                  <a:pt x="254" y="0"/>
                </a:moveTo>
                <a:lnTo>
                  <a:pt x="265" y="0"/>
                </a:lnTo>
                <a:lnTo>
                  <a:pt x="281" y="0"/>
                </a:lnTo>
                <a:lnTo>
                  <a:pt x="292" y="0"/>
                </a:lnTo>
                <a:lnTo>
                  <a:pt x="303" y="6"/>
                </a:lnTo>
                <a:lnTo>
                  <a:pt x="314" y="6"/>
                </a:lnTo>
                <a:lnTo>
                  <a:pt x="331" y="6"/>
                </a:lnTo>
                <a:lnTo>
                  <a:pt x="342" y="6"/>
                </a:lnTo>
                <a:lnTo>
                  <a:pt x="353" y="11"/>
                </a:lnTo>
                <a:lnTo>
                  <a:pt x="364" y="11"/>
                </a:lnTo>
                <a:lnTo>
                  <a:pt x="375" y="11"/>
                </a:lnTo>
                <a:lnTo>
                  <a:pt x="386" y="17"/>
                </a:lnTo>
                <a:lnTo>
                  <a:pt x="397" y="17"/>
                </a:lnTo>
                <a:lnTo>
                  <a:pt x="402" y="22"/>
                </a:lnTo>
                <a:lnTo>
                  <a:pt x="413" y="22"/>
                </a:lnTo>
                <a:lnTo>
                  <a:pt x="424" y="28"/>
                </a:lnTo>
                <a:lnTo>
                  <a:pt x="430" y="33"/>
                </a:lnTo>
                <a:lnTo>
                  <a:pt x="441" y="33"/>
                </a:lnTo>
                <a:lnTo>
                  <a:pt x="446" y="39"/>
                </a:lnTo>
                <a:lnTo>
                  <a:pt x="457" y="44"/>
                </a:lnTo>
                <a:lnTo>
                  <a:pt x="463" y="44"/>
                </a:lnTo>
                <a:lnTo>
                  <a:pt x="468" y="50"/>
                </a:lnTo>
                <a:lnTo>
                  <a:pt x="474" y="55"/>
                </a:lnTo>
                <a:lnTo>
                  <a:pt x="479" y="61"/>
                </a:lnTo>
                <a:lnTo>
                  <a:pt x="485" y="66"/>
                </a:lnTo>
                <a:lnTo>
                  <a:pt x="490" y="72"/>
                </a:lnTo>
                <a:lnTo>
                  <a:pt x="496" y="72"/>
                </a:lnTo>
                <a:lnTo>
                  <a:pt x="501" y="77"/>
                </a:lnTo>
                <a:lnTo>
                  <a:pt x="501" y="83"/>
                </a:lnTo>
                <a:lnTo>
                  <a:pt x="501" y="88"/>
                </a:lnTo>
                <a:lnTo>
                  <a:pt x="507" y="94"/>
                </a:lnTo>
                <a:lnTo>
                  <a:pt x="507" y="99"/>
                </a:lnTo>
                <a:lnTo>
                  <a:pt x="507" y="105"/>
                </a:lnTo>
                <a:lnTo>
                  <a:pt x="507" y="110"/>
                </a:lnTo>
                <a:lnTo>
                  <a:pt x="507" y="116"/>
                </a:lnTo>
                <a:lnTo>
                  <a:pt x="501" y="121"/>
                </a:lnTo>
                <a:lnTo>
                  <a:pt x="501" y="127"/>
                </a:lnTo>
                <a:lnTo>
                  <a:pt x="501" y="132"/>
                </a:lnTo>
                <a:lnTo>
                  <a:pt x="496" y="138"/>
                </a:lnTo>
                <a:lnTo>
                  <a:pt x="490" y="143"/>
                </a:lnTo>
                <a:lnTo>
                  <a:pt x="485" y="143"/>
                </a:lnTo>
                <a:lnTo>
                  <a:pt x="479" y="149"/>
                </a:lnTo>
                <a:lnTo>
                  <a:pt x="474" y="154"/>
                </a:lnTo>
                <a:lnTo>
                  <a:pt x="468" y="160"/>
                </a:lnTo>
                <a:lnTo>
                  <a:pt x="463" y="165"/>
                </a:lnTo>
                <a:lnTo>
                  <a:pt x="457" y="165"/>
                </a:lnTo>
                <a:lnTo>
                  <a:pt x="446" y="171"/>
                </a:lnTo>
                <a:lnTo>
                  <a:pt x="441" y="176"/>
                </a:lnTo>
                <a:lnTo>
                  <a:pt x="430" y="176"/>
                </a:lnTo>
                <a:lnTo>
                  <a:pt x="424" y="182"/>
                </a:lnTo>
                <a:lnTo>
                  <a:pt x="413" y="187"/>
                </a:lnTo>
                <a:lnTo>
                  <a:pt x="402" y="187"/>
                </a:lnTo>
                <a:lnTo>
                  <a:pt x="397" y="193"/>
                </a:lnTo>
                <a:lnTo>
                  <a:pt x="386" y="193"/>
                </a:lnTo>
                <a:lnTo>
                  <a:pt x="375" y="198"/>
                </a:lnTo>
                <a:lnTo>
                  <a:pt x="364" y="198"/>
                </a:lnTo>
                <a:lnTo>
                  <a:pt x="353" y="198"/>
                </a:lnTo>
                <a:lnTo>
                  <a:pt x="342" y="204"/>
                </a:lnTo>
                <a:lnTo>
                  <a:pt x="331" y="204"/>
                </a:lnTo>
                <a:lnTo>
                  <a:pt x="314" y="204"/>
                </a:lnTo>
                <a:lnTo>
                  <a:pt x="303" y="209"/>
                </a:lnTo>
                <a:lnTo>
                  <a:pt x="292" y="209"/>
                </a:lnTo>
                <a:lnTo>
                  <a:pt x="281" y="209"/>
                </a:lnTo>
                <a:lnTo>
                  <a:pt x="265" y="209"/>
                </a:lnTo>
                <a:lnTo>
                  <a:pt x="254" y="209"/>
                </a:lnTo>
                <a:lnTo>
                  <a:pt x="243" y="209"/>
                </a:lnTo>
                <a:lnTo>
                  <a:pt x="226" y="209"/>
                </a:lnTo>
                <a:lnTo>
                  <a:pt x="215" y="209"/>
                </a:lnTo>
                <a:lnTo>
                  <a:pt x="204" y="209"/>
                </a:lnTo>
                <a:lnTo>
                  <a:pt x="193" y="204"/>
                </a:lnTo>
                <a:lnTo>
                  <a:pt x="176" y="204"/>
                </a:lnTo>
                <a:lnTo>
                  <a:pt x="165" y="204"/>
                </a:lnTo>
                <a:lnTo>
                  <a:pt x="154" y="198"/>
                </a:lnTo>
                <a:lnTo>
                  <a:pt x="143" y="198"/>
                </a:lnTo>
                <a:lnTo>
                  <a:pt x="132" y="198"/>
                </a:lnTo>
                <a:lnTo>
                  <a:pt x="121" y="193"/>
                </a:lnTo>
                <a:lnTo>
                  <a:pt x="110" y="193"/>
                </a:lnTo>
                <a:lnTo>
                  <a:pt x="105" y="187"/>
                </a:lnTo>
                <a:lnTo>
                  <a:pt x="94" y="187"/>
                </a:lnTo>
                <a:lnTo>
                  <a:pt x="83" y="182"/>
                </a:lnTo>
                <a:lnTo>
                  <a:pt x="77" y="176"/>
                </a:lnTo>
                <a:lnTo>
                  <a:pt x="66" y="176"/>
                </a:lnTo>
                <a:lnTo>
                  <a:pt x="61" y="171"/>
                </a:lnTo>
                <a:lnTo>
                  <a:pt x="50" y="165"/>
                </a:lnTo>
                <a:lnTo>
                  <a:pt x="44" y="165"/>
                </a:lnTo>
                <a:lnTo>
                  <a:pt x="39" y="160"/>
                </a:lnTo>
                <a:lnTo>
                  <a:pt x="33" y="154"/>
                </a:lnTo>
                <a:lnTo>
                  <a:pt x="28" y="149"/>
                </a:lnTo>
                <a:lnTo>
                  <a:pt x="22" y="143"/>
                </a:lnTo>
                <a:lnTo>
                  <a:pt x="17" y="143"/>
                </a:lnTo>
                <a:lnTo>
                  <a:pt x="11" y="138"/>
                </a:lnTo>
                <a:lnTo>
                  <a:pt x="6" y="132"/>
                </a:lnTo>
                <a:lnTo>
                  <a:pt x="6" y="127"/>
                </a:lnTo>
                <a:lnTo>
                  <a:pt x="6" y="121"/>
                </a:lnTo>
                <a:lnTo>
                  <a:pt x="0" y="116"/>
                </a:lnTo>
                <a:lnTo>
                  <a:pt x="0" y="110"/>
                </a:lnTo>
                <a:lnTo>
                  <a:pt x="0" y="105"/>
                </a:lnTo>
                <a:lnTo>
                  <a:pt x="0" y="99"/>
                </a:lnTo>
                <a:lnTo>
                  <a:pt x="0" y="94"/>
                </a:lnTo>
                <a:lnTo>
                  <a:pt x="6" y="88"/>
                </a:lnTo>
                <a:lnTo>
                  <a:pt x="6" y="83"/>
                </a:lnTo>
                <a:lnTo>
                  <a:pt x="6" y="77"/>
                </a:lnTo>
                <a:lnTo>
                  <a:pt x="11" y="72"/>
                </a:lnTo>
                <a:lnTo>
                  <a:pt x="17" y="72"/>
                </a:lnTo>
                <a:lnTo>
                  <a:pt x="22" y="66"/>
                </a:lnTo>
                <a:lnTo>
                  <a:pt x="28" y="61"/>
                </a:lnTo>
                <a:lnTo>
                  <a:pt x="33" y="55"/>
                </a:lnTo>
                <a:lnTo>
                  <a:pt x="39" y="50"/>
                </a:lnTo>
                <a:lnTo>
                  <a:pt x="44" y="44"/>
                </a:lnTo>
                <a:lnTo>
                  <a:pt x="50" y="44"/>
                </a:lnTo>
                <a:lnTo>
                  <a:pt x="61" y="39"/>
                </a:lnTo>
                <a:lnTo>
                  <a:pt x="66" y="33"/>
                </a:lnTo>
                <a:lnTo>
                  <a:pt x="77" y="33"/>
                </a:lnTo>
                <a:lnTo>
                  <a:pt x="83" y="28"/>
                </a:lnTo>
                <a:lnTo>
                  <a:pt x="94" y="22"/>
                </a:lnTo>
                <a:lnTo>
                  <a:pt x="105" y="22"/>
                </a:lnTo>
                <a:lnTo>
                  <a:pt x="110" y="17"/>
                </a:lnTo>
                <a:lnTo>
                  <a:pt x="121" y="17"/>
                </a:lnTo>
                <a:lnTo>
                  <a:pt x="132" y="11"/>
                </a:lnTo>
                <a:lnTo>
                  <a:pt x="143" y="11"/>
                </a:lnTo>
                <a:lnTo>
                  <a:pt x="154" y="11"/>
                </a:lnTo>
                <a:lnTo>
                  <a:pt x="165" y="6"/>
                </a:lnTo>
                <a:lnTo>
                  <a:pt x="176" y="6"/>
                </a:lnTo>
                <a:lnTo>
                  <a:pt x="193" y="6"/>
                </a:lnTo>
                <a:lnTo>
                  <a:pt x="204" y="6"/>
                </a:lnTo>
                <a:lnTo>
                  <a:pt x="215" y="0"/>
                </a:lnTo>
                <a:lnTo>
                  <a:pt x="226" y="0"/>
                </a:lnTo>
                <a:lnTo>
                  <a:pt x="243" y="0"/>
                </a:lnTo>
                <a:lnTo>
                  <a:pt x="254" y="0"/>
                </a:lnTo>
                <a:close/>
              </a:path>
            </a:pathLst>
          </a:custGeom>
          <a:solidFill>
            <a:srgbClr val="6699FF"/>
          </a:solidFill>
          <a:ln w="28575">
            <a:solidFill>
              <a:schemeClr val="tx1"/>
            </a:solidFill>
            <a:round/>
            <a:headEnd/>
            <a:tailEnd/>
          </a:ln>
        </p:spPr>
        <p:txBody>
          <a:bodyPr/>
          <a:lstStyle/>
          <a:p>
            <a:endParaRPr lang="en-US"/>
          </a:p>
        </p:txBody>
      </p:sp>
      <p:grpSp>
        <p:nvGrpSpPr>
          <p:cNvPr id="28822" name="Group 260"/>
          <p:cNvGrpSpPr>
            <a:grpSpLocks/>
          </p:cNvGrpSpPr>
          <p:nvPr/>
        </p:nvGrpSpPr>
        <p:grpSpPr bwMode="auto">
          <a:xfrm>
            <a:off x="2901950" y="1233488"/>
            <a:ext cx="374650" cy="531812"/>
            <a:chOff x="1828" y="577"/>
            <a:chExt cx="236" cy="335"/>
          </a:xfrm>
        </p:grpSpPr>
        <p:sp>
          <p:nvSpPr>
            <p:cNvPr id="28862" name="Freeform 261"/>
            <p:cNvSpPr>
              <a:spLocks/>
            </p:cNvSpPr>
            <p:nvPr/>
          </p:nvSpPr>
          <p:spPr bwMode="auto">
            <a:xfrm>
              <a:off x="1888" y="577"/>
              <a:ext cx="116" cy="115"/>
            </a:xfrm>
            <a:custGeom>
              <a:avLst/>
              <a:gdLst>
                <a:gd name="T0" fmla="*/ 61 w 116"/>
                <a:gd name="T1" fmla="*/ 5 h 115"/>
                <a:gd name="T2" fmla="*/ 72 w 116"/>
                <a:gd name="T3" fmla="*/ 5 h 115"/>
                <a:gd name="T4" fmla="*/ 83 w 116"/>
                <a:gd name="T5" fmla="*/ 5 h 115"/>
                <a:gd name="T6" fmla="*/ 88 w 116"/>
                <a:gd name="T7" fmla="*/ 11 h 115"/>
                <a:gd name="T8" fmla="*/ 99 w 116"/>
                <a:gd name="T9" fmla="*/ 22 h 115"/>
                <a:gd name="T10" fmla="*/ 105 w 116"/>
                <a:gd name="T11" fmla="*/ 27 h 115"/>
                <a:gd name="T12" fmla="*/ 110 w 116"/>
                <a:gd name="T13" fmla="*/ 38 h 115"/>
                <a:gd name="T14" fmla="*/ 116 w 116"/>
                <a:gd name="T15" fmla="*/ 44 h 115"/>
                <a:gd name="T16" fmla="*/ 116 w 116"/>
                <a:gd name="T17" fmla="*/ 55 h 115"/>
                <a:gd name="T18" fmla="*/ 116 w 116"/>
                <a:gd name="T19" fmla="*/ 66 h 115"/>
                <a:gd name="T20" fmla="*/ 110 w 116"/>
                <a:gd name="T21" fmla="*/ 77 h 115"/>
                <a:gd name="T22" fmla="*/ 110 w 116"/>
                <a:gd name="T23" fmla="*/ 88 h 115"/>
                <a:gd name="T24" fmla="*/ 105 w 116"/>
                <a:gd name="T25" fmla="*/ 93 h 115"/>
                <a:gd name="T26" fmla="*/ 94 w 116"/>
                <a:gd name="T27" fmla="*/ 99 h 115"/>
                <a:gd name="T28" fmla="*/ 88 w 116"/>
                <a:gd name="T29" fmla="*/ 104 h 115"/>
                <a:gd name="T30" fmla="*/ 83 w 116"/>
                <a:gd name="T31" fmla="*/ 110 h 115"/>
                <a:gd name="T32" fmla="*/ 77 w 116"/>
                <a:gd name="T33" fmla="*/ 115 h 115"/>
                <a:gd name="T34" fmla="*/ 66 w 116"/>
                <a:gd name="T35" fmla="*/ 115 h 115"/>
                <a:gd name="T36" fmla="*/ 55 w 116"/>
                <a:gd name="T37" fmla="*/ 115 h 115"/>
                <a:gd name="T38" fmla="*/ 44 w 116"/>
                <a:gd name="T39" fmla="*/ 115 h 115"/>
                <a:gd name="T40" fmla="*/ 33 w 116"/>
                <a:gd name="T41" fmla="*/ 110 h 115"/>
                <a:gd name="T42" fmla="*/ 28 w 116"/>
                <a:gd name="T43" fmla="*/ 104 h 115"/>
                <a:gd name="T44" fmla="*/ 22 w 116"/>
                <a:gd name="T45" fmla="*/ 99 h 115"/>
                <a:gd name="T46" fmla="*/ 17 w 116"/>
                <a:gd name="T47" fmla="*/ 93 h 115"/>
                <a:gd name="T48" fmla="*/ 11 w 116"/>
                <a:gd name="T49" fmla="*/ 88 h 115"/>
                <a:gd name="T50" fmla="*/ 6 w 116"/>
                <a:gd name="T51" fmla="*/ 77 h 115"/>
                <a:gd name="T52" fmla="*/ 0 w 116"/>
                <a:gd name="T53" fmla="*/ 71 h 115"/>
                <a:gd name="T54" fmla="*/ 0 w 116"/>
                <a:gd name="T55" fmla="*/ 60 h 115"/>
                <a:gd name="T56" fmla="*/ 0 w 116"/>
                <a:gd name="T57" fmla="*/ 49 h 115"/>
                <a:gd name="T58" fmla="*/ 6 w 116"/>
                <a:gd name="T59" fmla="*/ 38 h 115"/>
                <a:gd name="T60" fmla="*/ 11 w 116"/>
                <a:gd name="T61" fmla="*/ 33 h 115"/>
                <a:gd name="T62" fmla="*/ 17 w 116"/>
                <a:gd name="T63" fmla="*/ 22 h 115"/>
                <a:gd name="T64" fmla="*/ 28 w 116"/>
                <a:gd name="T65" fmla="*/ 11 h 115"/>
                <a:gd name="T66" fmla="*/ 39 w 116"/>
                <a:gd name="T67" fmla="*/ 5 h 115"/>
                <a:gd name="T68" fmla="*/ 50 w 116"/>
                <a:gd name="T69" fmla="*/ 5 h 115"/>
                <a:gd name="T70" fmla="*/ 61 w 116"/>
                <a:gd name="T71" fmla="*/ 0 h 11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6"/>
                <a:gd name="T109" fmla="*/ 0 h 115"/>
                <a:gd name="T110" fmla="*/ 116 w 116"/>
                <a:gd name="T111" fmla="*/ 115 h 11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6" h="115">
                  <a:moveTo>
                    <a:pt x="61" y="0"/>
                  </a:moveTo>
                  <a:lnTo>
                    <a:pt x="61" y="5"/>
                  </a:lnTo>
                  <a:lnTo>
                    <a:pt x="66" y="5"/>
                  </a:lnTo>
                  <a:lnTo>
                    <a:pt x="72" y="5"/>
                  </a:lnTo>
                  <a:lnTo>
                    <a:pt x="77" y="5"/>
                  </a:lnTo>
                  <a:lnTo>
                    <a:pt x="83" y="5"/>
                  </a:lnTo>
                  <a:lnTo>
                    <a:pt x="83" y="11"/>
                  </a:lnTo>
                  <a:lnTo>
                    <a:pt x="88" y="11"/>
                  </a:lnTo>
                  <a:lnTo>
                    <a:pt x="94" y="16"/>
                  </a:lnTo>
                  <a:lnTo>
                    <a:pt x="99" y="22"/>
                  </a:lnTo>
                  <a:lnTo>
                    <a:pt x="105" y="22"/>
                  </a:lnTo>
                  <a:lnTo>
                    <a:pt x="105" y="27"/>
                  </a:lnTo>
                  <a:lnTo>
                    <a:pt x="110" y="33"/>
                  </a:lnTo>
                  <a:lnTo>
                    <a:pt x="110" y="38"/>
                  </a:lnTo>
                  <a:lnTo>
                    <a:pt x="110" y="44"/>
                  </a:lnTo>
                  <a:lnTo>
                    <a:pt x="116" y="44"/>
                  </a:lnTo>
                  <a:lnTo>
                    <a:pt x="116" y="49"/>
                  </a:lnTo>
                  <a:lnTo>
                    <a:pt x="116" y="55"/>
                  </a:lnTo>
                  <a:lnTo>
                    <a:pt x="116" y="60"/>
                  </a:lnTo>
                  <a:lnTo>
                    <a:pt x="116" y="66"/>
                  </a:lnTo>
                  <a:lnTo>
                    <a:pt x="116" y="71"/>
                  </a:lnTo>
                  <a:lnTo>
                    <a:pt x="110" y="77"/>
                  </a:lnTo>
                  <a:lnTo>
                    <a:pt x="110" y="82"/>
                  </a:lnTo>
                  <a:lnTo>
                    <a:pt x="110" y="88"/>
                  </a:lnTo>
                  <a:lnTo>
                    <a:pt x="105" y="88"/>
                  </a:lnTo>
                  <a:lnTo>
                    <a:pt x="105" y="93"/>
                  </a:lnTo>
                  <a:lnTo>
                    <a:pt x="99" y="99"/>
                  </a:lnTo>
                  <a:lnTo>
                    <a:pt x="94" y="99"/>
                  </a:lnTo>
                  <a:lnTo>
                    <a:pt x="94" y="104"/>
                  </a:lnTo>
                  <a:lnTo>
                    <a:pt x="88" y="104"/>
                  </a:lnTo>
                  <a:lnTo>
                    <a:pt x="88" y="110"/>
                  </a:lnTo>
                  <a:lnTo>
                    <a:pt x="83" y="110"/>
                  </a:lnTo>
                  <a:lnTo>
                    <a:pt x="77" y="110"/>
                  </a:lnTo>
                  <a:lnTo>
                    <a:pt x="77" y="115"/>
                  </a:lnTo>
                  <a:lnTo>
                    <a:pt x="72" y="115"/>
                  </a:lnTo>
                  <a:lnTo>
                    <a:pt x="66" y="115"/>
                  </a:lnTo>
                  <a:lnTo>
                    <a:pt x="61" y="115"/>
                  </a:lnTo>
                  <a:lnTo>
                    <a:pt x="55" y="115"/>
                  </a:lnTo>
                  <a:lnTo>
                    <a:pt x="50" y="115"/>
                  </a:lnTo>
                  <a:lnTo>
                    <a:pt x="44" y="115"/>
                  </a:lnTo>
                  <a:lnTo>
                    <a:pt x="39" y="110"/>
                  </a:lnTo>
                  <a:lnTo>
                    <a:pt x="33" y="110"/>
                  </a:lnTo>
                  <a:lnTo>
                    <a:pt x="28" y="110"/>
                  </a:lnTo>
                  <a:lnTo>
                    <a:pt x="28" y="104"/>
                  </a:lnTo>
                  <a:lnTo>
                    <a:pt x="22" y="104"/>
                  </a:lnTo>
                  <a:lnTo>
                    <a:pt x="22" y="99"/>
                  </a:lnTo>
                  <a:lnTo>
                    <a:pt x="17" y="99"/>
                  </a:lnTo>
                  <a:lnTo>
                    <a:pt x="17" y="93"/>
                  </a:lnTo>
                  <a:lnTo>
                    <a:pt x="11" y="93"/>
                  </a:lnTo>
                  <a:lnTo>
                    <a:pt x="11" y="88"/>
                  </a:lnTo>
                  <a:lnTo>
                    <a:pt x="6" y="82"/>
                  </a:lnTo>
                  <a:lnTo>
                    <a:pt x="6" y="77"/>
                  </a:lnTo>
                  <a:lnTo>
                    <a:pt x="6" y="71"/>
                  </a:lnTo>
                  <a:lnTo>
                    <a:pt x="0" y="71"/>
                  </a:lnTo>
                  <a:lnTo>
                    <a:pt x="0" y="66"/>
                  </a:lnTo>
                  <a:lnTo>
                    <a:pt x="0" y="60"/>
                  </a:lnTo>
                  <a:lnTo>
                    <a:pt x="0" y="55"/>
                  </a:lnTo>
                  <a:lnTo>
                    <a:pt x="0" y="49"/>
                  </a:lnTo>
                  <a:lnTo>
                    <a:pt x="6" y="44"/>
                  </a:lnTo>
                  <a:lnTo>
                    <a:pt x="6" y="38"/>
                  </a:lnTo>
                  <a:lnTo>
                    <a:pt x="6" y="33"/>
                  </a:lnTo>
                  <a:lnTo>
                    <a:pt x="11" y="33"/>
                  </a:lnTo>
                  <a:lnTo>
                    <a:pt x="11" y="27"/>
                  </a:lnTo>
                  <a:lnTo>
                    <a:pt x="17" y="22"/>
                  </a:lnTo>
                  <a:lnTo>
                    <a:pt x="22" y="16"/>
                  </a:lnTo>
                  <a:lnTo>
                    <a:pt x="28" y="11"/>
                  </a:lnTo>
                  <a:lnTo>
                    <a:pt x="33" y="11"/>
                  </a:lnTo>
                  <a:lnTo>
                    <a:pt x="39" y="5"/>
                  </a:lnTo>
                  <a:lnTo>
                    <a:pt x="44" y="5"/>
                  </a:lnTo>
                  <a:lnTo>
                    <a:pt x="50" y="5"/>
                  </a:lnTo>
                  <a:lnTo>
                    <a:pt x="55" y="5"/>
                  </a:lnTo>
                  <a:lnTo>
                    <a:pt x="6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63" name="Freeform 262"/>
            <p:cNvSpPr>
              <a:spLocks/>
            </p:cNvSpPr>
            <p:nvPr/>
          </p:nvSpPr>
          <p:spPr bwMode="auto">
            <a:xfrm>
              <a:off x="1888" y="577"/>
              <a:ext cx="116" cy="115"/>
            </a:xfrm>
            <a:custGeom>
              <a:avLst/>
              <a:gdLst>
                <a:gd name="T0" fmla="*/ 61 w 116"/>
                <a:gd name="T1" fmla="*/ 0 h 115"/>
                <a:gd name="T2" fmla="*/ 83 w 116"/>
                <a:gd name="T3" fmla="*/ 5 h 115"/>
                <a:gd name="T4" fmla="*/ 99 w 116"/>
                <a:gd name="T5" fmla="*/ 22 h 115"/>
                <a:gd name="T6" fmla="*/ 110 w 116"/>
                <a:gd name="T7" fmla="*/ 38 h 115"/>
                <a:gd name="T8" fmla="*/ 116 w 116"/>
                <a:gd name="T9" fmla="*/ 60 h 115"/>
                <a:gd name="T10" fmla="*/ 110 w 116"/>
                <a:gd name="T11" fmla="*/ 82 h 115"/>
                <a:gd name="T12" fmla="*/ 99 w 116"/>
                <a:gd name="T13" fmla="*/ 99 h 115"/>
                <a:gd name="T14" fmla="*/ 83 w 116"/>
                <a:gd name="T15" fmla="*/ 110 h 115"/>
                <a:gd name="T16" fmla="*/ 61 w 116"/>
                <a:gd name="T17" fmla="*/ 115 h 115"/>
                <a:gd name="T18" fmla="*/ 39 w 116"/>
                <a:gd name="T19" fmla="*/ 110 h 115"/>
                <a:gd name="T20" fmla="*/ 17 w 116"/>
                <a:gd name="T21" fmla="*/ 99 h 115"/>
                <a:gd name="T22" fmla="*/ 6 w 116"/>
                <a:gd name="T23" fmla="*/ 82 h 115"/>
                <a:gd name="T24" fmla="*/ 0 w 116"/>
                <a:gd name="T25" fmla="*/ 60 h 115"/>
                <a:gd name="T26" fmla="*/ 6 w 116"/>
                <a:gd name="T27" fmla="*/ 38 h 115"/>
                <a:gd name="T28" fmla="*/ 17 w 116"/>
                <a:gd name="T29" fmla="*/ 22 h 115"/>
                <a:gd name="T30" fmla="*/ 39 w 116"/>
                <a:gd name="T31" fmla="*/ 5 h 115"/>
                <a:gd name="T32" fmla="*/ 61 w 116"/>
                <a:gd name="T33" fmla="*/ 0 h 11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6"/>
                <a:gd name="T52" fmla="*/ 0 h 115"/>
                <a:gd name="T53" fmla="*/ 116 w 116"/>
                <a:gd name="T54" fmla="*/ 115 h 11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6" h="115">
                  <a:moveTo>
                    <a:pt x="61" y="0"/>
                  </a:moveTo>
                  <a:lnTo>
                    <a:pt x="83" y="5"/>
                  </a:lnTo>
                  <a:lnTo>
                    <a:pt x="99" y="22"/>
                  </a:lnTo>
                  <a:lnTo>
                    <a:pt x="110" y="38"/>
                  </a:lnTo>
                  <a:lnTo>
                    <a:pt x="116" y="60"/>
                  </a:lnTo>
                  <a:lnTo>
                    <a:pt x="110" y="82"/>
                  </a:lnTo>
                  <a:lnTo>
                    <a:pt x="99" y="99"/>
                  </a:lnTo>
                  <a:lnTo>
                    <a:pt x="83" y="110"/>
                  </a:lnTo>
                  <a:lnTo>
                    <a:pt x="61" y="115"/>
                  </a:lnTo>
                  <a:lnTo>
                    <a:pt x="39" y="110"/>
                  </a:lnTo>
                  <a:lnTo>
                    <a:pt x="17" y="99"/>
                  </a:lnTo>
                  <a:lnTo>
                    <a:pt x="6" y="82"/>
                  </a:lnTo>
                  <a:lnTo>
                    <a:pt x="0" y="60"/>
                  </a:lnTo>
                  <a:lnTo>
                    <a:pt x="6" y="38"/>
                  </a:lnTo>
                  <a:lnTo>
                    <a:pt x="17" y="22"/>
                  </a:lnTo>
                  <a:lnTo>
                    <a:pt x="39" y="5"/>
                  </a:lnTo>
                  <a:lnTo>
                    <a:pt x="61"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64" name="Line 263"/>
            <p:cNvSpPr>
              <a:spLocks noChangeShapeType="1"/>
            </p:cNvSpPr>
            <p:nvPr/>
          </p:nvSpPr>
          <p:spPr bwMode="auto">
            <a:xfrm>
              <a:off x="1866" y="725"/>
              <a:ext cx="160"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5" name="Freeform 264"/>
            <p:cNvSpPr>
              <a:spLocks/>
            </p:cNvSpPr>
            <p:nvPr/>
          </p:nvSpPr>
          <p:spPr bwMode="auto">
            <a:xfrm>
              <a:off x="1828" y="692"/>
              <a:ext cx="115" cy="220"/>
            </a:xfrm>
            <a:custGeom>
              <a:avLst/>
              <a:gdLst>
                <a:gd name="T0" fmla="*/ 115 w 115"/>
                <a:gd name="T1" fmla="*/ 0 h 220"/>
                <a:gd name="T2" fmla="*/ 115 w 115"/>
                <a:gd name="T3" fmla="*/ 105 h 220"/>
                <a:gd name="T4" fmla="*/ 0 w 115"/>
                <a:gd name="T5" fmla="*/ 220 h 220"/>
                <a:gd name="T6" fmla="*/ 0 60000 65536"/>
                <a:gd name="T7" fmla="*/ 0 60000 65536"/>
                <a:gd name="T8" fmla="*/ 0 60000 65536"/>
                <a:gd name="T9" fmla="*/ 0 w 115"/>
                <a:gd name="T10" fmla="*/ 0 h 220"/>
                <a:gd name="T11" fmla="*/ 115 w 115"/>
                <a:gd name="T12" fmla="*/ 220 h 220"/>
              </a:gdLst>
              <a:ahLst/>
              <a:cxnLst>
                <a:cxn ang="T6">
                  <a:pos x="T0" y="T1"/>
                </a:cxn>
                <a:cxn ang="T7">
                  <a:pos x="T2" y="T3"/>
                </a:cxn>
                <a:cxn ang="T8">
                  <a:pos x="T4" y="T5"/>
                </a:cxn>
              </a:cxnLst>
              <a:rect l="T9" t="T10" r="T11" b="T12"/>
              <a:pathLst>
                <a:path w="115" h="220">
                  <a:moveTo>
                    <a:pt x="115" y="0"/>
                  </a:moveTo>
                  <a:lnTo>
                    <a:pt x="115" y="105"/>
                  </a:lnTo>
                  <a:lnTo>
                    <a:pt x="0" y="22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66" name="Line 265"/>
            <p:cNvSpPr>
              <a:spLocks noChangeShapeType="1"/>
            </p:cNvSpPr>
            <p:nvPr/>
          </p:nvSpPr>
          <p:spPr bwMode="auto">
            <a:xfrm>
              <a:off x="1943" y="791"/>
              <a:ext cx="121" cy="1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823" name="Line 266"/>
          <p:cNvSpPr>
            <a:spLocks noChangeShapeType="1"/>
          </p:cNvSpPr>
          <p:nvPr/>
        </p:nvSpPr>
        <p:spPr bwMode="auto">
          <a:xfrm flipV="1">
            <a:off x="3282950" y="1460500"/>
            <a:ext cx="755650"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4" name="Text Box 267"/>
          <p:cNvSpPr txBox="1">
            <a:spLocks noChangeArrowheads="1"/>
          </p:cNvSpPr>
          <p:nvPr/>
        </p:nvSpPr>
        <p:spPr bwMode="auto">
          <a:xfrm>
            <a:off x="3200400" y="2206625"/>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spcBef>
                <a:spcPct val="50000"/>
              </a:spcBef>
            </a:pPr>
            <a:r>
              <a:rPr lang="en-US" sz="2000">
                <a:solidFill>
                  <a:schemeClr val="tx1"/>
                </a:solidFill>
                <a:latin typeface="Arial" pitchFamily="34" charset="0"/>
              </a:rPr>
              <a:t>Use-Case Model</a:t>
            </a:r>
          </a:p>
        </p:txBody>
      </p:sp>
      <p:grpSp>
        <p:nvGrpSpPr>
          <p:cNvPr id="28825" name="Group 268"/>
          <p:cNvGrpSpPr>
            <a:grpSpLocks/>
          </p:cNvGrpSpPr>
          <p:nvPr/>
        </p:nvGrpSpPr>
        <p:grpSpPr bwMode="auto">
          <a:xfrm>
            <a:off x="5791200" y="1308100"/>
            <a:ext cx="374650" cy="531813"/>
            <a:chOff x="3696" y="528"/>
            <a:chExt cx="236" cy="335"/>
          </a:xfrm>
        </p:grpSpPr>
        <p:sp>
          <p:nvSpPr>
            <p:cNvPr id="28857" name="Freeform 269"/>
            <p:cNvSpPr>
              <a:spLocks/>
            </p:cNvSpPr>
            <p:nvPr/>
          </p:nvSpPr>
          <p:spPr bwMode="auto">
            <a:xfrm>
              <a:off x="3756" y="528"/>
              <a:ext cx="116" cy="115"/>
            </a:xfrm>
            <a:custGeom>
              <a:avLst/>
              <a:gdLst>
                <a:gd name="T0" fmla="*/ 61 w 116"/>
                <a:gd name="T1" fmla="*/ 5 h 115"/>
                <a:gd name="T2" fmla="*/ 72 w 116"/>
                <a:gd name="T3" fmla="*/ 5 h 115"/>
                <a:gd name="T4" fmla="*/ 83 w 116"/>
                <a:gd name="T5" fmla="*/ 5 h 115"/>
                <a:gd name="T6" fmla="*/ 88 w 116"/>
                <a:gd name="T7" fmla="*/ 11 h 115"/>
                <a:gd name="T8" fmla="*/ 99 w 116"/>
                <a:gd name="T9" fmla="*/ 22 h 115"/>
                <a:gd name="T10" fmla="*/ 105 w 116"/>
                <a:gd name="T11" fmla="*/ 27 h 115"/>
                <a:gd name="T12" fmla="*/ 110 w 116"/>
                <a:gd name="T13" fmla="*/ 38 h 115"/>
                <a:gd name="T14" fmla="*/ 116 w 116"/>
                <a:gd name="T15" fmla="*/ 44 h 115"/>
                <a:gd name="T16" fmla="*/ 116 w 116"/>
                <a:gd name="T17" fmla="*/ 55 h 115"/>
                <a:gd name="T18" fmla="*/ 116 w 116"/>
                <a:gd name="T19" fmla="*/ 66 h 115"/>
                <a:gd name="T20" fmla="*/ 110 w 116"/>
                <a:gd name="T21" fmla="*/ 77 h 115"/>
                <a:gd name="T22" fmla="*/ 110 w 116"/>
                <a:gd name="T23" fmla="*/ 88 h 115"/>
                <a:gd name="T24" fmla="*/ 105 w 116"/>
                <a:gd name="T25" fmla="*/ 93 h 115"/>
                <a:gd name="T26" fmla="*/ 94 w 116"/>
                <a:gd name="T27" fmla="*/ 99 h 115"/>
                <a:gd name="T28" fmla="*/ 88 w 116"/>
                <a:gd name="T29" fmla="*/ 104 h 115"/>
                <a:gd name="T30" fmla="*/ 83 w 116"/>
                <a:gd name="T31" fmla="*/ 110 h 115"/>
                <a:gd name="T32" fmla="*/ 77 w 116"/>
                <a:gd name="T33" fmla="*/ 115 h 115"/>
                <a:gd name="T34" fmla="*/ 66 w 116"/>
                <a:gd name="T35" fmla="*/ 115 h 115"/>
                <a:gd name="T36" fmla="*/ 55 w 116"/>
                <a:gd name="T37" fmla="*/ 115 h 115"/>
                <a:gd name="T38" fmla="*/ 44 w 116"/>
                <a:gd name="T39" fmla="*/ 115 h 115"/>
                <a:gd name="T40" fmla="*/ 33 w 116"/>
                <a:gd name="T41" fmla="*/ 110 h 115"/>
                <a:gd name="T42" fmla="*/ 28 w 116"/>
                <a:gd name="T43" fmla="*/ 104 h 115"/>
                <a:gd name="T44" fmla="*/ 22 w 116"/>
                <a:gd name="T45" fmla="*/ 99 h 115"/>
                <a:gd name="T46" fmla="*/ 17 w 116"/>
                <a:gd name="T47" fmla="*/ 93 h 115"/>
                <a:gd name="T48" fmla="*/ 11 w 116"/>
                <a:gd name="T49" fmla="*/ 88 h 115"/>
                <a:gd name="T50" fmla="*/ 6 w 116"/>
                <a:gd name="T51" fmla="*/ 77 h 115"/>
                <a:gd name="T52" fmla="*/ 0 w 116"/>
                <a:gd name="T53" fmla="*/ 71 h 115"/>
                <a:gd name="T54" fmla="*/ 0 w 116"/>
                <a:gd name="T55" fmla="*/ 60 h 115"/>
                <a:gd name="T56" fmla="*/ 0 w 116"/>
                <a:gd name="T57" fmla="*/ 49 h 115"/>
                <a:gd name="T58" fmla="*/ 6 w 116"/>
                <a:gd name="T59" fmla="*/ 38 h 115"/>
                <a:gd name="T60" fmla="*/ 11 w 116"/>
                <a:gd name="T61" fmla="*/ 33 h 115"/>
                <a:gd name="T62" fmla="*/ 17 w 116"/>
                <a:gd name="T63" fmla="*/ 22 h 115"/>
                <a:gd name="T64" fmla="*/ 28 w 116"/>
                <a:gd name="T65" fmla="*/ 11 h 115"/>
                <a:gd name="T66" fmla="*/ 39 w 116"/>
                <a:gd name="T67" fmla="*/ 5 h 115"/>
                <a:gd name="T68" fmla="*/ 50 w 116"/>
                <a:gd name="T69" fmla="*/ 5 h 115"/>
                <a:gd name="T70" fmla="*/ 61 w 116"/>
                <a:gd name="T71" fmla="*/ 0 h 11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6"/>
                <a:gd name="T109" fmla="*/ 0 h 115"/>
                <a:gd name="T110" fmla="*/ 116 w 116"/>
                <a:gd name="T111" fmla="*/ 115 h 11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6" h="115">
                  <a:moveTo>
                    <a:pt x="61" y="0"/>
                  </a:moveTo>
                  <a:lnTo>
                    <a:pt x="61" y="5"/>
                  </a:lnTo>
                  <a:lnTo>
                    <a:pt x="66" y="5"/>
                  </a:lnTo>
                  <a:lnTo>
                    <a:pt x="72" y="5"/>
                  </a:lnTo>
                  <a:lnTo>
                    <a:pt x="77" y="5"/>
                  </a:lnTo>
                  <a:lnTo>
                    <a:pt x="83" y="5"/>
                  </a:lnTo>
                  <a:lnTo>
                    <a:pt x="83" y="11"/>
                  </a:lnTo>
                  <a:lnTo>
                    <a:pt x="88" y="11"/>
                  </a:lnTo>
                  <a:lnTo>
                    <a:pt x="94" y="16"/>
                  </a:lnTo>
                  <a:lnTo>
                    <a:pt x="99" y="22"/>
                  </a:lnTo>
                  <a:lnTo>
                    <a:pt x="105" y="22"/>
                  </a:lnTo>
                  <a:lnTo>
                    <a:pt x="105" y="27"/>
                  </a:lnTo>
                  <a:lnTo>
                    <a:pt x="110" y="33"/>
                  </a:lnTo>
                  <a:lnTo>
                    <a:pt x="110" y="38"/>
                  </a:lnTo>
                  <a:lnTo>
                    <a:pt x="110" y="44"/>
                  </a:lnTo>
                  <a:lnTo>
                    <a:pt x="116" y="44"/>
                  </a:lnTo>
                  <a:lnTo>
                    <a:pt x="116" y="49"/>
                  </a:lnTo>
                  <a:lnTo>
                    <a:pt x="116" y="55"/>
                  </a:lnTo>
                  <a:lnTo>
                    <a:pt x="116" y="60"/>
                  </a:lnTo>
                  <a:lnTo>
                    <a:pt x="116" y="66"/>
                  </a:lnTo>
                  <a:lnTo>
                    <a:pt x="116" y="71"/>
                  </a:lnTo>
                  <a:lnTo>
                    <a:pt x="110" y="77"/>
                  </a:lnTo>
                  <a:lnTo>
                    <a:pt x="110" y="82"/>
                  </a:lnTo>
                  <a:lnTo>
                    <a:pt x="110" y="88"/>
                  </a:lnTo>
                  <a:lnTo>
                    <a:pt x="105" y="88"/>
                  </a:lnTo>
                  <a:lnTo>
                    <a:pt x="105" y="93"/>
                  </a:lnTo>
                  <a:lnTo>
                    <a:pt x="99" y="99"/>
                  </a:lnTo>
                  <a:lnTo>
                    <a:pt x="94" y="99"/>
                  </a:lnTo>
                  <a:lnTo>
                    <a:pt x="94" y="104"/>
                  </a:lnTo>
                  <a:lnTo>
                    <a:pt x="88" y="104"/>
                  </a:lnTo>
                  <a:lnTo>
                    <a:pt x="88" y="110"/>
                  </a:lnTo>
                  <a:lnTo>
                    <a:pt x="83" y="110"/>
                  </a:lnTo>
                  <a:lnTo>
                    <a:pt x="77" y="110"/>
                  </a:lnTo>
                  <a:lnTo>
                    <a:pt x="77" y="115"/>
                  </a:lnTo>
                  <a:lnTo>
                    <a:pt x="72" y="115"/>
                  </a:lnTo>
                  <a:lnTo>
                    <a:pt x="66" y="115"/>
                  </a:lnTo>
                  <a:lnTo>
                    <a:pt x="61" y="115"/>
                  </a:lnTo>
                  <a:lnTo>
                    <a:pt x="55" y="115"/>
                  </a:lnTo>
                  <a:lnTo>
                    <a:pt x="50" y="115"/>
                  </a:lnTo>
                  <a:lnTo>
                    <a:pt x="44" y="115"/>
                  </a:lnTo>
                  <a:lnTo>
                    <a:pt x="39" y="110"/>
                  </a:lnTo>
                  <a:lnTo>
                    <a:pt x="33" y="110"/>
                  </a:lnTo>
                  <a:lnTo>
                    <a:pt x="28" y="110"/>
                  </a:lnTo>
                  <a:lnTo>
                    <a:pt x="28" y="104"/>
                  </a:lnTo>
                  <a:lnTo>
                    <a:pt x="22" y="104"/>
                  </a:lnTo>
                  <a:lnTo>
                    <a:pt x="22" y="99"/>
                  </a:lnTo>
                  <a:lnTo>
                    <a:pt x="17" y="99"/>
                  </a:lnTo>
                  <a:lnTo>
                    <a:pt x="17" y="93"/>
                  </a:lnTo>
                  <a:lnTo>
                    <a:pt x="11" y="93"/>
                  </a:lnTo>
                  <a:lnTo>
                    <a:pt x="11" y="88"/>
                  </a:lnTo>
                  <a:lnTo>
                    <a:pt x="6" y="82"/>
                  </a:lnTo>
                  <a:lnTo>
                    <a:pt x="6" y="77"/>
                  </a:lnTo>
                  <a:lnTo>
                    <a:pt x="6" y="71"/>
                  </a:lnTo>
                  <a:lnTo>
                    <a:pt x="0" y="71"/>
                  </a:lnTo>
                  <a:lnTo>
                    <a:pt x="0" y="66"/>
                  </a:lnTo>
                  <a:lnTo>
                    <a:pt x="0" y="60"/>
                  </a:lnTo>
                  <a:lnTo>
                    <a:pt x="0" y="55"/>
                  </a:lnTo>
                  <a:lnTo>
                    <a:pt x="0" y="49"/>
                  </a:lnTo>
                  <a:lnTo>
                    <a:pt x="6" y="44"/>
                  </a:lnTo>
                  <a:lnTo>
                    <a:pt x="6" y="38"/>
                  </a:lnTo>
                  <a:lnTo>
                    <a:pt x="6" y="33"/>
                  </a:lnTo>
                  <a:lnTo>
                    <a:pt x="11" y="33"/>
                  </a:lnTo>
                  <a:lnTo>
                    <a:pt x="11" y="27"/>
                  </a:lnTo>
                  <a:lnTo>
                    <a:pt x="17" y="22"/>
                  </a:lnTo>
                  <a:lnTo>
                    <a:pt x="22" y="16"/>
                  </a:lnTo>
                  <a:lnTo>
                    <a:pt x="28" y="11"/>
                  </a:lnTo>
                  <a:lnTo>
                    <a:pt x="33" y="11"/>
                  </a:lnTo>
                  <a:lnTo>
                    <a:pt x="39" y="5"/>
                  </a:lnTo>
                  <a:lnTo>
                    <a:pt x="44" y="5"/>
                  </a:lnTo>
                  <a:lnTo>
                    <a:pt x="50" y="5"/>
                  </a:lnTo>
                  <a:lnTo>
                    <a:pt x="55" y="5"/>
                  </a:lnTo>
                  <a:lnTo>
                    <a:pt x="6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58" name="Freeform 270"/>
            <p:cNvSpPr>
              <a:spLocks/>
            </p:cNvSpPr>
            <p:nvPr/>
          </p:nvSpPr>
          <p:spPr bwMode="auto">
            <a:xfrm>
              <a:off x="3756" y="528"/>
              <a:ext cx="116" cy="115"/>
            </a:xfrm>
            <a:custGeom>
              <a:avLst/>
              <a:gdLst>
                <a:gd name="T0" fmla="*/ 61 w 116"/>
                <a:gd name="T1" fmla="*/ 0 h 115"/>
                <a:gd name="T2" fmla="*/ 83 w 116"/>
                <a:gd name="T3" fmla="*/ 5 h 115"/>
                <a:gd name="T4" fmla="*/ 99 w 116"/>
                <a:gd name="T5" fmla="*/ 22 h 115"/>
                <a:gd name="T6" fmla="*/ 110 w 116"/>
                <a:gd name="T7" fmla="*/ 38 h 115"/>
                <a:gd name="T8" fmla="*/ 116 w 116"/>
                <a:gd name="T9" fmla="*/ 60 h 115"/>
                <a:gd name="T10" fmla="*/ 110 w 116"/>
                <a:gd name="T11" fmla="*/ 82 h 115"/>
                <a:gd name="T12" fmla="*/ 99 w 116"/>
                <a:gd name="T13" fmla="*/ 99 h 115"/>
                <a:gd name="T14" fmla="*/ 83 w 116"/>
                <a:gd name="T15" fmla="*/ 110 h 115"/>
                <a:gd name="T16" fmla="*/ 61 w 116"/>
                <a:gd name="T17" fmla="*/ 115 h 115"/>
                <a:gd name="T18" fmla="*/ 39 w 116"/>
                <a:gd name="T19" fmla="*/ 110 h 115"/>
                <a:gd name="T20" fmla="*/ 17 w 116"/>
                <a:gd name="T21" fmla="*/ 99 h 115"/>
                <a:gd name="T22" fmla="*/ 6 w 116"/>
                <a:gd name="T23" fmla="*/ 82 h 115"/>
                <a:gd name="T24" fmla="*/ 0 w 116"/>
                <a:gd name="T25" fmla="*/ 60 h 115"/>
                <a:gd name="T26" fmla="*/ 6 w 116"/>
                <a:gd name="T27" fmla="*/ 38 h 115"/>
                <a:gd name="T28" fmla="*/ 17 w 116"/>
                <a:gd name="T29" fmla="*/ 22 h 115"/>
                <a:gd name="T30" fmla="*/ 39 w 116"/>
                <a:gd name="T31" fmla="*/ 5 h 115"/>
                <a:gd name="T32" fmla="*/ 61 w 116"/>
                <a:gd name="T33" fmla="*/ 0 h 11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6"/>
                <a:gd name="T52" fmla="*/ 0 h 115"/>
                <a:gd name="T53" fmla="*/ 116 w 116"/>
                <a:gd name="T54" fmla="*/ 115 h 11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6" h="115">
                  <a:moveTo>
                    <a:pt x="61" y="0"/>
                  </a:moveTo>
                  <a:lnTo>
                    <a:pt x="83" y="5"/>
                  </a:lnTo>
                  <a:lnTo>
                    <a:pt x="99" y="22"/>
                  </a:lnTo>
                  <a:lnTo>
                    <a:pt x="110" y="38"/>
                  </a:lnTo>
                  <a:lnTo>
                    <a:pt x="116" y="60"/>
                  </a:lnTo>
                  <a:lnTo>
                    <a:pt x="110" y="82"/>
                  </a:lnTo>
                  <a:lnTo>
                    <a:pt x="99" y="99"/>
                  </a:lnTo>
                  <a:lnTo>
                    <a:pt x="83" y="110"/>
                  </a:lnTo>
                  <a:lnTo>
                    <a:pt x="61" y="115"/>
                  </a:lnTo>
                  <a:lnTo>
                    <a:pt x="39" y="110"/>
                  </a:lnTo>
                  <a:lnTo>
                    <a:pt x="17" y="99"/>
                  </a:lnTo>
                  <a:lnTo>
                    <a:pt x="6" y="82"/>
                  </a:lnTo>
                  <a:lnTo>
                    <a:pt x="0" y="60"/>
                  </a:lnTo>
                  <a:lnTo>
                    <a:pt x="6" y="38"/>
                  </a:lnTo>
                  <a:lnTo>
                    <a:pt x="17" y="22"/>
                  </a:lnTo>
                  <a:lnTo>
                    <a:pt x="39" y="5"/>
                  </a:lnTo>
                  <a:lnTo>
                    <a:pt x="61"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59" name="Line 271"/>
            <p:cNvSpPr>
              <a:spLocks noChangeShapeType="1"/>
            </p:cNvSpPr>
            <p:nvPr/>
          </p:nvSpPr>
          <p:spPr bwMode="auto">
            <a:xfrm>
              <a:off x="3734" y="676"/>
              <a:ext cx="160"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0" name="Freeform 272"/>
            <p:cNvSpPr>
              <a:spLocks/>
            </p:cNvSpPr>
            <p:nvPr/>
          </p:nvSpPr>
          <p:spPr bwMode="auto">
            <a:xfrm>
              <a:off x="3696" y="643"/>
              <a:ext cx="115" cy="220"/>
            </a:xfrm>
            <a:custGeom>
              <a:avLst/>
              <a:gdLst>
                <a:gd name="T0" fmla="*/ 115 w 115"/>
                <a:gd name="T1" fmla="*/ 0 h 220"/>
                <a:gd name="T2" fmla="*/ 115 w 115"/>
                <a:gd name="T3" fmla="*/ 105 h 220"/>
                <a:gd name="T4" fmla="*/ 0 w 115"/>
                <a:gd name="T5" fmla="*/ 220 h 220"/>
                <a:gd name="T6" fmla="*/ 0 60000 65536"/>
                <a:gd name="T7" fmla="*/ 0 60000 65536"/>
                <a:gd name="T8" fmla="*/ 0 60000 65536"/>
                <a:gd name="T9" fmla="*/ 0 w 115"/>
                <a:gd name="T10" fmla="*/ 0 h 220"/>
                <a:gd name="T11" fmla="*/ 115 w 115"/>
                <a:gd name="T12" fmla="*/ 220 h 220"/>
              </a:gdLst>
              <a:ahLst/>
              <a:cxnLst>
                <a:cxn ang="T6">
                  <a:pos x="T0" y="T1"/>
                </a:cxn>
                <a:cxn ang="T7">
                  <a:pos x="T2" y="T3"/>
                </a:cxn>
                <a:cxn ang="T8">
                  <a:pos x="T4" y="T5"/>
                </a:cxn>
              </a:cxnLst>
              <a:rect l="T9" t="T10" r="T11" b="T12"/>
              <a:pathLst>
                <a:path w="115" h="220">
                  <a:moveTo>
                    <a:pt x="115" y="0"/>
                  </a:moveTo>
                  <a:lnTo>
                    <a:pt x="115" y="105"/>
                  </a:lnTo>
                  <a:lnTo>
                    <a:pt x="0" y="22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61" name="Line 273"/>
            <p:cNvSpPr>
              <a:spLocks noChangeShapeType="1"/>
            </p:cNvSpPr>
            <p:nvPr/>
          </p:nvSpPr>
          <p:spPr bwMode="auto">
            <a:xfrm>
              <a:off x="3811" y="742"/>
              <a:ext cx="121" cy="1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826" name="Line 274"/>
          <p:cNvSpPr>
            <a:spLocks noChangeShapeType="1"/>
          </p:cNvSpPr>
          <p:nvPr/>
        </p:nvSpPr>
        <p:spPr bwMode="auto">
          <a:xfrm>
            <a:off x="4800600" y="1460500"/>
            <a:ext cx="990600"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28827" name="Line 275"/>
          <p:cNvSpPr>
            <a:spLocks noChangeShapeType="1"/>
          </p:cNvSpPr>
          <p:nvPr/>
        </p:nvSpPr>
        <p:spPr bwMode="auto">
          <a:xfrm flipV="1">
            <a:off x="4800600" y="1612900"/>
            <a:ext cx="9906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28828" name="Freeform 276"/>
          <p:cNvSpPr>
            <a:spLocks/>
          </p:cNvSpPr>
          <p:nvPr/>
        </p:nvSpPr>
        <p:spPr bwMode="auto">
          <a:xfrm>
            <a:off x="4038600" y="1231900"/>
            <a:ext cx="831850" cy="381000"/>
          </a:xfrm>
          <a:custGeom>
            <a:avLst/>
            <a:gdLst>
              <a:gd name="T0" fmla="*/ 281 w 507"/>
              <a:gd name="T1" fmla="*/ 0 h 209"/>
              <a:gd name="T2" fmla="*/ 314 w 507"/>
              <a:gd name="T3" fmla="*/ 6 h 209"/>
              <a:gd name="T4" fmla="*/ 353 w 507"/>
              <a:gd name="T5" fmla="*/ 11 h 209"/>
              <a:gd name="T6" fmla="*/ 386 w 507"/>
              <a:gd name="T7" fmla="*/ 17 h 209"/>
              <a:gd name="T8" fmla="*/ 413 w 507"/>
              <a:gd name="T9" fmla="*/ 22 h 209"/>
              <a:gd name="T10" fmla="*/ 441 w 507"/>
              <a:gd name="T11" fmla="*/ 33 h 209"/>
              <a:gd name="T12" fmla="*/ 463 w 507"/>
              <a:gd name="T13" fmla="*/ 44 h 209"/>
              <a:gd name="T14" fmla="*/ 479 w 507"/>
              <a:gd name="T15" fmla="*/ 61 h 209"/>
              <a:gd name="T16" fmla="*/ 496 w 507"/>
              <a:gd name="T17" fmla="*/ 72 h 209"/>
              <a:gd name="T18" fmla="*/ 501 w 507"/>
              <a:gd name="T19" fmla="*/ 88 h 209"/>
              <a:gd name="T20" fmla="*/ 507 w 507"/>
              <a:gd name="T21" fmla="*/ 105 h 209"/>
              <a:gd name="T22" fmla="*/ 501 w 507"/>
              <a:gd name="T23" fmla="*/ 121 h 209"/>
              <a:gd name="T24" fmla="*/ 496 w 507"/>
              <a:gd name="T25" fmla="*/ 138 h 209"/>
              <a:gd name="T26" fmla="*/ 479 w 507"/>
              <a:gd name="T27" fmla="*/ 149 h 209"/>
              <a:gd name="T28" fmla="*/ 463 w 507"/>
              <a:gd name="T29" fmla="*/ 165 h 209"/>
              <a:gd name="T30" fmla="*/ 441 w 507"/>
              <a:gd name="T31" fmla="*/ 176 h 209"/>
              <a:gd name="T32" fmla="*/ 413 w 507"/>
              <a:gd name="T33" fmla="*/ 187 h 209"/>
              <a:gd name="T34" fmla="*/ 386 w 507"/>
              <a:gd name="T35" fmla="*/ 193 h 209"/>
              <a:gd name="T36" fmla="*/ 353 w 507"/>
              <a:gd name="T37" fmla="*/ 198 h 209"/>
              <a:gd name="T38" fmla="*/ 314 w 507"/>
              <a:gd name="T39" fmla="*/ 204 h 209"/>
              <a:gd name="T40" fmla="*/ 281 w 507"/>
              <a:gd name="T41" fmla="*/ 209 h 209"/>
              <a:gd name="T42" fmla="*/ 243 w 507"/>
              <a:gd name="T43" fmla="*/ 209 h 209"/>
              <a:gd name="T44" fmla="*/ 204 w 507"/>
              <a:gd name="T45" fmla="*/ 209 h 209"/>
              <a:gd name="T46" fmla="*/ 165 w 507"/>
              <a:gd name="T47" fmla="*/ 204 h 209"/>
              <a:gd name="T48" fmla="*/ 132 w 507"/>
              <a:gd name="T49" fmla="*/ 198 h 209"/>
              <a:gd name="T50" fmla="*/ 105 w 507"/>
              <a:gd name="T51" fmla="*/ 187 h 209"/>
              <a:gd name="T52" fmla="*/ 77 w 507"/>
              <a:gd name="T53" fmla="*/ 176 h 209"/>
              <a:gd name="T54" fmla="*/ 50 w 507"/>
              <a:gd name="T55" fmla="*/ 165 h 209"/>
              <a:gd name="T56" fmla="*/ 33 w 507"/>
              <a:gd name="T57" fmla="*/ 154 h 209"/>
              <a:gd name="T58" fmla="*/ 17 w 507"/>
              <a:gd name="T59" fmla="*/ 143 h 209"/>
              <a:gd name="T60" fmla="*/ 6 w 507"/>
              <a:gd name="T61" fmla="*/ 127 h 209"/>
              <a:gd name="T62" fmla="*/ 0 w 507"/>
              <a:gd name="T63" fmla="*/ 110 h 209"/>
              <a:gd name="T64" fmla="*/ 0 w 507"/>
              <a:gd name="T65" fmla="*/ 94 h 209"/>
              <a:gd name="T66" fmla="*/ 6 w 507"/>
              <a:gd name="T67" fmla="*/ 77 h 209"/>
              <a:gd name="T68" fmla="*/ 22 w 507"/>
              <a:gd name="T69" fmla="*/ 66 h 209"/>
              <a:gd name="T70" fmla="*/ 39 w 507"/>
              <a:gd name="T71" fmla="*/ 50 h 209"/>
              <a:gd name="T72" fmla="*/ 61 w 507"/>
              <a:gd name="T73" fmla="*/ 39 h 209"/>
              <a:gd name="T74" fmla="*/ 83 w 507"/>
              <a:gd name="T75" fmla="*/ 28 h 209"/>
              <a:gd name="T76" fmla="*/ 110 w 507"/>
              <a:gd name="T77" fmla="*/ 17 h 209"/>
              <a:gd name="T78" fmla="*/ 143 w 507"/>
              <a:gd name="T79" fmla="*/ 11 h 209"/>
              <a:gd name="T80" fmla="*/ 176 w 507"/>
              <a:gd name="T81" fmla="*/ 6 h 209"/>
              <a:gd name="T82" fmla="*/ 215 w 507"/>
              <a:gd name="T83" fmla="*/ 0 h 209"/>
              <a:gd name="T84" fmla="*/ 254 w 507"/>
              <a:gd name="T85" fmla="*/ 0 h 20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7"/>
              <a:gd name="T130" fmla="*/ 0 h 209"/>
              <a:gd name="T131" fmla="*/ 507 w 507"/>
              <a:gd name="T132" fmla="*/ 209 h 20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7" h="209">
                <a:moveTo>
                  <a:pt x="254" y="0"/>
                </a:moveTo>
                <a:lnTo>
                  <a:pt x="265" y="0"/>
                </a:lnTo>
                <a:lnTo>
                  <a:pt x="281" y="0"/>
                </a:lnTo>
                <a:lnTo>
                  <a:pt x="292" y="0"/>
                </a:lnTo>
                <a:lnTo>
                  <a:pt x="303" y="6"/>
                </a:lnTo>
                <a:lnTo>
                  <a:pt x="314" y="6"/>
                </a:lnTo>
                <a:lnTo>
                  <a:pt x="331" y="6"/>
                </a:lnTo>
                <a:lnTo>
                  <a:pt x="342" y="6"/>
                </a:lnTo>
                <a:lnTo>
                  <a:pt x="353" y="11"/>
                </a:lnTo>
                <a:lnTo>
                  <a:pt x="364" y="11"/>
                </a:lnTo>
                <a:lnTo>
                  <a:pt x="375" y="11"/>
                </a:lnTo>
                <a:lnTo>
                  <a:pt x="386" y="17"/>
                </a:lnTo>
                <a:lnTo>
                  <a:pt x="397" y="17"/>
                </a:lnTo>
                <a:lnTo>
                  <a:pt x="402" y="22"/>
                </a:lnTo>
                <a:lnTo>
                  <a:pt x="413" y="22"/>
                </a:lnTo>
                <a:lnTo>
                  <a:pt x="424" y="28"/>
                </a:lnTo>
                <a:lnTo>
                  <a:pt x="430" y="33"/>
                </a:lnTo>
                <a:lnTo>
                  <a:pt x="441" y="33"/>
                </a:lnTo>
                <a:lnTo>
                  <a:pt x="446" y="39"/>
                </a:lnTo>
                <a:lnTo>
                  <a:pt x="457" y="44"/>
                </a:lnTo>
                <a:lnTo>
                  <a:pt x="463" y="44"/>
                </a:lnTo>
                <a:lnTo>
                  <a:pt x="468" y="50"/>
                </a:lnTo>
                <a:lnTo>
                  <a:pt x="474" y="55"/>
                </a:lnTo>
                <a:lnTo>
                  <a:pt x="479" y="61"/>
                </a:lnTo>
                <a:lnTo>
                  <a:pt x="485" y="66"/>
                </a:lnTo>
                <a:lnTo>
                  <a:pt x="490" y="72"/>
                </a:lnTo>
                <a:lnTo>
                  <a:pt x="496" y="72"/>
                </a:lnTo>
                <a:lnTo>
                  <a:pt x="501" y="77"/>
                </a:lnTo>
                <a:lnTo>
                  <a:pt x="501" y="83"/>
                </a:lnTo>
                <a:lnTo>
                  <a:pt x="501" y="88"/>
                </a:lnTo>
                <a:lnTo>
                  <a:pt x="507" y="94"/>
                </a:lnTo>
                <a:lnTo>
                  <a:pt x="507" y="99"/>
                </a:lnTo>
                <a:lnTo>
                  <a:pt x="507" y="105"/>
                </a:lnTo>
                <a:lnTo>
                  <a:pt x="507" y="110"/>
                </a:lnTo>
                <a:lnTo>
                  <a:pt x="507" y="116"/>
                </a:lnTo>
                <a:lnTo>
                  <a:pt x="501" y="121"/>
                </a:lnTo>
                <a:lnTo>
                  <a:pt x="501" y="127"/>
                </a:lnTo>
                <a:lnTo>
                  <a:pt x="501" y="132"/>
                </a:lnTo>
                <a:lnTo>
                  <a:pt x="496" y="138"/>
                </a:lnTo>
                <a:lnTo>
                  <a:pt x="490" y="143"/>
                </a:lnTo>
                <a:lnTo>
                  <a:pt x="485" y="143"/>
                </a:lnTo>
                <a:lnTo>
                  <a:pt x="479" y="149"/>
                </a:lnTo>
                <a:lnTo>
                  <a:pt x="474" y="154"/>
                </a:lnTo>
                <a:lnTo>
                  <a:pt x="468" y="160"/>
                </a:lnTo>
                <a:lnTo>
                  <a:pt x="463" y="165"/>
                </a:lnTo>
                <a:lnTo>
                  <a:pt x="457" y="165"/>
                </a:lnTo>
                <a:lnTo>
                  <a:pt x="446" y="171"/>
                </a:lnTo>
                <a:lnTo>
                  <a:pt x="441" y="176"/>
                </a:lnTo>
                <a:lnTo>
                  <a:pt x="430" y="176"/>
                </a:lnTo>
                <a:lnTo>
                  <a:pt x="424" y="182"/>
                </a:lnTo>
                <a:lnTo>
                  <a:pt x="413" y="187"/>
                </a:lnTo>
                <a:lnTo>
                  <a:pt x="402" y="187"/>
                </a:lnTo>
                <a:lnTo>
                  <a:pt x="397" y="193"/>
                </a:lnTo>
                <a:lnTo>
                  <a:pt x="386" y="193"/>
                </a:lnTo>
                <a:lnTo>
                  <a:pt x="375" y="198"/>
                </a:lnTo>
                <a:lnTo>
                  <a:pt x="364" y="198"/>
                </a:lnTo>
                <a:lnTo>
                  <a:pt x="353" y="198"/>
                </a:lnTo>
                <a:lnTo>
                  <a:pt x="342" y="204"/>
                </a:lnTo>
                <a:lnTo>
                  <a:pt x="331" y="204"/>
                </a:lnTo>
                <a:lnTo>
                  <a:pt x="314" y="204"/>
                </a:lnTo>
                <a:lnTo>
                  <a:pt x="303" y="209"/>
                </a:lnTo>
                <a:lnTo>
                  <a:pt x="292" y="209"/>
                </a:lnTo>
                <a:lnTo>
                  <a:pt x="281" y="209"/>
                </a:lnTo>
                <a:lnTo>
                  <a:pt x="265" y="209"/>
                </a:lnTo>
                <a:lnTo>
                  <a:pt x="254" y="209"/>
                </a:lnTo>
                <a:lnTo>
                  <a:pt x="243" y="209"/>
                </a:lnTo>
                <a:lnTo>
                  <a:pt x="226" y="209"/>
                </a:lnTo>
                <a:lnTo>
                  <a:pt x="215" y="209"/>
                </a:lnTo>
                <a:lnTo>
                  <a:pt x="204" y="209"/>
                </a:lnTo>
                <a:lnTo>
                  <a:pt x="193" y="204"/>
                </a:lnTo>
                <a:lnTo>
                  <a:pt x="176" y="204"/>
                </a:lnTo>
                <a:lnTo>
                  <a:pt x="165" y="204"/>
                </a:lnTo>
                <a:lnTo>
                  <a:pt x="154" y="198"/>
                </a:lnTo>
                <a:lnTo>
                  <a:pt x="143" y="198"/>
                </a:lnTo>
                <a:lnTo>
                  <a:pt x="132" y="198"/>
                </a:lnTo>
                <a:lnTo>
                  <a:pt x="121" y="193"/>
                </a:lnTo>
                <a:lnTo>
                  <a:pt x="110" y="193"/>
                </a:lnTo>
                <a:lnTo>
                  <a:pt x="105" y="187"/>
                </a:lnTo>
                <a:lnTo>
                  <a:pt x="94" y="187"/>
                </a:lnTo>
                <a:lnTo>
                  <a:pt x="83" y="182"/>
                </a:lnTo>
                <a:lnTo>
                  <a:pt x="77" y="176"/>
                </a:lnTo>
                <a:lnTo>
                  <a:pt x="66" y="176"/>
                </a:lnTo>
                <a:lnTo>
                  <a:pt x="61" y="171"/>
                </a:lnTo>
                <a:lnTo>
                  <a:pt x="50" y="165"/>
                </a:lnTo>
                <a:lnTo>
                  <a:pt x="44" y="165"/>
                </a:lnTo>
                <a:lnTo>
                  <a:pt x="39" y="160"/>
                </a:lnTo>
                <a:lnTo>
                  <a:pt x="33" y="154"/>
                </a:lnTo>
                <a:lnTo>
                  <a:pt x="28" y="149"/>
                </a:lnTo>
                <a:lnTo>
                  <a:pt x="22" y="143"/>
                </a:lnTo>
                <a:lnTo>
                  <a:pt x="17" y="143"/>
                </a:lnTo>
                <a:lnTo>
                  <a:pt x="11" y="138"/>
                </a:lnTo>
                <a:lnTo>
                  <a:pt x="6" y="132"/>
                </a:lnTo>
                <a:lnTo>
                  <a:pt x="6" y="127"/>
                </a:lnTo>
                <a:lnTo>
                  <a:pt x="6" y="121"/>
                </a:lnTo>
                <a:lnTo>
                  <a:pt x="0" y="116"/>
                </a:lnTo>
                <a:lnTo>
                  <a:pt x="0" y="110"/>
                </a:lnTo>
                <a:lnTo>
                  <a:pt x="0" y="105"/>
                </a:lnTo>
                <a:lnTo>
                  <a:pt x="0" y="99"/>
                </a:lnTo>
                <a:lnTo>
                  <a:pt x="0" y="94"/>
                </a:lnTo>
                <a:lnTo>
                  <a:pt x="6" y="88"/>
                </a:lnTo>
                <a:lnTo>
                  <a:pt x="6" y="83"/>
                </a:lnTo>
                <a:lnTo>
                  <a:pt x="6" y="77"/>
                </a:lnTo>
                <a:lnTo>
                  <a:pt x="11" y="72"/>
                </a:lnTo>
                <a:lnTo>
                  <a:pt x="17" y="72"/>
                </a:lnTo>
                <a:lnTo>
                  <a:pt x="22" y="66"/>
                </a:lnTo>
                <a:lnTo>
                  <a:pt x="28" y="61"/>
                </a:lnTo>
                <a:lnTo>
                  <a:pt x="33" y="55"/>
                </a:lnTo>
                <a:lnTo>
                  <a:pt x="39" y="50"/>
                </a:lnTo>
                <a:lnTo>
                  <a:pt x="44" y="44"/>
                </a:lnTo>
                <a:lnTo>
                  <a:pt x="50" y="44"/>
                </a:lnTo>
                <a:lnTo>
                  <a:pt x="61" y="39"/>
                </a:lnTo>
                <a:lnTo>
                  <a:pt x="66" y="33"/>
                </a:lnTo>
                <a:lnTo>
                  <a:pt x="77" y="33"/>
                </a:lnTo>
                <a:lnTo>
                  <a:pt x="83" y="28"/>
                </a:lnTo>
                <a:lnTo>
                  <a:pt x="94" y="22"/>
                </a:lnTo>
                <a:lnTo>
                  <a:pt x="105" y="22"/>
                </a:lnTo>
                <a:lnTo>
                  <a:pt x="110" y="17"/>
                </a:lnTo>
                <a:lnTo>
                  <a:pt x="121" y="17"/>
                </a:lnTo>
                <a:lnTo>
                  <a:pt x="132" y="11"/>
                </a:lnTo>
                <a:lnTo>
                  <a:pt x="143" y="11"/>
                </a:lnTo>
                <a:lnTo>
                  <a:pt x="154" y="11"/>
                </a:lnTo>
                <a:lnTo>
                  <a:pt x="165" y="6"/>
                </a:lnTo>
                <a:lnTo>
                  <a:pt x="176" y="6"/>
                </a:lnTo>
                <a:lnTo>
                  <a:pt x="193" y="6"/>
                </a:lnTo>
                <a:lnTo>
                  <a:pt x="204" y="6"/>
                </a:lnTo>
                <a:lnTo>
                  <a:pt x="215" y="0"/>
                </a:lnTo>
                <a:lnTo>
                  <a:pt x="226" y="0"/>
                </a:lnTo>
                <a:lnTo>
                  <a:pt x="243" y="0"/>
                </a:lnTo>
                <a:lnTo>
                  <a:pt x="254" y="0"/>
                </a:lnTo>
                <a:close/>
              </a:path>
            </a:pathLst>
          </a:custGeom>
          <a:solidFill>
            <a:srgbClr val="6699FF"/>
          </a:solidFill>
          <a:ln w="28575">
            <a:solidFill>
              <a:schemeClr val="tx1"/>
            </a:solidFill>
            <a:round/>
            <a:headEnd/>
            <a:tailEnd/>
          </a:ln>
        </p:spPr>
        <p:txBody>
          <a:bodyPr/>
          <a:lstStyle/>
          <a:p>
            <a:endParaRPr lang="en-US"/>
          </a:p>
        </p:txBody>
      </p:sp>
      <p:sp>
        <p:nvSpPr>
          <p:cNvPr id="28829" name="Freeform 277"/>
          <p:cNvSpPr>
            <a:spLocks/>
          </p:cNvSpPr>
          <p:nvPr/>
        </p:nvSpPr>
        <p:spPr bwMode="auto">
          <a:xfrm>
            <a:off x="7312025" y="4165600"/>
            <a:ext cx="398463" cy="387350"/>
          </a:xfrm>
          <a:custGeom>
            <a:avLst/>
            <a:gdLst>
              <a:gd name="T0" fmla="*/ 197 w 251"/>
              <a:gd name="T1" fmla="*/ 221 h 244"/>
              <a:gd name="T2" fmla="*/ 179 w 251"/>
              <a:gd name="T3" fmla="*/ 221 h 244"/>
              <a:gd name="T4" fmla="*/ 167 w 251"/>
              <a:gd name="T5" fmla="*/ 233 h 244"/>
              <a:gd name="T6" fmla="*/ 155 w 251"/>
              <a:gd name="T7" fmla="*/ 239 h 244"/>
              <a:gd name="T8" fmla="*/ 150 w 251"/>
              <a:gd name="T9" fmla="*/ 227 h 244"/>
              <a:gd name="T10" fmla="*/ 132 w 251"/>
              <a:gd name="T11" fmla="*/ 239 h 244"/>
              <a:gd name="T12" fmla="*/ 126 w 251"/>
              <a:gd name="T13" fmla="*/ 239 h 244"/>
              <a:gd name="T14" fmla="*/ 108 w 251"/>
              <a:gd name="T15" fmla="*/ 239 h 244"/>
              <a:gd name="T16" fmla="*/ 96 w 251"/>
              <a:gd name="T17" fmla="*/ 233 h 244"/>
              <a:gd name="T18" fmla="*/ 78 w 251"/>
              <a:gd name="T19" fmla="*/ 227 h 244"/>
              <a:gd name="T20" fmla="*/ 72 w 251"/>
              <a:gd name="T21" fmla="*/ 227 h 244"/>
              <a:gd name="T22" fmla="*/ 66 w 251"/>
              <a:gd name="T23" fmla="*/ 215 h 244"/>
              <a:gd name="T24" fmla="*/ 42 w 251"/>
              <a:gd name="T25" fmla="*/ 215 h 244"/>
              <a:gd name="T26" fmla="*/ 36 w 251"/>
              <a:gd name="T27" fmla="*/ 204 h 244"/>
              <a:gd name="T28" fmla="*/ 36 w 251"/>
              <a:gd name="T29" fmla="*/ 186 h 244"/>
              <a:gd name="T30" fmla="*/ 18 w 251"/>
              <a:gd name="T31" fmla="*/ 186 h 244"/>
              <a:gd name="T32" fmla="*/ 24 w 251"/>
              <a:gd name="T33" fmla="*/ 175 h 244"/>
              <a:gd name="T34" fmla="*/ 6 w 251"/>
              <a:gd name="T35" fmla="*/ 163 h 244"/>
              <a:gd name="T36" fmla="*/ 12 w 251"/>
              <a:gd name="T37" fmla="*/ 152 h 244"/>
              <a:gd name="T38" fmla="*/ 6 w 251"/>
              <a:gd name="T39" fmla="*/ 134 h 244"/>
              <a:gd name="T40" fmla="*/ 0 w 251"/>
              <a:gd name="T41" fmla="*/ 122 h 244"/>
              <a:gd name="T42" fmla="*/ 12 w 251"/>
              <a:gd name="T43" fmla="*/ 105 h 244"/>
              <a:gd name="T44" fmla="*/ 0 w 251"/>
              <a:gd name="T45" fmla="*/ 99 h 244"/>
              <a:gd name="T46" fmla="*/ 12 w 251"/>
              <a:gd name="T47" fmla="*/ 93 h 244"/>
              <a:gd name="T48" fmla="*/ 12 w 251"/>
              <a:gd name="T49" fmla="*/ 76 h 244"/>
              <a:gd name="T50" fmla="*/ 18 w 251"/>
              <a:gd name="T51" fmla="*/ 64 h 244"/>
              <a:gd name="T52" fmla="*/ 36 w 251"/>
              <a:gd name="T53" fmla="*/ 53 h 244"/>
              <a:gd name="T54" fmla="*/ 36 w 251"/>
              <a:gd name="T55" fmla="*/ 41 h 244"/>
              <a:gd name="T56" fmla="*/ 42 w 251"/>
              <a:gd name="T57" fmla="*/ 41 h 244"/>
              <a:gd name="T58" fmla="*/ 54 w 251"/>
              <a:gd name="T59" fmla="*/ 30 h 244"/>
              <a:gd name="T60" fmla="*/ 60 w 251"/>
              <a:gd name="T61" fmla="*/ 18 h 244"/>
              <a:gd name="T62" fmla="*/ 78 w 251"/>
              <a:gd name="T63" fmla="*/ 18 h 244"/>
              <a:gd name="T64" fmla="*/ 84 w 251"/>
              <a:gd name="T65" fmla="*/ 6 h 244"/>
              <a:gd name="T66" fmla="*/ 96 w 251"/>
              <a:gd name="T67" fmla="*/ 18 h 244"/>
              <a:gd name="T68" fmla="*/ 108 w 251"/>
              <a:gd name="T69" fmla="*/ 0 h 244"/>
              <a:gd name="T70" fmla="*/ 126 w 251"/>
              <a:gd name="T71" fmla="*/ 0 h 244"/>
              <a:gd name="T72" fmla="*/ 138 w 251"/>
              <a:gd name="T73" fmla="*/ 12 h 244"/>
              <a:gd name="T74" fmla="*/ 150 w 251"/>
              <a:gd name="T75" fmla="*/ 0 h 244"/>
              <a:gd name="T76" fmla="*/ 155 w 251"/>
              <a:gd name="T77" fmla="*/ 12 h 244"/>
              <a:gd name="T78" fmla="*/ 173 w 251"/>
              <a:gd name="T79" fmla="*/ 12 h 244"/>
              <a:gd name="T80" fmla="*/ 185 w 251"/>
              <a:gd name="T81" fmla="*/ 18 h 244"/>
              <a:gd name="T82" fmla="*/ 179 w 251"/>
              <a:gd name="T83" fmla="*/ 30 h 244"/>
              <a:gd name="T84" fmla="*/ 203 w 251"/>
              <a:gd name="T85" fmla="*/ 30 h 244"/>
              <a:gd name="T86" fmla="*/ 209 w 251"/>
              <a:gd name="T87" fmla="*/ 41 h 244"/>
              <a:gd name="T88" fmla="*/ 215 w 251"/>
              <a:gd name="T89" fmla="*/ 53 h 244"/>
              <a:gd name="T90" fmla="*/ 227 w 251"/>
              <a:gd name="T91" fmla="*/ 59 h 244"/>
              <a:gd name="T92" fmla="*/ 221 w 251"/>
              <a:gd name="T93" fmla="*/ 70 h 244"/>
              <a:gd name="T94" fmla="*/ 239 w 251"/>
              <a:gd name="T95" fmla="*/ 76 h 244"/>
              <a:gd name="T96" fmla="*/ 245 w 251"/>
              <a:gd name="T97" fmla="*/ 88 h 244"/>
              <a:gd name="T98" fmla="*/ 233 w 251"/>
              <a:gd name="T99" fmla="*/ 93 h 244"/>
              <a:gd name="T100" fmla="*/ 245 w 251"/>
              <a:gd name="T101" fmla="*/ 111 h 244"/>
              <a:gd name="T102" fmla="*/ 245 w 251"/>
              <a:gd name="T103" fmla="*/ 117 h 244"/>
              <a:gd name="T104" fmla="*/ 233 w 251"/>
              <a:gd name="T105" fmla="*/ 134 h 244"/>
              <a:gd name="T106" fmla="*/ 245 w 251"/>
              <a:gd name="T107" fmla="*/ 152 h 244"/>
              <a:gd name="T108" fmla="*/ 227 w 251"/>
              <a:gd name="T109" fmla="*/ 163 h 244"/>
              <a:gd name="T110" fmla="*/ 239 w 251"/>
              <a:gd name="T111" fmla="*/ 175 h 244"/>
              <a:gd name="T112" fmla="*/ 227 w 251"/>
              <a:gd name="T113" fmla="*/ 181 h 244"/>
              <a:gd name="T114" fmla="*/ 215 w 251"/>
              <a:gd name="T115" fmla="*/ 186 h 244"/>
              <a:gd name="T116" fmla="*/ 215 w 251"/>
              <a:gd name="T117" fmla="*/ 198 h 244"/>
              <a:gd name="T118" fmla="*/ 203 w 251"/>
              <a:gd name="T119" fmla="*/ 204 h 24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51"/>
              <a:gd name="T181" fmla="*/ 0 h 244"/>
              <a:gd name="T182" fmla="*/ 251 w 251"/>
              <a:gd name="T183" fmla="*/ 244 h 24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51" h="244">
                <a:moveTo>
                  <a:pt x="191" y="210"/>
                </a:moveTo>
                <a:lnTo>
                  <a:pt x="197" y="215"/>
                </a:lnTo>
                <a:lnTo>
                  <a:pt x="197" y="221"/>
                </a:lnTo>
                <a:lnTo>
                  <a:pt x="191" y="221"/>
                </a:lnTo>
                <a:lnTo>
                  <a:pt x="185" y="221"/>
                </a:lnTo>
                <a:lnTo>
                  <a:pt x="179" y="221"/>
                </a:lnTo>
                <a:lnTo>
                  <a:pt x="179" y="215"/>
                </a:lnTo>
                <a:lnTo>
                  <a:pt x="167" y="221"/>
                </a:lnTo>
                <a:lnTo>
                  <a:pt x="167" y="233"/>
                </a:lnTo>
                <a:lnTo>
                  <a:pt x="161" y="233"/>
                </a:lnTo>
                <a:lnTo>
                  <a:pt x="161" y="239"/>
                </a:lnTo>
                <a:lnTo>
                  <a:pt x="155" y="239"/>
                </a:lnTo>
                <a:lnTo>
                  <a:pt x="155" y="233"/>
                </a:lnTo>
                <a:lnTo>
                  <a:pt x="155" y="227"/>
                </a:lnTo>
                <a:lnTo>
                  <a:pt x="150" y="227"/>
                </a:lnTo>
                <a:lnTo>
                  <a:pt x="138" y="227"/>
                </a:lnTo>
                <a:lnTo>
                  <a:pt x="138" y="239"/>
                </a:lnTo>
                <a:lnTo>
                  <a:pt x="132" y="239"/>
                </a:lnTo>
                <a:lnTo>
                  <a:pt x="132" y="244"/>
                </a:lnTo>
                <a:lnTo>
                  <a:pt x="126" y="244"/>
                </a:lnTo>
                <a:lnTo>
                  <a:pt x="126" y="239"/>
                </a:lnTo>
                <a:lnTo>
                  <a:pt x="126" y="233"/>
                </a:lnTo>
                <a:lnTo>
                  <a:pt x="108" y="233"/>
                </a:lnTo>
                <a:lnTo>
                  <a:pt x="108" y="239"/>
                </a:lnTo>
                <a:lnTo>
                  <a:pt x="102" y="239"/>
                </a:lnTo>
                <a:lnTo>
                  <a:pt x="96" y="239"/>
                </a:lnTo>
                <a:lnTo>
                  <a:pt x="96" y="233"/>
                </a:lnTo>
                <a:lnTo>
                  <a:pt x="96" y="227"/>
                </a:lnTo>
                <a:lnTo>
                  <a:pt x="84" y="221"/>
                </a:lnTo>
                <a:lnTo>
                  <a:pt x="78" y="227"/>
                </a:lnTo>
                <a:lnTo>
                  <a:pt x="78" y="233"/>
                </a:lnTo>
                <a:lnTo>
                  <a:pt x="72" y="233"/>
                </a:lnTo>
                <a:lnTo>
                  <a:pt x="72" y="227"/>
                </a:lnTo>
                <a:lnTo>
                  <a:pt x="66" y="227"/>
                </a:lnTo>
                <a:lnTo>
                  <a:pt x="66" y="221"/>
                </a:lnTo>
                <a:lnTo>
                  <a:pt x="66" y="215"/>
                </a:lnTo>
                <a:lnTo>
                  <a:pt x="54" y="210"/>
                </a:lnTo>
                <a:lnTo>
                  <a:pt x="48" y="215"/>
                </a:lnTo>
                <a:lnTo>
                  <a:pt x="42" y="215"/>
                </a:lnTo>
                <a:lnTo>
                  <a:pt x="42" y="210"/>
                </a:lnTo>
                <a:lnTo>
                  <a:pt x="36" y="210"/>
                </a:lnTo>
                <a:lnTo>
                  <a:pt x="36" y="204"/>
                </a:lnTo>
                <a:lnTo>
                  <a:pt x="42" y="204"/>
                </a:lnTo>
                <a:lnTo>
                  <a:pt x="42" y="198"/>
                </a:lnTo>
                <a:lnTo>
                  <a:pt x="36" y="186"/>
                </a:lnTo>
                <a:lnTo>
                  <a:pt x="30" y="192"/>
                </a:lnTo>
                <a:lnTo>
                  <a:pt x="24" y="192"/>
                </a:lnTo>
                <a:lnTo>
                  <a:pt x="18" y="186"/>
                </a:lnTo>
                <a:lnTo>
                  <a:pt x="18" y="181"/>
                </a:lnTo>
                <a:lnTo>
                  <a:pt x="24" y="181"/>
                </a:lnTo>
                <a:lnTo>
                  <a:pt x="24" y="175"/>
                </a:lnTo>
                <a:lnTo>
                  <a:pt x="18" y="163"/>
                </a:lnTo>
                <a:lnTo>
                  <a:pt x="12" y="163"/>
                </a:lnTo>
                <a:lnTo>
                  <a:pt x="6" y="163"/>
                </a:lnTo>
                <a:lnTo>
                  <a:pt x="6" y="157"/>
                </a:lnTo>
                <a:lnTo>
                  <a:pt x="6" y="152"/>
                </a:lnTo>
                <a:lnTo>
                  <a:pt x="12" y="152"/>
                </a:lnTo>
                <a:lnTo>
                  <a:pt x="12" y="146"/>
                </a:lnTo>
                <a:lnTo>
                  <a:pt x="12" y="134"/>
                </a:lnTo>
                <a:lnTo>
                  <a:pt x="6" y="134"/>
                </a:lnTo>
                <a:lnTo>
                  <a:pt x="0" y="134"/>
                </a:lnTo>
                <a:lnTo>
                  <a:pt x="0" y="128"/>
                </a:lnTo>
                <a:lnTo>
                  <a:pt x="0" y="122"/>
                </a:lnTo>
                <a:lnTo>
                  <a:pt x="6" y="122"/>
                </a:lnTo>
                <a:lnTo>
                  <a:pt x="12" y="122"/>
                </a:lnTo>
                <a:lnTo>
                  <a:pt x="12" y="105"/>
                </a:lnTo>
                <a:lnTo>
                  <a:pt x="6" y="105"/>
                </a:lnTo>
                <a:lnTo>
                  <a:pt x="0" y="105"/>
                </a:lnTo>
                <a:lnTo>
                  <a:pt x="0" y="99"/>
                </a:lnTo>
                <a:lnTo>
                  <a:pt x="0" y="93"/>
                </a:lnTo>
                <a:lnTo>
                  <a:pt x="6" y="93"/>
                </a:lnTo>
                <a:lnTo>
                  <a:pt x="12" y="93"/>
                </a:lnTo>
                <a:lnTo>
                  <a:pt x="18" y="93"/>
                </a:lnTo>
                <a:lnTo>
                  <a:pt x="18" y="82"/>
                </a:lnTo>
                <a:lnTo>
                  <a:pt x="12" y="76"/>
                </a:lnTo>
                <a:lnTo>
                  <a:pt x="12" y="70"/>
                </a:lnTo>
                <a:lnTo>
                  <a:pt x="12" y="64"/>
                </a:lnTo>
                <a:lnTo>
                  <a:pt x="18" y="64"/>
                </a:lnTo>
                <a:lnTo>
                  <a:pt x="24" y="64"/>
                </a:lnTo>
                <a:lnTo>
                  <a:pt x="30" y="64"/>
                </a:lnTo>
                <a:lnTo>
                  <a:pt x="36" y="53"/>
                </a:lnTo>
                <a:lnTo>
                  <a:pt x="30" y="47"/>
                </a:lnTo>
                <a:lnTo>
                  <a:pt x="30" y="41"/>
                </a:lnTo>
                <a:lnTo>
                  <a:pt x="36" y="41"/>
                </a:lnTo>
                <a:lnTo>
                  <a:pt x="36" y="35"/>
                </a:lnTo>
                <a:lnTo>
                  <a:pt x="36" y="41"/>
                </a:lnTo>
                <a:lnTo>
                  <a:pt x="42" y="41"/>
                </a:lnTo>
                <a:lnTo>
                  <a:pt x="48" y="41"/>
                </a:lnTo>
                <a:lnTo>
                  <a:pt x="54" y="35"/>
                </a:lnTo>
                <a:lnTo>
                  <a:pt x="54" y="30"/>
                </a:lnTo>
                <a:lnTo>
                  <a:pt x="54" y="24"/>
                </a:lnTo>
                <a:lnTo>
                  <a:pt x="54" y="18"/>
                </a:lnTo>
                <a:lnTo>
                  <a:pt x="60" y="18"/>
                </a:lnTo>
                <a:lnTo>
                  <a:pt x="66" y="18"/>
                </a:lnTo>
                <a:lnTo>
                  <a:pt x="66" y="24"/>
                </a:lnTo>
                <a:lnTo>
                  <a:pt x="78" y="18"/>
                </a:lnTo>
                <a:lnTo>
                  <a:pt x="78" y="12"/>
                </a:lnTo>
                <a:lnTo>
                  <a:pt x="78" y="6"/>
                </a:lnTo>
                <a:lnTo>
                  <a:pt x="84" y="6"/>
                </a:lnTo>
                <a:lnTo>
                  <a:pt x="90" y="6"/>
                </a:lnTo>
                <a:lnTo>
                  <a:pt x="96" y="12"/>
                </a:lnTo>
                <a:lnTo>
                  <a:pt x="96" y="18"/>
                </a:lnTo>
                <a:lnTo>
                  <a:pt x="108" y="12"/>
                </a:lnTo>
                <a:lnTo>
                  <a:pt x="108" y="6"/>
                </a:lnTo>
                <a:lnTo>
                  <a:pt x="108" y="0"/>
                </a:lnTo>
                <a:lnTo>
                  <a:pt x="114" y="0"/>
                </a:lnTo>
                <a:lnTo>
                  <a:pt x="120" y="0"/>
                </a:lnTo>
                <a:lnTo>
                  <a:pt x="126" y="0"/>
                </a:lnTo>
                <a:lnTo>
                  <a:pt x="126" y="6"/>
                </a:lnTo>
                <a:lnTo>
                  <a:pt x="126" y="12"/>
                </a:lnTo>
                <a:lnTo>
                  <a:pt x="138" y="12"/>
                </a:lnTo>
                <a:lnTo>
                  <a:pt x="144" y="6"/>
                </a:lnTo>
                <a:lnTo>
                  <a:pt x="144" y="0"/>
                </a:lnTo>
                <a:lnTo>
                  <a:pt x="150" y="0"/>
                </a:lnTo>
                <a:lnTo>
                  <a:pt x="150" y="6"/>
                </a:lnTo>
                <a:lnTo>
                  <a:pt x="155" y="6"/>
                </a:lnTo>
                <a:lnTo>
                  <a:pt x="155" y="12"/>
                </a:lnTo>
                <a:lnTo>
                  <a:pt x="155" y="18"/>
                </a:lnTo>
                <a:lnTo>
                  <a:pt x="167" y="18"/>
                </a:lnTo>
                <a:lnTo>
                  <a:pt x="173" y="12"/>
                </a:lnTo>
                <a:lnTo>
                  <a:pt x="179" y="12"/>
                </a:lnTo>
                <a:lnTo>
                  <a:pt x="185" y="12"/>
                </a:lnTo>
                <a:lnTo>
                  <a:pt x="185" y="18"/>
                </a:lnTo>
                <a:lnTo>
                  <a:pt x="185" y="24"/>
                </a:lnTo>
                <a:lnTo>
                  <a:pt x="179" y="24"/>
                </a:lnTo>
                <a:lnTo>
                  <a:pt x="179" y="30"/>
                </a:lnTo>
                <a:lnTo>
                  <a:pt x="191" y="35"/>
                </a:lnTo>
                <a:lnTo>
                  <a:pt x="197" y="30"/>
                </a:lnTo>
                <a:lnTo>
                  <a:pt x="203" y="30"/>
                </a:lnTo>
                <a:lnTo>
                  <a:pt x="209" y="30"/>
                </a:lnTo>
                <a:lnTo>
                  <a:pt x="209" y="35"/>
                </a:lnTo>
                <a:lnTo>
                  <a:pt x="209" y="41"/>
                </a:lnTo>
                <a:lnTo>
                  <a:pt x="203" y="41"/>
                </a:lnTo>
                <a:lnTo>
                  <a:pt x="203" y="47"/>
                </a:lnTo>
                <a:lnTo>
                  <a:pt x="215" y="53"/>
                </a:lnTo>
                <a:lnTo>
                  <a:pt x="221" y="53"/>
                </a:lnTo>
                <a:lnTo>
                  <a:pt x="227" y="53"/>
                </a:lnTo>
                <a:lnTo>
                  <a:pt x="227" y="59"/>
                </a:lnTo>
                <a:lnTo>
                  <a:pt x="227" y="64"/>
                </a:lnTo>
                <a:lnTo>
                  <a:pt x="221" y="64"/>
                </a:lnTo>
                <a:lnTo>
                  <a:pt x="221" y="70"/>
                </a:lnTo>
                <a:lnTo>
                  <a:pt x="227" y="76"/>
                </a:lnTo>
                <a:lnTo>
                  <a:pt x="233" y="76"/>
                </a:lnTo>
                <a:lnTo>
                  <a:pt x="239" y="76"/>
                </a:lnTo>
                <a:lnTo>
                  <a:pt x="239" y="82"/>
                </a:lnTo>
                <a:lnTo>
                  <a:pt x="245" y="82"/>
                </a:lnTo>
                <a:lnTo>
                  <a:pt x="245" y="88"/>
                </a:lnTo>
                <a:lnTo>
                  <a:pt x="239" y="88"/>
                </a:lnTo>
                <a:lnTo>
                  <a:pt x="239" y="93"/>
                </a:lnTo>
                <a:lnTo>
                  <a:pt x="233" y="93"/>
                </a:lnTo>
                <a:lnTo>
                  <a:pt x="233" y="105"/>
                </a:lnTo>
                <a:lnTo>
                  <a:pt x="245" y="105"/>
                </a:lnTo>
                <a:lnTo>
                  <a:pt x="245" y="111"/>
                </a:lnTo>
                <a:lnTo>
                  <a:pt x="251" y="111"/>
                </a:lnTo>
                <a:lnTo>
                  <a:pt x="251" y="117"/>
                </a:lnTo>
                <a:lnTo>
                  <a:pt x="245" y="117"/>
                </a:lnTo>
                <a:lnTo>
                  <a:pt x="245" y="122"/>
                </a:lnTo>
                <a:lnTo>
                  <a:pt x="239" y="122"/>
                </a:lnTo>
                <a:lnTo>
                  <a:pt x="233" y="134"/>
                </a:lnTo>
                <a:lnTo>
                  <a:pt x="245" y="140"/>
                </a:lnTo>
                <a:lnTo>
                  <a:pt x="245" y="146"/>
                </a:lnTo>
                <a:lnTo>
                  <a:pt x="245" y="152"/>
                </a:lnTo>
                <a:lnTo>
                  <a:pt x="239" y="152"/>
                </a:lnTo>
                <a:lnTo>
                  <a:pt x="233" y="152"/>
                </a:lnTo>
                <a:lnTo>
                  <a:pt x="227" y="163"/>
                </a:lnTo>
                <a:lnTo>
                  <a:pt x="233" y="169"/>
                </a:lnTo>
                <a:lnTo>
                  <a:pt x="239" y="169"/>
                </a:lnTo>
                <a:lnTo>
                  <a:pt x="239" y="175"/>
                </a:lnTo>
                <a:lnTo>
                  <a:pt x="233" y="175"/>
                </a:lnTo>
                <a:lnTo>
                  <a:pt x="233" y="181"/>
                </a:lnTo>
                <a:lnTo>
                  <a:pt x="227" y="181"/>
                </a:lnTo>
                <a:lnTo>
                  <a:pt x="221" y="181"/>
                </a:lnTo>
                <a:lnTo>
                  <a:pt x="221" y="175"/>
                </a:lnTo>
                <a:lnTo>
                  <a:pt x="215" y="186"/>
                </a:lnTo>
                <a:lnTo>
                  <a:pt x="221" y="192"/>
                </a:lnTo>
                <a:lnTo>
                  <a:pt x="221" y="198"/>
                </a:lnTo>
                <a:lnTo>
                  <a:pt x="215" y="198"/>
                </a:lnTo>
                <a:lnTo>
                  <a:pt x="215" y="204"/>
                </a:lnTo>
                <a:lnTo>
                  <a:pt x="209" y="204"/>
                </a:lnTo>
                <a:lnTo>
                  <a:pt x="203" y="204"/>
                </a:lnTo>
                <a:lnTo>
                  <a:pt x="203" y="198"/>
                </a:lnTo>
                <a:lnTo>
                  <a:pt x="191" y="21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30" name="Freeform 278"/>
          <p:cNvSpPr>
            <a:spLocks/>
          </p:cNvSpPr>
          <p:nvPr/>
        </p:nvSpPr>
        <p:spPr bwMode="auto">
          <a:xfrm>
            <a:off x="7312025" y="4165600"/>
            <a:ext cx="398463" cy="387350"/>
          </a:xfrm>
          <a:custGeom>
            <a:avLst/>
            <a:gdLst>
              <a:gd name="T0" fmla="*/ 197 w 251"/>
              <a:gd name="T1" fmla="*/ 221 h 244"/>
              <a:gd name="T2" fmla="*/ 179 w 251"/>
              <a:gd name="T3" fmla="*/ 221 h 244"/>
              <a:gd name="T4" fmla="*/ 167 w 251"/>
              <a:gd name="T5" fmla="*/ 233 h 244"/>
              <a:gd name="T6" fmla="*/ 155 w 251"/>
              <a:gd name="T7" fmla="*/ 233 h 244"/>
              <a:gd name="T8" fmla="*/ 138 w 251"/>
              <a:gd name="T9" fmla="*/ 227 h 244"/>
              <a:gd name="T10" fmla="*/ 126 w 251"/>
              <a:gd name="T11" fmla="*/ 244 h 244"/>
              <a:gd name="T12" fmla="*/ 108 w 251"/>
              <a:gd name="T13" fmla="*/ 233 h 244"/>
              <a:gd name="T14" fmla="*/ 96 w 251"/>
              <a:gd name="T15" fmla="*/ 239 h 244"/>
              <a:gd name="T16" fmla="*/ 84 w 251"/>
              <a:gd name="T17" fmla="*/ 221 h 244"/>
              <a:gd name="T18" fmla="*/ 72 w 251"/>
              <a:gd name="T19" fmla="*/ 233 h 244"/>
              <a:gd name="T20" fmla="*/ 66 w 251"/>
              <a:gd name="T21" fmla="*/ 215 h 244"/>
              <a:gd name="T22" fmla="*/ 42 w 251"/>
              <a:gd name="T23" fmla="*/ 215 h 244"/>
              <a:gd name="T24" fmla="*/ 36 w 251"/>
              <a:gd name="T25" fmla="*/ 204 h 244"/>
              <a:gd name="T26" fmla="*/ 36 w 251"/>
              <a:gd name="T27" fmla="*/ 186 h 244"/>
              <a:gd name="T28" fmla="*/ 18 w 251"/>
              <a:gd name="T29" fmla="*/ 186 h 244"/>
              <a:gd name="T30" fmla="*/ 24 w 251"/>
              <a:gd name="T31" fmla="*/ 175 h 244"/>
              <a:gd name="T32" fmla="*/ 6 w 251"/>
              <a:gd name="T33" fmla="*/ 163 h 244"/>
              <a:gd name="T34" fmla="*/ 12 w 251"/>
              <a:gd name="T35" fmla="*/ 152 h 244"/>
              <a:gd name="T36" fmla="*/ 6 w 251"/>
              <a:gd name="T37" fmla="*/ 134 h 244"/>
              <a:gd name="T38" fmla="*/ 0 w 251"/>
              <a:gd name="T39" fmla="*/ 122 h 244"/>
              <a:gd name="T40" fmla="*/ 12 w 251"/>
              <a:gd name="T41" fmla="*/ 105 h 244"/>
              <a:gd name="T42" fmla="*/ 0 w 251"/>
              <a:gd name="T43" fmla="*/ 99 h 244"/>
              <a:gd name="T44" fmla="*/ 12 w 251"/>
              <a:gd name="T45" fmla="*/ 93 h 244"/>
              <a:gd name="T46" fmla="*/ 12 w 251"/>
              <a:gd name="T47" fmla="*/ 76 h 244"/>
              <a:gd name="T48" fmla="*/ 18 w 251"/>
              <a:gd name="T49" fmla="*/ 64 h 244"/>
              <a:gd name="T50" fmla="*/ 36 w 251"/>
              <a:gd name="T51" fmla="*/ 53 h 244"/>
              <a:gd name="T52" fmla="*/ 36 w 251"/>
              <a:gd name="T53" fmla="*/ 41 h 244"/>
              <a:gd name="T54" fmla="*/ 42 w 251"/>
              <a:gd name="T55" fmla="*/ 41 h 244"/>
              <a:gd name="T56" fmla="*/ 54 w 251"/>
              <a:gd name="T57" fmla="*/ 30 h 244"/>
              <a:gd name="T58" fmla="*/ 60 w 251"/>
              <a:gd name="T59" fmla="*/ 18 h 244"/>
              <a:gd name="T60" fmla="*/ 78 w 251"/>
              <a:gd name="T61" fmla="*/ 18 h 244"/>
              <a:gd name="T62" fmla="*/ 84 w 251"/>
              <a:gd name="T63" fmla="*/ 6 h 244"/>
              <a:gd name="T64" fmla="*/ 96 w 251"/>
              <a:gd name="T65" fmla="*/ 18 h 244"/>
              <a:gd name="T66" fmla="*/ 108 w 251"/>
              <a:gd name="T67" fmla="*/ 0 h 244"/>
              <a:gd name="T68" fmla="*/ 126 w 251"/>
              <a:gd name="T69" fmla="*/ 6 h 244"/>
              <a:gd name="T70" fmla="*/ 144 w 251"/>
              <a:gd name="T71" fmla="*/ 6 h 244"/>
              <a:gd name="T72" fmla="*/ 150 w 251"/>
              <a:gd name="T73" fmla="*/ 6 h 244"/>
              <a:gd name="T74" fmla="*/ 155 w 251"/>
              <a:gd name="T75" fmla="*/ 18 h 244"/>
              <a:gd name="T76" fmla="*/ 179 w 251"/>
              <a:gd name="T77" fmla="*/ 12 h 244"/>
              <a:gd name="T78" fmla="*/ 185 w 251"/>
              <a:gd name="T79" fmla="*/ 24 h 244"/>
              <a:gd name="T80" fmla="*/ 191 w 251"/>
              <a:gd name="T81" fmla="*/ 35 h 244"/>
              <a:gd name="T82" fmla="*/ 209 w 251"/>
              <a:gd name="T83" fmla="*/ 30 h 244"/>
              <a:gd name="T84" fmla="*/ 203 w 251"/>
              <a:gd name="T85" fmla="*/ 41 h 244"/>
              <a:gd name="T86" fmla="*/ 221 w 251"/>
              <a:gd name="T87" fmla="*/ 53 h 244"/>
              <a:gd name="T88" fmla="*/ 227 w 251"/>
              <a:gd name="T89" fmla="*/ 64 h 244"/>
              <a:gd name="T90" fmla="*/ 227 w 251"/>
              <a:gd name="T91" fmla="*/ 76 h 244"/>
              <a:gd name="T92" fmla="*/ 239 w 251"/>
              <a:gd name="T93" fmla="*/ 82 h 244"/>
              <a:gd name="T94" fmla="*/ 239 w 251"/>
              <a:gd name="T95" fmla="*/ 88 h 244"/>
              <a:gd name="T96" fmla="*/ 233 w 251"/>
              <a:gd name="T97" fmla="*/ 105 h 244"/>
              <a:gd name="T98" fmla="*/ 251 w 251"/>
              <a:gd name="T99" fmla="*/ 117 h 244"/>
              <a:gd name="T100" fmla="*/ 239 w 251"/>
              <a:gd name="T101" fmla="*/ 122 h 244"/>
              <a:gd name="T102" fmla="*/ 245 w 251"/>
              <a:gd name="T103" fmla="*/ 146 h 244"/>
              <a:gd name="T104" fmla="*/ 233 w 251"/>
              <a:gd name="T105" fmla="*/ 152 h 244"/>
              <a:gd name="T106" fmla="*/ 239 w 251"/>
              <a:gd name="T107" fmla="*/ 169 h 244"/>
              <a:gd name="T108" fmla="*/ 233 w 251"/>
              <a:gd name="T109" fmla="*/ 181 h 244"/>
              <a:gd name="T110" fmla="*/ 215 w 251"/>
              <a:gd name="T111" fmla="*/ 186 h 244"/>
              <a:gd name="T112" fmla="*/ 215 w 251"/>
              <a:gd name="T113" fmla="*/ 204 h 244"/>
              <a:gd name="T114" fmla="*/ 191 w 251"/>
              <a:gd name="T115" fmla="*/ 210 h 2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51"/>
              <a:gd name="T175" fmla="*/ 0 h 244"/>
              <a:gd name="T176" fmla="*/ 251 w 251"/>
              <a:gd name="T177" fmla="*/ 244 h 24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51" h="244">
                <a:moveTo>
                  <a:pt x="191" y="210"/>
                </a:moveTo>
                <a:lnTo>
                  <a:pt x="197" y="215"/>
                </a:lnTo>
                <a:lnTo>
                  <a:pt x="197" y="221"/>
                </a:lnTo>
                <a:lnTo>
                  <a:pt x="191" y="221"/>
                </a:lnTo>
                <a:lnTo>
                  <a:pt x="185" y="221"/>
                </a:lnTo>
                <a:lnTo>
                  <a:pt x="179" y="221"/>
                </a:lnTo>
                <a:lnTo>
                  <a:pt x="179" y="215"/>
                </a:lnTo>
                <a:lnTo>
                  <a:pt x="167" y="221"/>
                </a:lnTo>
                <a:lnTo>
                  <a:pt x="167" y="233"/>
                </a:lnTo>
                <a:lnTo>
                  <a:pt x="161" y="239"/>
                </a:lnTo>
                <a:lnTo>
                  <a:pt x="155" y="239"/>
                </a:lnTo>
                <a:lnTo>
                  <a:pt x="155" y="233"/>
                </a:lnTo>
                <a:lnTo>
                  <a:pt x="155" y="227"/>
                </a:lnTo>
                <a:lnTo>
                  <a:pt x="150" y="227"/>
                </a:lnTo>
                <a:lnTo>
                  <a:pt x="138" y="227"/>
                </a:lnTo>
                <a:lnTo>
                  <a:pt x="138" y="239"/>
                </a:lnTo>
                <a:lnTo>
                  <a:pt x="132" y="244"/>
                </a:lnTo>
                <a:lnTo>
                  <a:pt x="126" y="244"/>
                </a:lnTo>
                <a:lnTo>
                  <a:pt x="126" y="239"/>
                </a:lnTo>
                <a:lnTo>
                  <a:pt x="126" y="233"/>
                </a:lnTo>
                <a:lnTo>
                  <a:pt x="108" y="233"/>
                </a:lnTo>
                <a:lnTo>
                  <a:pt x="108" y="239"/>
                </a:lnTo>
                <a:lnTo>
                  <a:pt x="102" y="239"/>
                </a:lnTo>
                <a:lnTo>
                  <a:pt x="96" y="239"/>
                </a:lnTo>
                <a:lnTo>
                  <a:pt x="96" y="233"/>
                </a:lnTo>
                <a:lnTo>
                  <a:pt x="96" y="227"/>
                </a:lnTo>
                <a:lnTo>
                  <a:pt x="84" y="221"/>
                </a:lnTo>
                <a:lnTo>
                  <a:pt x="78" y="227"/>
                </a:lnTo>
                <a:lnTo>
                  <a:pt x="78" y="233"/>
                </a:lnTo>
                <a:lnTo>
                  <a:pt x="72" y="233"/>
                </a:lnTo>
                <a:lnTo>
                  <a:pt x="66" y="227"/>
                </a:lnTo>
                <a:lnTo>
                  <a:pt x="66" y="221"/>
                </a:lnTo>
                <a:lnTo>
                  <a:pt x="66" y="215"/>
                </a:lnTo>
                <a:lnTo>
                  <a:pt x="54" y="210"/>
                </a:lnTo>
                <a:lnTo>
                  <a:pt x="48" y="215"/>
                </a:lnTo>
                <a:lnTo>
                  <a:pt x="42" y="215"/>
                </a:lnTo>
                <a:lnTo>
                  <a:pt x="42" y="210"/>
                </a:lnTo>
                <a:lnTo>
                  <a:pt x="36" y="210"/>
                </a:lnTo>
                <a:lnTo>
                  <a:pt x="36" y="204"/>
                </a:lnTo>
                <a:lnTo>
                  <a:pt x="42" y="204"/>
                </a:lnTo>
                <a:lnTo>
                  <a:pt x="42" y="198"/>
                </a:lnTo>
                <a:lnTo>
                  <a:pt x="36" y="186"/>
                </a:lnTo>
                <a:lnTo>
                  <a:pt x="30" y="192"/>
                </a:lnTo>
                <a:lnTo>
                  <a:pt x="24" y="192"/>
                </a:lnTo>
                <a:lnTo>
                  <a:pt x="18" y="186"/>
                </a:lnTo>
                <a:lnTo>
                  <a:pt x="18" y="181"/>
                </a:lnTo>
                <a:lnTo>
                  <a:pt x="24" y="181"/>
                </a:lnTo>
                <a:lnTo>
                  <a:pt x="24" y="175"/>
                </a:lnTo>
                <a:lnTo>
                  <a:pt x="18" y="163"/>
                </a:lnTo>
                <a:lnTo>
                  <a:pt x="12" y="163"/>
                </a:lnTo>
                <a:lnTo>
                  <a:pt x="6" y="163"/>
                </a:lnTo>
                <a:lnTo>
                  <a:pt x="6" y="157"/>
                </a:lnTo>
                <a:lnTo>
                  <a:pt x="6" y="152"/>
                </a:lnTo>
                <a:lnTo>
                  <a:pt x="12" y="152"/>
                </a:lnTo>
                <a:lnTo>
                  <a:pt x="12" y="146"/>
                </a:lnTo>
                <a:lnTo>
                  <a:pt x="12" y="134"/>
                </a:lnTo>
                <a:lnTo>
                  <a:pt x="6" y="134"/>
                </a:lnTo>
                <a:lnTo>
                  <a:pt x="0" y="134"/>
                </a:lnTo>
                <a:lnTo>
                  <a:pt x="0" y="128"/>
                </a:lnTo>
                <a:lnTo>
                  <a:pt x="0" y="122"/>
                </a:lnTo>
                <a:lnTo>
                  <a:pt x="6" y="122"/>
                </a:lnTo>
                <a:lnTo>
                  <a:pt x="12" y="122"/>
                </a:lnTo>
                <a:lnTo>
                  <a:pt x="12" y="105"/>
                </a:lnTo>
                <a:lnTo>
                  <a:pt x="6" y="105"/>
                </a:lnTo>
                <a:lnTo>
                  <a:pt x="0" y="105"/>
                </a:lnTo>
                <a:lnTo>
                  <a:pt x="0" y="99"/>
                </a:lnTo>
                <a:lnTo>
                  <a:pt x="0" y="93"/>
                </a:lnTo>
                <a:lnTo>
                  <a:pt x="6" y="93"/>
                </a:lnTo>
                <a:lnTo>
                  <a:pt x="12" y="93"/>
                </a:lnTo>
                <a:lnTo>
                  <a:pt x="18" y="93"/>
                </a:lnTo>
                <a:lnTo>
                  <a:pt x="18" y="82"/>
                </a:lnTo>
                <a:lnTo>
                  <a:pt x="12" y="76"/>
                </a:lnTo>
                <a:lnTo>
                  <a:pt x="12" y="70"/>
                </a:lnTo>
                <a:lnTo>
                  <a:pt x="12" y="64"/>
                </a:lnTo>
                <a:lnTo>
                  <a:pt x="18" y="64"/>
                </a:lnTo>
                <a:lnTo>
                  <a:pt x="24" y="64"/>
                </a:lnTo>
                <a:lnTo>
                  <a:pt x="30" y="64"/>
                </a:lnTo>
                <a:lnTo>
                  <a:pt x="36" y="53"/>
                </a:lnTo>
                <a:lnTo>
                  <a:pt x="30" y="47"/>
                </a:lnTo>
                <a:lnTo>
                  <a:pt x="30" y="41"/>
                </a:lnTo>
                <a:lnTo>
                  <a:pt x="36" y="41"/>
                </a:lnTo>
                <a:lnTo>
                  <a:pt x="36" y="35"/>
                </a:lnTo>
                <a:lnTo>
                  <a:pt x="36" y="41"/>
                </a:lnTo>
                <a:lnTo>
                  <a:pt x="42" y="41"/>
                </a:lnTo>
                <a:lnTo>
                  <a:pt x="48" y="41"/>
                </a:lnTo>
                <a:lnTo>
                  <a:pt x="54" y="35"/>
                </a:lnTo>
                <a:lnTo>
                  <a:pt x="54" y="30"/>
                </a:lnTo>
                <a:lnTo>
                  <a:pt x="54" y="24"/>
                </a:lnTo>
                <a:lnTo>
                  <a:pt x="54" y="18"/>
                </a:lnTo>
                <a:lnTo>
                  <a:pt x="60" y="18"/>
                </a:lnTo>
                <a:lnTo>
                  <a:pt x="66" y="18"/>
                </a:lnTo>
                <a:lnTo>
                  <a:pt x="66" y="24"/>
                </a:lnTo>
                <a:lnTo>
                  <a:pt x="78" y="18"/>
                </a:lnTo>
                <a:lnTo>
                  <a:pt x="78" y="12"/>
                </a:lnTo>
                <a:lnTo>
                  <a:pt x="78" y="6"/>
                </a:lnTo>
                <a:lnTo>
                  <a:pt x="84" y="6"/>
                </a:lnTo>
                <a:lnTo>
                  <a:pt x="90" y="6"/>
                </a:lnTo>
                <a:lnTo>
                  <a:pt x="96" y="12"/>
                </a:lnTo>
                <a:lnTo>
                  <a:pt x="96" y="18"/>
                </a:lnTo>
                <a:lnTo>
                  <a:pt x="108" y="12"/>
                </a:lnTo>
                <a:lnTo>
                  <a:pt x="108" y="6"/>
                </a:lnTo>
                <a:lnTo>
                  <a:pt x="108" y="0"/>
                </a:lnTo>
                <a:lnTo>
                  <a:pt x="114" y="0"/>
                </a:lnTo>
                <a:lnTo>
                  <a:pt x="120" y="0"/>
                </a:lnTo>
                <a:lnTo>
                  <a:pt x="126" y="6"/>
                </a:lnTo>
                <a:lnTo>
                  <a:pt x="126" y="12"/>
                </a:lnTo>
                <a:lnTo>
                  <a:pt x="138" y="12"/>
                </a:lnTo>
                <a:lnTo>
                  <a:pt x="144" y="6"/>
                </a:lnTo>
                <a:lnTo>
                  <a:pt x="144" y="0"/>
                </a:lnTo>
                <a:lnTo>
                  <a:pt x="150" y="0"/>
                </a:lnTo>
                <a:lnTo>
                  <a:pt x="150" y="6"/>
                </a:lnTo>
                <a:lnTo>
                  <a:pt x="155" y="6"/>
                </a:lnTo>
                <a:lnTo>
                  <a:pt x="155" y="12"/>
                </a:lnTo>
                <a:lnTo>
                  <a:pt x="155" y="18"/>
                </a:lnTo>
                <a:lnTo>
                  <a:pt x="167" y="18"/>
                </a:lnTo>
                <a:lnTo>
                  <a:pt x="173" y="12"/>
                </a:lnTo>
                <a:lnTo>
                  <a:pt x="179" y="12"/>
                </a:lnTo>
                <a:lnTo>
                  <a:pt x="185" y="12"/>
                </a:lnTo>
                <a:lnTo>
                  <a:pt x="185" y="18"/>
                </a:lnTo>
                <a:lnTo>
                  <a:pt x="185" y="24"/>
                </a:lnTo>
                <a:lnTo>
                  <a:pt x="179" y="24"/>
                </a:lnTo>
                <a:lnTo>
                  <a:pt x="179" y="30"/>
                </a:lnTo>
                <a:lnTo>
                  <a:pt x="191" y="35"/>
                </a:lnTo>
                <a:lnTo>
                  <a:pt x="197" y="30"/>
                </a:lnTo>
                <a:lnTo>
                  <a:pt x="203" y="30"/>
                </a:lnTo>
                <a:lnTo>
                  <a:pt x="209" y="30"/>
                </a:lnTo>
                <a:lnTo>
                  <a:pt x="209" y="35"/>
                </a:lnTo>
                <a:lnTo>
                  <a:pt x="209" y="41"/>
                </a:lnTo>
                <a:lnTo>
                  <a:pt x="203" y="41"/>
                </a:lnTo>
                <a:lnTo>
                  <a:pt x="203" y="47"/>
                </a:lnTo>
                <a:lnTo>
                  <a:pt x="215" y="53"/>
                </a:lnTo>
                <a:lnTo>
                  <a:pt x="221" y="53"/>
                </a:lnTo>
                <a:lnTo>
                  <a:pt x="227" y="53"/>
                </a:lnTo>
                <a:lnTo>
                  <a:pt x="227" y="59"/>
                </a:lnTo>
                <a:lnTo>
                  <a:pt x="227" y="64"/>
                </a:lnTo>
                <a:lnTo>
                  <a:pt x="221" y="64"/>
                </a:lnTo>
                <a:lnTo>
                  <a:pt x="221" y="70"/>
                </a:lnTo>
                <a:lnTo>
                  <a:pt x="227" y="76"/>
                </a:lnTo>
                <a:lnTo>
                  <a:pt x="233" y="76"/>
                </a:lnTo>
                <a:lnTo>
                  <a:pt x="239" y="76"/>
                </a:lnTo>
                <a:lnTo>
                  <a:pt x="239" y="82"/>
                </a:lnTo>
                <a:lnTo>
                  <a:pt x="245" y="82"/>
                </a:lnTo>
                <a:lnTo>
                  <a:pt x="245" y="88"/>
                </a:lnTo>
                <a:lnTo>
                  <a:pt x="239" y="88"/>
                </a:lnTo>
                <a:lnTo>
                  <a:pt x="239" y="93"/>
                </a:lnTo>
                <a:lnTo>
                  <a:pt x="233" y="93"/>
                </a:lnTo>
                <a:lnTo>
                  <a:pt x="233" y="105"/>
                </a:lnTo>
                <a:lnTo>
                  <a:pt x="245" y="105"/>
                </a:lnTo>
                <a:lnTo>
                  <a:pt x="245" y="111"/>
                </a:lnTo>
                <a:lnTo>
                  <a:pt x="251" y="117"/>
                </a:lnTo>
                <a:lnTo>
                  <a:pt x="245" y="117"/>
                </a:lnTo>
                <a:lnTo>
                  <a:pt x="245" y="122"/>
                </a:lnTo>
                <a:lnTo>
                  <a:pt x="239" y="122"/>
                </a:lnTo>
                <a:lnTo>
                  <a:pt x="233" y="134"/>
                </a:lnTo>
                <a:lnTo>
                  <a:pt x="245" y="140"/>
                </a:lnTo>
                <a:lnTo>
                  <a:pt x="245" y="146"/>
                </a:lnTo>
                <a:lnTo>
                  <a:pt x="245" y="152"/>
                </a:lnTo>
                <a:lnTo>
                  <a:pt x="239" y="152"/>
                </a:lnTo>
                <a:lnTo>
                  <a:pt x="233" y="152"/>
                </a:lnTo>
                <a:lnTo>
                  <a:pt x="227" y="163"/>
                </a:lnTo>
                <a:lnTo>
                  <a:pt x="233" y="169"/>
                </a:lnTo>
                <a:lnTo>
                  <a:pt x="239" y="169"/>
                </a:lnTo>
                <a:lnTo>
                  <a:pt x="239" y="175"/>
                </a:lnTo>
                <a:lnTo>
                  <a:pt x="233" y="175"/>
                </a:lnTo>
                <a:lnTo>
                  <a:pt x="233" y="181"/>
                </a:lnTo>
                <a:lnTo>
                  <a:pt x="227" y="181"/>
                </a:lnTo>
                <a:lnTo>
                  <a:pt x="221" y="175"/>
                </a:lnTo>
                <a:lnTo>
                  <a:pt x="215" y="186"/>
                </a:lnTo>
                <a:lnTo>
                  <a:pt x="221" y="192"/>
                </a:lnTo>
                <a:lnTo>
                  <a:pt x="221" y="198"/>
                </a:lnTo>
                <a:lnTo>
                  <a:pt x="215" y="204"/>
                </a:lnTo>
                <a:lnTo>
                  <a:pt x="209" y="204"/>
                </a:lnTo>
                <a:lnTo>
                  <a:pt x="203" y="198"/>
                </a:lnTo>
                <a:lnTo>
                  <a:pt x="191" y="21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31" name="Freeform 279"/>
          <p:cNvSpPr>
            <a:spLocks/>
          </p:cNvSpPr>
          <p:nvPr/>
        </p:nvSpPr>
        <p:spPr bwMode="auto">
          <a:xfrm>
            <a:off x="7123113" y="4184650"/>
            <a:ext cx="207962" cy="212725"/>
          </a:xfrm>
          <a:custGeom>
            <a:avLst/>
            <a:gdLst>
              <a:gd name="T0" fmla="*/ 18 w 131"/>
              <a:gd name="T1" fmla="*/ 99 h 134"/>
              <a:gd name="T2" fmla="*/ 12 w 131"/>
              <a:gd name="T3" fmla="*/ 105 h 134"/>
              <a:gd name="T4" fmla="*/ 18 w 131"/>
              <a:gd name="T5" fmla="*/ 110 h 134"/>
              <a:gd name="T6" fmla="*/ 36 w 131"/>
              <a:gd name="T7" fmla="*/ 116 h 134"/>
              <a:gd name="T8" fmla="*/ 36 w 131"/>
              <a:gd name="T9" fmla="*/ 128 h 134"/>
              <a:gd name="T10" fmla="*/ 48 w 131"/>
              <a:gd name="T11" fmla="*/ 128 h 134"/>
              <a:gd name="T12" fmla="*/ 60 w 131"/>
              <a:gd name="T13" fmla="*/ 122 h 134"/>
              <a:gd name="T14" fmla="*/ 66 w 131"/>
              <a:gd name="T15" fmla="*/ 128 h 134"/>
              <a:gd name="T16" fmla="*/ 72 w 131"/>
              <a:gd name="T17" fmla="*/ 134 h 134"/>
              <a:gd name="T18" fmla="*/ 77 w 131"/>
              <a:gd name="T19" fmla="*/ 128 h 134"/>
              <a:gd name="T20" fmla="*/ 89 w 131"/>
              <a:gd name="T21" fmla="*/ 116 h 134"/>
              <a:gd name="T22" fmla="*/ 95 w 131"/>
              <a:gd name="T23" fmla="*/ 122 h 134"/>
              <a:gd name="T24" fmla="*/ 101 w 131"/>
              <a:gd name="T25" fmla="*/ 116 h 134"/>
              <a:gd name="T26" fmla="*/ 107 w 131"/>
              <a:gd name="T27" fmla="*/ 99 h 134"/>
              <a:gd name="T28" fmla="*/ 113 w 131"/>
              <a:gd name="T29" fmla="*/ 105 h 134"/>
              <a:gd name="T30" fmla="*/ 125 w 131"/>
              <a:gd name="T31" fmla="*/ 99 h 134"/>
              <a:gd name="T32" fmla="*/ 119 w 131"/>
              <a:gd name="T33" fmla="*/ 87 h 134"/>
              <a:gd name="T34" fmla="*/ 125 w 131"/>
              <a:gd name="T35" fmla="*/ 76 h 134"/>
              <a:gd name="T36" fmla="*/ 131 w 131"/>
              <a:gd name="T37" fmla="*/ 70 h 134"/>
              <a:gd name="T38" fmla="*/ 119 w 131"/>
              <a:gd name="T39" fmla="*/ 64 h 134"/>
              <a:gd name="T40" fmla="*/ 119 w 131"/>
              <a:gd name="T41" fmla="*/ 47 h 134"/>
              <a:gd name="T42" fmla="*/ 125 w 131"/>
              <a:gd name="T43" fmla="*/ 41 h 134"/>
              <a:gd name="T44" fmla="*/ 119 w 131"/>
              <a:gd name="T45" fmla="*/ 35 h 134"/>
              <a:gd name="T46" fmla="*/ 107 w 131"/>
              <a:gd name="T47" fmla="*/ 29 h 134"/>
              <a:gd name="T48" fmla="*/ 107 w 131"/>
              <a:gd name="T49" fmla="*/ 18 h 134"/>
              <a:gd name="T50" fmla="*/ 101 w 131"/>
              <a:gd name="T51" fmla="*/ 12 h 134"/>
              <a:gd name="T52" fmla="*/ 95 w 131"/>
              <a:gd name="T53" fmla="*/ 18 h 134"/>
              <a:gd name="T54" fmla="*/ 83 w 131"/>
              <a:gd name="T55" fmla="*/ 12 h 134"/>
              <a:gd name="T56" fmla="*/ 77 w 131"/>
              <a:gd name="T57" fmla="*/ 6 h 134"/>
              <a:gd name="T58" fmla="*/ 72 w 131"/>
              <a:gd name="T59" fmla="*/ 0 h 134"/>
              <a:gd name="T60" fmla="*/ 66 w 131"/>
              <a:gd name="T61" fmla="*/ 12 h 134"/>
              <a:gd name="T62" fmla="*/ 54 w 131"/>
              <a:gd name="T63" fmla="*/ 6 h 134"/>
              <a:gd name="T64" fmla="*/ 42 w 131"/>
              <a:gd name="T65" fmla="*/ 6 h 134"/>
              <a:gd name="T66" fmla="*/ 42 w 131"/>
              <a:gd name="T67" fmla="*/ 18 h 134"/>
              <a:gd name="T68" fmla="*/ 24 w 131"/>
              <a:gd name="T69" fmla="*/ 23 h 134"/>
              <a:gd name="T70" fmla="*/ 18 w 131"/>
              <a:gd name="T71" fmla="*/ 18 h 134"/>
              <a:gd name="T72" fmla="*/ 12 w 131"/>
              <a:gd name="T73" fmla="*/ 23 h 134"/>
              <a:gd name="T74" fmla="*/ 18 w 131"/>
              <a:gd name="T75" fmla="*/ 29 h 134"/>
              <a:gd name="T76" fmla="*/ 12 w 131"/>
              <a:gd name="T77" fmla="*/ 47 h 134"/>
              <a:gd name="T78" fmla="*/ 6 w 131"/>
              <a:gd name="T79" fmla="*/ 41 h 134"/>
              <a:gd name="T80" fmla="*/ 0 w 131"/>
              <a:gd name="T81" fmla="*/ 47 h 134"/>
              <a:gd name="T82" fmla="*/ 0 w 131"/>
              <a:gd name="T83" fmla="*/ 58 h 134"/>
              <a:gd name="T84" fmla="*/ 6 w 131"/>
              <a:gd name="T85" fmla="*/ 70 h 134"/>
              <a:gd name="T86" fmla="*/ 0 w 131"/>
              <a:gd name="T87" fmla="*/ 76 h 134"/>
              <a:gd name="T88" fmla="*/ 0 w 131"/>
              <a:gd name="T89" fmla="*/ 87 h 134"/>
              <a:gd name="T90" fmla="*/ 12 w 131"/>
              <a:gd name="T91" fmla="*/ 87 h 1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1"/>
              <a:gd name="T139" fmla="*/ 0 h 134"/>
              <a:gd name="T140" fmla="*/ 131 w 131"/>
              <a:gd name="T141" fmla="*/ 134 h 1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1" h="134">
                <a:moveTo>
                  <a:pt x="18" y="93"/>
                </a:moveTo>
                <a:lnTo>
                  <a:pt x="18" y="99"/>
                </a:lnTo>
                <a:lnTo>
                  <a:pt x="12" y="99"/>
                </a:lnTo>
                <a:lnTo>
                  <a:pt x="12" y="105"/>
                </a:lnTo>
                <a:lnTo>
                  <a:pt x="12" y="110"/>
                </a:lnTo>
                <a:lnTo>
                  <a:pt x="18" y="110"/>
                </a:lnTo>
                <a:lnTo>
                  <a:pt x="24" y="105"/>
                </a:lnTo>
                <a:lnTo>
                  <a:pt x="36" y="116"/>
                </a:lnTo>
                <a:lnTo>
                  <a:pt x="36" y="122"/>
                </a:lnTo>
                <a:lnTo>
                  <a:pt x="36" y="128"/>
                </a:lnTo>
                <a:lnTo>
                  <a:pt x="42" y="128"/>
                </a:lnTo>
                <a:lnTo>
                  <a:pt x="48" y="128"/>
                </a:lnTo>
                <a:lnTo>
                  <a:pt x="48" y="122"/>
                </a:lnTo>
                <a:lnTo>
                  <a:pt x="60" y="122"/>
                </a:lnTo>
                <a:lnTo>
                  <a:pt x="60" y="128"/>
                </a:lnTo>
                <a:lnTo>
                  <a:pt x="66" y="128"/>
                </a:lnTo>
                <a:lnTo>
                  <a:pt x="66" y="134"/>
                </a:lnTo>
                <a:lnTo>
                  <a:pt x="72" y="134"/>
                </a:lnTo>
                <a:lnTo>
                  <a:pt x="77" y="134"/>
                </a:lnTo>
                <a:lnTo>
                  <a:pt x="77" y="128"/>
                </a:lnTo>
                <a:lnTo>
                  <a:pt x="77" y="122"/>
                </a:lnTo>
                <a:lnTo>
                  <a:pt x="89" y="116"/>
                </a:lnTo>
                <a:lnTo>
                  <a:pt x="89" y="122"/>
                </a:lnTo>
                <a:lnTo>
                  <a:pt x="95" y="122"/>
                </a:lnTo>
                <a:lnTo>
                  <a:pt x="101" y="122"/>
                </a:lnTo>
                <a:lnTo>
                  <a:pt x="101" y="116"/>
                </a:lnTo>
                <a:lnTo>
                  <a:pt x="101" y="110"/>
                </a:lnTo>
                <a:lnTo>
                  <a:pt x="107" y="99"/>
                </a:lnTo>
                <a:lnTo>
                  <a:pt x="107" y="105"/>
                </a:lnTo>
                <a:lnTo>
                  <a:pt x="113" y="105"/>
                </a:lnTo>
                <a:lnTo>
                  <a:pt x="119" y="105"/>
                </a:lnTo>
                <a:lnTo>
                  <a:pt x="125" y="99"/>
                </a:lnTo>
                <a:lnTo>
                  <a:pt x="125" y="93"/>
                </a:lnTo>
                <a:lnTo>
                  <a:pt x="119" y="87"/>
                </a:lnTo>
                <a:lnTo>
                  <a:pt x="119" y="76"/>
                </a:lnTo>
                <a:lnTo>
                  <a:pt x="125" y="76"/>
                </a:lnTo>
                <a:lnTo>
                  <a:pt x="131" y="76"/>
                </a:lnTo>
                <a:lnTo>
                  <a:pt x="131" y="70"/>
                </a:lnTo>
                <a:lnTo>
                  <a:pt x="131" y="64"/>
                </a:lnTo>
                <a:lnTo>
                  <a:pt x="119" y="64"/>
                </a:lnTo>
                <a:lnTo>
                  <a:pt x="119" y="52"/>
                </a:lnTo>
                <a:lnTo>
                  <a:pt x="119" y="47"/>
                </a:lnTo>
                <a:lnTo>
                  <a:pt x="125" y="47"/>
                </a:lnTo>
                <a:lnTo>
                  <a:pt x="125" y="41"/>
                </a:lnTo>
                <a:lnTo>
                  <a:pt x="125" y="35"/>
                </a:lnTo>
                <a:lnTo>
                  <a:pt x="119" y="35"/>
                </a:lnTo>
                <a:lnTo>
                  <a:pt x="113" y="41"/>
                </a:lnTo>
                <a:lnTo>
                  <a:pt x="107" y="29"/>
                </a:lnTo>
                <a:lnTo>
                  <a:pt x="107" y="23"/>
                </a:lnTo>
                <a:lnTo>
                  <a:pt x="107" y="18"/>
                </a:lnTo>
                <a:lnTo>
                  <a:pt x="107" y="12"/>
                </a:lnTo>
                <a:lnTo>
                  <a:pt x="101" y="12"/>
                </a:lnTo>
                <a:lnTo>
                  <a:pt x="101" y="18"/>
                </a:lnTo>
                <a:lnTo>
                  <a:pt x="95" y="18"/>
                </a:lnTo>
                <a:lnTo>
                  <a:pt x="83" y="18"/>
                </a:lnTo>
                <a:lnTo>
                  <a:pt x="83" y="12"/>
                </a:lnTo>
                <a:lnTo>
                  <a:pt x="83" y="6"/>
                </a:lnTo>
                <a:lnTo>
                  <a:pt x="77" y="6"/>
                </a:lnTo>
                <a:lnTo>
                  <a:pt x="77" y="0"/>
                </a:lnTo>
                <a:lnTo>
                  <a:pt x="72" y="0"/>
                </a:lnTo>
                <a:lnTo>
                  <a:pt x="72" y="6"/>
                </a:lnTo>
                <a:lnTo>
                  <a:pt x="66" y="12"/>
                </a:lnTo>
                <a:lnTo>
                  <a:pt x="54" y="12"/>
                </a:lnTo>
                <a:lnTo>
                  <a:pt x="54" y="6"/>
                </a:lnTo>
                <a:lnTo>
                  <a:pt x="48" y="6"/>
                </a:lnTo>
                <a:lnTo>
                  <a:pt x="42" y="6"/>
                </a:lnTo>
                <a:lnTo>
                  <a:pt x="42" y="12"/>
                </a:lnTo>
                <a:lnTo>
                  <a:pt x="42" y="18"/>
                </a:lnTo>
                <a:lnTo>
                  <a:pt x="30" y="23"/>
                </a:lnTo>
                <a:lnTo>
                  <a:pt x="24" y="23"/>
                </a:lnTo>
                <a:lnTo>
                  <a:pt x="24" y="18"/>
                </a:lnTo>
                <a:lnTo>
                  <a:pt x="18" y="18"/>
                </a:lnTo>
                <a:lnTo>
                  <a:pt x="18" y="23"/>
                </a:lnTo>
                <a:lnTo>
                  <a:pt x="12" y="23"/>
                </a:lnTo>
                <a:lnTo>
                  <a:pt x="12" y="29"/>
                </a:lnTo>
                <a:lnTo>
                  <a:pt x="18" y="29"/>
                </a:lnTo>
                <a:lnTo>
                  <a:pt x="18" y="35"/>
                </a:lnTo>
                <a:lnTo>
                  <a:pt x="12" y="47"/>
                </a:lnTo>
                <a:lnTo>
                  <a:pt x="6" y="47"/>
                </a:lnTo>
                <a:lnTo>
                  <a:pt x="6" y="41"/>
                </a:lnTo>
                <a:lnTo>
                  <a:pt x="6" y="47"/>
                </a:lnTo>
                <a:lnTo>
                  <a:pt x="0" y="47"/>
                </a:lnTo>
                <a:lnTo>
                  <a:pt x="0" y="52"/>
                </a:lnTo>
                <a:lnTo>
                  <a:pt x="0" y="58"/>
                </a:lnTo>
                <a:lnTo>
                  <a:pt x="6" y="58"/>
                </a:lnTo>
                <a:lnTo>
                  <a:pt x="6" y="70"/>
                </a:lnTo>
                <a:lnTo>
                  <a:pt x="0" y="70"/>
                </a:lnTo>
                <a:lnTo>
                  <a:pt x="0" y="76"/>
                </a:lnTo>
                <a:lnTo>
                  <a:pt x="0" y="81"/>
                </a:lnTo>
                <a:lnTo>
                  <a:pt x="0" y="87"/>
                </a:lnTo>
                <a:lnTo>
                  <a:pt x="6" y="87"/>
                </a:lnTo>
                <a:lnTo>
                  <a:pt x="12" y="87"/>
                </a:lnTo>
                <a:lnTo>
                  <a:pt x="18" y="93"/>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32" name="Freeform 280"/>
          <p:cNvSpPr>
            <a:spLocks/>
          </p:cNvSpPr>
          <p:nvPr/>
        </p:nvSpPr>
        <p:spPr bwMode="auto">
          <a:xfrm>
            <a:off x="7123113" y="4184650"/>
            <a:ext cx="207962" cy="212725"/>
          </a:xfrm>
          <a:custGeom>
            <a:avLst/>
            <a:gdLst>
              <a:gd name="T0" fmla="*/ 18 w 131"/>
              <a:gd name="T1" fmla="*/ 99 h 134"/>
              <a:gd name="T2" fmla="*/ 12 w 131"/>
              <a:gd name="T3" fmla="*/ 105 h 134"/>
              <a:gd name="T4" fmla="*/ 18 w 131"/>
              <a:gd name="T5" fmla="*/ 110 h 134"/>
              <a:gd name="T6" fmla="*/ 36 w 131"/>
              <a:gd name="T7" fmla="*/ 116 h 134"/>
              <a:gd name="T8" fmla="*/ 36 w 131"/>
              <a:gd name="T9" fmla="*/ 128 h 134"/>
              <a:gd name="T10" fmla="*/ 48 w 131"/>
              <a:gd name="T11" fmla="*/ 128 h 134"/>
              <a:gd name="T12" fmla="*/ 60 w 131"/>
              <a:gd name="T13" fmla="*/ 122 h 134"/>
              <a:gd name="T14" fmla="*/ 66 w 131"/>
              <a:gd name="T15" fmla="*/ 128 h 134"/>
              <a:gd name="T16" fmla="*/ 72 w 131"/>
              <a:gd name="T17" fmla="*/ 134 h 134"/>
              <a:gd name="T18" fmla="*/ 77 w 131"/>
              <a:gd name="T19" fmla="*/ 122 h 134"/>
              <a:gd name="T20" fmla="*/ 89 w 131"/>
              <a:gd name="T21" fmla="*/ 122 h 134"/>
              <a:gd name="T22" fmla="*/ 101 w 131"/>
              <a:gd name="T23" fmla="*/ 122 h 134"/>
              <a:gd name="T24" fmla="*/ 101 w 131"/>
              <a:gd name="T25" fmla="*/ 110 h 134"/>
              <a:gd name="T26" fmla="*/ 107 w 131"/>
              <a:gd name="T27" fmla="*/ 105 h 134"/>
              <a:gd name="T28" fmla="*/ 119 w 131"/>
              <a:gd name="T29" fmla="*/ 105 h 134"/>
              <a:gd name="T30" fmla="*/ 125 w 131"/>
              <a:gd name="T31" fmla="*/ 93 h 134"/>
              <a:gd name="T32" fmla="*/ 119 w 131"/>
              <a:gd name="T33" fmla="*/ 76 h 134"/>
              <a:gd name="T34" fmla="*/ 131 w 131"/>
              <a:gd name="T35" fmla="*/ 76 h 134"/>
              <a:gd name="T36" fmla="*/ 131 w 131"/>
              <a:gd name="T37" fmla="*/ 64 h 134"/>
              <a:gd name="T38" fmla="*/ 119 w 131"/>
              <a:gd name="T39" fmla="*/ 52 h 134"/>
              <a:gd name="T40" fmla="*/ 125 w 131"/>
              <a:gd name="T41" fmla="*/ 41 h 134"/>
              <a:gd name="T42" fmla="*/ 119 w 131"/>
              <a:gd name="T43" fmla="*/ 35 h 134"/>
              <a:gd name="T44" fmla="*/ 107 w 131"/>
              <a:gd name="T45" fmla="*/ 29 h 134"/>
              <a:gd name="T46" fmla="*/ 107 w 131"/>
              <a:gd name="T47" fmla="*/ 18 h 134"/>
              <a:gd name="T48" fmla="*/ 101 w 131"/>
              <a:gd name="T49" fmla="*/ 12 h 134"/>
              <a:gd name="T50" fmla="*/ 95 w 131"/>
              <a:gd name="T51" fmla="*/ 18 h 134"/>
              <a:gd name="T52" fmla="*/ 83 w 131"/>
              <a:gd name="T53" fmla="*/ 12 h 134"/>
              <a:gd name="T54" fmla="*/ 77 w 131"/>
              <a:gd name="T55" fmla="*/ 6 h 134"/>
              <a:gd name="T56" fmla="*/ 72 w 131"/>
              <a:gd name="T57" fmla="*/ 6 h 134"/>
              <a:gd name="T58" fmla="*/ 54 w 131"/>
              <a:gd name="T59" fmla="*/ 12 h 134"/>
              <a:gd name="T60" fmla="*/ 48 w 131"/>
              <a:gd name="T61" fmla="*/ 6 h 134"/>
              <a:gd name="T62" fmla="*/ 42 w 131"/>
              <a:gd name="T63" fmla="*/ 12 h 134"/>
              <a:gd name="T64" fmla="*/ 30 w 131"/>
              <a:gd name="T65" fmla="*/ 23 h 134"/>
              <a:gd name="T66" fmla="*/ 24 w 131"/>
              <a:gd name="T67" fmla="*/ 18 h 134"/>
              <a:gd name="T68" fmla="*/ 18 w 131"/>
              <a:gd name="T69" fmla="*/ 23 h 134"/>
              <a:gd name="T70" fmla="*/ 12 w 131"/>
              <a:gd name="T71" fmla="*/ 29 h 134"/>
              <a:gd name="T72" fmla="*/ 18 w 131"/>
              <a:gd name="T73" fmla="*/ 35 h 134"/>
              <a:gd name="T74" fmla="*/ 6 w 131"/>
              <a:gd name="T75" fmla="*/ 47 h 134"/>
              <a:gd name="T76" fmla="*/ 6 w 131"/>
              <a:gd name="T77" fmla="*/ 47 h 134"/>
              <a:gd name="T78" fmla="*/ 0 w 131"/>
              <a:gd name="T79" fmla="*/ 52 h 134"/>
              <a:gd name="T80" fmla="*/ 6 w 131"/>
              <a:gd name="T81" fmla="*/ 58 h 134"/>
              <a:gd name="T82" fmla="*/ 0 w 131"/>
              <a:gd name="T83" fmla="*/ 70 h 134"/>
              <a:gd name="T84" fmla="*/ 0 w 131"/>
              <a:gd name="T85" fmla="*/ 81 h 134"/>
              <a:gd name="T86" fmla="*/ 6 w 131"/>
              <a:gd name="T87" fmla="*/ 87 h 134"/>
              <a:gd name="T88" fmla="*/ 18 w 131"/>
              <a:gd name="T89" fmla="*/ 93 h 1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34"/>
              <a:gd name="T137" fmla="*/ 131 w 131"/>
              <a:gd name="T138" fmla="*/ 134 h 1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34">
                <a:moveTo>
                  <a:pt x="18" y="93"/>
                </a:moveTo>
                <a:lnTo>
                  <a:pt x="18" y="99"/>
                </a:lnTo>
                <a:lnTo>
                  <a:pt x="12" y="99"/>
                </a:lnTo>
                <a:lnTo>
                  <a:pt x="12" y="105"/>
                </a:lnTo>
                <a:lnTo>
                  <a:pt x="12" y="110"/>
                </a:lnTo>
                <a:lnTo>
                  <a:pt x="18" y="110"/>
                </a:lnTo>
                <a:lnTo>
                  <a:pt x="24" y="105"/>
                </a:lnTo>
                <a:lnTo>
                  <a:pt x="36" y="116"/>
                </a:lnTo>
                <a:lnTo>
                  <a:pt x="36" y="122"/>
                </a:lnTo>
                <a:lnTo>
                  <a:pt x="36" y="128"/>
                </a:lnTo>
                <a:lnTo>
                  <a:pt x="42" y="128"/>
                </a:lnTo>
                <a:lnTo>
                  <a:pt x="48" y="128"/>
                </a:lnTo>
                <a:lnTo>
                  <a:pt x="48" y="122"/>
                </a:lnTo>
                <a:lnTo>
                  <a:pt x="60" y="122"/>
                </a:lnTo>
                <a:lnTo>
                  <a:pt x="60" y="128"/>
                </a:lnTo>
                <a:lnTo>
                  <a:pt x="66" y="128"/>
                </a:lnTo>
                <a:lnTo>
                  <a:pt x="66" y="134"/>
                </a:lnTo>
                <a:lnTo>
                  <a:pt x="72" y="134"/>
                </a:lnTo>
                <a:lnTo>
                  <a:pt x="77" y="128"/>
                </a:lnTo>
                <a:lnTo>
                  <a:pt x="77" y="122"/>
                </a:lnTo>
                <a:lnTo>
                  <a:pt x="89" y="116"/>
                </a:lnTo>
                <a:lnTo>
                  <a:pt x="89" y="122"/>
                </a:lnTo>
                <a:lnTo>
                  <a:pt x="95" y="122"/>
                </a:lnTo>
                <a:lnTo>
                  <a:pt x="101" y="122"/>
                </a:lnTo>
                <a:lnTo>
                  <a:pt x="101" y="116"/>
                </a:lnTo>
                <a:lnTo>
                  <a:pt x="101" y="110"/>
                </a:lnTo>
                <a:lnTo>
                  <a:pt x="107" y="99"/>
                </a:lnTo>
                <a:lnTo>
                  <a:pt x="107" y="105"/>
                </a:lnTo>
                <a:lnTo>
                  <a:pt x="113" y="105"/>
                </a:lnTo>
                <a:lnTo>
                  <a:pt x="119" y="105"/>
                </a:lnTo>
                <a:lnTo>
                  <a:pt x="125" y="99"/>
                </a:lnTo>
                <a:lnTo>
                  <a:pt x="125" y="93"/>
                </a:lnTo>
                <a:lnTo>
                  <a:pt x="119" y="87"/>
                </a:lnTo>
                <a:lnTo>
                  <a:pt x="119" y="76"/>
                </a:lnTo>
                <a:lnTo>
                  <a:pt x="125" y="76"/>
                </a:lnTo>
                <a:lnTo>
                  <a:pt x="131" y="76"/>
                </a:lnTo>
                <a:lnTo>
                  <a:pt x="131" y="70"/>
                </a:lnTo>
                <a:lnTo>
                  <a:pt x="131" y="64"/>
                </a:lnTo>
                <a:lnTo>
                  <a:pt x="119" y="64"/>
                </a:lnTo>
                <a:lnTo>
                  <a:pt x="119" y="52"/>
                </a:lnTo>
                <a:lnTo>
                  <a:pt x="125" y="47"/>
                </a:lnTo>
                <a:lnTo>
                  <a:pt x="125" y="41"/>
                </a:lnTo>
                <a:lnTo>
                  <a:pt x="125" y="35"/>
                </a:lnTo>
                <a:lnTo>
                  <a:pt x="119" y="35"/>
                </a:lnTo>
                <a:lnTo>
                  <a:pt x="113" y="41"/>
                </a:lnTo>
                <a:lnTo>
                  <a:pt x="107" y="29"/>
                </a:lnTo>
                <a:lnTo>
                  <a:pt x="107" y="23"/>
                </a:lnTo>
                <a:lnTo>
                  <a:pt x="107" y="18"/>
                </a:lnTo>
                <a:lnTo>
                  <a:pt x="107" y="12"/>
                </a:lnTo>
                <a:lnTo>
                  <a:pt x="101" y="12"/>
                </a:lnTo>
                <a:lnTo>
                  <a:pt x="101" y="18"/>
                </a:lnTo>
                <a:lnTo>
                  <a:pt x="95" y="18"/>
                </a:lnTo>
                <a:lnTo>
                  <a:pt x="83" y="18"/>
                </a:lnTo>
                <a:lnTo>
                  <a:pt x="83" y="12"/>
                </a:lnTo>
                <a:lnTo>
                  <a:pt x="83" y="6"/>
                </a:lnTo>
                <a:lnTo>
                  <a:pt x="77" y="6"/>
                </a:lnTo>
                <a:lnTo>
                  <a:pt x="72" y="0"/>
                </a:lnTo>
                <a:lnTo>
                  <a:pt x="72" y="6"/>
                </a:lnTo>
                <a:lnTo>
                  <a:pt x="66" y="12"/>
                </a:lnTo>
                <a:lnTo>
                  <a:pt x="54" y="12"/>
                </a:lnTo>
                <a:lnTo>
                  <a:pt x="54" y="6"/>
                </a:lnTo>
                <a:lnTo>
                  <a:pt x="48" y="6"/>
                </a:lnTo>
                <a:lnTo>
                  <a:pt x="42" y="6"/>
                </a:lnTo>
                <a:lnTo>
                  <a:pt x="42" y="12"/>
                </a:lnTo>
                <a:lnTo>
                  <a:pt x="42" y="18"/>
                </a:lnTo>
                <a:lnTo>
                  <a:pt x="30" y="23"/>
                </a:lnTo>
                <a:lnTo>
                  <a:pt x="24" y="23"/>
                </a:lnTo>
                <a:lnTo>
                  <a:pt x="24" y="18"/>
                </a:lnTo>
                <a:lnTo>
                  <a:pt x="18" y="18"/>
                </a:lnTo>
                <a:lnTo>
                  <a:pt x="18" y="23"/>
                </a:lnTo>
                <a:lnTo>
                  <a:pt x="12" y="23"/>
                </a:lnTo>
                <a:lnTo>
                  <a:pt x="12" y="29"/>
                </a:lnTo>
                <a:lnTo>
                  <a:pt x="18" y="29"/>
                </a:lnTo>
                <a:lnTo>
                  <a:pt x="18" y="35"/>
                </a:lnTo>
                <a:lnTo>
                  <a:pt x="12" y="47"/>
                </a:lnTo>
                <a:lnTo>
                  <a:pt x="6" y="47"/>
                </a:lnTo>
                <a:lnTo>
                  <a:pt x="6" y="41"/>
                </a:lnTo>
                <a:lnTo>
                  <a:pt x="6" y="47"/>
                </a:lnTo>
                <a:lnTo>
                  <a:pt x="0" y="47"/>
                </a:lnTo>
                <a:lnTo>
                  <a:pt x="0" y="52"/>
                </a:lnTo>
                <a:lnTo>
                  <a:pt x="0" y="58"/>
                </a:lnTo>
                <a:lnTo>
                  <a:pt x="6" y="58"/>
                </a:lnTo>
                <a:lnTo>
                  <a:pt x="6" y="70"/>
                </a:lnTo>
                <a:lnTo>
                  <a:pt x="0" y="70"/>
                </a:lnTo>
                <a:lnTo>
                  <a:pt x="0" y="76"/>
                </a:lnTo>
                <a:lnTo>
                  <a:pt x="0" y="81"/>
                </a:lnTo>
                <a:lnTo>
                  <a:pt x="0" y="87"/>
                </a:lnTo>
                <a:lnTo>
                  <a:pt x="6" y="87"/>
                </a:lnTo>
                <a:lnTo>
                  <a:pt x="12" y="87"/>
                </a:lnTo>
                <a:lnTo>
                  <a:pt x="18" y="93"/>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33" name="Freeform 281"/>
          <p:cNvSpPr>
            <a:spLocks/>
          </p:cNvSpPr>
          <p:nvPr/>
        </p:nvSpPr>
        <p:spPr bwMode="auto">
          <a:xfrm>
            <a:off x="7132638" y="4378325"/>
            <a:ext cx="227012" cy="222250"/>
          </a:xfrm>
          <a:custGeom>
            <a:avLst/>
            <a:gdLst>
              <a:gd name="T0" fmla="*/ 18 w 143"/>
              <a:gd name="T1" fmla="*/ 105 h 140"/>
              <a:gd name="T2" fmla="*/ 18 w 143"/>
              <a:gd name="T3" fmla="*/ 116 h 140"/>
              <a:gd name="T4" fmla="*/ 30 w 143"/>
              <a:gd name="T5" fmla="*/ 116 h 140"/>
              <a:gd name="T6" fmla="*/ 48 w 143"/>
              <a:gd name="T7" fmla="*/ 122 h 140"/>
              <a:gd name="T8" fmla="*/ 42 w 143"/>
              <a:gd name="T9" fmla="*/ 128 h 140"/>
              <a:gd name="T10" fmla="*/ 48 w 143"/>
              <a:gd name="T11" fmla="*/ 134 h 140"/>
              <a:gd name="T12" fmla="*/ 60 w 143"/>
              <a:gd name="T13" fmla="*/ 128 h 140"/>
              <a:gd name="T14" fmla="*/ 71 w 143"/>
              <a:gd name="T15" fmla="*/ 134 h 140"/>
              <a:gd name="T16" fmla="*/ 77 w 143"/>
              <a:gd name="T17" fmla="*/ 140 h 140"/>
              <a:gd name="T18" fmla="*/ 83 w 143"/>
              <a:gd name="T19" fmla="*/ 134 h 140"/>
              <a:gd name="T20" fmla="*/ 89 w 143"/>
              <a:gd name="T21" fmla="*/ 128 h 140"/>
              <a:gd name="T22" fmla="*/ 107 w 143"/>
              <a:gd name="T23" fmla="*/ 122 h 140"/>
              <a:gd name="T24" fmla="*/ 113 w 143"/>
              <a:gd name="T25" fmla="*/ 128 h 140"/>
              <a:gd name="T26" fmla="*/ 119 w 143"/>
              <a:gd name="T27" fmla="*/ 122 h 140"/>
              <a:gd name="T28" fmla="*/ 113 w 143"/>
              <a:gd name="T29" fmla="*/ 110 h 140"/>
              <a:gd name="T30" fmla="*/ 125 w 143"/>
              <a:gd name="T31" fmla="*/ 105 h 140"/>
              <a:gd name="T32" fmla="*/ 137 w 143"/>
              <a:gd name="T33" fmla="*/ 105 h 140"/>
              <a:gd name="T34" fmla="*/ 137 w 143"/>
              <a:gd name="T35" fmla="*/ 93 h 140"/>
              <a:gd name="T36" fmla="*/ 131 w 143"/>
              <a:gd name="T37" fmla="*/ 76 h 140"/>
              <a:gd name="T38" fmla="*/ 143 w 143"/>
              <a:gd name="T39" fmla="*/ 76 h 140"/>
              <a:gd name="T40" fmla="*/ 143 w 143"/>
              <a:gd name="T41" fmla="*/ 64 h 140"/>
              <a:gd name="T42" fmla="*/ 131 w 143"/>
              <a:gd name="T43" fmla="*/ 58 h 140"/>
              <a:gd name="T44" fmla="*/ 137 w 143"/>
              <a:gd name="T45" fmla="*/ 47 h 140"/>
              <a:gd name="T46" fmla="*/ 137 w 143"/>
              <a:gd name="T47" fmla="*/ 35 h 140"/>
              <a:gd name="T48" fmla="*/ 131 w 143"/>
              <a:gd name="T49" fmla="*/ 29 h 140"/>
              <a:gd name="T50" fmla="*/ 125 w 143"/>
              <a:gd name="T51" fmla="*/ 35 h 140"/>
              <a:gd name="T52" fmla="*/ 113 w 143"/>
              <a:gd name="T53" fmla="*/ 23 h 140"/>
              <a:gd name="T54" fmla="*/ 113 w 143"/>
              <a:gd name="T55" fmla="*/ 12 h 140"/>
              <a:gd name="T56" fmla="*/ 101 w 143"/>
              <a:gd name="T57" fmla="*/ 12 h 140"/>
              <a:gd name="T58" fmla="*/ 89 w 143"/>
              <a:gd name="T59" fmla="*/ 12 h 140"/>
              <a:gd name="T60" fmla="*/ 83 w 143"/>
              <a:gd name="T61" fmla="*/ 6 h 140"/>
              <a:gd name="T62" fmla="*/ 77 w 143"/>
              <a:gd name="T63" fmla="*/ 0 h 140"/>
              <a:gd name="T64" fmla="*/ 71 w 143"/>
              <a:gd name="T65" fmla="*/ 6 h 140"/>
              <a:gd name="T66" fmla="*/ 60 w 143"/>
              <a:gd name="T67" fmla="*/ 12 h 140"/>
              <a:gd name="T68" fmla="*/ 54 w 143"/>
              <a:gd name="T69" fmla="*/ 6 h 140"/>
              <a:gd name="T70" fmla="*/ 42 w 143"/>
              <a:gd name="T71" fmla="*/ 6 h 140"/>
              <a:gd name="T72" fmla="*/ 42 w 143"/>
              <a:gd name="T73" fmla="*/ 18 h 140"/>
              <a:gd name="T74" fmla="*/ 24 w 143"/>
              <a:gd name="T75" fmla="*/ 23 h 140"/>
              <a:gd name="T76" fmla="*/ 18 w 143"/>
              <a:gd name="T77" fmla="*/ 29 h 140"/>
              <a:gd name="T78" fmla="*/ 18 w 143"/>
              <a:gd name="T79" fmla="*/ 47 h 140"/>
              <a:gd name="T80" fmla="*/ 6 w 143"/>
              <a:gd name="T81" fmla="*/ 47 h 140"/>
              <a:gd name="T82" fmla="*/ 0 w 143"/>
              <a:gd name="T83" fmla="*/ 58 h 140"/>
              <a:gd name="T84" fmla="*/ 6 w 143"/>
              <a:gd name="T85" fmla="*/ 64 h 140"/>
              <a:gd name="T86" fmla="*/ 12 w 143"/>
              <a:gd name="T87" fmla="*/ 76 h 140"/>
              <a:gd name="T88" fmla="*/ 6 w 143"/>
              <a:gd name="T89" fmla="*/ 81 h 140"/>
              <a:gd name="T90" fmla="*/ 6 w 143"/>
              <a:gd name="T91" fmla="*/ 93 h 140"/>
              <a:gd name="T92" fmla="*/ 18 w 143"/>
              <a:gd name="T93" fmla="*/ 93 h 14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3"/>
              <a:gd name="T142" fmla="*/ 0 h 140"/>
              <a:gd name="T143" fmla="*/ 143 w 143"/>
              <a:gd name="T144" fmla="*/ 140 h 14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3" h="140">
                <a:moveTo>
                  <a:pt x="24" y="105"/>
                </a:moveTo>
                <a:lnTo>
                  <a:pt x="18" y="105"/>
                </a:lnTo>
                <a:lnTo>
                  <a:pt x="18" y="110"/>
                </a:lnTo>
                <a:lnTo>
                  <a:pt x="18" y="116"/>
                </a:lnTo>
                <a:lnTo>
                  <a:pt x="24" y="116"/>
                </a:lnTo>
                <a:lnTo>
                  <a:pt x="30" y="116"/>
                </a:lnTo>
                <a:lnTo>
                  <a:pt x="36" y="116"/>
                </a:lnTo>
                <a:lnTo>
                  <a:pt x="48" y="122"/>
                </a:lnTo>
                <a:lnTo>
                  <a:pt x="42" y="122"/>
                </a:lnTo>
                <a:lnTo>
                  <a:pt x="42" y="128"/>
                </a:lnTo>
                <a:lnTo>
                  <a:pt x="42" y="134"/>
                </a:lnTo>
                <a:lnTo>
                  <a:pt x="48" y="134"/>
                </a:lnTo>
                <a:lnTo>
                  <a:pt x="54" y="134"/>
                </a:lnTo>
                <a:lnTo>
                  <a:pt x="60" y="128"/>
                </a:lnTo>
                <a:lnTo>
                  <a:pt x="71" y="128"/>
                </a:lnTo>
                <a:lnTo>
                  <a:pt x="71" y="134"/>
                </a:lnTo>
                <a:lnTo>
                  <a:pt x="77" y="134"/>
                </a:lnTo>
                <a:lnTo>
                  <a:pt x="77" y="140"/>
                </a:lnTo>
                <a:lnTo>
                  <a:pt x="83" y="140"/>
                </a:lnTo>
                <a:lnTo>
                  <a:pt x="83" y="134"/>
                </a:lnTo>
                <a:lnTo>
                  <a:pt x="89" y="134"/>
                </a:lnTo>
                <a:lnTo>
                  <a:pt x="89" y="128"/>
                </a:lnTo>
                <a:lnTo>
                  <a:pt x="101" y="122"/>
                </a:lnTo>
                <a:lnTo>
                  <a:pt x="107" y="122"/>
                </a:lnTo>
                <a:lnTo>
                  <a:pt x="107" y="128"/>
                </a:lnTo>
                <a:lnTo>
                  <a:pt x="113" y="128"/>
                </a:lnTo>
                <a:lnTo>
                  <a:pt x="113" y="122"/>
                </a:lnTo>
                <a:lnTo>
                  <a:pt x="119" y="122"/>
                </a:lnTo>
                <a:lnTo>
                  <a:pt x="119" y="116"/>
                </a:lnTo>
                <a:lnTo>
                  <a:pt x="113" y="110"/>
                </a:lnTo>
                <a:lnTo>
                  <a:pt x="119" y="105"/>
                </a:lnTo>
                <a:lnTo>
                  <a:pt x="125" y="105"/>
                </a:lnTo>
                <a:lnTo>
                  <a:pt x="131" y="105"/>
                </a:lnTo>
                <a:lnTo>
                  <a:pt x="137" y="105"/>
                </a:lnTo>
                <a:lnTo>
                  <a:pt x="137" y="99"/>
                </a:lnTo>
                <a:lnTo>
                  <a:pt x="137" y="93"/>
                </a:lnTo>
                <a:lnTo>
                  <a:pt x="131" y="87"/>
                </a:lnTo>
                <a:lnTo>
                  <a:pt x="131" y="76"/>
                </a:lnTo>
                <a:lnTo>
                  <a:pt x="137" y="76"/>
                </a:lnTo>
                <a:lnTo>
                  <a:pt x="143" y="76"/>
                </a:lnTo>
                <a:lnTo>
                  <a:pt x="143" y="70"/>
                </a:lnTo>
                <a:lnTo>
                  <a:pt x="143" y="64"/>
                </a:lnTo>
                <a:lnTo>
                  <a:pt x="137" y="64"/>
                </a:lnTo>
                <a:lnTo>
                  <a:pt x="131" y="58"/>
                </a:lnTo>
                <a:lnTo>
                  <a:pt x="131" y="47"/>
                </a:lnTo>
                <a:lnTo>
                  <a:pt x="137" y="47"/>
                </a:lnTo>
                <a:lnTo>
                  <a:pt x="137" y="41"/>
                </a:lnTo>
                <a:lnTo>
                  <a:pt x="137" y="35"/>
                </a:lnTo>
                <a:lnTo>
                  <a:pt x="131" y="35"/>
                </a:lnTo>
                <a:lnTo>
                  <a:pt x="131" y="29"/>
                </a:lnTo>
                <a:lnTo>
                  <a:pt x="131" y="35"/>
                </a:lnTo>
                <a:lnTo>
                  <a:pt x="125" y="35"/>
                </a:lnTo>
                <a:lnTo>
                  <a:pt x="119" y="35"/>
                </a:lnTo>
                <a:lnTo>
                  <a:pt x="113" y="23"/>
                </a:lnTo>
                <a:lnTo>
                  <a:pt x="113" y="18"/>
                </a:lnTo>
                <a:lnTo>
                  <a:pt x="113" y="12"/>
                </a:lnTo>
                <a:lnTo>
                  <a:pt x="107" y="12"/>
                </a:lnTo>
                <a:lnTo>
                  <a:pt x="101" y="12"/>
                </a:lnTo>
                <a:lnTo>
                  <a:pt x="101" y="18"/>
                </a:lnTo>
                <a:lnTo>
                  <a:pt x="89" y="12"/>
                </a:lnTo>
                <a:lnTo>
                  <a:pt x="83" y="12"/>
                </a:lnTo>
                <a:lnTo>
                  <a:pt x="83" y="6"/>
                </a:lnTo>
                <a:lnTo>
                  <a:pt x="83" y="0"/>
                </a:lnTo>
                <a:lnTo>
                  <a:pt x="77" y="0"/>
                </a:lnTo>
                <a:lnTo>
                  <a:pt x="71" y="0"/>
                </a:lnTo>
                <a:lnTo>
                  <a:pt x="71" y="6"/>
                </a:lnTo>
                <a:lnTo>
                  <a:pt x="71" y="12"/>
                </a:lnTo>
                <a:lnTo>
                  <a:pt x="60" y="12"/>
                </a:lnTo>
                <a:lnTo>
                  <a:pt x="54" y="12"/>
                </a:lnTo>
                <a:lnTo>
                  <a:pt x="54" y="6"/>
                </a:lnTo>
                <a:lnTo>
                  <a:pt x="48" y="6"/>
                </a:lnTo>
                <a:lnTo>
                  <a:pt x="42" y="6"/>
                </a:lnTo>
                <a:lnTo>
                  <a:pt x="42" y="12"/>
                </a:lnTo>
                <a:lnTo>
                  <a:pt x="42" y="18"/>
                </a:lnTo>
                <a:lnTo>
                  <a:pt x="30" y="23"/>
                </a:lnTo>
                <a:lnTo>
                  <a:pt x="24" y="23"/>
                </a:lnTo>
                <a:lnTo>
                  <a:pt x="18" y="23"/>
                </a:lnTo>
                <a:lnTo>
                  <a:pt x="18" y="29"/>
                </a:lnTo>
                <a:lnTo>
                  <a:pt x="24" y="35"/>
                </a:lnTo>
                <a:lnTo>
                  <a:pt x="18" y="47"/>
                </a:lnTo>
                <a:lnTo>
                  <a:pt x="12" y="47"/>
                </a:lnTo>
                <a:lnTo>
                  <a:pt x="6" y="47"/>
                </a:lnTo>
                <a:lnTo>
                  <a:pt x="6" y="52"/>
                </a:lnTo>
                <a:lnTo>
                  <a:pt x="0" y="58"/>
                </a:lnTo>
                <a:lnTo>
                  <a:pt x="6" y="58"/>
                </a:lnTo>
                <a:lnTo>
                  <a:pt x="6" y="64"/>
                </a:lnTo>
                <a:lnTo>
                  <a:pt x="12" y="64"/>
                </a:lnTo>
                <a:lnTo>
                  <a:pt x="12" y="76"/>
                </a:lnTo>
                <a:lnTo>
                  <a:pt x="6" y="76"/>
                </a:lnTo>
                <a:lnTo>
                  <a:pt x="6" y="81"/>
                </a:lnTo>
                <a:lnTo>
                  <a:pt x="6" y="87"/>
                </a:lnTo>
                <a:lnTo>
                  <a:pt x="6" y="93"/>
                </a:lnTo>
                <a:lnTo>
                  <a:pt x="12" y="93"/>
                </a:lnTo>
                <a:lnTo>
                  <a:pt x="18" y="93"/>
                </a:lnTo>
                <a:lnTo>
                  <a:pt x="24" y="10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34" name="Freeform 282"/>
          <p:cNvSpPr>
            <a:spLocks/>
          </p:cNvSpPr>
          <p:nvPr/>
        </p:nvSpPr>
        <p:spPr bwMode="auto">
          <a:xfrm>
            <a:off x="7132638" y="4378325"/>
            <a:ext cx="227012" cy="222250"/>
          </a:xfrm>
          <a:custGeom>
            <a:avLst/>
            <a:gdLst>
              <a:gd name="T0" fmla="*/ 18 w 143"/>
              <a:gd name="T1" fmla="*/ 105 h 140"/>
              <a:gd name="T2" fmla="*/ 18 w 143"/>
              <a:gd name="T3" fmla="*/ 116 h 140"/>
              <a:gd name="T4" fmla="*/ 30 w 143"/>
              <a:gd name="T5" fmla="*/ 116 h 140"/>
              <a:gd name="T6" fmla="*/ 48 w 143"/>
              <a:gd name="T7" fmla="*/ 122 h 140"/>
              <a:gd name="T8" fmla="*/ 42 w 143"/>
              <a:gd name="T9" fmla="*/ 128 h 140"/>
              <a:gd name="T10" fmla="*/ 48 w 143"/>
              <a:gd name="T11" fmla="*/ 134 h 140"/>
              <a:gd name="T12" fmla="*/ 60 w 143"/>
              <a:gd name="T13" fmla="*/ 128 h 140"/>
              <a:gd name="T14" fmla="*/ 71 w 143"/>
              <a:gd name="T15" fmla="*/ 134 h 140"/>
              <a:gd name="T16" fmla="*/ 77 w 143"/>
              <a:gd name="T17" fmla="*/ 140 h 140"/>
              <a:gd name="T18" fmla="*/ 89 w 143"/>
              <a:gd name="T19" fmla="*/ 134 h 140"/>
              <a:gd name="T20" fmla="*/ 101 w 143"/>
              <a:gd name="T21" fmla="*/ 122 h 140"/>
              <a:gd name="T22" fmla="*/ 107 w 143"/>
              <a:gd name="T23" fmla="*/ 128 h 140"/>
              <a:gd name="T24" fmla="*/ 113 w 143"/>
              <a:gd name="T25" fmla="*/ 122 h 140"/>
              <a:gd name="T26" fmla="*/ 119 w 143"/>
              <a:gd name="T27" fmla="*/ 116 h 140"/>
              <a:gd name="T28" fmla="*/ 119 w 143"/>
              <a:gd name="T29" fmla="*/ 105 h 140"/>
              <a:gd name="T30" fmla="*/ 131 w 143"/>
              <a:gd name="T31" fmla="*/ 105 h 140"/>
              <a:gd name="T32" fmla="*/ 137 w 143"/>
              <a:gd name="T33" fmla="*/ 99 h 140"/>
              <a:gd name="T34" fmla="*/ 131 w 143"/>
              <a:gd name="T35" fmla="*/ 87 h 140"/>
              <a:gd name="T36" fmla="*/ 137 w 143"/>
              <a:gd name="T37" fmla="*/ 76 h 140"/>
              <a:gd name="T38" fmla="*/ 143 w 143"/>
              <a:gd name="T39" fmla="*/ 70 h 140"/>
              <a:gd name="T40" fmla="*/ 137 w 143"/>
              <a:gd name="T41" fmla="*/ 64 h 140"/>
              <a:gd name="T42" fmla="*/ 131 w 143"/>
              <a:gd name="T43" fmla="*/ 47 h 140"/>
              <a:gd name="T44" fmla="*/ 137 w 143"/>
              <a:gd name="T45" fmla="*/ 35 h 140"/>
              <a:gd name="T46" fmla="*/ 131 w 143"/>
              <a:gd name="T47" fmla="*/ 29 h 140"/>
              <a:gd name="T48" fmla="*/ 125 w 143"/>
              <a:gd name="T49" fmla="*/ 35 h 140"/>
              <a:gd name="T50" fmla="*/ 113 w 143"/>
              <a:gd name="T51" fmla="*/ 23 h 140"/>
              <a:gd name="T52" fmla="*/ 113 w 143"/>
              <a:gd name="T53" fmla="*/ 12 h 140"/>
              <a:gd name="T54" fmla="*/ 101 w 143"/>
              <a:gd name="T55" fmla="*/ 12 h 140"/>
              <a:gd name="T56" fmla="*/ 89 w 143"/>
              <a:gd name="T57" fmla="*/ 12 h 140"/>
              <a:gd name="T58" fmla="*/ 83 w 143"/>
              <a:gd name="T59" fmla="*/ 6 h 140"/>
              <a:gd name="T60" fmla="*/ 77 w 143"/>
              <a:gd name="T61" fmla="*/ 0 h 140"/>
              <a:gd name="T62" fmla="*/ 71 w 143"/>
              <a:gd name="T63" fmla="*/ 6 h 140"/>
              <a:gd name="T64" fmla="*/ 60 w 143"/>
              <a:gd name="T65" fmla="*/ 12 h 140"/>
              <a:gd name="T66" fmla="*/ 54 w 143"/>
              <a:gd name="T67" fmla="*/ 6 h 140"/>
              <a:gd name="T68" fmla="*/ 42 w 143"/>
              <a:gd name="T69" fmla="*/ 6 h 140"/>
              <a:gd name="T70" fmla="*/ 42 w 143"/>
              <a:gd name="T71" fmla="*/ 18 h 140"/>
              <a:gd name="T72" fmla="*/ 24 w 143"/>
              <a:gd name="T73" fmla="*/ 23 h 140"/>
              <a:gd name="T74" fmla="*/ 18 w 143"/>
              <a:gd name="T75" fmla="*/ 29 h 140"/>
              <a:gd name="T76" fmla="*/ 18 w 143"/>
              <a:gd name="T77" fmla="*/ 47 h 140"/>
              <a:gd name="T78" fmla="*/ 6 w 143"/>
              <a:gd name="T79" fmla="*/ 47 h 140"/>
              <a:gd name="T80" fmla="*/ 0 w 143"/>
              <a:gd name="T81" fmla="*/ 58 h 140"/>
              <a:gd name="T82" fmla="*/ 6 w 143"/>
              <a:gd name="T83" fmla="*/ 64 h 140"/>
              <a:gd name="T84" fmla="*/ 12 w 143"/>
              <a:gd name="T85" fmla="*/ 76 h 140"/>
              <a:gd name="T86" fmla="*/ 6 w 143"/>
              <a:gd name="T87" fmla="*/ 87 h 140"/>
              <a:gd name="T88" fmla="*/ 12 w 143"/>
              <a:gd name="T89" fmla="*/ 93 h 140"/>
              <a:gd name="T90" fmla="*/ 24 w 143"/>
              <a:gd name="T91" fmla="*/ 105 h 1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3"/>
              <a:gd name="T139" fmla="*/ 0 h 140"/>
              <a:gd name="T140" fmla="*/ 143 w 143"/>
              <a:gd name="T141" fmla="*/ 140 h 14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3" h="140">
                <a:moveTo>
                  <a:pt x="24" y="105"/>
                </a:moveTo>
                <a:lnTo>
                  <a:pt x="18" y="105"/>
                </a:lnTo>
                <a:lnTo>
                  <a:pt x="18" y="110"/>
                </a:lnTo>
                <a:lnTo>
                  <a:pt x="18" y="116"/>
                </a:lnTo>
                <a:lnTo>
                  <a:pt x="24" y="116"/>
                </a:lnTo>
                <a:lnTo>
                  <a:pt x="30" y="116"/>
                </a:lnTo>
                <a:lnTo>
                  <a:pt x="36" y="116"/>
                </a:lnTo>
                <a:lnTo>
                  <a:pt x="48" y="122"/>
                </a:lnTo>
                <a:lnTo>
                  <a:pt x="42" y="122"/>
                </a:lnTo>
                <a:lnTo>
                  <a:pt x="42" y="128"/>
                </a:lnTo>
                <a:lnTo>
                  <a:pt x="42" y="134"/>
                </a:lnTo>
                <a:lnTo>
                  <a:pt x="48" y="134"/>
                </a:lnTo>
                <a:lnTo>
                  <a:pt x="54" y="134"/>
                </a:lnTo>
                <a:lnTo>
                  <a:pt x="60" y="128"/>
                </a:lnTo>
                <a:lnTo>
                  <a:pt x="71" y="128"/>
                </a:lnTo>
                <a:lnTo>
                  <a:pt x="71" y="134"/>
                </a:lnTo>
                <a:lnTo>
                  <a:pt x="77" y="134"/>
                </a:lnTo>
                <a:lnTo>
                  <a:pt x="77" y="140"/>
                </a:lnTo>
                <a:lnTo>
                  <a:pt x="83" y="140"/>
                </a:lnTo>
                <a:lnTo>
                  <a:pt x="89" y="134"/>
                </a:lnTo>
                <a:lnTo>
                  <a:pt x="89" y="128"/>
                </a:lnTo>
                <a:lnTo>
                  <a:pt x="101" y="122"/>
                </a:lnTo>
                <a:lnTo>
                  <a:pt x="107" y="122"/>
                </a:lnTo>
                <a:lnTo>
                  <a:pt x="107" y="128"/>
                </a:lnTo>
                <a:lnTo>
                  <a:pt x="113" y="128"/>
                </a:lnTo>
                <a:lnTo>
                  <a:pt x="113" y="122"/>
                </a:lnTo>
                <a:lnTo>
                  <a:pt x="119" y="122"/>
                </a:lnTo>
                <a:lnTo>
                  <a:pt x="119" y="116"/>
                </a:lnTo>
                <a:lnTo>
                  <a:pt x="113" y="110"/>
                </a:lnTo>
                <a:lnTo>
                  <a:pt x="119" y="105"/>
                </a:lnTo>
                <a:lnTo>
                  <a:pt x="125" y="105"/>
                </a:lnTo>
                <a:lnTo>
                  <a:pt x="131" y="105"/>
                </a:lnTo>
                <a:lnTo>
                  <a:pt x="137" y="105"/>
                </a:lnTo>
                <a:lnTo>
                  <a:pt x="137" y="99"/>
                </a:lnTo>
                <a:lnTo>
                  <a:pt x="137" y="93"/>
                </a:lnTo>
                <a:lnTo>
                  <a:pt x="131" y="87"/>
                </a:lnTo>
                <a:lnTo>
                  <a:pt x="131" y="76"/>
                </a:lnTo>
                <a:lnTo>
                  <a:pt x="137" y="76"/>
                </a:lnTo>
                <a:lnTo>
                  <a:pt x="143" y="76"/>
                </a:lnTo>
                <a:lnTo>
                  <a:pt x="143" y="70"/>
                </a:lnTo>
                <a:lnTo>
                  <a:pt x="143" y="64"/>
                </a:lnTo>
                <a:lnTo>
                  <a:pt x="137" y="64"/>
                </a:lnTo>
                <a:lnTo>
                  <a:pt x="131" y="58"/>
                </a:lnTo>
                <a:lnTo>
                  <a:pt x="131" y="47"/>
                </a:lnTo>
                <a:lnTo>
                  <a:pt x="137" y="41"/>
                </a:lnTo>
                <a:lnTo>
                  <a:pt x="137" y="35"/>
                </a:lnTo>
                <a:lnTo>
                  <a:pt x="131" y="35"/>
                </a:lnTo>
                <a:lnTo>
                  <a:pt x="131" y="29"/>
                </a:lnTo>
                <a:lnTo>
                  <a:pt x="131" y="35"/>
                </a:lnTo>
                <a:lnTo>
                  <a:pt x="125" y="35"/>
                </a:lnTo>
                <a:lnTo>
                  <a:pt x="119" y="35"/>
                </a:lnTo>
                <a:lnTo>
                  <a:pt x="113" y="23"/>
                </a:lnTo>
                <a:lnTo>
                  <a:pt x="113" y="18"/>
                </a:lnTo>
                <a:lnTo>
                  <a:pt x="113" y="12"/>
                </a:lnTo>
                <a:lnTo>
                  <a:pt x="107" y="12"/>
                </a:lnTo>
                <a:lnTo>
                  <a:pt x="101" y="12"/>
                </a:lnTo>
                <a:lnTo>
                  <a:pt x="101" y="18"/>
                </a:lnTo>
                <a:lnTo>
                  <a:pt x="89" y="12"/>
                </a:lnTo>
                <a:lnTo>
                  <a:pt x="83" y="12"/>
                </a:lnTo>
                <a:lnTo>
                  <a:pt x="83" y="6"/>
                </a:lnTo>
                <a:lnTo>
                  <a:pt x="83" y="0"/>
                </a:lnTo>
                <a:lnTo>
                  <a:pt x="77" y="0"/>
                </a:lnTo>
                <a:lnTo>
                  <a:pt x="71" y="0"/>
                </a:lnTo>
                <a:lnTo>
                  <a:pt x="71" y="6"/>
                </a:lnTo>
                <a:lnTo>
                  <a:pt x="71" y="12"/>
                </a:lnTo>
                <a:lnTo>
                  <a:pt x="60" y="12"/>
                </a:lnTo>
                <a:lnTo>
                  <a:pt x="54" y="12"/>
                </a:lnTo>
                <a:lnTo>
                  <a:pt x="54" y="6"/>
                </a:lnTo>
                <a:lnTo>
                  <a:pt x="48" y="6"/>
                </a:lnTo>
                <a:lnTo>
                  <a:pt x="42" y="6"/>
                </a:lnTo>
                <a:lnTo>
                  <a:pt x="42" y="12"/>
                </a:lnTo>
                <a:lnTo>
                  <a:pt x="42" y="18"/>
                </a:lnTo>
                <a:lnTo>
                  <a:pt x="30" y="23"/>
                </a:lnTo>
                <a:lnTo>
                  <a:pt x="24" y="23"/>
                </a:lnTo>
                <a:lnTo>
                  <a:pt x="18" y="23"/>
                </a:lnTo>
                <a:lnTo>
                  <a:pt x="18" y="29"/>
                </a:lnTo>
                <a:lnTo>
                  <a:pt x="24" y="35"/>
                </a:lnTo>
                <a:lnTo>
                  <a:pt x="18" y="47"/>
                </a:lnTo>
                <a:lnTo>
                  <a:pt x="12" y="47"/>
                </a:lnTo>
                <a:lnTo>
                  <a:pt x="6" y="47"/>
                </a:lnTo>
                <a:lnTo>
                  <a:pt x="6" y="52"/>
                </a:lnTo>
                <a:lnTo>
                  <a:pt x="0" y="58"/>
                </a:lnTo>
                <a:lnTo>
                  <a:pt x="6" y="58"/>
                </a:lnTo>
                <a:lnTo>
                  <a:pt x="6" y="64"/>
                </a:lnTo>
                <a:lnTo>
                  <a:pt x="12" y="64"/>
                </a:lnTo>
                <a:lnTo>
                  <a:pt x="12" y="76"/>
                </a:lnTo>
                <a:lnTo>
                  <a:pt x="6" y="81"/>
                </a:lnTo>
                <a:lnTo>
                  <a:pt x="6" y="87"/>
                </a:lnTo>
                <a:lnTo>
                  <a:pt x="6" y="93"/>
                </a:lnTo>
                <a:lnTo>
                  <a:pt x="12" y="93"/>
                </a:lnTo>
                <a:lnTo>
                  <a:pt x="18" y="93"/>
                </a:lnTo>
                <a:lnTo>
                  <a:pt x="24" y="105"/>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35" name="Freeform 283"/>
          <p:cNvSpPr>
            <a:spLocks/>
          </p:cNvSpPr>
          <p:nvPr/>
        </p:nvSpPr>
        <p:spPr bwMode="auto">
          <a:xfrm>
            <a:off x="7426325" y="4359275"/>
            <a:ext cx="85725" cy="130175"/>
          </a:xfrm>
          <a:custGeom>
            <a:avLst/>
            <a:gdLst>
              <a:gd name="T0" fmla="*/ 36 w 54"/>
              <a:gd name="T1" fmla="*/ 0 h 82"/>
              <a:gd name="T2" fmla="*/ 42 w 54"/>
              <a:gd name="T3" fmla="*/ 0 h 82"/>
              <a:gd name="T4" fmla="*/ 42 w 54"/>
              <a:gd name="T5" fmla="*/ 6 h 82"/>
              <a:gd name="T6" fmla="*/ 48 w 54"/>
              <a:gd name="T7" fmla="*/ 6 h 82"/>
              <a:gd name="T8" fmla="*/ 48 w 54"/>
              <a:gd name="T9" fmla="*/ 12 h 82"/>
              <a:gd name="T10" fmla="*/ 54 w 54"/>
              <a:gd name="T11" fmla="*/ 12 h 82"/>
              <a:gd name="T12" fmla="*/ 54 w 54"/>
              <a:gd name="T13" fmla="*/ 18 h 82"/>
              <a:gd name="T14" fmla="*/ 54 w 54"/>
              <a:gd name="T15" fmla="*/ 24 h 82"/>
              <a:gd name="T16" fmla="*/ 54 w 54"/>
              <a:gd name="T17" fmla="*/ 30 h 82"/>
              <a:gd name="T18" fmla="*/ 54 w 54"/>
              <a:gd name="T19" fmla="*/ 35 h 82"/>
              <a:gd name="T20" fmla="*/ 54 w 54"/>
              <a:gd name="T21" fmla="*/ 41 h 82"/>
              <a:gd name="T22" fmla="*/ 54 w 54"/>
              <a:gd name="T23" fmla="*/ 47 h 82"/>
              <a:gd name="T24" fmla="*/ 54 w 54"/>
              <a:gd name="T25" fmla="*/ 53 h 82"/>
              <a:gd name="T26" fmla="*/ 54 w 54"/>
              <a:gd name="T27" fmla="*/ 59 h 82"/>
              <a:gd name="T28" fmla="*/ 48 w 54"/>
              <a:gd name="T29" fmla="*/ 59 h 82"/>
              <a:gd name="T30" fmla="*/ 48 w 54"/>
              <a:gd name="T31" fmla="*/ 64 h 82"/>
              <a:gd name="T32" fmla="*/ 42 w 54"/>
              <a:gd name="T33" fmla="*/ 70 h 82"/>
              <a:gd name="T34" fmla="*/ 36 w 54"/>
              <a:gd name="T35" fmla="*/ 76 h 82"/>
              <a:gd name="T36" fmla="*/ 30 w 54"/>
              <a:gd name="T37" fmla="*/ 76 h 82"/>
              <a:gd name="T38" fmla="*/ 24 w 54"/>
              <a:gd name="T39" fmla="*/ 76 h 82"/>
              <a:gd name="T40" fmla="*/ 24 w 54"/>
              <a:gd name="T41" fmla="*/ 82 h 82"/>
              <a:gd name="T42" fmla="*/ 24 w 54"/>
              <a:gd name="T43" fmla="*/ 76 h 82"/>
              <a:gd name="T44" fmla="*/ 18 w 54"/>
              <a:gd name="T45" fmla="*/ 76 h 82"/>
              <a:gd name="T46" fmla="*/ 12 w 54"/>
              <a:gd name="T47" fmla="*/ 76 h 82"/>
              <a:gd name="T48" fmla="*/ 12 w 54"/>
              <a:gd name="T49" fmla="*/ 70 h 82"/>
              <a:gd name="T50" fmla="*/ 6 w 54"/>
              <a:gd name="T51" fmla="*/ 70 h 82"/>
              <a:gd name="T52" fmla="*/ 6 w 54"/>
              <a:gd name="T53" fmla="*/ 64 h 82"/>
              <a:gd name="T54" fmla="*/ 0 w 54"/>
              <a:gd name="T55" fmla="*/ 64 h 82"/>
              <a:gd name="T56" fmla="*/ 0 w 54"/>
              <a:gd name="T57" fmla="*/ 59 h 82"/>
              <a:gd name="T58" fmla="*/ 0 w 54"/>
              <a:gd name="T59" fmla="*/ 53 h 82"/>
              <a:gd name="T60" fmla="*/ 0 w 54"/>
              <a:gd name="T61" fmla="*/ 47 h 82"/>
              <a:gd name="T62" fmla="*/ 0 w 54"/>
              <a:gd name="T63" fmla="*/ 41 h 82"/>
              <a:gd name="T64" fmla="*/ 0 w 54"/>
              <a:gd name="T65" fmla="*/ 35 h 82"/>
              <a:gd name="T66" fmla="*/ 0 w 54"/>
              <a:gd name="T67" fmla="*/ 30 h 82"/>
              <a:gd name="T68" fmla="*/ 0 w 54"/>
              <a:gd name="T69" fmla="*/ 24 h 82"/>
              <a:gd name="T70" fmla="*/ 6 w 54"/>
              <a:gd name="T71" fmla="*/ 24 h 82"/>
              <a:gd name="T72" fmla="*/ 6 w 54"/>
              <a:gd name="T73" fmla="*/ 18 h 82"/>
              <a:gd name="T74" fmla="*/ 6 w 54"/>
              <a:gd name="T75" fmla="*/ 12 h 82"/>
              <a:gd name="T76" fmla="*/ 12 w 54"/>
              <a:gd name="T77" fmla="*/ 12 h 82"/>
              <a:gd name="T78" fmla="*/ 12 w 54"/>
              <a:gd name="T79" fmla="*/ 6 h 82"/>
              <a:gd name="T80" fmla="*/ 18 w 54"/>
              <a:gd name="T81" fmla="*/ 6 h 82"/>
              <a:gd name="T82" fmla="*/ 18 w 54"/>
              <a:gd name="T83" fmla="*/ 0 h 82"/>
              <a:gd name="T84" fmla="*/ 24 w 54"/>
              <a:gd name="T85" fmla="*/ 0 h 82"/>
              <a:gd name="T86" fmla="*/ 30 w 54"/>
              <a:gd name="T87" fmla="*/ 0 h 82"/>
              <a:gd name="T88" fmla="*/ 36 w 54"/>
              <a:gd name="T89" fmla="*/ 0 h 8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4"/>
              <a:gd name="T136" fmla="*/ 0 h 82"/>
              <a:gd name="T137" fmla="*/ 54 w 54"/>
              <a:gd name="T138" fmla="*/ 82 h 8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4" h="82">
                <a:moveTo>
                  <a:pt x="36" y="0"/>
                </a:moveTo>
                <a:lnTo>
                  <a:pt x="42" y="0"/>
                </a:lnTo>
                <a:lnTo>
                  <a:pt x="42" y="6"/>
                </a:lnTo>
                <a:lnTo>
                  <a:pt x="48" y="6"/>
                </a:lnTo>
                <a:lnTo>
                  <a:pt x="48" y="12"/>
                </a:lnTo>
                <a:lnTo>
                  <a:pt x="54" y="12"/>
                </a:lnTo>
                <a:lnTo>
                  <a:pt x="54" y="18"/>
                </a:lnTo>
                <a:lnTo>
                  <a:pt x="54" y="24"/>
                </a:lnTo>
                <a:lnTo>
                  <a:pt x="54" y="30"/>
                </a:lnTo>
                <a:lnTo>
                  <a:pt x="54" y="35"/>
                </a:lnTo>
                <a:lnTo>
                  <a:pt x="54" y="41"/>
                </a:lnTo>
                <a:lnTo>
                  <a:pt x="54" y="47"/>
                </a:lnTo>
                <a:lnTo>
                  <a:pt x="54" y="53"/>
                </a:lnTo>
                <a:lnTo>
                  <a:pt x="54" y="59"/>
                </a:lnTo>
                <a:lnTo>
                  <a:pt x="48" y="59"/>
                </a:lnTo>
                <a:lnTo>
                  <a:pt x="48" y="64"/>
                </a:lnTo>
                <a:lnTo>
                  <a:pt x="42" y="70"/>
                </a:lnTo>
                <a:lnTo>
                  <a:pt x="36" y="76"/>
                </a:lnTo>
                <a:lnTo>
                  <a:pt x="30" y="76"/>
                </a:lnTo>
                <a:lnTo>
                  <a:pt x="24" y="76"/>
                </a:lnTo>
                <a:lnTo>
                  <a:pt x="24" y="82"/>
                </a:lnTo>
                <a:lnTo>
                  <a:pt x="24" y="76"/>
                </a:lnTo>
                <a:lnTo>
                  <a:pt x="18" y="76"/>
                </a:lnTo>
                <a:lnTo>
                  <a:pt x="12" y="76"/>
                </a:lnTo>
                <a:lnTo>
                  <a:pt x="12" y="70"/>
                </a:lnTo>
                <a:lnTo>
                  <a:pt x="6" y="70"/>
                </a:lnTo>
                <a:lnTo>
                  <a:pt x="6" y="64"/>
                </a:lnTo>
                <a:lnTo>
                  <a:pt x="0" y="64"/>
                </a:lnTo>
                <a:lnTo>
                  <a:pt x="0" y="59"/>
                </a:lnTo>
                <a:lnTo>
                  <a:pt x="0" y="53"/>
                </a:lnTo>
                <a:lnTo>
                  <a:pt x="0" y="47"/>
                </a:lnTo>
                <a:lnTo>
                  <a:pt x="0" y="41"/>
                </a:lnTo>
                <a:lnTo>
                  <a:pt x="0" y="35"/>
                </a:lnTo>
                <a:lnTo>
                  <a:pt x="0" y="30"/>
                </a:lnTo>
                <a:lnTo>
                  <a:pt x="0" y="24"/>
                </a:lnTo>
                <a:lnTo>
                  <a:pt x="6" y="24"/>
                </a:lnTo>
                <a:lnTo>
                  <a:pt x="6" y="18"/>
                </a:lnTo>
                <a:lnTo>
                  <a:pt x="6" y="12"/>
                </a:lnTo>
                <a:lnTo>
                  <a:pt x="12" y="12"/>
                </a:lnTo>
                <a:lnTo>
                  <a:pt x="12" y="6"/>
                </a:lnTo>
                <a:lnTo>
                  <a:pt x="18" y="6"/>
                </a:lnTo>
                <a:lnTo>
                  <a:pt x="18" y="0"/>
                </a:lnTo>
                <a:lnTo>
                  <a:pt x="24" y="0"/>
                </a:lnTo>
                <a:lnTo>
                  <a:pt x="30" y="0"/>
                </a:lnTo>
                <a:lnTo>
                  <a:pt x="36"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36" name="Freeform 284"/>
          <p:cNvSpPr>
            <a:spLocks/>
          </p:cNvSpPr>
          <p:nvPr/>
        </p:nvSpPr>
        <p:spPr bwMode="auto">
          <a:xfrm>
            <a:off x="7426325" y="4359275"/>
            <a:ext cx="85725" cy="120650"/>
          </a:xfrm>
          <a:custGeom>
            <a:avLst/>
            <a:gdLst>
              <a:gd name="T0" fmla="*/ 36 w 54"/>
              <a:gd name="T1" fmla="*/ 0 h 76"/>
              <a:gd name="T2" fmla="*/ 48 w 54"/>
              <a:gd name="T3" fmla="*/ 6 h 76"/>
              <a:gd name="T4" fmla="*/ 54 w 54"/>
              <a:gd name="T5" fmla="*/ 12 h 76"/>
              <a:gd name="T6" fmla="*/ 54 w 54"/>
              <a:gd name="T7" fmla="*/ 30 h 76"/>
              <a:gd name="T8" fmla="*/ 54 w 54"/>
              <a:gd name="T9" fmla="*/ 47 h 76"/>
              <a:gd name="T10" fmla="*/ 48 w 54"/>
              <a:gd name="T11" fmla="*/ 59 h 76"/>
              <a:gd name="T12" fmla="*/ 42 w 54"/>
              <a:gd name="T13" fmla="*/ 70 h 76"/>
              <a:gd name="T14" fmla="*/ 30 w 54"/>
              <a:gd name="T15" fmla="*/ 76 h 76"/>
              <a:gd name="T16" fmla="*/ 18 w 54"/>
              <a:gd name="T17" fmla="*/ 76 h 76"/>
              <a:gd name="T18" fmla="*/ 12 w 54"/>
              <a:gd name="T19" fmla="*/ 76 h 76"/>
              <a:gd name="T20" fmla="*/ 6 w 54"/>
              <a:gd name="T21" fmla="*/ 64 h 76"/>
              <a:gd name="T22" fmla="*/ 0 w 54"/>
              <a:gd name="T23" fmla="*/ 53 h 76"/>
              <a:gd name="T24" fmla="*/ 0 w 54"/>
              <a:gd name="T25" fmla="*/ 35 h 76"/>
              <a:gd name="T26" fmla="*/ 6 w 54"/>
              <a:gd name="T27" fmla="*/ 18 h 76"/>
              <a:gd name="T28" fmla="*/ 12 w 54"/>
              <a:gd name="T29" fmla="*/ 6 h 76"/>
              <a:gd name="T30" fmla="*/ 24 w 54"/>
              <a:gd name="T31" fmla="*/ 0 h 76"/>
              <a:gd name="T32" fmla="*/ 36 w 54"/>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76"/>
              <a:gd name="T53" fmla="*/ 54 w 54"/>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76">
                <a:moveTo>
                  <a:pt x="36" y="0"/>
                </a:moveTo>
                <a:lnTo>
                  <a:pt x="48" y="6"/>
                </a:lnTo>
                <a:lnTo>
                  <a:pt x="54" y="12"/>
                </a:lnTo>
                <a:lnTo>
                  <a:pt x="54" y="30"/>
                </a:lnTo>
                <a:lnTo>
                  <a:pt x="54" y="47"/>
                </a:lnTo>
                <a:lnTo>
                  <a:pt x="48" y="59"/>
                </a:lnTo>
                <a:lnTo>
                  <a:pt x="42" y="70"/>
                </a:lnTo>
                <a:lnTo>
                  <a:pt x="30" y="76"/>
                </a:lnTo>
                <a:lnTo>
                  <a:pt x="18" y="76"/>
                </a:lnTo>
                <a:lnTo>
                  <a:pt x="12" y="76"/>
                </a:lnTo>
                <a:lnTo>
                  <a:pt x="6" y="64"/>
                </a:lnTo>
                <a:lnTo>
                  <a:pt x="0" y="53"/>
                </a:lnTo>
                <a:lnTo>
                  <a:pt x="0" y="35"/>
                </a:lnTo>
                <a:lnTo>
                  <a:pt x="6" y="18"/>
                </a:lnTo>
                <a:lnTo>
                  <a:pt x="12" y="6"/>
                </a:lnTo>
                <a:lnTo>
                  <a:pt x="24" y="0"/>
                </a:lnTo>
                <a:lnTo>
                  <a:pt x="36"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37" name="Freeform 285"/>
          <p:cNvSpPr>
            <a:spLocks/>
          </p:cNvSpPr>
          <p:nvPr/>
        </p:nvSpPr>
        <p:spPr bwMode="auto">
          <a:xfrm>
            <a:off x="7445375" y="4387850"/>
            <a:ext cx="38100" cy="65088"/>
          </a:xfrm>
          <a:custGeom>
            <a:avLst/>
            <a:gdLst>
              <a:gd name="T0" fmla="*/ 18 w 24"/>
              <a:gd name="T1" fmla="*/ 0 h 41"/>
              <a:gd name="T2" fmla="*/ 24 w 24"/>
              <a:gd name="T3" fmla="*/ 0 h 41"/>
              <a:gd name="T4" fmla="*/ 24 w 24"/>
              <a:gd name="T5" fmla="*/ 6 h 41"/>
              <a:gd name="T6" fmla="*/ 24 w 24"/>
              <a:gd name="T7" fmla="*/ 12 h 41"/>
              <a:gd name="T8" fmla="*/ 24 w 24"/>
              <a:gd name="T9" fmla="*/ 17 h 41"/>
              <a:gd name="T10" fmla="*/ 24 w 24"/>
              <a:gd name="T11" fmla="*/ 23 h 41"/>
              <a:gd name="T12" fmla="*/ 24 w 24"/>
              <a:gd name="T13" fmla="*/ 29 h 41"/>
              <a:gd name="T14" fmla="*/ 18 w 24"/>
              <a:gd name="T15" fmla="*/ 35 h 41"/>
              <a:gd name="T16" fmla="*/ 18 w 24"/>
              <a:gd name="T17" fmla="*/ 41 h 41"/>
              <a:gd name="T18" fmla="*/ 12 w 24"/>
              <a:gd name="T19" fmla="*/ 41 h 41"/>
              <a:gd name="T20" fmla="*/ 6 w 24"/>
              <a:gd name="T21" fmla="*/ 41 h 41"/>
              <a:gd name="T22" fmla="*/ 6 w 24"/>
              <a:gd name="T23" fmla="*/ 35 h 41"/>
              <a:gd name="T24" fmla="*/ 6 w 24"/>
              <a:gd name="T25" fmla="*/ 29 h 41"/>
              <a:gd name="T26" fmla="*/ 0 w 24"/>
              <a:gd name="T27" fmla="*/ 29 h 41"/>
              <a:gd name="T28" fmla="*/ 0 w 24"/>
              <a:gd name="T29" fmla="*/ 23 h 41"/>
              <a:gd name="T30" fmla="*/ 0 w 24"/>
              <a:gd name="T31" fmla="*/ 17 h 41"/>
              <a:gd name="T32" fmla="*/ 6 w 24"/>
              <a:gd name="T33" fmla="*/ 17 h 41"/>
              <a:gd name="T34" fmla="*/ 6 w 24"/>
              <a:gd name="T35" fmla="*/ 12 h 41"/>
              <a:gd name="T36" fmla="*/ 6 w 24"/>
              <a:gd name="T37" fmla="*/ 6 h 41"/>
              <a:gd name="T38" fmla="*/ 12 w 24"/>
              <a:gd name="T39" fmla="*/ 0 h 41"/>
              <a:gd name="T40" fmla="*/ 18 w 2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
              <a:gd name="T64" fmla="*/ 0 h 41"/>
              <a:gd name="T65" fmla="*/ 24 w 2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 h="41">
                <a:moveTo>
                  <a:pt x="18" y="0"/>
                </a:moveTo>
                <a:lnTo>
                  <a:pt x="24" y="0"/>
                </a:lnTo>
                <a:lnTo>
                  <a:pt x="24" y="6"/>
                </a:lnTo>
                <a:lnTo>
                  <a:pt x="24" y="12"/>
                </a:lnTo>
                <a:lnTo>
                  <a:pt x="24" y="17"/>
                </a:lnTo>
                <a:lnTo>
                  <a:pt x="24" y="23"/>
                </a:lnTo>
                <a:lnTo>
                  <a:pt x="24" y="29"/>
                </a:lnTo>
                <a:lnTo>
                  <a:pt x="18" y="35"/>
                </a:lnTo>
                <a:lnTo>
                  <a:pt x="18" y="41"/>
                </a:lnTo>
                <a:lnTo>
                  <a:pt x="12" y="41"/>
                </a:lnTo>
                <a:lnTo>
                  <a:pt x="6" y="41"/>
                </a:lnTo>
                <a:lnTo>
                  <a:pt x="6" y="35"/>
                </a:lnTo>
                <a:lnTo>
                  <a:pt x="6" y="29"/>
                </a:lnTo>
                <a:lnTo>
                  <a:pt x="0" y="29"/>
                </a:lnTo>
                <a:lnTo>
                  <a:pt x="0" y="23"/>
                </a:lnTo>
                <a:lnTo>
                  <a:pt x="0" y="17"/>
                </a:lnTo>
                <a:lnTo>
                  <a:pt x="6" y="17"/>
                </a:lnTo>
                <a:lnTo>
                  <a:pt x="6" y="12"/>
                </a:lnTo>
                <a:lnTo>
                  <a:pt x="6" y="6"/>
                </a:lnTo>
                <a:lnTo>
                  <a:pt x="12" y="0"/>
                </a:lnTo>
                <a:lnTo>
                  <a:pt x="18"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38" name="Freeform 286"/>
          <p:cNvSpPr>
            <a:spLocks/>
          </p:cNvSpPr>
          <p:nvPr/>
        </p:nvSpPr>
        <p:spPr bwMode="auto">
          <a:xfrm>
            <a:off x="7445375" y="4387850"/>
            <a:ext cx="38100" cy="65088"/>
          </a:xfrm>
          <a:custGeom>
            <a:avLst/>
            <a:gdLst>
              <a:gd name="T0" fmla="*/ 18 w 24"/>
              <a:gd name="T1" fmla="*/ 0 h 41"/>
              <a:gd name="T2" fmla="*/ 24 w 24"/>
              <a:gd name="T3" fmla="*/ 0 h 41"/>
              <a:gd name="T4" fmla="*/ 24 w 24"/>
              <a:gd name="T5" fmla="*/ 6 h 41"/>
              <a:gd name="T6" fmla="*/ 24 w 24"/>
              <a:gd name="T7" fmla="*/ 12 h 41"/>
              <a:gd name="T8" fmla="*/ 24 w 24"/>
              <a:gd name="T9" fmla="*/ 23 h 41"/>
              <a:gd name="T10" fmla="*/ 24 w 24"/>
              <a:gd name="T11" fmla="*/ 29 h 41"/>
              <a:gd name="T12" fmla="*/ 18 w 24"/>
              <a:gd name="T13" fmla="*/ 35 h 41"/>
              <a:gd name="T14" fmla="*/ 12 w 24"/>
              <a:gd name="T15" fmla="*/ 41 h 41"/>
              <a:gd name="T16" fmla="*/ 6 w 24"/>
              <a:gd name="T17" fmla="*/ 35 h 41"/>
              <a:gd name="T18" fmla="*/ 0 w 24"/>
              <a:gd name="T19" fmla="*/ 23 h 41"/>
              <a:gd name="T20" fmla="*/ 6 w 24"/>
              <a:gd name="T21" fmla="*/ 17 h 41"/>
              <a:gd name="T22" fmla="*/ 6 w 24"/>
              <a:gd name="T23" fmla="*/ 12 h 41"/>
              <a:gd name="T24" fmla="*/ 12 w 24"/>
              <a:gd name="T25" fmla="*/ 0 h 41"/>
              <a:gd name="T26" fmla="*/ 18 w 24"/>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41"/>
              <a:gd name="T44" fmla="*/ 24 w 24"/>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41">
                <a:moveTo>
                  <a:pt x="18" y="0"/>
                </a:moveTo>
                <a:lnTo>
                  <a:pt x="24" y="0"/>
                </a:lnTo>
                <a:lnTo>
                  <a:pt x="24" y="6"/>
                </a:lnTo>
                <a:lnTo>
                  <a:pt x="24" y="12"/>
                </a:lnTo>
                <a:lnTo>
                  <a:pt x="24" y="23"/>
                </a:lnTo>
                <a:lnTo>
                  <a:pt x="24" y="29"/>
                </a:lnTo>
                <a:lnTo>
                  <a:pt x="18" y="35"/>
                </a:lnTo>
                <a:lnTo>
                  <a:pt x="12" y="41"/>
                </a:lnTo>
                <a:lnTo>
                  <a:pt x="6" y="35"/>
                </a:lnTo>
                <a:lnTo>
                  <a:pt x="0" y="23"/>
                </a:lnTo>
                <a:lnTo>
                  <a:pt x="6" y="17"/>
                </a:lnTo>
                <a:lnTo>
                  <a:pt x="6" y="12"/>
                </a:lnTo>
                <a:lnTo>
                  <a:pt x="12" y="0"/>
                </a:lnTo>
                <a:lnTo>
                  <a:pt x="18" y="0"/>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39" name="Freeform 287"/>
          <p:cNvSpPr>
            <a:spLocks/>
          </p:cNvSpPr>
          <p:nvPr/>
        </p:nvSpPr>
        <p:spPr bwMode="auto">
          <a:xfrm>
            <a:off x="7540625" y="4322763"/>
            <a:ext cx="84138" cy="157162"/>
          </a:xfrm>
          <a:custGeom>
            <a:avLst/>
            <a:gdLst>
              <a:gd name="T0" fmla="*/ 6 w 53"/>
              <a:gd name="T1" fmla="*/ 18 h 99"/>
              <a:gd name="T2" fmla="*/ 0 w 53"/>
              <a:gd name="T3" fmla="*/ 82 h 99"/>
              <a:gd name="T4" fmla="*/ 6 w 53"/>
              <a:gd name="T5" fmla="*/ 93 h 99"/>
              <a:gd name="T6" fmla="*/ 11 w 53"/>
              <a:gd name="T7" fmla="*/ 87 h 99"/>
              <a:gd name="T8" fmla="*/ 11 w 53"/>
              <a:gd name="T9" fmla="*/ 58 h 99"/>
              <a:gd name="T10" fmla="*/ 35 w 53"/>
              <a:gd name="T11" fmla="*/ 99 h 99"/>
              <a:gd name="T12" fmla="*/ 41 w 53"/>
              <a:gd name="T13" fmla="*/ 99 h 99"/>
              <a:gd name="T14" fmla="*/ 41 w 53"/>
              <a:gd name="T15" fmla="*/ 82 h 99"/>
              <a:gd name="T16" fmla="*/ 23 w 53"/>
              <a:gd name="T17" fmla="*/ 47 h 99"/>
              <a:gd name="T18" fmla="*/ 53 w 53"/>
              <a:gd name="T19" fmla="*/ 23 h 99"/>
              <a:gd name="T20" fmla="*/ 47 w 53"/>
              <a:gd name="T21" fmla="*/ 12 h 99"/>
              <a:gd name="T22" fmla="*/ 17 w 53"/>
              <a:gd name="T23" fmla="*/ 29 h 99"/>
              <a:gd name="T24" fmla="*/ 23 w 53"/>
              <a:gd name="T25" fmla="*/ 12 h 99"/>
              <a:gd name="T26" fmla="*/ 11 w 53"/>
              <a:gd name="T27" fmla="*/ 0 h 99"/>
              <a:gd name="T28" fmla="*/ 6 w 53"/>
              <a:gd name="T29" fmla="*/ 18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
              <a:gd name="T46" fmla="*/ 0 h 99"/>
              <a:gd name="T47" fmla="*/ 53 w 53"/>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 h="99">
                <a:moveTo>
                  <a:pt x="6" y="18"/>
                </a:moveTo>
                <a:lnTo>
                  <a:pt x="0" y="82"/>
                </a:lnTo>
                <a:lnTo>
                  <a:pt x="6" y="93"/>
                </a:lnTo>
                <a:lnTo>
                  <a:pt x="11" y="87"/>
                </a:lnTo>
                <a:lnTo>
                  <a:pt x="11" y="58"/>
                </a:lnTo>
                <a:lnTo>
                  <a:pt x="35" y="99"/>
                </a:lnTo>
                <a:lnTo>
                  <a:pt x="41" y="99"/>
                </a:lnTo>
                <a:lnTo>
                  <a:pt x="41" y="82"/>
                </a:lnTo>
                <a:lnTo>
                  <a:pt x="23" y="47"/>
                </a:lnTo>
                <a:lnTo>
                  <a:pt x="53" y="23"/>
                </a:lnTo>
                <a:lnTo>
                  <a:pt x="47" y="12"/>
                </a:lnTo>
                <a:lnTo>
                  <a:pt x="17" y="29"/>
                </a:lnTo>
                <a:lnTo>
                  <a:pt x="23" y="12"/>
                </a:lnTo>
                <a:lnTo>
                  <a:pt x="11" y="0"/>
                </a:lnTo>
                <a:lnTo>
                  <a:pt x="6" y="18"/>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40" name="Freeform 288"/>
          <p:cNvSpPr>
            <a:spLocks/>
          </p:cNvSpPr>
          <p:nvPr/>
        </p:nvSpPr>
        <p:spPr bwMode="auto">
          <a:xfrm>
            <a:off x="7540625" y="4322763"/>
            <a:ext cx="84138" cy="157162"/>
          </a:xfrm>
          <a:custGeom>
            <a:avLst/>
            <a:gdLst>
              <a:gd name="T0" fmla="*/ 6 w 53"/>
              <a:gd name="T1" fmla="*/ 18 h 99"/>
              <a:gd name="T2" fmla="*/ 0 w 53"/>
              <a:gd name="T3" fmla="*/ 82 h 99"/>
              <a:gd name="T4" fmla="*/ 6 w 53"/>
              <a:gd name="T5" fmla="*/ 93 h 99"/>
              <a:gd name="T6" fmla="*/ 11 w 53"/>
              <a:gd name="T7" fmla="*/ 87 h 99"/>
              <a:gd name="T8" fmla="*/ 11 w 53"/>
              <a:gd name="T9" fmla="*/ 58 h 99"/>
              <a:gd name="T10" fmla="*/ 35 w 53"/>
              <a:gd name="T11" fmla="*/ 99 h 99"/>
              <a:gd name="T12" fmla="*/ 41 w 53"/>
              <a:gd name="T13" fmla="*/ 99 h 99"/>
              <a:gd name="T14" fmla="*/ 41 w 53"/>
              <a:gd name="T15" fmla="*/ 82 h 99"/>
              <a:gd name="T16" fmla="*/ 23 w 53"/>
              <a:gd name="T17" fmla="*/ 47 h 99"/>
              <a:gd name="T18" fmla="*/ 53 w 53"/>
              <a:gd name="T19" fmla="*/ 23 h 99"/>
              <a:gd name="T20" fmla="*/ 47 w 53"/>
              <a:gd name="T21" fmla="*/ 12 h 99"/>
              <a:gd name="T22" fmla="*/ 17 w 53"/>
              <a:gd name="T23" fmla="*/ 29 h 99"/>
              <a:gd name="T24" fmla="*/ 23 w 53"/>
              <a:gd name="T25" fmla="*/ 12 h 99"/>
              <a:gd name="T26" fmla="*/ 11 w 53"/>
              <a:gd name="T27" fmla="*/ 0 h 99"/>
              <a:gd name="T28" fmla="*/ 6 w 53"/>
              <a:gd name="T29" fmla="*/ 18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
              <a:gd name="T46" fmla="*/ 0 h 99"/>
              <a:gd name="T47" fmla="*/ 53 w 53"/>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 h="99">
                <a:moveTo>
                  <a:pt x="6" y="18"/>
                </a:moveTo>
                <a:lnTo>
                  <a:pt x="0" y="82"/>
                </a:lnTo>
                <a:lnTo>
                  <a:pt x="6" y="93"/>
                </a:lnTo>
                <a:lnTo>
                  <a:pt x="11" y="87"/>
                </a:lnTo>
                <a:lnTo>
                  <a:pt x="11" y="58"/>
                </a:lnTo>
                <a:lnTo>
                  <a:pt x="35" y="99"/>
                </a:lnTo>
                <a:lnTo>
                  <a:pt x="41" y="99"/>
                </a:lnTo>
                <a:lnTo>
                  <a:pt x="41" y="82"/>
                </a:lnTo>
                <a:lnTo>
                  <a:pt x="23" y="47"/>
                </a:lnTo>
                <a:lnTo>
                  <a:pt x="53" y="23"/>
                </a:lnTo>
                <a:lnTo>
                  <a:pt x="47" y="12"/>
                </a:lnTo>
                <a:lnTo>
                  <a:pt x="17" y="29"/>
                </a:lnTo>
                <a:lnTo>
                  <a:pt x="23" y="12"/>
                </a:lnTo>
                <a:lnTo>
                  <a:pt x="11" y="0"/>
                </a:lnTo>
                <a:lnTo>
                  <a:pt x="6" y="18"/>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41" name="Freeform 289"/>
          <p:cNvSpPr>
            <a:spLocks/>
          </p:cNvSpPr>
          <p:nvPr/>
        </p:nvSpPr>
        <p:spPr bwMode="auto">
          <a:xfrm>
            <a:off x="7416800" y="4230688"/>
            <a:ext cx="150813" cy="138112"/>
          </a:xfrm>
          <a:custGeom>
            <a:avLst/>
            <a:gdLst>
              <a:gd name="T0" fmla="*/ 18 w 95"/>
              <a:gd name="T1" fmla="*/ 6 h 87"/>
              <a:gd name="T2" fmla="*/ 36 w 95"/>
              <a:gd name="T3" fmla="*/ 41 h 87"/>
              <a:gd name="T4" fmla="*/ 0 w 95"/>
              <a:gd name="T5" fmla="*/ 64 h 87"/>
              <a:gd name="T6" fmla="*/ 6 w 95"/>
              <a:gd name="T7" fmla="*/ 81 h 87"/>
              <a:gd name="T8" fmla="*/ 12 w 95"/>
              <a:gd name="T9" fmla="*/ 87 h 87"/>
              <a:gd name="T10" fmla="*/ 42 w 95"/>
              <a:gd name="T11" fmla="*/ 58 h 87"/>
              <a:gd name="T12" fmla="*/ 60 w 95"/>
              <a:gd name="T13" fmla="*/ 81 h 87"/>
              <a:gd name="T14" fmla="*/ 72 w 95"/>
              <a:gd name="T15" fmla="*/ 81 h 87"/>
              <a:gd name="T16" fmla="*/ 78 w 95"/>
              <a:gd name="T17" fmla="*/ 76 h 87"/>
              <a:gd name="T18" fmla="*/ 60 w 95"/>
              <a:gd name="T19" fmla="*/ 47 h 87"/>
              <a:gd name="T20" fmla="*/ 95 w 95"/>
              <a:gd name="T21" fmla="*/ 12 h 87"/>
              <a:gd name="T22" fmla="*/ 78 w 95"/>
              <a:gd name="T23" fmla="*/ 0 h 87"/>
              <a:gd name="T24" fmla="*/ 48 w 95"/>
              <a:gd name="T25" fmla="*/ 29 h 87"/>
              <a:gd name="T26" fmla="*/ 36 w 95"/>
              <a:gd name="T27" fmla="*/ 0 h 87"/>
              <a:gd name="T28" fmla="*/ 30 w 95"/>
              <a:gd name="T29" fmla="*/ 6 h 87"/>
              <a:gd name="T30" fmla="*/ 24 w 95"/>
              <a:gd name="T31" fmla="*/ 0 h 87"/>
              <a:gd name="T32" fmla="*/ 18 w 95"/>
              <a:gd name="T33" fmla="*/ 6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5"/>
              <a:gd name="T52" fmla="*/ 0 h 87"/>
              <a:gd name="T53" fmla="*/ 95 w 95"/>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5" h="87">
                <a:moveTo>
                  <a:pt x="18" y="6"/>
                </a:moveTo>
                <a:lnTo>
                  <a:pt x="36" y="41"/>
                </a:lnTo>
                <a:lnTo>
                  <a:pt x="0" y="64"/>
                </a:lnTo>
                <a:lnTo>
                  <a:pt x="6" y="81"/>
                </a:lnTo>
                <a:lnTo>
                  <a:pt x="12" y="87"/>
                </a:lnTo>
                <a:lnTo>
                  <a:pt x="42" y="58"/>
                </a:lnTo>
                <a:lnTo>
                  <a:pt x="60" y="81"/>
                </a:lnTo>
                <a:lnTo>
                  <a:pt x="72" y="81"/>
                </a:lnTo>
                <a:lnTo>
                  <a:pt x="78" y="76"/>
                </a:lnTo>
                <a:lnTo>
                  <a:pt x="60" y="47"/>
                </a:lnTo>
                <a:lnTo>
                  <a:pt x="95" y="12"/>
                </a:lnTo>
                <a:lnTo>
                  <a:pt x="78" y="0"/>
                </a:lnTo>
                <a:lnTo>
                  <a:pt x="48" y="29"/>
                </a:lnTo>
                <a:lnTo>
                  <a:pt x="36" y="0"/>
                </a:lnTo>
                <a:lnTo>
                  <a:pt x="30" y="6"/>
                </a:lnTo>
                <a:lnTo>
                  <a:pt x="24" y="0"/>
                </a:lnTo>
                <a:lnTo>
                  <a:pt x="18" y="6"/>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42" name="Freeform 290"/>
          <p:cNvSpPr>
            <a:spLocks/>
          </p:cNvSpPr>
          <p:nvPr/>
        </p:nvSpPr>
        <p:spPr bwMode="auto">
          <a:xfrm>
            <a:off x="7416800" y="4230688"/>
            <a:ext cx="150813" cy="138112"/>
          </a:xfrm>
          <a:custGeom>
            <a:avLst/>
            <a:gdLst>
              <a:gd name="T0" fmla="*/ 18 w 95"/>
              <a:gd name="T1" fmla="*/ 6 h 87"/>
              <a:gd name="T2" fmla="*/ 36 w 95"/>
              <a:gd name="T3" fmla="*/ 41 h 87"/>
              <a:gd name="T4" fmla="*/ 0 w 95"/>
              <a:gd name="T5" fmla="*/ 64 h 87"/>
              <a:gd name="T6" fmla="*/ 6 w 95"/>
              <a:gd name="T7" fmla="*/ 81 h 87"/>
              <a:gd name="T8" fmla="*/ 12 w 95"/>
              <a:gd name="T9" fmla="*/ 87 h 87"/>
              <a:gd name="T10" fmla="*/ 42 w 95"/>
              <a:gd name="T11" fmla="*/ 58 h 87"/>
              <a:gd name="T12" fmla="*/ 60 w 95"/>
              <a:gd name="T13" fmla="*/ 81 h 87"/>
              <a:gd name="T14" fmla="*/ 72 w 95"/>
              <a:gd name="T15" fmla="*/ 81 h 87"/>
              <a:gd name="T16" fmla="*/ 78 w 95"/>
              <a:gd name="T17" fmla="*/ 76 h 87"/>
              <a:gd name="T18" fmla="*/ 60 w 95"/>
              <a:gd name="T19" fmla="*/ 47 h 87"/>
              <a:gd name="T20" fmla="*/ 95 w 95"/>
              <a:gd name="T21" fmla="*/ 12 h 87"/>
              <a:gd name="T22" fmla="*/ 78 w 95"/>
              <a:gd name="T23" fmla="*/ 0 h 87"/>
              <a:gd name="T24" fmla="*/ 48 w 95"/>
              <a:gd name="T25" fmla="*/ 29 h 87"/>
              <a:gd name="T26" fmla="*/ 36 w 95"/>
              <a:gd name="T27" fmla="*/ 0 h 87"/>
              <a:gd name="T28" fmla="*/ 30 w 95"/>
              <a:gd name="T29" fmla="*/ 6 h 87"/>
              <a:gd name="T30" fmla="*/ 24 w 95"/>
              <a:gd name="T31" fmla="*/ 0 h 87"/>
              <a:gd name="T32" fmla="*/ 18 w 95"/>
              <a:gd name="T33" fmla="*/ 6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5"/>
              <a:gd name="T52" fmla="*/ 0 h 87"/>
              <a:gd name="T53" fmla="*/ 95 w 95"/>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5" h="87">
                <a:moveTo>
                  <a:pt x="18" y="6"/>
                </a:moveTo>
                <a:lnTo>
                  <a:pt x="36" y="41"/>
                </a:lnTo>
                <a:lnTo>
                  <a:pt x="0" y="64"/>
                </a:lnTo>
                <a:lnTo>
                  <a:pt x="6" y="81"/>
                </a:lnTo>
                <a:lnTo>
                  <a:pt x="12" y="87"/>
                </a:lnTo>
                <a:lnTo>
                  <a:pt x="42" y="58"/>
                </a:lnTo>
                <a:lnTo>
                  <a:pt x="60" y="81"/>
                </a:lnTo>
                <a:lnTo>
                  <a:pt x="72" y="81"/>
                </a:lnTo>
                <a:lnTo>
                  <a:pt x="78" y="76"/>
                </a:lnTo>
                <a:lnTo>
                  <a:pt x="60" y="47"/>
                </a:lnTo>
                <a:lnTo>
                  <a:pt x="95" y="12"/>
                </a:lnTo>
                <a:lnTo>
                  <a:pt x="78" y="0"/>
                </a:lnTo>
                <a:lnTo>
                  <a:pt x="48" y="29"/>
                </a:lnTo>
                <a:lnTo>
                  <a:pt x="36" y="0"/>
                </a:lnTo>
                <a:lnTo>
                  <a:pt x="30" y="6"/>
                </a:lnTo>
                <a:lnTo>
                  <a:pt x="24" y="0"/>
                </a:lnTo>
                <a:lnTo>
                  <a:pt x="18" y="6"/>
                </a:lnTo>
              </a:path>
            </a:pathLst>
          </a:custGeom>
          <a:noFill/>
          <a:ln w="0">
            <a:solidFill>
              <a:srgbClr val="CCCCC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43" name="Freeform 291"/>
          <p:cNvSpPr>
            <a:spLocks/>
          </p:cNvSpPr>
          <p:nvPr/>
        </p:nvSpPr>
        <p:spPr bwMode="auto">
          <a:xfrm>
            <a:off x="7264400" y="4111625"/>
            <a:ext cx="388938" cy="387350"/>
          </a:xfrm>
          <a:custGeom>
            <a:avLst/>
            <a:gdLst>
              <a:gd name="T0" fmla="*/ 197 w 245"/>
              <a:gd name="T1" fmla="*/ 220 h 244"/>
              <a:gd name="T2" fmla="*/ 185 w 245"/>
              <a:gd name="T3" fmla="*/ 226 h 244"/>
              <a:gd name="T4" fmla="*/ 180 w 245"/>
              <a:gd name="T5" fmla="*/ 215 h 244"/>
              <a:gd name="T6" fmla="*/ 168 w 245"/>
              <a:gd name="T7" fmla="*/ 238 h 244"/>
              <a:gd name="T8" fmla="*/ 156 w 245"/>
              <a:gd name="T9" fmla="*/ 232 h 244"/>
              <a:gd name="T10" fmla="*/ 138 w 245"/>
              <a:gd name="T11" fmla="*/ 232 h 244"/>
              <a:gd name="T12" fmla="*/ 132 w 245"/>
              <a:gd name="T13" fmla="*/ 244 h 244"/>
              <a:gd name="T14" fmla="*/ 126 w 245"/>
              <a:gd name="T15" fmla="*/ 232 h 244"/>
              <a:gd name="T16" fmla="*/ 108 w 245"/>
              <a:gd name="T17" fmla="*/ 238 h 244"/>
              <a:gd name="T18" fmla="*/ 96 w 245"/>
              <a:gd name="T19" fmla="*/ 238 h 244"/>
              <a:gd name="T20" fmla="*/ 96 w 245"/>
              <a:gd name="T21" fmla="*/ 232 h 244"/>
              <a:gd name="T22" fmla="*/ 78 w 245"/>
              <a:gd name="T23" fmla="*/ 232 h 244"/>
              <a:gd name="T24" fmla="*/ 66 w 245"/>
              <a:gd name="T25" fmla="*/ 226 h 244"/>
              <a:gd name="T26" fmla="*/ 54 w 245"/>
              <a:gd name="T27" fmla="*/ 209 h 244"/>
              <a:gd name="T28" fmla="*/ 42 w 245"/>
              <a:gd name="T29" fmla="*/ 209 h 244"/>
              <a:gd name="T30" fmla="*/ 42 w 245"/>
              <a:gd name="T31" fmla="*/ 203 h 244"/>
              <a:gd name="T32" fmla="*/ 24 w 245"/>
              <a:gd name="T33" fmla="*/ 191 h 244"/>
              <a:gd name="T34" fmla="*/ 18 w 245"/>
              <a:gd name="T35" fmla="*/ 180 h 244"/>
              <a:gd name="T36" fmla="*/ 18 w 245"/>
              <a:gd name="T37" fmla="*/ 162 h 244"/>
              <a:gd name="T38" fmla="*/ 6 w 245"/>
              <a:gd name="T39" fmla="*/ 162 h 244"/>
              <a:gd name="T40" fmla="*/ 12 w 245"/>
              <a:gd name="T41" fmla="*/ 151 h 244"/>
              <a:gd name="T42" fmla="*/ 0 w 245"/>
              <a:gd name="T43" fmla="*/ 139 h 244"/>
              <a:gd name="T44" fmla="*/ 0 w 245"/>
              <a:gd name="T45" fmla="*/ 122 h 244"/>
              <a:gd name="T46" fmla="*/ 12 w 245"/>
              <a:gd name="T47" fmla="*/ 110 h 244"/>
              <a:gd name="T48" fmla="*/ 0 w 245"/>
              <a:gd name="T49" fmla="*/ 98 h 244"/>
              <a:gd name="T50" fmla="*/ 12 w 245"/>
              <a:gd name="T51" fmla="*/ 93 h 244"/>
              <a:gd name="T52" fmla="*/ 12 w 245"/>
              <a:gd name="T53" fmla="*/ 69 h 244"/>
              <a:gd name="T54" fmla="*/ 24 w 245"/>
              <a:gd name="T55" fmla="*/ 64 h 244"/>
              <a:gd name="T56" fmla="*/ 30 w 245"/>
              <a:gd name="T57" fmla="*/ 52 h 244"/>
              <a:gd name="T58" fmla="*/ 36 w 245"/>
              <a:gd name="T59" fmla="*/ 40 h 244"/>
              <a:gd name="T60" fmla="*/ 54 w 245"/>
              <a:gd name="T61" fmla="*/ 34 h 244"/>
              <a:gd name="T62" fmla="*/ 54 w 245"/>
              <a:gd name="T63" fmla="*/ 23 h 244"/>
              <a:gd name="T64" fmla="*/ 60 w 245"/>
              <a:gd name="T65" fmla="*/ 23 h 244"/>
              <a:gd name="T66" fmla="*/ 78 w 245"/>
              <a:gd name="T67" fmla="*/ 23 h 244"/>
              <a:gd name="T68" fmla="*/ 84 w 245"/>
              <a:gd name="T69" fmla="*/ 5 h 244"/>
              <a:gd name="T70" fmla="*/ 96 w 245"/>
              <a:gd name="T71" fmla="*/ 11 h 244"/>
              <a:gd name="T72" fmla="*/ 108 w 245"/>
              <a:gd name="T73" fmla="*/ 5 h 244"/>
              <a:gd name="T74" fmla="*/ 120 w 245"/>
              <a:gd name="T75" fmla="*/ 0 h 244"/>
              <a:gd name="T76" fmla="*/ 126 w 245"/>
              <a:gd name="T77" fmla="*/ 11 h 244"/>
              <a:gd name="T78" fmla="*/ 144 w 245"/>
              <a:gd name="T79" fmla="*/ 5 h 244"/>
              <a:gd name="T80" fmla="*/ 156 w 245"/>
              <a:gd name="T81" fmla="*/ 11 h 244"/>
              <a:gd name="T82" fmla="*/ 174 w 245"/>
              <a:gd name="T83" fmla="*/ 17 h 244"/>
              <a:gd name="T84" fmla="*/ 180 w 245"/>
              <a:gd name="T85" fmla="*/ 17 h 244"/>
              <a:gd name="T86" fmla="*/ 180 w 245"/>
              <a:gd name="T87" fmla="*/ 23 h 244"/>
              <a:gd name="T88" fmla="*/ 197 w 245"/>
              <a:gd name="T89" fmla="*/ 29 h 244"/>
              <a:gd name="T90" fmla="*/ 209 w 245"/>
              <a:gd name="T91" fmla="*/ 34 h 244"/>
              <a:gd name="T92" fmla="*/ 203 w 245"/>
              <a:gd name="T93" fmla="*/ 46 h 244"/>
              <a:gd name="T94" fmla="*/ 227 w 245"/>
              <a:gd name="T95" fmla="*/ 52 h 244"/>
              <a:gd name="T96" fmla="*/ 221 w 245"/>
              <a:gd name="T97" fmla="*/ 64 h 244"/>
              <a:gd name="T98" fmla="*/ 233 w 245"/>
              <a:gd name="T99" fmla="*/ 81 h 244"/>
              <a:gd name="T100" fmla="*/ 245 w 245"/>
              <a:gd name="T101" fmla="*/ 87 h 244"/>
              <a:gd name="T102" fmla="*/ 233 w 245"/>
              <a:gd name="T103" fmla="*/ 93 h 244"/>
              <a:gd name="T104" fmla="*/ 245 w 245"/>
              <a:gd name="T105" fmla="*/ 116 h 244"/>
              <a:gd name="T106" fmla="*/ 233 w 245"/>
              <a:gd name="T107" fmla="*/ 122 h 244"/>
              <a:gd name="T108" fmla="*/ 245 w 245"/>
              <a:gd name="T109" fmla="*/ 145 h 244"/>
              <a:gd name="T110" fmla="*/ 233 w 245"/>
              <a:gd name="T111" fmla="*/ 151 h 244"/>
              <a:gd name="T112" fmla="*/ 239 w 245"/>
              <a:gd name="T113" fmla="*/ 168 h 244"/>
              <a:gd name="T114" fmla="*/ 233 w 245"/>
              <a:gd name="T115" fmla="*/ 180 h 244"/>
              <a:gd name="T116" fmla="*/ 215 w 245"/>
              <a:gd name="T117" fmla="*/ 191 h 244"/>
              <a:gd name="T118" fmla="*/ 215 w 245"/>
              <a:gd name="T119" fmla="*/ 203 h 244"/>
              <a:gd name="T120" fmla="*/ 191 w 245"/>
              <a:gd name="T121" fmla="*/ 209 h 24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44"/>
              <a:gd name="T185" fmla="*/ 245 w 245"/>
              <a:gd name="T186" fmla="*/ 244 h 24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44">
                <a:moveTo>
                  <a:pt x="191" y="209"/>
                </a:moveTo>
                <a:lnTo>
                  <a:pt x="197" y="215"/>
                </a:lnTo>
                <a:lnTo>
                  <a:pt x="197" y="220"/>
                </a:lnTo>
                <a:lnTo>
                  <a:pt x="191" y="220"/>
                </a:lnTo>
                <a:lnTo>
                  <a:pt x="191" y="226"/>
                </a:lnTo>
                <a:lnTo>
                  <a:pt x="185" y="226"/>
                </a:lnTo>
                <a:lnTo>
                  <a:pt x="185" y="220"/>
                </a:lnTo>
                <a:lnTo>
                  <a:pt x="180" y="220"/>
                </a:lnTo>
                <a:lnTo>
                  <a:pt x="180" y="215"/>
                </a:lnTo>
                <a:lnTo>
                  <a:pt x="168" y="226"/>
                </a:lnTo>
                <a:lnTo>
                  <a:pt x="168" y="232"/>
                </a:lnTo>
                <a:lnTo>
                  <a:pt x="168" y="238"/>
                </a:lnTo>
                <a:lnTo>
                  <a:pt x="162" y="238"/>
                </a:lnTo>
                <a:lnTo>
                  <a:pt x="156" y="238"/>
                </a:lnTo>
                <a:lnTo>
                  <a:pt x="156" y="232"/>
                </a:lnTo>
                <a:lnTo>
                  <a:pt x="150" y="232"/>
                </a:lnTo>
                <a:lnTo>
                  <a:pt x="150" y="226"/>
                </a:lnTo>
                <a:lnTo>
                  <a:pt x="138" y="232"/>
                </a:lnTo>
                <a:lnTo>
                  <a:pt x="138" y="238"/>
                </a:lnTo>
                <a:lnTo>
                  <a:pt x="138" y="244"/>
                </a:lnTo>
                <a:lnTo>
                  <a:pt x="132" y="244"/>
                </a:lnTo>
                <a:lnTo>
                  <a:pt x="126" y="244"/>
                </a:lnTo>
                <a:lnTo>
                  <a:pt x="126" y="238"/>
                </a:lnTo>
                <a:lnTo>
                  <a:pt x="126" y="232"/>
                </a:lnTo>
                <a:lnTo>
                  <a:pt x="120" y="232"/>
                </a:lnTo>
                <a:lnTo>
                  <a:pt x="108" y="232"/>
                </a:lnTo>
                <a:lnTo>
                  <a:pt x="108" y="238"/>
                </a:lnTo>
                <a:lnTo>
                  <a:pt x="102" y="238"/>
                </a:lnTo>
                <a:lnTo>
                  <a:pt x="102" y="244"/>
                </a:lnTo>
                <a:lnTo>
                  <a:pt x="96" y="238"/>
                </a:lnTo>
                <a:lnTo>
                  <a:pt x="90" y="238"/>
                </a:lnTo>
                <a:lnTo>
                  <a:pt x="90" y="232"/>
                </a:lnTo>
                <a:lnTo>
                  <a:pt x="96" y="232"/>
                </a:lnTo>
                <a:lnTo>
                  <a:pt x="96" y="226"/>
                </a:lnTo>
                <a:lnTo>
                  <a:pt x="78" y="226"/>
                </a:lnTo>
                <a:lnTo>
                  <a:pt x="78" y="232"/>
                </a:lnTo>
                <a:lnTo>
                  <a:pt x="72" y="232"/>
                </a:lnTo>
                <a:lnTo>
                  <a:pt x="66" y="232"/>
                </a:lnTo>
                <a:lnTo>
                  <a:pt x="66" y="226"/>
                </a:lnTo>
                <a:lnTo>
                  <a:pt x="66" y="220"/>
                </a:lnTo>
                <a:lnTo>
                  <a:pt x="66" y="215"/>
                </a:lnTo>
                <a:lnTo>
                  <a:pt x="54" y="209"/>
                </a:lnTo>
                <a:lnTo>
                  <a:pt x="48" y="215"/>
                </a:lnTo>
                <a:lnTo>
                  <a:pt x="42" y="215"/>
                </a:lnTo>
                <a:lnTo>
                  <a:pt x="42" y="209"/>
                </a:lnTo>
                <a:lnTo>
                  <a:pt x="36" y="209"/>
                </a:lnTo>
                <a:lnTo>
                  <a:pt x="36" y="203"/>
                </a:lnTo>
                <a:lnTo>
                  <a:pt x="42" y="203"/>
                </a:lnTo>
                <a:lnTo>
                  <a:pt x="42" y="197"/>
                </a:lnTo>
                <a:lnTo>
                  <a:pt x="36" y="191"/>
                </a:lnTo>
                <a:lnTo>
                  <a:pt x="24" y="191"/>
                </a:lnTo>
                <a:lnTo>
                  <a:pt x="18" y="191"/>
                </a:lnTo>
                <a:lnTo>
                  <a:pt x="18" y="186"/>
                </a:lnTo>
                <a:lnTo>
                  <a:pt x="18" y="180"/>
                </a:lnTo>
                <a:lnTo>
                  <a:pt x="24" y="180"/>
                </a:lnTo>
                <a:lnTo>
                  <a:pt x="24" y="174"/>
                </a:lnTo>
                <a:lnTo>
                  <a:pt x="18" y="162"/>
                </a:lnTo>
                <a:lnTo>
                  <a:pt x="12" y="168"/>
                </a:lnTo>
                <a:lnTo>
                  <a:pt x="6" y="168"/>
                </a:lnTo>
                <a:lnTo>
                  <a:pt x="6" y="162"/>
                </a:lnTo>
                <a:lnTo>
                  <a:pt x="6" y="156"/>
                </a:lnTo>
                <a:lnTo>
                  <a:pt x="6" y="151"/>
                </a:lnTo>
                <a:lnTo>
                  <a:pt x="12" y="151"/>
                </a:lnTo>
                <a:lnTo>
                  <a:pt x="12" y="139"/>
                </a:lnTo>
                <a:lnTo>
                  <a:pt x="6" y="139"/>
                </a:lnTo>
                <a:lnTo>
                  <a:pt x="0" y="139"/>
                </a:lnTo>
                <a:lnTo>
                  <a:pt x="0" y="133"/>
                </a:lnTo>
                <a:lnTo>
                  <a:pt x="0" y="127"/>
                </a:lnTo>
                <a:lnTo>
                  <a:pt x="0" y="122"/>
                </a:lnTo>
                <a:lnTo>
                  <a:pt x="6" y="122"/>
                </a:lnTo>
                <a:lnTo>
                  <a:pt x="12" y="122"/>
                </a:lnTo>
                <a:lnTo>
                  <a:pt x="12" y="110"/>
                </a:lnTo>
                <a:lnTo>
                  <a:pt x="6" y="104"/>
                </a:lnTo>
                <a:lnTo>
                  <a:pt x="0" y="104"/>
                </a:lnTo>
                <a:lnTo>
                  <a:pt x="0" y="98"/>
                </a:lnTo>
                <a:lnTo>
                  <a:pt x="0" y="93"/>
                </a:lnTo>
                <a:lnTo>
                  <a:pt x="6" y="93"/>
                </a:lnTo>
                <a:lnTo>
                  <a:pt x="12" y="93"/>
                </a:lnTo>
                <a:lnTo>
                  <a:pt x="18" y="81"/>
                </a:lnTo>
                <a:lnTo>
                  <a:pt x="12" y="75"/>
                </a:lnTo>
                <a:lnTo>
                  <a:pt x="12" y="69"/>
                </a:lnTo>
                <a:lnTo>
                  <a:pt x="12" y="64"/>
                </a:lnTo>
                <a:lnTo>
                  <a:pt x="18" y="64"/>
                </a:lnTo>
                <a:lnTo>
                  <a:pt x="24" y="64"/>
                </a:lnTo>
                <a:lnTo>
                  <a:pt x="24" y="69"/>
                </a:lnTo>
                <a:lnTo>
                  <a:pt x="36" y="58"/>
                </a:lnTo>
                <a:lnTo>
                  <a:pt x="30" y="52"/>
                </a:lnTo>
                <a:lnTo>
                  <a:pt x="30" y="46"/>
                </a:lnTo>
                <a:lnTo>
                  <a:pt x="30" y="40"/>
                </a:lnTo>
                <a:lnTo>
                  <a:pt x="36" y="40"/>
                </a:lnTo>
                <a:lnTo>
                  <a:pt x="42" y="40"/>
                </a:lnTo>
                <a:lnTo>
                  <a:pt x="42" y="46"/>
                </a:lnTo>
                <a:lnTo>
                  <a:pt x="54" y="34"/>
                </a:lnTo>
                <a:lnTo>
                  <a:pt x="48" y="29"/>
                </a:lnTo>
                <a:lnTo>
                  <a:pt x="48" y="23"/>
                </a:lnTo>
                <a:lnTo>
                  <a:pt x="54" y="23"/>
                </a:lnTo>
                <a:lnTo>
                  <a:pt x="60" y="23"/>
                </a:lnTo>
                <a:lnTo>
                  <a:pt x="60" y="17"/>
                </a:lnTo>
                <a:lnTo>
                  <a:pt x="60" y="23"/>
                </a:lnTo>
                <a:lnTo>
                  <a:pt x="66" y="23"/>
                </a:lnTo>
                <a:lnTo>
                  <a:pt x="66" y="29"/>
                </a:lnTo>
                <a:lnTo>
                  <a:pt x="78" y="23"/>
                </a:lnTo>
                <a:lnTo>
                  <a:pt x="78" y="11"/>
                </a:lnTo>
                <a:lnTo>
                  <a:pt x="84" y="11"/>
                </a:lnTo>
                <a:lnTo>
                  <a:pt x="84" y="5"/>
                </a:lnTo>
                <a:lnTo>
                  <a:pt x="90" y="5"/>
                </a:lnTo>
                <a:lnTo>
                  <a:pt x="90" y="11"/>
                </a:lnTo>
                <a:lnTo>
                  <a:pt x="96" y="11"/>
                </a:lnTo>
                <a:lnTo>
                  <a:pt x="96" y="17"/>
                </a:lnTo>
                <a:lnTo>
                  <a:pt x="108" y="11"/>
                </a:lnTo>
                <a:lnTo>
                  <a:pt x="108" y="5"/>
                </a:lnTo>
                <a:lnTo>
                  <a:pt x="114" y="5"/>
                </a:lnTo>
                <a:lnTo>
                  <a:pt x="114" y="0"/>
                </a:lnTo>
                <a:lnTo>
                  <a:pt x="120" y="0"/>
                </a:lnTo>
                <a:lnTo>
                  <a:pt x="120" y="5"/>
                </a:lnTo>
                <a:lnTo>
                  <a:pt x="126" y="5"/>
                </a:lnTo>
                <a:lnTo>
                  <a:pt x="126" y="11"/>
                </a:lnTo>
                <a:lnTo>
                  <a:pt x="138" y="11"/>
                </a:lnTo>
                <a:lnTo>
                  <a:pt x="138" y="5"/>
                </a:lnTo>
                <a:lnTo>
                  <a:pt x="144" y="5"/>
                </a:lnTo>
                <a:lnTo>
                  <a:pt x="150" y="5"/>
                </a:lnTo>
                <a:lnTo>
                  <a:pt x="156" y="5"/>
                </a:lnTo>
                <a:lnTo>
                  <a:pt x="156" y="11"/>
                </a:lnTo>
                <a:lnTo>
                  <a:pt x="156" y="17"/>
                </a:lnTo>
                <a:lnTo>
                  <a:pt x="168" y="23"/>
                </a:lnTo>
                <a:lnTo>
                  <a:pt x="174" y="17"/>
                </a:lnTo>
                <a:lnTo>
                  <a:pt x="174" y="11"/>
                </a:lnTo>
                <a:lnTo>
                  <a:pt x="180" y="11"/>
                </a:lnTo>
                <a:lnTo>
                  <a:pt x="180" y="17"/>
                </a:lnTo>
                <a:lnTo>
                  <a:pt x="185" y="17"/>
                </a:lnTo>
                <a:lnTo>
                  <a:pt x="185" y="23"/>
                </a:lnTo>
                <a:lnTo>
                  <a:pt x="180" y="23"/>
                </a:lnTo>
                <a:lnTo>
                  <a:pt x="180" y="29"/>
                </a:lnTo>
                <a:lnTo>
                  <a:pt x="191" y="34"/>
                </a:lnTo>
                <a:lnTo>
                  <a:pt x="197" y="29"/>
                </a:lnTo>
                <a:lnTo>
                  <a:pt x="203" y="29"/>
                </a:lnTo>
                <a:lnTo>
                  <a:pt x="203" y="34"/>
                </a:lnTo>
                <a:lnTo>
                  <a:pt x="209" y="34"/>
                </a:lnTo>
                <a:lnTo>
                  <a:pt x="209" y="40"/>
                </a:lnTo>
                <a:lnTo>
                  <a:pt x="203" y="40"/>
                </a:lnTo>
                <a:lnTo>
                  <a:pt x="203" y="46"/>
                </a:lnTo>
                <a:lnTo>
                  <a:pt x="215" y="58"/>
                </a:lnTo>
                <a:lnTo>
                  <a:pt x="221" y="52"/>
                </a:lnTo>
                <a:lnTo>
                  <a:pt x="227" y="52"/>
                </a:lnTo>
                <a:lnTo>
                  <a:pt x="227" y="58"/>
                </a:lnTo>
                <a:lnTo>
                  <a:pt x="227" y="64"/>
                </a:lnTo>
                <a:lnTo>
                  <a:pt x="221" y="64"/>
                </a:lnTo>
                <a:lnTo>
                  <a:pt x="221" y="69"/>
                </a:lnTo>
                <a:lnTo>
                  <a:pt x="227" y="81"/>
                </a:lnTo>
                <a:lnTo>
                  <a:pt x="233" y="81"/>
                </a:lnTo>
                <a:lnTo>
                  <a:pt x="239" y="81"/>
                </a:lnTo>
                <a:lnTo>
                  <a:pt x="239" y="87"/>
                </a:lnTo>
                <a:lnTo>
                  <a:pt x="245" y="87"/>
                </a:lnTo>
                <a:lnTo>
                  <a:pt x="239" y="87"/>
                </a:lnTo>
                <a:lnTo>
                  <a:pt x="239" y="93"/>
                </a:lnTo>
                <a:lnTo>
                  <a:pt x="233" y="93"/>
                </a:lnTo>
                <a:lnTo>
                  <a:pt x="233" y="110"/>
                </a:lnTo>
                <a:lnTo>
                  <a:pt x="245" y="110"/>
                </a:lnTo>
                <a:lnTo>
                  <a:pt x="245" y="116"/>
                </a:lnTo>
                <a:lnTo>
                  <a:pt x="245" y="122"/>
                </a:lnTo>
                <a:lnTo>
                  <a:pt x="239" y="122"/>
                </a:lnTo>
                <a:lnTo>
                  <a:pt x="233" y="122"/>
                </a:lnTo>
                <a:lnTo>
                  <a:pt x="233" y="139"/>
                </a:lnTo>
                <a:lnTo>
                  <a:pt x="245" y="139"/>
                </a:lnTo>
                <a:lnTo>
                  <a:pt x="245" y="145"/>
                </a:lnTo>
                <a:lnTo>
                  <a:pt x="245" y="151"/>
                </a:lnTo>
                <a:lnTo>
                  <a:pt x="239" y="151"/>
                </a:lnTo>
                <a:lnTo>
                  <a:pt x="233" y="151"/>
                </a:lnTo>
                <a:lnTo>
                  <a:pt x="227" y="162"/>
                </a:lnTo>
                <a:lnTo>
                  <a:pt x="233" y="168"/>
                </a:lnTo>
                <a:lnTo>
                  <a:pt x="239" y="168"/>
                </a:lnTo>
                <a:lnTo>
                  <a:pt x="239" y="174"/>
                </a:lnTo>
                <a:lnTo>
                  <a:pt x="233" y="174"/>
                </a:lnTo>
                <a:lnTo>
                  <a:pt x="233" y="180"/>
                </a:lnTo>
                <a:lnTo>
                  <a:pt x="227" y="180"/>
                </a:lnTo>
                <a:lnTo>
                  <a:pt x="221" y="180"/>
                </a:lnTo>
                <a:lnTo>
                  <a:pt x="215" y="191"/>
                </a:lnTo>
                <a:lnTo>
                  <a:pt x="221" y="197"/>
                </a:lnTo>
                <a:lnTo>
                  <a:pt x="221" y="203"/>
                </a:lnTo>
                <a:lnTo>
                  <a:pt x="215" y="203"/>
                </a:lnTo>
                <a:lnTo>
                  <a:pt x="209" y="203"/>
                </a:lnTo>
                <a:lnTo>
                  <a:pt x="203" y="203"/>
                </a:lnTo>
                <a:lnTo>
                  <a:pt x="191" y="209"/>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44" name="Freeform 292"/>
          <p:cNvSpPr>
            <a:spLocks/>
          </p:cNvSpPr>
          <p:nvPr/>
        </p:nvSpPr>
        <p:spPr bwMode="auto">
          <a:xfrm>
            <a:off x="7264400" y="4111625"/>
            <a:ext cx="388938" cy="387350"/>
          </a:xfrm>
          <a:custGeom>
            <a:avLst/>
            <a:gdLst>
              <a:gd name="T0" fmla="*/ 197 w 245"/>
              <a:gd name="T1" fmla="*/ 220 h 244"/>
              <a:gd name="T2" fmla="*/ 185 w 245"/>
              <a:gd name="T3" fmla="*/ 226 h 244"/>
              <a:gd name="T4" fmla="*/ 180 w 245"/>
              <a:gd name="T5" fmla="*/ 215 h 244"/>
              <a:gd name="T6" fmla="*/ 168 w 245"/>
              <a:gd name="T7" fmla="*/ 238 h 244"/>
              <a:gd name="T8" fmla="*/ 156 w 245"/>
              <a:gd name="T9" fmla="*/ 232 h 244"/>
              <a:gd name="T10" fmla="*/ 138 w 245"/>
              <a:gd name="T11" fmla="*/ 238 h 244"/>
              <a:gd name="T12" fmla="*/ 126 w 245"/>
              <a:gd name="T13" fmla="*/ 244 h 244"/>
              <a:gd name="T14" fmla="*/ 120 w 245"/>
              <a:gd name="T15" fmla="*/ 232 h 244"/>
              <a:gd name="T16" fmla="*/ 102 w 245"/>
              <a:gd name="T17" fmla="*/ 244 h 244"/>
              <a:gd name="T18" fmla="*/ 90 w 245"/>
              <a:gd name="T19" fmla="*/ 232 h 244"/>
              <a:gd name="T20" fmla="*/ 78 w 245"/>
              <a:gd name="T21" fmla="*/ 226 h 244"/>
              <a:gd name="T22" fmla="*/ 66 w 245"/>
              <a:gd name="T23" fmla="*/ 232 h 244"/>
              <a:gd name="T24" fmla="*/ 66 w 245"/>
              <a:gd name="T25" fmla="*/ 215 h 244"/>
              <a:gd name="T26" fmla="*/ 42 w 245"/>
              <a:gd name="T27" fmla="*/ 215 h 244"/>
              <a:gd name="T28" fmla="*/ 36 w 245"/>
              <a:gd name="T29" fmla="*/ 203 h 244"/>
              <a:gd name="T30" fmla="*/ 36 w 245"/>
              <a:gd name="T31" fmla="*/ 191 h 244"/>
              <a:gd name="T32" fmla="*/ 18 w 245"/>
              <a:gd name="T33" fmla="*/ 186 h 244"/>
              <a:gd name="T34" fmla="*/ 24 w 245"/>
              <a:gd name="T35" fmla="*/ 174 h 244"/>
              <a:gd name="T36" fmla="*/ 6 w 245"/>
              <a:gd name="T37" fmla="*/ 168 h 244"/>
              <a:gd name="T38" fmla="*/ 6 w 245"/>
              <a:gd name="T39" fmla="*/ 151 h 244"/>
              <a:gd name="T40" fmla="*/ 6 w 245"/>
              <a:gd name="T41" fmla="*/ 139 h 244"/>
              <a:gd name="T42" fmla="*/ 0 w 245"/>
              <a:gd name="T43" fmla="*/ 127 h 244"/>
              <a:gd name="T44" fmla="*/ 12 w 245"/>
              <a:gd name="T45" fmla="*/ 122 h 244"/>
              <a:gd name="T46" fmla="*/ 0 w 245"/>
              <a:gd name="T47" fmla="*/ 104 h 244"/>
              <a:gd name="T48" fmla="*/ 6 w 245"/>
              <a:gd name="T49" fmla="*/ 93 h 244"/>
              <a:gd name="T50" fmla="*/ 12 w 245"/>
              <a:gd name="T51" fmla="*/ 75 h 244"/>
              <a:gd name="T52" fmla="*/ 18 w 245"/>
              <a:gd name="T53" fmla="*/ 64 h 244"/>
              <a:gd name="T54" fmla="*/ 36 w 245"/>
              <a:gd name="T55" fmla="*/ 58 h 244"/>
              <a:gd name="T56" fmla="*/ 30 w 245"/>
              <a:gd name="T57" fmla="*/ 40 h 244"/>
              <a:gd name="T58" fmla="*/ 42 w 245"/>
              <a:gd name="T59" fmla="*/ 46 h 244"/>
              <a:gd name="T60" fmla="*/ 48 w 245"/>
              <a:gd name="T61" fmla="*/ 23 h 244"/>
              <a:gd name="T62" fmla="*/ 60 w 245"/>
              <a:gd name="T63" fmla="*/ 17 h 244"/>
              <a:gd name="T64" fmla="*/ 66 w 245"/>
              <a:gd name="T65" fmla="*/ 29 h 244"/>
              <a:gd name="T66" fmla="*/ 84 w 245"/>
              <a:gd name="T67" fmla="*/ 11 h 244"/>
              <a:gd name="T68" fmla="*/ 90 w 245"/>
              <a:gd name="T69" fmla="*/ 11 h 244"/>
              <a:gd name="T70" fmla="*/ 108 w 245"/>
              <a:gd name="T71" fmla="*/ 11 h 244"/>
              <a:gd name="T72" fmla="*/ 114 w 245"/>
              <a:gd name="T73" fmla="*/ 0 h 244"/>
              <a:gd name="T74" fmla="*/ 126 w 245"/>
              <a:gd name="T75" fmla="*/ 5 h 244"/>
              <a:gd name="T76" fmla="*/ 138 w 245"/>
              <a:gd name="T77" fmla="*/ 5 h 244"/>
              <a:gd name="T78" fmla="*/ 156 w 245"/>
              <a:gd name="T79" fmla="*/ 5 h 244"/>
              <a:gd name="T80" fmla="*/ 168 w 245"/>
              <a:gd name="T81" fmla="*/ 23 h 244"/>
              <a:gd name="T82" fmla="*/ 180 w 245"/>
              <a:gd name="T83" fmla="*/ 11 h 244"/>
              <a:gd name="T84" fmla="*/ 185 w 245"/>
              <a:gd name="T85" fmla="*/ 23 h 244"/>
              <a:gd name="T86" fmla="*/ 191 w 245"/>
              <a:gd name="T87" fmla="*/ 34 h 244"/>
              <a:gd name="T88" fmla="*/ 209 w 245"/>
              <a:gd name="T89" fmla="*/ 34 h 244"/>
              <a:gd name="T90" fmla="*/ 215 w 245"/>
              <a:gd name="T91" fmla="*/ 58 h 244"/>
              <a:gd name="T92" fmla="*/ 227 w 245"/>
              <a:gd name="T93" fmla="*/ 58 h 244"/>
              <a:gd name="T94" fmla="*/ 227 w 245"/>
              <a:gd name="T95" fmla="*/ 81 h 244"/>
              <a:gd name="T96" fmla="*/ 239 w 245"/>
              <a:gd name="T97" fmla="*/ 87 h 244"/>
              <a:gd name="T98" fmla="*/ 233 w 245"/>
              <a:gd name="T99" fmla="*/ 93 h 244"/>
              <a:gd name="T100" fmla="*/ 245 w 245"/>
              <a:gd name="T101" fmla="*/ 116 h 244"/>
              <a:gd name="T102" fmla="*/ 233 w 245"/>
              <a:gd name="T103" fmla="*/ 122 h 244"/>
              <a:gd name="T104" fmla="*/ 245 w 245"/>
              <a:gd name="T105" fmla="*/ 145 h 244"/>
              <a:gd name="T106" fmla="*/ 233 w 245"/>
              <a:gd name="T107" fmla="*/ 151 h 244"/>
              <a:gd name="T108" fmla="*/ 239 w 245"/>
              <a:gd name="T109" fmla="*/ 174 h 244"/>
              <a:gd name="T110" fmla="*/ 227 w 245"/>
              <a:gd name="T111" fmla="*/ 180 h 244"/>
              <a:gd name="T112" fmla="*/ 221 w 245"/>
              <a:gd name="T113" fmla="*/ 197 h 244"/>
              <a:gd name="T114" fmla="*/ 203 w 245"/>
              <a:gd name="T115" fmla="*/ 203 h 2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45"/>
              <a:gd name="T175" fmla="*/ 0 h 244"/>
              <a:gd name="T176" fmla="*/ 245 w 245"/>
              <a:gd name="T177" fmla="*/ 244 h 24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45" h="244">
                <a:moveTo>
                  <a:pt x="191" y="209"/>
                </a:moveTo>
                <a:lnTo>
                  <a:pt x="197" y="215"/>
                </a:lnTo>
                <a:lnTo>
                  <a:pt x="197" y="220"/>
                </a:lnTo>
                <a:lnTo>
                  <a:pt x="191" y="220"/>
                </a:lnTo>
                <a:lnTo>
                  <a:pt x="191" y="226"/>
                </a:lnTo>
                <a:lnTo>
                  <a:pt x="185" y="226"/>
                </a:lnTo>
                <a:lnTo>
                  <a:pt x="185" y="220"/>
                </a:lnTo>
                <a:lnTo>
                  <a:pt x="180" y="220"/>
                </a:lnTo>
                <a:lnTo>
                  <a:pt x="180" y="215"/>
                </a:lnTo>
                <a:lnTo>
                  <a:pt x="168" y="226"/>
                </a:lnTo>
                <a:lnTo>
                  <a:pt x="168" y="232"/>
                </a:lnTo>
                <a:lnTo>
                  <a:pt x="168" y="238"/>
                </a:lnTo>
                <a:lnTo>
                  <a:pt x="162" y="238"/>
                </a:lnTo>
                <a:lnTo>
                  <a:pt x="156" y="238"/>
                </a:lnTo>
                <a:lnTo>
                  <a:pt x="156" y="232"/>
                </a:lnTo>
                <a:lnTo>
                  <a:pt x="150" y="226"/>
                </a:lnTo>
                <a:lnTo>
                  <a:pt x="138" y="232"/>
                </a:lnTo>
                <a:lnTo>
                  <a:pt x="138" y="238"/>
                </a:lnTo>
                <a:lnTo>
                  <a:pt x="138" y="244"/>
                </a:lnTo>
                <a:lnTo>
                  <a:pt x="132" y="244"/>
                </a:lnTo>
                <a:lnTo>
                  <a:pt x="126" y="244"/>
                </a:lnTo>
                <a:lnTo>
                  <a:pt x="126" y="238"/>
                </a:lnTo>
                <a:lnTo>
                  <a:pt x="126" y="232"/>
                </a:lnTo>
                <a:lnTo>
                  <a:pt x="120" y="232"/>
                </a:lnTo>
                <a:lnTo>
                  <a:pt x="108" y="232"/>
                </a:lnTo>
                <a:lnTo>
                  <a:pt x="108" y="238"/>
                </a:lnTo>
                <a:lnTo>
                  <a:pt x="102" y="244"/>
                </a:lnTo>
                <a:lnTo>
                  <a:pt x="96" y="238"/>
                </a:lnTo>
                <a:lnTo>
                  <a:pt x="90" y="238"/>
                </a:lnTo>
                <a:lnTo>
                  <a:pt x="90" y="232"/>
                </a:lnTo>
                <a:lnTo>
                  <a:pt x="96" y="232"/>
                </a:lnTo>
                <a:lnTo>
                  <a:pt x="96" y="226"/>
                </a:lnTo>
                <a:lnTo>
                  <a:pt x="78" y="226"/>
                </a:lnTo>
                <a:lnTo>
                  <a:pt x="78" y="232"/>
                </a:lnTo>
                <a:lnTo>
                  <a:pt x="72" y="232"/>
                </a:lnTo>
                <a:lnTo>
                  <a:pt x="66" y="232"/>
                </a:lnTo>
                <a:lnTo>
                  <a:pt x="66" y="226"/>
                </a:lnTo>
                <a:lnTo>
                  <a:pt x="66" y="220"/>
                </a:lnTo>
                <a:lnTo>
                  <a:pt x="66" y="215"/>
                </a:lnTo>
                <a:lnTo>
                  <a:pt x="54" y="209"/>
                </a:lnTo>
                <a:lnTo>
                  <a:pt x="48" y="215"/>
                </a:lnTo>
                <a:lnTo>
                  <a:pt x="42" y="215"/>
                </a:lnTo>
                <a:lnTo>
                  <a:pt x="42" y="209"/>
                </a:lnTo>
                <a:lnTo>
                  <a:pt x="36" y="209"/>
                </a:lnTo>
                <a:lnTo>
                  <a:pt x="36" y="203"/>
                </a:lnTo>
                <a:lnTo>
                  <a:pt x="42" y="203"/>
                </a:lnTo>
                <a:lnTo>
                  <a:pt x="42" y="197"/>
                </a:lnTo>
                <a:lnTo>
                  <a:pt x="36" y="191"/>
                </a:lnTo>
                <a:lnTo>
                  <a:pt x="24" y="191"/>
                </a:lnTo>
                <a:lnTo>
                  <a:pt x="18" y="191"/>
                </a:lnTo>
                <a:lnTo>
                  <a:pt x="18" y="186"/>
                </a:lnTo>
                <a:lnTo>
                  <a:pt x="18" y="180"/>
                </a:lnTo>
                <a:lnTo>
                  <a:pt x="24" y="180"/>
                </a:lnTo>
                <a:lnTo>
                  <a:pt x="24" y="174"/>
                </a:lnTo>
                <a:lnTo>
                  <a:pt x="18" y="162"/>
                </a:lnTo>
                <a:lnTo>
                  <a:pt x="12" y="168"/>
                </a:lnTo>
                <a:lnTo>
                  <a:pt x="6" y="168"/>
                </a:lnTo>
                <a:lnTo>
                  <a:pt x="6" y="162"/>
                </a:lnTo>
                <a:lnTo>
                  <a:pt x="6" y="156"/>
                </a:lnTo>
                <a:lnTo>
                  <a:pt x="6" y="151"/>
                </a:lnTo>
                <a:lnTo>
                  <a:pt x="12" y="151"/>
                </a:lnTo>
                <a:lnTo>
                  <a:pt x="12" y="139"/>
                </a:lnTo>
                <a:lnTo>
                  <a:pt x="6" y="139"/>
                </a:lnTo>
                <a:lnTo>
                  <a:pt x="0" y="139"/>
                </a:lnTo>
                <a:lnTo>
                  <a:pt x="0" y="133"/>
                </a:lnTo>
                <a:lnTo>
                  <a:pt x="0" y="127"/>
                </a:lnTo>
                <a:lnTo>
                  <a:pt x="0" y="122"/>
                </a:lnTo>
                <a:lnTo>
                  <a:pt x="6" y="122"/>
                </a:lnTo>
                <a:lnTo>
                  <a:pt x="12" y="122"/>
                </a:lnTo>
                <a:lnTo>
                  <a:pt x="12" y="110"/>
                </a:lnTo>
                <a:lnTo>
                  <a:pt x="6" y="104"/>
                </a:lnTo>
                <a:lnTo>
                  <a:pt x="0" y="104"/>
                </a:lnTo>
                <a:lnTo>
                  <a:pt x="0" y="98"/>
                </a:lnTo>
                <a:lnTo>
                  <a:pt x="0" y="93"/>
                </a:lnTo>
                <a:lnTo>
                  <a:pt x="6" y="93"/>
                </a:lnTo>
                <a:lnTo>
                  <a:pt x="12" y="93"/>
                </a:lnTo>
                <a:lnTo>
                  <a:pt x="18" y="81"/>
                </a:lnTo>
                <a:lnTo>
                  <a:pt x="12" y="75"/>
                </a:lnTo>
                <a:lnTo>
                  <a:pt x="12" y="69"/>
                </a:lnTo>
                <a:lnTo>
                  <a:pt x="12" y="64"/>
                </a:lnTo>
                <a:lnTo>
                  <a:pt x="18" y="64"/>
                </a:lnTo>
                <a:lnTo>
                  <a:pt x="24" y="64"/>
                </a:lnTo>
                <a:lnTo>
                  <a:pt x="24" y="69"/>
                </a:lnTo>
                <a:lnTo>
                  <a:pt x="36" y="58"/>
                </a:lnTo>
                <a:lnTo>
                  <a:pt x="30" y="52"/>
                </a:lnTo>
                <a:lnTo>
                  <a:pt x="30" y="46"/>
                </a:lnTo>
                <a:lnTo>
                  <a:pt x="30" y="40"/>
                </a:lnTo>
                <a:lnTo>
                  <a:pt x="36" y="40"/>
                </a:lnTo>
                <a:lnTo>
                  <a:pt x="42" y="40"/>
                </a:lnTo>
                <a:lnTo>
                  <a:pt x="42" y="46"/>
                </a:lnTo>
                <a:lnTo>
                  <a:pt x="54" y="34"/>
                </a:lnTo>
                <a:lnTo>
                  <a:pt x="48" y="29"/>
                </a:lnTo>
                <a:lnTo>
                  <a:pt x="48" y="23"/>
                </a:lnTo>
                <a:lnTo>
                  <a:pt x="54" y="23"/>
                </a:lnTo>
                <a:lnTo>
                  <a:pt x="60" y="23"/>
                </a:lnTo>
                <a:lnTo>
                  <a:pt x="60" y="17"/>
                </a:lnTo>
                <a:lnTo>
                  <a:pt x="60" y="23"/>
                </a:lnTo>
                <a:lnTo>
                  <a:pt x="66" y="23"/>
                </a:lnTo>
                <a:lnTo>
                  <a:pt x="66" y="29"/>
                </a:lnTo>
                <a:lnTo>
                  <a:pt x="78" y="23"/>
                </a:lnTo>
                <a:lnTo>
                  <a:pt x="78" y="11"/>
                </a:lnTo>
                <a:lnTo>
                  <a:pt x="84" y="11"/>
                </a:lnTo>
                <a:lnTo>
                  <a:pt x="84" y="5"/>
                </a:lnTo>
                <a:lnTo>
                  <a:pt x="90" y="5"/>
                </a:lnTo>
                <a:lnTo>
                  <a:pt x="90" y="11"/>
                </a:lnTo>
                <a:lnTo>
                  <a:pt x="96" y="11"/>
                </a:lnTo>
                <a:lnTo>
                  <a:pt x="96" y="17"/>
                </a:lnTo>
                <a:lnTo>
                  <a:pt x="108" y="11"/>
                </a:lnTo>
                <a:lnTo>
                  <a:pt x="108" y="5"/>
                </a:lnTo>
                <a:lnTo>
                  <a:pt x="114" y="5"/>
                </a:lnTo>
                <a:lnTo>
                  <a:pt x="114" y="0"/>
                </a:lnTo>
                <a:lnTo>
                  <a:pt x="120" y="0"/>
                </a:lnTo>
                <a:lnTo>
                  <a:pt x="120" y="5"/>
                </a:lnTo>
                <a:lnTo>
                  <a:pt x="126" y="5"/>
                </a:lnTo>
                <a:lnTo>
                  <a:pt x="126" y="11"/>
                </a:lnTo>
                <a:lnTo>
                  <a:pt x="138" y="11"/>
                </a:lnTo>
                <a:lnTo>
                  <a:pt x="138" y="5"/>
                </a:lnTo>
                <a:lnTo>
                  <a:pt x="144" y="5"/>
                </a:lnTo>
                <a:lnTo>
                  <a:pt x="150" y="5"/>
                </a:lnTo>
                <a:lnTo>
                  <a:pt x="156" y="5"/>
                </a:lnTo>
                <a:lnTo>
                  <a:pt x="156" y="11"/>
                </a:lnTo>
                <a:lnTo>
                  <a:pt x="156" y="17"/>
                </a:lnTo>
                <a:lnTo>
                  <a:pt x="168" y="23"/>
                </a:lnTo>
                <a:lnTo>
                  <a:pt x="174" y="17"/>
                </a:lnTo>
                <a:lnTo>
                  <a:pt x="174" y="11"/>
                </a:lnTo>
                <a:lnTo>
                  <a:pt x="180" y="11"/>
                </a:lnTo>
                <a:lnTo>
                  <a:pt x="180" y="17"/>
                </a:lnTo>
                <a:lnTo>
                  <a:pt x="185" y="17"/>
                </a:lnTo>
                <a:lnTo>
                  <a:pt x="185" y="23"/>
                </a:lnTo>
                <a:lnTo>
                  <a:pt x="180" y="23"/>
                </a:lnTo>
                <a:lnTo>
                  <a:pt x="180" y="29"/>
                </a:lnTo>
                <a:lnTo>
                  <a:pt x="191" y="34"/>
                </a:lnTo>
                <a:lnTo>
                  <a:pt x="197" y="29"/>
                </a:lnTo>
                <a:lnTo>
                  <a:pt x="203" y="29"/>
                </a:lnTo>
                <a:lnTo>
                  <a:pt x="209" y="34"/>
                </a:lnTo>
                <a:lnTo>
                  <a:pt x="209" y="40"/>
                </a:lnTo>
                <a:lnTo>
                  <a:pt x="203" y="46"/>
                </a:lnTo>
                <a:lnTo>
                  <a:pt x="215" y="58"/>
                </a:lnTo>
                <a:lnTo>
                  <a:pt x="221" y="52"/>
                </a:lnTo>
                <a:lnTo>
                  <a:pt x="227" y="52"/>
                </a:lnTo>
                <a:lnTo>
                  <a:pt x="227" y="58"/>
                </a:lnTo>
                <a:lnTo>
                  <a:pt x="227" y="64"/>
                </a:lnTo>
                <a:lnTo>
                  <a:pt x="221" y="69"/>
                </a:lnTo>
                <a:lnTo>
                  <a:pt x="227" y="81"/>
                </a:lnTo>
                <a:lnTo>
                  <a:pt x="233" y="81"/>
                </a:lnTo>
                <a:lnTo>
                  <a:pt x="239" y="81"/>
                </a:lnTo>
                <a:lnTo>
                  <a:pt x="239" y="87"/>
                </a:lnTo>
                <a:lnTo>
                  <a:pt x="245" y="87"/>
                </a:lnTo>
                <a:lnTo>
                  <a:pt x="239" y="93"/>
                </a:lnTo>
                <a:lnTo>
                  <a:pt x="233" y="93"/>
                </a:lnTo>
                <a:lnTo>
                  <a:pt x="233" y="110"/>
                </a:lnTo>
                <a:lnTo>
                  <a:pt x="245" y="110"/>
                </a:lnTo>
                <a:lnTo>
                  <a:pt x="245" y="116"/>
                </a:lnTo>
                <a:lnTo>
                  <a:pt x="245" y="122"/>
                </a:lnTo>
                <a:lnTo>
                  <a:pt x="239" y="122"/>
                </a:lnTo>
                <a:lnTo>
                  <a:pt x="233" y="122"/>
                </a:lnTo>
                <a:lnTo>
                  <a:pt x="233" y="139"/>
                </a:lnTo>
                <a:lnTo>
                  <a:pt x="245" y="139"/>
                </a:lnTo>
                <a:lnTo>
                  <a:pt x="245" y="145"/>
                </a:lnTo>
                <a:lnTo>
                  <a:pt x="245" y="151"/>
                </a:lnTo>
                <a:lnTo>
                  <a:pt x="239" y="151"/>
                </a:lnTo>
                <a:lnTo>
                  <a:pt x="233" y="151"/>
                </a:lnTo>
                <a:lnTo>
                  <a:pt x="227" y="162"/>
                </a:lnTo>
                <a:lnTo>
                  <a:pt x="233" y="168"/>
                </a:lnTo>
                <a:lnTo>
                  <a:pt x="239" y="174"/>
                </a:lnTo>
                <a:lnTo>
                  <a:pt x="233" y="174"/>
                </a:lnTo>
                <a:lnTo>
                  <a:pt x="233" y="180"/>
                </a:lnTo>
                <a:lnTo>
                  <a:pt x="227" y="180"/>
                </a:lnTo>
                <a:lnTo>
                  <a:pt x="221" y="180"/>
                </a:lnTo>
                <a:lnTo>
                  <a:pt x="215" y="191"/>
                </a:lnTo>
                <a:lnTo>
                  <a:pt x="221" y="197"/>
                </a:lnTo>
                <a:lnTo>
                  <a:pt x="215" y="203"/>
                </a:lnTo>
                <a:lnTo>
                  <a:pt x="209" y="203"/>
                </a:lnTo>
                <a:lnTo>
                  <a:pt x="203" y="203"/>
                </a:lnTo>
                <a:lnTo>
                  <a:pt x="191" y="209"/>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45" name="Freeform 293"/>
          <p:cNvSpPr>
            <a:spLocks/>
          </p:cNvSpPr>
          <p:nvPr/>
        </p:nvSpPr>
        <p:spPr bwMode="auto">
          <a:xfrm>
            <a:off x="7075488" y="4138613"/>
            <a:ext cx="207962" cy="203200"/>
          </a:xfrm>
          <a:custGeom>
            <a:avLst/>
            <a:gdLst>
              <a:gd name="T0" fmla="*/ 12 w 131"/>
              <a:gd name="T1" fmla="*/ 93 h 128"/>
              <a:gd name="T2" fmla="*/ 12 w 131"/>
              <a:gd name="T3" fmla="*/ 105 h 128"/>
              <a:gd name="T4" fmla="*/ 18 w 131"/>
              <a:gd name="T5" fmla="*/ 110 h 128"/>
              <a:gd name="T6" fmla="*/ 24 w 131"/>
              <a:gd name="T7" fmla="*/ 105 h 128"/>
              <a:gd name="T8" fmla="*/ 36 w 131"/>
              <a:gd name="T9" fmla="*/ 116 h 128"/>
              <a:gd name="T10" fmla="*/ 30 w 131"/>
              <a:gd name="T11" fmla="*/ 122 h 128"/>
              <a:gd name="T12" fmla="*/ 42 w 131"/>
              <a:gd name="T13" fmla="*/ 122 h 128"/>
              <a:gd name="T14" fmla="*/ 60 w 131"/>
              <a:gd name="T15" fmla="*/ 116 h 128"/>
              <a:gd name="T16" fmla="*/ 60 w 131"/>
              <a:gd name="T17" fmla="*/ 128 h 128"/>
              <a:gd name="T18" fmla="*/ 72 w 131"/>
              <a:gd name="T19" fmla="*/ 128 h 128"/>
              <a:gd name="T20" fmla="*/ 78 w 131"/>
              <a:gd name="T21" fmla="*/ 122 h 128"/>
              <a:gd name="T22" fmla="*/ 90 w 131"/>
              <a:gd name="T23" fmla="*/ 116 h 128"/>
              <a:gd name="T24" fmla="*/ 96 w 131"/>
              <a:gd name="T25" fmla="*/ 122 h 128"/>
              <a:gd name="T26" fmla="*/ 102 w 131"/>
              <a:gd name="T27" fmla="*/ 116 h 128"/>
              <a:gd name="T28" fmla="*/ 102 w 131"/>
              <a:gd name="T29" fmla="*/ 105 h 128"/>
              <a:gd name="T30" fmla="*/ 113 w 131"/>
              <a:gd name="T31" fmla="*/ 99 h 128"/>
              <a:gd name="T32" fmla="*/ 125 w 131"/>
              <a:gd name="T33" fmla="*/ 99 h 128"/>
              <a:gd name="T34" fmla="*/ 125 w 131"/>
              <a:gd name="T35" fmla="*/ 87 h 128"/>
              <a:gd name="T36" fmla="*/ 119 w 131"/>
              <a:gd name="T37" fmla="*/ 76 h 128"/>
              <a:gd name="T38" fmla="*/ 131 w 131"/>
              <a:gd name="T39" fmla="*/ 76 h 128"/>
              <a:gd name="T40" fmla="*/ 131 w 131"/>
              <a:gd name="T41" fmla="*/ 64 h 128"/>
              <a:gd name="T42" fmla="*/ 125 w 131"/>
              <a:gd name="T43" fmla="*/ 58 h 128"/>
              <a:gd name="T44" fmla="*/ 119 w 131"/>
              <a:gd name="T45" fmla="*/ 47 h 128"/>
              <a:gd name="T46" fmla="*/ 125 w 131"/>
              <a:gd name="T47" fmla="*/ 41 h 128"/>
              <a:gd name="T48" fmla="*/ 119 w 131"/>
              <a:gd name="T49" fmla="*/ 29 h 128"/>
              <a:gd name="T50" fmla="*/ 113 w 131"/>
              <a:gd name="T51" fmla="*/ 35 h 128"/>
              <a:gd name="T52" fmla="*/ 107 w 131"/>
              <a:gd name="T53" fmla="*/ 17 h 128"/>
              <a:gd name="T54" fmla="*/ 102 w 131"/>
              <a:gd name="T55" fmla="*/ 12 h 128"/>
              <a:gd name="T56" fmla="*/ 96 w 131"/>
              <a:gd name="T57" fmla="*/ 17 h 128"/>
              <a:gd name="T58" fmla="*/ 84 w 131"/>
              <a:gd name="T59" fmla="*/ 6 h 128"/>
              <a:gd name="T60" fmla="*/ 78 w 131"/>
              <a:gd name="T61" fmla="*/ 0 h 128"/>
              <a:gd name="T62" fmla="*/ 66 w 131"/>
              <a:gd name="T63" fmla="*/ 6 h 128"/>
              <a:gd name="T64" fmla="*/ 54 w 131"/>
              <a:gd name="T65" fmla="*/ 6 h 128"/>
              <a:gd name="T66" fmla="*/ 48 w 131"/>
              <a:gd name="T67" fmla="*/ 0 h 128"/>
              <a:gd name="T68" fmla="*/ 42 w 131"/>
              <a:gd name="T69" fmla="*/ 6 h 128"/>
              <a:gd name="T70" fmla="*/ 42 w 131"/>
              <a:gd name="T71" fmla="*/ 12 h 128"/>
              <a:gd name="T72" fmla="*/ 24 w 131"/>
              <a:gd name="T73" fmla="*/ 17 h 128"/>
              <a:gd name="T74" fmla="*/ 12 w 131"/>
              <a:gd name="T75" fmla="*/ 17 h 128"/>
              <a:gd name="T76" fmla="*/ 18 w 131"/>
              <a:gd name="T77" fmla="*/ 29 h 128"/>
              <a:gd name="T78" fmla="*/ 6 w 131"/>
              <a:gd name="T79" fmla="*/ 41 h 128"/>
              <a:gd name="T80" fmla="*/ 0 w 131"/>
              <a:gd name="T81" fmla="*/ 47 h 128"/>
              <a:gd name="T82" fmla="*/ 6 w 131"/>
              <a:gd name="T83" fmla="*/ 52 h 128"/>
              <a:gd name="T84" fmla="*/ 6 w 131"/>
              <a:gd name="T85" fmla="*/ 70 h 128"/>
              <a:gd name="T86" fmla="*/ 0 w 131"/>
              <a:gd name="T87" fmla="*/ 76 h 128"/>
              <a:gd name="T88" fmla="*/ 12 w 131"/>
              <a:gd name="T89" fmla="*/ 81 h 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28"/>
              <a:gd name="T137" fmla="*/ 131 w 131"/>
              <a:gd name="T138" fmla="*/ 128 h 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28">
                <a:moveTo>
                  <a:pt x="18" y="93"/>
                </a:moveTo>
                <a:lnTo>
                  <a:pt x="12" y="93"/>
                </a:lnTo>
                <a:lnTo>
                  <a:pt x="12" y="99"/>
                </a:lnTo>
                <a:lnTo>
                  <a:pt x="12" y="105"/>
                </a:lnTo>
                <a:lnTo>
                  <a:pt x="18" y="105"/>
                </a:lnTo>
                <a:lnTo>
                  <a:pt x="18" y="110"/>
                </a:lnTo>
                <a:lnTo>
                  <a:pt x="18" y="105"/>
                </a:lnTo>
                <a:lnTo>
                  <a:pt x="24" y="105"/>
                </a:lnTo>
                <a:lnTo>
                  <a:pt x="36" y="110"/>
                </a:lnTo>
                <a:lnTo>
                  <a:pt x="36" y="116"/>
                </a:lnTo>
                <a:lnTo>
                  <a:pt x="30" y="116"/>
                </a:lnTo>
                <a:lnTo>
                  <a:pt x="30" y="122"/>
                </a:lnTo>
                <a:lnTo>
                  <a:pt x="36" y="122"/>
                </a:lnTo>
                <a:lnTo>
                  <a:pt x="42" y="122"/>
                </a:lnTo>
                <a:lnTo>
                  <a:pt x="48" y="116"/>
                </a:lnTo>
                <a:lnTo>
                  <a:pt x="60" y="116"/>
                </a:lnTo>
                <a:lnTo>
                  <a:pt x="60" y="122"/>
                </a:lnTo>
                <a:lnTo>
                  <a:pt x="60" y="128"/>
                </a:lnTo>
                <a:lnTo>
                  <a:pt x="66" y="128"/>
                </a:lnTo>
                <a:lnTo>
                  <a:pt x="72" y="128"/>
                </a:lnTo>
                <a:lnTo>
                  <a:pt x="78" y="128"/>
                </a:lnTo>
                <a:lnTo>
                  <a:pt x="78" y="122"/>
                </a:lnTo>
                <a:lnTo>
                  <a:pt x="78" y="116"/>
                </a:lnTo>
                <a:lnTo>
                  <a:pt x="90" y="116"/>
                </a:lnTo>
                <a:lnTo>
                  <a:pt x="90" y="122"/>
                </a:lnTo>
                <a:lnTo>
                  <a:pt x="96" y="122"/>
                </a:lnTo>
                <a:lnTo>
                  <a:pt x="102" y="122"/>
                </a:lnTo>
                <a:lnTo>
                  <a:pt x="102" y="116"/>
                </a:lnTo>
                <a:lnTo>
                  <a:pt x="102" y="110"/>
                </a:lnTo>
                <a:lnTo>
                  <a:pt x="102" y="105"/>
                </a:lnTo>
                <a:lnTo>
                  <a:pt x="107" y="99"/>
                </a:lnTo>
                <a:lnTo>
                  <a:pt x="113" y="99"/>
                </a:lnTo>
                <a:lnTo>
                  <a:pt x="119" y="99"/>
                </a:lnTo>
                <a:lnTo>
                  <a:pt x="125" y="99"/>
                </a:lnTo>
                <a:lnTo>
                  <a:pt x="125" y="93"/>
                </a:lnTo>
                <a:lnTo>
                  <a:pt x="125" y="87"/>
                </a:lnTo>
                <a:lnTo>
                  <a:pt x="119" y="87"/>
                </a:lnTo>
                <a:lnTo>
                  <a:pt x="119" y="76"/>
                </a:lnTo>
                <a:lnTo>
                  <a:pt x="125" y="76"/>
                </a:lnTo>
                <a:lnTo>
                  <a:pt x="131" y="76"/>
                </a:lnTo>
                <a:lnTo>
                  <a:pt x="131" y="70"/>
                </a:lnTo>
                <a:lnTo>
                  <a:pt x="131" y="64"/>
                </a:lnTo>
                <a:lnTo>
                  <a:pt x="131" y="58"/>
                </a:lnTo>
                <a:lnTo>
                  <a:pt x="125" y="58"/>
                </a:lnTo>
                <a:lnTo>
                  <a:pt x="119" y="58"/>
                </a:lnTo>
                <a:lnTo>
                  <a:pt x="119" y="47"/>
                </a:lnTo>
                <a:lnTo>
                  <a:pt x="125" y="47"/>
                </a:lnTo>
                <a:lnTo>
                  <a:pt x="125" y="41"/>
                </a:lnTo>
                <a:lnTo>
                  <a:pt x="125" y="35"/>
                </a:lnTo>
                <a:lnTo>
                  <a:pt x="119" y="29"/>
                </a:lnTo>
                <a:lnTo>
                  <a:pt x="119" y="35"/>
                </a:lnTo>
                <a:lnTo>
                  <a:pt x="113" y="35"/>
                </a:lnTo>
                <a:lnTo>
                  <a:pt x="107" y="23"/>
                </a:lnTo>
                <a:lnTo>
                  <a:pt x="107" y="17"/>
                </a:lnTo>
                <a:lnTo>
                  <a:pt x="107" y="12"/>
                </a:lnTo>
                <a:lnTo>
                  <a:pt x="102" y="12"/>
                </a:lnTo>
                <a:lnTo>
                  <a:pt x="96" y="12"/>
                </a:lnTo>
                <a:lnTo>
                  <a:pt x="96" y="17"/>
                </a:lnTo>
                <a:lnTo>
                  <a:pt x="84" y="12"/>
                </a:lnTo>
                <a:lnTo>
                  <a:pt x="84" y="6"/>
                </a:lnTo>
                <a:lnTo>
                  <a:pt x="84" y="0"/>
                </a:lnTo>
                <a:lnTo>
                  <a:pt x="78" y="0"/>
                </a:lnTo>
                <a:lnTo>
                  <a:pt x="72" y="0"/>
                </a:lnTo>
                <a:lnTo>
                  <a:pt x="66" y="6"/>
                </a:lnTo>
                <a:lnTo>
                  <a:pt x="54" y="12"/>
                </a:lnTo>
                <a:lnTo>
                  <a:pt x="54" y="6"/>
                </a:lnTo>
                <a:lnTo>
                  <a:pt x="54" y="0"/>
                </a:lnTo>
                <a:lnTo>
                  <a:pt x="48" y="0"/>
                </a:lnTo>
                <a:lnTo>
                  <a:pt x="42" y="0"/>
                </a:lnTo>
                <a:lnTo>
                  <a:pt x="42" y="6"/>
                </a:lnTo>
                <a:lnTo>
                  <a:pt x="36" y="6"/>
                </a:lnTo>
                <a:lnTo>
                  <a:pt x="42" y="12"/>
                </a:lnTo>
                <a:lnTo>
                  <a:pt x="30" y="17"/>
                </a:lnTo>
                <a:lnTo>
                  <a:pt x="24" y="17"/>
                </a:lnTo>
                <a:lnTo>
                  <a:pt x="18" y="17"/>
                </a:lnTo>
                <a:lnTo>
                  <a:pt x="12" y="17"/>
                </a:lnTo>
                <a:lnTo>
                  <a:pt x="12" y="23"/>
                </a:lnTo>
                <a:lnTo>
                  <a:pt x="18" y="29"/>
                </a:lnTo>
                <a:lnTo>
                  <a:pt x="12" y="41"/>
                </a:lnTo>
                <a:lnTo>
                  <a:pt x="6" y="41"/>
                </a:lnTo>
                <a:lnTo>
                  <a:pt x="0" y="41"/>
                </a:lnTo>
                <a:lnTo>
                  <a:pt x="0" y="47"/>
                </a:lnTo>
                <a:lnTo>
                  <a:pt x="0" y="52"/>
                </a:lnTo>
                <a:lnTo>
                  <a:pt x="6" y="52"/>
                </a:lnTo>
                <a:lnTo>
                  <a:pt x="6" y="64"/>
                </a:lnTo>
                <a:lnTo>
                  <a:pt x="6" y="70"/>
                </a:lnTo>
                <a:lnTo>
                  <a:pt x="0" y="70"/>
                </a:lnTo>
                <a:lnTo>
                  <a:pt x="0" y="76"/>
                </a:lnTo>
                <a:lnTo>
                  <a:pt x="0" y="81"/>
                </a:lnTo>
                <a:lnTo>
                  <a:pt x="12" y="81"/>
                </a:lnTo>
                <a:lnTo>
                  <a:pt x="18" y="93"/>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46" name="Freeform 294"/>
          <p:cNvSpPr>
            <a:spLocks/>
          </p:cNvSpPr>
          <p:nvPr/>
        </p:nvSpPr>
        <p:spPr bwMode="auto">
          <a:xfrm>
            <a:off x="7075488" y="4138613"/>
            <a:ext cx="207962" cy="203200"/>
          </a:xfrm>
          <a:custGeom>
            <a:avLst/>
            <a:gdLst>
              <a:gd name="T0" fmla="*/ 12 w 131"/>
              <a:gd name="T1" fmla="*/ 93 h 128"/>
              <a:gd name="T2" fmla="*/ 12 w 131"/>
              <a:gd name="T3" fmla="*/ 105 h 128"/>
              <a:gd name="T4" fmla="*/ 18 w 131"/>
              <a:gd name="T5" fmla="*/ 110 h 128"/>
              <a:gd name="T6" fmla="*/ 24 w 131"/>
              <a:gd name="T7" fmla="*/ 105 h 128"/>
              <a:gd name="T8" fmla="*/ 36 w 131"/>
              <a:gd name="T9" fmla="*/ 116 h 128"/>
              <a:gd name="T10" fmla="*/ 36 w 131"/>
              <a:gd name="T11" fmla="*/ 122 h 128"/>
              <a:gd name="T12" fmla="*/ 48 w 131"/>
              <a:gd name="T13" fmla="*/ 116 h 128"/>
              <a:gd name="T14" fmla="*/ 60 w 131"/>
              <a:gd name="T15" fmla="*/ 122 h 128"/>
              <a:gd name="T16" fmla="*/ 66 w 131"/>
              <a:gd name="T17" fmla="*/ 128 h 128"/>
              <a:gd name="T18" fmla="*/ 78 w 131"/>
              <a:gd name="T19" fmla="*/ 128 h 128"/>
              <a:gd name="T20" fmla="*/ 78 w 131"/>
              <a:gd name="T21" fmla="*/ 116 h 128"/>
              <a:gd name="T22" fmla="*/ 96 w 131"/>
              <a:gd name="T23" fmla="*/ 122 h 128"/>
              <a:gd name="T24" fmla="*/ 102 w 131"/>
              <a:gd name="T25" fmla="*/ 116 h 128"/>
              <a:gd name="T26" fmla="*/ 102 w 131"/>
              <a:gd name="T27" fmla="*/ 105 h 128"/>
              <a:gd name="T28" fmla="*/ 113 w 131"/>
              <a:gd name="T29" fmla="*/ 99 h 128"/>
              <a:gd name="T30" fmla="*/ 125 w 131"/>
              <a:gd name="T31" fmla="*/ 93 h 128"/>
              <a:gd name="T32" fmla="*/ 119 w 131"/>
              <a:gd name="T33" fmla="*/ 87 h 128"/>
              <a:gd name="T34" fmla="*/ 125 w 131"/>
              <a:gd name="T35" fmla="*/ 76 h 128"/>
              <a:gd name="T36" fmla="*/ 131 w 131"/>
              <a:gd name="T37" fmla="*/ 64 h 128"/>
              <a:gd name="T38" fmla="*/ 125 w 131"/>
              <a:gd name="T39" fmla="*/ 58 h 128"/>
              <a:gd name="T40" fmla="*/ 119 w 131"/>
              <a:gd name="T41" fmla="*/ 47 h 128"/>
              <a:gd name="T42" fmla="*/ 125 w 131"/>
              <a:gd name="T43" fmla="*/ 41 h 128"/>
              <a:gd name="T44" fmla="*/ 119 w 131"/>
              <a:gd name="T45" fmla="*/ 29 h 128"/>
              <a:gd name="T46" fmla="*/ 113 w 131"/>
              <a:gd name="T47" fmla="*/ 35 h 128"/>
              <a:gd name="T48" fmla="*/ 107 w 131"/>
              <a:gd name="T49" fmla="*/ 17 h 128"/>
              <a:gd name="T50" fmla="*/ 102 w 131"/>
              <a:gd name="T51" fmla="*/ 12 h 128"/>
              <a:gd name="T52" fmla="*/ 96 w 131"/>
              <a:gd name="T53" fmla="*/ 17 h 128"/>
              <a:gd name="T54" fmla="*/ 84 w 131"/>
              <a:gd name="T55" fmla="*/ 6 h 128"/>
              <a:gd name="T56" fmla="*/ 78 w 131"/>
              <a:gd name="T57" fmla="*/ 0 h 128"/>
              <a:gd name="T58" fmla="*/ 66 w 131"/>
              <a:gd name="T59" fmla="*/ 6 h 128"/>
              <a:gd name="T60" fmla="*/ 54 w 131"/>
              <a:gd name="T61" fmla="*/ 6 h 128"/>
              <a:gd name="T62" fmla="*/ 42 w 131"/>
              <a:gd name="T63" fmla="*/ 0 h 128"/>
              <a:gd name="T64" fmla="*/ 36 w 131"/>
              <a:gd name="T65" fmla="*/ 6 h 128"/>
              <a:gd name="T66" fmla="*/ 30 w 131"/>
              <a:gd name="T67" fmla="*/ 17 h 128"/>
              <a:gd name="T68" fmla="*/ 18 w 131"/>
              <a:gd name="T69" fmla="*/ 17 h 128"/>
              <a:gd name="T70" fmla="*/ 18 w 131"/>
              <a:gd name="T71" fmla="*/ 29 h 128"/>
              <a:gd name="T72" fmla="*/ 6 w 131"/>
              <a:gd name="T73" fmla="*/ 41 h 128"/>
              <a:gd name="T74" fmla="*/ 0 w 131"/>
              <a:gd name="T75" fmla="*/ 47 h 128"/>
              <a:gd name="T76" fmla="*/ 6 w 131"/>
              <a:gd name="T77" fmla="*/ 52 h 128"/>
              <a:gd name="T78" fmla="*/ 6 w 131"/>
              <a:gd name="T79" fmla="*/ 70 h 128"/>
              <a:gd name="T80" fmla="*/ 0 w 131"/>
              <a:gd name="T81" fmla="*/ 76 h 128"/>
              <a:gd name="T82" fmla="*/ 12 w 131"/>
              <a:gd name="T83" fmla="*/ 81 h 1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1"/>
              <a:gd name="T127" fmla="*/ 0 h 128"/>
              <a:gd name="T128" fmla="*/ 131 w 131"/>
              <a:gd name="T129" fmla="*/ 128 h 1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1" h="128">
                <a:moveTo>
                  <a:pt x="18" y="93"/>
                </a:moveTo>
                <a:lnTo>
                  <a:pt x="12" y="93"/>
                </a:lnTo>
                <a:lnTo>
                  <a:pt x="12" y="99"/>
                </a:lnTo>
                <a:lnTo>
                  <a:pt x="12" y="105"/>
                </a:lnTo>
                <a:lnTo>
                  <a:pt x="18" y="105"/>
                </a:lnTo>
                <a:lnTo>
                  <a:pt x="18" y="110"/>
                </a:lnTo>
                <a:lnTo>
                  <a:pt x="18" y="105"/>
                </a:lnTo>
                <a:lnTo>
                  <a:pt x="24" y="105"/>
                </a:lnTo>
                <a:lnTo>
                  <a:pt x="36" y="110"/>
                </a:lnTo>
                <a:lnTo>
                  <a:pt x="36" y="116"/>
                </a:lnTo>
                <a:lnTo>
                  <a:pt x="30" y="116"/>
                </a:lnTo>
                <a:lnTo>
                  <a:pt x="36" y="122"/>
                </a:lnTo>
                <a:lnTo>
                  <a:pt x="42" y="122"/>
                </a:lnTo>
                <a:lnTo>
                  <a:pt x="48" y="116"/>
                </a:lnTo>
                <a:lnTo>
                  <a:pt x="60" y="116"/>
                </a:lnTo>
                <a:lnTo>
                  <a:pt x="60" y="122"/>
                </a:lnTo>
                <a:lnTo>
                  <a:pt x="60" y="128"/>
                </a:lnTo>
                <a:lnTo>
                  <a:pt x="66" y="128"/>
                </a:lnTo>
                <a:lnTo>
                  <a:pt x="72" y="128"/>
                </a:lnTo>
                <a:lnTo>
                  <a:pt x="78" y="128"/>
                </a:lnTo>
                <a:lnTo>
                  <a:pt x="78" y="122"/>
                </a:lnTo>
                <a:lnTo>
                  <a:pt x="78" y="116"/>
                </a:lnTo>
                <a:lnTo>
                  <a:pt x="90" y="116"/>
                </a:lnTo>
                <a:lnTo>
                  <a:pt x="96" y="122"/>
                </a:lnTo>
                <a:lnTo>
                  <a:pt x="102" y="122"/>
                </a:lnTo>
                <a:lnTo>
                  <a:pt x="102" y="116"/>
                </a:lnTo>
                <a:lnTo>
                  <a:pt x="102" y="110"/>
                </a:lnTo>
                <a:lnTo>
                  <a:pt x="102" y="105"/>
                </a:lnTo>
                <a:lnTo>
                  <a:pt x="107" y="99"/>
                </a:lnTo>
                <a:lnTo>
                  <a:pt x="113" y="99"/>
                </a:lnTo>
                <a:lnTo>
                  <a:pt x="119" y="99"/>
                </a:lnTo>
                <a:lnTo>
                  <a:pt x="125" y="93"/>
                </a:lnTo>
                <a:lnTo>
                  <a:pt x="125" y="87"/>
                </a:lnTo>
                <a:lnTo>
                  <a:pt x="119" y="87"/>
                </a:lnTo>
                <a:lnTo>
                  <a:pt x="119" y="76"/>
                </a:lnTo>
                <a:lnTo>
                  <a:pt x="125" y="76"/>
                </a:lnTo>
                <a:lnTo>
                  <a:pt x="131" y="70"/>
                </a:lnTo>
                <a:lnTo>
                  <a:pt x="131" y="64"/>
                </a:lnTo>
                <a:lnTo>
                  <a:pt x="131" y="58"/>
                </a:lnTo>
                <a:lnTo>
                  <a:pt x="125" y="58"/>
                </a:lnTo>
                <a:lnTo>
                  <a:pt x="119" y="58"/>
                </a:lnTo>
                <a:lnTo>
                  <a:pt x="119" y="47"/>
                </a:lnTo>
                <a:lnTo>
                  <a:pt x="125" y="47"/>
                </a:lnTo>
                <a:lnTo>
                  <a:pt x="125" y="41"/>
                </a:lnTo>
                <a:lnTo>
                  <a:pt x="125" y="35"/>
                </a:lnTo>
                <a:lnTo>
                  <a:pt x="119" y="29"/>
                </a:lnTo>
                <a:lnTo>
                  <a:pt x="119" y="35"/>
                </a:lnTo>
                <a:lnTo>
                  <a:pt x="113" y="35"/>
                </a:lnTo>
                <a:lnTo>
                  <a:pt x="107" y="23"/>
                </a:lnTo>
                <a:lnTo>
                  <a:pt x="107" y="17"/>
                </a:lnTo>
                <a:lnTo>
                  <a:pt x="107" y="12"/>
                </a:lnTo>
                <a:lnTo>
                  <a:pt x="102" y="12"/>
                </a:lnTo>
                <a:lnTo>
                  <a:pt x="96" y="12"/>
                </a:lnTo>
                <a:lnTo>
                  <a:pt x="96" y="17"/>
                </a:lnTo>
                <a:lnTo>
                  <a:pt x="84" y="12"/>
                </a:lnTo>
                <a:lnTo>
                  <a:pt x="84" y="6"/>
                </a:lnTo>
                <a:lnTo>
                  <a:pt x="84" y="0"/>
                </a:lnTo>
                <a:lnTo>
                  <a:pt x="78" y="0"/>
                </a:lnTo>
                <a:lnTo>
                  <a:pt x="72" y="0"/>
                </a:lnTo>
                <a:lnTo>
                  <a:pt x="66" y="6"/>
                </a:lnTo>
                <a:lnTo>
                  <a:pt x="54" y="12"/>
                </a:lnTo>
                <a:lnTo>
                  <a:pt x="54" y="6"/>
                </a:lnTo>
                <a:lnTo>
                  <a:pt x="48" y="0"/>
                </a:lnTo>
                <a:lnTo>
                  <a:pt x="42" y="0"/>
                </a:lnTo>
                <a:lnTo>
                  <a:pt x="42" y="6"/>
                </a:lnTo>
                <a:lnTo>
                  <a:pt x="36" y="6"/>
                </a:lnTo>
                <a:lnTo>
                  <a:pt x="42" y="12"/>
                </a:lnTo>
                <a:lnTo>
                  <a:pt x="30" y="17"/>
                </a:lnTo>
                <a:lnTo>
                  <a:pt x="24" y="17"/>
                </a:lnTo>
                <a:lnTo>
                  <a:pt x="18" y="17"/>
                </a:lnTo>
                <a:lnTo>
                  <a:pt x="12" y="23"/>
                </a:lnTo>
                <a:lnTo>
                  <a:pt x="18" y="29"/>
                </a:lnTo>
                <a:lnTo>
                  <a:pt x="12" y="41"/>
                </a:lnTo>
                <a:lnTo>
                  <a:pt x="6" y="41"/>
                </a:lnTo>
                <a:lnTo>
                  <a:pt x="0" y="41"/>
                </a:lnTo>
                <a:lnTo>
                  <a:pt x="0" y="47"/>
                </a:lnTo>
                <a:lnTo>
                  <a:pt x="0" y="52"/>
                </a:lnTo>
                <a:lnTo>
                  <a:pt x="6" y="52"/>
                </a:lnTo>
                <a:lnTo>
                  <a:pt x="6" y="64"/>
                </a:lnTo>
                <a:lnTo>
                  <a:pt x="6" y="70"/>
                </a:lnTo>
                <a:lnTo>
                  <a:pt x="0" y="70"/>
                </a:lnTo>
                <a:lnTo>
                  <a:pt x="0" y="76"/>
                </a:lnTo>
                <a:lnTo>
                  <a:pt x="0" y="81"/>
                </a:lnTo>
                <a:lnTo>
                  <a:pt x="12" y="81"/>
                </a:lnTo>
                <a:lnTo>
                  <a:pt x="18" y="9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47" name="Freeform 295"/>
          <p:cNvSpPr>
            <a:spLocks/>
          </p:cNvSpPr>
          <p:nvPr/>
        </p:nvSpPr>
        <p:spPr bwMode="auto">
          <a:xfrm>
            <a:off x="7085013" y="4322763"/>
            <a:ext cx="227012" cy="222250"/>
          </a:xfrm>
          <a:custGeom>
            <a:avLst/>
            <a:gdLst>
              <a:gd name="T0" fmla="*/ 18 w 143"/>
              <a:gd name="T1" fmla="*/ 105 h 140"/>
              <a:gd name="T2" fmla="*/ 18 w 143"/>
              <a:gd name="T3" fmla="*/ 116 h 140"/>
              <a:gd name="T4" fmla="*/ 30 w 143"/>
              <a:gd name="T5" fmla="*/ 122 h 140"/>
              <a:gd name="T6" fmla="*/ 42 w 143"/>
              <a:gd name="T7" fmla="*/ 122 h 140"/>
              <a:gd name="T8" fmla="*/ 42 w 143"/>
              <a:gd name="T9" fmla="*/ 134 h 140"/>
              <a:gd name="T10" fmla="*/ 48 w 143"/>
              <a:gd name="T11" fmla="*/ 140 h 140"/>
              <a:gd name="T12" fmla="*/ 54 w 143"/>
              <a:gd name="T13" fmla="*/ 134 h 140"/>
              <a:gd name="T14" fmla="*/ 72 w 143"/>
              <a:gd name="T15" fmla="*/ 128 h 140"/>
              <a:gd name="T16" fmla="*/ 72 w 143"/>
              <a:gd name="T17" fmla="*/ 140 h 140"/>
              <a:gd name="T18" fmla="*/ 84 w 143"/>
              <a:gd name="T19" fmla="*/ 140 h 140"/>
              <a:gd name="T20" fmla="*/ 90 w 143"/>
              <a:gd name="T21" fmla="*/ 134 h 140"/>
              <a:gd name="T22" fmla="*/ 101 w 143"/>
              <a:gd name="T23" fmla="*/ 122 h 140"/>
              <a:gd name="T24" fmla="*/ 107 w 143"/>
              <a:gd name="T25" fmla="*/ 128 h 140"/>
              <a:gd name="T26" fmla="*/ 113 w 143"/>
              <a:gd name="T27" fmla="*/ 122 h 140"/>
              <a:gd name="T28" fmla="*/ 113 w 143"/>
              <a:gd name="T29" fmla="*/ 122 h 140"/>
              <a:gd name="T30" fmla="*/ 119 w 143"/>
              <a:gd name="T31" fmla="*/ 105 h 140"/>
              <a:gd name="T32" fmla="*/ 131 w 143"/>
              <a:gd name="T33" fmla="*/ 105 h 140"/>
              <a:gd name="T34" fmla="*/ 137 w 143"/>
              <a:gd name="T35" fmla="*/ 99 h 140"/>
              <a:gd name="T36" fmla="*/ 131 w 143"/>
              <a:gd name="T37" fmla="*/ 93 h 140"/>
              <a:gd name="T38" fmla="*/ 137 w 143"/>
              <a:gd name="T39" fmla="*/ 76 h 140"/>
              <a:gd name="T40" fmla="*/ 143 w 143"/>
              <a:gd name="T41" fmla="*/ 70 h 140"/>
              <a:gd name="T42" fmla="*/ 137 w 143"/>
              <a:gd name="T43" fmla="*/ 64 h 140"/>
              <a:gd name="T44" fmla="*/ 125 w 143"/>
              <a:gd name="T45" fmla="*/ 53 h 140"/>
              <a:gd name="T46" fmla="*/ 131 w 143"/>
              <a:gd name="T47" fmla="*/ 47 h 140"/>
              <a:gd name="T48" fmla="*/ 137 w 143"/>
              <a:gd name="T49" fmla="*/ 41 h 140"/>
              <a:gd name="T50" fmla="*/ 131 w 143"/>
              <a:gd name="T51" fmla="*/ 35 h 140"/>
              <a:gd name="T52" fmla="*/ 119 w 143"/>
              <a:gd name="T53" fmla="*/ 35 h 140"/>
              <a:gd name="T54" fmla="*/ 113 w 143"/>
              <a:gd name="T55" fmla="*/ 23 h 140"/>
              <a:gd name="T56" fmla="*/ 113 w 143"/>
              <a:gd name="T57" fmla="*/ 12 h 140"/>
              <a:gd name="T58" fmla="*/ 101 w 143"/>
              <a:gd name="T59" fmla="*/ 12 h 140"/>
              <a:gd name="T60" fmla="*/ 84 w 143"/>
              <a:gd name="T61" fmla="*/ 18 h 140"/>
              <a:gd name="T62" fmla="*/ 84 w 143"/>
              <a:gd name="T63" fmla="*/ 6 h 140"/>
              <a:gd name="T64" fmla="*/ 78 w 143"/>
              <a:gd name="T65" fmla="*/ 0 h 140"/>
              <a:gd name="T66" fmla="*/ 72 w 143"/>
              <a:gd name="T67" fmla="*/ 12 h 140"/>
              <a:gd name="T68" fmla="*/ 60 w 143"/>
              <a:gd name="T69" fmla="*/ 12 h 140"/>
              <a:gd name="T70" fmla="*/ 54 w 143"/>
              <a:gd name="T71" fmla="*/ 6 h 140"/>
              <a:gd name="T72" fmla="*/ 42 w 143"/>
              <a:gd name="T73" fmla="*/ 6 h 140"/>
              <a:gd name="T74" fmla="*/ 42 w 143"/>
              <a:gd name="T75" fmla="*/ 18 h 140"/>
              <a:gd name="T76" fmla="*/ 30 w 143"/>
              <a:gd name="T77" fmla="*/ 23 h 140"/>
              <a:gd name="T78" fmla="*/ 18 w 143"/>
              <a:gd name="T79" fmla="*/ 23 h 140"/>
              <a:gd name="T80" fmla="*/ 18 w 143"/>
              <a:gd name="T81" fmla="*/ 35 h 140"/>
              <a:gd name="T82" fmla="*/ 18 w 143"/>
              <a:gd name="T83" fmla="*/ 53 h 140"/>
              <a:gd name="T84" fmla="*/ 6 w 143"/>
              <a:gd name="T85" fmla="*/ 53 h 140"/>
              <a:gd name="T86" fmla="*/ 0 w 143"/>
              <a:gd name="T87" fmla="*/ 58 h 140"/>
              <a:gd name="T88" fmla="*/ 6 w 143"/>
              <a:gd name="T89" fmla="*/ 64 h 140"/>
              <a:gd name="T90" fmla="*/ 12 w 143"/>
              <a:gd name="T91" fmla="*/ 82 h 140"/>
              <a:gd name="T92" fmla="*/ 0 w 143"/>
              <a:gd name="T93" fmla="*/ 82 h 140"/>
              <a:gd name="T94" fmla="*/ 6 w 143"/>
              <a:gd name="T95" fmla="*/ 87 h 140"/>
              <a:gd name="T96" fmla="*/ 18 w 143"/>
              <a:gd name="T97" fmla="*/ 93 h 1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43"/>
              <a:gd name="T148" fmla="*/ 0 h 140"/>
              <a:gd name="T149" fmla="*/ 143 w 143"/>
              <a:gd name="T150" fmla="*/ 140 h 14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43" h="140">
                <a:moveTo>
                  <a:pt x="24" y="105"/>
                </a:moveTo>
                <a:lnTo>
                  <a:pt x="18" y="105"/>
                </a:lnTo>
                <a:lnTo>
                  <a:pt x="18" y="111"/>
                </a:lnTo>
                <a:lnTo>
                  <a:pt x="18" y="116"/>
                </a:lnTo>
                <a:lnTo>
                  <a:pt x="24" y="122"/>
                </a:lnTo>
                <a:lnTo>
                  <a:pt x="30" y="122"/>
                </a:lnTo>
                <a:lnTo>
                  <a:pt x="36" y="116"/>
                </a:lnTo>
                <a:lnTo>
                  <a:pt x="42" y="122"/>
                </a:lnTo>
                <a:lnTo>
                  <a:pt x="42" y="128"/>
                </a:lnTo>
                <a:lnTo>
                  <a:pt x="42" y="134"/>
                </a:lnTo>
                <a:lnTo>
                  <a:pt x="48" y="134"/>
                </a:lnTo>
                <a:lnTo>
                  <a:pt x="48" y="140"/>
                </a:lnTo>
                <a:lnTo>
                  <a:pt x="54" y="140"/>
                </a:lnTo>
                <a:lnTo>
                  <a:pt x="54" y="134"/>
                </a:lnTo>
                <a:lnTo>
                  <a:pt x="60" y="128"/>
                </a:lnTo>
                <a:lnTo>
                  <a:pt x="72" y="128"/>
                </a:lnTo>
                <a:lnTo>
                  <a:pt x="72" y="134"/>
                </a:lnTo>
                <a:lnTo>
                  <a:pt x="72" y="140"/>
                </a:lnTo>
                <a:lnTo>
                  <a:pt x="78" y="140"/>
                </a:lnTo>
                <a:lnTo>
                  <a:pt x="84" y="140"/>
                </a:lnTo>
                <a:lnTo>
                  <a:pt x="90" y="140"/>
                </a:lnTo>
                <a:lnTo>
                  <a:pt x="90" y="134"/>
                </a:lnTo>
                <a:lnTo>
                  <a:pt x="90" y="128"/>
                </a:lnTo>
                <a:lnTo>
                  <a:pt x="101" y="122"/>
                </a:lnTo>
                <a:lnTo>
                  <a:pt x="101" y="128"/>
                </a:lnTo>
                <a:lnTo>
                  <a:pt x="107" y="128"/>
                </a:lnTo>
                <a:lnTo>
                  <a:pt x="113" y="128"/>
                </a:lnTo>
                <a:lnTo>
                  <a:pt x="113" y="122"/>
                </a:lnTo>
                <a:lnTo>
                  <a:pt x="119" y="122"/>
                </a:lnTo>
                <a:lnTo>
                  <a:pt x="113" y="122"/>
                </a:lnTo>
                <a:lnTo>
                  <a:pt x="113" y="116"/>
                </a:lnTo>
                <a:lnTo>
                  <a:pt x="119" y="105"/>
                </a:lnTo>
                <a:lnTo>
                  <a:pt x="125" y="105"/>
                </a:lnTo>
                <a:lnTo>
                  <a:pt x="131" y="105"/>
                </a:lnTo>
                <a:lnTo>
                  <a:pt x="137" y="105"/>
                </a:lnTo>
                <a:lnTo>
                  <a:pt x="137" y="99"/>
                </a:lnTo>
                <a:lnTo>
                  <a:pt x="137" y="93"/>
                </a:lnTo>
                <a:lnTo>
                  <a:pt x="131" y="93"/>
                </a:lnTo>
                <a:lnTo>
                  <a:pt x="131" y="76"/>
                </a:lnTo>
                <a:lnTo>
                  <a:pt x="137" y="76"/>
                </a:lnTo>
                <a:lnTo>
                  <a:pt x="143" y="76"/>
                </a:lnTo>
                <a:lnTo>
                  <a:pt x="143" y="70"/>
                </a:lnTo>
                <a:lnTo>
                  <a:pt x="143" y="64"/>
                </a:lnTo>
                <a:lnTo>
                  <a:pt x="137" y="64"/>
                </a:lnTo>
                <a:lnTo>
                  <a:pt x="131" y="64"/>
                </a:lnTo>
                <a:lnTo>
                  <a:pt x="125" y="53"/>
                </a:lnTo>
                <a:lnTo>
                  <a:pt x="131" y="53"/>
                </a:lnTo>
                <a:lnTo>
                  <a:pt x="131" y="47"/>
                </a:lnTo>
                <a:lnTo>
                  <a:pt x="137" y="47"/>
                </a:lnTo>
                <a:lnTo>
                  <a:pt x="137" y="41"/>
                </a:lnTo>
                <a:lnTo>
                  <a:pt x="131" y="41"/>
                </a:lnTo>
                <a:lnTo>
                  <a:pt x="131" y="35"/>
                </a:lnTo>
                <a:lnTo>
                  <a:pt x="125" y="35"/>
                </a:lnTo>
                <a:lnTo>
                  <a:pt x="119" y="35"/>
                </a:lnTo>
                <a:lnTo>
                  <a:pt x="113" y="29"/>
                </a:lnTo>
                <a:lnTo>
                  <a:pt x="113" y="23"/>
                </a:lnTo>
                <a:lnTo>
                  <a:pt x="113" y="18"/>
                </a:lnTo>
                <a:lnTo>
                  <a:pt x="113" y="12"/>
                </a:lnTo>
                <a:lnTo>
                  <a:pt x="107" y="12"/>
                </a:lnTo>
                <a:lnTo>
                  <a:pt x="101" y="12"/>
                </a:lnTo>
                <a:lnTo>
                  <a:pt x="101" y="18"/>
                </a:lnTo>
                <a:lnTo>
                  <a:pt x="84" y="18"/>
                </a:lnTo>
                <a:lnTo>
                  <a:pt x="84" y="12"/>
                </a:lnTo>
                <a:lnTo>
                  <a:pt x="84" y="6"/>
                </a:lnTo>
                <a:lnTo>
                  <a:pt x="78" y="6"/>
                </a:lnTo>
                <a:lnTo>
                  <a:pt x="78" y="0"/>
                </a:lnTo>
                <a:lnTo>
                  <a:pt x="72" y="6"/>
                </a:lnTo>
                <a:lnTo>
                  <a:pt x="72" y="12"/>
                </a:lnTo>
                <a:lnTo>
                  <a:pt x="60" y="18"/>
                </a:lnTo>
                <a:lnTo>
                  <a:pt x="60" y="12"/>
                </a:lnTo>
                <a:lnTo>
                  <a:pt x="54" y="12"/>
                </a:lnTo>
                <a:lnTo>
                  <a:pt x="54" y="6"/>
                </a:lnTo>
                <a:lnTo>
                  <a:pt x="48" y="6"/>
                </a:lnTo>
                <a:lnTo>
                  <a:pt x="42" y="6"/>
                </a:lnTo>
                <a:lnTo>
                  <a:pt x="42" y="12"/>
                </a:lnTo>
                <a:lnTo>
                  <a:pt x="42" y="18"/>
                </a:lnTo>
                <a:lnTo>
                  <a:pt x="30" y="29"/>
                </a:lnTo>
                <a:lnTo>
                  <a:pt x="30" y="23"/>
                </a:lnTo>
                <a:lnTo>
                  <a:pt x="24" y="23"/>
                </a:lnTo>
                <a:lnTo>
                  <a:pt x="18" y="23"/>
                </a:lnTo>
                <a:lnTo>
                  <a:pt x="18" y="29"/>
                </a:lnTo>
                <a:lnTo>
                  <a:pt x="18" y="35"/>
                </a:lnTo>
                <a:lnTo>
                  <a:pt x="24" y="41"/>
                </a:lnTo>
                <a:lnTo>
                  <a:pt x="18" y="53"/>
                </a:lnTo>
                <a:lnTo>
                  <a:pt x="12" y="53"/>
                </a:lnTo>
                <a:lnTo>
                  <a:pt x="6" y="53"/>
                </a:lnTo>
                <a:lnTo>
                  <a:pt x="0" y="53"/>
                </a:lnTo>
                <a:lnTo>
                  <a:pt x="0" y="58"/>
                </a:lnTo>
                <a:lnTo>
                  <a:pt x="0" y="64"/>
                </a:lnTo>
                <a:lnTo>
                  <a:pt x="6" y="64"/>
                </a:lnTo>
                <a:lnTo>
                  <a:pt x="12" y="64"/>
                </a:lnTo>
                <a:lnTo>
                  <a:pt x="12" y="82"/>
                </a:lnTo>
                <a:lnTo>
                  <a:pt x="6" y="82"/>
                </a:lnTo>
                <a:lnTo>
                  <a:pt x="0" y="82"/>
                </a:lnTo>
                <a:lnTo>
                  <a:pt x="0" y="87"/>
                </a:lnTo>
                <a:lnTo>
                  <a:pt x="6" y="87"/>
                </a:lnTo>
                <a:lnTo>
                  <a:pt x="6" y="93"/>
                </a:lnTo>
                <a:lnTo>
                  <a:pt x="18" y="93"/>
                </a:lnTo>
                <a:lnTo>
                  <a:pt x="24" y="105"/>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48" name="Freeform 296"/>
          <p:cNvSpPr>
            <a:spLocks/>
          </p:cNvSpPr>
          <p:nvPr/>
        </p:nvSpPr>
        <p:spPr bwMode="auto">
          <a:xfrm>
            <a:off x="7085013" y="4322763"/>
            <a:ext cx="227012" cy="222250"/>
          </a:xfrm>
          <a:custGeom>
            <a:avLst/>
            <a:gdLst>
              <a:gd name="T0" fmla="*/ 18 w 143"/>
              <a:gd name="T1" fmla="*/ 105 h 140"/>
              <a:gd name="T2" fmla="*/ 18 w 143"/>
              <a:gd name="T3" fmla="*/ 116 h 140"/>
              <a:gd name="T4" fmla="*/ 30 w 143"/>
              <a:gd name="T5" fmla="*/ 122 h 140"/>
              <a:gd name="T6" fmla="*/ 42 w 143"/>
              <a:gd name="T7" fmla="*/ 122 h 140"/>
              <a:gd name="T8" fmla="*/ 42 w 143"/>
              <a:gd name="T9" fmla="*/ 134 h 140"/>
              <a:gd name="T10" fmla="*/ 54 w 143"/>
              <a:gd name="T11" fmla="*/ 140 h 140"/>
              <a:gd name="T12" fmla="*/ 60 w 143"/>
              <a:gd name="T13" fmla="*/ 128 h 140"/>
              <a:gd name="T14" fmla="*/ 72 w 143"/>
              <a:gd name="T15" fmla="*/ 134 h 140"/>
              <a:gd name="T16" fmla="*/ 84 w 143"/>
              <a:gd name="T17" fmla="*/ 140 h 140"/>
              <a:gd name="T18" fmla="*/ 90 w 143"/>
              <a:gd name="T19" fmla="*/ 134 h 140"/>
              <a:gd name="T20" fmla="*/ 101 w 143"/>
              <a:gd name="T21" fmla="*/ 122 h 140"/>
              <a:gd name="T22" fmla="*/ 107 w 143"/>
              <a:gd name="T23" fmla="*/ 128 h 140"/>
              <a:gd name="T24" fmla="*/ 119 w 143"/>
              <a:gd name="T25" fmla="*/ 122 h 140"/>
              <a:gd name="T26" fmla="*/ 113 w 143"/>
              <a:gd name="T27" fmla="*/ 116 h 140"/>
              <a:gd name="T28" fmla="*/ 125 w 143"/>
              <a:gd name="T29" fmla="*/ 105 h 140"/>
              <a:gd name="T30" fmla="*/ 137 w 143"/>
              <a:gd name="T31" fmla="*/ 105 h 140"/>
              <a:gd name="T32" fmla="*/ 137 w 143"/>
              <a:gd name="T33" fmla="*/ 93 h 140"/>
              <a:gd name="T34" fmla="*/ 131 w 143"/>
              <a:gd name="T35" fmla="*/ 76 h 140"/>
              <a:gd name="T36" fmla="*/ 143 w 143"/>
              <a:gd name="T37" fmla="*/ 76 h 140"/>
              <a:gd name="T38" fmla="*/ 143 w 143"/>
              <a:gd name="T39" fmla="*/ 64 h 140"/>
              <a:gd name="T40" fmla="*/ 131 w 143"/>
              <a:gd name="T41" fmla="*/ 64 h 140"/>
              <a:gd name="T42" fmla="*/ 131 w 143"/>
              <a:gd name="T43" fmla="*/ 53 h 140"/>
              <a:gd name="T44" fmla="*/ 137 w 143"/>
              <a:gd name="T45" fmla="*/ 47 h 140"/>
              <a:gd name="T46" fmla="*/ 131 w 143"/>
              <a:gd name="T47" fmla="*/ 35 h 140"/>
              <a:gd name="T48" fmla="*/ 119 w 143"/>
              <a:gd name="T49" fmla="*/ 35 h 140"/>
              <a:gd name="T50" fmla="*/ 113 w 143"/>
              <a:gd name="T51" fmla="*/ 23 h 140"/>
              <a:gd name="T52" fmla="*/ 113 w 143"/>
              <a:gd name="T53" fmla="*/ 12 h 140"/>
              <a:gd name="T54" fmla="*/ 101 w 143"/>
              <a:gd name="T55" fmla="*/ 12 h 140"/>
              <a:gd name="T56" fmla="*/ 84 w 143"/>
              <a:gd name="T57" fmla="*/ 18 h 140"/>
              <a:gd name="T58" fmla="*/ 84 w 143"/>
              <a:gd name="T59" fmla="*/ 6 h 140"/>
              <a:gd name="T60" fmla="*/ 72 w 143"/>
              <a:gd name="T61" fmla="*/ 6 h 140"/>
              <a:gd name="T62" fmla="*/ 60 w 143"/>
              <a:gd name="T63" fmla="*/ 18 h 140"/>
              <a:gd name="T64" fmla="*/ 54 w 143"/>
              <a:gd name="T65" fmla="*/ 12 h 140"/>
              <a:gd name="T66" fmla="*/ 48 w 143"/>
              <a:gd name="T67" fmla="*/ 6 h 140"/>
              <a:gd name="T68" fmla="*/ 42 w 143"/>
              <a:gd name="T69" fmla="*/ 12 h 140"/>
              <a:gd name="T70" fmla="*/ 30 w 143"/>
              <a:gd name="T71" fmla="*/ 29 h 140"/>
              <a:gd name="T72" fmla="*/ 24 w 143"/>
              <a:gd name="T73" fmla="*/ 23 h 140"/>
              <a:gd name="T74" fmla="*/ 18 w 143"/>
              <a:gd name="T75" fmla="*/ 29 h 140"/>
              <a:gd name="T76" fmla="*/ 24 w 143"/>
              <a:gd name="T77" fmla="*/ 41 h 140"/>
              <a:gd name="T78" fmla="*/ 12 w 143"/>
              <a:gd name="T79" fmla="*/ 53 h 140"/>
              <a:gd name="T80" fmla="*/ 0 w 143"/>
              <a:gd name="T81" fmla="*/ 53 h 140"/>
              <a:gd name="T82" fmla="*/ 6 w 143"/>
              <a:gd name="T83" fmla="*/ 64 h 140"/>
              <a:gd name="T84" fmla="*/ 12 w 143"/>
              <a:gd name="T85" fmla="*/ 82 h 140"/>
              <a:gd name="T86" fmla="*/ 0 w 143"/>
              <a:gd name="T87" fmla="*/ 87 h 140"/>
              <a:gd name="T88" fmla="*/ 6 w 143"/>
              <a:gd name="T89" fmla="*/ 93 h 140"/>
              <a:gd name="T90" fmla="*/ 24 w 143"/>
              <a:gd name="T91" fmla="*/ 105 h 1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3"/>
              <a:gd name="T139" fmla="*/ 0 h 140"/>
              <a:gd name="T140" fmla="*/ 143 w 143"/>
              <a:gd name="T141" fmla="*/ 140 h 14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3" h="140">
                <a:moveTo>
                  <a:pt x="24" y="105"/>
                </a:moveTo>
                <a:lnTo>
                  <a:pt x="18" y="105"/>
                </a:lnTo>
                <a:lnTo>
                  <a:pt x="18" y="111"/>
                </a:lnTo>
                <a:lnTo>
                  <a:pt x="18" y="116"/>
                </a:lnTo>
                <a:lnTo>
                  <a:pt x="24" y="122"/>
                </a:lnTo>
                <a:lnTo>
                  <a:pt x="30" y="122"/>
                </a:lnTo>
                <a:lnTo>
                  <a:pt x="36" y="116"/>
                </a:lnTo>
                <a:lnTo>
                  <a:pt x="42" y="122"/>
                </a:lnTo>
                <a:lnTo>
                  <a:pt x="42" y="128"/>
                </a:lnTo>
                <a:lnTo>
                  <a:pt x="42" y="134"/>
                </a:lnTo>
                <a:lnTo>
                  <a:pt x="48" y="134"/>
                </a:lnTo>
                <a:lnTo>
                  <a:pt x="54" y="140"/>
                </a:lnTo>
                <a:lnTo>
                  <a:pt x="54" y="134"/>
                </a:lnTo>
                <a:lnTo>
                  <a:pt x="60" y="128"/>
                </a:lnTo>
                <a:lnTo>
                  <a:pt x="72" y="128"/>
                </a:lnTo>
                <a:lnTo>
                  <a:pt x="72" y="134"/>
                </a:lnTo>
                <a:lnTo>
                  <a:pt x="78" y="140"/>
                </a:lnTo>
                <a:lnTo>
                  <a:pt x="84" y="140"/>
                </a:lnTo>
                <a:lnTo>
                  <a:pt x="90" y="140"/>
                </a:lnTo>
                <a:lnTo>
                  <a:pt x="90" y="134"/>
                </a:lnTo>
                <a:lnTo>
                  <a:pt x="90" y="128"/>
                </a:lnTo>
                <a:lnTo>
                  <a:pt x="101" y="122"/>
                </a:lnTo>
                <a:lnTo>
                  <a:pt x="101" y="128"/>
                </a:lnTo>
                <a:lnTo>
                  <a:pt x="107" y="128"/>
                </a:lnTo>
                <a:lnTo>
                  <a:pt x="113" y="128"/>
                </a:lnTo>
                <a:lnTo>
                  <a:pt x="119" y="122"/>
                </a:lnTo>
                <a:lnTo>
                  <a:pt x="113" y="122"/>
                </a:lnTo>
                <a:lnTo>
                  <a:pt x="113" y="116"/>
                </a:lnTo>
                <a:lnTo>
                  <a:pt x="119" y="105"/>
                </a:lnTo>
                <a:lnTo>
                  <a:pt x="125" y="105"/>
                </a:lnTo>
                <a:lnTo>
                  <a:pt x="131" y="105"/>
                </a:lnTo>
                <a:lnTo>
                  <a:pt x="137" y="105"/>
                </a:lnTo>
                <a:lnTo>
                  <a:pt x="137" y="99"/>
                </a:lnTo>
                <a:lnTo>
                  <a:pt x="137" y="93"/>
                </a:lnTo>
                <a:lnTo>
                  <a:pt x="131" y="93"/>
                </a:lnTo>
                <a:lnTo>
                  <a:pt x="131" y="76"/>
                </a:lnTo>
                <a:lnTo>
                  <a:pt x="137" y="76"/>
                </a:lnTo>
                <a:lnTo>
                  <a:pt x="143" y="76"/>
                </a:lnTo>
                <a:lnTo>
                  <a:pt x="143" y="70"/>
                </a:lnTo>
                <a:lnTo>
                  <a:pt x="143" y="64"/>
                </a:lnTo>
                <a:lnTo>
                  <a:pt x="137" y="64"/>
                </a:lnTo>
                <a:lnTo>
                  <a:pt x="131" y="64"/>
                </a:lnTo>
                <a:lnTo>
                  <a:pt x="125" y="53"/>
                </a:lnTo>
                <a:lnTo>
                  <a:pt x="131" y="53"/>
                </a:lnTo>
                <a:lnTo>
                  <a:pt x="131" y="47"/>
                </a:lnTo>
                <a:lnTo>
                  <a:pt x="137" y="47"/>
                </a:lnTo>
                <a:lnTo>
                  <a:pt x="137" y="41"/>
                </a:lnTo>
                <a:lnTo>
                  <a:pt x="131" y="35"/>
                </a:lnTo>
                <a:lnTo>
                  <a:pt x="125" y="35"/>
                </a:lnTo>
                <a:lnTo>
                  <a:pt x="119" y="35"/>
                </a:lnTo>
                <a:lnTo>
                  <a:pt x="113" y="29"/>
                </a:lnTo>
                <a:lnTo>
                  <a:pt x="113" y="23"/>
                </a:lnTo>
                <a:lnTo>
                  <a:pt x="113" y="18"/>
                </a:lnTo>
                <a:lnTo>
                  <a:pt x="113" y="12"/>
                </a:lnTo>
                <a:lnTo>
                  <a:pt x="107" y="12"/>
                </a:lnTo>
                <a:lnTo>
                  <a:pt x="101" y="12"/>
                </a:lnTo>
                <a:lnTo>
                  <a:pt x="101" y="18"/>
                </a:lnTo>
                <a:lnTo>
                  <a:pt x="84" y="18"/>
                </a:lnTo>
                <a:lnTo>
                  <a:pt x="84" y="12"/>
                </a:lnTo>
                <a:lnTo>
                  <a:pt x="84" y="6"/>
                </a:lnTo>
                <a:lnTo>
                  <a:pt x="78" y="0"/>
                </a:lnTo>
                <a:lnTo>
                  <a:pt x="72" y="6"/>
                </a:lnTo>
                <a:lnTo>
                  <a:pt x="72" y="12"/>
                </a:lnTo>
                <a:lnTo>
                  <a:pt x="60" y="18"/>
                </a:lnTo>
                <a:lnTo>
                  <a:pt x="60" y="12"/>
                </a:lnTo>
                <a:lnTo>
                  <a:pt x="54" y="12"/>
                </a:lnTo>
                <a:lnTo>
                  <a:pt x="54" y="6"/>
                </a:lnTo>
                <a:lnTo>
                  <a:pt x="48" y="6"/>
                </a:lnTo>
                <a:lnTo>
                  <a:pt x="42" y="6"/>
                </a:lnTo>
                <a:lnTo>
                  <a:pt x="42" y="12"/>
                </a:lnTo>
                <a:lnTo>
                  <a:pt x="42" y="18"/>
                </a:lnTo>
                <a:lnTo>
                  <a:pt x="30" y="29"/>
                </a:lnTo>
                <a:lnTo>
                  <a:pt x="30" y="23"/>
                </a:lnTo>
                <a:lnTo>
                  <a:pt x="24" y="23"/>
                </a:lnTo>
                <a:lnTo>
                  <a:pt x="18" y="23"/>
                </a:lnTo>
                <a:lnTo>
                  <a:pt x="18" y="29"/>
                </a:lnTo>
                <a:lnTo>
                  <a:pt x="18" y="35"/>
                </a:lnTo>
                <a:lnTo>
                  <a:pt x="24" y="41"/>
                </a:lnTo>
                <a:lnTo>
                  <a:pt x="18" y="53"/>
                </a:lnTo>
                <a:lnTo>
                  <a:pt x="12" y="53"/>
                </a:lnTo>
                <a:lnTo>
                  <a:pt x="6" y="53"/>
                </a:lnTo>
                <a:lnTo>
                  <a:pt x="0" y="53"/>
                </a:lnTo>
                <a:lnTo>
                  <a:pt x="0" y="58"/>
                </a:lnTo>
                <a:lnTo>
                  <a:pt x="6" y="64"/>
                </a:lnTo>
                <a:lnTo>
                  <a:pt x="12" y="64"/>
                </a:lnTo>
                <a:lnTo>
                  <a:pt x="12" y="82"/>
                </a:lnTo>
                <a:lnTo>
                  <a:pt x="6" y="82"/>
                </a:lnTo>
                <a:lnTo>
                  <a:pt x="0" y="87"/>
                </a:lnTo>
                <a:lnTo>
                  <a:pt x="6" y="87"/>
                </a:lnTo>
                <a:lnTo>
                  <a:pt x="6" y="93"/>
                </a:lnTo>
                <a:lnTo>
                  <a:pt x="18" y="93"/>
                </a:lnTo>
                <a:lnTo>
                  <a:pt x="24" y="10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49" name="Freeform 297"/>
          <p:cNvSpPr>
            <a:spLocks/>
          </p:cNvSpPr>
          <p:nvPr/>
        </p:nvSpPr>
        <p:spPr bwMode="auto">
          <a:xfrm>
            <a:off x="7378700" y="4305300"/>
            <a:ext cx="85725" cy="128588"/>
          </a:xfrm>
          <a:custGeom>
            <a:avLst/>
            <a:gdLst>
              <a:gd name="T0" fmla="*/ 36 w 54"/>
              <a:gd name="T1" fmla="*/ 0 h 81"/>
              <a:gd name="T2" fmla="*/ 42 w 54"/>
              <a:gd name="T3" fmla="*/ 5 h 81"/>
              <a:gd name="T4" fmla="*/ 48 w 54"/>
              <a:gd name="T5" fmla="*/ 5 h 81"/>
              <a:gd name="T6" fmla="*/ 48 w 54"/>
              <a:gd name="T7" fmla="*/ 11 h 81"/>
              <a:gd name="T8" fmla="*/ 54 w 54"/>
              <a:gd name="T9" fmla="*/ 17 h 81"/>
              <a:gd name="T10" fmla="*/ 54 w 54"/>
              <a:gd name="T11" fmla="*/ 23 h 81"/>
              <a:gd name="T12" fmla="*/ 54 w 54"/>
              <a:gd name="T13" fmla="*/ 29 h 81"/>
              <a:gd name="T14" fmla="*/ 54 w 54"/>
              <a:gd name="T15" fmla="*/ 34 h 81"/>
              <a:gd name="T16" fmla="*/ 54 w 54"/>
              <a:gd name="T17" fmla="*/ 40 h 81"/>
              <a:gd name="T18" fmla="*/ 54 w 54"/>
              <a:gd name="T19" fmla="*/ 46 h 81"/>
              <a:gd name="T20" fmla="*/ 54 w 54"/>
              <a:gd name="T21" fmla="*/ 52 h 81"/>
              <a:gd name="T22" fmla="*/ 54 w 54"/>
              <a:gd name="T23" fmla="*/ 58 h 81"/>
              <a:gd name="T24" fmla="*/ 48 w 54"/>
              <a:gd name="T25" fmla="*/ 58 h 81"/>
              <a:gd name="T26" fmla="*/ 48 w 54"/>
              <a:gd name="T27" fmla="*/ 64 h 81"/>
              <a:gd name="T28" fmla="*/ 48 w 54"/>
              <a:gd name="T29" fmla="*/ 69 h 81"/>
              <a:gd name="T30" fmla="*/ 42 w 54"/>
              <a:gd name="T31" fmla="*/ 69 h 81"/>
              <a:gd name="T32" fmla="*/ 42 w 54"/>
              <a:gd name="T33" fmla="*/ 75 h 81"/>
              <a:gd name="T34" fmla="*/ 36 w 54"/>
              <a:gd name="T35" fmla="*/ 75 h 81"/>
              <a:gd name="T36" fmla="*/ 30 w 54"/>
              <a:gd name="T37" fmla="*/ 75 h 81"/>
              <a:gd name="T38" fmla="*/ 30 w 54"/>
              <a:gd name="T39" fmla="*/ 81 h 81"/>
              <a:gd name="T40" fmla="*/ 24 w 54"/>
              <a:gd name="T41" fmla="*/ 81 h 81"/>
              <a:gd name="T42" fmla="*/ 18 w 54"/>
              <a:gd name="T43" fmla="*/ 81 h 81"/>
              <a:gd name="T44" fmla="*/ 12 w 54"/>
              <a:gd name="T45" fmla="*/ 81 h 81"/>
              <a:gd name="T46" fmla="*/ 12 w 54"/>
              <a:gd name="T47" fmla="*/ 75 h 81"/>
              <a:gd name="T48" fmla="*/ 6 w 54"/>
              <a:gd name="T49" fmla="*/ 75 h 81"/>
              <a:gd name="T50" fmla="*/ 6 w 54"/>
              <a:gd name="T51" fmla="*/ 69 h 81"/>
              <a:gd name="T52" fmla="*/ 0 w 54"/>
              <a:gd name="T53" fmla="*/ 64 h 81"/>
              <a:gd name="T54" fmla="*/ 0 w 54"/>
              <a:gd name="T55" fmla="*/ 58 h 81"/>
              <a:gd name="T56" fmla="*/ 0 w 54"/>
              <a:gd name="T57" fmla="*/ 52 h 81"/>
              <a:gd name="T58" fmla="*/ 0 w 54"/>
              <a:gd name="T59" fmla="*/ 46 h 81"/>
              <a:gd name="T60" fmla="*/ 0 w 54"/>
              <a:gd name="T61" fmla="*/ 40 h 81"/>
              <a:gd name="T62" fmla="*/ 0 w 54"/>
              <a:gd name="T63" fmla="*/ 34 h 81"/>
              <a:gd name="T64" fmla="*/ 0 w 54"/>
              <a:gd name="T65" fmla="*/ 29 h 81"/>
              <a:gd name="T66" fmla="*/ 0 w 54"/>
              <a:gd name="T67" fmla="*/ 23 h 81"/>
              <a:gd name="T68" fmla="*/ 6 w 54"/>
              <a:gd name="T69" fmla="*/ 23 h 81"/>
              <a:gd name="T70" fmla="*/ 6 w 54"/>
              <a:gd name="T71" fmla="*/ 17 h 81"/>
              <a:gd name="T72" fmla="*/ 12 w 54"/>
              <a:gd name="T73" fmla="*/ 11 h 81"/>
              <a:gd name="T74" fmla="*/ 12 w 54"/>
              <a:gd name="T75" fmla="*/ 5 h 81"/>
              <a:gd name="T76" fmla="*/ 18 w 54"/>
              <a:gd name="T77" fmla="*/ 5 h 81"/>
              <a:gd name="T78" fmla="*/ 24 w 54"/>
              <a:gd name="T79" fmla="*/ 5 h 81"/>
              <a:gd name="T80" fmla="*/ 24 w 54"/>
              <a:gd name="T81" fmla="*/ 0 h 81"/>
              <a:gd name="T82" fmla="*/ 30 w 54"/>
              <a:gd name="T83" fmla="*/ 0 h 81"/>
              <a:gd name="T84" fmla="*/ 36 w 54"/>
              <a:gd name="T85" fmla="*/ 0 h 8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4"/>
              <a:gd name="T130" fmla="*/ 0 h 81"/>
              <a:gd name="T131" fmla="*/ 54 w 54"/>
              <a:gd name="T132" fmla="*/ 81 h 8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4" h="81">
                <a:moveTo>
                  <a:pt x="36" y="0"/>
                </a:moveTo>
                <a:lnTo>
                  <a:pt x="42" y="5"/>
                </a:lnTo>
                <a:lnTo>
                  <a:pt x="48" y="5"/>
                </a:lnTo>
                <a:lnTo>
                  <a:pt x="48" y="11"/>
                </a:lnTo>
                <a:lnTo>
                  <a:pt x="54" y="17"/>
                </a:lnTo>
                <a:lnTo>
                  <a:pt x="54" y="23"/>
                </a:lnTo>
                <a:lnTo>
                  <a:pt x="54" y="29"/>
                </a:lnTo>
                <a:lnTo>
                  <a:pt x="54" y="34"/>
                </a:lnTo>
                <a:lnTo>
                  <a:pt x="54" y="40"/>
                </a:lnTo>
                <a:lnTo>
                  <a:pt x="54" y="46"/>
                </a:lnTo>
                <a:lnTo>
                  <a:pt x="54" y="52"/>
                </a:lnTo>
                <a:lnTo>
                  <a:pt x="54" y="58"/>
                </a:lnTo>
                <a:lnTo>
                  <a:pt x="48" y="58"/>
                </a:lnTo>
                <a:lnTo>
                  <a:pt x="48" y="64"/>
                </a:lnTo>
                <a:lnTo>
                  <a:pt x="48" y="69"/>
                </a:lnTo>
                <a:lnTo>
                  <a:pt x="42" y="69"/>
                </a:lnTo>
                <a:lnTo>
                  <a:pt x="42" y="75"/>
                </a:lnTo>
                <a:lnTo>
                  <a:pt x="36" y="75"/>
                </a:lnTo>
                <a:lnTo>
                  <a:pt x="30" y="75"/>
                </a:lnTo>
                <a:lnTo>
                  <a:pt x="30" y="81"/>
                </a:lnTo>
                <a:lnTo>
                  <a:pt x="24" y="81"/>
                </a:lnTo>
                <a:lnTo>
                  <a:pt x="18" y="81"/>
                </a:lnTo>
                <a:lnTo>
                  <a:pt x="12" y="81"/>
                </a:lnTo>
                <a:lnTo>
                  <a:pt x="12" y="75"/>
                </a:lnTo>
                <a:lnTo>
                  <a:pt x="6" y="75"/>
                </a:lnTo>
                <a:lnTo>
                  <a:pt x="6" y="69"/>
                </a:lnTo>
                <a:lnTo>
                  <a:pt x="0" y="64"/>
                </a:lnTo>
                <a:lnTo>
                  <a:pt x="0" y="58"/>
                </a:lnTo>
                <a:lnTo>
                  <a:pt x="0" y="52"/>
                </a:lnTo>
                <a:lnTo>
                  <a:pt x="0" y="46"/>
                </a:lnTo>
                <a:lnTo>
                  <a:pt x="0" y="40"/>
                </a:lnTo>
                <a:lnTo>
                  <a:pt x="0" y="34"/>
                </a:lnTo>
                <a:lnTo>
                  <a:pt x="0" y="29"/>
                </a:lnTo>
                <a:lnTo>
                  <a:pt x="0" y="23"/>
                </a:lnTo>
                <a:lnTo>
                  <a:pt x="6" y="23"/>
                </a:lnTo>
                <a:lnTo>
                  <a:pt x="6" y="17"/>
                </a:lnTo>
                <a:lnTo>
                  <a:pt x="12" y="11"/>
                </a:lnTo>
                <a:lnTo>
                  <a:pt x="12" y="5"/>
                </a:lnTo>
                <a:lnTo>
                  <a:pt x="18" y="5"/>
                </a:lnTo>
                <a:lnTo>
                  <a:pt x="24" y="5"/>
                </a:lnTo>
                <a:lnTo>
                  <a:pt x="24" y="0"/>
                </a:lnTo>
                <a:lnTo>
                  <a:pt x="30" y="0"/>
                </a:lnTo>
                <a:lnTo>
                  <a:pt x="36" y="0"/>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50" name="Freeform 298"/>
          <p:cNvSpPr>
            <a:spLocks/>
          </p:cNvSpPr>
          <p:nvPr/>
        </p:nvSpPr>
        <p:spPr bwMode="auto">
          <a:xfrm>
            <a:off x="7378700" y="4305300"/>
            <a:ext cx="85725" cy="128588"/>
          </a:xfrm>
          <a:custGeom>
            <a:avLst/>
            <a:gdLst>
              <a:gd name="T0" fmla="*/ 36 w 54"/>
              <a:gd name="T1" fmla="*/ 0 h 81"/>
              <a:gd name="T2" fmla="*/ 42 w 54"/>
              <a:gd name="T3" fmla="*/ 5 h 81"/>
              <a:gd name="T4" fmla="*/ 54 w 54"/>
              <a:gd name="T5" fmla="*/ 17 h 81"/>
              <a:gd name="T6" fmla="*/ 54 w 54"/>
              <a:gd name="T7" fmla="*/ 29 h 81"/>
              <a:gd name="T8" fmla="*/ 54 w 54"/>
              <a:gd name="T9" fmla="*/ 46 h 81"/>
              <a:gd name="T10" fmla="*/ 48 w 54"/>
              <a:gd name="T11" fmla="*/ 58 h 81"/>
              <a:gd name="T12" fmla="*/ 42 w 54"/>
              <a:gd name="T13" fmla="*/ 69 h 81"/>
              <a:gd name="T14" fmla="*/ 30 w 54"/>
              <a:gd name="T15" fmla="*/ 81 h 81"/>
              <a:gd name="T16" fmla="*/ 18 w 54"/>
              <a:gd name="T17" fmla="*/ 81 h 81"/>
              <a:gd name="T18" fmla="*/ 12 w 54"/>
              <a:gd name="T19" fmla="*/ 75 h 81"/>
              <a:gd name="T20" fmla="*/ 0 w 54"/>
              <a:gd name="T21" fmla="*/ 64 h 81"/>
              <a:gd name="T22" fmla="*/ 0 w 54"/>
              <a:gd name="T23" fmla="*/ 52 h 81"/>
              <a:gd name="T24" fmla="*/ 0 w 54"/>
              <a:gd name="T25" fmla="*/ 34 h 81"/>
              <a:gd name="T26" fmla="*/ 6 w 54"/>
              <a:gd name="T27" fmla="*/ 23 h 81"/>
              <a:gd name="T28" fmla="*/ 12 w 54"/>
              <a:gd name="T29" fmla="*/ 11 h 81"/>
              <a:gd name="T30" fmla="*/ 24 w 54"/>
              <a:gd name="T31" fmla="*/ 0 h 81"/>
              <a:gd name="T32" fmla="*/ 36 w 54"/>
              <a:gd name="T33" fmla="*/ 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81"/>
              <a:gd name="T53" fmla="*/ 54 w 54"/>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81">
                <a:moveTo>
                  <a:pt x="36" y="0"/>
                </a:moveTo>
                <a:lnTo>
                  <a:pt x="42" y="5"/>
                </a:lnTo>
                <a:lnTo>
                  <a:pt x="54" y="17"/>
                </a:lnTo>
                <a:lnTo>
                  <a:pt x="54" y="29"/>
                </a:lnTo>
                <a:lnTo>
                  <a:pt x="54" y="46"/>
                </a:lnTo>
                <a:lnTo>
                  <a:pt x="48" y="58"/>
                </a:lnTo>
                <a:lnTo>
                  <a:pt x="42" y="69"/>
                </a:lnTo>
                <a:lnTo>
                  <a:pt x="30" y="81"/>
                </a:lnTo>
                <a:lnTo>
                  <a:pt x="18" y="81"/>
                </a:lnTo>
                <a:lnTo>
                  <a:pt x="12" y="75"/>
                </a:lnTo>
                <a:lnTo>
                  <a:pt x="0" y="64"/>
                </a:lnTo>
                <a:lnTo>
                  <a:pt x="0" y="52"/>
                </a:lnTo>
                <a:lnTo>
                  <a:pt x="0" y="34"/>
                </a:lnTo>
                <a:lnTo>
                  <a:pt x="6" y="23"/>
                </a:lnTo>
                <a:lnTo>
                  <a:pt x="12" y="11"/>
                </a:lnTo>
                <a:lnTo>
                  <a:pt x="24" y="0"/>
                </a:lnTo>
                <a:lnTo>
                  <a:pt x="36"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51" name="Freeform 299"/>
          <p:cNvSpPr>
            <a:spLocks/>
          </p:cNvSpPr>
          <p:nvPr/>
        </p:nvSpPr>
        <p:spPr bwMode="auto">
          <a:xfrm>
            <a:off x="7397750" y="4332288"/>
            <a:ext cx="38100" cy="65087"/>
          </a:xfrm>
          <a:custGeom>
            <a:avLst/>
            <a:gdLst>
              <a:gd name="T0" fmla="*/ 18 w 24"/>
              <a:gd name="T1" fmla="*/ 0 h 41"/>
              <a:gd name="T2" fmla="*/ 24 w 24"/>
              <a:gd name="T3" fmla="*/ 0 h 41"/>
              <a:gd name="T4" fmla="*/ 24 w 24"/>
              <a:gd name="T5" fmla="*/ 6 h 41"/>
              <a:gd name="T6" fmla="*/ 24 w 24"/>
              <a:gd name="T7" fmla="*/ 12 h 41"/>
              <a:gd name="T8" fmla="*/ 24 w 24"/>
              <a:gd name="T9" fmla="*/ 17 h 41"/>
              <a:gd name="T10" fmla="*/ 24 w 24"/>
              <a:gd name="T11" fmla="*/ 23 h 41"/>
              <a:gd name="T12" fmla="*/ 24 w 24"/>
              <a:gd name="T13" fmla="*/ 29 h 41"/>
              <a:gd name="T14" fmla="*/ 24 w 24"/>
              <a:gd name="T15" fmla="*/ 35 h 41"/>
              <a:gd name="T16" fmla="*/ 18 w 24"/>
              <a:gd name="T17" fmla="*/ 35 h 41"/>
              <a:gd name="T18" fmla="*/ 18 w 24"/>
              <a:gd name="T19" fmla="*/ 41 h 41"/>
              <a:gd name="T20" fmla="*/ 12 w 24"/>
              <a:gd name="T21" fmla="*/ 41 h 41"/>
              <a:gd name="T22" fmla="*/ 6 w 24"/>
              <a:gd name="T23" fmla="*/ 41 h 41"/>
              <a:gd name="T24" fmla="*/ 6 w 24"/>
              <a:gd name="T25" fmla="*/ 35 h 41"/>
              <a:gd name="T26" fmla="*/ 0 w 24"/>
              <a:gd name="T27" fmla="*/ 35 h 41"/>
              <a:gd name="T28" fmla="*/ 0 w 24"/>
              <a:gd name="T29" fmla="*/ 29 h 41"/>
              <a:gd name="T30" fmla="*/ 0 w 24"/>
              <a:gd name="T31" fmla="*/ 23 h 41"/>
              <a:gd name="T32" fmla="*/ 0 w 24"/>
              <a:gd name="T33" fmla="*/ 17 h 41"/>
              <a:gd name="T34" fmla="*/ 6 w 24"/>
              <a:gd name="T35" fmla="*/ 17 h 41"/>
              <a:gd name="T36" fmla="*/ 6 w 24"/>
              <a:gd name="T37" fmla="*/ 12 h 41"/>
              <a:gd name="T38" fmla="*/ 6 w 24"/>
              <a:gd name="T39" fmla="*/ 6 h 41"/>
              <a:gd name="T40" fmla="*/ 12 w 24"/>
              <a:gd name="T41" fmla="*/ 6 h 41"/>
              <a:gd name="T42" fmla="*/ 12 w 24"/>
              <a:gd name="T43" fmla="*/ 0 h 41"/>
              <a:gd name="T44" fmla="*/ 18 w 24"/>
              <a:gd name="T45" fmla="*/ 0 h 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
              <a:gd name="T70" fmla="*/ 0 h 41"/>
              <a:gd name="T71" fmla="*/ 24 w 24"/>
              <a:gd name="T72" fmla="*/ 41 h 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 h="41">
                <a:moveTo>
                  <a:pt x="18" y="0"/>
                </a:moveTo>
                <a:lnTo>
                  <a:pt x="24" y="0"/>
                </a:lnTo>
                <a:lnTo>
                  <a:pt x="24" y="6"/>
                </a:lnTo>
                <a:lnTo>
                  <a:pt x="24" y="12"/>
                </a:lnTo>
                <a:lnTo>
                  <a:pt x="24" y="17"/>
                </a:lnTo>
                <a:lnTo>
                  <a:pt x="24" y="23"/>
                </a:lnTo>
                <a:lnTo>
                  <a:pt x="24" y="29"/>
                </a:lnTo>
                <a:lnTo>
                  <a:pt x="24" y="35"/>
                </a:lnTo>
                <a:lnTo>
                  <a:pt x="18" y="35"/>
                </a:lnTo>
                <a:lnTo>
                  <a:pt x="18" y="41"/>
                </a:lnTo>
                <a:lnTo>
                  <a:pt x="12" y="41"/>
                </a:lnTo>
                <a:lnTo>
                  <a:pt x="6" y="41"/>
                </a:lnTo>
                <a:lnTo>
                  <a:pt x="6" y="35"/>
                </a:lnTo>
                <a:lnTo>
                  <a:pt x="0" y="35"/>
                </a:lnTo>
                <a:lnTo>
                  <a:pt x="0" y="29"/>
                </a:lnTo>
                <a:lnTo>
                  <a:pt x="0" y="23"/>
                </a:lnTo>
                <a:lnTo>
                  <a:pt x="0" y="17"/>
                </a:lnTo>
                <a:lnTo>
                  <a:pt x="6" y="17"/>
                </a:lnTo>
                <a:lnTo>
                  <a:pt x="6" y="12"/>
                </a:lnTo>
                <a:lnTo>
                  <a:pt x="6" y="6"/>
                </a:lnTo>
                <a:lnTo>
                  <a:pt x="12" y="6"/>
                </a:lnTo>
                <a:lnTo>
                  <a:pt x="12" y="0"/>
                </a:lnTo>
                <a:lnTo>
                  <a:pt x="18"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52" name="Freeform 300"/>
          <p:cNvSpPr>
            <a:spLocks/>
          </p:cNvSpPr>
          <p:nvPr/>
        </p:nvSpPr>
        <p:spPr bwMode="auto">
          <a:xfrm>
            <a:off x="7397750" y="4332288"/>
            <a:ext cx="38100" cy="65087"/>
          </a:xfrm>
          <a:custGeom>
            <a:avLst/>
            <a:gdLst>
              <a:gd name="T0" fmla="*/ 18 w 24"/>
              <a:gd name="T1" fmla="*/ 0 h 41"/>
              <a:gd name="T2" fmla="*/ 24 w 24"/>
              <a:gd name="T3" fmla="*/ 0 h 41"/>
              <a:gd name="T4" fmla="*/ 24 w 24"/>
              <a:gd name="T5" fmla="*/ 6 h 41"/>
              <a:gd name="T6" fmla="*/ 24 w 24"/>
              <a:gd name="T7" fmla="*/ 12 h 41"/>
              <a:gd name="T8" fmla="*/ 24 w 24"/>
              <a:gd name="T9" fmla="*/ 23 h 41"/>
              <a:gd name="T10" fmla="*/ 24 w 24"/>
              <a:gd name="T11" fmla="*/ 29 h 41"/>
              <a:gd name="T12" fmla="*/ 18 w 24"/>
              <a:gd name="T13" fmla="*/ 35 h 41"/>
              <a:gd name="T14" fmla="*/ 12 w 24"/>
              <a:gd name="T15" fmla="*/ 41 h 41"/>
              <a:gd name="T16" fmla="*/ 6 w 24"/>
              <a:gd name="T17" fmla="*/ 41 h 41"/>
              <a:gd name="T18" fmla="*/ 0 w 24"/>
              <a:gd name="T19" fmla="*/ 35 h 41"/>
              <a:gd name="T20" fmla="*/ 0 w 24"/>
              <a:gd name="T21" fmla="*/ 29 h 41"/>
              <a:gd name="T22" fmla="*/ 0 w 24"/>
              <a:gd name="T23" fmla="*/ 17 h 41"/>
              <a:gd name="T24" fmla="*/ 6 w 24"/>
              <a:gd name="T25" fmla="*/ 12 h 41"/>
              <a:gd name="T26" fmla="*/ 6 w 24"/>
              <a:gd name="T27" fmla="*/ 6 h 41"/>
              <a:gd name="T28" fmla="*/ 12 w 24"/>
              <a:gd name="T29" fmla="*/ 0 h 41"/>
              <a:gd name="T30" fmla="*/ 18 w 24"/>
              <a:gd name="T31" fmla="*/ 0 h 4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41"/>
              <a:gd name="T50" fmla="*/ 24 w 24"/>
              <a:gd name="T51" fmla="*/ 41 h 4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41">
                <a:moveTo>
                  <a:pt x="18" y="0"/>
                </a:moveTo>
                <a:lnTo>
                  <a:pt x="24" y="0"/>
                </a:lnTo>
                <a:lnTo>
                  <a:pt x="24" y="6"/>
                </a:lnTo>
                <a:lnTo>
                  <a:pt x="24" y="12"/>
                </a:lnTo>
                <a:lnTo>
                  <a:pt x="24" y="23"/>
                </a:lnTo>
                <a:lnTo>
                  <a:pt x="24" y="29"/>
                </a:lnTo>
                <a:lnTo>
                  <a:pt x="18" y="35"/>
                </a:lnTo>
                <a:lnTo>
                  <a:pt x="12" y="41"/>
                </a:lnTo>
                <a:lnTo>
                  <a:pt x="6" y="41"/>
                </a:lnTo>
                <a:lnTo>
                  <a:pt x="0" y="35"/>
                </a:lnTo>
                <a:lnTo>
                  <a:pt x="0" y="29"/>
                </a:lnTo>
                <a:lnTo>
                  <a:pt x="0" y="17"/>
                </a:lnTo>
                <a:lnTo>
                  <a:pt x="6" y="12"/>
                </a:lnTo>
                <a:lnTo>
                  <a:pt x="6" y="6"/>
                </a:lnTo>
                <a:lnTo>
                  <a:pt x="12" y="0"/>
                </a:lnTo>
                <a:lnTo>
                  <a:pt x="1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53" name="Freeform 301"/>
          <p:cNvSpPr>
            <a:spLocks/>
          </p:cNvSpPr>
          <p:nvPr/>
        </p:nvSpPr>
        <p:spPr bwMode="auto">
          <a:xfrm>
            <a:off x="7483475" y="4276725"/>
            <a:ext cx="93663" cy="147638"/>
          </a:xfrm>
          <a:custGeom>
            <a:avLst/>
            <a:gdLst>
              <a:gd name="T0" fmla="*/ 12 w 59"/>
              <a:gd name="T1" fmla="*/ 12 h 93"/>
              <a:gd name="T2" fmla="*/ 0 w 59"/>
              <a:gd name="T3" fmla="*/ 82 h 93"/>
              <a:gd name="T4" fmla="*/ 12 w 59"/>
              <a:gd name="T5" fmla="*/ 93 h 93"/>
              <a:gd name="T6" fmla="*/ 12 w 59"/>
              <a:gd name="T7" fmla="*/ 87 h 93"/>
              <a:gd name="T8" fmla="*/ 18 w 59"/>
              <a:gd name="T9" fmla="*/ 87 h 93"/>
              <a:gd name="T10" fmla="*/ 18 w 59"/>
              <a:gd name="T11" fmla="*/ 58 h 93"/>
              <a:gd name="T12" fmla="*/ 36 w 59"/>
              <a:gd name="T13" fmla="*/ 93 h 93"/>
              <a:gd name="T14" fmla="*/ 47 w 59"/>
              <a:gd name="T15" fmla="*/ 93 h 93"/>
              <a:gd name="T16" fmla="*/ 47 w 59"/>
              <a:gd name="T17" fmla="*/ 82 h 93"/>
              <a:gd name="T18" fmla="*/ 30 w 59"/>
              <a:gd name="T19" fmla="*/ 41 h 93"/>
              <a:gd name="T20" fmla="*/ 59 w 59"/>
              <a:gd name="T21" fmla="*/ 23 h 93"/>
              <a:gd name="T22" fmla="*/ 53 w 59"/>
              <a:gd name="T23" fmla="*/ 6 h 93"/>
              <a:gd name="T24" fmla="*/ 24 w 59"/>
              <a:gd name="T25" fmla="*/ 29 h 93"/>
              <a:gd name="T26" fmla="*/ 30 w 59"/>
              <a:gd name="T27" fmla="*/ 6 h 93"/>
              <a:gd name="T28" fmla="*/ 18 w 59"/>
              <a:gd name="T29" fmla="*/ 0 h 93"/>
              <a:gd name="T30" fmla="*/ 12 w 59"/>
              <a:gd name="T31" fmla="*/ 12 h 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
              <a:gd name="T49" fmla="*/ 0 h 93"/>
              <a:gd name="T50" fmla="*/ 59 w 59"/>
              <a:gd name="T51" fmla="*/ 93 h 9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 h="93">
                <a:moveTo>
                  <a:pt x="12" y="12"/>
                </a:moveTo>
                <a:lnTo>
                  <a:pt x="0" y="82"/>
                </a:lnTo>
                <a:lnTo>
                  <a:pt x="12" y="93"/>
                </a:lnTo>
                <a:lnTo>
                  <a:pt x="12" y="87"/>
                </a:lnTo>
                <a:lnTo>
                  <a:pt x="18" y="87"/>
                </a:lnTo>
                <a:lnTo>
                  <a:pt x="18" y="58"/>
                </a:lnTo>
                <a:lnTo>
                  <a:pt x="36" y="93"/>
                </a:lnTo>
                <a:lnTo>
                  <a:pt x="47" y="93"/>
                </a:lnTo>
                <a:lnTo>
                  <a:pt x="47" y="82"/>
                </a:lnTo>
                <a:lnTo>
                  <a:pt x="30" y="41"/>
                </a:lnTo>
                <a:lnTo>
                  <a:pt x="59" y="23"/>
                </a:lnTo>
                <a:lnTo>
                  <a:pt x="53" y="6"/>
                </a:lnTo>
                <a:lnTo>
                  <a:pt x="24" y="29"/>
                </a:lnTo>
                <a:lnTo>
                  <a:pt x="30" y="6"/>
                </a:lnTo>
                <a:lnTo>
                  <a:pt x="18" y="0"/>
                </a:lnTo>
                <a:lnTo>
                  <a:pt x="12" y="12"/>
                </a:lnTo>
                <a:close/>
              </a:path>
            </a:pathLst>
          </a:custGeom>
          <a:solidFill>
            <a:srgbClr val="33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54" name="Freeform 302"/>
          <p:cNvSpPr>
            <a:spLocks/>
          </p:cNvSpPr>
          <p:nvPr/>
        </p:nvSpPr>
        <p:spPr bwMode="auto">
          <a:xfrm>
            <a:off x="7483475" y="4276725"/>
            <a:ext cx="93663" cy="147638"/>
          </a:xfrm>
          <a:custGeom>
            <a:avLst/>
            <a:gdLst>
              <a:gd name="T0" fmla="*/ 12 w 59"/>
              <a:gd name="T1" fmla="*/ 12 h 93"/>
              <a:gd name="T2" fmla="*/ 0 w 59"/>
              <a:gd name="T3" fmla="*/ 82 h 93"/>
              <a:gd name="T4" fmla="*/ 12 w 59"/>
              <a:gd name="T5" fmla="*/ 93 h 93"/>
              <a:gd name="T6" fmla="*/ 12 w 59"/>
              <a:gd name="T7" fmla="*/ 87 h 93"/>
              <a:gd name="T8" fmla="*/ 18 w 59"/>
              <a:gd name="T9" fmla="*/ 87 h 93"/>
              <a:gd name="T10" fmla="*/ 18 w 59"/>
              <a:gd name="T11" fmla="*/ 58 h 93"/>
              <a:gd name="T12" fmla="*/ 36 w 59"/>
              <a:gd name="T13" fmla="*/ 93 h 93"/>
              <a:gd name="T14" fmla="*/ 47 w 59"/>
              <a:gd name="T15" fmla="*/ 93 h 93"/>
              <a:gd name="T16" fmla="*/ 47 w 59"/>
              <a:gd name="T17" fmla="*/ 82 h 93"/>
              <a:gd name="T18" fmla="*/ 30 w 59"/>
              <a:gd name="T19" fmla="*/ 41 h 93"/>
              <a:gd name="T20" fmla="*/ 59 w 59"/>
              <a:gd name="T21" fmla="*/ 23 h 93"/>
              <a:gd name="T22" fmla="*/ 53 w 59"/>
              <a:gd name="T23" fmla="*/ 6 h 93"/>
              <a:gd name="T24" fmla="*/ 24 w 59"/>
              <a:gd name="T25" fmla="*/ 29 h 93"/>
              <a:gd name="T26" fmla="*/ 30 w 59"/>
              <a:gd name="T27" fmla="*/ 6 h 93"/>
              <a:gd name="T28" fmla="*/ 18 w 59"/>
              <a:gd name="T29" fmla="*/ 0 h 93"/>
              <a:gd name="T30" fmla="*/ 12 w 59"/>
              <a:gd name="T31" fmla="*/ 12 h 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9"/>
              <a:gd name="T49" fmla="*/ 0 h 93"/>
              <a:gd name="T50" fmla="*/ 59 w 59"/>
              <a:gd name="T51" fmla="*/ 93 h 9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9" h="93">
                <a:moveTo>
                  <a:pt x="12" y="12"/>
                </a:moveTo>
                <a:lnTo>
                  <a:pt x="0" y="82"/>
                </a:lnTo>
                <a:lnTo>
                  <a:pt x="12" y="93"/>
                </a:lnTo>
                <a:lnTo>
                  <a:pt x="12" y="87"/>
                </a:lnTo>
                <a:lnTo>
                  <a:pt x="18" y="87"/>
                </a:lnTo>
                <a:lnTo>
                  <a:pt x="18" y="58"/>
                </a:lnTo>
                <a:lnTo>
                  <a:pt x="36" y="93"/>
                </a:lnTo>
                <a:lnTo>
                  <a:pt x="47" y="93"/>
                </a:lnTo>
                <a:lnTo>
                  <a:pt x="47" y="82"/>
                </a:lnTo>
                <a:lnTo>
                  <a:pt x="30" y="41"/>
                </a:lnTo>
                <a:lnTo>
                  <a:pt x="59" y="23"/>
                </a:lnTo>
                <a:lnTo>
                  <a:pt x="53" y="6"/>
                </a:lnTo>
                <a:lnTo>
                  <a:pt x="24" y="29"/>
                </a:lnTo>
                <a:lnTo>
                  <a:pt x="30" y="6"/>
                </a:lnTo>
                <a:lnTo>
                  <a:pt x="18" y="0"/>
                </a:lnTo>
                <a:lnTo>
                  <a:pt x="12"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855" name="Freeform 303"/>
          <p:cNvSpPr>
            <a:spLocks/>
          </p:cNvSpPr>
          <p:nvPr/>
        </p:nvSpPr>
        <p:spPr bwMode="auto">
          <a:xfrm>
            <a:off x="7369175" y="4175125"/>
            <a:ext cx="142875" cy="138113"/>
          </a:xfrm>
          <a:custGeom>
            <a:avLst/>
            <a:gdLst>
              <a:gd name="T0" fmla="*/ 18 w 90"/>
              <a:gd name="T1" fmla="*/ 12 h 87"/>
              <a:gd name="T2" fmla="*/ 36 w 90"/>
              <a:gd name="T3" fmla="*/ 41 h 87"/>
              <a:gd name="T4" fmla="*/ 0 w 90"/>
              <a:gd name="T5" fmla="*/ 64 h 87"/>
              <a:gd name="T6" fmla="*/ 6 w 90"/>
              <a:gd name="T7" fmla="*/ 87 h 87"/>
              <a:gd name="T8" fmla="*/ 6 w 90"/>
              <a:gd name="T9" fmla="*/ 82 h 87"/>
              <a:gd name="T10" fmla="*/ 12 w 90"/>
              <a:gd name="T11" fmla="*/ 87 h 87"/>
              <a:gd name="T12" fmla="*/ 42 w 90"/>
              <a:gd name="T13" fmla="*/ 58 h 87"/>
              <a:gd name="T14" fmla="*/ 60 w 90"/>
              <a:gd name="T15" fmla="*/ 87 h 87"/>
              <a:gd name="T16" fmla="*/ 72 w 90"/>
              <a:gd name="T17" fmla="*/ 82 h 87"/>
              <a:gd name="T18" fmla="*/ 78 w 90"/>
              <a:gd name="T19" fmla="*/ 76 h 87"/>
              <a:gd name="T20" fmla="*/ 60 w 90"/>
              <a:gd name="T21" fmla="*/ 47 h 87"/>
              <a:gd name="T22" fmla="*/ 90 w 90"/>
              <a:gd name="T23" fmla="*/ 18 h 87"/>
              <a:gd name="T24" fmla="*/ 78 w 90"/>
              <a:gd name="T25" fmla="*/ 6 h 87"/>
              <a:gd name="T26" fmla="*/ 48 w 90"/>
              <a:gd name="T27" fmla="*/ 29 h 87"/>
              <a:gd name="T28" fmla="*/ 36 w 90"/>
              <a:gd name="T29" fmla="*/ 0 h 87"/>
              <a:gd name="T30" fmla="*/ 24 w 90"/>
              <a:gd name="T31" fmla="*/ 6 h 87"/>
              <a:gd name="T32" fmla="*/ 18 w 90"/>
              <a:gd name="T33" fmla="*/ 0 h 87"/>
              <a:gd name="T34" fmla="*/ 18 w 90"/>
              <a:gd name="T35" fmla="*/ 12 h 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87"/>
              <a:gd name="T56" fmla="*/ 90 w 90"/>
              <a:gd name="T57" fmla="*/ 87 h 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87">
                <a:moveTo>
                  <a:pt x="18" y="12"/>
                </a:moveTo>
                <a:lnTo>
                  <a:pt x="36" y="41"/>
                </a:lnTo>
                <a:lnTo>
                  <a:pt x="0" y="64"/>
                </a:lnTo>
                <a:lnTo>
                  <a:pt x="6" y="87"/>
                </a:lnTo>
                <a:lnTo>
                  <a:pt x="6" y="82"/>
                </a:lnTo>
                <a:lnTo>
                  <a:pt x="12" y="87"/>
                </a:lnTo>
                <a:lnTo>
                  <a:pt x="42" y="58"/>
                </a:lnTo>
                <a:lnTo>
                  <a:pt x="60" y="87"/>
                </a:lnTo>
                <a:lnTo>
                  <a:pt x="72" y="82"/>
                </a:lnTo>
                <a:lnTo>
                  <a:pt x="78" y="76"/>
                </a:lnTo>
                <a:lnTo>
                  <a:pt x="60" y="47"/>
                </a:lnTo>
                <a:lnTo>
                  <a:pt x="90" y="18"/>
                </a:lnTo>
                <a:lnTo>
                  <a:pt x="78" y="6"/>
                </a:lnTo>
                <a:lnTo>
                  <a:pt x="48" y="29"/>
                </a:lnTo>
                <a:lnTo>
                  <a:pt x="36" y="0"/>
                </a:lnTo>
                <a:lnTo>
                  <a:pt x="24" y="6"/>
                </a:lnTo>
                <a:lnTo>
                  <a:pt x="18" y="0"/>
                </a:lnTo>
                <a:lnTo>
                  <a:pt x="18" y="12"/>
                </a:lnTo>
                <a:close/>
              </a:path>
            </a:pathLst>
          </a:custGeom>
          <a:solidFill>
            <a:srgbClr val="FF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856" name="Freeform 304"/>
          <p:cNvSpPr>
            <a:spLocks/>
          </p:cNvSpPr>
          <p:nvPr/>
        </p:nvSpPr>
        <p:spPr bwMode="auto">
          <a:xfrm>
            <a:off x="7369175" y="4175125"/>
            <a:ext cx="142875" cy="138113"/>
          </a:xfrm>
          <a:custGeom>
            <a:avLst/>
            <a:gdLst>
              <a:gd name="T0" fmla="*/ 18 w 90"/>
              <a:gd name="T1" fmla="*/ 12 h 87"/>
              <a:gd name="T2" fmla="*/ 36 w 90"/>
              <a:gd name="T3" fmla="*/ 41 h 87"/>
              <a:gd name="T4" fmla="*/ 0 w 90"/>
              <a:gd name="T5" fmla="*/ 64 h 87"/>
              <a:gd name="T6" fmla="*/ 6 w 90"/>
              <a:gd name="T7" fmla="*/ 87 h 87"/>
              <a:gd name="T8" fmla="*/ 6 w 90"/>
              <a:gd name="T9" fmla="*/ 82 h 87"/>
              <a:gd name="T10" fmla="*/ 12 w 90"/>
              <a:gd name="T11" fmla="*/ 87 h 87"/>
              <a:gd name="T12" fmla="*/ 42 w 90"/>
              <a:gd name="T13" fmla="*/ 58 h 87"/>
              <a:gd name="T14" fmla="*/ 60 w 90"/>
              <a:gd name="T15" fmla="*/ 87 h 87"/>
              <a:gd name="T16" fmla="*/ 72 w 90"/>
              <a:gd name="T17" fmla="*/ 82 h 87"/>
              <a:gd name="T18" fmla="*/ 78 w 90"/>
              <a:gd name="T19" fmla="*/ 76 h 87"/>
              <a:gd name="T20" fmla="*/ 60 w 90"/>
              <a:gd name="T21" fmla="*/ 47 h 87"/>
              <a:gd name="T22" fmla="*/ 90 w 90"/>
              <a:gd name="T23" fmla="*/ 18 h 87"/>
              <a:gd name="T24" fmla="*/ 78 w 90"/>
              <a:gd name="T25" fmla="*/ 6 h 87"/>
              <a:gd name="T26" fmla="*/ 48 w 90"/>
              <a:gd name="T27" fmla="*/ 29 h 87"/>
              <a:gd name="T28" fmla="*/ 36 w 90"/>
              <a:gd name="T29" fmla="*/ 0 h 87"/>
              <a:gd name="T30" fmla="*/ 24 w 90"/>
              <a:gd name="T31" fmla="*/ 6 h 87"/>
              <a:gd name="T32" fmla="*/ 18 w 90"/>
              <a:gd name="T33" fmla="*/ 0 h 87"/>
              <a:gd name="T34" fmla="*/ 18 w 90"/>
              <a:gd name="T35" fmla="*/ 12 h 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87"/>
              <a:gd name="T56" fmla="*/ 90 w 90"/>
              <a:gd name="T57" fmla="*/ 87 h 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87">
                <a:moveTo>
                  <a:pt x="18" y="12"/>
                </a:moveTo>
                <a:lnTo>
                  <a:pt x="36" y="41"/>
                </a:lnTo>
                <a:lnTo>
                  <a:pt x="0" y="64"/>
                </a:lnTo>
                <a:lnTo>
                  <a:pt x="6" y="87"/>
                </a:lnTo>
                <a:lnTo>
                  <a:pt x="6" y="82"/>
                </a:lnTo>
                <a:lnTo>
                  <a:pt x="12" y="87"/>
                </a:lnTo>
                <a:lnTo>
                  <a:pt x="42" y="58"/>
                </a:lnTo>
                <a:lnTo>
                  <a:pt x="60" y="87"/>
                </a:lnTo>
                <a:lnTo>
                  <a:pt x="72" y="82"/>
                </a:lnTo>
                <a:lnTo>
                  <a:pt x="78" y="76"/>
                </a:lnTo>
                <a:lnTo>
                  <a:pt x="60" y="47"/>
                </a:lnTo>
                <a:lnTo>
                  <a:pt x="90" y="18"/>
                </a:lnTo>
                <a:lnTo>
                  <a:pt x="78" y="6"/>
                </a:lnTo>
                <a:lnTo>
                  <a:pt x="48" y="29"/>
                </a:lnTo>
                <a:lnTo>
                  <a:pt x="36" y="0"/>
                </a:lnTo>
                <a:lnTo>
                  <a:pt x="24" y="6"/>
                </a:lnTo>
                <a:lnTo>
                  <a:pt x="18" y="0"/>
                </a:lnTo>
                <a:lnTo>
                  <a:pt x="18"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 name="Slide Number Placeholder 1"/>
          <p:cNvSpPr>
            <a:spLocks noGrp="1"/>
          </p:cNvSpPr>
          <p:nvPr>
            <p:ph type="sldNum" sz="quarter" idx="12"/>
          </p:nvPr>
        </p:nvSpPr>
        <p:spPr/>
        <p:txBody>
          <a:bodyPr/>
          <a:lstStyle/>
          <a:p>
            <a:fld id="{27392B6C-813E-42DE-A59C-034281A964AB}" type="slidenum">
              <a:rPr lang="en-US" smtClean="0"/>
              <a:pPr/>
              <a:t>18</a:t>
            </a:fld>
            <a:endParaRPr lang="en-US"/>
          </a:p>
        </p:txBody>
      </p:sp>
    </p:spTree>
    <p:extLst>
      <p:ext uri="{BB962C8B-B14F-4D97-AF65-F5344CB8AC3E}">
        <p14:creationId xmlns:p14="http://schemas.microsoft.com/office/powerpoint/2010/main" val="3845162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6" name="Rectangle 4"/>
          <p:cNvSpPr>
            <a:spLocks noGrp="1" noChangeArrowheads="1"/>
          </p:cNvSpPr>
          <p:nvPr>
            <p:ph type="title"/>
          </p:nvPr>
        </p:nvSpPr>
        <p:spPr/>
        <p:txBody>
          <a:bodyPr/>
          <a:lstStyle/>
          <a:p>
            <a:r>
              <a:rPr lang="en-US" sz="2800" dirty="0"/>
              <a:t>Benefits of use cases</a:t>
            </a:r>
          </a:p>
        </p:txBody>
      </p:sp>
      <p:sp>
        <p:nvSpPr>
          <p:cNvPr id="29704" name="Rectangle 5"/>
          <p:cNvSpPr>
            <a:spLocks noGrp="1" noChangeArrowheads="1"/>
          </p:cNvSpPr>
          <p:nvPr>
            <p:ph type="body" idx="1"/>
          </p:nvPr>
        </p:nvSpPr>
        <p:spPr/>
        <p:txBody>
          <a:bodyPr/>
          <a:lstStyle/>
          <a:p>
            <a:r>
              <a:rPr lang="en-US" sz="2000" dirty="0"/>
              <a:t>Give context for requirements</a:t>
            </a:r>
          </a:p>
          <a:p>
            <a:pPr lvl="1"/>
            <a:r>
              <a:rPr lang="en-US" sz="2000" dirty="0"/>
              <a:t>Put system requirements into logical sequences</a:t>
            </a:r>
          </a:p>
          <a:p>
            <a:pPr lvl="1"/>
            <a:r>
              <a:rPr lang="en-US" sz="2000" dirty="0"/>
              <a:t>Illustrate why the system is necessary</a:t>
            </a:r>
          </a:p>
          <a:p>
            <a:pPr lvl="1"/>
            <a:r>
              <a:rPr lang="en-US" sz="2000" dirty="0"/>
              <a:t>Help verify that all requirements are captured</a:t>
            </a:r>
          </a:p>
          <a:p>
            <a:r>
              <a:rPr lang="en-US" sz="2000" dirty="0"/>
              <a:t>Are easy to understand</a:t>
            </a:r>
          </a:p>
          <a:p>
            <a:pPr lvl="1"/>
            <a:r>
              <a:rPr lang="en-US" sz="2000" dirty="0"/>
              <a:t>Use terminology that customers and users understand</a:t>
            </a:r>
          </a:p>
          <a:p>
            <a:pPr lvl="1"/>
            <a:r>
              <a:rPr lang="en-US" sz="2000" dirty="0"/>
              <a:t>Tell concrete stories of system use</a:t>
            </a:r>
          </a:p>
          <a:p>
            <a:pPr lvl="1"/>
            <a:r>
              <a:rPr lang="en-US" sz="2000" dirty="0"/>
              <a:t>Verify stakeholder understanding</a:t>
            </a:r>
          </a:p>
          <a:p>
            <a:pPr lvl="1"/>
            <a:r>
              <a:rPr lang="en-US" sz="2000" dirty="0"/>
              <a:t>Aid team communication and understanding</a:t>
            </a:r>
          </a:p>
          <a:p>
            <a:r>
              <a:rPr lang="en-US" sz="2000" dirty="0"/>
              <a:t>Facilitate agreement with customers</a:t>
            </a:r>
          </a:p>
          <a:p>
            <a:r>
              <a:rPr lang="en-US" sz="2000" dirty="0"/>
              <a:t>Facilitate the creation of test cases, documentation, and design</a:t>
            </a:r>
          </a:p>
          <a:p>
            <a:r>
              <a:rPr lang="en-US" sz="2000" dirty="0"/>
              <a:t>Facilitate requirements reuse</a:t>
            </a:r>
          </a:p>
        </p:txBody>
      </p:sp>
      <p:sp>
        <p:nvSpPr>
          <p:cNvPr id="2970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970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9705" name="Freeform 6"/>
          <p:cNvSpPr>
            <a:spLocks/>
          </p:cNvSpPr>
          <p:nvPr/>
        </p:nvSpPr>
        <p:spPr bwMode="auto">
          <a:xfrm>
            <a:off x="1227138" y="4856163"/>
            <a:ext cx="11112" cy="7937"/>
          </a:xfrm>
          <a:custGeom>
            <a:avLst/>
            <a:gdLst>
              <a:gd name="T0" fmla="*/ 7 w 7"/>
              <a:gd name="T1" fmla="*/ 5 h 5"/>
              <a:gd name="T2" fmla="*/ 2 w 7"/>
              <a:gd name="T3" fmla="*/ 5 h 5"/>
              <a:gd name="T4" fmla="*/ 0 w 7"/>
              <a:gd name="T5" fmla="*/ 0 h 5"/>
              <a:gd name="T6" fmla="*/ 7 w 7"/>
              <a:gd name="T7" fmla="*/ 5 h 5"/>
              <a:gd name="T8" fmla="*/ 0 60000 65536"/>
              <a:gd name="T9" fmla="*/ 0 60000 65536"/>
              <a:gd name="T10" fmla="*/ 0 60000 65536"/>
              <a:gd name="T11" fmla="*/ 0 60000 65536"/>
              <a:gd name="T12" fmla="*/ 0 w 7"/>
              <a:gd name="T13" fmla="*/ 0 h 5"/>
              <a:gd name="T14" fmla="*/ 7 w 7"/>
              <a:gd name="T15" fmla="*/ 5 h 5"/>
            </a:gdLst>
            <a:ahLst/>
            <a:cxnLst>
              <a:cxn ang="T8">
                <a:pos x="T0" y="T1"/>
              </a:cxn>
              <a:cxn ang="T9">
                <a:pos x="T2" y="T3"/>
              </a:cxn>
              <a:cxn ang="T10">
                <a:pos x="T4" y="T5"/>
              </a:cxn>
              <a:cxn ang="T11">
                <a:pos x="T6" y="T7"/>
              </a:cxn>
            </a:cxnLst>
            <a:rect l="T12" t="T13" r="T14" b="T15"/>
            <a:pathLst>
              <a:path w="7" h="5">
                <a:moveTo>
                  <a:pt x="7" y="5"/>
                </a:moveTo>
                <a:lnTo>
                  <a:pt x="2" y="5"/>
                </a:lnTo>
                <a:lnTo>
                  <a:pt x="0" y="0"/>
                </a:lnTo>
                <a:lnTo>
                  <a:pt x="7" y="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19</a:t>
            </a:fld>
            <a:endParaRPr lang="en-US"/>
          </a:p>
        </p:txBody>
      </p:sp>
    </p:spTree>
    <p:custDataLst>
      <p:tags r:id="rId1"/>
    </p:custDataLst>
    <p:extLst>
      <p:ext uri="{BB962C8B-B14F-4D97-AF65-F5344CB8AC3E}">
        <p14:creationId xmlns:p14="http://schemas.microsoft.com/office/powerpoint/2010/main" val="181391976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pPr eaLnBrk="1" hangingPunct="1">
              <a:defRPr/>
            </a:pPr>
            <a:r>
              <a:rPr lang="en-US" sz="2800" dirty="0"/>
              <a:t>Who should care about use cases?</a:t>
            </a:r>
          </a:p>
        </p:txBody>
      </p:sp>
      <p:sp>
        <p:nvSpPr>
          <p:cNvPr id="30726" name="Rectangle 3"/>
          <p:cNvSpPr>
            <a:spLocks noGrp="1" noChangeArrowheads="1"/>
          </p:cNvSpPr>
          <p:nvPr>
            <p:ph type="body" idx="1"/>
          </p:nvPr>
        </p:nvSpPr>
        <p:spPr/>
        <p:txBody>
          <a:bodyPr/>
          <a:lstStyle/>
          <a:p>
            <a:pPr marL="230188" indent="-230188" eaLnBrk="1" hangingPunct="1">
              <a:lnSpc>
                <a:spcPct val="100000"/>
              </a:lnSpc>
            </a:pPr>
            <a:r>
              <a:rPr lang="en-US" sz="2000" dirty="0"/>
              <a:t>Analysts</a:t>
            </a:r>
          </a:p>
          <a:p>
            <a:pPr marL="230188" indent="-230188" eaLnBrk="1" hangingPunct="1">
              <a:lnSpc>
                <a:spcPct val="100000"/>
              </a:lnSpc>
            </a:pPr>
            <a:r>
              <a:rPr lang="en-US" sz="2000" dirty="0"/>
              <a:t>Customers</a:t>
            </a:r>
          </a:p>
          <a:p>
            <a:pPr marL="230188" indent="-230188" eaLnBrk="1" hangingPunct="1">
              <a:lnSpc>
                <a:spcPct val="100000"/>
              </a:lnSpc>
            </a:pPr>
            <a:r>
              <a:rPr lang="en-US" sz="2000" dirty="0"/>
              <a:t>Users</a:t>
            </a:r>
          </a:p>
          <a:p>
            <a:pPr marL="230188" indent="-230188" eaLnBrk="1" hangingPunct="1">
              <a:lnSpc>
                <a:spcPct val="100000"/>
              </a:lnSpc>
            </a:pPr>
            <a:r>
              <a:rPr lang="en-US" sz="2000" dirty="0"/>
              <a:t>Software architects</a:t>
            </a:r>
          </a:p>
          <a:p>
            <a:pPr marL="230188" indent="-230188" eaLnBrk="1" hangingPunct="1">
              <a:lnSpc>
                <a:spcPct val="100000"/>
              </a:lnSpc>
            </a:pPr>
            <a:r>
              <a:rPr lang="en-US" sz="2000" dirty="0"/>
              <a:t>Designers</a:t>
            </a:r>
          </a:p>
          <a:p>
            <a:pPr marL="230188" indent="-230188" eaLnBrk="1" hangingPunct="1">
              <a:lnSpc>
                <a:spcPct val="100000"/>
              </a:lnSpc>
            </a:pPr>
            <a:r>
              <a:rPr lang="en-US" sz="2000" dirty="0"/>
              <a:t>Testers</a:t>
            </a:r>
          </a:p>
          <a:p>
            <a:pPr marL="230188" indent="-230188" eaLnBrk="1" hangingPunct="1">
              <a:lnSpc>
                <a:spcPct val="100000"/>
              </a:lnSpc>
            </a:pPr>
            <a:r>
              <a:rPr lang="en-US" sz="2000" dirty="0"/>
              <a:t>Project managers</a:t>
            </a:r>
          </a:p>
          <a:p>
            <a:pPr marL="230188" indent="-230188" eaLnBrk="1" hangingPunct="1">
              <a:lnSpc>
                <a:spcPct val="100000"/>
              </a:lnSpc>
            </a:pPr>
            <a:r>
              <a:rPr lang="en-US" sz="2000" dirty="0"/>
              <a:t>Documentation writers</a:t>
            </a:r>
          </a:p>
          <a:p>
            <a:pPr marL="230188" indent="-230188" eaLnBrk="1" hangingPunct="1"/>
            <a:endParaRPr lang="en-US" sz="2000" dirty="0"/>
          </a:p>
        </p:txBody>
      </p:sp>
      <p:pic>
        <p:nvPicPr>
          <p:cNvPr id="30727" name="Picture 4" descr="Architect"/>
          <p:cNvPicPr>
            <a:picLocks noChangeAspect="1" noChangeArrowheads="1"/>
          </p:cNvPicPr>
          <p:nvPr/>
        </p:nvPicPr>
        <p:blipFill>
          <a:blip r:embed="rId3">
            <a:extLst>
              <a:ext uri="{28A0092B-C50C-407E-A947-70E740481C1C}">
                <a14:useLocalDpi xmlns:a14="http://schemas.microsoft.com/office/drawing/2010/main" val="0"/>
              </a:ext>
            </a:extLst>
          </a:blip>
          <a:srcRect b="21939"/>
          <a:stretch>
            <a:fillRect/>
          </a:stretch>
        </p:blipFill>
        <p:spPr bwMode="auto">
          <a:xfrm>
            <a:off x="6553200" y="1447800"/>
            <a:ext cx="15605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5" descr="Tester"/>
          <p:cNvPicPr>
            <a:picLocks noChangeAspect="1" noChangeArrowheads="1"/>
          </p:cNvPicPr>
          <p:nvPr/>
        </p:nvPicPr>
        <p:blipFill>
          <a:blip r:embed="rId4">
            <a:extLst>
              <a:ext uri="{28A0092B-C50C-407E-A947-70E740481C1C}">
                <a14:useLocalDpi xmlns:a14="http://schemas.microsoft.com/office/drawing/2010/main" val="0"/>
              </a:ext>
            </a:extLst>
          </a:blip>
          <a:srcRect b="21939"/>
          <a:stretch>
            <a:fillRect/>
          </a:stretch>
        </p:blipFill>
        <p:spPr bwMode="auto">
          <a:xfrm>
            <a:off x="6553200" y="2971800"/>
            <a:ext cx="160020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9" name="Picture 6" descr="Developer"/>
          <p:cNvPicPr>
            <a:picLocks noChangeAspect="1" noChangeArrowheads="1"/>
          </p:cNvPicPr>
          <p:nvPr/>
        </p:nvPicPr>
        <p:blipFill>
          <a:blip r:embed="rId5">
            <a:extLst>
              <a:ext uri="{28A0092B-C50C-407E-A947-70E740481C1C}">
                <a14:useLocalDpi xmlns:a14="http://schemas.microsoft.com/office/drawing/2010/main" val="0"/>
              </a:ext>
            </a:extLst>
          </a:blip>
          <a:srcRect b="21939"/>
          <a:stretch>
            <a:fillRect/>
          </a:stretch>
        </p:blipFill>
        <p:spPr bwMode="auto">
          <a:xfrm>
            <a:off x="4724400" y="2438400"/>
            <a:ext cx="1676400"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0" name="Picture 7" descr="Business-Analyst"/>
          <p:cNvPicPr>
            <a:picLocks noChangeAspect="1" noChangeArrowheads="1"/>
          </p:cNvPicPr>
          <p:nvPr/>
        </p:nvPicPr>
        <p:blipFill>
          <a:blip r:embed="rId6">
            <a:extLst>
              <a:ext uri="{28A0092B-C50C-407E-A947-70E740481C1C}">
                <a14:useLocalDpi xmlns:a14="http://schemas.microsoft.com/office/drawing/2010/main" val="0"/>
              </a:ext>
            </a:extLst>
          </a:blip>
          <a:srcRect b="21939"/>
          <a:stretch>
            <a:fillRect/>
          </a:stretch>
        </p:blipFill>
        <p:spPr bwMode="auto">
          <a:xfrm>
            <a:off x="4572000" y="838200"/>
            <a:ext cx="160020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1" name="Picture 8" descr="Project-Manager"/>
          <p:cNvPicPr>
            <a:picLocks noChangeAspect="1" noChangeArrowheads="1"/>
          </p:cNvPicPr>
          <p:nvPr/>
        </p:nvPicPr>
        <p:blipFill>
          <a:blip r:embed="rId7">
            <a:extLst>
              <a:ext uri="{28A0092B-C50C-407E-A947-70E740481C1C}">
                <a14:useLocalDpi xmlns:a14="http://schemas.microsoft.com/office/drawing/2010/main" val="0"/>
              </a:ext>
            </a:extLst>
          </a:blip>
          <a:srcRect b="21368"/>
          <a:stretch>
            <a:fillRect/>
          </a:stretch>
        </p:blipFill>
        <p:spPr bwMode="auto">
          <a:xfrm>
            <a:off x="6858000" y="4648200"/>
            <a:ext cx="1676400"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2" name="Picture 9" descr="Stakeholder-13"/>
          <p:cNvPicPr>
            <a:picLocks noChangeAspect="1" noChangeArrowheads="1"/>
          </p:cNvPicPr>
          <p:nvPr/>
        </p:nvPicPr>
        <p:blipFill>
          <a:blip r:embed="rId8">
            <a:extLst>
              <a:ext uri="{28A0092B-C50C-407E-A947-70E740481C1C}">
                <a14:useLocalDpi xmlns:a14="http://schemas.microsoft.com/office/drawing/2010/main" val="0"/>
              </a:ext>
            </a:extLst>
          </a:blip>
          <a:srcRect b="21555"/>
          <a:stretch>
            <a:fillRect/>
          </a:stretch>
        </p:blipFill>
        <p:spPr bwMode="auto">
          <a:xfrm>
            <a:off x="4953000" y="4267200"/>
            <a:ext cx="1628775"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DED05017-923D-480E-B02E-B52739184DCA}" type="slidenum">
              <a:rPr lang="en-US" smtClean="0"/>
              <a:pPr/>
              <a:t>20</a:t>
            </a:fld>
            <a:endParaRPr lang="en-US"/>
          </a:p>
        </p:txBody>
      </p:sp>
    </p:spTree>
    <p:extLst>
      <p:ext uri="{BB962C8B-B14F-4D97-AF65-F5344CB8AC3E}">
        <p14:creationId xmlns:p14="http://schemas.microsoft.com/office/powerpoint/2010/main" val="3672262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pPr eaLnBrk="1" hangingPunct="1">
              <a:defRPr/>
            </a:pPr>
            <a:r>
              <a:rPr lang="en-US" sz="2800" dirty="0"/>
              <a:t>Requirements management process</a:t>
            </a:r>
          </a:p>
        </p:txBody>
      </p:sp>
      <p:pic>
        <p:nvPicPr>
          <p:cNvPr id="31750" name="Picture 3" descr="RM_workfl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143000"/>
            <a:ext cx="5635625"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p:cNvGrpSpPr>
            <a:grpSpLocks/>
          </p:cNvGrpSpPr>
          <p:nvPr/>
        </p:nvGrpSpPr>
        <p:grpSpPr bwMode="auto">
          <a:xfrm>
            <a:off x="228600" y="1371600"/>
            <a:ext cx="5334000" cy="3657600"/>
            <a:chOff x="144" y="576"/>
            <a:chExt cx="3360" cy="2304"/>
          </a:xfrm>
        </p:grpSpPr>
        <p:sp>
          <p:nvSpPr>
            <p:cNvPr id="31761" name="Rectangle 5"/>
            <p:cNvSpPr>
              <a:spLocks noChangeArrowheads="1"/>
            </p:cNvSpPr>
            <p:nvPr/>
          </p:nvSpPr>
          <p:spPr bwMode="auto">
            <a:xfrm>
              <a:off x="144" y="576"/>
              <a:ext cx="1200" cy="672"/>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2000" dirty="0">
                  <a:latin typeface="Arial" pitchFamily="34" charset="0"/>
                </a:rPr>
                <a:t>Find Actors </a:t>
              </a:r>
            </a:p>
            <a:p>
              <a:pPr algn="ctr"/>
              <a:r>
                <a:rPr lang="en-US" sz="2000" dirty="0">
                  <a:latin typeface="Arial" pitchFamily="34" charset="0"/>
                </a:rPr>
                <a:t>and Use Cases</a:t>
              </a:r>
              <a:endParaRPr lang="en-US" sz="2400" dirty="0">
                <a:latin typeface="Arial" pitchFamily="34" charset="0"/>
              </a:endParaRPr>
            </a:p>
          </p:txBody>
        </p:sp>
        <p:sp>
          <p:nvSpPr>
            <p:cNvPr id="31762" name="Line 6"/>
            <p:cNvSpPr>
              <a:spLocks noChangeShapeType="1"/>
            </p:cNvSpPr>
            <p:nvPr/>
          </p:nvSpPr>
          <p:spPr bwMode="auto">
            <a:xfrm>
              <a:off x="720" y="1248"/>
              <a:ext cx="672" cy="432"/>
            </a:xfrm>
            <a:prstGeom prst="line">
              <a:avLst/>
            </a:prstGeom>
            <a:noFill/>
            <a:ln w="28575">
              <a:solidFill>
                <a:srgbClr val="7889FB"/>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3" name="Line 7"/>
            <p:cNvSpPr>
              <a:spLocks noChangeShapeType="1"/>
            </p:cNvSpPr>
            <p:nvPr/>
          </p:nvSpPr>
          <p:spPr bwMode="auto">
            <a:xfrm>
              <a:off x="720" y="1248"/>
              <a:ext cx="1872" cy="192"/>
            </a:xfrm>
            <a:prstGeom prst="line">
              <a:avLst/>
            </a:prstGeom>
            <a:noFill/>
            <a:ln w="28575">
              <a:solidFill>
                <a:srgbClr val="7889FB"/>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4" name="Line 8"/>
            <p:cNvSpPr>
              <a:spLocks noChangeShapeType="1"/>
            </p:cNvSpPr>
            <p:nvPr/>
          </p:nvSpPr>
          <p:spPr bwMode="auto">
            <a:xfrm>
              <a:off x="720" y="1248"/>
              <a:ext cx="624" cy="1392"/>
            </a:xfrm>
            <a:prstGeom prst="line">
              <a:avLst/>
            </a:prstGeom>
            <a:noFill/>
            <a:ln w="28575">
              <a:solidFill>
                <a:srgbClr val="7889FB"/>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5" name="Rectangle 9"/>
            <p:cNvSpPr>
              <a:spLocks noChangeArrowheads="1"/>
            </p:cNvSpPr>
            <p:nvPr/>
          </p:nvSpPr>
          <p:spPr bwMode="auto">
            <a:xfrm>
              <a:off x="2592" y="1392"/>
              <a:ext cx="912" cy="432"/>
            </a:xfrm>
            <a:prstGeom prst="rect">
              <a:avLst/>
            </a:prstGeom>
            <a:noFill/>
            <a:ln w="28575">
              <a:solidFill>
                <a:srgbClr val="66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b="1"/>
            </a:p>
          </p:txBody>
        </p:sp>
        <p:sp>
          <p:nvSpPr>
            <p:cNvPr id="31766" name="Rectangle 10"/>
            <p:cNvSpPr>
              <a:spLocks noChangeArrowheads="1"/>
            </p:cNvSpPr>
            <p:nvPr/>
          </p:nvSpPr>
          <p:spPr bwMode="auto">
            <a:xfrm>
              <a:off x="1392" y="1440"/>
              <a:ext cx="720" cy="432"/>
            </a:xfrm>
            <a:prstGeom prst="rect">
              <a:avLst/>
            </a:prstGeom>
            <a:noFill/>
            <a:ln w="28575">
              <a:solidFill>
                <a:srgbClr val="66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b="1"/>
            </a:p>
          </p:txBody>
        </p:sp>
        <p:sp>
          <p:nvSpPr>
            <p:cNvPr id="31767" name="Rectangle 11"/>
            <p:cNvSpPr>
              <a:spLocks noChangeArrowheads="1"/>
            </p:cNvSpPr>
            <p:nvPr/>
          </p:nvSpPr>
          <p:spPr bwMode="auto">
            <a:xfrm>
              <a:off x="1344" y="2448"/>
              <a:ext cx="816" cy="432"/>
            </a:xfrm>
            <a:prstGeom prst="rect">
              <a:avLst/>
            </a:prstGeom>
            <a:noFill/>
            <a:ln w="28575">
              <a:solidFill>
                <a:srgbClr val="66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b="1"/>
            </a:p>
          </p:txBody>
        </p:sp>
      </p:grpSp>
      <p:grpSp>
        <p:nvGrpSpPr>
          <p:cNvPr id="3" name="Group 12"/>
          <p:cNvGrpSpPr>
            <a:grpSpLocks/>
          </p:cNvGrpSpPr>
          <p:nvPr/>
        </p:nvGrpSpPr>
        <p:grpSpPr bwMode="auto">
          <a:xfrm>
            <a:off x="4724400" y="5029200"/>
            <a:ext cx="4325938" cy="1524000"/>
            <a:chOff x="2976" y="2880"/>
            <a:chExt cx="2725" cy="960"/>
          </a:xfrm>
        </p:grpSpPr>
        <p:sp>
          <p:nvSpPr>
            <p:cNvPr id="31758" name="Rectangle 13"/>
            <p:cNvSpPr>
              <a:spLocks noChangeArrowheads="1"/>
            </p:cNvSpPr>
            <p:nvPr/>
          </p:nvSpPr>
          <p:spPr bwMode="auto">
            <a:xfrm>
              <a:off x="4239" y="3312"/>
              <a:ext cx="1462" cy="528"/>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en-US" sz="2000">
                  <a:latin typeface="Arial" pitchFamily="34" charset="0"/>
                </a:rPr>
                <a:t>Detail a Use Case</a:t>
              </a:r>
              <a:endParaRPr lang="en-US" sz="2400">
                <a:latin typeface="Arial" pitchFamily="34" charset="0"/>
              </a:endParaRPr>
            </a:p>
          </p:txBody>
        </p:sp>
        <p:sp>
          <p:nvSpPr>
            <p:cNvPr id="31759" name="Line 14"/>
            <p:cNvSpPr>
              <a:spLocks noChangeShapeType="1"/>
            </p:cNvSpPr>
            <p:nvPr/>
          </p:nvSpPr>
          <p:spPr bwMode="auto">
            <a:xfrm>
              <a:off x="3888" y="3264"/>
              <a:ext cx="384" cy="192"/>
            </a:xfrm>
            <a:prstGeom prst="line">
              <a:avLst/>
            </a:prstGeom>
            <a:noFill/>
            <a:ln w="28575">
              <a:solidFill>
                <a:srgbClr val="7889FB"/>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0" name="Rectangle 15"/>
            <p:cNvSpPr>
              <a:spLocks noChangeArrowheads="1"/>
            </p:cNvSpPr>
            <p:nvPr/>
          </p:nvSpPr>
          <p:spPr bwMode="auto">
            <a:xfrm>
              <a:off x="2976" y="2880"/>
              <a:ext cx="912" cy="384"/>
            </a:xfrm>
            <a:prstGeom prst="rect">
              <a:avLst/>
            </a:prstGeom>
            <a:noFill/>
            <a:ln w="28575">
              <a:solidFill>
                <a:srgbClr val="66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1753" name="Text Box 16"/>
          <p:cNvSpPr txBox="1">
            <a:spLocks noChangeArrowheads="1"/>
          </p:cNvSpPr>
          <p:nvPr/>
        </p:nvSpPr>
        <p:spPr bwMode="auto">
          <a:xfrm>
            <a:off x="2667000" y="1219200"/>
            <a:ext cx="4800600"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1800">
                <a:solidFill>
                  <a:schemeClr val="tx1"/>
                </a:solidFill>
                <a:latin typeface="Arial" pitchFamily="34" charset="0"/>
              </a:rPr>
              <a:t>IBM</a:t>
            </a:r>
            <a:r>
              <a:rPr lang="en-US" sz="1800" baseline="30000">
                <a:solidFill>
                  <a:schemeClr val="tx1"/>
                </a:solidFill>
                <a:latin typeface="Arial" pitchFamily="34" charset="0"/>
                <a:cs typeface="Arial" pitchFamily="34" charset="0"/>
              </a:rPr>
              <a:t>®</a:t>
            </a:r>
            <a:r>
              <a:rPr lang="en-US" sz="2400" b="1" baseline="30000">
                <a:solidFill>
                  <a:schemeClr val="tx1"/>
                </a:solidFill>
                <a:latin typeface="Arial" pitchFamily="34" charset="0"/>
                <a:cs typeface="Arial" pitchFamily="34" charset="0"/>
              </a:rPr>
              <a:t> </a:t>
            </a:r>
            <a:r>
              <a:rPr lang="en-US" sz="1800">
                <a:solidFill>
                  <a:schemeClr val="tx1"/>
                </a:solidFill>
                <a:latin typeface="Arial" pitchFamily="34" charset="0"/>
              </a:rPr>
              <a:t>Rational Unified Process</a:t>
            </a:r>
            <a:r>
              <a:rPr lang="en-US" sz="2400" b="1" baseline="30000">
                <a:solidFill>
                  <a:schemeClr val="tx1"/>
                </a:solidFill>
              </a:rPr>
              <a:t>®</a:t>
            </a:r>
            <a:r>
              <a:rPr lang="en-US" sz="1800">
                <a:solidFill>
                  <a:schemeClr val="tx1"/>
                </a:solidFill>
                <a:latin typeface="Arial" pitchFamily="34" charset="0"/>
              </a:rPr>
              <a:t> (RUP</a:t>
            </a:r>
            <a:r>
              <a:rPr lang="en-US" sz="1800" baseline="30000">
                <a:solidFill>
                  <a:schemeClr val="tx1"/>
                </a:solidFill>
              </a:rPr>
              <a:t>®</a:t>
            </a:r>
            <a:r>
              <a:rPr lang="en-US" sz="1800">
                <a:solidFill>
                  <a:schemeClr val="tx1"/>
                </a:solidFill>
                <a:latin typeface="Arial" pitchFamily="34" charset="0"/>
              </a:rPr>
              <a:t>) Requirements Management workflow</a:t>
            </a:r>
          </a:p>
        </p:txBody>
      </p:sp>
      <p:grpSp>
        <p:nvGrpSpPr>
          <p:cNvPr id="4" name="Group 17"/>
          <p:cNvGrpSpPr>
            <a:grpSpLocks/>
          </p:cNvGrpSpPr>
          <p:nvPr/>
        </p:nvGrpSpPr>
        <p:grpSpPr bwMode="auto">
          <a:xfrm>
            <a:off x="228600" y="4648200"/>
            <a:ext cx="1981200" cy="1600200"/>
            <a:chOff x="144" y="2640"/>
            <a:chExt cx="1248" cy="1008"/>
          </a:xfrm>
        </p:grpSpPr>
        <p:sp>
          <p:nvSpPr>
            <p:cNvPr id="31755" name="Rectangle 18"/>
            <p:cNvSpPr>
              <a:spLocks noChangeArrowheads="1"/>
            </p:cNvSpPr>
            <p:nvPr/>
          </p:nvSpPr>
          <p:spPr bwMode="auto">
            <a:xfrm>
              <a:off x="144" y="3072"/>
              <a:ext cx="1248" cy="576"/>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en-US"/>
            </a:p>
          </p:txBody>
        </p:sp>
        <p:sp>
          <p:nvSpPr>
            <p:cNvPr id="31756" name="Text Box 19"/>
            <p:cNvSpPr txBox="1">
              <a:spLocks noChangeArrowheads="1"/>
            </p:cNvSpPr>
            <p:nvPr/>
          </p:nvSpPr>
          <p:spPr bwMode="auto">
            <a:xfrm>
              <a:off x="192" y="3120"/>
              <a:ext cx="1104" cy="442"/>
            </a:xfrm>
            <a:prstGeom prst="rect">
              <a:avLst/>
            </a:prstGeom>
            <a:noFill/>
            <a:ln/>
            <a:extLst/>
          </p:spPr>
          <p:style>
            <a:lnRef idx="0">
              <a:schemeClr val="accent2"/>
            </a:lnRef>
            <a:fillRef idx="3">
              <a:schemeClr val="accent2"/>
            </a:fillRef>
            <a:effectRef idx="3">
              <a:schemeClr val="accent2"/>
            </a:effectRef>
            <a:fontRef idx="minor">
              <a:schemeClr val="lt1"/>
            </a:fontRef>
          </p:style>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000" dirty="0">
                  <a:latin typeface="Arial" pitchFamily="34" charset="0"/>
                </a:rPr>
                <a:t>Outline </a:t>
              </a:r>
              <a:br>
                <a:rPr lang="en-US" sz="2000" dirty="0">
                  <a:latin typeface="Arial" pitchFamily="34" charset="0"/>
                </a:rPr>
              </a:br>
              <a:r>
                <a:rPr lang="en-US" sz="2000" dirty="0">
                  <a:latin typeface="Arial" pitchFamily="34" charset="0"/>
                </a:rPr>
                <a:t>Use Cases</a:t>
              </a:r>
            </a:p>
          </p:txBody>
        </p:sp>
        <p:sp>
          <p:nvSpPr>
            <p:cNvPr id="31757" name="Line 20"/>
            <p:cNvSpPr>
              <a:spLocks noChangeShapeType="1"/>
            </p:cNvSpPr>
            <p:nvPr/>
          </p:nvSpPr>
          <p:spPr bwMode="auto">
            <a:xfrm flipV="1">
              <a:off x="1008" y="2640"/>
              <a:ext cx="336" cy="432"/>
            </a:xfrm>
            <a:prstGeom prst="line">
              <a:avLst/>
            </a:prstGeom>
            <a:noFill/>
            <a:ln w="38100">
              <a:solidFill>
                <a:srgbClr val="6699FF"/>
              </a:solidFill>
              <a:round/>
              <a:headEnd/>
              <a:tailEnd/>
            </a:ln>
            <a:extLst/>
          </p:spPr>
          <p:txBody>
            <a:bodyPr/>
            <a:lstStyle/>
            <a:p>
              <a:endParaRPr lang="en-US"/>
            </a:p>
          </p:txBody>
        </p:sp>
      </p:grpSp>
      <p:sp>
        <p:nvSpPr>
          <p:cNvPr id="5" name="Slide Number Placeholder 4"/>
          <p:cNvSpPr>
            <a:spLocks noGrp="1"/>
          </p:cNvSpPr>
          <p:nvPr>
            <p:ph type="sldNum" sz="quarter" idx="12"/>
          </p:nvPr>
        </p:nvSpPr>
        <p:spPr/>
        <p:txBody>
          <a:bodyPr/>
          <a:lstStyle/>
          <a:p>
            <a:fld id="{DED05017-923D-480E-B02E-B52739184DCA}" type="slidenum">
              <a:rPr lang="en-US" smtClean="0"/>
              <a:pPr/>
              <a:t>21</a:t>
            </a:fld>
            <a:endParaRPr lang="en-US"/>
          </a:p>
        </p:txBody>
      </p:sp>
    </p:spTree>
    <p:custDataLst>
      <p:tags r:id="rId1"/>
    </p:custDataLst>
    <p:extLst>
      <p:ext uri="{BB962C8B-B14F-4D97-AF65-F5344CB8AC3E}">
        <p14:creationId xmlns:p14="http://schemas.microsoft.com/office/powerpoint/2010/main" val="343665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a:lstStyle/>
          <a:p>
            <a:pPr eaLnBrk="1" hangingPunct="1">
              <a:defRPr/>
            </a:pPr>
            <a:r>
              <a:rPr lang="en-US" sz="2800" dirty="0"/>
              <a:t>Review</a:t>
            </a:r>
          </a:p>
        </p:txBody>
      </p:sp>
      <p:sp>
        <p:nvSpPr>
          <p:cNvPr id="32774" name="Rectangle 3"/>
          <p:cNvSpPr>
            <a:spLocks noGrp="1" noChangeArrowheads="1"/>
          </p:cNvSpPr>
          <p:nvPr>
            <p:ph type="body" idx="1"/>
          </p:nvPr>
        </p:nvSpPr>
        <p:spPr/>
        <p:txBody>
          <a:bodyPr/>
          <a:lstStyle/>
          <a:p>
            <a:pPr marL="230188" indent="-230188" eaLnBrk="1" hangingPunct="1">
              <a:lnSpc>
                <a:spcPct val="100000"/>
              </a:lnSpc>
            </a:pPr>
            <a:r>
              <a:rPr lang="en-US" sz="2000" dirty="0"/>
              <a:t>What is an actor?  </a:t>
            </a:r>
          </a:p>
          <a:p>
            <a:pPr marL="230188" indent="-230188" eaLnBrk="1" hangingPunct="1">
              <a:lnSpc>
                <a:spcPct val="100000"/>
              </a:lnSpc>
            </a:pPr>
            <a:r>
              <a:rPr lang="en-US" sz="2000" dirty="0"/>
              <a:t>What is a use case?</a:t>
            </a:r>
          </a:p>
          <a:p>
            <a:pPr marL="230188" indent="-230188" eaLnBrk="1" hangingPunct="1">
              <a:lnSpc>
                <a:spcPct val="100000"/>
              </a:lnSpc>
            </a:pPr>
            <a:r>
              <a:rPr lang="en-US" sz="2000" dirty="0"/>
              <a:t>What are some of the benefits of using use cases?</a:t>
            </a:r>
          </a:p>
          <a:p>
            <a:pPr marL="230188" indent="-230188" eaLnBrk="1" hangingPunct="1">
              <a:lnSpc>
                <a:spcPct val="100000"/>
              </a:lnSpc>
            </a:pPr>
            <a:r>
              <a:rPr lang="en-US" sz="2000" dirty="0"/>
              <a:t>What is a use-case model?</a:t>
            </a:r>
          </a:p>
          <a:p>
            <a:pPr marL="230188" indent="-230188" eaLnBrk="1" hangingPunct="1">
              <a:lnSpc>
                <a:spcPct val="100000"/>
              </a:lnSpc>
            </a:pPr>
            <a:r>
              <a:rPr lang="en-US" sz="2000" dirty="0"/>
              <a:t>What is a use-case diagram?  </a:t>
            </a:r>
          </a:p>
          <a:p>
            <a:pPr marL="230188" indent="-230188" eaLnBrk="1" hangingPunct="1">
              <a:lnSpc>
                <a:spcPct val="100000"/>
              </a:lnSpc>
            </a:pPr>
            <a:r>
              <a:rPr lang="en-US" sz="2000" dirty="0"/>
              <a:t>What is a use-case specification?</a:t>
            </a:r>
          </a:p>
          <a:p>
            <a:pPr marL="230188" indent="-230188" eaLnBrk="1" hangingPunct="1">
              <a:lnSpc>
                <a:spcPct val="100000"/>
              </a:lnSpc>
            </a:pPr>
            <a:r>
              <a:rPr lang="en-US" sz="2000" dirty="0"/>
              <a:t>How does use-case modeling fit into the requirements management process?</a:t>
            </a:r>
          </a:p>
          <a:p>
            <a:pPr marL="230188" indent="-230188" eaLnBrk="1" hangingPunct="1">
              <a:lnSpc>
                <a:spcPct val="100000"/>
              </a:lnSpc>
            </a:pPr>
            <a:r>
              <a:rPr lang="en-US" sz="2000" dirty="0"/>
              <a:t>How does use-case modeling fit into the software development lifecycle?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22</a:t>
            </a:fld>
            <a:endParaRPr lang="en-US"/>
          </a:p>
        </p:txBody>
      </p:sp>
    </p:spTree>
    <p:extLst>
      <p:ext uri="{BB962C8B-B14F-4D97-AF65-F5344CB8AC3E}">
        <p14:creationId xmlns:p14="http://schemas.microsoft.com/office/powerpoint/2010/main" val="3347376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ctrTitle"/>
          </p:nvPr>
        </p:nvSpPr>
        <p:spPr/>
        <p:txBody>
          <a:bodyPr/>
          <a:lstStyle/>
          <a:p>
            <a:r>
              <a:rPr lang="en-US"/>
              <a:t>Use-case Model</a:t>
            </a:r>
            <a:endParaRPr lang="en-US" dirty="0"/>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4"/>
          </p:nvPr>
        </p:nvSpPr>
        <p:spPr>
          <a:xfrm>
            <a:off x="6553200" y="6537325"/>
            <a:ext cx="2133600" cy="320675"/>
          </a:xfrm>
        </p:spPr>
        <p:txBody>
          <a:bodyPr/>
          <a:lstStyle/>
          <a:p>
            <a:fld id="{333C615C-EBA2-46CC-BC7D-62072C64C651}" type="slidenum">
              <a:rPr lang="en-US" smtClean="0">
                <a:solidFill>
                  <a:srgbClr val="0070C0"/>
                </a:solidFill>
              </a:rPr>
              <a:pPr/>
              <a:t>23</a:t>
            </a:fld>
            <a:endParaRPr lang="en-US">
              <a:solidFill>
                <a:srgbClr val="0070C0"/>
              </a:solidFill>
            </a:endParaRPr>
          </a:p>
        </p:txBody>
      </p:sp>
    </p:spTree>
    <p:extLst>
      <p:ext uri="{BB962C8B-B14F-4D97-AF65-F5344CB8AC3E}">
        <p14:creationId xmlns:p14="http://schemas.microsoft.com/office/powerpoint/2010/main" val="1795481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eaLnBrk="1" hangingPunct="1">
              <a:defRPr/>
            </a:pPr>
            <a:r>
              <a:rPr lang="en-US" sz="2800" dirty="0"/>
              <a:t>Objectives</a:t>
            </a:r>
          </a:p>
        </p:txBody>
      </p:sp>
      <p:sp>
        <p:nvSpPr>
          <p:cNvPr id="34822" name="Rectangle 3"/>
          <p:cNvSpPr>
            <a:spLocks noGrp="1" noChangeArrowheads="1"/>
          </p:cNvSpPr>
          <p:nvPr>
            <p:ph type="body" idx="1"/>
          </p:nvPr>
        </p:nvSpPr>
        <p:spPr/>
        <p:txBody>
          <a:bodyPr/>
          <a:lstStyle/>
          <a:p>
            <a:pPr marL="230188" indent="-230188" eaLnBrk="1" hangingPunct="1">
              <a:lnSpc>
                <a:spcPct val="100000"/>
              </a:lnSpc>
            </a:pPr>
            <a:r>
              <a:rPr lang="en-US" sz="2000" dirty="0"/>
              <a:t>When you complete this module, you should be able to:</a:t>
            </a:r>
          </a:p>
          <a:p>
            <a:pPr marL="576263" lvl="1" indent="-231775" eaLnBrk="1" hangingPunct="1">
              <a:lnSpc>
                <a:spcPct val="100000"/>
              </a:lnSpc>
            </a:pPr>
            <a:r>
              <a:rPr lang="en-US" sz="2000" dirty="0"/>
              <a:t>Describe the use-case writing process</a:t>
            </a:r>
          </a:p>
          <a:p>
            <a:pPr marL="576263" lvl="1" indent="-231775" eaLnBrk="1" hangingPunct="1">
              <a:lnSpc>
                <a:spcPct val="100000"/>
              </a:lnSpc>
            </a:pPr>
            <a:r>
              <a:rPr lang="en-US" sz="2000" dirty="0"/>
              <a:t>Find and describe actors</a:t>
            </a:r>
          </a:p>
          <a:p>
            <a:pPr marL="576263" lvl="1" indent="-231775" eaLnBrk="1" hangingPunct="1">
              <a:lnSpc>
                <a:spcPct val="100000"/>
              </a:lnSpc>
            </a:pPr>
            <a:r>
              <a:rPr lang="en-US" sz="2000" dirty="0"/>
              <a:t>Find and describe use cases</a:t>
            </a:r>
          </a:p>
          <a:p>
            <a:pPr marL="576263" lvl="1" indent="-231775" eaLnBrk="1" hangingPunct="1">
              <a:lnSpc>
                <a:spcPct val="100000"/>
              </a:lnSpc>
            </a:pPr>
            <a:r>
              <a:rPr lang="en-US" sz="2000" dirty="0"/>
              <a:t>Relate use case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24</a:t>
            </a:fld>
            <a:endParaRPr lang="en-US"/>
          </a:p>
        </p:txBody>
      </p:sp>
    </p:spTree>
    <p:custDataLst>
      <p:tags r:id="rId1"/>
    </p:custDataLst>
    <p:extLst>
      <p:ext uri="{BB962C8B-B14F-4D97-AF65-F5344CB8AC3E}">
        <p14:creationId xmlns:p14="http://schemas.microsoft.com/office/powerpoint/2010/main" val="2727287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eaLnBrk="1" hangingPunct="1">
              <a:defRPr/>
            </a:pPr>
            <a:r>
              <a:rPr lang="en-US" sz="2800" dirty="0"/>
              <a:t>Process of writing use cases</a:t>
            </a:r>
          </a:p>
        </p:txBody>
      </p:sp>
      <p:sp>
        <p:nvSpPr>
          <p:cNvPr id="35846" name="Rectangle 3"/>
          <p:cNvSpPr>
            <a:spLocks noChangeArrowheads="1"/>
          </p:cNvSpPr>
          <p:nvPr/>
        </p:nvSpPr>
        <p:spPr bwMode="auto">
          <a:xfrm>
            <a:off x="381000" y="1219200"/>
            <a:ext cx="2895600" cy="10668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solidFill>
                <a:schemeClr val="tx1"/>
              </a:solidFill>
              <a:latin typeface="Arial" pitchFamily="34" charset="0"/>
              <a:cs typeface="Arial" pitchFamily="34" charset="0"/>
            </a:endParaRPr>
          </a:p>
        </p:txBody>
      </p:sp>
      <p:sp>
        <p:nvSpPr>
          <p:cNvPr id="35847" name="Text Box 4"/>
          <p:cNvSpPr txBox="1">
            <a:spLocks noChangeArrowheads="1"/>
          </p:cNvSpPr>
          <p:nvPr/>
        </p:nvSpPr>
        <p:spPr bwMode="auto">
          <a:xfrm>
            <a:off x="762000" y="14478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actors</a:t>
            </a:r>
          </a:p>
        </p:txBody>
      </p:sp>
      <p:sp>
        <p:nvSpPr>
          <p:cNvPr id="35848" name="Rectangle 5"/>
          <p:cNvSpPr>
            <a:spLocks noChangeArrowheads="1"/>
          </p:cNvSpPr>
          <p:nvPr/>
        </p:nvSpPr>
        <p:spPr bwMode="auto">
          <a:xfrm>
            <a:off x="381000" y="2743200"/>
            <a:ext cx="2895600" cy="10668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solidFill>
                <a:schemeClr val="tx1"/>
              </a:solidFill>
              <a:latin typeface="Arial" pitchFamily="34" charset="0"/>
              <a:cs typeface="Arial" pitchFamily="34" charset="0"/>
            </a:endParaRPr>
          </a:p>
        </p:txBody>
      </p:sp>
      <p:sp>
        <p:nvSpPr>
          <p:cNvPr id="35849" name="Text Box 6"/>
          <p:cNvSpPr txBox="1">
            <a:spLocks noChangeArrowheads="1"/>
          </p:cNvSpPr>
          <p:nvPr/>
        </p:nvSpPr>
        <p:spPr bwMode="auto">
          <a:xfrm>
            <a:off x="457200" y="29098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use cases</a:t>
            </a:r>
          </a:p>
        </p:txBody>
      </p:sp>
      <p:sp>
        <p:nvSpPr>
          <p:cNvPr id="35850" name="Rectangle 7"/>
          <p:cNvSpPr>
            <a:spLocks noChangeArrowheads="1"/>
          </p:cNvSpPr>
          <p:nvPr/>
        </p:nvSpPr>
        <p:spPr bwMode="auto">
          <a:xfrm>
            <a:off x="381000" y="4495800"/>
            <a:ext cx="2895600" cy="9906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solidFill>
                <a:schemeClr val="tx1"/>
              </a:solidFill>
              <a:latin typeface="Arial" pitchFamily="34" charset="0"/>
              <a:cs typeface="Arial" pitchFamily="34" charset="0"/>
            </a:endParaRPr>
          </a:p>
        </p:txBody>
      </p:sp>
      <p:sp>
        <p:nvSpPr>
          <p:cNvPr id="35851" name="Text Box 8"/>
          <p:cNvSpPr txBox="1">
            <a:spLocks noChangeArrowheads="1"/>
          </p:cNvSpPr>
          <p:nvPr/>
        </p:nvSpPr>
        <p:spPr bwMode="auto">
          <a:xfrm>
            <a:off x="609600" y="446405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Outline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35852" name="Rectangle 9"/>
          <p:cNvSpPr>
            <a:spLocks noChangeArrowheads="1"/>
          </p:cNvSpPr>
          <p:nvPr/>
        </p:nvSpPr>
        <p:spPr bwMode="auto">
          <a:xfrm>
            <a:off x="381000" y="5791200"/>
            <a:ext cx="2895600" cy="10668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solidFill>
                <a:schemeClr val="tx1"/>
              </a:solidFill>
              <a:latin typeface="Arial" pitchFamily="34" charset="0"/>
              <a:cs typeface="Arial" pitchFamily="34" charset="0"/>
            </a:endParaRPr>
          </a:p>
        </p:txBody>
      </p:sp>
      <p:sp>
        <p:nvSpPr>
          <p:cNvPr id="35853" name="Text Box 10"/>
          <p:cNvSpPr txBox="1">
            <a:spLocks noChangeArrowheads="1"/>
          </p:cNvSpPr>
          <p:nvPr/>
        </p:nvSpPr>
        <p:spPr bwMode="auto">
          <a:xfrm>
            <a:off x="609600" y="58674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Detail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35854" name="Line 11"/>
          <p:cNvSpPr>
            <a:spLocks noChangeShapeType="1"/>
          </p:cNvSpPr>
          <p:nvPr/>
        </p:nvSpPr>
        <p:spPr bwMode="auto">
          <a:xfrm>
            <a:off x="1828800" y="2057400"/>
            <a:ext cx="0" cy="6858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5" name="Line 12"/>
          <p:cNvSpPr>
            <a:spLocks noChangeShapeType="1"/>
          </p:cNvSpPr>
          <p:nvPr/>
        </p:nvSpPr>
        <p:spPr bwMode="auto">
          <a:xfrm>
            <a:off x="1828800" y="3657600"/>
            <a:ext cx="0" cy="838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6" name="Line 13"/>
          <p:cNvSpPr>
            <a:spLocks noChangeShapeType="1"/>
          </p:cNvSpPr>
          <p:nvPr/>
        </p:nvSpPr>
        <p:spPr bwMode="auto">
          <a:xfrm>
            <a:off x="1828800" y="53340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7" name="Freeform 14"/>
          <p:cNvSpPr>
            <a:spLocks/>
          </p:cNvSpPr>
          <p:nvPr/>
        </p:nvSpPr>
        <p:spPr bwMode="auto">
          <a:xfrm>
            <a:off x="4173538" y="2590800"/>
            <a:ext cx="2608262" cy="457200"/>
          </a:xfrm>
          <a:custGeom>
            <a:avLst/>
            <a:gdLst>
              <a:gd name="T0" fmla="*/ 574 w 1043"/>
              <a:gd name="T1" fmla="*/ 0 h 366"/>
              <a:gd name="T2" fmla="*/ 649 w 1043"/>
              <a:gd name="T3" fmla="*/ 7 h 366"/>
              <a:gd name="T4" fmla="*/ 725 w 1043"/>
              <a:gd name="T5" fmla="*/ 14 h 366"/>
              <a:gd name="T6" fmla="*/ 792 w 1043"/>
              <a:gd name="T7" fmla="*/ 25 h 366"/>
              <a:gd name="T8" fmla="*/ 851 w 1043"/>
              <a:gd name="T9" fmla="*/ 43 h 366"/>
              <a:gd name="T10" fmla="*/ 905 w 1043"/>
              <a:gd name="T11" fmla="*/ 62 h 366"/>
              <a:gd name="T12" fmla="*/ 951 w 1043"/>
              <a:gd name="T13" fmla="*/ 80 h 366"/>
              <a:gd name="T14" fmla="*/ 989 w 1043"/>
              <a:gd name="T15" fmla="*/ 105 h 366"/>
              <a:gd name="T16" fmla="*/ 1018 w 1043"/>
              <a:gd name="T17" fmla="*/ 127 h 366"/>
              <a:gd name="T18" fmla="*/ 1035 w 1043"/>
              <a:gd name="T19" fmla="*/ 156 h 366"/>
              <a:gd name="T20" fmla="*/ 1043 w 1043"/>
              <a:gd name="T21" fmla="*/ 181 h 366"/>
              <a:gd name="T22" fmla="*/ 1035 w 1043"/>
              <a:gd name="T23" fmla="*/ 210 h 366"/>
              <a:gd name="T24" fmla="*/ 1018 w 1043"/>
              <a:gd name="T25" fmla="*/ 236 h 366"/>
              <a:gd name="T26" fmla="*/ 989 w 1043"/>
              <a:gd name="T27" fmla="*/ 261 h 366"/>
              <a:gd name="T28" fmla="*/ 951 w 1043"/>
              <a:gd name="T29" fmla="*/ 283 h 366"/>
              <a:gd name="T30" fmla="*/ 905 w 1043"/>
              <a:gd name="T31" fmla="*/ 305 h 366"/>
              <a:gd name="T32" fmla="*/ 851 w 1043"/>
              <a:gd name="T33" fmla="*/ 323 h 366"/>
              <a:gd name="T34" fmla="*/ 792 w 1043"/>
              <a:gd name="T35" fmla="*/ 337 h 366"/>
              <a:gd name="T36" fmla="*/ 725 w 1043"/>
              <a:gd name="T37" fmla="*/ 352 h 366"/>
              <a:gd name="T38" fmla="*/ 649 w 1043"/>
              <a:gd name="T39" fmla="*/ 359 h 366"/>
              <a:gd name="T40" fmla="*/ 574 w 1043"/>
              <a:gd name="T41" fmla="*/ 363 h 366"/>
              <a:gd name="T42" fmla="*/ 494 w 1043"/>
              <a:gd name="T43" fmla="*/ 363 h 366"/>
              <a:gd name="T44" fmla="*/ 415 w 1043"/>
              <a:gd name="T45" fmla="*/ 359 h 366"/>
              <a:gd name="T46" fmla="*/ 344 w 1043"/>
              <a:gd name="T47" fmla="*/ 352 h 366"/>
              <a:gd name="T48" fmla="*/ 272 w 1043"/>
              <a:gd name="T49" fmla="*/ 341 h 366"/>
              <a:gd name="T50" fmla="*/ 210 w 1043"/>
              <a:gd name="T51" fmla="*/ 330 h 366"/>
              <a:gd name="T52" fmla="*/ 155 w 1043"/>
              <a:gd name="T53" fmla="*/ 312 h 366"/>
              <a:gd name="T54" fmla="*/ 105 w 1043"/>
              <a:gd name="T55" fmla="*/ 290 h 366"/>
              <a:gd name="T56" fmla="*/ 63 w 1043"/>
              <a:gd name="T57" fmla="*/ 268 h 366"/>
              <a:gd name="T58" fmla="*/ 34 w 1043"/>
              <a:gd name="T59" fmla="*/ 247 h 366"/>
              <a:gd name="T60" fmla="*/ 13 w 1043"/>
              <a:gd name="T61" fmla="*/ 218 h 366"/>
              <a:gd name="T62" fmla="*/ 0 w 1043"/>
              <a:gd name="T63" fmla="*/ 192 h 366"/>
              <a:gd name="T64" fmla="*/ 4 w 1043"/>
              <a:gd name="T65" fmla="*/ 163 h 366"/>
              <a:gd name="T66" fmla="*/ 17 w 1043"/>
              <a:gd name="T67" fmla="*/ 138 h 366"/>
              <a:gd name="T68" fmla="*/ 42 w 1043"/>
              <a:gd name="T69" fmla="*/ 112 h 366"/>
              <a:gd name="T70" fmla="*/ 75 w 1043"/>
              <a:gd name="T71" fmla="*/ 87 h 366"/>
              <a:gd name="T72" fmla="*/ 122 w 1043"/>
              <a:gd name="T73" fmla="*/ 65 h 366"/>
              <a:gd name="T74" fmla="*/ 172 w 1043"/>
              <a:gd name="T75" fmla="*/ 47 h 366"/>
              <a:gd name="T76" fmla="*/ 231 w 1043"/>
              <a:gd name="T77" fmla="*/ 33 h 366"/>
              <a:gd name="T78" fmla="*/ 298 w 1043"/>
              <a:gd name="T79" fmla="*/ 18 h 366"/>
              <a:gd name="T80" fmla="*/ 365 w 1043"/>
              <a:gd name="T81" fmla="*/ 7 h 366"/>
              <a:gd name="T82" fmla="*/ 440 w 1043"/>
              <a:gd name="T83" fmla="*/ 4 h 366"/>
              <a:gd name="T84" fmla="*/ 520 w 1043"/>
              <a:gd name="T85" fmla="*/ 0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43"/>
              <a:gd name="T130" fmla="*/ 0 h 366"/>
              <a:gd name="T131" fmla="*/ 1043 w 1043"/>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43" h="366">
                <a:moveTo>
                  <a:pt x="520" y="0"/>
                </a:moveTo>
                <a:lnTo>
                  <a:pt x="549" y="0"/>
                </a:lnTo>
                <a:lnTo>
                  <a:pt x="574" y="0"/>
                </a:lnTo>
                <a:lnTo>
                  <a:pt x="599" y="4"/>
                </a:lnTo>
                <a:lnTo>
                  <a:pt x="624" y="4"/>
                </a:lnTo>
                <a:lnTo>
                  <a:pt x="649" y="7"/>
                </a:lnTo>
                <a:lnTo>
                  <a:pt x="675" y="7"/>
                </a:lnTo>
                <a:lnTo>
                  <a:pt x="700" y="11"/>
                </a:lnTo>
                <a:lnTo>
                  <a:pt x="725" y="14"/>
                </a:lnTo>
                <a:lnTo>
                  <a:pt x="746" y="18"/>
                </a:lnTo>
                <a:lnTo>
                  <a:pt x="767" y="22"/>
                </a:lnTo>
                <a:lnTo>
                  <a:pt x="792" y="25"/>
                </a:lnTo>
                <a:lnTo>
                  <a:pt x="813" y="33"/>
                </a:lnTo>
                <a:lnTo>
                  <a:pt x="834" y="36"/>
                </a:lnTo>
                <a:lnTo>
                  <a:pt x="851" y="43"/>
                </a:lnTo>
                <a:lnTo>
                  <a:pt x="871" y="47"/>
                </a:lnTo>
                <a:lnTo>
                  <a:pt x="888" y="54"/>
                </a:lnTo>
                <a:lnTo>
                  <a:pt x="905" y="62"/>
                </a:lnTo>
                <a:lnTo>
                  <a:pt x="922" y="65"/>
                </a:lnTo>
                <a:lnTo>
                  <a:pt x="939" y="73"/>
                </a:lnTo>
                <a:lnTo>
                  <a:pt x="951" y="80"/>
                </a:lnTo>
                <a:lnTo>
                  <a:pt x="964" y="87"/>
                </a:lnTo>
                <a:lnTo>
                  <a:pt x="976" y="94"/>
                </a:lnTo>
                <a:lnTo>
                  <a:pt x="989" y="105"/>
                </a:lnTo>
                <a:lnTo>
                  <a:pt x="1001" y="112"/>
                </a:lnTo>
                <a:lnTo>
                  <a:pt x="1010" y="120"/>
                </a:lnTo>
                <a:lnTo>
                  <a:pt x="1018" y="127"/>
                </a:lnTo>
                <a:lnTo>
                  <a:pt x="1026" y="138"/>
                </a:lnTo>
                <a:lnTo>
                  <a:pt x="1031" y="145"/>
                </a:lnTo>
                <a:lnTo>
                  <a:pt x="1035" y="156"/>
                </a:lnTo>
                <a:lnTo>
                  <a:pt x="1039" y="163"/>
                </a:lnTo>
                <a:lnTo>
                  <a:pt x="1039" y="174"/>
                </a:lnTo>
                <a:lnTo>
                  <a:pt x="1043" y="181"/>
                </a:lnTo>
                <a:lnTo>
                  <a:pt x="1039" y="192"/>
                </a:lnTo>
                <a:lnTo>
                  <a:pt x="1039" y="200"/>
                </a:lnTo>
                <a:lnTo>
                  <a:pt x="1035" y="210"/>
                </a:lnTo>
                <a:lnTo>
                  <a:pt x="1031" y="218"/>
                </a:lnTo>
                <a:lnTo>
                  <a:pt x="1026" y="229"/>
                </a:lnTo>
                <a:lnTo>
                  <a:pt x="1018" y="236"/>
                </a:lnTo>
                <a:lnTo>
                  <a:pt x="1010" y="247"/>
                </a:lnTo>
                <a:lnTo>
                  <a:pt x="1001" y="254"/>
                </a:lnTo>
                <a:lnTo>
                  <a:pt x="989" y="261"/>
                </a:lnTo>
                <a:lnTo>
                  <a:pt x="976" y="268"/>
                </a:lnTo>
                <a:lnTo>
                  <a:pt x="964" y="276"/>
                </a:lnTo>
                <a:lnTo>
                  <a:pt x="951" y="283"/>
                </a:lnTo>
                <a:lnTo>
                  <a:pt x="939" y="290"/>
                </a:lnTo>
                <a:lnTo>
                  <a:pt x="922" y="298"/>
                </a:lnTo>
                <a:lnTo>
                  <a:pt x="905" y="305"/>
                </a:lnTo>
                <a:lnTo>
                  <a:pt x="888" y="312"/>
                </a:lnTo>
                <a:lnTo>
                  <a:pt x="871" y="316"/>
                </a:lnTo>
                <a:lnTo>
                  <a:pt x="851" y="323"/>
                </a:lnTo>
                <a:lnTo>
                  <a:pt x="834" y="330"/>
                </a:lnTo>
                <a:lnTo>
                  <a:pt x="813" y="334"/>
                </a:lnTo>
                <a:lnTo>
                  <a:pt x="792" y="337"/>
                </a:lnTo>
                <a:lnTo>
                  <a:pt x="767" y="341"/>
                </a:lnTo>
                <a:lnTo>
                  <a:pt x="746" y="348"/>
                </a:lnTo>
                <a:lnTo>
                  <a:pt x="725" y="352"/>
                </a:lnTo>
                <a:lnTo>
                  <a:pt x="700" y="352"/>
                </a:lnTo>
                <a:lnTo>
                  <a:pt x="675" y="356"/>
                </a:lnTo>
                <a:lnTo>
                  <a:pt x="649" y="359"/>
                </a:lnTo>
                <a:lnTo>
                  <a:pt x="624" y="359"/>
                </a:lnTo>
                <a:lnTo>
                  <a:pt x="599" y="363"/>
                </a:lnTo>
                <a:lnTo>
                  <a:pt x="574" y="363"/>
                </a:lnTo>
                <a:lnTo>
                  <a:pt x="549" y="363"/>
                </a:lnTo>
                <a:lnTo>
                  <a:pt x="520" y="366"/>
                </a:lnTo>
                <a:lnTo>
                  <a:pt x="494" y="363"/>
                </a:lnTo>
                <a:lnTo>
                  <a:pt x="469" y="363"/>
                </a:lnTo>
                <a:lnTo>
                  <a:pt x="440" y="363"/>
                </a:lnTo>
                <a:lnTo>
                  <a:pt x="415" y="359"/>
                </a:lnTo>
                <a:lnTo>
                  <a:pt x="390" y="359"/>
                </a:lnTo>
                <a:lnTo>
                  <a:pt x="365" y="356"/>
                </a:lnTo>
                <a:lnTo>
                  <a:pt x="344" y="352"/>
                </a:lnTo>
                <a:lnTo>
                  <a:pt x="318" y="352"/>
                </a:lnTo>
                <a:lnTo>
                  <a:pt x="298" y="348"/>
                </a:lnTo>
                <a:lnTo>
                  <a:pt x="272" y="341"/>
                </a:lnTo>
                <a:lnTo>
                  <a:pt x="251" y="337"/>
                </a:lnTo>
                <a:lnTo>
                  <a:pt x="231" y="334"/>
                </a:lnTo>
                <a:lnTo>
                  <a:pt x="210" y="330"/>
                </a:lnTo>
                <a:lnTo>
                  <a:pt x="189" y="323"/>
                </a:lnTo>
                <a:lnTo>
                  <a:pt x="172" y="316"/>
                </a:lnTo>
                <a:lnTo>
                  <a:pt x="155" y="312"/>
                </a:lnTo>
                <a:lnTo>
                  <a:pt x="138" y="305"/>
                </a:lnTo>
                <a:lnTo>
                  <a:pt x="122" y="298"/>
                </a:lnTo>
                <a:lnTo>
                  <a:pt x="105" y="290"/>
                </a:lnTo>
                <a:lnTo>
                  <a:pt x="88" y="283"/>
                </a:lnTo>
                <a:lnTo>
                  <a:pt x="75" y="276"/>
                </a:lnTo>
                <a:lnTo>
                  <a:pt x="63" y="268"/>
                </a:lnTo>
                <a:lnTo>
                  <a:pt x="50" y="261"/>
                </a:lnTo>
                <a:lnTo>
                  <a:pt x="42" y="254"/>
                </a:lnTo>
                <a:lnTo>
                  <a:pt x="34" y="247"/>
                </a:lnTo>
                <a:lnTo>
                  <a:pt x="25" y="236"/>
                </a:lnTo>
                <a:lnTo>
                  <a:pt x="17" y="229"/>
                </a:lnTo>
                <a:lnTo>
                  <a:pt x="13" y="218"/>
                </a:lnTo>
                <a:lnTo>
                  <a:pt x="8" y="210"/>
                </a:lnTo>
                <a:lnTo>
                  <a:pt x="4" y="200"/>
                </a:lnTo>
                <a:lnTo>
                  <a:pt x="0" y="192"/>
                </a:lnTo>
                <a:lnTo>
                  <a:pt x="0" y="181"/>
                </a:lnTo>
                <a:lnTo>
                  <a:pt x="0" y="174"/>
                </a:lnTo>
                <a:lnTo>
                  <a:pt x="4" y="163"/>
                </a:lnTo>
                <a:lnTo>
                  <a:pt x="8" y="156"/>
                </a:lnTo>
                <a:lnTo>
                  <a:pt x="13" y="145"/>
                </a:lnTo>
                <a:lnTo>
                  <a:pt x="17" y="138"/>
                </a:lnTo>
                <a:lnTo>
                  <a:pt x="25" y="127"/>
                </a:lnTo>
                <a:lnTo>
                  <a:pt x="34" y="120"/>
                </a:lnTo>
                <a:lnTo>
                  <a:pt x="42" y="112"/>
                </a:lnTo>
                <a:lnTo>
                  <a:pt x="50" y="105"/>
                </a:lnTo>
                <a:lnTo>
                  <a:pt x="63" y="94"/>
                </a:lnTo>
                <a:lnTo>
                  <a:pt x="75" y="87"/>
                </a:lnTo>
                <a:lnTo>
                  <a:pt x="88" y="80"/>
                </a:lnTo>
                <a:lnTo>
                  <a:pt x="105" y="73"/>
                </a:lnTo>
                <a:lnTo>
                  <a:pt x="122" y="65"/>
                </a:lnTo>
                <a:lnTo>
                  <a:pt x="138" y="62"/>
                </a:lnTo>
                <a:lnTo>
                  <a:pt x="155" y="54"/>
                </a:lnTo>
                <a:lnTo>
                  <a:pt x="172" y="47"/>
                </a:lnTo>
                <a:lnTo>
                  <a:pt x="189" y="43"/>
                </a:lnTo>
                <a:lnTo>
                  <a:pt x="210" y="36"/>
                </a:lnTo>
                <a:lnTo>
                  <a:pt x="231" y="33"/>
                </a:lnTo>
                <a:lnTo>
                  <a:pt x="251" y="25"/>
                </a:lnTo>
                <a:lnTo>
                  <a:pt x="272" y="22"/>
                </a:lnTo>
                <a:lnTo>
                  <a:pt x="298" y="18"/>
                </a:lnTo>
                <a:lnTo>
                  <a:pt x="318" y="14"/>
                </a:lnTo>
                <a:lnTo>
                  <a:pt x="344" y="11"/>
                </a:lnTo>
                <a:lnTo>
                  <a:pt x="365" y="7"/>
                </a:lnTo>
                <a:lnTo>
                  <a:pt x="390" y="7"/>
                </a:lnTo>
                <a:lnTo>
                  <a:pt x="415" y="4"/>
                </a:lnTo>
                <a:lnTo>
                  <a:pt x="440" y="4"/>
                </a:lnTo>
                <a:lnTo>
                  <a:pt x="469" y="0"/>
                </a:lnTo>
                <a:lnTo>
                  <a:pt x="494" y="0"/>
                </a:lnTo>
                <a:lnTo>
                  <a:pt x="520" y="0"/>
                </a:lnTo>
                <a:close/>
              </a:path>
            </a:pathLst>
          </a:custGeom>
          <a:solidFill>
            <a:schemeClr val="accent1"/>
          </a:solidFill>
          <a:ln w="28575">
            <a:solidFill>
              <a:schemeClr val="tx1"/>
            </a:solidFill>
            <a:round/>
            <a:headEnd/>
            <a:tailEnd/>
          </a:ln>
        </p:spPr>
        <p:txBody>
          <a:bodyPr/>
          <a:lstStyle/>
          <a:p>
            <a:endParaRPr lang="en-US"/>
          </a:p>
        </p:txBody>
      </p:sp>
      <p:sp>
        <p:nvSpPr>
          <p:cNvPr id="35858" name="Rectangle 15"/>
          <p:cNvSpPr>
            <a:spLocks noChangeArrowheads="1"/>
          </p:cNvSpPr>
          <p:nvPr/>
        </p:nvSpPr>
        <p:spPr bwMode="auto">
          <a:xfrm>
            <a:off x="4262438" y="2590800"/>
            <a:ext cx="2349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2075" tIns="46038" rIns="92075" bIns="46038">
            <a:spAutoFit/>
          </a:bodyPr>
          <a:lstStyle/>
          <a:p>
            <a:pPr algn="ctr" eaLnBrk="0" hangingPunct="0"/>
            <a:r>
              <a:rPr lang="en-US" sz="1800">
                <a:solidFill>
                  <a:schemeClr val="tx1"/>
                </a:solidFill>
                <a:latin typeface="Arial" pitchFamily="34" charset="0"/>
              </a:rPr>
              <a:t>Close Registration</a:t>
            </a:r>
          </a:p>
        </p:txBody>
      </p:sp>
      <p:sp>
        <p:nvSpPr>
          <p:cNvPr id="35859" name="Rectangle 16"/>
          <p:cNvSpPr>
            <a:spLocks noChangeArrowheads="1"/>
          </p:cNvSpPr>
          <p:nvPr/>
        </p:nvSpPr>
        <p:spPr bwMode="auto">
          <a:xfrm>
            <a:off x="3505200" y="3076575"/>
            <a:ext cx="5334000" cy="141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137160">
            <a:spAutoFit/>
          </a:bodyPr>
          <a:lstStyle/>
          <a:p>
            <a:pPr eaLnBrk="0" hangingPunct="0"/>
            <a:r>
              <a:rPr lang="en-US" sz="1600" b="1" dirty="0">
                <a:solidFill>
                  <a:srgbClr val="006699"/>
                </a:solidFill>
                <a:latin typeface="Arial" pitchFamily="34" charset="0"/>
              </a:rPr>
              <a:t>Brief description</a:t>
            </a:r>
            <a:r>
              <a:rPr lang="en-US" sz="1600" dirty="0">
                <a:solidFill>
                  <a:schemeClr val="tx1"/>
                </a:solidFill>
                <a:latin typeface="Arial" pitchFamily="34" charset="0"/>
              </a:rPr>
              <a:t>: This use case a</a:t>
            </a:r>
            <a:r>
              <a:rPr lang="en-US" sz="1600" dirty="0">
                <a:solidFill>
                  <a:schemeClr val="tx1"/>
                </a:solidFill>
                <a:latin typeface="Arial" pitchFamily="34" charset="0"/>
                <a:cs typeface="Times New Roman" pitchFamily="18" charset="0"/>
              </a:rPr>
              <a:t>llows a Registrar to close the registration process. Courses that do not have enough students are cancelled. The Billing System is notified for each student in each course that is not cancelled, so the student can be billed.</a:t>
            </a:r>
          </a:p>
        </p:txBody>
      </p:sp>
      <p:sp>
        <p:nvSpPr>
          <p:cNvPr id="35860" name="Rectangle 17"/>
          <p:cNvSpPr>
            <a:spLocks noChangeArrowheads="1"/>
          </p:cNvSpPr>
          <p:nvPr/>
        </p:nvSpPr>
        <p:spPr bwMode="auto">
          <a:xfrm>
            <a:off x="3438525" y="4567238"/>
            <a:ext cx="2736328" cy="81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defTabSz="661988" eaLnBrk="0" hangingPunct="0"/>
            <a:r>
              <a:rPr lang="en-US" sz="1600" b="1" dirty="0">
                <a:solidFill>
                  <a:srgbClr val="006699"/>
                </a:solidFill>
                <a:latin typeface="Arial" pitchFamily="34" charset="0"/>
              </a:rPr>
              <a:t>Close Registration Outline</a:t>
            </a:r>
            <a:endParaRPr lang="en-US" sz="1600" b="1" i="1" dirty="0">
              <a:solidFill>
                <a:srgbClr val="006699"/>
              </a:solidFill>
              <a:latin typeface="Arial" pitchFamily="34" charset="0"/>
            </a:endParaRPr>
          </a:p>
          <a:p>
            <a:pPr defTabSz="661988" eaLnBrk="0" hangingPunct="0"/>
            <a:r>
              <a:rPr lang="en-US" sz="1600" dirty="0">
                <a:solidFill>
                  <a:schemeClr val="tx1"/>
                </a:solidFill>
                <a:latin typeface="Arial" pitchFamily="34" charset="0"/>
              </a:rPr>
              <a:t>-Flow of events</a:t>
            </a:r>
          </a:p>
          <a:p>
            <a:pPr marL="388938" lvl="1" defTabSz="661988" eaLnBrk="0" hangingPunct="0">
              <a:buFontTx/>
              <a:buChar char="-"/>
            </a:pPr>
            <a:r>
              <a:rPr lang="en-US" sz="1600" dirty="0">
                <a:solidFill>
                  <a:schemeClr val="tx1"/>
                </a:solidFill>
                <a:latin typeface="Arial" pitchFamily="34" charset="0"/>
              </a:rPr>
              <a:t>Step by step</a:t>
            </a:r>
          </a:p>
        </p:txBody>
      </p:sp>
      <p:sp>
        <p:nvSpPr>
          <p:cNvPr id="35861" name="Rectangle 18"/>
          <p:cNvSpPr>
            <a:spLocks noChangeArrowheads="1"/>
          </p:cNvSpPr>
          <p:nvPr/>
        </p:nvSpPr>
        <p:spPr bwMode="auto">
          <a:xfrm>
            <a:off x="3581400" y="5638800"/>
            <a:ext cx="5106988" cy="10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88" tIns="39688" rIns="77788" bIns="39688">
            <a:spAutoFit/>
          </a:bodyPr>
          <a:lstStyle/>
          <a:p>
            <a:pPr defTabSz="661988" eaLnBrk="0" hangingPunct="0"/>
            <a:r>
              <a:rPr lang="en-US" sz="1600" b="1" dirty="0">
                <a:solidFill>
                  <a:srgbClr val="006699"/>
                </a:solidFill>
                <a:latin typeface="Arial" pitchFamily="34" charset="0"/>
              </a:rPr>
              <a:t>Close Registration Use-Case Specification</a:t>
            </a:r>
            <a:endParaRPr lang="en-US" sz="1600" b="1" i="1" dirty="0">
              <a:solidFill>
                <a:srgbClr val="006699"/>
              </a:solidFill>
              <a:latin typeface="Arial" pitchFamily="34" charset="0"/>
            </a:endParaRPr>
          </a:p>
          <a:p>
            <a:pPr defTabSz="661988" eaLnBrk="0" hangingPunct="0"/>
            <a:r>
              <a:rPr lang="en-US" sz="1600" dirty="0">
                <a:solidFill>
                  <a:schemeClr val="tx1"/>
                </a:solidFill>
                <a:latin typeface="Arial" pitchFamily="34" charset="0"/>
              </a:rPr>
              <a:t>-Detailed Flow of Events</a:t>
            </a:r>
          </a:p>
          <a:p>
            <a:pPr defTabSz="661988" eaLnBrk="0" hangingPunct="0"/>
            <a:r>
              <a:rPr lang="en-US" sz="1600" dirty="0">
                <a:solidFill>
                  <a:schemeClr val="tx1"/>
                </a:solidFill>
                <a:latin typeface="Arial" pitchFamily="34" charset="0"/>
              </a:rPr>
              <a:t>-Special Requirements</a:t>
            </a:r>
          </a:p>
          <a:p>
            <a:pPr defTabSz="661988" eaLnBrk="0" hangingPunct="0">
              <a:buFontTx/>
              <a:buChar char="-"/>
            </a:pPr>
            <a:r>
              <a:rPr lang="en-US" sz="1600" dirty="0">
                <a:solidFill>
                  <a:schemeClr val="tx1"/>
                </a:solidFill>
                <a:latin typeface="Arial" pitchFamily="34" charset="0"/>
              </a:rPr>
              <a:t>Pre/</a:t>
            </a:r>
            <a:r>
              <a:rPr lang="en-US" sz="1600" dirty="0" err="1">
                <a:solidFill>
                  <a:schemeClr val="tx1"/>
                </a:solidFill>
                <a:latin typeface="Arial" pitchFamily="34" charset="0"/>
              </a:rPr>
              <a:t>Postconditions</a:t>
            </a:r>
            <a:endParaRPr lang="en-US" sz="1600" dirty="0">
              <a:solidFill>
                <a:schemeClr val="tx1"/>
              </a:solidFill>
              <a:latin typeface="Arial" pitchFamily="34" charset="0"/>
            </a:endParaRPr>
          </a:p>
        </p:txBody>
      </p:sp>
      <p:grpSp>
        <p:nvGrpSpPr>
          <p:cNvPr id="35862" name="Group 19"/>
          <p:cNvGrpSpPr>
            <a:grpSpLocks/>
          </p:cNvGrpSpPr>
          <p:nvPr/>
        </p:nvGrpSpPr>
        <p:grpSpPr bwMode="auto">
          <a:xfrm>
            <a:off x="4859338" y="1447800"/>
            <a:ext cx="779462" cy="606425"/>
            <a:chOff x="604" y="2126"/>
            <a:chExt cx="426" cy="339"/>
          </a:xfrm>
        </p:grpSpPr>
        <p:grpSp>
          <p:nvGrpSpPr>
            <p:cNvPr id="35879" name="Group 20"/>
            <p:cNvGrpSpPr>
              <a:grpSpLocks/>
            </p:cNvGrpSpPr>
            <p:nvPr/>
          </p:nvGrpSpPr>
          <p:grpSpPr bwMode="auto">
            <a:xfrm>
              <a:off x="722" y="2126"/>
              <a:ext cx="141" cy="177"/>
              <a:chOff x="722" y="2126"/>
              <a:chExt cx="141" cy="177"/>
            </a:xfrm>
          </p:grpSpPr>
          <p:sp>
            <p:nvSpPr>
              <p:cNvPr id="35881" name="Oval 21"/>
              <p:cNvSpPr>
                <a:spLocks noChangeArrowheads="1"/>
              </p:cNvSpPr>
              <p:nvPr/>
            </p:nvSpPr>
            <p:spPr bwMode="auto">
              <a:xfrm>
                <a:off x="760" y="2126"/>
                <a:ext cx="65" cy="58"/>
              </a:xfrm>
              <a:prstGeom prst="ellipse">
                <a:avLst/>
              </a:prstGeom>
              <a:noFill/>
              <a:ln w="28575" cap="rnd">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82" name="Line 22"/>
              <p:cNvSpPr>
                <a:spLocks noChangeShapeType="1"/>
              </p:cNvSpPr>
              <p:nvPr/>
            </p:nvSpPr>
            <p:spPr bwMode="auto">
              <a:xfrm>
                <a:off x="793" y="2185"/>
                <a:ext cx="1" cy="5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3" name="Line 23"/>
              <p:cNvSpPr>
                <a:spLocks noChangeShapeType="1"/>
              </p:cNvSpPr>
              <p:nvPr/>
            </p:nvSpPr>
            <p:spPr bwMode="auto">
              <a:xfrm>
                <a:off x="742" y="2200"/>
                <a:ext cx="102" cy="1"/>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4" name="Freeform 24"/>
              <p:cNvSpPr>
                <a:spLocks/>
              </p:cNvSpPr>
              <p:nvPr/>
            </p:nvSpPr>
            <p:spPr bwMode="auto">
              <a:xfrm>
                <a:off x="722" y="2239"/>
                <a:ext cx="141" cy="64"/>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5880" name="Rectangle 25"/>
            <p:cNvSpPr>
              <a:spLocks noChangeArrowheads="1"/>
            </p:cNvSpPr>
            <p:nvPr/>
          </p:nvSpPr>
          <p:spPr bwMode="auto">
            <a:xfrm>
              <a:off x="604" y="2346"/>
              <a:ext cx="426"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a:solidFill>
                    <a:schemeClr val="tx1"/>
                  </a:solidFill>
                  <a:latin typeface="Arial" pitchFamily="34" charset="0"/>
                </a:rPr>
                <a:t>Registrar</a:t>
              </a:r>
              <a:endParaRPr lang="en-US" sz="2400">
                <a:solidFill>
                  <a:schemeClr val="tx1"/>
                </a:solidFill>
              </a:endParaRPr>
            </a:p>
          </p:txBody>
        </p:sp>
      </p:grpSp>
      <p:grpSp>
        <p:nvGrpSpPr>
          <p:cNvPr id="35863" name="Group 26"/>
          <p:cNvGrpSpPr>
            <a:grpSpLocks/>
          </p:cNvGrpSpPr>
          <p:nvPr/>
        </p:nvGrpSpPr>
        <p:grpSpPr bwMode="auto">
          <a:xfrm>
            <a:off x="5075238" y="1447800"/>
            <a:ext cx="257175" cy="317500"/>
            <a:chOff x="722" y="2126"/>
            <a:chExt cx="141" cy="177"/>
          </a:xfrm>
        </p:grpSpPr>
        <p:sp>
          <p:nvSpPr>
            <p:cNvPr id="35875" name="Oval 27"/>
            <p:cNvSpPr>
              <a:spLocks noChangeArrowheads="1"/>
            </p:cNvSpPr>
            <p:nvPr/>
          </p:nvSpPr>
          <p:spPr bwMode="auto">
            <a:xfrm>
              <a:off x="760" y="2126"/>
              <a:ext cx="65" cy="58"/>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76" name="Line 28"/>
            <p:cNvSpPr>
              <a:spLocks noChangeShapeType="1"/>
            </p:cNvSpPr>
            <p:nvPr/>
          </p:nvSpPr>
          <p:spPr bwMode="auto">
            <a:xfrm>
              <a:off x="793" y="2185"/>
              <a:ext cx="1" cy="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7" name="Line 29"/>
            <p:cNvSpPr>
              <a:spLocks noChangeShapeType="1"/>
            </p:cNvSpPr>
            <p:nvPr/>
          </p:nvSpPr>
          <p:spPr bwMode="auto">
            <a:xfrm>
              <a:off x="742" y="2200"/>
              <a:ext cx="102"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8" name="Freeform 30"/>
            <p:cNvSpPr>
              <a:spLocks/>
            </p:cNvSpPr>
            <p:nvPr/>
          </p:nvSpPr>
          <p:spPr bwMode="auto">
            <a:xfrm>
              <a:off x="722" y="2239"/>
              <a:ext cx="141" cy="64"/>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5864" name="Oval 31"/>
          <p:cNvSpPr>
            <a:spLocks noChangeArrowheads="1"/>
          </p:cNvSpPr>
          <p:nvPr/>
        </p:nvSpPr>
        <p:spPr bwMode="auto">
          <a:xfrm>
            <a:off x="5143500" y="1447800"/>
            <a:ext cx="119063" cy="103188"/>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65" name="Line 32"/>
          <p:cNvSpPr>
            <a:spLocks noChangeShapeType="1"/>
          </p:cNvSpPr>
          <p:nvPr/>
        </p:nvSpPr>
        <p:spPr bwMode="auto">
          <a:xfrm>
            <a:off x="5203825" y="1552575"/>
            <a:ext cx="3175" cy="968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6" name="Line 33"/>
          <p:cNvSpPr>
            <a:spLocks noChangeShapeType="1"/>
          </p:cNvSpPr>
          <p:nvPr/>
        </p:nvSpPr>
        <p:spPr bwMode="auto">
          <a:xfrm>
            <a:off x="5111750" y="1579563"/>
            <a:ext cx="185738"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7" name="Freeform 34"/>
          <p:cNvSpPr>
            <a:spLocks/>
          </p:cNvSpPr>
          <p:nvPr/>
        </p:nvSpPr>
        <p:spPr bwMode="auto">
          <a:xfrm>
            <a:off x="5075238" y="1649413"/>
            <a:ext cx="257175" cy="115887"/>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68" name="Oval 35"/>
          <p:cNvSpPr>
            <a:spLocks noChangeArrowheads="1"/>
          </p:cNvSpPr>
          <p:nvPr/>
        </p:nvSpPr>
        <p:spPr bwMode="auto">
          <a:xfrm>
            <a:off x="5143500" y="1447800"/>
            <a:ext cx="119063" cy="103188"/>
          </a:xfrm>
          <a:prstGeom prst="ellipse">
            <a:avLst/>
          </a:pr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69" name="Line 36"/>
          <p:cNvSpPr>
            <a:spLocks noChangeShapeType="1"/>
          </p:cNvSpPr>
          <p:nvPr/>
        </p:nvSpPr>
        <p:spPr bwMode="auto">
          <a:xfrm>
            <a:off x="5203825" y="1552575"/>
            <a:ext cx="3175" cy="968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0" name="Line 37"/>
          <p:cNvSpPr>
            <a:spLocks noChangeShapeType="1"/>
          </p:cNvSpPr>
          <p:nvPr/>
        </p:nvSpPr>
        <p:spPr bwMode="auto">
          <a:xfrm>
            <a:off x="5111750" y="1579563"/>
            <a:ext cx="185738"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1" name="Freeform 38"/>
          <p:cNvSpPr>
            <a:spLocks/>
          </p:cNvSpPr>
          <p:nvPr/>
        </p:nvSpPr>
        <p:spPr bwMode="auto">
          <a:xfrm>
            <a:off x="5075238" y="1649413"/>
            <a:ext cx="257175" cy="115887"/>
          </a:xfrm>
          <a:custGeom>
            <a:avLst/>
            <a:gdLst>
              <a:gd name="T0" fmla="*/ 0 w 141"/>
              <a:gd name="T1" fmla="*/ 64 h 64"/>
              <a:gd name="T2" fmla="*/ 71 w 141"/>
              <a:gd name="T3" fmla="*/ 0 h 64"/>
              <a:gd name="T4" fmla="*/ 141 w 141"/>
              <a:gd name="T5" fmla="*/ 64 h 64"/>
              <a:gd name="T6" fmla="*/ 0 60000 65536"/>
              <a:gd name="T7" fmla="*/ 0 60000 65536"/>
              <a:gd name="T8" fmla="*/ 0 60000 65536"/>
              <a:gd name="T9" fmla="*/ 0 w 141"/>
              <a:gd name="T10" fmla="*/ 0 h 64"/>
              <a:gd name="T11" fmla="*/ 141 w 141"/>
              <a:gd name="T12" fmla="*/ 64 h 64"/>
            </a:gdLst>
            <a:ahLst/>
            <a:cxnLst>
              <a:cxn ang="T6">
                <a:pos x="T0" y="T1"/>
              </a:cxn>
              <a:cxn ang="T7">
                <a:pos x="T2" y="T3"/>
              </a:cxn>
              <a:cxn ang="T8">
                <a:pos x="T4" y="T5"/>
              </a:cxn>
            </a:cxnLst>
            <a:rect l="T9" t="T10" r="T11" b="T12"/>
            <a:pathLst>
              <a:path w="141" h="64">
                <a:moveTo>
                  <a:pt x="0" y="64"/>
                </a:moveTo>
                <a:lnTo>
                  <a:pt x="71" y="0"/>
                </a:lnTo>
                <a:lnTo>
                  <a:pt x="141" y="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872" name="Line 39"/>
          <p:cNvSpPr>
            <a:spLocks noChangeShapeType="1"/>
          </p:cNvSpPr>
          <p:nvPr/>
        </p:nvSpPr>
        <p:spPr bwMode="auto">
          <a:xfrm>
            <a:off x="304800" y="2438400"/>
            <a:ext cx="8305800"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35873" name="Line 40"/>
          <p:cNvSpPr>
            <a:spLocks noChangeShapeType="1"/>
          </p:cNvSpPr>
          <p:nvPr/>
        </p:nvSpPr>
        <p:spPr bwMode="auto">
          <a:xfrm>
            <a:off x="304800" y="4419600"/>
            <a:ext cx="8305800"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35874" name="Line 41"/>
          <p:cNvSpPr>
            <a:spLocks noChangeShapeType="1"/>
          </p:cNvSpPr>
          <p:nvPr/>
        </p:nvSpPr>
        <p:spPr bwMode="auto">
          <a:xfrm>
            <a:off x="533400" y="5638800"/>
            <a:ext cx="8305800"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25</a:t>
            </a:fld>
            <a:endParaRPr lang="en-US"/>
          </a:p>
        </p:txBody>
      </p:sp>
    </p:spTree>
    <p:custDataLst>
      <p:tags r:id="rId1"/>
    </p:custDataLst>
    <p:extLst>
      <p:ext uri="{BB962C8B-B14F-4D97-AF65-F5344CB8AC3E}">
        <p14:creationId xmlns:p14="http://schemas.microsoft.com/office/powerpoint/2010/main" val="2906550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p:txBody>
          <a:bodyPr/>
          <a:lstStyle/>
          <a:p>
            <a:pPr eaLnBrk="1" hangingPunct="1">
              <a:defRPr/>
            </a:pPr>
            <a:r>
              <a:rPr lang="en-US" sz="2800" dirty="0"/>
              <a:t>Process of writing use cases (cont.)</a:t>
            </a:r>
          </a:p>
        </p:txBody>
      </p:sp>
      <p:sp>
        <p:nvSpPr>
          <p:cNvPr id="36870" name="Rectangle 3"/>
          <p:cNvSpPr>
            <a:spLocks noChangeArrowheads="1"/>
          </p:cNvSpPr>
          <p:nvPr/>
        </p:nvSpPr>
        <p:spPr bwMode="auto">
          <a:xfrm>
            <a:off x="914400" y="1066800"/>
            <a:ext cx="2895600" cy="10668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p>
        </p:txBody>
      </p:sp>
      <p:sp>
        <p:nvSpPr>
          <p:cNvPr id="36871" name="Text Box 4"/>
          <p:cNvSpPr txBox="1">
            <a:spLocks noChangeArrowheads="1"/>
          </p:cNvSpPr>
          <p:nvPr/>
        </p:nvSpPr>
        <p:spPr bwMode="auto">
          <a:xfrm>
            <a:off x="1295400" y="12954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actors</a:t>
            </a:r>
          </a:p>
        </p:txBody>
      </p:sp>
      <p:sp>
        <p:nvSpPr>
          <p:cNvPr id="36872" name="Rectangle 5"/>
          <p:cNvSpPr>
            <a:spLocks noChangeArrowheads="1"/>
          </p:cNvSpPr>
          <p:nvPr/>
        </p:nvSpPr>
        <p:spPr bwMode="auto">
          <a:xfrm>
            <a:off x="914400" y="2590800"/>
            <a:ext cx="2895600" cy="10668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p>
        </p:txBody>
      </p:sp>
      <p:sp>
        <p:nvSpPr>
          <p:cNvPr id="36873" name="Text Box 6"/>
          <p:cNvSpPr txBox="1">
            <a:spLocks noChangeArrowheads="1"/>
          </p:cNvSpPr>
          <p:nvPr/>
        </p:nvSpPr>
        <p:spPr bwMode="auto">
          <a:xfrm>
            <a:off x="990600" y="27574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use cases</a:t>
            </a:r>
          </a:p>
        </p:txBody>
      </p:sp>
      <p:sp>
        <p:nvSpPr>
          <p:cNvPr id="36874" name="Rectangle 7"/>
          <p:cNvSpPr>
            <a:spLocks noChangeArrowheads="1"/>
          </p:cNvSpPr>
          <p:nvPr/>
        </p:nvSpPr>
        <p:spPr bwMode="auto">
          <a:xfrm>
            <a:off x="914400" y="4184650"/>
            <a:ext cx="2895600" cy="9906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p>
        </p:txBody>
      </p:sp>
      <p:sp>
        <p:nvSpPr>
          <p:cNvPr id="36875" name="Text Box 8"/>
          <p:cNvSpPr txBox="1">
            <a:spLocks noChangeArrowheads="1"/>
          </p:cNvSpPr>
          <p:nvPr/>
        </p:nvSpPr>
        <p:spPr bwMode="auto">
          <a:xfrm>
            <a:off x="1143000" y="418465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Outline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36876" name="Rectangle 9"/>
          <p:cNvSpPr>
            <a:spLocks noChangeArrowheads="1"/>
          </p:cNvSpPr>
          <p:nvPr/>
        </p:nvSpPr>
        <p:spPr bwMode="auto">
          <a:xfrm>
            <a:off x="914400" y="5638800"/>
            <a:ext cx="2895600" cy="1066800"/>
          </a:xfrm>
          <a:prstGeom prst="rect">
            <a:avLst/>
          </a:prstGeom>
          <a:gradFill rotWithShape="1">
            <a:gsLst>
              <a:gs pos="0">
                <a:srgbClr val="87A3DB"/>
              </a:gs>
              <a:gs pos="50000">
                <a:srgbClr val="9DBEFF"/>
              </a:gs>
              <a:gs pos="100000">
                <a:srgbClr val="87A3DB"/>
              </a:gs>
            </a:gsLst>
            <a:lin ang="5400000" scaled="1"/>
          </a:gradFill>
          <a:ln w="9525">
            <a:solidFill>
              <a:schemeClr val="tx1"/>
            </a:solidFill>
            <a:miter lim="800000"/>
            <a:headEnd/>
            <a:tailEnd/>
          </a:ln>
        </p:spPr>
        <p:txBody>
          <a:bodyPr wrap="none" anchor="ctr"/>
          <a:lstStyle/>
          <a:p>
            <a:endParaRPr lang="en-US"/>
          </a:p>
        </p:txBody>
      </p:sp>
      <p:sp>
        <p:nvSpPr>
          <p:cNvPr id="36877" name="Text Box 10"/>
          <p:cNvSpPr txBox="1">
            <a:spLocks noChangeArrowheads="1"/>
          </p:cNvSpPr>
          <p:nvPr/>
        </p:nvSpPr>
        <p:spPr bwMode="auto">
          <a:xfrm>
            <a:off x="1143000" y="57150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Detail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36878" name="Line 11"/>
          <p:cNvSpPr>
            <a:spLocks noChangeShapeType="1"/>
          </p:cNvSpPr>
          <p:nvPr/>
        </p:nvSpPr>
        <p:spPr bwMode="auto">
          <a:xfrm>
            <a:off x="2362200" y="1905000"/>
            <a:ext cx="0" cy="6858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79" name="Line 12"/>
          <p:cNvSpPr>
            <a:spLocks noChangeShapeType="1"/>
          </p:cNvSpPr>
          <p:nvPr/>
        </p:nvSpPr>
        <p:spPr bwMode="auto">
          <a:xfrm>
            <a:off x="2362200" y="3505200"/>
            <a:ext cx="0" cy="6858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80" name="Line 13"/>
          <p:cNvSpPr>
            <a:spLocks noChangeShapeType="1"/>
          </p:cNvSpPr>
          <p:nvPr/>
        </p:nvSpPr>
        <p:spPr bwMode="auto">
          <a:xfrm>
            <a:off x="2362200" y="5105400"/>
            <a:ext cx="0" cy="6096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81" name="Text Box 14"/>
          <p:cNvSpPr txBox="1">
            <a:spLocks noChangeArrowheads="1"/>
          </p:cNvSpPr>
          <p:nvPr/>
        </p:nvSpPr>
        <p:spPr bwMode="auto">
          <a:xfrm>
            <a:off x="4114800" y="2209800"/>
            <a:ext cx="4724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000" b="1" dirty="0">
                <a:solidFill>
                  <a:srgbClr val="006699"/>
                </a:solidFill>
                <a:latin typeface="Arial" pitchFamily="34" charset="0"/>
              </a:rPr>
              <a:t>Important Note:</a:t>
            </a:r>
            <a:r>
              <a:rPr lang="en-US" sz="2000" dirty="0">
                <a:solidFill>
                  <a:srgbClr val="006699"/>
                </a:solidFill>
                <a:latin typeface="Arial" pitchFamily="34" charset="0"/>
              </a:rPr>
              <a:t> </a:t>
            </a:r>
            <a:br>
              <a:rPr lang="en-US" sz="2000" dirty="0">
                <a:solidFill>
                  <a:srgbClr val="006699"/>
                </a:solidFill>
                <a:latin typeface="Arial" pitchFamily="34" charset="0"/>
              </a:rPr>
            </a:br>
            <a:r>
              <a:rPr lang="en-US" sz="2000" dirty="0">
                <a:solidFill>
                  <a:schemeClr val="tx1"/>
                </a:solidFill>
                <a:latin typeface="Arial" pitchFamily="34" charset="0"/>
              </a:rPr>
              <a:t>Use case writing is an </a:t>
            </a:r>
            <a:r>
              <a:rPr lang="en-US" sz="2000" i="1" dirty="0">
                <a:solidFill>
                  <a:schemeClr val="tx1"/>
                </a:solidFill>
                <a:latin typeface="Arial" pitchFamily="34" charset="0"/>
              </a:rPr>
              <a:t>iterative </a:t>
            </a:r>
            <a:r>
              <a:rPr lang="en-US" sz="2000" dirty="0">
                <a:solidFill>
                  <a:schemeClr val="tx1"/>
                </a:solidFill>
                <a:latin typeface="Arial" pitchFamily="34" charset="0"/>
              </a:rPr>
              <a:t>process</a:t>
            </a:r>
          </a:p>
        </p:txBody>
      </p:sp>
      <p:cxnSp>
        <p:nvCxnSpPr>
          <p:cNvPr id="36882" name="AutoShape 15"/>
          <p:cNvCxnSpPr>
            <a:cxnSpLocks noChangeShapeType="1"/>
            <a:stCxn id="36872" idx="1"/>
            <a:endCxn id="36870" idx="1"/>
          </p:cNvCxnSpPr>
          <p:nvPr/>
        </p:nvCxnSpPr>
        <p:spPr bwMode="auto">
          <a:xfrm rot="10800000" flipH="1">
            <a:off x="914400" y="1600200"/>
            <a:ext cx="1588" cy="1524000"/>
          </a:xfrm>
          <a:prstGeom prst="curvedConnector3">
            <a:avLst>
              <a:gd name="adj1" fmla="val -28000009"/>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883" name="AutoShape 16"/>
          <p:cNvCxnSpPr>
            <a:cxnSpLocks noChangeShapeType="1"/>
          </p:cNvCxnSpPr>
          <p:nvPr/>
        </p:nvCxnSpPr>
        <p:spPr bwMode="auto">
          <a:xfrm rot="10800000" flipH="1">
            <a:off x="914400" y="3124200"/>
            <a:ext cx="1588" cy="1524000"/>
          </a:xfrm>
          <a:prstGeom prst="curvedConnector3">
            <a:avLst>
              <a:gd name="adj1" fmla="val -28000009"/>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884" name="AutoShape 17"/>
          <p:cNvCxnSpPr>
            <a:cxnSpLocks noChangeShapeType="1"/>
            <a:stCxn id="36876" idx="1"/>
            <a:endCxn id="36872" idx="1"/>
          </p:cNvCxnSpPr>
          <p:nvPr/>
        </p:nvCxnSpPr>
        <p:spPr bwMode="auto">
          <a:xfrm rot="10800000" flipH="1">
            <a:off x="914400" y="3124200"/>
            <a:ext cx="1588" cy="3048000"/>
          </a:xfrm>
          <a:prstGeom prst="curvedConnector3">
            <a:avLst>
              <a:gd name="adj1" fmla="val -42400014"/>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 name="Slide Number Placeholder 1"/>
          <p:cNvSpPr>
            <a:spLocks noGrp="1"/>
          </p:cNvSpPr>
          <p:nvPr>
            <p:ph type="sldNum" sz="quarter" idx="12"/>
          </p:nvPr>
        </p:nvSpPr>
        <p:spPr/>
        <p:txBody>
          <a:bodyPr/>
          <a:lstStyle/>
          <a:p>
            <a:fld id="{DED05017-923D-480E-B02E-B52739184DCA}" type="slidenum">
              <a:rPr lang="en-US" smtClean="0"/>
              <a:pPr/>
              <a:t>26</a:t>
            </a:fld>
            <a:endParaRPr lang="en-US"/>
          </a:p>
        </p:txBody>
      </p:sp>
    </p:spTree>
    <p:extLst>
      <p:ext uri="{BB962C8B-B14F-4D97-AF65-F5344CB8AC3E}">
        <p14:creationId xmlns:p14="http://schemas.microsoft.com/office/powerpoint/2010/main" val="3796004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pPr eaLnBrk="1" hangingPunct="1">
              <a:defRPr/>
            </a:pPr>
            <a:r>
              <a:rPr lang="en-US" sz="2800" dirty="0"/>
              <a:t>Process of writing use cases</a:t>
            </a:r>
          </a:p>
        </p:txBody>
      </p:sp>
      <p:sp>
        <p:nvSpPr>
          <p:cNvPr id="37894" name="AutoShape 3"/>
          <p:cNvSpPr>
            <a:spLocks noChangeArrowheads="1"/>
          </p:cNvSpPr>
          <p:nvPr/>
        </p:nvSpPr>
        <p:spPr bwMode="auto">
          <a:xfrm>
            <a:off x="4191000" y="1295400"/>
            <a:ext cx="4495800" cy="5257800"/>
          </a:xfrm>
          <a:prstGeom prst="roundRect">
            <a:avLst>
              <a:gd name="adj" fmla="val 16667"/>
            </a:avLst>
          </a:prstGeom>
          <a:gradFill rotWithShape="1">
            <a:gsLst>
              <a:gs pos="0">
                <a:srgbClr val="96B5F3"/>
              </a:gs>
              <a:gs pos="50000">
                <a:srgbClr val="9DBEFF"/>
              </a:gs>
              <a:gs pos="100000">
                <a:srgbClr val="96B5F3"/>
              </a:gs>
            </a:gsLst>
            <a:lin ang="5400000" scaled="1"/>
          </a:gradFill>
          <a:ln w="9525">
            <a:solidFill>
              <a:schemeClr val="tx1"/>
            </a:solidFill>
            <a:round/>
            <a:headEnd/>
            <a:tailEnd/>
          </a:ln>
        </p:spPr>
        <p:txBody>
          <a:bodyPr wrap="none" anchor="ctr"/>
          <a:lstStyle/>
          <a:p>
            <a:endParaRPr lang="en-US"/>
          </a:p>
        </p:txBody>
      </p:sp>
      <p:sp>
        <p:nvSpPr>
          <p:cNvPr id="37895" name="Text Box 4"/>
          <p:cNvSpPr txBox="1">
            <a:spLocks noChangeArrowheads="1"/>
          </p:cNvSpPr>
          <p:nvPr/>
        </p:nvSpPr>
        <p:spPr bwMode="auto">
          <a:xfrm>
            <a:off x="4572000" y="23622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endParaRPr lang="en-US" sz="2400">
              <a:solidFill>
                <a:schemeClr val="tx1"/>
              </a:solidFill>
            </a:endParaRPr>
          </a:p>
        </p:txBody>
      </p:sp>
      <p:sp>
        <p:nvSpPr>
          <p:cNvPr id="37896" name="Text Box 5"/>
          <p:cNvSpPr txBox="1">
            <a:spLocks noChangeArrowheads="1"/>
          </p:cNvSpPr>
          <p:nvPr/>
        </p:nvSpPr>
        <p:spPr bwMode="auto">
          <a:xfrm>
            <a:off x="4343400" y="1905000"/>
            <a:ext cx="41910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465138" indent="-350838"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lvl="1" eaLnBrk="1" hangingPunct="1">
              <a:spcBef>
                <a:spcPct val="30000"/>
              </a:spcBef>
              <a:buClr>
                <a:schemeClr val="tx1"/>
              </a:buClr>
              <a:buFont typeface="Webdings" pitchFamily="18" charset="2"/>
              <a:buChar char="4"/>
            </a:pPr>
            <a:r>
              <a:rPr lang="en-US" sz="2000" dirty="0">
                <a:solidFill>
                  <a:schemeClr val="tx1"/>
                </a:solidFill>
                <a:latin typeface="Arial" pitchFamily="34" charset="0"/>
              </a:rPr>
              <a:t>Name and briefly describe the actors that</a:t>
            </a:r>
            <a:r>
              <a:rPr lang="en-US" sz="2000" dirty="0">
                <a:solidFill>
                  <a:srgbClr val="CC0000"/>
                </a:solidFill>
                <a:latin typeface="Arial" pitchFamily="34" charset="0"/>
              </a:rPr>
              <a:t> </a:t>
            </a:r>
            <a:r>
              <a:rPr lang="en-US" sz="2000" dirty="0">
                <a:solidFill>
                  <a:schemeClr val="tx1"/>
                </a:solidFill>
                <a:latin typeface="Arial" pitchFamily="34" charset="0"/>
              </a:rPr>
              <a:t>you have found</a:t>
            </a:r>
          </a:p>
          <a:p>
            <a:pPr eaLnBrk="1" hangingPunct="1">
              <a:spcBef>
                <a:spcPct val="50000"/>
              </a:spcBef>
            </a:pPr>
            <a:endParaRPr lang="en-US" sz="2000" dirty="0">
              <a:solidFill>
                <a:schemeClr val="tx1"/>
              </a:solidFill>
              <a:latin typeface="Arial" pitchFamily="34" charset="0"/>
            </a:endParaRPr>
          </a:p>
        </p:txBody>
      </p:sp>
      <p:sp>
        <p:nvSpPr>
          <p:cNvPr id="37897" name="Rectangle 6"/>
          <p:cNvSpPr>
            <a:spLocks noChangeArrowheads="1"/>
          </p:cNvSpPr>
          <p:nvPr/>
        </p:nvSpPr>
        <p:spPr bwMode="auto">
          <a:xfrm>
            <a:off x="381000" y="1295400"/>
            <a:ext cx="2895600" cy="1066800"/>
          </a:xfrm>
          <a:prstGeom prst="rect">
            <a:avLst/>
          </a:prstGeom>
          <a:gradFill rotWithShape="1">
            <a:gsLst>
              <a:gs pos="0">
                <a:srgbClr val="819CD2"/>
              </a:gs>
              <a:gs pos="50000">
                <a:srgbClr val="9DBEFF"/>
              </a:gs>
              <a:gs pos="100000">
                <a:srgbClr val="819CD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7898" name="Text Box 7"/>
          <p:cNvSpPr txBox="1">
            <a:spLocks noChangeArrowheads="1"/>
          </p:cNvSpPr>
          <p:nvPr/>
        </p:nvSpPr>
        <p:spPr bwMode="auto">
          <a:xfrm>
            <a:off x="762000" y="15240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actors</a:t>
            </a:r>
          </a:p>
        </p:txBody>
      </p:sp>
      <p:sp>
        <p:nvSpPr>
          <p:cNvPr id="37899" name="Rectangle 8"/>
          <p:cNvSpPr>
            <a:spLocks noChangeArrowheads="1"/>
          </p:cNvSpPr>
          <p:nvPr/>
        </p:nvSpPr>
        <p:spPr bwMode="auto">
          <a:xfrm>
            <a:off x="381000" y="2743200"/>
            <a:ext cx="2895600" cy="1066800"/>
          </a:xfrm>
          <a:prstGeom prst="rect">
            <a:avLst/>
          </a:prstGeom>
          <a:gradFill rotWithShape="1">
            <a:gsLst>
              <a:gs pos="0">
                <a:srgbClr val="797979"/>
              </a:gs>
              <a:gs pos="50000">
                <a:srgbClr val="999999"/>
              </a:gs>
              <a:gs pos="100000">
                <a:srgbClr val="797979"/>
              </a:gs>
            </a:gsLst>
            <a:lin ang="5400000" scaled="1"/>
          </a:gradFill>
          <a:ln w="9525">
            <a:solidFill>
              <a:schemeClr val="tx1"/>
            </a:solidFill>
            <a:miter lim="800000"/>
            <a:headEnd/>
            <a:tailEnd/>
          </a:ln>
        </p:spPr>
        <p:txBody>
          <a:bodyPr wrap="none" anchor="ctr"/>
          <a:lstStyle/>
          <a:p>
            <a:endParaRPr lang="en-US"/>
          </a:p>
        </p:txBody>
      </p:sp>
      <p:sp>
        <p:nvSpPr>
          <p:cNvPr id="37900" name="Text Box 9"/>
          <p:cNvSpPr txBox="1">
            <a:spLocks noChangeArrowheads="1"/>
          </p:cNvSpPr>
          <p:nvPr/>
        </p:nvSpPr>
        <p:spPr bwMode="auto">
          <a:xfrm>
            <a:off x="457200" y="29098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use cases</a:t>
            </a:r>
          </a:p>
        </p:txBody>
      </p:sp>
      <p:sp>
        <p:nvSpPr>
          <p:cNvPr id="37901" name="Rectangle 10"/>
          <p:cNvSpPr>
            <a:spLocks noChangeArrowheads="1"/>
          </p:cNvSpPr>
          <p:nvPr/>
        </p:nvSpPr>
        <p:spPr bwMode="auto">
          <a:xfrm>
            <a:off x="381000" y="4191000"/>
            <a:ext cx="2895600" cy="1066800"/>
          </a:xfrm>
          <a:prstGeom prst="rect">
            <a:avLst/>
          </a:prstGeom>
          <a:gradFill rotWithShape="1">
            <a:gsLst>
              <a:gs pos="0">
                <a:srgbClr val="797979"/>
              </a:gs>
              <a:gs pos="50000">
                <a:srgbClr val="999999"/>
              </a:gs>
              <a:gs pos="100000">
                <a:srgbClr val="797979"/>
              </a:gs>
            </a:gsLst>
            <a:lin ang="5400000" scaled="1"/>
          </a:gradFill>
          <a:ln w="9525">
            <a:solidFill>
              <a:schemeClr val="tx1"/>
            </a:solidFill>
            <a:miter lim="800000"/>
            <a:headEnd/>
            <a:tailEnd/>
          </a:ln>
        </p:spPr>
        <p:txBody>
          <a:bodyPr wrap="none" anchor="ctr"/>
          <a:lstStyle/>
          <a:p>
            <a:endParaRPr lang="en-US"/>
          </a:p>
        </p:txBody>
      </p:sp>
      <p:sp>
        <p:nvSpPr>
          <p:cNvPr id="37902" name="Text Box 11"/>
          <p:cNvSpPr txBox="1">
            <a:spLocks noChangeArrowheads="1"/>
          </p:cNvSpPr>
          <p:nvPr/>
        </p:nvSpPr>
        <p:spPr bwMode="auto">
          <a:xfrm>
            <a:off x="609600" y="41910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Outline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37903" name="Rectangle 12"/>
          <p:cNvSpPr>
            <a:spLocks noChangeArrowheads="1"/>
          </p:cNvSpPr>
          <p:nvPr/>
        </p:nvSpPr>
        <p:spPr bwMode="auto">
          <a:xfrm>
            <a:off x="381000" y="5638800"/>
            <a:ext cx="2895600" cy="1066800"/>
          </a:xfrm>
          <a:prstGeom prst="rect">
            <a:avLst/>
          </a:prstGeom>
          <a:gradFill rotWithShape="1">
            <a:gsLst>
              <a:gs pos="0">
                <a:srgbClr val="797979"/>
              </a:gs>
              <a:gs pos="50000">
                <a:srgbClr val="999999"/>
              </a:gs>
              <a:gs pos="100000">
                <a:srgbClr val="797979"/>
              </a:gs>
            </a:gsLst>
            <a:lin ang="5400000" scaled="1"/>
          </a:gradFill>
          <a:ln w="9525">
            <a:solidFill>
              <a:schemeClr val="tx1"/>
            </a:solidFill>
            <a:miter lim="800000"/>
            <a:headEnd/>
            <a:tailEnd/>
          </a:ln>
        </p:spPr>
        <p:txBody>
          <a:bodyPr wrap="none" anchor="ctr"/>
          <a:lstStyle/>
          <a:p>
            <a:endParaRPr lang="en-US"/>
          </a:p>
        </p:txBody>
      </p:sp>
      <p:sp>
        <p:nvSpPr>
          <p:cNvPr id="37904" name="Text Box 13"/>
          <p:cNvSpPr txBox="1">
            <a:spLocks noChangeArrowheads="1"/>
          </p:cNvSpPr>
          <p:nvPr/>
        </p:nvSpPr>
        <p:spPr bwMode="auto">
          <a:xfrm>
            <a:off x="609600" y="57150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Detail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37905" name="Line 14"/>
          <p:cNvSpPr>
            <a:spLocks noChangeShapeType="1"/>
          </p:cNvSpPr>
          <p:nvPr/>
        </p:nvSpPr>
        <p:spPr bwMode="auto">
          <a:xfrm>
            <a:off x="1828800" y="22098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6" name="Line 15"/>
          <p:cNvSpPr>
            <a:spLocks noChangeShapeType="1"/>
          </p:cNvSpPr>
          <p:nvPr/>
        </p:nvSpPr>
        <p:spPr bwMode="auto">
          <a:xfrm>
            <a:off x="1828800" y="3657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7" name="Line 16"/>
          <p:cNvSpPr>
            <a:spLocks noChangeShapeType="1"/>
          </p:cNvSpPr>
          <p:nvPr/>
        </p:nvSpPr>
        <p:spPr bwMode="auto">
          <a:xfrm>
            <a:off x="1828800" y="51054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8" name="AutoShape 17"/>
          <p:cNvSpPr>
            <a:spLocks noChangeArrowheads="1"/>
          </p:cNvSpPr>
          <p:nvPr/>
        </p:nvSpPr>
        <p:spPr bwMode="auto">
          <a:xfrm>
            <a:off x="3276600" y="1295400"/>
            <a:ext cx="990600" cy="1066800"/>
          </a:xfrm>
          <a:prstGeom prst="triangle">
            <a:avLst>
              <a:gd name="adj" fmla="val 0"/>
            </a:avLst>
          </a:prstGeom>
          <a:gradFill rotWithShape="1">
            <a:gsLst>
              <a:gs pos="0">
                <a:srgbClr val="819CD2"/>
              </a:gs>
              <a:gs pos="50000">
                <a:srgbClr val="9DBEFF"/>
              </a:gs>
              <a:gs pos="100000">
                <a:srgbClr val="819CD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27</a:t>
            </a:fld>
            <a:endParaRPr lang="en-US"/>
          </a:p>
        </p:txBody>
      </p:sp>
    </p:spTree>
    <p:custDataLst>
      <p:tags r:id="rId1"/>
    </p:custDataLst>
    <p:extLst>
      <p:ext uri="{BB962C8B-B14F-4D97-AF65-F5344CB8AC3E}">
        <p14:creationId xmlns:p14="http://schemas.microsoft.com/office/powerpoint/2010/main" val="3228810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p:txBody>
          <a:bodyPr/>
          <a:lstStyle/>
          <a:p>
            <a:pPr eaLnBrk="1" hangingPunct="1">
              <a:defRPr/>
            </a:pPr>
            <a:r>
              <a:rPr lang="en-US" sz="2800" dirty="0"/>
              <a:t>Actors and the</a:t>
            </a:r>
            <a:r>
              <a:rPr lang="en-US" sz="2800" dirty="0">
                <a:solidFill>
                  <a:srgbClr val="CC0000"/>
                </a:solidFill>
              </a:rPr>
              <a:t> </a:t>
            </a:r>
            <a:r>
              <a:rPr lang="en-US" sz="2800" dirty="0"/>
              <a:t>system boundary	</a:t>
            </a:r>
          </a:p>
        </p:txBody>
      </p:sp>
      <p:sp>
        <p:nvSpPr>
          <p:cNvPr id="38918" name="Rectangle 3"/>
          <p:cNvSpPr>
            <a:spLocks noGrp="1" noChangeArrowheads="1"/>
          </p:cNvSpPr>
          <p:nvPr>
            <p:ph type="body" idx="1"/>
          </p:nvPr>
        </p:nvSpPr>
        <p:spPr/>
        <p:txBody>
          <a:bodyPr/>
          <a:lstStyle/>
          <a:p>
            <a:pPr marL="230188" indent="-230188" eaLnBrk="1" hangingPunct="1">
              <a:lnSpc>
                <a:spcPct val="100000"/>
              </a:lnSpc>
            </a:pPr>
            <a:r>
              <a:rPr lang="en-US" sz="2000" dirty="0"/>
              <a:t>Determine what the system boundary is</a:t>
            </a:r>
          </a:p>
          <a:p>
            <a:pPr marL="230188" indent="-230188" eaLnBrk="1" hangingPunct="1">
              <a:lnSpc>
                <a:spcPct val="100000"/>
              </a:lnSpc>
            </a:pPr>
            <a:r>
              <a:rPr lang="en-US" sz="2000" dirty="0"/>
              <a:t>Everything beyond the boundary that interacts with the system is an instance of an actor </a:t>
            </a:r>
          </a:p>
        </p:txBody>
      </p:sp>
      <p:sp>
        <p:nvSpPr>
          <p:cNvPr id="38919" name="Freeform 4"/>
          <p:cNvSpPr>
            <a:spLocks/>
          </p:cNvSpPr>
          <p:nvPr/>
        </p:nvSpPr>
        <p:spPr bwMode="blackWhite">
          <a:xfrm>
            <a:off x="1600200" y="3200400"/>
            <a:ext cx="4954588" cy="3352800"/>
          </a:xfrm>
          <a:custGeom>
            <a:avLst/>
            <a:gdLst>
              <a:gd name="T0" fmla="*/ 0 w 3121"/>
              <a:gd name="T1" fmla="*/ 490 h 2233"/>
              <a:gd name="T2" fmla="*/ 69 w 3121"/>
              <a:gd name="T3" fmla="*/ 365 h 2233"/>
              <a:gd name="T4" fmla="*/ 171 w 3121"/>
              <a:gd name="T5" fmla="*/ 250 h 2233"/>
              <a:gd name="T6" fmla="*/ 308 w 3121"/>
              <a:gd name="T7" fmla="*/ 209 h 2233"/>
              <a:gd name="T8" fmla="*/ 605 w 3121"/>
              <a:gd name="T9" fmla="*/ 83 h 2233"/>
              <a:gd name="T10" fmla="*/ 754 w 3121"/>
              <a:gd name="T11" fmla="*/ 73 h 2233"/>
              <a:gd name="T12" fmla="*/ 1063 w 3121"/>
              <a:gd name="T13" fmla="*/ 21 h 2233"/>
              <a:gd name="T14" fmla="*/ 1314 w 3121"/>
              <a:gd name="T15" fmla="*/ 21 h 2233"/>
              <a:gd name="T16" fmla="*/ 1486 w 3121"/>
              <a:gd name="T17" fmla="*/ 21 h 2233"/>
              <a:gd name="T18" fmla="*/ 1680 w 3121"/>
              <a:gd name="T19" fmla="*/ 0 h 2233"/>
              <a:gd name="T20" fmla="*/ 1874 w 3121"/>
              <a:gd name="T21" fmla="*/ 10 h 2233"/>
              <a:gd name="T22" fmla="*/ 2388 w 3121"/>
              <a:gd name="T23" fmla="*/ 136 h 2233"/>
              <a:gd name="T24" fmla="*/ 2549 w 3121"/>
              <a:gd name="T25" fmla="*/ 167 h 2233"/>
              <a:gd name="T26" fmla="*/ 2674 w 3121"/>
              <a:gd name="T27" fmla="*/ 188 h 2233"/>
              <a:gd name="T28" fmla="*/ 2823 w 3121"/>
              <a:gd name="T29" fmla="*/ 229 h 2233"/>
              <a:gd name="T30" fmla="*/ 2925 w 3121"/>
              <a:gd name="T31" fmla="*/ 302 h 2233"/>
              <a:gd name="T32" fmla="*/ 3028 w 3121"/>
              <a:gd name="T33" fmla="*/ 407 h 2233"/>
              <a:gd name="T34" fmla="*/ 3028 w 3121"/>
              <a:gd name="T35" fmla="*/ 501 h 2233"/>
              <a:gd name="T36" fmla="*/ 3062 w 3121"/>
              <a:gd name="T37" fmla="*/ 657 h 2233"/>
              <a:gd name="T38" fmla="*/ 3097 w 3121"/>
              <a:gd name="T39" fmla="*/ 814 h 2233"/>
              <a:gd name="T40" fmla="*/ 3097 w 3121"/>
              <a:gd name="T41" fmla="*/ 960 h 2233"/>
              <a:gd name="T42" fmla="*/ 3120 w 3121"/>
              <a:gd name="T43" fmla="*/ 1095 h 2233"/>
              <a:gd name="T44" fmla="*/ 3062 w 3121"/>
              <a:gd name="T45" fmla="*/ 1231 h 2233"/>
              <a:gd name="T46" fmla="*/ 3085 w 3121"/>
              <a:gd name="T47" fmla="*/ 1387 h 2233"/>
              <a:gd name="T48" fmla="*/ 3085 w 3121"/>
              <a:gd name="T49" fmla="*/ 1533 h 2233"/>
              <a:gd name="T50" fmla="*/ 3085 w 3121"/>
              <a:gd name="T51" fmla="*/ 1669 h 2233"/>
              <a:gd name="T52" fmla="*/ 3040 w 3121"/>
              <a:gd name="T53" fmla="*/ 1784 h 2233"/>
              <a:gd name="T54" fmla="*/ 2971 w 3121"/>
              <a:gd name="T55" fmla="*/ 1888 h 2233"/>
              <a:gd name="T56" fmla="*/ 2856 w 3121"/>
              <a:gd name="T57" fmla="*/ 1971 h 2233"/>
              <a:gd name="T58" fmla="*/ 2708 w 3121"/>
              <a:gd name="T59" fmla="*/ 2044 h 2233"/>
              <a:gd name="T60" fmla="*/ 2549 w 3121"/>
              <a:gd name="T61" fmla="*/ 2076 h 2233"/>
              <a:gd name="T62" fmla="*/ 2388 w 3121"/>
              <a:gd name="T63" fmla="*/ 2107 h 2233"/>
              <a:gd name="T64" fmla="*/ 2251 w 3121"/>
              <a:gd name="T65" fmla="*/ 2117 h 2233"/>
              <a:gd name="T66" fmla="*/ 2091 w 3121"/>
              <a:gd name="T67" fmla="*/ 2128 h 2233"/>
              <a:gd name="T68" fmla="*/ 1954 w 3121"/>
              <a:gd name="T69" fmla="*/ 2159 h 2233"/>
              <a:gd name="T70" fmla="*/ 1782 w 3121"/>
              <a:gd name="T71" fmla="*/ 2190 h 2233"/>
              <a:gd name="T72" fmla="*/ 1623 w 3121"/>
              <a:gd name="T73" fmla="*/ 2201 h 2233"/>
              <a:gd name="T74" fmla="*/ 1428 w 3121"/>
              <a:gd name="T75" fmla="*/ 2211 h 2233"/>
              <a:gd name="T76" fmla="*/ 1268 w 3121"/>
              <a:gd name="T77" fmla="*/ 2211 h 2233"/>
              <a:gd name="T78" fmla="*/ 1085 w 3121"/>
              <a:gd name="T79" fmla="*/ 2180 h 2233"/>
              <a:gd name="T80" fmla="*/ 936 w 3121"/>
              <a:gd name="T81" fmla="*/ 2138 h 2233"/>
              <a:gd name="T82" fmla="*/ 651 w 3121"/>
              <a:gd name="T83" fmla="*/ 2169 h 2233"/>
              <a:gd name="T84" fmla="*/ 514 w 3121"/>
              <a:gd name="T85" fmla="*/ 2169 h 2233"/>
              <a:gd name="T86" fmla="*/ 376 w 3121"/>
              <a:gd name="T87" fmla="*/ 2117 h 2233"/>
              <a:gd name="T88" fmla="*/ 171 w 3121"/>
              <a:gd name="T89" fmla="*/ 2065 h 2233"/>
              <a:gd name="T90" fmla="*/ 114 w 3121"/>
              <a:gd name="T91" fmla="*/ 1961 h 2233"/>
              <a:gd name="T92" fmla="*/ 79 w 3121"/>
              <a:gd name="T93" fmla="*/ 1804 h 2233"/>
              <a:gd name="T94" fmla="*/ 57 w 3121"/>
              <a:gd name="T95" fmla="*/ 1669 h 2233"/>
              <a:gd name="T96" fmla="*/ 45 w 3121"/>
              <a:gd name="T97" fmla="*/ 1523 h 2233"/>
              <a:gd name="T98" fmla="*/ 79 w 3121"/>
              <a:gd name="T99" fmla="*/ 1335 h 2233"/>
              <a:gd name="T100" fmla="*/ 45 w 3121"/>
              <a:gd name="T101" fmla="*/ 1147 h 2233"/>
              <a:gd name="T102" fmla="*/ 11 w 3121"/>
              <a:gd name="T103" fmla="*/ 949 h 2233"/>
              <a:gd name="T104" fmla="*/ 34 w 3121"/>
              <a:gd name="T105" fmla="*/ 814 h 2233"/>
              <a:gd name="T106" fmla="*/ 34 w 3121"/>
              <a:gd name="T107" fmla="*/ 709 h 2233"/>
              <a:gd name="T108" fmla="*/ 11 w 3121"/>
              <a:gd name="T109" fmla="*/ 615 h 22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21"/>
              <a:gd name="T166" fmla="*/ 0 h 2233"/>
              <a:gd name="T167" fmla="*/ 3121 w 3121"/>
              <a:gd name="T168" fmla="*/ 2233 h 22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21" h="2233">
                <a:moveTo>
                  <a:pt x="0" y="595"/>
                </a:moveTo>
                <a:lnTo>
                  <a:pt x="0" y="574"/>
                </a:lnTo>
                <a:lnTo>
                  <a:pt x="0" y="553"/>
                </a:lnTo>
                <a:lnTo>
                  <a:pt x="0" y="532"/>
                </a:lnTo>
                <a:lnTo>
                  <a:pt x="0" y="511"/>
                </a:lnTo>
                <a:lnTo>
                  <a:pt x="0" y="490"/>
                </a:lnTo>
                <a:lnTo>
                  <a:pt x="11" y="469"/>
                </a:lnTo>
                <a:lnTo>
                  <a:pt x="22" y="448"/>
                </a:lnTo>
                <a:lnTo>
                  <a:pt x="22" y="428"/>
                </a:lnTo>
                <a:lnTo>
                  <a:pt x="45" y="407"/>
                </a:lnTo>
                <a:lnTo>
                  <a:pt x="57" y="386"/>
                </a:lnTo>
                <a:lnTo>
                  <a:pt x="69" y="365"/>
                </a:lnTo>
                <a:lnTo>
                  <a:pt x="91" y="344"/>
                </a:lnTo>
                <a:lnTo>
                  <a:pt x="125" y="334"/>
                </a:lnTo>
                <a:lnTo>
                  <a:pt x="125" y="313"/>
                </a:lnTo>
                <a:lnTo>
                  <a:pt x="125" y="282"/>
                </a:lnTo>
                <a:lnTo>
                  <a:pt x="137" y="261"/>
                </a:lnTo>
                <a:lnTo>
                  <a:pt x="171" y="250"/>
                </a:lnTo>
                <a:lnTo>
                  <a:pt x="182" y="219"/>
                </a:lnTo>
                <a:lnTo>
                  <a:pt x="206" y="209"/>
                </a:lnTo>
                <a:lnTo>
                  <a:pt x="228" y="209"/>
                </a:lnTo>
                <a:lnTo>
                  <a:pt x="251" y="209"/>
                </a:lnTo>
                <a:lnTo>
                  <a:pt x="285" y="209"/>
                </a:lnTo>
                <a:lnTo>
                  <a:pt x="308" y="209"/>
                </a:lnTo>
                <a:lnTo>
                  <a:pt x="343" y="209"/>
                </a:lnTo>
                <a:lnTo>
                  <a:pt x="365" y="188"/>
                </a:lnTo>
                <a:lnTo>
                  <a:pt x="457" y="146"/>
                </a:lnTo>
                <a:lnTo>
                  <a:pt x="560" y="104"/>
                </a:lnTo>
                <a:lnTo>
                  <a:pt x="582" y="104"/>
                </a:lnTo>
                <a:lnTo>
                  <a:pt x="605" y="83"/>
                </a:lnTo>
                <a:lnTo>
                  <a:pt x="628" y="83"/>
                </a:lnTo>
                <a:lnTo>
                  <a:pt x="651" y="83"/>
                </a:lnTo>
                <a:lnTo>
                  <a:pt x="685" y="83"/>
                </a:lnTo>
                <a:lnTo>
                  <a:pt x="709" y="73"/>
                </a:lnTo>
                <a:lnTo>
                  <a:pt x="731" y="73"/>
                </a:lnTo>
                <a:lnTo>
                  <a:pt x="754" y="73"/>
                </a:lnTo>
                <a:lnTo>
                  <a:pt x="799" y="73"/>
                </a:lnTo>
                <a:lnTo>
                  <a:pt x="822" y="73"/>
                </a:lnTo>
                <a:lnTo>
                  <a:pt x="856" y="63"/>
                </a:lnTo>
                <a:lnTo>
                  <a:pt x="879" y="63"/>
                </a:lnTo>
                <a:lnTo>
                  <a:pt x="948" y="63"/>
                </a:lnTo>
                <a:lnTo>
                  <a:pt x="1063" y="21"/>
                </a:lnTo>
                <a:lnTo>
                  <a:pt x="1177" y="21"/>
                </a:lnTo>
                <a:lnTo>
                  <a:pt x="1211" y="21"/>
                </a:lnTo>
                <a:lnTo>
                  <a:pt x="1234" y="21"/>
                </a:lnTo>
                <a:lnTo>
                  <a:pt x="1268" y="21"/>
                </a:lnTo>
                <a:lnTo>
                  <a:pt x="1291" y="21"/>
                </a:lnTo>
                <a:lnTo>
                  <a:pt x="1314" y="21"/>
                </a:lnTo>
                <a:lnTo>
                  <a:pt x="1349" y="21"/>
                </a:lnTo>
                <a:lnTo>
                  <a:pt x="1371" y="31"/>
                </a:lnTo>
                <a:lnTo>
                  <a:pt x="1406" y="31"/>
                </a:lnTo>
                <a:lnTo>
                  <a:pt x="1439" y="31"/>
                </a:lnTo>
                <a:lnTo>
                  <a:pt x="1462" y="31"/>
                </a:lnTo>
                <a:lnTo>
                  <a:pt x="1486" y="21"/>
                </a:lnTo>
                <a:lnTo>
                  <a:pt x="1508" y="10"/>
                </a:lnTo>
                <a:lnTo>
                  <a:pt x="1531" y="10"/>
                </a:lnTo>
                <a:lnTo>
                  <a:pt x="1565" y="10"/>
                </a:lnTo>
                <a:lnTo>
                  <a:pt x="1611" y="0"/>
                </a:lnTo>
                <a:lnTo>
                  <a:pt x="1657" y="0"/>
                </a:lnTo>
                <a:lnTo>
                  <a:pt x="1680" y="0"/>
                </a:lnTo>
                <a:lnTo>
                  <a:pt x="1713" y="0"/>
                </a:lnTo>
                <a:lnTo>
                  <a:pt x="1760" y="21"/>
                </a:lnTo>
                <a:lnTo>
                  <a:pt x="1794" y="21"/>
                </a:lnTo>
                <a:lnTo>
                  <a:pt x="1828" y="21"/>
                </a:lnTo>
                <a:lnTo>
                  <a:pt x="1851" y="21"/>
                </a:lnTo>
                <a:lnTo>
                  <a:pt x="1874" y="10"/>
                </a:lnTo>
                <a:lnTo>
                  <a:pt x="1908" y="31"/>
                </a:lnTo>
                <a:lnTo>
                  <a:pt x="1931" y="31"/>
                </a:lnTo>
                <a:lnTo>
                  <a:pt x="1954" y="52"/>
                </a:lnTo>
                <a:lnTo>
                  <a:pt x="1977" y="52"/>
                </a:lnTo>
                <a:lnTo>
                  <a:pt x="2263" y="83"/>
                </a:lnTo>
                <a:lnTo>
                  <a:pt x="2388" y="136"/>
                </a:lnTo>
                <a:lnTo>
                  <a:pt x="2434" y="136"/>
                </a:lnTo>
                <a:lnTo>
                  <a:pt x="2457" y="146"/>
                </a:lnTo>
                <a:lnTo>
                  <a:pt x="2491" y="146"/>
                </a:lnTo>
                <a:lnTo>
                  <a:pt x="2514" y="146"/>
                </a:lnTo>
                <a:lnTo>
                  <a:pt x="2525" y="167"/>
                </a:lnTo>
                <a:lnTo>
                  <a:pt x="2549" y="167"/>
                </a:lnTo>
                <a:lnTo>
                  <a:pt x="2571" y="167"/>
                </a:lnTo>
                <a:lnTo>
                  <a:pt x="2594" y="167"/>
                </a:lnTo>
                <a:lnTo>
                  <a:pt x="2617" y="167"/>
                </a:lnTo>
                <a:lnTo>
                  <a:pt x="2628" y="188"/>
                </a:lnTo>
                <a:lnTo>
                  <a:pt x="2651" y="188"/>
                </a:lnTo>
                <a:lnTo>
                  <a:pt x="2674" y="188"/>
                </a:lnTo>
                <a:lnTo>
                  <a:pt x="2696" y="188"/>
                </a:lnTo>
                <a:lnTo>
                  <a:pt x="2719" y="188"/>
                </a:lnTo>
                <a:lnTo>
                  <a:pt x="2743" y="188"/>
                </a:lnTo>
                <a:lnTo>
                  <a:pt x="2766" y="188"/>
                </a:lnTo>
                <a:lnTo>
                  <a:pt x="2799" y="198"/>
                </a:lnTo>
                <a:lnTo>
                  <a:pt x="2823" y="229"/>
                </a:lnTo>
                <a:lnTo>
                  <a:pt x="2845" y="229"/>
                </a:lnTo>
                <a:lnTo>
                  <a:pt x="2880" y="240"/>
                </a:lnTo>
                <a:lnTo>
                  <a:pt x="2891" y="261"/>
                </a:lnTo>
                <a:lnTo>
                  <a:pt x="2903" y="282"/>
                </a:lnTo>
                <a:lnTo>
                  <a:pt x="2903" y="302"/>
                </a:lnTo>
                <a:lnTo>
                  <a:pt x="2925" y="302"/>
                </a:lnTo>
                <a:lnTo>
                  <a:pt x="2948" y="334"/>
                </a:lnTo>
                <a:lnTo>
                  <a:pt x="2971" y="344"/>
                </a:lnTo>
                <a:lnTo>
                  <a:pt x="2994" y="344"/>
                </a:lnTo>
                <a:lnTo>
                  <a:pt x="3005" y="365"/>
                </a:lnTo>
                <a:lnTo>
                  <a:pt x="3005" y="396"/>
                </a:lnTo>
                <a:lnTo>
                  <a:pt x="3028" y="407"/>
                </a:lnTo>
                <a:lnTo>
                  <a:pt x="3050" y="407"/>
                </a:lnTo>
                <a:lnTo>
                  <a:pt x="3050" y="438"/>
                </a:lnTo>
                <a:lnTo>
                  <a:pt x="3050" y="459"/>
                </a:lnTo>
                <a:lnTo>
                  <a:pt x="3050" y="480"/>
                </a:lnTo>
                <a:lnTo>
                  <a:pt x="3050" y="501"/>
                </a:lnTo>
                <a:lnTo>
                  <a:pt x="3028" y="501"/>
                </a:lnTo>
                <a:lnTo>
                  <a:pt x="3050" y="521"/>
                </a:lnTo>
                <a:lnTo>
                  <a:pt x="3050" y="542"/>
                </a:lnTo>
                <a:lnTo>
                  <a:pt x="3050" y="574"/>
                </a:lnTo>
                <a:lnTo>
                  <a:pt x="3062" y="605"/>
                </a:lnTo>
                <a:lnTo>
                  <a:pt x="3062" y="636"/>
                </a:lnTo>
                <a:lnTo>
                  <a:pt x="3062" y="657"/>
                </a:lnTo>
                <a:lnTo>
                  <a:pt x="3062" y="678"/>
                </a:lnTo>
                <a:lnTo>
                  <a:pt x="3062" y="699"/>
                </a:lnTo>
                <a:lnTo>
                  <a:pt x="3062" y="720"/>
                </a:lnTo>
                <a:lnTo>
                  <a:pt x="3062" y="741"/>
                </a:lnTo>
                <a:lnTo>
                  <a:pt x="3074" y="761"/>
                </a:lnTo>
                <a:lnTo>
                  <a:pt x="3097" y="814"/>
                </a:lnTo>
                <a:lnTo>
                  <a:pt x="3097" y="845"/>
                </a:lnTo>
                <a:lnTo>
                  <a:pt x="3097" y="866"/>
                </a:lnTo>
                <a:lnTo>
                  <a:pt x="3097" y="887"/>
                </a:lnTo>
                <a:lnTo>
                  <a:pt x="3097" y="907"/>
                </a:lnTo>
                <a:lnTo>
                  <a:pt x="3097" y="939"/>
                </a:lnTo>
                <a:lnTo>
                  <a:pt x="3097" y="960"/>
                </a:lnTo>
                <a:lnTo>
                  <a:pt x="3097" y="980"/>
                </a:lnTo>
                <a:lnTo>
                  <a:pt x="3097" y="1012"/>
                </a:lnTo>
                <a:lnTo>
                  <a:pt x="3120" y="1012"/>
                </a:lnTo>
                <a:lnTo>
                  <a:pt x="3120" y="1033"/>
                </a:lnTo>
                <a:lnTo>
                  <a:pt x="3120" y="1074"/>
                </a:lnTo>
                <a:lnTo>
                  <a:pt x="3120" y="1095"/>
                </a:lnTo>
                <a:lnTo>
                  <a:pt x="3120" y="1116"/>
                </a:lnTo>
                <a:lnTo>
                  <a:pt x="3097" y="1116"/>
                </a:lnTo>
                <a:lnTo>
                  <a:pt x="3085" y="1147"/>
                </a:lnTo>
                <a:lnTo>
                  <a:pt x="3062" y="1189"/>
                </a:lnTo>
                <a:lnTo>
                  <a:pt x="3062" y="1210"/>
                </a:lnTo>
                <a:lnTo>
                  <a:pt x="3062" y="1231"/>
                </a:lnTo>
                <a:lnTo>
                  <a:pt x="3062" y="1262"/>
                </a:lnTo>
                <a:lnTo>
                  <a:pt x="3085" y="1293"/>
                </a:lnTo>
                <a:lnTo>
                  <a:pt x="3085" y="1325"/>
                </a:lnTo>
                <a:lnTo>
                  <a:pt x="3085" y="1345"/>
                </a:lnTo>
                <a:lnTo>
                  <a:pt x="3085" y="1366"/>
                </a:lnTo>
                <a:lnTo>
                  <a:pt x="3085" y="1387"/>
                </a:lnTo>
                <a:lnTo>
                  <a:pt x="3085" y="1408"/>
                </a:lnTo>
                <a:lnTo>
                  <a:pt x="3085" y="1429"/>
                </a:lnTo>
                <a:lnTo>
                  <a:pt x="3085" y="1450"/>
                </a:lnTo>
                <a:lnTo>
                  <a:pt x="3085" y="1471"/>
                </a:lnTo>
                <a:lnTo>
                  <a:pt x="3085" y="1512"/>
                </a:lnTo>
                <a:lnTo>
                  <a:pt x="3085" y="1533"/>
                </a:lnTo>
                <a:lnTo>
                  <a:pt x="3097" y="1554"/>
                </a:lnTo>
                <a:lnTo>
                  <a:pt x="3097" y="1575"/>
                </a:lnTo>
                <a:lnTo>
                  <a:pt x="3085" y="1596"/>
                </a:lnTo>
                <a:lnTo>
                  <a:pt x="3085" y="1617"/>
                </a:lnTo>
                <a:lnTo>
                  <a:pt x="3085" y="1648"/>
                </a:lnTo>
                <a:lnTo>
                  <a:pt x="3085" y="1669"/>
                </a:lnTo>
                <a:lnTo>
                  <a:pt x="3074" y="1690"/>
                </a:lnTo>
                <a:lnTo>
                  <a:pt x="3074" y="1711"/>
                </a:lnTo>
                <a:lnTo>
                  <a:pt x="3074" y="1731"/>
                </a:lnTo>
                <a:lnTo>
                  <a:pt x="3074" y="1752"/>
                </a:lnTo>
                <a:lnTo>
                  <a:pt x="3062" y="1784"/>
                </a:lnTo>
                <a:lnTo>
                  <a:pt x="3040" y="1784"/>
                </a:lnTo>
                <a:lnTo>
                  <a:pt x="3040" y="1804"/>
                </a:lnTo>
                <a:lnTo>
                  <a:pt x="3028" y="1825"/>
                </a:lnTo>
                <a:lnTo>
                  <a:pt x="3028" y="1846"/>
                </a:lnTo>
                <a:lnTo>
                  <a:pt x="3005" y="1857"/>
                </a:lnTo>
                <a:lnTo>
                  <a:pt x="2994" y="1877"/>
                </a:lnTo>
                <a:lnTo>
                  <a:pt x="2971" y="1888"/>
                </a:lnTo>
                <a:lnTo>
                  <a:pt x="2960" y="1909"/>
                </a:lnTo>
                <a:lnTo>
                  <a:pt x="2948" y="1930"/>
                </a:lnTo>
                <a:lnTo>
                  <a:pt x="2937" y="1950"/>
                </a:lnTo>
                <a:lnTo>
                  <a:pt x="2903" y="1950"/>
                </a:lnTo>
                <a:lnTo>
                  <a:pt x="2880" y="1971"/>
                </a:lnTo>
                <a:lnTo>
                  <a:pt x="2856" y="1971"/>
                </a:lnTo>
                <a:lnTo>
                  <a:pt x="2834" y="1971"/>
                </a:lnTo>
                <a:lnTo>
                  <a:pt x="2811" y="1982"/>
                </a:lnTo>
                <a:lnTo>
                  <a:pt x="2788" y="1992"/>
                </a:lnTo>
                <a:lnTo>
                  <a:pt x="2766" y="2013"/>
                </a:lnTo>
                <a:lnTo>
                  <a:pt x="2731" y="2044"/>
                </a:lnTo>
                <a:lnTo>
                  <a:pt x="2708" y="2044"/>
                </a:lnTo>
                <a:lnTo>
                  <a:pt x="2686" y="2065"/>
                </a:lnTo>
                <a:lnTo>
                  <a:pt x="2662" y="2076"/>
                </a:lnTo>
                <a:lnTo>
                  <a:pt x="2639" y="2065"/>
                </a:lnTo>
                <a:lnTo>
                  <a:pt x="2617" y="2076"/>
                </a:lnTo>
                <a:lnTo>
                  <a:pt x="2594" y="2076"/>
                </a:lnTo>
                <a:lnTo>
                  <a:pt x="2549" y="2076"/>
                </a:lnTo>
                <a:lnTo>
                  <a:pt x="2525" y="2076"/>
                </a:lnTo>
                <a:lnTo>
                  <a:pt x="2491" y="2076"/>
                </a:lnTo>
                <a:lnTo>
                  <a:pt x="2468" y="2086"/>
                </a:lnTo>
                <a:lnTo>
                  <a:pt x="2445" y="2086"/>
                </a:lnTo>
                <a:lnTo>
                  <a:pt x="2422" y="2086"/>
                </a:lnTo>
                <a:lnTo>
                  <a:pt x="2388" y="2107"/>
                </a:lnTo>
                <a:lnTo>
                  <a:pt x="2365" y="2117"/>
                </a:lnTo>
                <a:lnTo>
                  <a:pt x="2342" y="2117"/>
                </a:lnTo>
                <a:lnTo>
                  <a:pt x="2320" y="2096"/>
                </a:lnTo>
                <a:lnTo>
                  <a:pt x="2297" y="2096"/>
                </a:lnTo>
                <a:lnTo>
                  <a:pt x="2273" y="2117"/>
                </a:lnTo>
                <a:lnTo>
                  <a:pt x="2251" y="2117"/>
                </a:lnTo>
                <a:lnTo>
                  <a:pt x="2228" y="2117"/>
                </a:lnTo>
                <a:lnTo>
                  <a:pt x="2205" y="2117"/>
                </a:lnTo>
                <a:lnTo>
                  <a:pt x="2171" y="2117"/>
                </a:lnTo>
                <a:lnTo>
                  <a:pt x="2148" y="2128"/>
                </a:lnTo>
                <a:lnTo>
                  <a:pt x="2114" y="2128"/>
                </a:lnTo>
                <a:lnTo>
                  <a:pt x="2091" y="2128"/>
                </a:lnTo>
                <a:lnTo>
                  <a:pt x="2068" y="2138"/>
                </a:lnTo>
                <a:lnTo>
                  <a:pt x="2046" y="2138"/>
                </a:lnTo>
                <a:lnTo>
                  <a:pt x="2022" y="2149"/>
                </a:lnTo>
                <a:lnTo>
                  <a:pt x="1999" y="2149"/>
                </a:lnTo>
                <a:lnTo>
                  <a:pt x="1977" y="2159"/>
                </a:lnTo>
                <a:lnTo>
                  <a:pt x="1954" y="2159"/>
                </a:lnTo>
                <a:lnTo>
                  <a:pt x="1931" y="2169"/>
                </a:lnTo>
                <a:lnTo>
                  <a:pt x="1908" y="2180"/>
                </a:lnTo>
                <a:lnTo>
                  <a:pt x="1874" y="2190"/>
                </a:lnTo>
                <a:lnTo>
                  <a:pt x="1851" y="2180"/>
                </a:lnTo>
                <a:lnTo>
                  <a:pt x="1805" y="2180"/>
                </a:lnTo>
                <a:lnTo>
                  <a:pt x="1782" y="2190"/>
                </a:lnTo>
                <a:lnTo>
                  <a:pt x="1760" y="2190"/>
                </a:lnTo>
                <a:lnTo>
                  <a:pt x="1737" y="2190"/>
                </a:lnTo>
                <a:lnTo>
                  <a:pt x="1702" y="2190"/>
                </a:lnTo>
                <a:lnTo>
                  <a:pt x="1680" y="2190"/>
                </a:lnTo>
                <a:lnTo>
                  <a:pt x="1645" y="2201"/>
                </a:lnTo>
                <a:lnTo>
                  <a:pt x="1623" y="2201"/>
                </a:lnTo>
                <a:lnTo>
                  <a:pt x="1600" y="2201"/>
                </a:lnTo>
                <a:lnTo>
                  <a:pt x="1543" y="2201"/>
                </a:lnTo>
                <a:lnTo>
                  <a:pt x="1486" y="2232"/>
                </a:lnTo>
                <a:lnTo>
                  <a:pt x="1462" y="2232"/>
                </a:lnTo>
                <a:lnTo>
                  <a:pt x="1451" y="2211"/>
                </a:lnTo>
                <a:lnTo>
                  <a:pt x="1428" y="2211"/>
                </a:lnTo>
                <a:lnTo>
                  <a:pt x="1394" y="2211"/>
                </a:lnTo>
                <a:lnTo>
                  <a:pt x="1371" y="2211"/>
                </a:lnTo>
                <a:lnTo>
                  <a:pt x="1337" y="2211"/>
                </a:lnTo>
                <a:lnTo>
                  <a:pt x="1314" y="2211"/>
                </a:lnTo>
                <a:lnTo>
                  <a:pt x="1291" y="2211"/>
                </a:lnTo>
                <a:lnTo>
                  <a:pt x="1268" y="2211"/>
                </a:lnTo>
                <a:lnTo>
                  <a:pt x="1257" y="2190"/>
                </a:lnTo>
                <a:lnTo>
                  <a:pt x="1234" y="2190"/>
                </a:lnTo>
                <a:lnTo>
                  <a:pt x="1200" y="2180"/>
                </a:lnTo>
                <a:lnTo>
                  <a:pt x="1177" y="2180"/>
                </a:lnTo>
                <a:lnTo>
                  <a:pt x="1142" y="2180"/>
                </a:lnTo>
                <a:lnTo>
                  <a:pt x="1085" y="2180"/>
                </a:lnTo>
                <a:lnTo>
                  <a:pt x="1063" y="2180"/>
                </a:lnTo>
                <a:lnTo>
                  <a:pt x="1040" y="2180"/>
                </a:lnTo>
                <a:lnTo>
                  <a:pt x="1016" y="2180"/>
                </a:lnTo>
                <a:lnTo>
                  <a:pt x="993" y="2180"/>
                </a:lnTo>
                <a:lnTo>
                  <a:pt x="971" y="2159"/>
                </a:lnTo>
                <a:lnTo>
                  <a:pt x="936" y="2138"/>
                </a:lnTo>
                <a:lnTo>
                  <a:pt x="914" y="2128"/>
                </a:lnTo>
                <a:lnTo>
                  <a:pt x="879" y="2128"/>
                </a:lnTo>
                <a:lnTo>
                  <a:pt x="856" y="2128"/>
                </a:lnTo>
                <a:lnTo>
                  <a:pt x="834" y="2128"/>
                </a:lnTo>
                <a:lnTo>
                  <a:pt x="674" y="2169"/>
                </a:lnTo>
                <a:lnTo>
                  <a:pt x="651" y="2169"/>
                </a:lnTo>
                <a:lnTo>
                  <a:pt x="628" y="2169"/>
                </a:lnTo>
                <a:lnTo>
                  <a:pt x="605" y="2169"/>
                </a:lnTo>
                <a:lnTo>
                  <a:pt x="582" y="2169"/>
                </a:lnTo>
                <a:lnTo>
                  <a:pt x="560" y="2169"/>
                </a:lnTo>
                <a:lnTo>
                  <a:pt x="537" y="2169"/>
                </a:lnTo>
                <a:lnTo>
                  <a:pt x="514" y="2169"/>
                </a:lnTo>
                <a:lnTo>
                  <a:pt x="491" y="2169"/>
                </a:lnTo>
                <a:lnTo>
                  <a:pt x="491" y="2149"/>
                </a:lnTo>
                <a:lnTo>
                  <a:pt x="468" y="2128"/>
                </a:lnTo>
                <a:lnTo>
                  <a:pt x="423" y="2117"/>
                </a:lnTo>
                <a:lnTo>
                  <a:pt x="400" y="2117"/>
                </a:lnTo>
                <a:lnTo>
                  <a:pt x="376" y="2117"/>
                </a:lnTo>
                <a:lnTo>
                  <a:pt x="308" y="2117"/>
                </a:lnTo>
                <a:lnTo>
                  <a:pt x="251" y="2117"/>
                </a:lnTo>
                <a:lnTo>
                  <a:pt x="239" y="2096"/>
                </a:lnTo>
                <a:lnTo>
                  <a:pt x="216" y="2086"/>
                </a:lnTo>
                <a:lnTo>
                  <a:pt x="194" y="2086"/>
                </a:lnTo>
                <a:lnTo>
                  <a:pt x="171" y="2065"/>
                </a:lnTo>
                <a:lnTo>
                  <a:pt x="148" y="2065"/>
                </a:lnTo>
                <a:lnTo>
                  <a:pt x="137" y="2044"/>
                </a:lnTo>
                <a:lnTo>
                  <a:pt x="125" y="2023"/>
                </a:lnTo>
                <a:lnTo>
                  <a:pt x="125" y="2003"/>
                </a:lnTo>
                <a:lnTo>
                  <a:pt x="114" y="1982"/>
                </a:lnTo>
                <a:lnTo>
                  <a:pt x="114" y="1961"/>
                </a:lnTo>
                <a:lnTo>
                  <a:pt x="114" y="1940"/>
                </a:lnTo>
                <a:lnTo>
                  <a:pt x="79" y="1930"/>
                </a:lnTo>
                <a:lnTo>
                  <a:pt x="79" y="1898"/>
                </a:lnTo>
                <a:lnTo>
                  <a:pt x="79" y="1877"/>
                </a:lnTo>
                <a:lnTo>
                  <a:pt x="79" y="1846"/>
                </a:lnTo>
                <a:lnTo>
                  <a:pt x="79" y="1804"/>
                </a:lnTo>
                <a:lnTo>
                  <a:pt x="79" y="1784"/>
                </a:lnTo>
                <a:lnTo>
                  <a:pt x="79" y="1763"/>
                </a:lnTo>
                <a:lnTo>
                  <a:pt x="79" y="1742"/>
                </a:lnTo>
                <a:lnTo>
                  <a:pt x="79" y="1721"/>
                </a:lnTo>
                <a:lnTo>
                  <a:pt x="69" y="1700"/>
                </a:lnTo>
                <a:lnTo>
                  <a:pt x="57" y="1669"/>
                </a:lnTo>
                <a:lnTo>
                  <a:pt x="34" y="1648"/>
                </a:lnTo>
                <a:lnTo>
                  <a:pt x="22" y="1627"/>
                </a:lnTo>
                <a:lnTo>
                  <a:pt x="0" y="1606"/>
                </a:lnTo>
                <a:lnTo>
                  <a:pt x="0" y="1575"/>
                </a:lnTo>
                <a:lnTo>
                  <a:pt x="22" y="1554"/>
                </a:lnTo>
                <a:lnTo>
                  <a:pt x="45" y="1523"/>
                </a:lnTo>
                <a:lnTo>
                  <a:pt x="79" y="1491"/>
                </a:lnTo>
                <a:lnTo>
                  <a:pt x="69" y="1439"/>
                </a:lnTo>
                <a:lnTo>
                  <a:pt x="57" y="1418"/>
                </a:lnTo>
                <a:lnTo>
                  <a:pt x="69" y="1387"/>
                </a:lnTo>
                <a:lnTo>
                  <a:pt x="79" y="1366"/>
                </a:lnTo>
                <a:lnTo>
                  <a:pt x="79" y="1335"/>
                </a:lnTo>
                <a:lnTo>
                  <a:pt x="79" y="1304"/>
                </a:lnTo>
                <a:lnTo>
                  <a:pt x="57" y="1252"/>
                </a:lnTo>
                <a:lnTo>
                  <a:pt x="57" y="1231"/>
                </a:lnTo>
                <a:lnTo>
                  <a:pt x="69" y="1189"/>
                </a:lnTo>
                <a:lnTo>
                  <a:pt x="45" y="1168"/>
                </a:lnTo>
                <a:lnTo>
                  <a:pt x="45" y="1147"/>
                </a:lnTo>
                <a:lnTo>
                  <a:pt x="22" y="1126"/>
                </a:lnTo>
                <a:lnTo>
                  <a:pt x="11" y="1095"/>
                </a:lnTo>
                <a:lnTo>
                  <a:pt x="22" y="1053"/>
                </a:lnTo>
                <a:lnTo>
                  <a:pt x="22" y="991"/>
                </a:lnTo>
                <a:lnTo>
                  <a:pt x="22" y="970"/>
                </a:lnTo>
                <a:lnTo>
                  <a:pt x="11" y="949"/>
                </a:lnTo>
                <a:lnTo>
                  <a:pt x="11" y="928"/>
                </a:lnTo>
                <a:lnTo>
                  <a:pt x="11" y="907"/>
                </a:lnTo>
                <a:lnTo>
                  <a:pt x="34" y="887"/>
                </a:lnTo>
                <a:lnTo>
                  <a:pt x="34" y="866"/>
                </a:lnTo>
                <a:lnTo>
                  <a:pt x="34" y="834"/>
                </a:lnTo>
                <a:lnTo>
                  <a:pt x="34" y="814"/>
                </a:lnTo>
                <a:lnTo>
                  <a:pt x="34" y="793"/>
                </a:lnTo>
                <a:lnTo>
                  <a:pt x="11" y="793"/>
                </a:lnTo>
                <a:lnTo>
                  <a:pt x="0" y="772"/>
                </a:lnTo>
                <a:lnTo>
                  <a:pt x="22" y="751"/>
                </a:lnTo>
                <a:lnTo>
                  <a:pt x="34" y="730"/>
                </a:lnTo>
                <a:lnTo>
                  <a:pt x="34" y="709"/>
                </a:lnTo>
                <a:lnTo>
                  <a:pt x="34" y="688"/>
                </a:lnTo>
                <a:lnTo>
                  <a:pt x="11" y="678"/>
                </a:lnTo>
                <a:lnTo>
                  <a:pt x="11" y="657"/>
                </a:lnTo>
                <a:lnTo>
                  <a:pt x="11" y="636"/>
                </a:lnTo>
                <a:lnTo>
                  <a:pt x="34" y="626"/>
                </a:lnTo>
                <a:lnTo>
                  <a:pt x="11" y="615"/>
                </a:lnTo>
                <a:lnTo>
                  <a:pt x="11" y="595"/>
                </a:lnTo>
                <a:lnTo>
                  <a:pt x="0" y="595"/>
                </a:lnTo>
              </a:path>
            </a:pathLst>
          </a:custGeom>
          <a:solidFill>
            <a:schemeClr val="folHlink"/>
          </a:solidFill>
          <a:ln w="50800" cap="rnd">
            <a:solidFill>
              <a:schemeClr val="tx1"/>
            </a:solidFill>
            <a:prstDash val="sysDot"/>
            <a:round/>
            <a:headEnd/>
            <a:tailEnd/>
          </a:ln>
        </p:spPr>
        <p:txBody>
          <a:bodyPr/>
          <a:lstStyle/>
          <a:p>
            <a:endParaRPr lang="en-US"/>
          </a:p>
        </p:txBody>
      </p:sp>
      <p:sp>
        <p:nvSpPr>
          <p:cNvPr id="38920" name="Freeform 5"/>
          <p:cNvSpPr>
            <a:spLocks/>
          </p:cNvSpPr>
          <p:nvPr/>
        </p:nvSpPr>
        <p:spPr bwMode="blackWhite">
          <a:xfrm>
            <a:off x="4648200" y="3581400"/>
            <a:ext cx="1390650" cy="2525713"/>
          </a:xfrm>
          <a:custGeom>
            <a:avLst/>
            <a:gdLst>
              <a:gd name="T0" fmla="*/ 25 w 1499"/>
              <a:gd name="T1" fmla="*/ 576 h 1489"/>
              <a:gd name="T2" fmla="*/ 25 w 1499"/>
              <a:gd name="T3" fmla="*/ 496 h 1489"/>
              <a:gd name="T4" fmla="*/ 38 w 1499"/>
              <a:gd name="T5" fmla="*/ 415 h 1489"/>
              <a:gd name="T6" fmla="*/ 50 w 1499"/>
              <a:gd name="T7" fmla="*/ 335 h 1489"/>
              <a:gd name="T8" fmla="*/ 115 w 1499"/>
              <a:gd name="T9" fmla="*/ 281 h 1489"/>
              <a:gd name="T10" fmla="*/ 153 w 1499"/>
              <a:gd name="T11" fmla="*/ 227 h 1489"/>
              <a:gd name="T12" fmla="*/ 256 w 1499"/>
              <a:gd name="T13" fmla="*/ 214 h 1489"/>
              <a:gd name="T14" fmla="*/ 307 w 1499"/>
              <a:gd name="T15" fmla="*/ 147 h 1489"/>
              <a:gd name="T16" fmla="*/ 371 w 1499"/>
              <a:gd name="T17" fmla="*/ 93 h 1489"/>
              <a:gd name="T18" fmla="*/ 435 w 1499"/>
              <a:gd name="T19" fmla="*/ 26 h 1489"/>
              <a:gd name="T20" fmla="*/ 512 w 1499"/>
              <a:gd name="T21" fmla="*/ 26 h 1489"/>
              <a:gd name="T22" fmla="*/ 562 w 1499"/>
              <a:gd name="T23" fmla="*/ 26 h 1489"/>
              <a:gd name="T24" fmla="*/ 653 w 1499"/>
              <a:gd name="T25" fmla="*/ 13 h 1489"/>
              <a:gd name="T26" fmla="*/ 729 w 1499"/>
              <a:gd name="T27" fmla="*/ 0 h 1489"/>
              <a:gd name="T28" fmla="*/ 806 w 1499"/>
              <a:gd name="T29" fmla="*/ 13 h 1489"/>
              <a:gd name="T30" fmla="*/ 935 w 1499"/>
              <a:gd name="T31" fmla="*/ 13 h 1489"/>
              <a:gd name="T32" fmla="*/ 1036 w 1499"/>
              <a:gd name="T33" fmla="*/ 13 h 1489"/>
              <a:gd name="T34" fmla="*/ 1114 w 1499"/>
              <a:gd name="T35" fmla="*/ 26 h 1489"/>
              <a:gd name="T36" fmla="*/ 1215 w 1499"/>
              <a:gd name="T37" fmla="*/ 93 h 1489"/>
              <a:gd name="T38" fmla="*/ 1293 w 1499"/>
              <a:gd name="T39" fmla="*/ 147 h 1489"/>
              <a:gd name="T40" fmla="*/ 1369 w 1499"/>
              <a:gd name="T41" fmla="*/ 201 h 1489"/>
              <a:gd name="T42" fmla="*/ 1407 w 1499"/>
              <a:gd name="T43" fmla="*/ 268 h 1489"/>
              <a:gd name="T44" fmla="*/ 1407 w 1499"/>
              <a:gd name="T45" fmla="*/ 361 h 1489"/>
              <a:gd name="T46" fmla="*/ 1434 w 1499"/>
              <a:gd name="T47" fmla="*/ 482 h 1489"/>
              <a:gd name="T48" fmla="*/ 1472 w 1499"/>
              <a:gd name="T49" fmla="*/ 589 h 1489"/>
              <a:gd name="T50" fmla="*/ 1485 w 1499"/>
              <a:gd name="T51" fmla="*/ 670 h 1489"/>
              <a:gd name="T52" fmla="*/ 1498 w 1499"/>
              <a:gd name="T53" fmla="*/ 764 h 1489"/>
              <a:gd name="T54" fmla="*/ 1485 w 1499"/>
              <a:gd name="T55" fmla="*/ 857 h 1489"/>
              <a:gd name="T56" fmla="*/ 1472 w 1499"/>
              <a:gd name="T57" fmla="*/ 951 h 1489"/>
              <a:gd name="T58" fmla="*/ 1447 w 1499"/>
              <a:gd name="T59" fmla="*/ 1032 h 1489"/>
              <a:gd name="T60" fmla="*/ 1407 w 1499"/>
              <a:gd name="T61" fmla="*/ 1112 h 1489"/>
              <a:gd name="T62" fmla="*/ 1344 w 1499"/>
              <a:gd name="T63" fmla="*/ 1152 h 1489"/>
              <a:gd name="T64" fmla="*/ 1293 w 1499"/>
              <a:gd name="T65" fmla="*/ 1193 h 1489"/>
              <a:gd name="T66" fmla="*/ 1203 w 1499"/>
              <a:gd name="T67" fmla="*/ 1233 h 1489"/>
              <a:gd name="T68" fmla="*/ 1126 w 1499"/>
              <a:gd name="T69" fmla="*/ 1273 h 1489"/>
              <a:gd name="T70" fmla="*/ 1049 w 1499"/>
              <a:gd name="T71" fmla="*/ 1313 h 1489"/>
              <a:gd name="T72" fmla="*/ 985 w 1499"/>
              <a:gd name="T73" fmla="*/ 1340 h 1489"/>
              <a:gd name="T74" fmla="*/ 908 w 1499"/>
              <a:gd name="T75" fmla="*/ 1353 h 1489"/>
              <a:gd name="T76" fmla="*/ 844 w 1499"/>
              <a:gd name="T77" fmla="*/ 1407 h 1489"/>
              <a:gd name="T78" fmla="*/ 755 w 1499"/>
              <a:gd name="T79" fmla="*/ 1447 h 1489"/>
              <a:gd name="T80" fmla="*/ 653 w 1499"/>
              <a:gd name="T81" fmla="*/ 1474 h 1489"/>
              <a:gd name="T82" fmla="*/ 589 w 1499"/>
              <a:gd name="T83" fmla="*/ 1434 h 1489"/>
              <a:gd name="T84" fmla="*/ 512 w 1499"/>
              <a:gd name="T85" fmla="*/ 1434 h 1489"/>
              <a:gd name="T86" fmla="*/ 448 w 1499"/>
              <a:gd name="T87" fmla="*/ 1394 h 1489"/>
              <a:gd name="T88" fmla="*/ 396 w 1499"/>
              <a:gd name="T89" fmla="*/ 1313 h 1489"/>
              <a:gd name="T90" fmla="*/ 307 w 1499"/>
              <a:gd name="T91" fmla="*/ 1286 h 1489"/>
              <a:gd name="T92" fmla="*/ 230 w 1499"/>
              <a:gd name="T93" fmla="*/ 1273 h 1489"/>
              <a:gd name="T94" fmla="*/ 153 w 1499"/>
              <a:gd name="T95" fmla="*/ 1246 h 1489"/>
              <a:gd name="T96" fmla="*/ 90 w 1499"/>
              <a:gd name="T97" fmla="*/ 1166 h 1489"/>
              <a:gd name="T98" fmla="*/ 38 w 1499"/>
              <a:gd name="T99" fmla="*/ 1112 h 1489"/>
              <a:gd name="T100" fmla="*/ 25 w 1499"/>
              <a:gd name="T101" fmla="*/ 1032 h 1489"/>
              <a:gd name="T102" fmla="*/ 25 w 1499"/>
              <a:gd name="T103" fmla="*/ 938 h 1489"/>
              <a:gd name="T104" fmla="*/ 0 w 1499"/>
              <a:gd name="T105" fmla="*/ 857 h 1489"/>
              <a:gd name="T106" fmla="*/ 12 w 1499"/>
              <a:gd name="T107" fmla="*/ 750 h 1489"/>
              <a:gd name="T108" fmla="*/ 12 w 1499"/>
              <a:gd name="T109" fmla="*/ 670 h 1489"/>
              <a:gd name="T110" fmla="*/ 38 w 1499"/>
              <a:gd name="T111" fmla="*/ 616 h 1489"/>
              <a:gd name="T112" fmla="*/ 12 w 1499"/>
              <a:gd name="T113" fmla="*/ 549 h 1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99"/>
              <a:gd name="T172" fmla="*/ 0 h 1489"/>
              <a:gd name="T173" fmla="*/ 1499 w 1499"/>
              <a:gd name="T174" fmla="*/ 1489 h 1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99" h="1489">
                <a:moveTo>
                  <a:pt x="12" y="630"/>
                </a:moveTo>
                <a:lnTo>
                  <a:pt x="12" y="603"/>
                </a:lnTo>
                <a:lnTo>
                  <a:pt x="25" y="576"/>
                </a:lnTo>
                <a:lnTo>
                  <a:pt x="25" y="549"/>
                </a:lnTo>
                <a:lnTo>
                  <a:pt x="25" y="522"/>
                </a:lnTo>
                <a:lnTo>
                  <a:pt x="25" y="496"/>
                </a:lnTo>
                <a:lnTo>
                  <a:pt x="38" y="469"/>
                </a:lnTo>
                <a:lnTo>
                  <a:pt x="38" y="442"/>
                </a:lnTo>
                <a:lnTo>
                  <a:pt x="38" y="415"/>
                </a:lnTo>
                <a:lnTo>
                  <a:pt x="38" y="388"/>
                </a:lnTo>
                <a:lnTo>
                  <a:pt x="38" y="361"/>
                </a:lnTo>
                <a:lnTo>
                  <a:pt x="50" y="335"/>
                </a:lnTo>
                <a:lnTo>
                  <a:pt x="76" y="335"/>
                </a:lnTo>
                <a:lnTo>
                  <a:pt x="102" y="308"/>
                </a:lnTo>
                <a:lnTo>
                  <a:pt x="115" y="281"/>
                </a:lnTo>
                <a:lnTo>
                  <a:pt x="115" y="254"/>
                </a:lnTo>
                <a:lnTo>
                  <a:pt x="128" y="227"/>
                </a:lnTo>
                <a:lnTo>
                  <a:pt x="153" y="227"/>
                </a:lnTo>
                <a:lnTo>
                  <a:pt x="191" y="227"/>
                </a:lnTo>
                <a:lnTo>
                  <a:pt x="230" y="214"/>
                </a:lnTo>
                <a:lnTo>
                  <a:pt x="256" y="214"/>
                </a:lnTo>
                <a:lnTo>
                  <a:pt x="282" y="214"/>
                </a:lnTo>
                <a:lnTo>
                  <a:pt x="307" y="174"/>
                </a:lnTo>
                <a:lnTo>
                  <a:pt x="307" y="147"/>
                </a:lnTo>
                <a:lnTo>
                  <a:pt x="320" y="107"/>
                </a:lnTo>
                <a:lnTo>
                  <a:pt x="345" y="93"/>
                </a:lnTo>
                <a:lnTo>
                  <a:pt x="371" y="93"/>
                </a:lnTo>
                <a:lnTo>
                  <a:pt x="396" y="80"/>
                </a:lnTo>
                <a:lnTo>
                  <a:pt x="423" y="53"/>
                </a:lnTo>
                <a:lnTo>
                  <a:pt x="435" y="26"/>
                </a:lnTo>
                <a:lnTo>
                  <a:pt x="461" y="26"/>
                </a:lnTo>
                <a:lnTo>
                  <a:pt x="486" y="26"/>
                </a:lnTo>
                <a:lnTo>
                  <a:pt x="512" y="26"/>
                </a:lnTo>
                <a:lnTo>
                  <a:pt x="524" y="53"/>
                </a:lnTo>
                <a:lnTo>
                  <a:pt x="537" y="26"/>
                </a:lnTo>
                <a:lnTo>
                  <a:pt x="562" y="26"/>
                </a:lnTo>
                <a:lnTo>
                  <a:pt x="589" y="26"/>
                </a:lnTo>
                <a:lnTo>
                  <a:pt x="627" y="13"/>
                </a:lnTo>
                <a:lnTo>
                  <a:pt x="653" y="13"/>
                </a:lnTo>
                <a:lnTo>
                  <a:pt x="678" y="13"/>
                </a:lnTo>
                <a:lnTo>
                  <a:pt x="703" y="0"/>
                </a:lnTo>
                <a:lnTo>
                  <a:pt x="729" y="0"/>
                </a:lnTo>
                <a:lnTo>
                  <a:pt x="755" y="0"/>
                </a:lnTo>
                <a:lnTo>
                  <a:pt x="781" y="13"/>
                </a:lnTo>
                <a:lnTo>
                  <a:pt x="806" y="13"/>
                </a:lnTo>
                <a:lnTo>
                  <a:pt x="832" y="13"/>
                </a:lnTo>
                <a:lnTo>
                  <a:pt x="883" y="13"/>
                </a:lnTo>
                <a:lnTo>
                  <a:pt x="935" y="13"/>
                </a:lnTo>
                <a:lnTo>
                  <a:pt x="960" y="13"/>
                </a:lnTo>
                <a:lnTo>
                  <a:pt x="1011" y="13"/>
                </a:lnTo>
                <a:lnTo>
                  <a:pt x="1036" y="13"/>
                </a:lnTo>
                <a:lnTo>
                  <a:pt x="1062" y="13"/>
                </a:lnTo>
                <a:lnTo>
                  <a:pt x="1088" y="13"/>
                </a:lnTo>
                <a:lnTo>
                  <a:pt x="1114" y="26"/>
                </a:lnTo>
                <a:lnTo>
                  <a:pt x="1152" y="53"/>
                </a:lnTo>
                <a:lnTo>
                  <a:pt x="1177" y="80"/>
                </a:lnTo>
                <a:lnTo>
                  <a:pt x="1215" y="93"/>
                </a:lnTo>
                <a:lnTo>
                  <a:pt x="1241" y="134"/>
                </a:lnTo>
                <a:lnTo>
                  <a:pt x="1267" y="147"/>
                </a:lnTo>
                <a:lnTo>
                  <a:pt x="1293" y="147"/>
                </a:lnTo>
                <a:lnTo>
                  <a:pt x="1344" y="174"/>
                </a:lnTo>
                <a:lnTo>
                  <a:pt x="1369" y="174"/>
                </a:lnTo>
                <a:lnTo>
                  <a:pt x="1369" y="201"/>
                </a:lnTo>
                <a:lnTo>
                  <a:pt x="1369" y="227"/>
                </a:lnTo>
                <a:lnTo>
                  <a:pt x="1407" y="241"/>
                </a:lnTo>
                <a:lnTo>
                  <a:pt x="1407" y="268"/>
                </a:lnTo>
                <a:lnTo>
                  <a:pt x="1407" y="308"/>
                </a:lnTo>
                <a:lnTo>
                  <a:pt x="1407" y="335"/>
                </a:lnTo>
                <a:lnTo>
                  <a:pt x="1407" y="361"/>
                </a:lnTo>
                <a:lnTo>
                  <a:pt x="1407" y="402"/>
                </a:lnTo>
                <a:lnTo>
                  <a:pt x="1421" y="442"/>
                </a:lnTo>
                <a:lnTo>
                  <a:pt x="1434" y="482"/>
                </a:lnTo>
                <a:lnTo>
                  <a:pt x="1434" y="509"/>
                </a:lnTo>
                <a:lnTo>
                  <a:pt x="1434" y="549"/>
                </a:lnTo>
                <a:lnTo>
                  <a:pt x="1472" y="589"/>
                </a:lnTo>
                <a:lnTo>
                  <a:pt x="1472" y="616"/>
                </a:lnTo>
                <a:lnTo>
                  <a:pt x="1472" y="643"/>
                </a:lnTo>
                <a:lnTo>
                  <a:pt x="1485" y="670"/>
                </a:lnTo>
                <a:lnTo>
                  <a:pt x="1498" y="697"/>
                </a:lnTo>
                <a:lnTo>
                  <a:pt x="1498" y="723"/>
                </a:lnTo>
                <a:lnTo>
                  <a:pt x="1498" y="764"/>
                </a:lnTo>
                <a:lnTo>
                  <a:pt x="1485" y="790"/>
                </a:lnTo>
                <a:lnTo>
                  <a:pt x="1485" y="817"/>
                </a:lnTo>
                <a:lnTo>
                  <a:pt x="1485" y="857"/>
                </a:lnTo>
                <a:lnTo>
                  <a:pt x="1485" y="884"/>
                </a:lnTo>
                <a:lnTo>
                  <a:pt x="1485" y="911"/>
                </a:lnTo>
                <a:lnTo>
                  <a:pt x="1472" y="951"/>
                </a:lnTo>
                <a:lnTo>
                  <a:pt x="1472" y="978"/>
                </a:lnTo>
                <a:lnTo>
                  <a:pt x="1447" y="992"/>
                </a:lnTo>
                <a:lnTo>
                  <a:pt x="1447" y="1032"/>
                </a:lnTo>
                <a:lnTo>
                  <a:pt x="1434" y="1059"/>
                </a:lnTo>
                <a:lnTo>
                  <a:pt x="1421" y="1085"/>
                </a:lnTo>
                <a:lnTo>
                  <a:pt x="1407" y="1112"/>
                </a:lnTo>
                <a:lnTo>
                  <a:pt x="1369" y="1112"/>
                </a:lnTo>
                <a:lnTo>
                  <a:pt x="1344" y="1112"/>
                </a:lnTo>
                <a:lnTo>
                  <a:pt x="1344" y="1152"/>
                </a:lnTo>
                <a:lnTo>
                  <a:pt x="1344" y="1179"/>
                </a:lnTo>
                <a:lnTo>
                  <a:pt x="1318" y="1193"/>
                </a:lnTo>
                <a:lnTo>
                  <a:pt x="1293" y="1193"/>
                </a:lnTo>
                <a:lnTo>
                  <a:pt x="1280" y="1219"/>
                </a:lnTo>
                <a:lnTo>
                  <a:pt x="1241" y="1219"/>
                </a:lnTo>
                <a:lnTo>
                  <a:pt x="1203" y="1233"/>
                </a:lnTo>
                <a:lnTo>
                  <a:pt x="1177" y="1233"/>
                </a:lnTo>
                <a:lnTo>
                  <a:pt x="1152" y="1246"/>
                </a:lnTo>
                <a:lnTo>
                  <a:pt x="1126" y="1273"/>
                </a:lnTo>
                <a:lnTo>
                  <a:pt x="1088" y="1286"/>
                </a:lnTo>
                <a:lnTo>
                  <a:pt x="1074" y="1313"/>
                </a:lnTo>
                <a:lnTo>
                  <a:pt x="1049" y="1313"/>
                </a:lnTo>
                <a:lnTo>
                  <a:pt x="1049" y="1340"/>
                </a:lnTo>
                <a:lnTo>
                  <a:pt x="1011" y="1340"/>
                </a:lnTo>
                <a:lnTo>
                  <a:pt x="985" y="1340"/>
                </a:lnTo>
                <a:lnTo>
                  <a:pt x="960" y="1340"/>
                </a:lnTo>
                <a:lnTo>
                  <a:pt x="935" y="1340"/>
                </a:lnTo>
                <a:lnTo>
                  <a:pt x="908" y="1353"/>
                </a:lnTo>
                <a:lnTo>
                  <a:pt x="883" y="1380"/>
                </a:lnTo>
                <a:lnTo>
                  <a:pt x="857" y="1380"/>
                </a:lnTo>
                <a:lnTo>
                  <a:pt x="844" y="1407"/>
                </a:lnTo>
                <a:lnTo>
                  <a:pt x="819" y="1434"/>
                </a:lnTo>
                <a:lnTo>
                  <a:pt x="781" y="1447"/>
                </a:lnTo>
                <a:lnTo>
                  <a:pt x="755" y="1447"/>
                </a:lnTo>
                <a:lnTo>
                  <a:pt x="716" y="1474"/>
                </a:lnTo>
                <a:lnTo>
                  <a:pt x="691" y="1474"/>
                </a:lnTo>
                <a:lnTo>
                  <a:pt x="653" y="1474"/>
                </a:lnTo>
                <a:lnTo>
                  <a:pt x="627" y="1488"/>
                </a:lnTo>
                <a:lnTo>
                  <a:pt x="614" y="1447"/>
                </a:lnTo>
                <a:lnTo>
                  <a:pt x="589" y="1434"/>
                </a:lnTo>
                <a:lnTo>
                  <a:pt x="562" y="1434"/>
                </a:lnTo>
                <a:lnTo>
                  <a:pt x="537" y="1434"/>
                </a:lnTo>
                <a:lnTo>
                  <a:pt x="512" y="1434"/>
                </a:lnTo>
                <a:lnTo>
                  <a:pt x="486" y="1434"/>
                </a:lnTo>
                <a:lnTo>
                  <a:pt x="473" y="1407"/>
                </a:lnTo>
                <a:lnTo>
                  <a:pt x="448" y="1394"/>
                </a:lnTo>
                <a:lnTo>
                  <a:pt x="409" y="1367"/>
                </a:lnTo>
                <a:lnTo>
                  <a:pt x="396" y="1340"/>
                </a:lnTo>
                <a:lnTo>
                  <a:pt x="396" y="1313"/>
                </a:lnTo>
                <a:lnTo>
                  <a:pt x="371" y="1313"/>
                </a:lnTo>
                <a:lnTo>
                  <a:pt x="332" y="1286"/>
                </a:lnTo>
                <a:lnTo>
                  <a:pt x="307" y="1286"/>
                </a:lnTo>
                <a:lnTo>
                  <a:pt x="282" y="1286"/>
                </a:lnTo>
                <a:lnTo>
                  <a:pt x="256" y="1286"/>
                </a:lnTo>
                <a:lnTo>
                  <a:pt x="230" y="1273"/>
                </a:lnTo>
                <a:lnTo>
                  <a:pt x="204" y="1273"/>
                </a:lnTo>
                <a:lnTo>
                  <a:pt x="179" y="1273"/>
                </a:lnTo>
                <a:lnTo>
                  <a:pt x="153" y="1246"/>
                </a:lnTo>
                <a:lnTo>
                  <a:pt x="128" y="1233"/>
                </a:lnTo>
                <a:lnTo>
                  <a:pt x="115" y="1193"/>
                </a:lnTo>
                <a:lnTo>
                  <a:pt x="90" y="1166"/>
                </a:lnTo>
                <a:lnTo>
                  <a:pt x="63" y="1166"/>
                </a:lnTo>
                <a:lnTo>
                  <a:pt x="63" y="1139"/>
                </a:lnTo>
                <a:lnTo>
                  <a:pt x="38" y="1112"/>
                </a:lnTo>
                <a:lnTo>
                  <a:pt x="25" y="1085"/>
                </a:lnTo>
                <a:lnTo>
                  <a:pt x="25" y="1059"/>
                </a:lnTo>
                <a:lnTo>
                  <a:pt x="25" y="1032"/>
                </a:lnTo>
                <a:lnTo>
                  <a:pt x="25" y="1005"/>
                </a:lnTo>
                <a:lnTo>
                  <a:pt x="25" y="965"/>
                </a:lnTo>
                <a:lnTo>
                  <a:pt x="25" y="938"/>
                </a:lnTo>
                <a:lnTo>
                  <a:pt x="12" y="911"/>
                </a:lnTo>
                <a:lnTo>
                  <a:pt x="12" y="884"/>
                </a:lnTo>
                <a:lnTo>
                  <a:pt x="0" y="857"/>
                </a:lnTo>
                <a:lnTo>
                  <a:pt x="0" y="831"/>
                </a:lnTo>
                <a:lnTo>
                  <a:pt x="0" y="790"/>
                </a:lnTo>
                <a:lnTo>
                  <a:pt x="12" y="750"/>
                </a:lnTo>
                <a:lnTo>
                  <a:pt x="12" y="723"/>
                </a:lnTo>
                <a:lnTo>
                  <a:pt x="12" y="697"/>
                </a:lnTo>
                <a:lnTo>
                  <a:pt x="12" y="670"/>
                </a:lnTo>
                <a:lnTo>
                  <a:pt x="12" y="643"/>
                </a:lnTo>
                <a:lnTo>
                  <a:pt x="38" y="643"/>
                </a:lnTo>
                <a:lnTo>
                  <a:pt x="38" y="616"/>
                </a:lnTo>
                <a:lnTo>
                  <a:pt x="38" y="576"/>
                </a:lnTo>
                <a:lnTo>
                  <a:pt x="38" y="549"/>
                </a:lnTo>
                <a:lnTo>
                  <a:pt x="12" y="549"/>
                </a:lnTo>
                <a:lnTo>
                  <a:pt x="12" y="630"/>
                </a:lnTo>
              </a:path>
            </a:pathLst>
          </a:custGeom>
          <a:solidFill>
            <a:schemeClr val="accent1"/>
          </a:solidFill>
          <a:ln w="50800" cap="rnd">
            <a:solidFill>
              <a:schemeClr val="tx1"/>
            </a:solidFill>
            <a:prstDash val="sysDot"/>
            <a:round/>
            <a:headEnd/>
            <a:tailEnd/>
          </a:ln>
        </p:spPr>
        <p:txBody>
          <a:bodyPr/>
          <a:lstStyle/>
          <a:p>
            <a:endParaRPr lang="en-US"/>
          </a:p>
        </p:txBody>
      </p:sp>
      <p:sp>
        <p:nvSpPr>
          <p:cNvPr id="38921" name="Rectangle 6"/>
          <p:cNvSpPr>
            <a:spLocks noChangeArrowheads="1"/>
          </p:cNvSpPr>
          <p:nvPr/>
        </p:nvSpPr>
        <p:spPr bwMode="auto">
          <a:xfrm>
            <a:off x="6858000" y="2667000"/>
            <a:ext cx="2286000"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8600" tIns="0" rIns="228600" bIns="0">
            <a:spAutoFit/>
          </a:bodyPr>
          <a:lstStyle/>
          <a:p>
            <a:pPr algn="just" defTabSz="746125">
              <a:lnSpc>
                <a:spcPct val="130000"/>
              </a:lnSpc>
              <a:spcBef>
                <a:spcPct val="30000"/>
              </a:spcBef>
              <a:buClr>
                <a:schemeClr val="tx1"/>
              </a:buClr>
              <a:buSzPct val="70000"/>
              <a:buFont typeface="Wingdings" pitchFamily="2" charset="2"/>
              <a:buNone/>
              <a:tabLst>
                <a:tab pos="3429000" algn="l"/>
              </a:tabLst>
            </a:pPr>
            <a:r>
              <a:rPr lang="en-US" sz="1300"/>
              <a:t>Is the Accounts Receivable System an actor or part of the system?</a:t>
            </a:r>
          </a:p>
        </p:txBody>
      </p:sp>
      <p:sp>
        <p:nvSpPr>
          <p:cNvPr id="38922" name="Freeform 7"/>
          <p:cNvSpPr>
            <a:spLocks/>
          </p:cNvSpPr>
          <p:nvPr/>
        </p:nvSpPr>
        <p:spPr bwMode="blackWhite">
          <a:xfrm>
            <a:off x="1905000" y="3962400"/>
            <a:ext cx="2379663" cy="2363788"/>
          </a:xfrm>
          <a:custGeom>
            <a:avLst/>
            <a:gdLst>
              <a:gd name="T0" fmla="*/ 25 w 1499"/>
              <a:gd name="T1" fmla="*/ 576 h 1489"/>
              <a:gd name="T2" fmla="*/ 25 w 1499"/>
              <a:gd name="T3" fmla="*/ 496 h 1489"/>
              <a:gd name="T4" fmla="*/ 38 w 1499"/>
              <a:gd name="T5" fmla="*/ 415 h 1489"/>
              <a:gd name="T6" fmla="*/ 50 w 1499"/>
              <a:gd name="T7" fmla="*/ 335 h 1489"/>
              <a:gd name="T8" fmla="*/ 115 w 1499"/>
              <a:gd name="T9" fmla="*/ 281 h 1489"/>
              <a:gd name="T10" fmla="*/ 153 w 1499"/>
              <a:gd name="T11" fmla="*/ 227 h 1489"/>
              <a:gd name="T12" fmla="*/ 256 w 1499"/>
              <a:gd name="T13" fmla="*/ 214 h 1489"/>
              <a:gd name="T14" fmla="*/ 307 w 1499"/>
              <a:gd name="T15" fmla="*/ 147 h 1489"/>
              <a:gd name="T16" fmla="*/ 371 w 1499"/>
              <a:gd name="T17" fmla="*/ 93 h 1489"/>
              <a:gd name="T18" fmla="*/ 435 w 1499"/>
              <a:gd name="T19" fmla="*/ 26 h 1489"/>
              <a:gd name="T20" fmla="*/ 512 w 1499"/>
              <a:gd name="T21" fmla="*/ 26 h 1489"/>
              <a:gd name="T22" fmla="*/ 562 w 1499"/>
              <a:gd name="T23" fmla="*/ 26 h 1489"/>
              <a:gd name="T24" fmla="*/ 653 w 1499"/>
              <a:gd name="T25" fmla="*/ 13 h 1489"/>
              <a:gd name="T26" fmla="*/ 729 w 1499"/>
              <a:gd name="T27" fmla="*/ 0 h 1489"/>
              <a:gd name="T28" fmla="*/ 806 w 1499"/>
              <a:gd name="T29" fmla="*/ 13 h 1489"/>
              <a:gd name="T30" fmla="*/ 935 w 1499"/>
              <a:gd name="T31" fmla="*/ 13 h 1489"/>
              <a:gd name="T32" fmla="*/ 1036 w 1499"/>
              <a:gd name="T33" fmla="*/ 13 h 1489"/>
              <a:gd name="T34" fmla="*/ 1114 w 1499"/>
              <a:gd name="T35" fmla="*/ 26 h 1489"/>
              <a:gd name="T36" fmla="*/ 1215 w 1499"/>
              <a:gd name="T37" fmla="*/ 93 h 1489"/>
              <a:gd name="T38" fmla="*/ 1293 w 1499"/>
              <a:gd name="T39" fmla="*/ 147 h 1489"/>
              <a:gd name="T40" fmla="*/ 1369 w 1499"/>
              <a:gd name="T41" fmla="*/ 201 h 1489"/>
              <a:gd name="T42" fmla="*/ 1407 w 1499"/>
              <a:gd name="T43" fmla="*/ 268 h 1489"/>
              <a:gd name="T44" fmla="*/ 1407 w 1499"/>
              <a:gd name="T45" fmla="*/ 361 h 1489"/>
              <a:gd name="T46" fmla="*/ 1434 w 1499"/>
              <a:gd name="T47" fmla="*/ 482 h 1489"/>
              <a:gd name="T48" fmla="*/ 1472 w 1499"/>
              <a:gd name="T49" fmla="*/ 589 h 1489"/>
              <a:gd name="T50" fmla="*/ 1485 w 1499"/>
              <a:gd name="T51" fmla="*/ 670 h 1489"/>
              <a:gd name="T52" fmla="*/ 1498 w 1499"/>
              <a:gd name="T53" fmla="*/ 764 h 1489"/>
              <a:gd name="T54" fmla="*/ 1485 w 1499"/>
              <a:gd name="T55" fmla="*/ 857 h 1489"/>
              <a:gd name="T56" fmla="*/ 1472 w 1499"/>
              <a:gd name="T57" fmla="*/ 951 h 1489"/>
              <a:gd name="T58" fmla="*/ 1447 w 1499"/>
              <a:gd name="T59" fmla="*/ 1032 h 1489"/>
              <a:gd name="T60" fmla="*/ 1407 w 1499"/>
              <a:gd name="T61" fmla="*/ 1112 h 1489"/>
              <a:gd name="T62" fmla="*/ 1344 w 1499"/>
              <a:gd name="T63" fmla="*/ 1152 h 1489"/>
              <a:gd name="T64" fmla="*/ 1293 w 1499"/>
              <a:gd name="T65" fmla="*/ 1193 h 1489"/>
              <a:gd name="T66" fmla="*/ 1203 w 1499"/>
              <a:gd name="T67" fmla="*/ 1233 h 1489"/>
              <a:gd name="T68" fmla="*/ 1126 w 1499"/>
              <a:gd name="T69" fmla="*/ 1273 h 1489"/>
              <a:gd name="T70" fmla="*/ 1049 w 1499"/>
              <a:gd name="T71" fmla="*/ 1313 h 1489"/>
              <a:gd name="T72" fmla="*/ 985 w 1499"/>
              <a:gd name="T73" fmla="*/ 1340 h 1489"/>
              <a:gd name="T74" fmla="*/ 908 w 1499"/>
              <a:gd name="T75" fmla="*/ 1353 h 1489"/>
              <a:gd name="T76" fmla="*/ 844 w 1499"/>
              <a:gd name="T77" fmla="*/ 1407 h 1489"/>
              <a:gd name="T78" fmla="*/ 755 w 1499"/>
              <a:gd name="T79" fmla="*/ 1447 h 1489"/>
              <a:gd name="T80" fmla="*/ 653 w 1499"/>
              <a:gd name="T81" fmla="*/ 1474 h 1489"/>
              <a:gd name="T82" fmla="*/ 589 w 1499"/>
              <a:gd name="T83" fmla="*/ 1434 h 1489"/>
              <a:gd name="T84" fmla="*/ 512 w 1499"/>
              <a:gd name="T85" fmla="*/ 1434 h 1489"/>
              <a:gd name="T86" fmla="*/ 448 w 1499"/>
              <a:gd name="T87" fmla="*/ 1394 h 1489"/>
              <a:gd name="T88" fmla="*/ 396 w 1499"/>
              <a:gd name="T89" fmla="*/ 1313 h 1489"/>
              <a:gd name="T90" fmla="*/ 307 w 1499"/>
              <a:gd name="T91" fmla="*/ 1286 h 1489"/>
              <a:gd name="T92" fmla="*/ 230 w 1499"/>
              <a:gd name="T93" fmla="*/ 1273 h 1489"/>
              <a:gd name="T94" fmla="*/ 153 w 1499"/>
              <a:gd name="T95" fmla="*/ 1246 h 1489"/>
              <a:gd name="T96" fmla="*/ 90 w 1499"/>
              <a:gd name="T97" fmla="*/ 1166 h 1489"/>
              <a:gd name="T98" fmla="*/ 38 w 1499"/>
              <a:gd name="T99" fmla="*/ 1112 h 1489"/>
              <a:gd name="T100" fmla="*/ 25 w 1499"/>
              <a:gd name="T101" fmla="*/ 1032 h 1489"/>
              <a:gd name="T102" fmla="*/ 25 w 1499"/>
              <a:gd name="T103" fmla="*/ 938 h 1489"/>
              <a:gd name="T104" fmla="*/ 0 w 1499"/>
              <a:gd name="T105" fmla="*/ 857 h 1489"/>
              <a:gd name="T106" fmla="*/ 12 w 1499"/>
              <a:gd name="T107" fmla="*/ 750 h 1489"/>
              <a:gd name="T108" fmla="*/ 12 w 1499"/>
              <a:gd name="T109" fmla="*/ 670 h 1489"/>
              <a:gd name="T110" fmla="*/ 38 w 1499"/>
              <a:gd name="T111" fmla="*/ 616 h 1489"/>
              <a:gd name="T112" fmla="*/ 12 w 1499"/>
              <a:gd name="T113" fmla="*/ 549 h 1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99"/>
              <a:gd name="T172" fmla="*/ 0 h 1489"/>
              <a:gd name="T173" fmla="*/ 1499 w 1499"/>
              <a:gd name="T174" fmla="*/ 1489 h 1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99" h="1489">
                <a:moveTo>
                  <a:pt x="12" y="630"/>
                </a:moveTo>
                <a:lnTo>
                  <a:pt x="12" y="603"/>
                </a:lnTo>
                <a:lnTo>
                  <a:pt x="25" y="576"/>
                </a:lnTo>
                <a:lnTo>
                  <a:pt x="25" y="549"/>
                </a:lnTo>
                <a:lnTo>
                  <a:pt x="25" y="522"/>
                </a:lnTo>
                <a:lnTo>
                  <a:pt x="25" y="496"/>
                </a:lnTo>
                <a:lnTo>
                  <a:pt x="38" y="469"/>
                </a:lnTo>
                <a:lnTo>
                  <a:pt x="38" y="442"/>
                </a:lnTo>
                <a:lnTo>
                  <a:pt x="38" y="415"/>
                </a:lnTo>
                <a:lnTo>
                  <a:pt x="38" y="388"/>
                </a:lnTo>
                <a:lnTo>
                  <a:pt x="38" y="361"/>
                </a:lnTo>
                <a:lnTo>
                  <a:pt x="50" y="335"/>
                </a:lnTo>
                <a:lnTo>
                  <a:pt x="76" y="335"/>
                </a:lnTo>
                <a:lnTo>
                  <a:pt x="102" y="308"/>
                </a:lnTo>
                <a:lnTo>
                  <a:pt x="115" y="281"/>
                </a:lnTo>
                <a:lnTo>
                  <a:pt x="115" y="254"/>
                </a:lnTo>
                <a:lnTo>
                  <a:pt x="128" y="227"/>
                </a:lnTo>
                <a:lnTo>
                  <a:pt x="153" y="227"/>
                </a:lnTo>
                <a:lnTo>
                  <a:pt x="191" y="227"/>
                </a:lnTo>
                <a:lnTo>
                  <a:pt x="230" y="214"/>
                </a:lnTo>
                <a:lnTo>
                  <a:pt x="256" y="214"/>
                </a:lnTo>
                <a:lnTo>
                  <a:pt x="282" y="214"/>
                </a:lnTo>
                <a:lnTo>
                  <a:pt x="307" y="174"/>
                </a:lnTo>
                <a:lnTo>
                  <a:pt x="307" y="147"/>
                </a:lnTo>
                <a:lnTo>
                  <a:pt x="320" y="107"/>
                </a:lnTo>
                <a:lnTo>
                  <a:pt x="345" y="93"/>
                </a:lnTo>
                <a:lnTo>
                  <a:pt x="371" y="93"/>
                </a:lnTo>
                <a:lnTo>
                  <a:pt x="396" y="80"/>
                </a:lnTo>
                <a:lnTo>
                  <a:pt x="423" y="53"/>
                </a:lnTo>
                <a:lnTo>
                  <a:pt x="435" y="26"/>
                </a:lnTo>
                <a:lnTo>
                  <a:pt x="461" y="26"/>
                </a:lnTo>
                <a:lnTo>
                  <a:pt x="486" y="26"/>
                </a:lnTo>
                <a:lnTo>
                  <a:pt x="512" y="26"/>
                </a:lnTo>
                <a:lnTo>
                  <a:pt x="524" y="53"/>
                </a:lnTo>
                <a:lnTo>
                  <a:pt x="537" y="26"/>
                </a:lnTo>
                <a:lnTo>
                  <a:pt x="562" y="26"/>
                </a:lnTo>
                <a:lnTo>
                  <a:pt x="589" y="26"/>
                </a:lnTo>
                <a:lnTo>
                  <a:pt x="627" y="13"/>
                </a:lnTo>
                <a:lnTo>
                  <a:pt x="653" y="13"/>
                </a:lnTo>
                <a:lnTo>
                  <a:pt x="678" y="13"/>
                </a:lnTo>
                <a:lnTo>
                  <a:pt x="703" y="0"/>
                </a:lnTo>
                <a:lnTo>
                  <a:pt x="729" y="0"/>
                </a:lnTo>
                <a:lnTo>
                  <a:pt x="755" y="0"/>
                </a:lnTo>
                <a:lnTo>
                  <a:pt x="781" y="13"/>
                </a:lnTo>
                <a:lnTo>
                  <a:pt x="806" y="13"/>
                </a:lnTo>
                <a:lnTo>
                  <a:pt x="832" y="13"/>
                </a:lnTo>
                <a:lnTo>
                  <a:pt x="883" y="13"/>
                </a:lnTo>
                <a:lnTo>
                  <a:pt x="935" y="13"/>
                </a:lnTo>
                <a:lnTo>
                  <a:pt x="960" y="13"/>
                </a:lnTo>
                <a:lnTo>
                  <a:pt x="1011" y="13"/>
                </a:lnTo>
                <a:lnTo>
                  <a:pt x="1036" y="13"/>
                </a:lnTo>
                <a:lnTo>
                  <a:pt x="1062" y="13"/>
                </a:lnTo>
                <a:lnTo>
                  <a:pt x="1088" y="13"/>
                </a:lnTo>
                <a:lnTo>
                  <a:pt x="1114" y="26"/>
                </a:lnTo>
                <a:lnTo>
                  <a:pt x="1152" y="53"/>
                </a:lnTo>
                <a:lnTo>
                  <a:pt x="1177" y="80"/>
                </a:lnTo>
                <a:lnTo>
                  <a:pt x="1215" y="93"/>
                </a:lnTo>
                <a:lnTo>
                  <a:pt x="1241" y="134"/>
                </a:lnTo>
                <a:lnTo>
                  <a:pt x="1267" y="147"/>
                </a:lnTo>
                <a:lnTo>
                  <a:pt x="1293" y="147"/>
                </a:lnTo>
                <a:lnTo>
                  <a:pt x="1344" y="174"/>
                </a:lnTo>
                <a:lnTo>
                  <a:pt x="1369" y="174"/>
                </a:lnTo>
                <a:lnTo>
                  <a:pt x="1369" y="201"/>
                </a:lnTo>
                <a:lnTo>
                  <a:pt x="1369" y="227"/>
                </a:lnTo>
                <a:lnTo>
                  <a:pt x="1407" y="241"/>
                </a:lnTo>
                <a:lnTo>
                  <a:pt x="1407" y="268"/>
                </a:lnTo>
                <a:lnTo>
                  <a:pt x="1407" y="308"/>
                </a:lnTo>
                <a:lnTo>
                  <a:pt x="1407" y="335"/>
                </a:lnTo>
                <a:lnTo>
                  <a:pt x="1407" y="361"/>
                </a:lnTo>
                <a:lnTo>
                  <a:pt x="1407" y="402"/>
                </a:lnTo>
                <a:lnTo>
                  <a:pt x="1421" y="442"/>
                </a:lnTo>
                <a:lnTo>
                  <a:pt x="1434" y="482"/>
                </a:lnTo>
                <a:lnTo>
                  <a:pt x="1434" y="509"/>
                </a:lnTo>
                <a:lnTo>
                  <a:pt x="1434" y="549"/>
                </a:lnTo>
                <a:lnTo>
                  <a:pt x="1472" y="589"/>
                </a:lnTo>
                <a:lnTo>
                  <a:pt x="1472" y="616"/>
                </a:lnTo>
                <a:lnTo>
                  <a:pt x="1472" y="643"/>
                </a:lnTo>
                <a:lnTo>
                  <a:pt x="1485" y="670"/>
                </a:lnTo>
                <a:lnTo>
                  <a:pt x="1498" y="697"/>
                </a:lnTo>
                <a:lnTo>
                  <a:pt x="1498" y="723"/>
                </a:lnTo>
                <a:lnTo>
                  <a:pt x="1498" y="764"/>
                </a:lnTo>
                <a:lnTo>
                  <a:pt x="1485" y="790"/>
                </a:lnTo>
                <a:lnTo>
                  <a:pt x="1485" y="817"/>
                </a:lnTo>
                <a:lnTo>
                  <a:pt x="1485" y="857"/>
                </a:lnTo>
                <a:lnTo>
                  <a:pt x="1485" y="884"/>
                </a:lnTo>
                <a:lnTo>
                  <a:pt x="1485" y="911"/>
                </a:lnTo>
                <a:lnTo>
                  <a:pt x="1472" y="951"/>
                </a:lnTo>
                <a:lnTo>
                  <a:pt x="1472" y="978"/>
                </a:lnTo>
                <a:lnTo>
                  <a:pt x="1447" y="992"/>
                </a:lnTo>
                <a:lnTo>
                  <a:pt x="1447" y="1032"/>
                </a:lnTo>
                <a:lnTo>
                  <a:pt x="1434" y="1059"/>
                </a:lnTo>
                <a:lnTo>
                  <a:pt x="1421" y="1085"/>
                </a:lnTo>
                <a:lnTo>
                  <a:pt x="1407" y="1112"/>
                </a:lnTo>
                <a:lnTo>
                  <a:pt x="1369" y="1112"/>
                </a:lnTo>
                <a:lnTo>
                  <a:pt x="1344" y="1112"/>
                </a:lnTo>
                <a:lnTo>
                  <a:pt x="1344" y="1152"/>
                </a:lnTo>
                <a:lnTo>
                  <a:pt x="1344" y="1179"/>
                </a:lnTo>
                <a:lnTo>
                  <a:pt x="1318" y="1193"/>
                </a:lnTo>
                <a:lnTo>
                  <a:pt x="1293" y="1193"/>
                </a:lnTo>
                <a:lnTo>
                  <a:pt x="1280" y="1219"/>
                </a:lnTo>
                <a:lnTo>
                  <a:pt x="1241" y="1219"/>
                </a:lnTo>
                <a:lnTo>
                  <a:pt x="1203" y="1233"/>
                </a:lnTo>
                <a:lnTo>
                  <a:pt x="1177" y="1233"/>
                </a:lnTo>
                <a:lnTo>
                  <a:pt x="1152" y="1246"/>
                </a:lnTo>
                <a:lnTo>
                  <a:pt x="1126" y="1273"/>
                </a:lnTo>
                <a:lnTo>
                  <a:pt x="1088" y="1286"/>
                </a:lnTo>
                <a:lnTo>
                  <a:pt x="1074" y="1313"/>
                </a:lnTo>
                <a:lnTo>
                  <a:pt x="1049" y="1313"/>
                </a:lnTo>
                <a:lnTo>
                  <a:pt x="1049" y="1340"/>
                </a:lnTo>
                <a:lnTo>
                  <a:pt x="1011" y="1340"/>
                </a:lnTo>
                <a:lnTo>
                  <a:pt x="985" y="1340"/>
                </a:lnTo>
                <a:lnTo>
                  <a:pt x="960" y="1340"/>
                </a:lnTo>
                <a:lnTo>
                  <a:pt x="935" y="1340"/>
                </a:lnTo>
                <a:lnTo>
                  <a:pt x="908" y="1353"/>
                </a:lnTo>
                <a:lnTo>
                  <a:pt x="883" y="1380"/>
                </a:lnTo>
                <a:lnTo>
                  <a:pt x="857" y="1380"/>
                </a:lnTo>
                <a:lnTo>
                  <a:pt x="844" y="1407"/>
                </a:lnTo>
                <a:lnTo>
                  <a:pt x="819" y="1434"/>
                </a:lnTo>
                <a:lnTo>
                  <a:pt x="781" y="1447"/>
                </a:lnTo>
                <a:lnTo>
                  <a:pt x="755" y="1447"/>
                </a:lnTo>
                <a:lnTo>
                  <a:pt x="716" y="1474"/>
                </a:lnTo>
                <a:lnTo>
                  <a:pt x="691" y="1474"/>
                </a:lnTo>
                <a:lnTo>
                  <a:pt x="653" y="1474"/>
                </a:lnTo>
                <a:lnTo>
                  <a:pt x="627" y="1488"/>
                </a:lnTo>
                <a:lnTo>
                  <a:pt x="614" y="1447"/>
                </a:lnTo>
                <a:lnTo>
                  <a:pt x="589" y="1434"/>
                </a:lnTo>
                <a:lnTo>
                  <a:pt x="562" y="1434"/>
                </a:lnTo>
                <a:lnTo>
                  <a:pt x="537" y="1434"/>
                </a:lnTo>
                <a:lnTo>
                  <a:pt x="512" y="1434"/>
                </a:lnTo>
                <a:lnTo>
                  <a:pt x="486" y="1434"/>
                </a:lnTo>
                <a:lnTo>
                  <a:pt x="473" y="1407"/>
                </a:lnTo>
                <a:lnTo>
                  <a:pt x="448" y="1394"/>
                </a:lnTo>
                <a:lnTo>
                  <a:pt x="409" y="1367"/>
                </a:lnTo>
                <a:lnTo>
                  <a:pt x="396" y="1340"/>
                </a:lnTo>
                <a:lnTo>
                  <a:pt x="396" y="1313"/>
                </a:lnTo>
                <a:lnTo>
                  <a:pt x="371" y="1313"/>
                </a:lnTo>
                <a:lnTo>
                  <a:pt x="332" y="1286"/>
                </a:lnTo>
                <a:lnTo>
                  <a:pt x="307" y="1286"/>
                </a:lnTo>
                <a:lnTo>
                  <a:pt x="282" y="1286"/>
                </a:lnTo>
                <a:lnTo>
                  <a:pt x="256" y="1286"/>
                </a:lnTo>
                <a:lnTo>
                  <a:pt x="230" y="1273"/>
                </a:lnTo>
                <a:lnTo>
                  <a:pt x="204" y="1273"/>
                </a:lnTo>
                <a:lnTo>
                  <a:pt x="179" y="1273"/>
                </a:lnTo>
                <a:lnTo>
                  <a:pt x="153" y="1246"/>
                </a:lnTo>
                <a:lnTo>
                  <a:pt x="128" y="1233"/>
                </a:lnTo>
                <a:lnTo>
                  <a:pt x="115" y="1193"/>
                </a:lnTo>
                <a:lnTo>
                  <a:pt x="90" y="1166"/>
                </a:lnTo>
                <a:lnTo>
                  <a:pt x="63" y="1166"/>
                </a:lnTo>
                <a:lnTo>
                  <a:pt x="63" y="1139"/>
                </a:lnTo>
                <a:lnTo>
                  <a:pt x="38" y="1112"/>
                </a:lnTo>
                <a:lnTo>
                  <a:pt x="25" y="1085"/>
                </a:lnTo>
                <a:lnTo>
                  <a:pt x="25" y="1059"/>
                </a:lnTo>
                <a:lnTo>
                  <a:pt x="25" y="1032"/>
                </a:lnTo>
                <a:lnTo>
                  <a:pt x="25" y="1005"/>
                </a:lnTo>
                <a:lnTo>
                  <a:pt x="25" y="965"/>
                </a:lnTo>
                <a:lnTo>
                  <a:pt x="25" y="938"/>
                </a:lnTo>
                <a:lnTo>
                  <a:pt x="12" y="911"/>
                </a:lnTo>
                <a:lnTo>
                  <a:pt x="12" y="884"/>
                </a:lnTo>
                <a:lnTo>
                  <a:pt x="0" y="857"/>
                </a:lnTo>
                <a:lnTo>
                  <a:pt x="0" y="831"/>
                </a:lnTo>
                <a:lnTo>
                  <a:pt x="0" y="790"/>
                </a:lnTo>
                <a:lnTo>
                  <a:pt x="12" y="750"/>
                </a:lnTo>
                <a:lnTo>
                  <a:pt x="12" y="723"/>
                </a:lnTo>
                <a:lnTo>
                  <a:pt x="12" y="697"/>
                </a:lnTo>
                <a:lnTo>
                  <a:pt x="12" y="670"/>
                </a:lnTo>
                <a:lnTo>
                  <a:pt x="12" y="643"/>
                </a:lnTo>
                <a:lnTo>
                  <a:pt x="38" y="643"/>
                </a:lnTo>
                <a:lnTo>
                  <a:pt x="38" y="616"/>
                </a:lnTo>
                <a:lnTo>
                  <a:pt x="38" y="576"/>
                </a:lnTo>
                <a:lnTo>
                  <a:pt x="38" y="549"/>
                </a:lnTo>
                <a:lnTo>
                  <a:pt x="12" y="549"/>
                </a:lnTo>
                <a:lnTo>
                  <a:pt x="12" y="630"/>
                </a:lnTo>
              </a:path>
            </a:pathLst>
          </a:custGeom>
          <a:solidFill>
            <a:srgbClr val="999999"/>
          </a:solidFill>
          <a:ln w="50800" cap="rnd">
            <a:solidFill>
              <a:schemeClr val="tx1"/>
            </a:solidFill>
            <a:prstDash val="sysDot"/>
            <a:round/>
            <a:headEnd/>
            <a:tailEnd/>
          </a:ln>
        </p:spPr>
        <p:txBody>
          <a:bodyPr/>
          <a:lstStyle/>
          <a:p>
            <a:endParaRPr lang="en-US"/>
          </a:p>
        </p:txBody>
      </p:sp>
      <p:sp>
        <p:nvSpPr>
          <p:cNvPr id="38923" name="Rectangle 8"/>
          <p:cNvSpPr>
            <a:spLocks noChangeArrowheads="1"/>
          </p:cNvSpPr>
          <p:nvPr/>
        </p:nvSpPr>
        <p:spPr bwMode="auto">
          <a:xfrm>
            <a:off x="5073650" y="46418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8924" name="Line 9"/>
          <p:cNvSpPr>
            <a:spLocks noChangeShapeType="1"/>
          </p:cNvSpPr>
          <p:nvPr/>
        </p:nvSpPr>
        <p:spPr bwMode="auto">
          <a:xfrm flipH="1">
            <a:off x="4191000" y="4800600"/>
            <a:ext cx="457200" cy="0"/>
          </a:xfrm>
          <a:prstGeom prst="line">
            <a:avLst/>
          </a:prstGeom>
          <a:noFill/>
          <a:ln w="38100">
            <a:solidFill>
              <a:schemeClr val="tx1"/>
            </a:solidFill>
            <a:round/>
            <a:headEnd type="none"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5" name="Rectangle 10"/>
          <p:cNvSpPr>
            <a:spLocks noChangeArrowheads="1"/>
          </p:cNvSpPr>
          <p:nvPr/>
        </p:nvSpPr>
        <p:spPr bwMode="auto">
          <a:xfrm>
            <a:off x="3429000" y="2452688"/>
            <a:ext cx="2241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1800" b="1">
                <a:solidFill>
                  <a:schemeClr val="tx1"/>
                </a:solidFill>
                <a:latin typeface="Arial" pitchFamily="34" charset="0"/>
                <a:cs typeface="Arial" pitchFamily="34" charset="0"/>
              </a:rPr>
              <a:t>System boundary?</a:t>
            </a:r>
          </a:p>
        </p:txBody>
      </p:sp>
      <p:sp>
        <p:nvSpPr>
          <p:cNvPr id="38926" name="Line 11"/>
          <p:cNvSpPr>
            <a:spLocks noChangeShapeType="1"/>
          </p:cNvSpPr>
          <p:nvPr/>
        </p:nvSpPr>
        <p:spPr bwMode="auto">
          <a:xfrm flipH="1">
            <a:off x="3810000" y="2819400"/>
            <a:ext cx="685800" cy="129540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8927" name="Line 12"/>
          <p:cNvSpPr>
            <a:spLocks noChangeShapeType="1"/>
          </p:cNvSpPr>
          <p:nvPr/>
        </p:nvSpPr>
        <p:spPr bwMode="auto">
          <a:xfrm>
            <a:off x="4876800" y="2743200"/>
            <a:ext cx="381000" cy="60960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8928" name="Rectangle 13"/>
          <p:cNvSpPr>
            <a:spLocks noChangeArrowheads="1"/>
          </p:cNvSpPr>
          <p:nvPr/>
        </p:nvSpPr>
        <p:spPr bwMode="auto">
          <a:xfrm>
            <a:off x="2078038" y="4743450"/>
            <a:ext cx="2093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b="1">
                <a:solidFill>
                  <a:schemeClr val="tx1"/>
                </a:solidFill>
                <a:latin typeface="Arial" pitchFamily="34" charset="0"/>
                <a:cs typeface="Arial" pitchFamily="34" charset="0"/>
              </a:rPr>
              <a:t>Order Entry System</a:t>
            </a:r>
          </a:p>
        </p:txBody>
      </p:sp>
      <p:sp>
        <p:nvSpPr>
          <p:cNvPr id="38929" name="Rectangle 14"/>
          <p:cNvSpPr>
            <a:spLocks noChangeArrowheads="1"/>
          </p:cNvSpPr>
          <p:nvPr/>
        </p:nvSpPr>
        <p:spPr bwMode="auto">
          <a:xfrm>
            <a:off x="4724400" y="4953000"/>
            <a:ext cx="118586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a:solidFill>
                  <a:schemeClr val="tx1"/>
                </a:solidFill>
                <a:latin typeface="Arial" pitchFamily="34" charset="0"/>
                <a:cs typeface="Arial" pitchFamily="34" charset="0"/>
              </a:rPr>
              <a:t>Accounts </a:t>
            </a:r>
          </a:p>
          <a:p>
            <a:pPr algn="ctr" eaLnBrk="0" hangingPunct="0"/>
            <a:r>
              <a:rPr lang="en-US">
                <a:solidFill>
                  <a:schemeClr val="tx1"/>
                </a:solidFill>
                <a:latin typeface="Arial" pitchFamily="34" charset="0"/>
                <a:cs typeface="Arial" pitchFamily="34" charset="0"/>
              </a:rPr>
              <a:t>Receivable</a:t>
            </a:r>
          </a:p>
          <a:p>
            <a:pPr algn="ctr" eaLnBrk="0" hangingPunct="0"/>
            <a:r>
              <a:rPr lang="en-US">
                <a:solidFill>
                  <a:schemeClr val="tx1"/>
                </a:solidFill>
                <a:latin typeface="Arial" pitchFamily="34" charset="0"/>
                <a:cs typeface="Arial" pitchFamily="34" charset="0"/>
              </a:rPr>
              <a:t>System</a:t>
            </a:r>
          </a:p>
        </p:txBody>
      </p:sp>
      <p:sp>
        <p:nvSpPr>
          <p:cNvPr id="38930" name="Rectangle 15"/>
          <p:cNvSpPr>
            <a:spLocks noChangeArrowheads="1"/>
          </p:cNvSpPr>
          <p:nvPr/>
        </p:nvSpPr>
        <p:spPr bwMode="auto">
          <a:xfrm>
            <a:off x="7391400" y="5181600"/>
            <a:ext cx="1174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b="1">
                <a:solidFill>
                  <a:schemeClr val="tx1"/>
                </a:solidFill>
                <a:latin typeface="Arial" pitchFamily="34" charset="0"/>
              </a:rPr>
              <a:t>Financial</a:t>
            </a:r>
          </a:p>
          <a:p>
            <a:r>
              <a:rPr lang="en-US" sz="1800" b="1">
                <a:solidFill>
                  <a:schemeClr val="tx1"/>
                </a:solidFill>
                <a:latin typeface="Arial" pitchFamily="34" charset="0"/>
              </a:rPr>
              <a:t>Analyst</a:t>
            </a:r>
          </a:p>
        </p:txBody>
      </p:sp>
      <p:sp>
        <p:nvSpPr>
          <p:cNvPr id="38931" name="Line 16"/>
          <p:cNvSpPr>
            <a:spLocks noChangeShapeType="1"/>
          </p:cNvSpPr>
          <p:nvPr/>
        </p:nvSpPr>
        <p:spPr bwMode="auto">
          <a:xfrm flipH="1">
            <a:off x="6019800" y="4743450"/>
            <a:ext cx="1409700" cy="571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32" name="Line 17"/>
          <p:cNvSpPr>
            <a:spLocks noChangeShapeType="1"/>
          </p:cNvSpPr>
          <p:nvPr/>
        </p:nvSpPr>
        <p:spPr bwMode="auto">
          <a:xfrm flipH="1" flipV="1">
            <a:off x="990600" y="3657600"/>
            <a:ext cx="6096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8933" name="Group 18"/>
          <p:cNvGrpSpPr>
            <a:grpSpLocks noChangeAspect="1"/>
          </p:cNvGrpSpPr>
          <p:nvPr/>
        </p:nvGrpSpPr>
        <p:grpSpPr bwMode="auto">
          <a:xfrm>
            <a:off x="7631113" y="4229100"/>
            <a:ext cx="498475" cy="966788"/>
            <a:chOff x="480" y="1928"/>
            <a:chExt cx="205" cy="397"/>
          </a:xfrm>
        </p:grpSpPr>
        <p:sp>
          <p:nvSpPr>
            <p:cNvPr id="38950" name="Oval 19"/>
            <p:cNvSpPr>
              <a:spLocks noChangeAspect="1" noChangeArrowheads="1"/>
            </p:cNvSpPr>
            <p:nvPr/>
          </p:nvSpPr>
          <p:spPr bwMode="auto">
            <a:xfrm>
              <a:off x="526" y="1928"/>
              <a:ext cx="120" cy="1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951" name="Line 20"/>
            <p:cNvSpPr>
              <a:spLocks noChangeAspect="1" noChangeShapeType="1"/>
            </p:cNvSpPr>
            <p:nvPr/>
          </p:nvSpPr>
          <p:spPr bwMode="auto">
            <a:xfrm flipH="1" flipV="1">
              <a:off x="584" y="2184"/>
              <a:ext cx="101"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52" name="Line 21"/>
            <p:cNvSpPr>
              <a:spLocks noChangeAspect="1" noChangeShapeType="1"/>
            </p:cNvSpPr>
            <p:nvPr/>
          </p:nvSpPr>
          <p:spPr bwMode="auto">
            <a:xfrm>
              <a:off x="494" y="2088"/>
              <a:ext cx="17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53" name="Line 22"/>
            <p:cNvSpPr>
              <a:spLocks noChangeAspect="1" noChangeShapeType="1"/>
            </p:cNvSpPr>
            <p:nvPr/>
          </p:nvSpPr>
          <p:spPr bwMode="auto">
            <a:xfrm flipV="1">
              <a:off x="480" y="2184"/>
              <a:ext cx="102"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54" name="Line 23"/>
            <p:cNvSpPr>
              <a:spLocks noChangeAspect="1" noChangeShapeType="1"/>
            </p:cNvSpPr>
            <p:nvPr/>
          </p:nvSpPr>
          <p:spPr bwMode="auto">
            <a:xfrm>
              <a:off x="583" y="2055"/>
              <a:ext cx="0"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934" name="Group 24"/>
          <p:cNvGrpSpPr>
            <a:grpSpLocks noChangeAspect="1"/>
          </p:cNvGrpSpPr>
          <p:nvPr/>
        </p:nvGrpSpPr>
        <p:grpSpPr bwMode="auto">
          <a:xfrm>
            <a:off x="5122863" y="3897313"/>
            <a:ext cx="341312" cy="661987"/>
            <a:chOff x="480" y="1928"/>
            <a:chExt cx="205" cy="397"/>
          </a:xfrm>
        </p:grpSpPr>
        <p:sp>
          <p:nvSpPr>
            <p:cNvPr id="38945" name="Oval 25"/>
            <p:cNvSpPr>
              <a:spLocks noChangeAspect="1" noChangeArrowheads="1"/>
            </p:cNvSpPr>
            <p:nvPr/>
          </p:nvSpPr>
          <p:spPr bwMode="auto">
            <a:xfrm>
              <a:off x="526" y="1928"/>
              <a:ext cx="120" cy="1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946" name="Line 26"/>
            <p:cNvSpPr>
              <a:spLocks noChangeAspect="1" noChangeShapeType="1"/>
            </p:cNvSpPr>
            <p:nvPr/>
          </p:nvSpPr>
          <p:spPr bwMode="auto">
            <a:xfrm flipH="1" flipV="1">
              <a:off x="584" y="2184"/>
              <a:ext cx="101"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7" name="Line 27"/>
            <p:cNvSpPr>
              <a:spLocks noChangeAspect="1" noChangeShapeType="1"/>
            </p:cNvSpPr>
            <p:nvPr/>
          </p:nvSpPr>
          <p:spPr bwMode="auto">
            <a:xfrm>
              <a:off x="494" y="2088"/>
              <a:ext cx="17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8" name="Line 28"/>
            <p:cNvSpPr>
              <a:spLocks noChangeAspect="1" noChangeShapeType="1"/>
            </p:cNvSpPr>
            <p:nvPr/>
          </p:nvSpPr>
          <p:spPr bwMode="auto">
            <a:xfrm flipV="1">
              <a:off x="480" y="2184"/>
              <a:ext cx="102"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9" name="Line 29"/>
            <p:cNvSpPr>
              <a:spLocks noChangeAspect="1" noChangeShapeType="1"/>
            </p:cNvSpPr>
            <p:nvPr/>
          </p:nvSpPr>
          <p:spPr bwMode="auto">
            <a:xfrm>
              <a:off x="583" y="2055"/>
              <a:ext cx="0"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8935" name="Line 30"/>
          <p:cNvSpPr>
            <a:spLocks noChangeShapeType="1"/>
          </p:cNvSpPr>
          <p:nvPr/>
        </p:nvSpPr>
        <p:spPr bwMode="auto">
          <a:xfrm flipH="1">
            <a:off x="5953125" y="3495675"/>
            <a:ext cx="935038" cy="78105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8936" name="Text Box 31"/>
          <p:cNvSpPr txBox="1">
            <a:spLocks noChangeArrowheads="1"/>
          </p:cNvSpPr>
          <p:nvPr/>
        </p:nvSpPr>
        <p:spPr bwMode="auto">
          <a:xfrm>
            <a:off x="5122863" y="4618038"/>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000">
                <a:solidFill>
                  <a:schemeClr val="tx1"/>
                </a:solidFill>
                <a:latin typeface="Arial" pitchFamily="34" charset="0"/>
                <a:cs typeface="Arial" pitchFamily="34" charset="0"/>
              </a:rPr>
              <a:t>?</a:t>
            </a:r>
          </a:p>
        </p:txBody>
      </p:sp>
      <p:sp>
        <p:nvSpPr>
          <p:cNvPr id="38937" name="Rectangle 32"/>
          <p:cNvSpPr>
            <a:spLocks noChangeArrowheads="1"/>
          </p:cNvSpPr>
          <p:nvPr/>
        </p:nvSpPr>
        <p:spPr bwMode="auto">
          <a:xfrm>
            <a:off x="222250" y="4191000"/>
            <a:ext cx="1174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lang="en-US" sz="1800" b="1">
                <a:solidFill>
                  <a:schemeClr val="tx1"/>
                </a:solidFill>
                <a:latin typeface="Arial" pitchFamily="34" charset="0"/>
                <a:cs typeface="Arial" pitchFamily="34" charset="0"/>
              </a:rPr>
              <a:t>Financial</a:t>
            </a:r>
          </a:p>
          <a:p>
            <a:pPr eaLnBrk="0" hangingPunct="0"/>
            <a:r>
              <a:rPr lang="en-US" sz="1800" b="1">
                <a:solidFill>
                  <a:schemeClr val="tx1"/>
                </a:solidFill>
                <a:latin typeface="Arial" pitchFamily="34" charset="0"/>
                <a:cs typeface="Arial" pitchFamily="34" charset="0"/>
              </a:rPr>
              <a:t>Analyst</a:t>
            </a:r>
          </a:p>
        </p:txBody>
      </p:sp>
      <p:grpSp>
        <p:nvGrpSpPr>
          <p:cNvPr id="38938" name="Group 33"/>
          <p:cNvGrpSpPr>
            <a:grpSpLocks noChangeAspect="1"/>
          </p:cNvGrpSpPr>
          <p:nvPr/>
        </p:nvGrpSpPr>
        <p:grpSpPr bwMode="auto">
          <a:xfrm>
            <a:off x="447675" y="3181350"/>
            <a:ext cx="498475" cy="966788"/>
            <a:chOff x="480" y="1928"/>
            <a:chExt cx="205" cy="397"/>
          </a:xfrm>
        </p:grpSpPr>
        <p:sp>
          <p:nvSpPr>
            <p:cNvPr id="38940" name="Oval 34"/>
            <p:cNvSpPr>
              <a:spLocks noChangeAspect="1" noChangeArrowheads="1"/>
            </p:cNvSpPr>
            <p:nvPr/>
          </p:nvSpPr>
          <p:spPr bwMode="auto">
            <a:xfrm>
              <a:off x="526" y="1928"/>
              <a:ext cx="120" cy="1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941" name="Line 35"/>
            <p:cNvSpPr>
              <a:spLocks noChangeAspect="1" noChangeShapeType="1"/>
            </p:cNvSpPr>
            <p:nvPr/>
          </p:nvSpPr>
          <p:spPr bwMode="auto">
            <a:xfrm flipH="1" flipV="1">
              <a:off x="584" y="2184"/>
              <a:ext cx="101"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2" name="Line 36"/>
            <p:cNvSpPr>
              <a:spLocks noChangeAspect="1" noChangeShapeType="1"/>
            </p:cNvSpPr>
            <p:nvPr/>
          </p:nvSpPr>
          <p:spPr bwMode="auto">
            <a:xfrm>
              <a:off x="494" y="2088"/>
              <a:ext cx="17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3" name="Line 37"/>
            <p:cNvSpPr>
              <a:spLocks noChangeAspect="1" noChangeShapeType="1"/>
            </p:cNvSpPr>
            <p:nvPr/>
          </p:nvSpPr>
          <p:spPr bwMode="auto">
            <a:xfrm flipV="1">
              <a:off x="480" y="2184"/>
              <a:ext cx="102"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4" name="Line 38"/>
            <p:cNvSpPr>
              <a:spLocks noChangeAspect="1" noChangeShapeType="1"/>
            </p:cNvSpPr>
            <p:nvPr/>
          </p:nvSpPr>
          <p:spPr bwMode="auto">
            <a:xfrm>
              <a:off x="583" y="2055"/>
              <a:ext cx="0" cy="14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8939" name="Text Box 39"/>
          <p:cNvSpPr txBox="1">
            <a:spLocks noChangeArrowheads="1"/>
          </p:cNvSpPr>
          <p:nvPr/>
        </p:nvSpPr>
        <p:spPr bwMode="auto">
          <a:xfrm>
            <a:off x="8153400" y="4572000"/>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400" b="1">
                <a:solidFill>
                  <a:schemeClr val="tx1"/>
                </a:solidFill>
                <a:latin typeface="Arial" pitchFamily="34" charset="0"/>
                <a:cs typeface="Arial" pitchFamily="34" charset="0"/>
              </a:rPr>
              <a:t>?</a:t>
            </a:r>
          </a:p>
        </p:txBody>
      </p:sp>
      <p:sp>
        <p:nvSpPr>
          <p:cNvPr id="2" name="Slide Number Placeholder 1"/>
          <p:cNvSpPr>
            <a:spLocks noGrp="1"/>
          </p:cNvSpPr>
          <p:nvPr>
            <p:ph type="sldNum" sz="quarter" idx="12"/>
          </p:nvPr>
        </p:nvSpPr>
        <p:spPr/>
        <p:txBody>
          <a:bodyPr/>
          <a:lstStyle/>
          <a:p>
            <a:fld id="{DED05017-923D-480E-B02E-B52739184DCA}" type="slidenum">
              <a:rPr lang="en-US" smtClean="0"/>
              <a:pPr/>
              <a:t>28</a:t>
            </a:fld>
            <a:endParaRPr lang="en-US"/>
          </a:p>
        </p:txBody>
      </p:sp>
    </p:spTree>
    <p:extLst>
      <p:ext uri="{BB962C8B-B14F-4D97-AF65-F5344CB8AC3E}">
        <p14:creationId xmlns:p14="http://schemas.microsoft.com/office/powerpoint/2010/main" val="2146359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r>
              <a:rPr lang="en-US"/>
              <a:t>Actors and roles</a:t>
            </a:r>
            <a:endParaRPr lang="en-US" dirty="0"/>
          </a:p>
        </p:txBody>
      </p:sp>
      <p:sp>
        <p:nvSpPr>
          <p:cNvPr id="39942" name="Rectangle 3"/>
          <p:cNvSpPr>
            <a:spLocks noGrp="1" noChangeArrowheads="1"/>
          </p:cNvSpPr>
          <p:nvPr>
            <p:ph type="body" sz="half" idx="1"/>
          </p:nvPr>
        </p:nvSpPr>
        <p:spPr>
          <a:xfrm>
            <a:off x="184150" y="1452563"/>
            <a:ext cx="4311650" cy="5329237"/>
          </a:xfrm>
        </p:spPr>
        <p:txBody>
          <a:bodyPr/>
          <a:lstStyle/>
          <a:p>
            <a:r>
              <a:rPr lang="en-US" sz="2000" dirty="0"/>
              <a:t>An actor represents a role that a human, hardware device, or another system can plan in relation to the system.</a:t>
            </a:r>
          </a:p>
          <a:p>
            <a:endParaRPr lang="en-US" sz="2000" dirty="0"/>
          </a:p>
        </p:txBody>
      </p:sp>
      <p:pic>
        <p:nvPicPr>
          <p:cNvPr id="39943"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2451421"/>
            <a:ext cx="4311650" cy="2531420"/>
          </a:xfrm>
        </p:spPr>
      </p:pic>
      <p:sp>
        <p:nvSpPr>
          <p:cNvPr id="2" name="Slide Number Placeholder 1"/>
          <p:cNvSpPr>
            <a:spLocks noGrp="1"/>
          </p:cNvSpPr>
          <p:nvPr>
            <p:ph type="sldNum" sz="quarter" idx="12"/>
          </p:nvPr>
        </p:nvSpPr>
        <p:spPr/>
        <p:txBody>
          <a:bodyPr/>
          <a:lstStyle/>
          <a:p>
            <a:pPr>
              <a:defRPr/>
            </a:pPr>
            <a:fld id="{DBF0D3E2-D141-4F40-B95C-01950E48E834}" type="slidenum">
              <a:rPr lang="en-US" smtClean="0"/>
              <a:pPr>
                <a:defRPr/>
              </a:pPr>
              <a:t>29</a:t>
            </a:fld>
            <a:endParaRPr lang="en-US"/>
          </a:p>
        </p:txBody>
      </p:sp>
    </p:spTree>
    <p:extLst>
      <p:ext uri="{BB962C8B-B14F-4D97-AF65-F5344CB8AC3E}">
        <p14:creationId xmlns:p14="http://schemas.microsoft.com/office/powerpoint/2010/main" val="1352912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60" name="Rectangle 4"/>
          <p:cNvSpPr>
            <a:spLocks noGrp="1" noChangeArrowheads="1"/>
          </p:cNvSpPr>
          <p:nvPr>
            <p:ph type="title"/>
          </p:nvPr>
        </p:nvSpPr>
        <p:spPr/>
        <p:txBody>
          <a:bodyPr/>
          <a:lstStyle/>
          <a:p>
            <a:r>
              <a:rPr lang="en-US"/>
              <a:t>Find actors</a:t>
            </a:r>
            <a:endParaRPr lang="en-US" dirty="0"/>
          </a:p>
        </p:txBody>
      </p:sp>
      <p:sp>
        <p:nvSpPr>
          <p:cNvPr id="40968" name="Rectangle 5"/>
          <p:cNvSpPr>
            <a:spLocks noGrp="1" noChangeArrowheads="1"/>
          </p:cNvSpPr>
          <p:nvPr>
            <p:ph type="body" idx="1"/>
          </p:nvPr>
        </p:nvSpPr>
        <p:spPr/>
        <p:txBody>
          <a:bodyPr/>
          <a:lstStyle/>
          <a:p>
            <a:r>
              <a:rPr lang="en-US" sz="2000" dirty="0"/>
              <a:t>Who or what uses the system?</a:t>
            </a:r>
          </a:p>
          <a:p>
            <a:r>
              <a:rPr lang="en-US" sz="2000" dirty="0"/>
              <a:t>Who or what gets information from this system? </a:t>
            </a:r>
          </a:p>
          <a:p>
            <a:r>
              <a:rPr lang="en-US" sz="2000" dirty="0"/>
              <a:t>Who or what provides information to the system?</a:t>
            </a:r>
          </a:p>
          <a:p>
            <a:r>
              <a:rPr lang="en-US" sz="2000" dirty="0"/>
              <a:t>Where in the company is the system used?</a:t>
            </a:r>
          </a:p>
          <a:p>
            <a:r>
              <a:rPr lang="en-US" sz="2000" dirty="0"/>
              <a:t>Who or what supports and maintains the system?</a:t>
            </a:r>
          </a:p>
          <a:p>
            <a:r>
              <a:rPr lang="en-US" sz="2000" dirty="0"/>
              <a:t>What other systems use this system?</a:t>
            </a:r>
          </a:p>
        </p:txBody>
      </p:sp>
      <p:sp>
        <p:nvSpPr>
          <p:cNvPr id="4096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096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30</a:t>
            </a:fld>
            <a:endParaRPr lang="en-US"/>
          </a:p>
        </p:txBody>
      </p:sp>
    </p:spTree>
    <p:extLst>
      <p:ext uri="{BB962C8B-B14F-4D97-AF65-F5344CB8AC3E}">
        <p14:creationId xmlns:p14="http://schemas.microsoft.com/office/powerpoint/2010/main" val="164129456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r>
              <a:rPr lang="en-US"/>
              <a:t>Name the actor</a:t>
            </a:r>
            <a:endParaRPr lang="en-US" dirty="0"/>
          </a:p>
        </p:txBody>
      </p:sp>
      <p:sp>
        <p:nvSpPr>
          <p:cNvPr id="41990" name="Rectangle 3"/>
          <p:cNvSpPr>
            <a:spLocks noGrp="1" noChangeArrowheads="1"/>
          </p:cNvSpPr>
          <p:nvPr>
            <p:ph type="body" idx="1"/>
          </p:nvPr>
        </p:nvSpPr>
        <p:spPr>
          <a:xfrm>
            <a:off x="457200" y="1371600"/>
            <a:ext cx="5029200" cy="5026025"/>
          </a:xfrm>
        </p:spPr>
        <p:txBody>
          <a:bodyPr/>
          <a:lstStyle/>
          <a:p>
            <a:r>
              <a:rPr lang="en-US" sz="2000" dirty="0"/>
              <a:t>Actor names should clearly convey the actor’s role</a:t>
            </a:r>
          </a:p>
          <a:p>
            <a:r>
              <a:rPr lang="en-US" sz="2000" dirty="0"/>
              <a:t>Good actor names describe their responsibilities</a:t>
            </a:r>
          </a:p>
          <a:p>
            <a:endParaRPr lang="en-US" sz="2000" dirty="0"/>
          </a:p>
        </p:txBody>
      </p:sp>
      <p:sp>
        <p:nvSpPr>
          <p:cNvPr id="41991" name="Line 4"/>
          <p:cNvSpPr>
            <a:spLocks noChangeShapeType="1"/>
          </p:cNvSpPr>
          <p:nvPr/>
        </p:nvSpPr>
        <p:spPr bwMode="auto">
          <a:xfrm flipV="1">
            <a:off x="3989388" y="3727450"/>
            <a:ext cx="169862" cy="206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lIns="107950" tIns="53975" rIns="107950" bIns="53975"/>
          <a:lstStyle/>
          <a:p>
            <a:endParaRPr lang="en-US"/>
          </a:p>
        </p:txBody>
      </p:sp>
      <p:grpSp>
        <p:nvGrpSpPr>
          <p:cNvPr id="41992" name="Group 5"/>
          <p:cNvGrpSpPr>
            <a:grpSpLocks noChangeAspect="1"/>
          </p:cNvGrpSpPr>
          <p:nvPr/>
        </p:nvGrpSpPr>
        <p:grpSpPr bwMode="auto">
          <a:xfrm>
            <a:off x="6934200" y="1219200"/>
            <a:ext cx="482600" cy="692150"/>
            <a:chOff x="7654" y="3380"/>
            <a:chExt cx="554" cy="754"/>
          </a:xfrm>
        </p:grpSpPr>
        <p:sp>
          <p:nvSpPr>
            <p:cNvPr id="42016" name="Oval 6"/>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17" name="Line 7"/>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8" name="Line 8"/>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9" name="Freeform 9"/>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993" name="Text Box 10"/>
          <p:cNvSpPr txBox="1">
            <a:spLocks noChangeArrowheads="1"/>
          </p:cNvSpPr>
          <p:nvPr/>
        </p:nvSpPr>
        <p:spPr bwMode="auto">
          <a:xfrm>
            <a:off x="6629400" y="1916113"/>
            <a:ext cx="12049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solidFill>
                  <a:schemeClr val="tx1"/>
                </a:solidFill>
                <a:latin typeface="Arial" pitchFamily="34" charset="0"/>
              </a:rPr>
              <a:t>Librarian</a:t>
            </a:r>
          </a:p>
        </p:txBody>
      </p:sp>
      <p:sp>
        <p:nvSpPr>
          <p:cNvPr id="41994" name="Line 11"/>
          <p:cNvSpPr>
            <a:spLocks noChangeShapeType="1"/>
          </p:cNvSpPr>
          <p:nvPr/>
        </p:nvSpPr>
        <p:spPr bwMode="auto">
          <a:xfrm flipV="1">
            <a:off x="6573838" y="4138613"/>
            <a:ext cx="169862" cy="206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lIns="107950" tIns="53975" rIns="107950" bIns="53975"/>
          <a:lstStyle/>
          <a:p>
            <a:endParaRPr lang="en-US"/>
          </a:p>
        </p:txBody>
      </p:sp>
      <p:grpSp>
        <p:nvGrpSpPr>
          <p:cNvPr id="41995" name="Group 12"/>
          <p:cNvGrpSpPr>
            <a:grpSpLocks noChangeAspect="1"/>
          </p:cNvGrpSpPr>
          <p:nvPr/>
        </p:nvGrpSpPr>
        <p:grpSpPr bwMode="auto">
          <a:xfrm>
            <a:off x="5997575" y="2957513"/>
            <a:ext cx="482600" cy="692150"/>
            <a:chOff x="7654" y="3380"/>
            <a:chExt cx="554" cy="754"/>
          </a:xfrm>
        </p:grpSpPr>
        <p:sp>
          <p:nvSpPr>
            <p:cNvPr id="42012" name="Oval 13"/>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13" name="Line 14"/>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4" name="Line 15"/>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5" name="Freeform 16"/>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996" name="Text Box 17"/>
          <p:cNvSpPr txBox="1">
            <a:spLocks noChangeArrowheads="1"/>
          </p:cNvSpPr>
          <p:nvPr/>
        </p:nvSpPr>
        <p:spPr bwMode="auto">
          <a:xfrm>
            <a:off x="5556250" y="3667125"/>
            <a:ext cx="9636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solidFill>
                  <a:schemeClr val="tx1"/>
                </a:solidFill>
                <a:latin typeface="Arial" pitchFamily="34" charset="0"/>
              </a:rPr>
              <a:t>Patron</a:t>
            </a:r>
          </a:p>
        </p:txBody>
      </p:sp>
      <p:sp>
        <p:nvSpPr>
          <p:cNvPr id="41997" name="Line 18"/>
          <p:cNvSpPr>
            <a:spLocks noChangeShapeType="1"/>
          </p:cNvSpPr>
          <p:nvPr/>
        </p:nvSpPr>
        <p:spPr bwMode="auto">
          <a:xfrm flipV="1">
            <a:off x="6808788" y="4979988"/>
            <a:ext cx="169862" cy="206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lIns="107950" tIns="53975" rIns="107950" bIns="53975"/>
          <a:lstStyle/>
          <a:p>
            <a:endParaRPr lang="en-US"/>
          </a:p>
        </p:txBody>
      </p:sp>
      <p:grpSp>
        <p:nvGrpSpPr>
          <p:cNvPr id="41998" name="Group 19"/>
          <p:cNvGrpSpPr>
            <a:grpSpLocks noChangeAspect="1"/>
          </p:cNvGrpSpPr>
          <p:nvPr/>
        </p:nvGrpSpPr>
        <p:grpSpPr bwMode="auto">
          <a:xfrm>
            <a:off x="6918325" y="4364038"/>
            <a:ext cx="482600" cy="692150"/>
            <a:chOff x="7654" y="3380"/>
            <a:chExt cx="554" cy="754"/>
          </a:xfrm>
        </p:grpSpPr>
        <p:sp>
          <p:nvSpPr>
            <p:cNvPr id="42008" name="Oval 20"/>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09" name="Line 21"/>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0" name="Line 22"/>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1" name="Freeform 23"/>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999" name="Text Box 24"/>
          <p:cNvSpPr txBox="1">
            <a:spLocks noChangeArrowheads="1"/>
          </p:cNvSpPr>
          <p:nvPr/>
        </p:nvSpPr>
        <p:spPr bwMode="auto">
          <a:xfrm>
            <a:off x="6630988" y="5073650"/>
            <a:ext cx="1062037"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a:solidFill>
                  <a:schemeClr val="tx1"/>
                </a:solidFill>
                <a:latin typeface="Arial" pitchFamily="34" charset="0"/>
              </a:rPr>
              <a:t>Bank</a:t>
            </a:r>
            <a:br>
              <a:rPr lang="en-US" sz="2000">
                <a:solidFill>
                  <a:schemeClr val="tx1"/>
                </a:solidFill>
                <a:latin typeface="Arial" pitchFamily="34" charset="0"/>
              </a:rPr>
            </a:br>
            <a:r>
              <a:rPr lang="en-US" sz="2000">
                <a:solidFill>
                  <a:schemeClr val="tx1"/>
                </a:solidFill>
                <a:latin typeface="Arial" pitchFamily="34" charset="0"/>
              </a:rPr>
              <a:t>System</a:t>
            </a:r>
          </a:p>
        </p:txBody>
      </p:sp>
      <p:sp>
        <p:nvSpPr>
          <p:cNvPr id="42000" name="Line 25"/>
          <p:cNvSpPr>
            <a:spLocks noChangeShapeType="1"/>
          </p:cNvSpPr>
          <p:nvPr/>
        </p:nvSpPr>
        <p:spPr bwMode="auto">
          <a:xfrm flipV="1">
            <a:off x="7620000" y="3532188"/>
            <a:ext cx="169863" cy="206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lIns="107950" tIns="53975" rIns="107950" bIns="53975"/>
          <a:lstStyle/>
          <a:p>
            <a:endParaRPr lang="en-US"/>
          </a:p>
        </p:txBody>
      </p:sp>
      <p:grpSp>
        <p:nvGrpSpPr>
          <p:cNvPr id="42001" name="Group 26"/>
          <p:cNvGrpSpPr>
            <a:grpSpLocks noChangeAspect="1"/>
          </p:cNvGrpSpPr>
          <p:nvPr/>
        </p:nvGrpSpPr>
        <p:grpSpPr bwMode="auto">
          <a:xfrm>
            <a:off x="7729538" y="2916238"/>
            <a:ext cx="482600" cy="692150"/>
            <a:chOff x="7654" y="3380"/>
            <a:chExt cx="554" cy="754"/>
          </a:xfrm>
        </p:grpSpPr>
        <p:sp>
          <p:nvSpPr>
            <p:cNvPr id="42004" name="Oval 27"/>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05" name="Line 28"/>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6" name="Line 29"/>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7" name="Freeform 30"/>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002" name="Text Box 31"/>
          <p:cNvSpPr txBox="1">
            <a:spLocks noChangeArrowheads="1"/>
          </p:cNvSpPr>
          <p:nvPr/>
        </p:nvSpPr>
        <p:spPr bwMode="auto">
          <a:xfrm>
            <a:off x="7440613" y="3625850"/>
            <a:ext cx="80962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solidFill>
                  <a:schemeClr val="tx1"/>
                </a:solidFill>
                <a:latin typeface="Arial" pitchFamily="34" charset="0"/>
              </a:rPr>
              <a:t>Clerk</a:t>
            </a:r>
          </a:p>
        </p:txBody>
      </p:sp>
      <p:sp>
        <p:nvSpPr>
          <p:cNvPr id="42003" name="Rectangle 32"/>
          <p:cNvSpPr>
            <a:spLocks noChangeArrowheads="1"/>
          </p:cNvSpPr>
          <p:nvPr/>
        </p:nvSpPr>
        <p:spPr bwMode="auto">
          <a:xfrm>
            <a:off x="5486400" y="1066800"/>
            <a:ext cx="3352800" cy="510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31</a:t>
            </a:fld>
            <a:endParaRPr lang="en-US"/>
          </a:p>
        </p:txBody>
      </p:sp>
    </p:spTree>
    <p:extLst>
      <p:ext uri="{BB962C8B-B14F-4D97-AF65-F5344CB8AC3E}">
        <p14:creationId xmlns:p14="http://schemas.microsoft.com/office/powerpoint/2010/main" val="373950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pPr eaLnBrk="1" hangingPunct="1">
              <a:defRPr/>
            </a:pPr>
            <a:r>
              <a:rPr lang="en-US" sz="2800" dirty="0"/>
              <a:t>Describe the actor</a:t>
            </a:r>
          </a:p>
        </p:txBody>
      </p:sp>
      <p:sp>
        <p:nvSpPr>
          <p:cNvPr id="43014" name="Rectangle 3"/>
          <p:cNvSpPr>
            <a:spLocks noGrp="1" noChangeArrowheads="1"/>
          </p:cNvSpPr>
          <p:nvPr>
            <p:ph type="body" idx="1"/>
          </p:nvPr>
        </p:nvSpPr>
        <p:spPr>
          <a:xfrm>
            <a:off x="244475" y="1327150"/>
            <a:ext cx="8648700" cy="4781550"/>
          </a:xfrm>
        </p:spPr>
        <p:txBody>
          <a:bodyPr/>
          <a:lstStyle/>
          <a:p>
            <a:pPr marL="339725" indent="-339725" eaLnBrk="1" hangingPunct="1">
              <a:buFont typeface="Wingdings" pitchFamily="2" charset="2"/>
              <a:buNone/>
            </a:pPr>
            <a:r>
              <a:rPr lang="en-US">
                <a:solidFill>
                  <a:srgbClr val="006699"/>
                </a:solidFill>
              </a:rPr>
              <a:t>Name				Librarian</a:t>
            </a:r>
          </a:p>
          <a:p>
            <a:pPr marL="339725" indent="-339725" eaLnBrk="1" hangingPunct="1">
              <a:buFont typeface="Wingdings" pitchFamily="2" charset="2"/>
              <a:buNone/>
            </a:pPr>
            <a:r>
              <a:rPr lang="en-US" sz="2000"/>
              <a:t>Brief description			</a:t>
            </a:r>
            <a:r>
              <a:rPr lang="en-US" sz="2000">
                <a:solidFill>
                  <a:schemeClr val="tx1"/>
                </a:solidFill>
              </a:rPr>
              <a:t>A person who adds a resource into a library</a:t>
            </a:r>
          </a:p>
          <a:p>
            <a:pPr marL="339725" indent="-339725" eaLnBrk="1" hangingPunct="1">
              <a:buFont typeface="Wingdings" pitchFamily="2" charset="2"/>
              <a:buNone/>
            </a:pPr>
            <a:r>
              <a:rPr lang="en-US" sz="2000">
                <a:solidFill>
                  <a:schemeClr val="tx1"/>
                </a:solidFill>
              </a:rPr>
              <a:t>Relationships with </a:t>
            </a:r>
          </a:p>
          <a:p>
            <a:pPr marL="339725" indent="-339725" eaLnBrk="1" hangingPunct="1">
              <a:buFont typeface="Wingdings" pitchFamily="2" charset="2"/>
              <a:buNone/>
            </a:pPr>
            <a:r>
              <a:rPr lang="en-US" sz="2000"/>
              <a:t>use cases</a:t>
            </a:r>
          </a:p>
          <a:p>
            <a:pPr marL="682625" lvl="1" indent="-228600" eaLnBrk="1" hangingPunct="1">
              <a:buFont typeface="Wingdings" pitchFamily="2" charset="2"/>
              <a:buNone/>
            </a:pPr>
            <a:endParaRPr lang="en-US">
              <a:solidFill>
                <a:schemeClr val="tx1"/>
              </a:solidFill>
            </a:endParaRPr>
          </a:p>
          <a:p>
            <a:pPr marL="1025525" lvl="2" eaLnBrk="1" hangingPunct="1"/>
            <a:endParaRPr lang="en-US" sz="1800">
              <a:solidFill>
                <a:srgbClr val="FFFF99"/>
              </a:solidFill>
            </a:endParaRPr>
          </a:p>
        </p:txBody>
      </p:sp>
      <p:sp>
        <p:nvSpPr>
          <p:cNvPr id="43015" name="Line 4"/>
          <p:cNvSpPr>
            <a:spLocks noChangeShapeType="1"/>
          </p:cNvSpPr>
          <p:nvPr/>
        </p:nvSpPr>
        <p:spPr bwMode="auto">
          <a:xfrm flipV="1">
            <a:off x="4541838" y="3530600"/>
            <a:ext cx="169862" cy="206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lIns="107950" tIns="53975" rIns="107950" bIns="53975"/>
          <a:lstStyle/>
          <a:p>
            <a:endParaRPr lang="en-US"/>
          </a:p>
        </p:txBody>
      </p:sp>
      <p:grpSp>
        <p:nvGrpSpPr>
          <p:cNvPr id="43016" name="Group 5"/>
          <p:cNvGrpSpPr>
            <a:grpSpLocks noChangeAspect="1"/>
          </p:cNvGrpSpPr>
          <p:nvPr/>
        </p:nvGrpSpPr>
        <p:grpSpPr bwMode="auto">
          <a:xfrm>
            <a:off x="4651375" y="2914650"/>
            <a:ext cx="482600" cy="692150"/>
            <a:chOff x="7654" y="3380"/>
            <a:chExt cx="554" cy="754"/>
          </a:xfrm>
        </p:grpSpPr>
        <p:sp>
          <p:nvSpPr>
            <p:cNvPr id="43020" name="Oval 6"/>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1" name="Line 7"/>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2" name="Line 8"/>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3" name="Freeform 9"/>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3017" name="Oval 10"/>
          <p:cNvSpPr>
            <a:spLocks noChangeArrowheads="1"/>
          </p:cNvSpPr>
          <p:nvPr/>
        </p:nvSpPr>
        <p:spPr bwMode="auto">
          <a:xfrm>
            <a:off x="6251575" y="3067050"/>
            <a:ext cx="2587625" cy="587375"/>
          </a:xfrm>
          <a:prstGeom prst="ellipse">
            <a:avLst/>
          </a:prstGeom>
          <a:solidFill>
            <a:schemeClr val="accent1"/>
          </a:solidFill>
          <a:ln w="28575">
            <a:solidFill>
              <a:schemeClr val="tx1"/>
            </a:solidFill>
            <a:round/>
            <a:headEnd/>
            <a:tailEnd/>
          </a:ln>
        </p:spPr>
        <p:txBody>
          <a:bodyPr wrap="none" lIns="107950" tIns="53975" rIns="107950" bIns="53975" anchor="ctr"/>
          <a:lstStyle/>
          <a:p>
            <a:pPr algn="ctr" eaLnBrk="0" hangingPunct="0">
              <a:spcBef>
                <a:spcPts val="1000"/>
              </a:spcBef>
            </a:pPr>
            <a:r>
              <a:rPr lang="en-US" sz="2000">
                <a:solidFill>
                  <a:schemeClr val="tx1"/>
                </a:solidFill>
                <a:latin typeface="Arial" pitchFamily="34" charset="0"/>
              </a:rPr>
              <a:t>Add Resource</a:t>
            </a:r>
          </a:p>
        </p:txBody>
      </p:sp>
      <p:sp>
        <p:nvSpPr>
          <p:cNvPr id="43018" name="Line 11"/>
          <p:cNvSpPr>
            <a:spLocks noChangeShapeType="1"/>
          </p:cNvSpPr>
          <p:nvPr/>
        </p:nvSpPr>
        <p:spPr bwMode="auto">
          <a:xfrm flipV="1">
            <a:off x="5276850" y="3381375"/>
            <a:ext cx="838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43019" name="Text Box 12"/>
          <p:cNvSpPr txBox="1">
            <a:spLocks noChangeArrowheads="1"/>
          </p:cNvSpPr>
          <p:nvPr/>
        </p:nvSpPr>
        <p:spPr bwMode="auto">
          <a:xfrm>
            <a:off x="4362450" y="3624263"/>
            <a:ext cx="12049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solidFill>
                  <a:schemeClr val="tx1"/>
                </a:solidFill>
                <a:latin typeface="Arial" pitchFamily="34" charset="0"/>
              </a:rPr>
              <a:t>Librarian</a:t>
            </a:r>
          </a:p>
        </p:txBody>
      </p:sp>
      <p:sp>
        <p:nvSpPr>
          <p:cNvPr id="2" name="Slide Number Placeholder 1"/>
          <p:cNvSpPr>
            <a:spLocks noGrp="1"/>
          </p:cNvSpPr>
          <p:nvPr>
            <p:ph type="sldNum" sz="quarter" idx="12"/>
          </p:nvPr>
        </p:nvSpPr>
        <p:spPr/>
        <p:txBody>
          <a:bodyPr/>
          <a:lstStyle/>
          <a:p>
            <a:fld id="{DED05017-923D-480E-B02E-B52739184DCA}" type="slidenum">
              <a:rPr lang="en-US" smtClean="0"/>
              <a:pPr/>
              <a:t>32</a:t>
            </a:fld>
            <a:endParaRPr lang="en-US"/>
          </a:p>
        </p:txBody>
      </p:sp>
    </p:spTree>
    <p:extLst>
      <p:ext uri="{BB962C8B-B14F-4D97-AF65-F5344CB8AC3E}">
        <p14:creationId xmlns:p14="http://schemas.microsoft.com/office/powerpoint/2010/main" val="3750622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lstStyle/>
          <a:p>
            <a:pPr eaLnBrk="1" hangingPunct="1">
              <a:defRPr/>
            </a:pPr>
            <a:r>
              <a:rPr lang="en-US" sz="2800" dirty="0"/>
              <a:t>Review</a:t>
            </a:r>
          </a:p>
        </p:txBody>
      </p:sp>
      <p:sp>
        <p:nvSpPr>
          <p:cNvPr id="44038" name="Rectangle 3"/>
          <p:cNvSpPr>
            <a:spLocks noGrp="1" noChangeArrowheads="1"/>
          </p:cNvSpPr>
          <p:nvPr>
            <p:ph type="body" idx="1"/>
          </p:nvPr>
        </p:nvSpPr>
        <p:spPr/>
        <p:txBody>
          <a:bodyPr/>
          <a:lstStyle/>
          <a:p>
            <a:pPr marL="230188" indent="-230188" eaLnBrk="1" hangingPunct="1">
              <a:lnSpc>
                <a:spcPct val="100000"/>
              </a:lnSpc>
            </a:pPr>
            <a:r>
              <a:rPr lang="en-US" sz="2000" dirty="0"/>
              <a:t>How do you find actors?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33</a:t>
            </a:fld>
            <a:endParaRPr lang="en-US"/>
          </a:p>
        </p:txBody>
      </p:sp>
    </p:spTree>
    <p:extLst>
      <p:ext uri="{BB962C8B-B14F-4D97-AF65-F5344CB8AC3E}">
        <p14:creationId xmlns:p14="http://schemas.microsoft.com/office/powerpoint/2010/main" val="4033084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p:txBody>
          <a:bodyPr/>
          <a:lstStyle/>
          <a:p>
            <a:pPr eaLnBrk="1" hangingPunct="1">
              <a:defRPr/>
            </a:pPr>
            <a:r>
              <a:rPr lang="en-US" sz="2800" dirty="0"/>
              <a:t>Process of writing use cases</a:t>
            </a:r>
          </a:p>
        </p:txBody>
      </p:sp>
      <p:sp>
        <p:nvSpPr>
          <p:cNvPr id="45062" name="AutoShape 3"/>
          <p:cNvSpPr>
            <a:spLocks noChangeArrowheads="1"/>
          </p:cNvSpPr>
          <p:nvPr/>
        </p:nvSpPr>
        <p:spPr bwMode="auto">
          <a:xfrm>
            <a:off x="4191000" y="1371600"/>
            <a:ext cx="4495800" cy="5257800"/>
          </a:xfrm>
          <a:prstGeom prst="roundRect">
            <a:avLst>
              <a:gd name="adj" fmla="val 16667"/>
            </a:avLst>
          </a:prstGeom>
          <a:gradFill rotWithShape="1">
            <a:gsLst>
              <a:gs pos="0">
                <a:srgbClr val="91AFEB"/>
              </a:gs>
              <a:gs pos="50000">
                <a:srgbClr val="9DBEFF"/>
              </a:gs>
              <a:gs pos="100000">
                <a:srgbClr val="91AFEB"/>
              </a:gs>
            </a:gsLst>
            <a:lin ang="5400000" scaled="1"/>
          </a:gradFill>
          <a:ln w="9525">
            <a:solidFill>
              <a:schemeClr val="tx1"/>
            </a:solidFill>
            <a:round/>
            <a:headEnd/>
            <a:tailEnd/>
          </a:ln>
        </p:spPr>
        <p:txBody>
          <a:bodyPr wrap="none" anchor="ctr"/>
          <a:lstStyle/>
          <a:p>
            <a:endParaRPr lang="en-US"/>
          </a:p>
        </p:txBody>
      </p:sp>
      <p:sp>
        <p:nvSpPr>
          <p:cNvPr id="45063" name="Text Box 4"/>
          <p:cNvSpPr txBox="1">
            <a:spLocks noChangeArrowheads="1"/>
          </p:cNvSpPr>
          <p:nvPr/>
        </p:nvSpPr>
        <p:spPr bwMode="auto">
          <a:xfrm>
            <a:off x="4572000" y="24384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endParaRPr lang="en-US" sz="2400">
              <a:solidFill>
                <a:schemeClr val="tx1"/>
              </a:solidFill>
            </a:endParaRPr>
          </a:p>
        </p:txBody>
      </p:sp>
      <p:sp>
        <p:nvSpPr>
          <p:cNvPr id="45064" name="Rectangle 5"/>
          <p:cNvSpPr>
            <a:spLocks noChangeArrowheads="1"/>
          </p:cNvSpPr>
          <p:nvPr/>
        </p:nvSpPr>
        <p:spPr bwMode="auto">
          <a:xfrm>
            <a:off x="381000" y="2819400"/>
            <a:ext cx="2895600" cy="1066800"/>
          </a:xfrm>
          <a:prstGeom prst="rect">
            <a:avLst/>
          </a:prstGeom>
          <a:gradFill rotWithShape="1">
            <a:gsLst>
              <a:gs pos="0">
                <a:srgbClr val="7791C2"/>
              </a:gs>
              <a:gs pos="50000">
                <a:srgbClr val="9DBEFF"/>
              </a:gs>
              <a:gs pos="100000">
                <a:srgbClr val="7791C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5065" name="Rectangle 6"/>
          <p:cNvSpPr>
            <a:spLocks noChangeArrowheads="1"/>
          </p:cNvSpPr>
          <p:nvPr/>
        </p:nvSpPr>
        <p:spPr bwMode="auto">
          <a:xfrm>
            <a:off x="381000" y="1371600"/>
            <a:ext cx="2895600" cy="1066800"/>
          </a:xfrm>
          <a:prstGeom prst="rect">
            <a:avLst/>
          </a:prstGeom>
          <a:gradFill rotWithShape="1">
            <a:gsLst>
              <a:gs pos="0">
                <a:srgbClr val="7E7E7E"/>
              </a:gs>
              <a:gs pos="50000">
                <a:srgbClr val="999999"/>
              </a:gs>
              <a:gs pos="100000">
                <a:srgbClr val="7E7E7E"/>
              </a:gs>
            </a:gsLst>
            <a:lin ang="5400000" scaled="1"/>
          </a:gradFill>
          <a:ln w="9525">
            <a:solidFill>
              <a:schemeClr val="tx1"/>
            </a:solidFill>
            <a:miter lim="800000"/>
            <a:headEnd/>
            <a:tailEnd/>
          </a:ln>
        </p:spPr>
        <p:txBody>
          <a:bodyPr wrap="none" anchor="ctr"/>
          <a:lstStyle/>
          <a:p>
            <a:endParaRPr lang="en-US"/>
          </a:p>
        </p:txBody>
      </p:sp>
      <p:sp>
        <p:nvSpPr>
          <p:cNvPr id="45066" name="Text Box 7"/>
          <p:cNvSpPr txBox="1">
            <a:spLocks noChangeArrowheads="1"/>
          </p:cNvSpPr>
          <p:nvPr/>
        </p:nvSpPr>
        <p:spPr bwMode="auto">
          <a:xfrm>
            <a:off x="762000" y="1600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actors</a:t>
            </a:r>
          </a:p>
        </p:txBody>
      </p:sp>
      <p:sp>
        <p:nvSpPr>
          <p:cNvPr id="45067" name="Text Box 8"/>
          <p:cNvSpPr txBox="1">
            <a:spLocks noChangeArrowheads="1"/>
          </p:cNvSpPr>
          <p:nvPr/>
        </p:nvSpPr>
        <p:spPr bwMode="auto">
          <a:xfrm>
            <a:off x="457200" y="29860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use cases</a:t>
            </a:r>
          </a:p>
        </p:txBody>
      </p:sp>
      <p:sp>
        <p:nvSpPr>
          <p:cNvPr id="45068" name="Rectangle 9"/>
          <p:cNvSpPr>
            <a:spLocks noChangeArrowheads="1"/>
          </p:cNvSpPr>
          <p:nvPr/>
        </p:nvSpPr>
        <p:spPr bwMode="auto">
          <a:xfrm>
            <a:off x="381000" y="4267200"/>
            <a:ext cx="2895600" cy="1066800"/>
          </a:xfrm>
          <a:prstGeom prst="rect">
            <a:avLst/>
          </a:prstGeom>
          <a:gradFill rotWithShape="1">
            <a:gsLst>
              <a:gs pos="0">
                <a:srgbClr val="7E7E7E"/>
              </a:gs>
              <a:gs pos="50000">
                <a:srgbClr val="999999"/>
              </a:gs>
              <a:gs pos="100000">
                <a:srgbClr val="7E7E7E"/>
              </a:gs>
            </a:gsLst>
            <a:lin ang="5400000" scaled="1"/>
          </a:gradFill>
          <a:ln w="9525">
            <a:solidFill>
              <a:schemeClr val="tx1"/>
            </a:solidFill>
            <a:miter lim="800000"/>
            <a:headEnd/>
            <a:tailEnd/>
          </a:ln>
        </p:spPr>
        <p:txBody>
          <a:bodyPr wrap="none" anchor="ctr"/>
          <a:lstStyle/>
          <a:p>
            <a:endParaRPr lang="en-US"/>
          </a:p>
        </p:txBody>
      </p:sp>
      <p:sp>
        <p:nvSpPr>
          <p:cNvPr id="45069" name="Text Box 10"/>
          <p:cNvSpPr txBox="1">
            <a:spLocks noChangeArrowheads="1"/>
          </p:cNvSpPr>
          <p:nvPr/>
        </p:nvSpPr>
        <p:spPr bwMode="auto">
          <a:xfrm>
            <a:off x="609600" y="42672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Outline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45070" name="Rectangle 11"/>
          <p:cNvSpPr>
            <a:spLocks noChangeArrowheads="1"/>
          </p:cNvSpPr>
          <p:nvPr/>
        </p:nvSpPr>
        <p:spPr bwMode="auto">
          <a:xfrm>
            <a:off x="381000" y="5715000"/>
            <a:ext cx="2895600" cy="1066800"/>
          </a:xfrm>
          <a:prstGeom prst="rect">
            <a:avLst/>
          </a:prstGeom>
          <a:gradFill rotWithShape="1">
            <a:gsLst>
              <a:gs pos="0">
                <a:srgbClr val="7E7E7E"/>
              </a:gs>
              <a:gs pos="50000">
                <a:srgbClr val="999999"/>
              </a:gs>
              <a:gs pos="100000">
                <a:srgbClr val="7E7E7E"/>
              </a:gs>
            </a:gsLst>
            <a:lin ang="5400000" scaled="1"/>
          </a:gradFill>
          <a:ln w="9525">
            <a:solidFill>
              <a:schemeClr val="tx1"/>
            </a:solidFill>
            <a:miter lim="800000"/>
            <a:headEnd/>
            <a:tailEnd/>
          </a:ln>
        </p:spPr>
        <p:txBody>
          <a:bodyPr wrap="none" anchor="ctr"/>
          <a:lstStyle/>
          <a:p>
            <a:endParaRPr lang="en-US"/>
          </a:p>
        </p:txBody>
      </p:sp>
      <p:sp>
        <p:nvSpPr>
          <p:cNvPr id="45071" name="Text Box 12"/>
          <p:cNvSpPr txBox="1">
            <a:spLocks noChangeArrowheads="1"/>
          </p:cNvSpPr>
          <p:nvPr/>
        </p:nvSpPr>
        <p:spPr bwMode="auto">
          <a:xfrm>
            <a:off x="609600" y="57912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Detail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45072" name="Line 13"/>
          <p:cNvSpPr>
            <a:spLocks noChangeShapeType="1"/>
          </p:cNvSpPr>
          <p:nvPr/>
        </p:nvSpPr>
        <p:spPr bwMode="auto">
          <a:xfrm>
            <a:off x="1828800" y="22860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3" name="Line 14"/>
          <p:cNvSpPr>
            <a:spLocks noChangeShapeType="1"/>
          </p:cNvSpPr>
          <p:nvPr/>
        </p:nvSpPr>
        <p:spPr bwMode="auto">
          <a:xfrm>
            <a:off x="1828800" y="37338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4" name="Line 15"/>
          <p:cNvSpPr>
            <a:spLocks noChangeShapeType="1"/>
          </p:cNvSpPr>
          <p:nvPr/>
        </p:nvSpPr>
        <p:spPr bwMode="auto">
          <a:xfrm>
            <a:off x="1828800" y="5181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5" name="AutoShape 16"/>
          <p:cNvSpPr>
            <a:spLocks noChangeArrowheads="1"/>
          </p:cNvSpPr>
          <p:nvPr/>
        </p:nvSpPr>
        <p:spPr bwMode="auto">
          <a:xfrm>
            <a:off x="3276600" y="2819400"/>
            <a:ext cx="990600" cy="1066800"/>
          </a:xfrm>
          <a:prstGeom prst="triangle">
            <a:avLst>
              <a:gd name="adj" fmla="val 0"/>
            </a:avLst>
          </a:prstGeom>
          <a:gradFill rotWithShape="1">
            <a:gsLst>
              <a:gs pos="0">
                <a:srgbClr val="7791C2"/>
              </a:gs>
              <a:gs pos="50000">
                <a:srgbClr val="9DBEFF"/>
              </a:gs>
              <a:gs pos="100000">
                <a:srgbClr val="7791C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5076" name="Text Box 17"/>
          <p:cNvSpPr txBox="1">
            <a:spLocks noChangeArrowheads="1"/>
          </p:cNvSpPr>
          <p:nvPr/>
        </p:nvSpPr>
        <p:spPr bwMode="auto">
          <a:xfrm>
            <a:off x="4343400" y="1981200"/>
            <a:ext cx="4191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465138" indent="-350838"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lvl="1" eaLnBrk="1" hangingPunct="1">
              <a:spcBef>
                <a:spcPct val="30000"/>
              </a:spcBef>
              <a:buClr>
                <a:schemeClr val="tx1"/>
              </a:buClr>
              <a:buFont typeface="Webdings" pitchFamily="18" charset="2"/>
              <a:buChar char="4"/>
            </a:pPr>
            <a:r>
              <a:rPr lang="en-US" sz="2000" dirty="0">
                <a:solidFill>
                  <a:schemeClr val="tx1"/>
                </a:solidFill>
                <a:latin typeface="Arial" pitchFamily="34" charset="0"/>
              </a:rPr>
              <a:t>Name and briefly describe the use cases that</a:t>
            </a:r>
            <a:r>
              <a:rPr lang="en-US" sz="2000" dirty="0">
                <a:solidFill>
                  <a:srgbClr val="CC0000"/>
                </a:solidFill>
                <a:latin typeface="Arial" pitchFamily="34" charset="0"/>
              </a:rPr>
              <a:t> </a:t>
            </a:r>
            <a:r>
              <a:rPr lang="en-US" sz="2000" dirty="0">
                <a:solidFill>
                  <a:schemeClr val="tx1"/>
                </a:solidFill>
                <a:latin typeface="Arial" pitchFamily="34" charset="0"/>
              </a:rPr>
              <a:t>you found</a:t>
            </a:r>
          </a:p>
          <a:p>
            <a:pPr lvl="1" eaLnBrk="1" hangingPunct="1">
              <a:spcBef>
                <a:spcPct val="30000"/>
              </a:spcBef>
              <a:buClr>
                <a:schemeClr val="tx1"/>
              </a:buClr>
              <a:buFont typeface="Webdings" pitchFamily="18" charset="2"/>
              <a:buChar char="4"/>
            </a:pPr>
            <a:r>
              <a:rPr lang="en-US" sz="2000" dirty="0">
                <a:solidFill>
                  <a:schemeClr val="tx1"/>
                </a:solidFill>
                <a:latin typeface="Arial" pitchFamily="34" charset="0"/>
              </a:rPr>
              <a:t>Create a use-case diagram</a:t>
            </a:r>
          </a:p>
          <a:p>
            <a:pPr lvl="1" eaLnBrk="1" hangingPunct="1">
              <a:spcBef>
                <a:spcPct val="30000"/>
              </a:spcBef>
              <a:buClr>
                <a:schemeClr val="tx1"/>
              </a:buClr>
              <a:buFont typeface="Webdings" pitchFamily="18" charset="2"/>
              <a:buChar char="4"/>
            </a:pPr>
            <a:r>
              <a:rPr lang="en-US" sz="2000" dirty="0">
                <a:solidFill>
                  <a:schemeClr val="tx1"/>
                </a:solidFill>
                <a:latin typeface="Arial" pitchFamily="34" charset="0"/>
              </a:rPr>
              <a:t>Assess business values and technical risks for use cases</a:t>
            </a:r>
          </a:p>
          <a:p>
            <a:pPr lvl="1" eaLnBrk="1" hangingPunct="1">
              <a:spcBef>
                <a:spcPct val="30000"/>
              </a:spcBef>
              <a:buClr>
                <a:schemeClr val="tx1"/>
              </a:buClr>
              <a:buFont typeface="Webdings" pitchFamily="18" charset="2"/>
              <a:buChar char="4"/>
            </a:pPr>
            <a:endParaRPr lang="en-US" sz="2000" dirty="0">
              <a:solidFill>
                <a:schemeClr val="tx1"/>
              </a:solidFill>
              <a:latin typeface="Arial" pitchFamily="34" charset="0"/>
            </a:endParaRPr>
          </a:p>
          <a:p>
            <a:pPr eaLnBrk="1" hangingPunct="1">
              <a:spcBef>
                <a:spcPct val="50000"/>
              </a:spcBef>
            </a:pPr>
            <a:endParaRPr lang="en-US" sz="2000" dirty="0">
              <a:solidFill>
                <a:schemeClr val="tx1"/>
              </a:solidFill>
              <a:latin typeface="Arial" pitchFamily="34" charset="0"/>
            </a:endParaRPr>
          </a:p>
        </p:txBody>
      </p:sp>
      <p:sp>
        <p:nvSpPr>
          <p:cNvPr id="2" name="Slide Number Placeholder 1"/>
          <p:cNvSpPr>
            <a:spLocks noGrp="1"/>
          </p:cNvSpPr>
          <p:nvPr>
            <p:ph type="sldNum" sz="quarter" idx="12"/>
          </p:nvPr>
        </p:nvSpPr>
        <p:spPr/>
        <p:txBody>
          <a:bodyPr/>
          <a:lstStyle/>
          <a:p>
            <a:fld id="{DED05017-923D-480E-B02E-B52739184DCA}" type="slidenum">
              <a:rPr lang="en-US" smtClean="0"/>
              <a:pPr/>
              <a:t>34</a:t>
            </a:fld>
            <a:endParaRPr lang="en-US"/>
          </a:p>
        </p:txBody>
      </p:sp>
    </p:spTree>
    <p:extLst>
      <p:ext uri="{BB962C8B-B14F-4D97-AF65-F5344CB8AC3E}">
        <p14:creationId xmlns:p14="http://schemas.microsoft.com/office/powerpoint/2010/main" val="3047047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p:txBody>
          <a:bodyPr/>
          <a:lstStyle/>
          <a:p>
            <a:pPr eaLnBrk="1" hangingPunct="1">
              <a:defRPr/>
            </a:pPr>
            <a:r>
              <a:rPr lang="en-US" sz="2800" dirty="0"/>
              <a:t>Find use cases</a:t>
            </a:r>
          </a:p>
        </p:txBody>
      </p:sp>
      <p:grpSp>
        <p:nvGrpSpPr>
          <p:cNvPr id="46086" name="Group 3"/>
          <p:cNvGrpSpPr>
            <a:grpSpLocks noChangeAspect="1"/>
          </p:cNvGrpSpPr>
          <p:nvPr/>
        </p:nvGrpSpPr>
        <p:grpSpPr bwMode="auto">
          <a:xfrm>
            <a:off x="2765425" y="3695700"/>
            <a:ext cx="1008063" cy="1111250"/>
            <a:chOff x="7654" y="3380"/>
            <a:chExt cx="554" cy="754"/>
          </a:xfrm>
        </p:grpSpPr>
        <p:sp>
          <p:nvSpPr>
            <p:cNvPr id="46095" name="Oval 4"/>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096" name="Line 5"/>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7" name="Line 6"/>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8" name="Freeform 7"/>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6087" name="Text Box 8"/>
          <p:cNvSpPr txBox="1">
            <a:spLocks noChangeAspect="1" noChangeArrowheads="1"/>
          </p:cNvSpPr>
          <p:nvPr/>
        </p:nvSpPr>
        <p:spPr bwMode="auto">
          <a:xfrm>
            <a:off x="2676525" y="4852987"/>
            <a:ext cx="1131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lg" len="lg"/>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3200">
                <a:solidFill>
                  <a:schemeClr val="tx1"/>
                </a:solidFill>
                <a:latin typeface="Arial" pitchFamily="34" charset="0"/>
              </a:rPr>
              <a:t>Actor</a:t>
            </a:r>
          </a:p>
        </p:txBody>
      </p:sp>
      <p:sp>
        <p:nvSpPr>
          <p:cNvPr id="46088" name="Oval 9"/>
          <p:cNvSpPr>
            <a:spLocks noChangeArrowheads="1"/>
          </p:cNvSpPr>
          <p:nvPr/>
        </p:nvSpPr>
        <p:spPr bwMode="auto">
          <a:xfrm>
            <a:off x="6472238" y="3100387"/>
            <a:ext cx="1917700" cy="862013"/>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endParaRPr lang="en-AU" sz="1000">
              <a:solidFill>
                <a:schemeClr val="bg2"/>
              </a:solidFill>
              <a:latin typeface="Arial" pitchFamily="34" charset="0"/>
            </a:endParaRPr>
          </a:p>
        </p:txBody>
      </p:sp>
      <p:sp>
        <p:nvSpPr>
          <p:cNvPr id="46089" name="Text Box 10"/>
          <p:cNvSpPr txBox="1">
            <a:spLocks noChangeArrowheads="1"/>
          </p:cNvSpPr>
          <p:nvPr/>
        </p:nvSpPr>
        <p:spPr bwMode="auto">
          <a:xfrm>
            <a:off x="6748463" y="3243262"/>
            <a:ext cx="15398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b="1">
                <a:solidFill>
                  <a:schemeClr val="tx1"/>
                </a:solidFill>
                <a:latin typeface="Arial" pitchFamily="34" charset="0"/>
              </a:rPr>
              <a:t>GOAL 1</a:t>
            </a:r>
          </a:p>
        </p:txBody>
      </p:sp>
      <p:sp>
        <p:nvSpPr>
          <p:cNvPr id="46090" name="Line 11"/>
          <p:cNvSpPr>
            <a:spLocks noChangeShapeType="1"/>
          </p:cNvSpPr>
          <p:nvPr/>
        </p:nvSpPr>
        <p:spPr bwMode="auto">
          <a:xfrm flipV="1">
            <a:off x="3797300" y="3560762"/>
            <a:ext cx="2603500" cy="647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2075" tIns="46038" rIns="92075" bIns="137160">
            <a:spAutoFit/>
          </a:bodyPr>
          <a:lstStyle/>
          <a:p>
            <a:endParaRPr lang="en-US"/>
          </a:p>
        </p:txBody>
      </p:sp>
      <p:sp>
        <p:nvSpPr>
          <p:cNvPr id="46091" name="Line 12"/>
          <p:cNvSpPr>
            <a:spLocks noChangeShapeType="1"/>
          </p:cNvSpPr>
          <p:nvPr/>
        </p:nvSpPr>
        <p:spPr bwMode="auto">
          <a:xfrm>
            <a:off x="3733800" y="4437062"/>
            <a:ext cx="2794000" cy="673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2075" tIns="46038" rIns="92075" bIns="137160">
            <a:spAutoFit/>
          </a:bodyPr>
          <a:lstStyle/>
          <a:p>
            <a:endParaRPr lang="en-US"/>
          </a:p>
        </p:txBody>
      </p:sp>
      <p:sp>
        <p:nvSpPr>
          <p:cNvPr id="46092" name="Oval 13"/>
          <p:cNvSpPr>
            <a:spLocks noChangeArrowheads="1"/>
          </p:cNvSpPr>
          <p:nvPr/>
        </p:nvSpPr>
        <p:spPr bwMode="auto">
          <a:xfrm>
            <a:off x="6573838" y="4776787"/>
            <a:ext cx="1917700" cy="862013"/>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endParaRPr lang="en-AU" sz="1000">
              <a:solidFill>
                <a:schemeClr val="bg2"/>
              </a:solidFill>
              <a:latin typeface="Arial" pitchFamily="34" charset="0"/>
            </a:endParaRPr>
          </a:p>
        </p:txBody>
      </p:sp>
      <p:sp>
        <p:nvSpPr>
          <p:cNvPr id="46093" name="Text Box 14"/>
          <p:cNvSpPr txBox="1">
            <a:spLocks noChangeArrowheads="1"/>
          </p:cNvSpPr>
          <p:nvPr/>
        </p:nvSpPr>
        <p:spPr bwMode="auto">
          <a:xfrm>
            <a:off x="6799263" y="4919662"/>
            <a:ext cx="15398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b="1">
                <a:solidFill>
                  <a:schemeClr val="tx1"/>
                </a:solidFill>
                <a:latin typeface="Arial" pitchFamily="34" charset="0"/>
              </a:rPr>
              <a:t>GOAL 2</a:t>
            </a:r>
          </a:p>
        </p:txBody>
      </p:sp>
      <p:sp>
        <p:nvSpPr>
          <p:cNvPr id="46094" name="AutoShape 15"/>
          <p:cNvSpPr>
            <a:spLocks noChangeArrowheads="1"/>
          </p:cNvSpPr>
          <p:nvPr/>
        </p:nvSpPr>
        <p:spPr bwMode="auto">
          <a:xfrm>
            <a:off x="381000" y="1427162"/>
            <a:ext cx="2832100" cy="1384300"/>
          </a:xfrm>
          <a:prstGeom prst="wedgeRectCallout">
            <a:avLst>
              <a:gd name="adj1" fmla="val 39630"/>
              <a:gd name="adj2" fmla="val 117204"/>
            </a:avLst>
          </a:prstGeom>
          <a:solidFill>
            <a:srgbClr val="FFFF99"/>
          </a:solidFill>
          <a:ln w="9525">
            <a:solidFill>
              <a:schemeClr val="tx1"/>
            </a:solidFill>
            <a:miter lim="800000"/>
            <a:headEnd/>
            <a:tailEnd/>
          </a:ln>
        </p:spPr>
        <p:txBody>
          <a:bodyPr lIns="92075" tIns="46038" rIns="92075" bIns="137160"/>
          <a:lstStyle/>
          <a:p>
            <a:pPr algn="ctr" eaLnBrk="0" hangingPunct="0"/>
            <a:r>
              <a:rPr lang="en-US" sz="2000" dirty="0">
                <a:solidFill>
                  <a:schemeClr val="tx1"/>
                </a:solidFill>
                <a:latin typeface="Arial" pitchFamily="34" charset="0"/>
              </a:rPr>
              <a:t>What goal am I trying to achieve by using the system?</a:t>
            </a:r>
            <a:endParaRPr lang="en-US" dirty="0">
              <a:solidFill>
                <a:schemeClr val="tx1"/>
              </a:solidFill>
              <a:latin typeface="Arial" pitchFamily="34" charset="0"/>
            </a:endParaRPr>
          </a:p>
        </p:txBody>
      </p:sp>
      <p:sp>
        <p:nvSpPr>
          <p:cNvPr id="2" name="Slide Number Placeholder 1"/>
          <p:cNvSpPr>
            <a:spLocks noGrp="1"/>
          </p:cNvSpPr>
          <p:nvPr>
            <p:ph type="sldNum" sz="quarter" idx="12"/>
          </p:nvPr>
        </p:nvSpPr>
        <p:spPr/>
        <p:txBody>
          <a:bodyPr/>
          <a:lstStyle/>
          <a:p>
            <a:fld id="{27392B6C-813E-42DE-A59C-034281A964AB}" type="slidenum">
              <a:rPr lang="en-US" smtClean="0"/>
              <a:pPr/>
              <a:t>35</a:t>
            </a:fld>
            <a:endParaRPr lang="en-US"/>
          </a:p>
        </p:txBody>
      </p:sp>
    </p:spTree>
    <p:extLst>
      <p:ext uri="{BB962C8B-B14F-4D97-AF65-F5344CB8AC3E}">
        <p14:creationId xmlns:p14="http://schemas.microsoft.com/office/powerpoint/2010/main" val="2944844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en-US" sz="2800" dirty="0"/>
              <a:t>Find use cases (cont.)</a:t>
            </a:r>
          </a:p>
        </p:txBody>
      </p:sp>
      <p:sp>
        <p:nvSpPr>
          <p:cNvPr id="47110" name="Rectangle 3"/>
          <p:cNvSpPr>
            <a:spLocks noGrp="1" noChangeArrowheads="1"/>
          </p:cNvSpPr>
          <p:nvPr>
            <p:ph type="body" idx="1"/>
          </p:nvPr>
        </p:nvSpPr>
        <p:spPr/>
        <p:txBody>
          <a:bodyPr/>
          <a:lstStyle/>
          <a:p>
            <a:pPr marL="339725" indent="-339725" eaLnBrk="1" hangingPunct="1">
              <a:lnSpc>
                <a:spcPct val="100000"/>
              </a:lnSpc>
            </a:pPr>
            <a:r>
              <a:rPr lang="en-US" sz="2000" dirty="0"/>
              <a:t>What are the goals of each actor?</a:t>
            </a:r>
          </a:p>
          <a:p>
            <a:pPr marL="808038" lvl="1" indent="-354013" eaLnBrk="1" hangingPunct="1">
              <a:lnSpc>
                <a:spcPct val="100000"/>
              </a:lnSpc>
            </a:pPr>
            <a:r>
              <a:rPr lang="en-US" sz="2000" dirty="0"/>
              <a:t>Why does the actor want to use the system? </a:t>
            </a:r>
          </a:p>
          <a:p>
            <a:pPr marL="808038" lvl="1" indent="-354013" eaLnBrk="1" hangingPunct="1">
              <a:lnSpc>
                <a:spcPct val="100000"/>
              </a:lnSpc>
            </a:pPr>
            <a:r>
              <a:rPr lang="en-US" sz="2000" dirty="0"/>
              <a:t>Will the actor create, store, change, remove, or read data in the system? If so, why?</a:t>
            </a:r>
          </a:p>
          <a:p>
            <a:pPr marL="808038" lvl="1" indent="-354013" eaLnBrk="1" hangingPunct="1">
              <a:lnSpc>
                <a:spcPct val="100000"/>
              </a:lnSpc>
            </a:pPr>
            <a:r>
              <a:rPr lang="en-US" sz="2000" dirty="0"/>
              <a:t>Will the actor need to inform the system about external events or changes?</a:t>
            </a:r>
          </a:p>
          <a:p>
            <a:pPr marL="808038" lvl="1" indent="-354013" eaLnBrk="1" hangingPunct="1">
              <a:lnSpc>
                <a:spcPct val="100000"/>
              </a:lnSpc>
            </a:pPr>
            <a:r>
              <a:rPr lang="en-US" sz="2000" dirty="0"/>
              <a:t>Will the actor need to be informed about certain occurrences in the system?</a:t>
            </a:r>
          </a:p>
          <a:p>
            <a:pPr marL="339725" indent="-339725" eaLnBrk="1" hangingPunct="1">
              <a:lnSpc>
                <a:spcPct val="100000"/>
              </a:lnSpc>
            </a:pPr>
            <a:r>
              <a:rPr lang="en-US" sz="2000" dirty="0"/>
              <a:t>Does the system supply the business with all of the correct behavior?</a:t>
            </a:r>
          </a:p>
        </p:txBody>
      </p:sp>
      <p:sp>
        <p:nvSpPr>
          <p:cNvPr id="2" name="Slide Number Placeholder 1"/>
          <p:cNvSpPr>
            <a:spLocks noGrp="1"/>
          </p:cNvSpPr>
          <p:nvPr>
            <p:ph type="sldNum" sz="quarter" idx="12"/>
          </p:nvPr>
        </p:nvSpPr>
        <p:spPr/>
        <p:txBody>
          <a:bodyPr/>
          <a:lstStyle/>
          <a:p>
            <a:fld id="{DED05017-923D-480E-B02E-B52739184DCA}" type="slidenum">
              <a:rPr lang="en-US" smtClean="0"/>
              <a:pPr/>
              <a:t>36</a:t>
            </a:fld>
            <a:endParaRPr lang="en-US"/>
          </a:p>
        </p:txBody>
      </p:sp>
    </p:spTree>
    <p:extLst>
      <p:ext uri="{BB962C8B-B14F-4D97-AF65-F5344CB8AC3E}">
        <p14:creationId xmlns:p14="http://schemas.microsoft.com/office/powerpoint/2010/main" val="176685509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eaLnBrk="1" hangingPunct="1">
              <a:defRPr/>
            </a:pPr>
            <a:r>
              <a:rPr lang="en-US" sz="2800" dirty="0"/>
              <a:t>Is </a:t>
            </a:r>
            <a:r>
              <a:rPr lang="en-US" sz="2800" i="1" dirty="0"/>
              <a:t>Log in</a:t>
            </a:r>
            <a:r>
              <a:rPr lang="en-US" sz="2800" i="1" dirty="0">
                <a:solidFill>
                  <a:srgbClr val="3333FF"/>
                </a:solidFill>
              </a:rPr>
              <a:t> </a:t>
            </a:r>
            <a:r>
              <a:rPr lang="en-US" sz="2800" dirty="0"/>
              <a:t> a use case?</a:t>
            </a:r>
          </a:p>
        </p:txBody>
      </p:sp>
      <p:sp>
        <p:nvSpPr>
          <p:cNvPr id="48134" name="Rectangle 3"/>
          <p:cNvSpPr>
            <a:spLocks noGrp="1" noChangeArrowheads="1"/>
          </p:cNvSpPr>
          <p:nvPr>
            <p:ph type="body" idx="1"/>
          </p:nvPr>
        </p:nvSpPr>
        <p:spPr/>
        <p:txBody>
          <a:bodyPr/>
          <a:lstStyle/>
          <a:p>
            <a:pPr marL="230188" indent="-230188" eaLnBrk="1" hangingPunct="1"/>
            <a:r>
              <a:rPr lang="en-US" sz="2000" dirty="0"/>
              <a:t>By UML definition, </a:t>
            </a:r>
            <a:r>
              <a:rPr lang="en-US" sz="2000" i="1" dirty="0"/>
              <a:t>log in</a:t>
            </a:r>
            <a:r>
              <a:rPr lang="en-US" sz="2000" i="1" dirty="0">
                <a:solidFill>
                  <a:srgbClr val="3333FF"/>
                </a:solidFill>
              </a:rPr>
              <a:t> </a:t>
            </a:r>
            <a:r>
              <a:rPr lang="en-US" sz="2000" dirty="0"/>
              <a:t> is not a use case,</a:t>
            </a:r>
            <a:r>
              <a:rPr lang="en-US" sz="2000" dirty="0">
                <a:solidFill>
                  <a:srgbClr val="CC0000"/>
                </a:solidFill>
              </a:rPr>
              <a:t> </a:t>
            </a:r>
            <a:r>
              <a:rPr lang="en-US" sz="2000" dirty="0"/>
              <a:t>because it does not produce results of value to an actor.</a:t>
            </a:r>
          </a:p>
          <a:p>
            <a:pPr marL="230188" indent="-230188" eaLnBrk="1" hangingPunct="1"/>
            <a:r>
              <a:rPr lang="en-US" sz="2000" dirty="0"/>
              <a:t>However, in many cases, there is a need to capture </a:t>
            </a:r>
            <a:r>
              <a:rPr lang="en-US" sz="2000" i="1" dirty="0"/>
              <a:t>log in</a:t>
            </a:r>
            <a:r>
              <a:rPr lang="en-US" sz="2000" dirty="0"/>
              <a:t> separately because it:</a:t>
            </a:r>
          </a:p>
          <a:p>
            <a:pPr marL="576263" lvl="1" indent="-231775" eaLnBrk="1" hangingPunct="1"/>
            <a:r>
              <a:rPr lang="en-US" sz="2000" dirty="0"/>
              <a:t>Captures more and more complex behaviors (security, compliance, customer experience)</a:t>
            </a:r>
          </a:p>
          <a:p>
            <a:pPr marL="576263" lvl="1" indent="-231775" eaLnBrk="1" hangingPunct="1"/>
            <a:r>
              <a:rPr lang="en-US" sz="2000" dirty="0"/>
              <a:t>Is included in other use cases</a:t>
            </a:r>
          </a:p>
          <a:p>
            <a:pPr marL="230188" indent="-230188" eaLnBrk="1" hangingPunct="1"/>
            <a:r>
              <a:rPr lang="en-US" sz="2000" dirty="0"/>
              <a:t>Recommendation: Make an exception and capture </a:t>
            </a:r>
            <a:r>
              <a:rPr lang="en-US" sz="2000" i="1" dirty="0"/>
              <a:t>log in</a:t>
            </a:r>
            <a:r>
              <a:rPr lang="en-US" sz="2000" dirty="0"/>
              <a:t> as a separate use case.</a:t>
            </a:r>
          </a:p>
        </p:txBody>
      </p:sp>
      <p:grpSp>
        <p:nvGrpSpPr>
          <p:cNvPr id="48135" name="Group 4"/>
          <p:cNvGrpSpPr>
            <a:grpSpLocks noChangeAspect="1"/>
          </p:cNvGrpSpPr>
          <p:nvPr/>
        </p:nvGrpSpPr>
        <p:grpSpPr bwMode="auto">
          <a:xfrm>
            <a:off x="2471738" y="5505450"/>
            <a:ext cx="655637" cy="723900"/>
            <a:chOff x="7654" y="3380"/>
            <a:chExt cx="554" cy="754"/>
          </a:xfrm>
        </p:grpSpPr>
        <p:sp>
          <p:nvSpPr>
            <p:cNvPr id="48140" name="Oval 5"/>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41" name="Line 6"/>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2" name="Line 7"/>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3" name="Freeform 8"/>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8136" name="Line 9"/>
          <p:cNvSpPr>
            <a:spLocks noChangeShapeType="1"/>
          </p:cNvSpPr>
          <p:nvPr/>
        </p:nvSpPr>
        <p:spPr bwMode="auto">
          <a:xfrm flipV="1">
            <a:off x="3176588" y="6015038"/>
            <a:ext cx="14065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2075" tIns="46038" rIns="92075" bIns="137160">
            <a:spAutoFit/>
          </a:bodyPr>
          <a:lstStyle/>
          <a:p>
            <a:endParaRPr lang="en-US"/>
          </a:p>
        </p:txBody>
      </p:sp>
      <p:sp>
        <p:nvSpPr>
          <p:cNvPr id="48137" name="Oval 10"/>
          <p:cNvSpPr>
            <a:spLocks noChangeArrowheads="1"/>
          </p:cNvSpPr>
          <p:nvPr/>
        </p:nvSpPr>
        <p:spPr bwMode="auto">
          <a:xfrm>
            <a:off x="4610100" y="5686425"/>
            <a:ext cx="1362075" cy="647700"/>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endParaRPr lang="en-AU" sz="1000">
              <a:solidFill>
                <a:schemeClr val="bg2"/>
              </a:solidFill>
              <a:latin typeface="Arial" pitchFamily="34" charset="0"/>
            </a:endParaRPr>
          </a:p>
        </p:txBody>
      </p:sp>
      <p:sp>
        <p:nvSpPr>
          <p:cNvPr id="48138" name="Text Box 11"/>
          <p:cNvSpPr txBox="1">
            <a:spLocks noChangeArrowheads="1"/>
          </p:cNvSpPr>
          <p:nvPr/>
        </p:nvSpPr>
        <p:spPr bwMode="auto">
          <a:xfrm>
            <a:off x="4908550" y="5811838"/>
            <a:ext cx="876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2000">
                <a:solidFill>
                  <a:schemeClr val="tx1"/>
                </a:solidFill>
                <a:latin typeface="Arial" pitchFamily="34" charset="0"/>
              </a:rPr>
              <a:t>Log in</a:t>
            </a:r>
          </a:p>
        </p:txBody>
      </p:sp>
      <p:sp>
        <p:nvSpPr>
          <p:cNvPr id="48139" name="Text Box 12"/>
          <p:cNvSpPr txBox="1">
            <a:spLocks noChangeArrowheads="1"/>
          </p:cNvSpPr>
          <p:nvPr/>
        </p:nvSpPr>
        <p:spPr bwMode="auto">
          <a:xfrm>
            <a:off x="2447925" y="619125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2000">
                <a:solidFill>
                  <a:schemeClr val="tx1"/>
                </a:solidFill>
                <a:latin typeface="Arial" pitchFamily="34" charset="0"/>
              </a:rPr>
              <a:t>User</a:t>
            </a:r>
          </a:p>
        </p:txBody>
      </p:sp>
      <p:sp>
        <p:nvSpPr>
          <p:cNvPr id="2" name="Slide Number Placeholder 1"/>
          <p:cNvSpPr>
            <a:spLocks noGrp="1"/>
          </p:cNvSpPr>
          <p:nvPr>
            <p:ph type="sldNum" sz="quarter" idx="12"/>
          </p:nvPr>
        </p:nvSpPr>
        <p:spPr/>
        <p:txBody>
          <a:bodyPr/>
          <a:lstStyle/>
          <a:p>
            <a:fld id="{DED05017-923D-480E-B02E-B52739184DCA}" type="slidenum">
              <a:rPr lang="en-US" smtClean="0"/>
              <a:pPr/>
              <a:t>37</a:t>
            </a:fld>
            <a:endParaRPr lang="en-US"/>
          </a:p>
        </p:txBody>
      </p:sp>
    </p:spTree>
    <p:extLst>
      <p:ext uri="{BB962C8B-B14F-4D97-AF65-F5344CB8AC3E}">
        <p14:creationId xmlns:p14="http://schemas.microsoft.com/office/powerpoint/2010/main" val="1941161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ChangeArrowheads="1"/>
          </p:cNvSpPr>
          <p:nvPr>
            <p:ph type="title"/>
          </p:nvPr>
        </p:nvSpPr>
        <p:spPr/>
        <p:txBody>
          <a:bodyPr/>
          <a:lstStyle/>
          <a:p>
            <a:pPr eaLnBrk="1" hangingPunct="1">
              <a:defRPr/>
            </a:pPr>
            <a:r>
              <a:rPr lang="en-US" sz="2800" dirty="0"/>
              <a:t>CRUD Use Cases	</a:t>
            </a:r>
          </a:p>
        </p:txBody>
      </p:sp>
      <p:sp>
        <p:nvSpPr>
          <p:cNvPr id="49158" name="Rectangle 3"/>
          <p:cNvSpPr>
            <a:spLocks noGrp="1" noChangeArrowheads="1"/>
          </p:cNvSpPr>
          <p:nvPr>
            <p:ph type="body" idx="1"/>
          </p:nvPr>
        </p:nvSpPr>
        <p:spPr/>
        <p:txBody>
          <a:bodyPr/>
          <a:lstStyle/>
          <a:p>
            <a:pPr marL="230188" indent="-230188" eaLnBrk="1" hangingPunct="1"/>
            <a:r>
              <a:rPr lang="en-US" sz="2000" dirty="0"/>
              <a:t>A CRUD use case is a Create, Read, Update,</a:t>
            </a:r>
            <a:r>
              <a:rPr lang="en-US" sz="2000" dirty="0">
                <a:solidFill>
                  <a:srgbClr val="CC0000"/>
                </a:solidFill>
              </a:rPr>
              <a:t> </a:t>
            </a:r>
            <a:r>
              <a:rPr lang="en-US" sz="2000" dirty="0"/>
              <a:t>or Delete use case</a:t>
            </a:r>
          </a:p>
          <a:p>
            <a:pPr marL="230188" indent="-230188" eaLnBrk="1" hangingPunct="1"/>
            <a:r>
              <a:rPr lang="en-US" sz="2000" dirty="0"/>
              <a:t>Remove CRUD use cases if they are data- management use cases that do not provide results that are of value to actors</a:t>
            </a:r>
          </a:p>
          <a:p>
            <a:pPr marL="576263" lvl="1" indent="-231775" eaLnBrk="1" hangingPunct="1"/>
            <a:endParaRPr lang="en-US" sz="2000" dirty="0">
              <a:solidFill>
                <a:schemeClr val="tx1"/>
              </a:solidFill>
            </a:endParaRPr>
          </a:p>
          <a:p>
            <a:pPr marL="576263" lvl="1" indent="-231775" eaLnBrk="1" hangingPunct="1"/>
            <a:endParaRPr lang="en-US" sz="2000" dirty="0"/>
          </a:p>
          <a:p>
            <a:pPr marL="230188" indent="-230188" eaLnBrk="1" hangingPunct="1">
              <a:buFont typeface="Wingdings" pitchFamily="2" charset="2"/>
              <a:buNone/>
            </a:pPr>
            <a:endParaRPr lang="en-US" sz="2000" dirty="0"/>
          </a:p>
          <a:p>
            <a:pPr marL="576263" lvl="1" indent="-231775" eaLnBrk="1" hangingPunct="1"/>
            <a:endParaRPr lang="en-US" sz="2000" dirty="0"/>
          </a:p>
        </p:txBody>
      </p:sp>
      <p:sp>
        <p:nvSpPr>
          <p:cNvPr id="49159" name="Oval 4"/>
          <p:cNvSpPr>
            <a:spLocks noChangeArrowheads="1"/>
          </p:cNvSpPr>
          <p:nvPr/>
        </p:nvSpPr>
        <p:spPr bwMode="auto">
          <a:xfrm>
            <a:off x="460375" y="3438525"/>
            <a:ext cx="1752600" cy="533400"/>
          </a:xfrm>
          <a:prstGeom prst="ellipse">
            <a:avLst/>
          </a:prstGeom>
          <a:solidFill>
            <a:srgbClr val="6699FF"/>
          </a:solidFill>
          <a:ln w="9525">
            <a:solidFill>
              <a:schemeClr val="tx1"/>
            </a:solidFill>
            <a:round/>
            <a:headEnd/>
            <a:tailEnd/>
          </a:ln>
        </p:spPr>
        <p:txBody>
          <a:bodyPr wrap="none" anchor="ctr"/>
          <a:lstStyle/>
          <a:p>
            <a:endParaRPr lang="en-US"/>
          </a:p>
        </p:txBody>
      </p:sp>
      <p:sp>
        <p:nvSpPr>
          <p:cNvPr id="49160" name="Text Box 5"/>
          <p:cNvSpPr txBox="1">
            <a:spLocks noChangeArrowheads="1"/>
          </p:cNvSpPr>
          <p:nvPr/>
        </p:nvSpPr>
        <p:spPr bwMode="auto">
          <a:xfrm>
            <a:off x="546100" y="3552825"/>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1400">
                <a:solidFill>
                  <a:schemeClr val="tx1"/>
                </a:solidFill>
                <a:latin typeface="Arial" pitchFamily="34" charset="0"/>
              </a:rPr>
              <a:t>Create a schedule</a:t>
            </a:r>
          </a:p>
        </p:txBody>
      </p:sp>
      <p:sp>
        <p:nvSpPr>
          <p:cNvPr id="49161" name="Oval 6"/>
          <p:cNvSpPr>
            <a:spLocks noChangeArrowheads="1"/>
          </p:cNvSpPr>
          <p:nvPr/>
        </p:nvSpPr>
        <p:spPr bwMode="auto">
          <a:xfrm>
            <a:off x="450850" y="4200525"/>
            <a:ext cx="1752600" cy="533400"/>
          </a:xfrm>
          <a:prstGeom prst="ellipse">
            <a:avLst/>
          </a:prstGeom>
          <a:solidFill>
            <a:srgbClr val="6699FF"/>
          </a:solidFill>
          <a:ln w="9525">
            <a:solidFill>
              <a:schemeClr val="tx1"/>
            </a:solidFill>
            <a:round/>
            <a:headEnd/>
            <a:tailEnd/>
          </a:ln>
        </p:spPr>
        <p:txBody>
          <a:bodyPr wrap="none" anchor="ctr"/>
          <a:lstStyle/>
          <a:p>
            <a:endParaRPr lang="en-US"/>
          </a:p>
        </p:txBody>
      </p:sp>
      <p:sp>
        <p:nvSpPr>
          <p:cNvPr id="49162" name="Text Box 7"/>
          <p:cNvSpPr txBox="1">
            <a:spLocks noChangeArrowheads="1"/>
          </p:cNvSpPr>
          <p:nvPr/>
        </p:nvSpPr>
        <p:spPr bwMode="auto">
          <a:xfrm>
            <a:off x="574675" y="4333875"/>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1400">
                <a:solidFill>
                  <a:schemeClr val="tx1"/>
                </a:solidFill>
                <a:latin typeface="Arial" pitchFamily="34" charset="0"/>
              </a:rPr>
              <a:t>Read a schedule</a:t>
            </a:r>
          </a:p>
        </p:txBody>
      </p:sp>
      <p:sp>
        <p:nvSpPr>
          <p:cNvPr id="49163" name="Oval 8"/>
          <p:cNvSpPr>
            <a:spLocks noChangeArrowheads="1"/>
          </p:cNvSpPr>
          <p:nvPr/>
        </p:nvSpPr>
        <p:spPr bwMode="auto">
          <a:xfrm>
            <a:off x="450850" y="4933950"/>
            <a:ext cx="1752600" cy="533400"/>
          </a:xfrm>
          <a:prstGeom prst="ellipse">
            <a:avLst/>
          </a:prstGeom>
          <a:solidFill>
            <a:srgbClr val="6699FF"/>
          </a:solidFill>
          <a:ln w="9525">
            <a:solidFill>
              <a:schemeClr val="tx1"/>
            </a:solidFill>
            <a:round/>
            <a:headEnd/>
            <a:tailEnd/>
          </a:ln>
        </p:spPr>
        <p:txBody>
          <a:bodyPr wrap="none" anchor="ctr"/>
          <a:lstStyle/>
          <a:p>
            <a:endParaRPr lang="en-US"/>
          </a:p>
        </p:txBody>
      </p:sp>
      <p:sp>
        <p:nvSpPr>
          <p:cNvPr id="49164" name="Text Box 9"/>
          <p:cNvSpPr txBox="1">
            <a:spLocks noChangeArrowheads="1"/>
          </p:cNvSpPr>
          <p:nvPr/>
        </p:nvSpPr>
        <p:spPr bwMode="auto">
          <a:xfrm>
            <a:off x="527050" y="5057775"/>
            <a:ext cx="1762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1400">
                <a:solidFill>
                  <a:schemeClr val="tx1"/>
                </a:solidFill>
                <a:latin typeface="Arial" pitchFamily="34" charset="0"/>
              </a:rPr>
              <a:t>Update a schedule</a:t>
            </a:r>
          </a:p>
        </p:txBody>
      </p:sp>
      <p:sp>
        <p:nvSpPr>
          <p:cNvPr id="49165" name="Oval 10"/>
          <p:cNvSpPr>
            <a:spLocks noChangeArrowheads="1"/>
          </p:cNvSpPr>
          <p:nvPr/>
        </p:nvSpPr>
        <p:spPr bwMode="auto">
          <a:xfrm>
            <a:off x="527050" y="5667375"/>
            <a:ext cx="1752600" cy="533400"/>
          </a:xfrm>
          <a:prstGeom prst="ellipse">
            <a:avLst/>
          </a:prstGeom>
          <a:solidFill>
            <a:srgbClr val="6699FF"/>
          </a:solidFill>
          <a:ln w="9525">
            <a:solidFill>
              <a:schemeClr val="tx1"/>
            </a:solidFill>
            <a:round/>
            <a:headEnd/>
            <a:tailEnd/>
          </a:ln>
        </p:spPr>
        <p:txBody>
          <a:bodyPr wrap="none" anchor="ctr"/>
          <a:lstStyle/>
          <a:p>
            <a:endParaRPr lang="en-US"/>
          </a:p>
        </p:txBody>
      </p:sp>
      <p:sp>
        <p:nvSpPr>
          <p:cNvPr id="49166" name="Text Box 11"/>
          <p:cNvSpPr txBox="1">
            <a:spLocks noChangeArrowheads="1"/>
          </p:cNvSpPr>
          <p:nvPr/>
        </p:nvSpPr>
        <p:spPr bwMode="auto">
          <a:xfrm>
            <a:off x="574675" y="5781675"/>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r>
              <a:rPr lang="en-US" sz="1400">
                <a:solidFill>
                  <a:schemeClr val="tx1"/>
                </a:solidFill>
                <a:latin typeface="Arial" pitchFamily="34" charset="0"/>
              </a:rPr>
              <a:t>Delete a schedule</a:t>
            </a:r>
          </a:p>
        </p:txBody>
      </p:sp>
      <p:sp>
        <p:nvSpPr>
          <p:cNvPr id="49167" name="Oval 12"/>
          <p:cNvSpPr>
            <a:spLocks noChangeArrowheads="1"/>
          </p:cNvSpPr>
          <p:nvPr/>
        </p:nvSpPr>
        <p:spPr bwMode="auto">
          <a:xfrm>
            <a:off x="3124200" y="4343400"/>
            <a:ext cx="1901825" cy="876300"/>
          </a:xfrm>
          <a:prstGeom prst="ellipse">
            <a:avLst/>
          </a:prstGeom>
          <a:solidFill>
            <a:srgbClr val="6699FF"/>
          </a:solidFill>
          <a:ln w="9525">
            <a:solidFill>
              <a:schemeClr val="tx1"/>
            </a:solidFill>
            <a:round/>
            <a:headEnd/>
            <a:tailEnd/>
          </a:ln>
        </p:spPr>
        <p:txBody>
          <a:bodyPr wrap="none" anchor="ctr"/>
          <a:lstStyle/>
          <a:p>
            <a:pPr algn="ctr"/>
            <a:endParaRPr lang="en-US" sz="2400">
              <a:solidFill>
                <a:schemeClr val="tx1"/>
              </a:solidFill>
            </a:endParaRPr>
          </a:p>
        </p:txBody>
      </p:sp>
      <p:sp>
        <p:nvSpPr>
          <p:cNvPr id="49168" name="Text Box 13"/>
          <p:cNvSpPr txBox="1">
            <a:spLocks noChangeArrowheads="1"/>
          </p:cNvSpPr>
          <p:nvPr/>
        </p:nvSpPr>
        <p:spPr bwMode="auto">
          <a:xfrm>
            <a:off x="3124200" y="4419600"/>
            <a:ext cx="190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r>
              <a:rPr lang="en-US" sz="2000">
                <a:solidFill>
                  <a:schemeClr val="tx1"/>
                </a:solidFill>
                <a:latin typeface="Arial" pitchFamily="34" charset="0"/>
              </a:rPr>
              <a:t>Register for</a:t>
            </a:r>
            <a:r>
              <a:rPr lang="en-US" sz="1400">
                <a:solidFill>
                  <a:schemeClr val="tx1"/>
                </a:solidFill>
                <a:latin typeface="Arial" pitchFamily="34" charset="0"/>
              </a:rPr>
              <a:t> </a:t>
            </a:r>
            <a:br>
              <a:rPr lang="en-US" sz="2000">
                <a:solidFill>
                  <a:schemeClr val="tx1"/>
                </a:solidFill>
                <a:latin typeface="Arial" pitchFamily="34" charset="0"/>
              </a:rPr>
            </a:br>
            <a:r>
              <a:rPr lang="en-US" sz="2000">
                <a:solidFill>
                  <a:schemeClr val="tx1"/>
                </a:solidFill>
                <a:latin typeface="Arial" pitchFamily="34" charset="0"/>
              </a:rPr>
              <a:t>courses</a:t>
            </a:r>
            <a:endParaRPr lang="en-US" sz="1400">
              <a:solidFill>
                <a:schemeClr val="tx1"/>
              </a:solidFill>
              <a:latin typeface="Arial" pitchFamily="34" charset="0"/>
            </a:endParaRPr>
          </a:p>
        </p:txBody>
      </p:sp>
      <p:sp>
        <p:nvSpPr>
          <p:cNvPr id="49169" name="Line 14"/>
          <p:cNvSpPr>
            <a:spLocks noChangeShapeType="1"/>
          </p:cNvSpPr>
          <p:nvPr/>
        </p:nvSpPr>
        <p:spPr bwMode="auto">
          <a:xfrm>
            <a:off x="2374900" y="4791075"/>
            <a:ext cx="66675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0" name="Line 15"/>
          <p:cNvSpPr>
            <a:spLocks noChangeShapeType="1"/>
          </p:cNvSpPr>
          <p:nvPr/>
        </p:nvSpPr>
        <p:spPr bwMode="auto">
          <a:xfrm>
            <a:off x="603250" y="3200400"/>
            <a:ext cx="1676400" cy="3276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1" name="Line 16"/>
          <p:cNvSpPr>
            <a:spLocks noChangeShapeType="1"/>
          </p:cNvSpPr>
          <p:nvPr/>
        </p:nvSpPr>
        <p:spPr bwMode="auto">
          <a:xfrm flipH="1">
            <a:off x="603250" y="3124200"/>
            <a:ext cx="144780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2" name="Text Box 17"/>
          <p:cNvSpPr txBox="1">
            <a:spLocks noChangeArrowheads="1"/>
          </p:cNvSpPr>
          <p:nvPr/>
        </p:nvSpPr>
        <p:spPr bwMode="auto">
          <a:xfrm>
            <a:off x="3330575" y="36226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endParaRPr lang="en-US" sz="2400">
              <a:solidFill>
                <a:schemeClr val="tx1"/>
              </a:solidFill>
            </a:endParaRPr>
          </a:p>
        </p:txBody>
      </p:sp>
      <p:sp>
        <p:nvSpPr>
          <p:cNvPr id="49173" name="Text Box 18"/>
          <p:cNvSpPr txBox="1">
            <a:spLocks noChangeArrowheads="1"/>
          </p:cNvSpPr>
          <p:nvPr/>
        </p:nvSpPr>
        <p:spPr bwMode="auto">
          <a:xfrm>
            <a:off x="5715000" y="4267200"/>
            <a:ext cx="3048000" cy="1168400"/>
          </a:xfrm>
          <a:prstGeom prst="rect">
            <a:avLst/>
          </a:prstGeom>
          <a:solidFill>
            <a:srgbClr val="CCECFF"/>
          </a:solidFill>
          <a:ln w="9525">
            <a:solidFill>
              <a:schemeClr val="tx1"/>
            </a:solidFill>
            <a:miter lim="800000"/>
            <a:headEnd/>
            <a:tailEnd/>
          </a:ln>
        </p:spPr>
        <p:txBody>
          <a:bodyPr>
            <a:spAutoFit/>
          </a:bodyPr>
          <a:lstStyle>
            <a:lvl1pPr marL="228600" indent="-228600"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buFontTx/>
              <a:buChar char="•"/>
            </a:pPr>
            <a:r>
              <a:rPr lang="en-US" sz="2000" b="1">
                <a:solidFill>
                  <a:schemeClr val="tx1"/>
                </a:solidFill>
                <a:latin typeface="Arial" pitchFamily="34" charset="0"/>
              </a:rPr>
              <a:t>Do not confuse use cases with functions</a:t>
            </a:r>
            <a:endParaRPr lang="en-US" sz="2000">
              <a:solidFill>
                <a:schemeClr val="tx1"/>
              </a:solidFill>
              <a:latin typeface="Arial" pitchFamily="34" charset="0"/>
            </a:endParaRPr>
          </a:p>
          <a:p>
            <a:pPr eaLnBrk="1" hangingPunct="1">
              <a:spcBef>
                <a:spcPct val="50000"/>
              </a:spcBef>
              <a:buFontTx/>
              <a:buChar char="•"/>
            </a:pPr>
            <a:r>
              <a:rPr lang="en-US" sz="2000" b="1">
                <a:solidFill>
                  <a:schemeClr val="tx1"/>
                </a:solidFill>
                <a:latin typeface="Arial" pitchFamily="34" charset="0"/>
              </a:rPr>
              <a:t>Focus on value</a:t>
            </a:r>
            <a:r>
              <a:rPr lang="en-US" sz="1800">
                <a:solidFill>
                  <a:schemeClr val="tx1"/>
                </a:solidFill>
                <a:latin typeface="Arial" pitchFamily="34" charset="0"/>
              </a:rPr>
              <a:t>  </a:t>
            </a:r>
          </a:p>
        </p:txBody>
      </p:sp>
      <p:sp>
        <p:nvSpPr>
          <p:cNvPr id="2" name="Slide Number Placeholder 1"/>
          <p:cNvSpPr>
            <a:spLocks noGrp="1"/>
          </p:cNvSpPr>
          <p:nvPr>
            <p:ph type="sldNum" sz="quarter" idx="12"/>
          </p:nvPr>
        </p:nvSpPr>
        <p:spPr/>
        <p:txBody>
          <a:bodyPr/>
          <a:lstStyle/>
          <a:p>
            <a:fld id="{DED05017-923D-480E-B02E-B52739184DCA}" type="slidenum">
              <a:rPr lang="en-US" smtClean="0"/>
              <a:pPr/>
              <a:t>38</a:t>
            </a:fld>
            <a:endParaRPr lang="en-US"/>
          </a:p>
        </p:txBody>
      </p:sp>
    </p:spTree>
    <p:extLst>
      <p:ext uri="{BB962C8B-B14F-4D97-AF65-F5344CB8AC3E}">
        <p14:creationId xmlns:p14="http://schemas.microsoft.com/office/powerpoint/2010/main" val="30837186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pPr eaLnBrk="1" hangingPunct="1">
              <a:defRPr/>
            </a:pPr>
            <a:r>
              <a:rPr lang="en-US" sz="2800" dirty="0"/>
              <a:t>Name the use case</a:t>
            </a:r>
          </a:p>
        </p:txBody>
      </p:sp>
      <p:sp>
        <p:nvSpPr>
          <p:cNvPr id="50182" name="Rectangle 3"/>
          <p:cNvSpPr>
            <a:spLocks noGrp="1" noChangeArrowheads="1"/>
          </p:cNvSpPr>
          <p:nvPr>
            <p:ph type="body" idx="1"/>
          </p:nvPr>
        </p:nvSpPr>
        <p:spPr>
          <a:xfrm>
            <a:off x="184150" y="1300163"/>
            <a:ext cx="6330950" cy="5329237"/>
          </a:xfrm>
        </p:spPr>
        <p:txBody>
          <a:bodyPr/>
          <a:lstStyle/>
          <a:p>
            <a:pPr marL="230188" indent="-230188" eaLnBrk="1" hangingPunct="1">
              <a:lnSpc>
                <a:spcPct val="100000"/>
              </a:lnSpc>
            </a:pPr>
            <a:r>
              <a:rPr lang="en-US" sz="2000" dirty="0"/>
              <a:t>A use case name should:</a:t>
            </a:r>
          </a:p>
          <a:p>
            <a:pPr marL="685800" lvl="1" indent="-341313" eaLnBrk="1" hangingPunct="1">
              <a:lnSpc>
                <a:spcPct val="100000"/>
              </a:lnSpc>
            </a:pPr>
            <a:r>
              <a:rPr lang="en-US" sz="1800" dirty="0"/>
              <a:t>Be unique, intuitive, and self-explanatory</a:t>
            </a:r>
          </a:p>
          <a:p>
            <a:pPr marL="685800" lvl="1" indent="-341313" eaLnBrk="1" hangingPunct="1">
              <a:lnSpc>
                <a:spcPct val="100000"/>
              </a:lnSpc>
            </a:pPr>
            <a:r>
              <a:rPr lang="en-US" sz="1800" dirty="0"/>
              <a:t>Define clearly and unambiguously the observable result of value gained from the use case</a:t>
            </a:r>
          </a:p>
          <a:p>
            <a:pPr marL="685800" lvl="1" indent="-341313" eaLnBrk="1" hangingPunct="1">
              <a:lnSpc>
                <a:spcPct val="100000"/>
              </a:lnSpc>
            </a:pPr>
            <a:r>
              <a:rPr lang="en-US" sz="1800" dirty="0"/>
              <a:t>Be from the perspective of the actor that triggers the use case</a:t>
            </a:r>
          </a:p>
          <a:p>
            <a:pPr marL="685800" lvl="1" indent="-341313" eaLnBrk="1" hangingPunct="1">
              <a:lnSpc>
                <a:spcPct val="100000"/>
              </a:lnSpc>
            </a:pPr>
            <a:r>
              <a:rPr lang="en-US" sz="1800" dirty="0"/>
              <a:t>Describe the behavior that the use case supports</a:t>
            </a:r>
          </a:p>
          <a:p>
            <a:pPr marL="685800" lvl="1" indent="-341313" eaLnBrk="1" hangingPunct="1">
              <a:lnSpc>
                <a:spcPct val="100000"/>
              </a:lnSpc>
            </a:pPr>
            <a:r>
              <a:rPr lang="en-US" sz="1800" dirty="0"/>
              <a:t>Start with a verb and use a simple verb-noun combination</a:t>
            </a:r>
          </a:p>
        </p:txBody>
      </p:sp>
      <p:sp>
        <p:nvSpPr>
          <p:cNvPr id="50183" name="Oval 4"/>
          <p:cNvSpPr>
            <a:spLocks noChangeArrowheads="1"/>
          </p:cNvSpPr>
          <p:nvPr/>
        </p:nvSpPr>
        <p:spPr bwMode="auto">
          <a:xfrm>
            <a:off x="6545263" y="1828800"/>
            <a:ext cx="2217737" cy="985838"/>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endParaRPr lang="en-AU" sz="1000">
              <a:solidFill>
                <a:schemeClr val="bg2"/>
              </a:solidFill>
              <a:latin typeface="Arial" pitchFamily="34" charset="0"/>
            </a:endParaRPr>
          </a:p>
        </p:txBody>
      </p:sp>
      <p:sp>
        <p:nvSpPr>
          <p:cNvPr id="50184" name="Text Box 5"/>
          <p:cNvSpPr txBox="1">
            <a:spLocks noChangeArrowheads="1"/>
          </p:cNvSpPr>
          <p:nvPr/>
        </p:nvSpPr>
        <p:spPr bwMode="auto">
          <a:xfrm>
            <a:off x="6905625" y="1981200"/>
            <a:ext cx="159702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a:solidFill>
                  <a:schemeClr val="tx1"/>
                </a:solidFill>
                <a:latin typeface="Arial" pitchFamily="34" charset="0"/>
              </a:rPr>
              <a:t>Register for </a:t>
            </a:r>
            <a:br>
              <a:rPr lang="en-US" sz="2000">
                <a:solidFill>
                  <a:schemeClr val="tx1"/>
                </a:solidFill>
                <a:latin typeface="Arial" pitchFamily="34" charset="0"/>
              </a:rPr>
            </a:br>
            <a:r>
              <a:rPr lang="en-US" sz="2000">
                <a:solidFill>
                  <a:schemeClr val="tx1"/>
                </a:solidFill>
                <a:latin typeface="Arial" pitchFamily="34" charset="0"/>
              </a:rPr>
              <a:t>courses</a:t>
            </a:r>
          </a:p>
        </p:txBody>
      </p:sp>
      <p:sp>
        <p:nvSpPr>
          <p:cNvPr id="50185" name="Oval 6"/>
          <p:cNvSpPr>
            <a:spLocks noChangeArrowheads="1"/>
          </p:cNvSpPr>
          <p:nvPr/>
        </p:nvSpPr>
        <p:spPr bwMode="auto">
          <a:xfrm>
            <a:off x="6621463" y="3357563"/>
            <a:ext cx="2217737" cy="985837"/>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endParaRPr lang="en-AU" sz="1000">
              <a:solidFill>
                <a:schemeClr val="bg2"/>
              </a:solidFill>
              <a:latin typeface="Arial" pitchFamily="34" charset="0"/>
            </a:endParaRPr>
          </a:p>
        </p:txBody>
      </p:sp>
      <p:sp>
        <p:nvSpPr>
          <p:cNvPr id="50186" name="Text Box 7"/>
          <p:cNvSpPr txBox="1">
            <a:spLocks noChangeArrowheads="1"/>
          </p:cNvSpPr>
          <p:nvPr/>
        </p:nvSpPr>
        <p:spPr bwMode="auto">
          <a:xfrm>
            <a:off x="6742113" y="3433763"/>
            <a:ext cx="19494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a:solidFill>
                  <a:schemeClr val="tx1"/>
                </a:solidFill>
                <a:latin typeface="Arial" pitchFamily="34" charset="0"/>
              </a:rPr>
              <a:t>Select a</a:t>
            </a:r>
            <a:br>
              <a:rPr lang="en-US" sz="2000">
                <a:solidFill>
                  <a:schemeClr val="tx1"/>
                </a:solidFill>
                <a:latin typeface="Arial" pitchFamily="34" charset="0"/>
              </a:rPr>
            </a:br>
            <a:r>
              <a:rPr lang="en-US" sz="2000">
                <a:solidFill>
                  <a:schemeClr val="tx1"/>
                </a:solidFill>
                <a:latin typeface="Arial" pitchFamily="34" charset="0"/>
              </a:rPr>
              <a:t>course to teach</a:t>
            </a:r>
          </a:p>
        </p:txBody>
      </p:sp>
      <p:sp>
        <p:nvSpPr>
          <p:cNvPr id="50187" name="Text Box 8"/>
          <p:cNvSpPr txBox="1">
            <a:spLocks noChangeArrowheads="1"/>
          </p:cNvSpPr>
          <p:nvPr/>
        </p:nvSpPr>
        <p:spPr bwMode="auto">
          <a:xfrm>
            <a:off x="457200" y="5486400"/>
            <a:ext cx="8458200" cy="925513"/>
          </a:xfrm>
          <a:prstGeom prst="rect">
            <a:avLst/>
          </a:prstGeom>
          <a:solidFill>
            <a:srgbClr val="CCECFF"/>
          </a:solidFill>
          <a:ln w="9525">
            <a:solidFill>
              <a:schemeClr val="tx1"/>
            </a:solidFill>
            <a:miter lim="800000"/>
            <a:headEnd/>
            <a:tailEnd/>
          </a:ln>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1800" b="1">
                <a:solidFill>
                  <a:schemeClr val="tx1"/>
                </a:solidFill>
                <a:latin typeface="Arial" pitchFamily="34" charset="0"/>
              </a:rPr>
              <a:t>Guideline:</a:t>
            </a:r>
            <a:r>
              <a:rPr lang="en-US" sz="1800">
                <a:solidFill>
                  <a:schemeClr val="tx1"/>
                </a:solidFill>
                <a:latin typeface="Arial" pitchFamily="34" charset="0"/>
              </a:rPr>
              <a:t> Conduct a survey to learn whether customers, business representatives, analysts, and developers all understand the names and descriptions of the use cases </a:t>
            </a:r>
            <a:endParaRPr lang="en-US" sz="1800">
              <a:solidFill>
                <a:schemeClr val="tx1"/>
              </a:solidFill>
            </a:endParaRPr>
          </a:p>
        </p:txBody>
      </p:sp>
      <p:sp>
        <p:nvSpPr>
          <p:cNvPr id="2" name="Slide Number Placeholder 1"/>
          <p:cNvSpPr>
            <a:spLocks noGrp="1"/>
          </p:cNvSpPr>
          <p:nvPr>
            <p:ph type="sldNum" sz="quarter" idx="12"/>
          </p:nvPr>
        </p:nvSpPr>
        <p:spPr/>
        <p:txBody>
          <a:bodyPr/>
          <a:lstStyle/>
          <a:p>
            <a:fld id="{DED05017-923D-480E-B02E-B52739184DCA}" type="slidenum">
              <a:rPr lang="en-US" smtClean="0"/>
              <a:pPr/>
              <a:t>39</a:t>
            </a:fld>
            <a:endParaRPr lang="en-US"/>
          </a:p>
        </p:txBody>
      </p:sp>
    </p:spTree>
    <p:extLst>
      <p:ext uri="{BB962C8B-B14F-4D97-AF65-F5344CB8AC3E}">
        <p14:creationId xmlns:p14="http://schemas.microsoft.com/office/powerpoint/2010/main" val="151592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Grp="1" noChangeArrowheads="1"/>
          </p:cNvSpPr>
          <p:nvPr>
            <p:ph type="title"/>
          </p:nvPr>
        </p:nvSpPr>
        <p:spPr/>
        <p:txBody>
          <a:bodyPr/>
          <a:lstStyle/>
          <a:p>
            <a:pPr eaLnBrk="1" hangingPunct="1">
              <a:defRPr/>
            </a:pPr>
            <a:r>
              <a:rPr lang="en-US" sz="2800" dirty="0"/>
              <a:t>Describe a use case (text description)</a:t>
            </a:r>
          </a:p>
        </p:txBody>
      </p:sp>
      <p:sp>
        <p:nvSpPr>
          <p:cNvPr id="51206" name="Rectangle 3"/>
          <p:cNvSpPr>
            <a:spLocks noGrp="1" noChangeArrowheads="1"/>
          </p:cNvSpPr>
          <p:nvPr>
            <p:ph type="body" idx="1"/>
          </p:nvPr>
        </p:nvSpPr>
        <p:spPr>
          <a:xfrm>
            <a:off x="287338" y="1260475"/>
            <a:ext cx="8551862" cy="4781550"/>
          </a:xfrm>
        </p:spPr>
        <p:txBody>
          <a:bodyPr/>
          <a:lstStyle/>
          <a:p>
            <a:pPr marL="339725" indent="-339725" eaLnBrk="1" hangingPunct="1">
              <a:lnSpc>
                <a:spcPct val="70000"/>
              </a:lnSpc>
              <a:buFont typeface="Wingdings" pitchFamily="2" charset="2"/>
              <a:buNone/>
            </a:pPr>
            <a:r>
              <a:rPr lang="en-US" sz="2000" dirty="0">
                <a:solidFill>
                  <a:srgbClr val="006699"/>
                </a:solidFill>
              </a:rPr>
              <a:t>Name			Register for Courses</a:t>
            </a:r>
            <a:endParaRPr lang="en-US" sz="2000" dirty="0"/>
          </a:p>
          <a:p>
            <a:pPr marL="339725" indent="-339725" eaLnBrk="1" hangingPunct="1">
              <a:lnSpc>
                <a:spcPct val="70000"/>
              </a:lnSpc>
              <a:buFont typeface="Wingdings" pitchFamily="2" charset="2"/>
              <a:buNone/>
            </a:pPr>
            <a:r>
              <a:rPr lang="en-US" sz="2000" dirty="0"/>
              <a:t>Brief description		The student selects the courses they wish to attend to 				the next semester. A schedule of primary and alternate 			courses is produced.</a:t>
            </a:r>
          </a:p>
          <a:p>
            <a:pPr marL="339725" indent="-339725" eaLnBrk="1" hangingPunct="1">
              <a:lnSpc>
                <a:spcPct val="70000"/>
              </a:lnSpc>
              <a:buFont typeface="Wingdings" pitchFamily="2" charset="2"/>
              <a:buNone/>
            </a:pPr>
            <a:endParaRPr lang="en-US" sz="2000" dirty="0"/>
          </a:p>
          <a:p>
            <a:pPr marL="339725" indent="-339725" eaLnBrk="1" hangingPunct="1">
              <a:lnSpc>
                <a:spcPct val="70000"/>
              </a:lnSpc>
              <a:buFont typeface="Wingdings" pitchFamily="2" charset="2"/>
              <a:buNone/>
            </a:pPr>
            <a:r>
              <a:rPr lang="en-US" sz="2000" dirty="0"/>
              <a:t>Relationships with actors	</a:t>
            </a:r>
          </a:p>
          <a:p>
            <a:pPr marL="339725" indent="-339725" eaLnBrk="1" hangingPunct="1">
              <a:lnSpc>
                <a:spcPct val="70000"/>
              </a:lnSpc>
              <a:buFont typeface="Wingdings" pitchFamily="2" charset="2"/>
              <a:buNone/>
            </a:pPr>
            <a:endParaRPr lang="en-US" sz="2000" dirty="0"/>
          </a:p>
        </p:txBody>
      </p:sp>
      <p:grpSp>
        <p:nvGrpSpPr>
          <p:cNvPr id="51207" name="Group 4"/>
          <p:cNvGrpSpPr>
            <a:grpSpLocks noChangeAspect="1"/>
          </p:cNvGrpSpPr>
          <p:nvPr/>
        </p:nvGrpSpPr>
        <p:grpSpPr bwMode="auto">
          <a:xfrm>
            <a:off x="4395788" y="3657600"/>
            <a:ext cx="482600" cy="692150"/>
            <a:chOff x="7654" y="3380"/>
            <a:chExt cx="554" cy="754"/>
          </a:xfrm>
        </p:grpSpPr>
        <p:sp>
          <p:nvSpPr>
            <p:cNvPr id="51211" name="Oval 5"/>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212" name="Line 6"/>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3" name="Line 7"/>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4" name="Freeform 8"/>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1208" name="Oval 9"/>
          <p:cNvSpPr>
            <a:spLocks noChangeArrowheads="1"/>
          </p:cNvSpPr>
          <p:nvPr/>
        </p:nvSpPr>
        <p:spPr bwMode="auto">
          <a:xfrm>
            <a:off x="5867400" y="3671888"/>
            <a:ext cx="2841625" cy="701675"/>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spcBef>
                <a:spcPts val="1000"/>
              </a:spcBef>
            </a:pPr>
            <a:r>
              <a:rPr lang="en-US" sz="2000">
                <a:solidFill>
                  <a:schemeClr val="tx1"/>
                </a:solidFill>
                <a:latin typeface="Arial" pitchFamily="34" charset="0"/>
              </a:rPr>
              <a:t>Register for courses</a:t>
            </a:r>
          </a:p>
        </p:txBody>
      </p:sp>
      <p:sp>
        <p:nvSpPr>
          <p:cNvPr id="51209" name="Line 10"/>
          <p:cNvSpPr>
            <a:spLocks noChangeShapeType="1"/>
          </p:cNvSpPr>
          <p:nvPr/>
        </p:nvSpPr>
        <p:spPr bwMode="auto">
          <a:xfrm flipV="1">
            <a:off x="4953000" y="4052888"/>
            <a:ext cx="838200"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51210" name="Text Box 11"/>
          <p:cNvSpPr txBox="1">
            <a:spLocks noChangeArrowheads="1"/>
          </p:cNvSpPr>
          <p:nvPr/>
        </p:nvSpPr>
        <p:spPr bwMode="auto">
          <a:xfrm>
            <a:off x="4038600" y="4402138"/>
            <a:ext cx="10906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solidFill>
                  <a:schemeClr val="tx1"/>
                </a:solidFill>
                <a:latin typeface="Arial" pitchFamily="34" charset="0"/>
              </a:rPr>
              <a:t>Student</a:t>
            </a:r>
          </a:p>
        </p:txBody>
      </p:sp>
      <p:sp>
        <p:nvSpPr>
          <p:cNvPr id="2" name="Slide Number Placeholder 1"/>
          <p:cNvSpPr>
            <a:spLocks noGrp="1"/>
          </p:cNvSpPr>
          <p:nvPr>
            <p:ph type="sldNum" sz="quarter" idx="12"/>
          </p:nvPr>
        </p:nvSpPr>
        <p:spPr/>
        <p:txBody>
          <a:bodyPr/>
          <a:lstStyle/>
          <a:p>
            <a:fld id="{DED05017-923D-480E-B02E-B52739184DCA}" type="slidenum">
              <a:rPr lang="en-US" smtClean="0"/>
              <a:pPr/>
              <a:t>40</a:t>
            </a:fld>
            <a:endParaRPr lang="en-US"/>
          </a:p>
        </p:txBody>
      </p:sp>
    </p:spTree>
    <p:extLst>
      <p:ext uri="{BB962C8B-B14F-4D97-AF65-F5344CB8AC3E}">
        <p14:creationId xmlns:p14="http://schemas.microsoft.com/office/powerpoint/2010/main" val="1379333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pPr eaLnBrk="1" hangingPunct="1">
              <a:defRPr/>
            </a:pPr>
            <a:r>
              <a:rPr lang="en-US" sz="2800" dirty="0"/>
              <a:t>Checkpoints for actors</a:t>
            </a:r>
          </a:p>
        </p:txBody>
      </p:sp>
      <p:sp>
        <p:nvSpPr>
          <p:cNvPr id="52230" name="Rectangle 3"/>
          <p:cNvSpPr>
            <a:spLocks noGrp="1" noChangeArrowheads="1"/>
          </p:cNvSpPr>
          <p:nvPr>
            <p:ph type="body" idx="1"/>
          </p:nvPr>
        </p:nvSpPr>
        <p:spPr/>
        <p:txBody>
          <a:bodyPr/>
          <a:lstStyle/>
          <a:p>
            <a:pPr marL="339725" indent="-339725" eaLnBrk="1" fontAlgn="t" hangingPunct="1">
              <a:buFont typeface="Wingdings" pitchFamily="2" charset="2"/>
              <a:buChar char="ü"/>
            </a:pPr>
            <a:r>
              <a:rPr lang="en-US" sz="2000" dirty="0"/>
              <a:t>Have you found all of the actors? </a:t>
            </a:r>
          </a:p>
          <a:p>
            <a:pPr marL="339725" indent="-339725" eaLnBrk="1" fontAlgn="t" hangingPunct="1">
              <a:buFont typeface="Wingdings" pitchFamily="2" charset="2"/>
              <a:buChar char="ü"/>
            </a:pPr>
            <a:r>
              <a:rPr lang="en-US" sz="2000" dirty="0"/>
              <a:t>Have you accounted for and modeled all roles in the system's environment?</a:t>
            </a:r>
          </a:p>
          <a:p>
            <a:pPr marL="339725" indent="-339725" eaLnBrk="1" fontAlgn="t" hangingPunct="1">
              <a:buFont typeface="Wingdings" pitchFamily="2" charset="2"/>
              <a:buChar char="ü"/>
            </a:pPr>
            <a:r>
              <a:rPr lang="en-US" sz="2000" dirty="0"/>
              <a:t> Is each actor involved with at least one use case? </a:t>
            </a:r>
          </a:p>
          <a:p>
            <a:pPr marL="339725" indent="-339725" eaLnBrk="1" fontAlgn="t" hangingPunct="1">
              <a:buFont typeface="Wingdings" pitchFamily="2" charset="2"/>
              <a:buChar char="ü"/>
            </a:pPr>
            <a:r>
              <a:rPr lang="en-US" sz="2000" dirty="0"/>
              <a:t> Do any actors play similar roles in relation to the system? If so, merge them into a single actor.</a:t>
            </a:r>
          </a:p>
        </p:txBody>
      </p:sp>
      <p:sp>
        <p:nvSpPr>
          <p:cNvPr id="2" name="Slide Number Placeholder 1"/>
          <p:cNvSpPr>
            <a:spLocks noGrp="1"/>
          </p:cNvSpPr>
          <p:nvPr>
            <p:ph type="sldNum" sz="quarter" idx="12"/>
          </p:nvPr>
        </p:nvSpPr>
        <p:spPr/>
        <p:txBody>
          <a:bodyPr/>
          <a:lstStyle/>
          <a:p>
            <a:fld id="{DED05017-923D-480E-B02E-B52739184DCA}" type="slidenum">
              <a:rPr lang="en-US" smtClean="0"/>
              <a:pPr/>
              <a:t>41</a:t>
            </a:fld>
            <a:endParaRPr lang="en-US"/>
          </a:p>
        </p:txBody>
      </p:sp>
    </p:spTree>
    <p:custDataLst>
      <p:tags r:id="rId1"/>
    </p:custDataLst>
    <p:extLst>
      <p:ext uri="{BB962C8B-B14F-4D97-AF65-F5344CB8AC3E}">
        <p14:creationId xmlns:p14="http://schemas.microsoft.com/office/powerpoint/2010/main" val="1996702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2"/>
          <p:cNvSpPr>
            <a:spLocks noGrp="1" noChangeArrowheads="1"/>
          </p:cNvSpPr>
          <p:nvPr>
            <p:ph type="title"/>
          </p:nvPr>
        </p:nvSpPr>
        <p:spPr/>
        <p:txBody>
          <a:bodyPr/>
          <a:lstStyle/>
          <a:p>
            <a:pPr eaLnBrk="1" hangingPunct="1">
              <a:defRPr/>
            </a:pPr>
            <a:r>
              <a:rPr lang="en-US" sz="2800" dirty="0"/>
              <a:t>Checkpoints for use cases</a:t>
            </a:r>
          </a:p>
        </p:txBody>
      </p:sp>
      <p:sp>
        <p:nvSpPr>
          <p:cNvPr id="53254" name="Rectangle 3"/>
          <p:cNvSpPr>
            <a:spLocks noGrp="1" noChangeArrowheads="1"/>
          </p:cNvSpPr>
          <p:nvPr>
            <p:ph type="body" idx="1"/>
          </p:nvPr>
        </p:nvSpPr>
        <p:spPr/>
        <p:txBody>
          <a:bodyPr/>
          <a:lstStyle/>
          <a:p>
            <a:pPr marL="339725" indent="-339725" eaLnBrk="1" fontAlgn="t" hangingPunct="1">
              <a:lnSpc>
                <a:spcPct val="100000"/>
              </a:lnSpc>
              <a:buFont typeface="Wingdings" pitchFamily="2" charset="2"/>
              <a:buChar char="ü"/>
            </a:pPr>
            <a:r>
              <a:rPr lang="en-US" sz="2000" dirty="0"/>
              <a:t>The use-case model presents the behavior of the system; it is easy to understand what the system does by reviewing the model. </a:t>
            </a:r>
          </a:p>
          <a:p>
            <a:pPr marL="339725" indent="-339725" eaLnBrk="1" fontAlgn="t" hangingPunct="1">
              <a:lnSpc>
                <a:spcPct val="100000"/>
              </a:lnSpc>
              <a:buFont typeface="Wingdings" pitchFamily="2" charset="2"/>
              <a:buChar char="ü"/>
            </a:pPr>
            <a:r>
              <a:rPr lang="en-US" sz="2000" dirty="0"/>
              <a:t>All use cases have been identified; the use cases collectively account for all required behavior.</a:t>
            </a:r>
          </a:p>
          <a:p>
            <a:pPr marL="339725" indent="-339725" eaLnBrk="1" fontAlgn="t" hangingPunct="1">
              <a:lnSpc>
                <a:spcPct val="100000"/>
              </a:lnSpc>
              <a:buFont typeface="Wingdings" pitchFamily="2" charset="2"/>
              <a:buChar char="ü"/>
            </a:pPr>
            <a:r>
              <a:rPr lang="en-US" sz="2000" dirty="0"/>
              <a:t>The use-case model contains no superfluous behavior; all use cases can be justified by tracing them back to a functional requirement.</a:t>
            </a:r>
          </a:p>
          <a:p>
            <a:pPr marL="339725" indent="-339725" eaLnBrk="1" fontAlgn="t" hangingPunct="1">
              <a:lnSpc>
                <a:spcPct val="100000"/>
              </a:lnSpc>
              <a:buFont typeface="Wingdings" pitchFamily="2" charset="2"/>
              <a:buChar char="ü"/>
            </a:pPr>
            <a:r>
              <a:rPr lang="en-US" sz="2000" dirty="0"/>
              <a:t>All </a:t>
            </a:r>
            <a:r>
              <a:rPr lang="en-US" sz="2000" b="1" dirty="0">
                <a:solidFill>
                  <a:srgbClr val="006699"/>
                </a:solidFill>
              </a:rPr>
              <a:t>CRUD </a:t>
            </a:r>
            <a:r>
              <a:rPr lang="en-US" sz="2000" dirty="0"/>
              <a:t>use cases have been removed.</a:t>
            </a:r>
          </a:p>
          <a:p>
            <a:pPr marL="682625" lvl="1" indent="-228600" eaLnBrk="1" fontAlgn="t" hangingPunct="1">
              <a:lnSpc>
                <a:spcPct val="100000"/>
              </a:lnSpc>
            </a:pPr>
            <a:r>
              <a:rPr lang="en-US" sz="2000" b="1" dirty="0"/>
              <a:t>C</a:t>
            </a:r>
            <a:r>
              <a:rPr lang="en-US" sz="2000" dirty="0"/>
              <a:t>reate, </a:t>
            </a:r>
            <a:r>
              <a:rPr lang="en-US" sz="2000" b="1" dirty="0"/>
              <a:t>R</a:t>
            </a:r>
            <a:r>
              <a:rPr lang="en-US" sz="2000" dirty="0"/>
              <a:t>etrieve, </a:t>
            </a:r>
            <a:r>
              <a:rPr lang="en-US" sz="2000" b="1" dirty="0"/>
              <a:t>U</a:t>
            </a:r>
            <a:r>
              <a:rPr lang="en-US" sz="2000" dirty="0"/>
              <a:t>pdate, </a:t>
            </a:r>
            <a:r>
              <a:rPr lang="en-US" sz="2000" b="1" dirty="0"/>
              <a:t>D</a:t>
            </a:r>
            <a:r>
              <a:rPr lang="en-US" sz="2000" dirty="0"/>
              <a:t>elete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42</a:t>
            </a:fld>
            <a:endParaRPr lang="en-US"/>
          </a:p>
        </p:txBody>
      </p:sp>
    </p:spTree>
    <p:custDataLst>
      <p:tags r:id="rId1"/>
    </p:custDataLst>
    <p:extLst>
      <p:ext uri="{BB962C8B-B14F-4D97-AF65-F5344CB8AC3E}">
        <p14:creationId xmlns:p14="http://schemas.microsoft.com/office/powerpoint/2010/main" val="4833786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title"/>
          </p:nvPr>
        </p:nvSpPr>
        <p:spPr/>
        <p:txBody>
          <a:bodyPr/>
          <a:lstStyle/>
          <a:p>
            <a:pPr eaLnBrk="1" hangingPunct="1">
              <a:defRPr/>
            </a:pPr>
            <a:r>
              <a:rPr lang="en-US" sz="2800" dirty="0"/>
              <a:t>Checkpoints for use cases (cont.)</a:t>
            </a:r>
          </a:p>
        </p:txBody>
      </p:sp>
      <p:sp>
        <p:nvSpPr>
          <p:cNvPr id="54278" name="Rectangle 3"/>
          <p:cNvSpPr>
            <a:spLocks noGrp="1" noChangeArrowheads="1"/>
          </p:cNvSpPr>
          <p:nvPr>
            <p:ph type="body" idx="1"/>
          </p:nvPr>
        </p:nvSpPr>
        <p:spPr/>
        <p:txBody>
          <a:bodyPr/>
          <a:lstStyle/>
          <a:p>
            <a:pPr marL="230188" indent="-230188" eaLnBrk="1" hangingPunct="1">
              <a:lnSpc>
                <a:spcPct val="100000"/>
              </a:lnSpc>
              <a:buFont typeface="Wingdings" pitchFamily="2" charset="2"/>
              <a:buChar char="ü"/>
            </a:pPr>
            <a:r>
              <a:rPr lang="en-US" sz="2000" dirty="0"/>
              <a:t>The use cases have unique, intuitive, and explanatory names so that they cannot be confused at a later stage. If not, change their names. </a:t>
            </a:r>
          </a:p>
          <a:p>
            <a:pPr marL="230188" indent="-230188" eaLnBrk="1" hangingPunct="1">
              <a:lnSpc>
                <a:spcPct val="100000"/>
              </a:lnSpc>
              <a:buFont typeface="Wingdings" pitchFamily="2" charset="2"/>
              <a:buChar char="ü"/>
            </a:pPr>
            <a:r>
              <a:rPr lang="en-US" sz="2000" dirty="0"/>
              <a:t>Customers and users understand the names and descriptions of the use cases.</a:t>
            </a:r>
          </a:p>
          <a:p>
            <a:pPr marL="230188" indent="-230188" eaLnBrk="1" hangingPunct="1">
              <a:lnSpc>
                <a:spcPct val="100000"/>
              </a:lnSpc>
              <a:buFont typeface="Wingdings" pitchFamily="2" charset="2"/>
              <a:buChar char="ü"/>
            </a:pPr>
            <a:r>
              <a:rPr lang="en-US" sz="2000" dirty="0"/>
              <a:t>The brief description gives a true picture of the use case.</a:t>
            </a:r>
          </a:p>
          <a:p>
            <a:pPr marL="230188" indent="-230188" eaLnBrk="1" hangingPunct="1">
              <a:lnSpc>
                <a:spcPct val="100000"/>
              </a:lnSpc>
              <a:buFont typeface="Wingdings" pitchFamily="2" charset="2"/>
              <a:buChar char="ü"/>
            </a:pPr>
            <a:r>
              <a:rPr lang="en-US" sz="2000" dirty="0"/>
              <a:t>Each use case is involved with at least one actor. </a:t>
            </a:r>
          </a:p>
          <a:p>
            <a:pPr marL="230188" indent="-230188" eaLnBrk="1" hangingPunct="1">
              <a:lnSpc>
                <a:spcPct val="100000"/>
              </a:lnSpc>
              <a:buFont typeface="Wingdings" pitchFamily="2" charset="2"/>
              <a:buChar char="ü"/>
            </a:pPr>
            <a:r>
              <a:rPr lang="en-US" sz="2000" dirty="0"/>
              <a:t>No use cases have very similar behaviors or flows of events.</a:t>
            </a:r>
          </a:p>
          <a:p>
            <a:pPr marL="230188" indent="-230188" eaLnBrk="1" hangingPunct="1">
              <a:lnSpc>
                <a:spcPct val="75000"/>
              </a:lnSpc>
            </a:pPr>
            <a:endParaRPr lang="en-US" sz="2000" dirty="0"/>
          </a:p>
        </p:txBody>
      </p:sp>
      <p:sp>
        <p:nvSpPr>
          <p:cNvPr id="2" name="Slide Number Placeholder 1"/>
          <p:cNvSpPr>
            <a:spLocks noGrp="1"/>
          </p:cNvSpPr>
          <p:nvPr>
            <p:ph type="sldNum" sz="quarter" idx="12"/>
          </p:nvPr>
        </p:nvSpPr>
        <p:spPr/>
        <p:txBody>
          <a:bodyPr/>
          <a:lstStyle/>
          <a:p>
            <a:fld id="{DED05017-923D-480E-B02E-B52739184DCA}" type="slidenum">
              <a:rPr lang="en-US" smtClean="0"/>
              <a:pPr/>
              <a:t>43</a:t>
            </a:fld>
            <a:endParaRPr lang="en-US"/>
          </a:p>
        </p:txBody>
      </p:sp>
    </p:spTree>
    <p:extLst>
      <p:ext uri="{BB962C8B-B14F-4D97-AF65-F5344CB8AC3E}">
        <p14:creationId xmlns:p14="http://schemas.microsoft.com/office/powerpoint/2010/main" val="1079010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2"/>
          <p:cNvSpPr>
            <a:spLocks noGrp="1" noChangeArrowheads="1"/>
          </p:cNvSpPr>
          <p:nvPr>
            <p:ph type="title"/>
          </p:nvPr>
        </p:nvSpPr>
        <p:spPr/>
        <p:txBody>
          <a:bodyPr/>
          <a:lstStyle/>
          <a:p>
            <a:pPr eaLnBrk="1" hangingPunct="1">
              <a:defRPr/>
            </a:pPr>
            <a:r>
              <a:rPr lang="en-US" sz="2800" dirty="0"/>
              <a:t>Use-case diagrams: communicates-association</a:t>
            </a:r>
          </a:p>
        </p:txBody>
      </p:sp>
      <p:sp>
        <p:nvSpPr>
          <p:cNvPr id="55299" name="Rectangle 3"/>
          <p:cNvSpPr>
            <a:spLocks noGrp="1" noChangeArrowheads="1"/>
          </p:cNvSpPr>
          <p:nvPr>
            <p:ph type="body" sz="half" idx="2"/>
          </p:nvPr>
        </p:nvSpPr>
        <p:spPr>
          <a:xfrm>
            <a:off x="3132138" y="1314450"/>
            <a:ext cx="5822950" cy="4781550"/>
          </a:xfrm>
        </p:spPr>
        <p:txBody>
          <a:bodyPr/>
          <a:lstStyle/>
          <a:p>
            <a:pPr marL="339725" indent="-339725" eaLnBrk="1" hangingPunct="1">
              <a:lnSpc>
                <a:spcPct val="100000"/>
              </a:lnSpc>
            </a:pPr>
            <a:r>
              <a:rPr lang="en-US" sz="2000"/>
              <a:t>A channel of communication between an actor and a use case</a:t>
            </a:r>
          </a:p>
          <a:p>
            <a:pPr marL="339725" indent="-339725" eaLnBrk="1" hangingPunct="1">
              <a:lnSpc>
                <a:spcPct val="100000"/>
              </a:lnSpc>
            </a:pPr>
            <a:r>
              <a:rPr lang="en-US" sz="2000"/>
              <a:t>A line represents a communicates-association</a:t>
            </a:r>
          </a:p>
        </p:txBody>
      </p:sp>
      <p:sp>
        <p:nvSpPr>
          <p:cNvPr id="55300" name="Freeform 4"/>
          <p:cNvSpPr>
            <a:spLocks/>
          </p:cNvSpPr>
          <p:nvPr/>
        </p:nvSpPr>
        <p:spPr bwMode="auto">
          <a:xfrm>
            <a:off x="960438" y="3411538"/>
            <a:ext cx="998537" cy="403225"/>
          </a:xfrm>
          <a:custGeom>
            <a:avLst/>
            <a:gdLst>
              <a:gd name="T0" fmla="*/ 348 w 629"/>
              <a:gd name="T1" fmla="*/ 2 h 254"/>
              <a:gd name="T2" fmla="*/ 409 w 629"/>
              <a:gd name="T3" fmla="*/ 7 h 254"/>
              <a:gd name="T4" fmla="*/ 464 w 629"/>
              <a:gd name="T5" fmla="*/ 15 h 254"/>
              <a:gd name="T6" fmla="*/ 515 w 629"/>
              <a:gd name="T7" fmla="*/ 30 h 254"/>
              <a:gd name="T8" fmla="*/ 558 w 629"/>
              <a:gd name="T9" fmla="*/ 48 h 254"/>
              <a:gd name="T10" fmla="*/ 591 w 629"/>
              <a:gd name="T11" fmla="*/ 68 h 254"/>
              <a:gd name="T12" fmla="*/ 616 w 629"/>
              <a:gd name="T13" fmla="*/ 91 h 254"/>
              <a:gd name="T14" fmla="*/ 629 w 629"/>
              <a:gd name="T15" fmla="*/ 114 h 254"/>
              <a:gd name="T16" fmla="*/ 629 w 629"/>
              <a:gd name="T17" fmla="*/ 139 h 254"/>
              <a:gd name="T18" fmla="*/ 616 w 629"/>
              <a:gd name="T19" fmla="*/ 165 h 254"/>
              <a:gd name="T20" fmla="*/ 591 w 629"/>
              <a:gd name="T21" fmla="*/ 188 h 254"/>
              <a:gd name="T22" fmla="*/ 558 w 629"/>
              <a:gd name="T23" fmla="*/ 208 h 254"/>
              <a:gd name="T24" fmla="*/ 515 w 629"/>
              <a:gd name="T25" fmla="*/ 226 h 254"/>
              <a:gd name="T26" fmla="*/ 464 w 629"/>
              <a:gd name="T27" fmla="*/ 238 h 254"/>
              <a:gd name="T28" fmla="*/ 409 w 629"/>
              <a:gd name="T29" fmla="*/ 248 h 254"/>
              <a:gd name="T30" fmla="*/ 348 w 629"/>
              <a:gd name="T31" fmla="*/ 254 h 254"/>
              <a:gd name="T32" fmla="*/ 283 w 629"/>
              <a:gd name="T33" fmla="*/ 254 h 254"/>
              <a:gd name="T34" fmla="*/ 222 w 629"/>
              <a:gd name="T35" fmla="*/ 248 h 254"/>
              <a:gd name="T36" fmla="*/ 166 w 629"/>
              <a:gd name="T37" fmla="*/ 238 h 254"/>
              <a:gd name="T38" fmla="*/ 116 w 629"/>
              <a:gd name="T39" fmla="*/ 226 h 254"/>
              <a:gd name="T40" fmla="*/ 73 w 629"/>
              <a:gd name="T41" fmla="*/ 208 h 254"/>
              <a:gd name="T42" fmla="*/ 38 w 629"/>
              <a:gd name="T43" fmla="*/ 188 h 254"/>
              <a:gd name="T44" fmla="*/ 15 w 629"/>
              <a:gd name="T45" fmla="*/ 165 h 254"/>
              <a:gd name="T46" fmla="*/ 2 w 629"/>
              <a:gd name="T47" fmla="*/ 139 h 254"/>
              <a:gd name="T48" fmla="*/ 2 w 629"/>
              <a:gd name="T49" fmla="*/ 114 h 254"/>
              <a:gd name="T50" fmla="*/ 15 w 629"/>
              <a:gd name="T51" fmla="*/ 91 h 254"/>
              <a:gd name="T52" fmla="*/ 38 w 629"/>
              <a:gd name="T53" fmla="*/ 68 h 254"/>
              <a:gd name="T54" fmla="*/ 73 w 629"/>
              <a:gd name="T55" fmla="*/ 48 h 254"/>
              <a:gd name="T56" fmla="*/ 116 w 629"/>
              <a:gd name="T57" fmla="*/ 30 h 254"/>
              <a:gd name="T58" fmla="*/ 166 w 629"/>
              <a:gd name="T59" fmla="*/ 15 h 254"/>
              <a:gd name="T60" fmla="*/ 222 w 629"/>
              <a:gd name="T61" fmla="*/ 7 h 254"/>
              <a:gd name="T62" fmla="*/ 283 w 629"/>
              <a:gd name="T63" fmla="*/ 2 h 2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29"/>
              <a:gd name="T97" fmla="*/ 0 h 254"/>
              <a:gd name="T98" fmla="*/ 629 w 629"/>
              <a:gd name="T99" fmla="*/ 254 h 2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29" h="254">
                <a:moveTo>
                  <a:pt x="315" y="0"/>
                </a:moveTo>
                <a:lnTo>
                  <a:pt x="348" y="2"/>
                </a:lnTo>
                <a:lnTo>
                  <a:pt x="379" y="2"/>
                </a:lnTo>
                <a:lnTo>
                  <a:pt x="409" y="7"/>
                </a:lnTo>
                <a:lnTo>
                  <a:pt x="437" y="10"/>
                </a:lnTo>
                <a:lnTo>
                  <a:pt x="464" y="15"/>
                </a:lnTo>
                <a:lnTo>
                  <a:pt x="490" y="23"/>
                </a:lnTo>
                <a:lnTo>
                  <a:pt x="515" y="30"/>
                </a:lnTo>
                <a:lnTo>
                  <a:pt x="538" y="38"/>
                </a:lnTo>
                <a:lnTo>
                  <a:pt x="558" y="48"/>
                </a:lnTo>
                <a:lnTo>
                  <a:pt x="576" y="56"/>
                </a:lnTo>
                <a:lnTo>
                  <a:pt x="591" y="68"/>
                </a:lnTo>
                <a:lnTo>
                  <a:pt x="606" y="78"/>
                </a:lnTo>
                <a:lnTo>
                  <a:pt x="616" y="91"/>
                </a:lnTo>
                <a:lnTo>
                  <a:pt x="624" y="101"/>
                </a:lnTo>
                <a:lnTo>
                  <a:pt x="629" y="114"/>
                </a:lnTo>
                <a:lnTo>
                  <a:pt x="629" y="127"/>
                </a:lnTo>
                <a:lnTo>
                  <a:pt x="629" y="139"/>
                </a:lnTo>
                <a:lnTo>
                  <a:pt x="624" y="152"/>
                </a:lnTo>
                <a:lnTo>
                  <a:pt x="616" y="165"/>
                </a:lnTo>
                <a:lnTo>
                  <a:pt x="606" y="177"/>
                </a:lnTo>
                <a:lnTo>
                  <a:pt x="591" y="188"/>
                </a:lnTo>
                <a:lnTo>
                  <a:pt x="576" y="198"/>
                </a:lnTo>
                <a:lnTo>
                  <a:pt x="558" y="208"/>
                </a:lnTo>
                <a:lnTo>
                  <a:pt x="538" y="218"/>
                </a:lnTo>
                <a:lnTo>
                  <a:pt x="515" y="226"/>
                </a:lnTo>
                <a:lnTo>
                  <a:pt x="490" y="233"/>
                </a:lnTo>
                <a:lnTo>
                  <a:pt x="464" y="238"/>
                </a:lnTo>
                <a:lnTo>
                  <a:pt x="437" y="243"/>
                </a:lnTo>
                <a:lnTo>
                  <a:pt x="409" y="248"/>
                </a:lnTo>
                <a:lnTo>
                  <a:pt x="379" y="251"/>
                </a:lnTo>
                <a:lnTo>
                  <a:pt x="348" y="254"/>
                </a:lnTo>
                <a:lnTo>
                  <a:pt x="315" y="254"/>
                </a:lnTo>
                <a:lnTo>
                  <a:pt x="283" y="254"/>
                </a:lnTo>
                <a:lnTo>
                  <a:pt x="252" y="251"/>
                </a:lnTo>
                <a:lnTo>
                  <a:pt x="222" y="248"/>
                </a:lnTo>
                <a:lnTo>
                  <a:pt x="192" y="243"/>
                </a:lnTo>
                <a:lnTo>
                  <a:pt x="166" y="238"/>
                </a:lnTo>
                <a:lnTo>
                  <a:pt x="139" y="233"/>
                </a:lnTo>
                <a:lnTo>
                  <a:pt x="116" y="226"/>
                </a:lnTo>
                <a:lnTo>
                  <a:pt x="93" y="218"/>
                </a:lnTo>
                <a:lnTo>
                  <a:pt x="73" y="208"/>
                </a:lnTo>
                <a:lnTo>
                  <a:pt x="55" y="198"/>
                </a:lnTo>
                <a:lnTo>
                  <a:pt x="38" y="188"/>
                </a:lnTo>
                <a:lnTo>
                  <a:pt x="25" y="177"/>
                </a:lnTo>
                <a:lnTo>
                  <a:pt x="15" y="165"/>
                </a:lnTo>
                <a:lnTo>
                  <a:pt x="7" y="152"/>
                </a:lnTo>
                <a:lnTo>
                  <a:pt x="2" y="139"/>
                </a:lnTo>
                <a:lnTo>
                  <a:pt x="0" y="127"/>
                </a:lnTo>
                <a:lnTo>
                  <a:pt x="2" y="114"/>
                </a:lnTo>
                <a:lnTo>
                  <a:pt x="7" y="101"/>
                </a:lnTo>
                <a:lnTo>
                  <a:pt x="15" y="91"/>
                </a:lnTo>
                <a:lnTo>
                  <a:pt x="25" y="78"/>
                </a:lnTo>
                <a:lnTo>
                  <a:pt x="38" y="68"/>
                </a:lnTo>
                <a:lnTo>
                  <a:pt x="55" y="56"/>
                </a:lnTo>
                <a:lnTo>
                  <a:pt x="73" y="48"/>
                </a:lnTo>
                <a:lnTo>
                  <a:pt x="93" y="38"/>
                </a:lnTo>
                <a:lnTo>
                  <a:pt x="116" y="30"/>
                </a:lnTo>
                <a:lnTo>
                  <a:pt x="139" y="23"/>
                </a:lnTo>
                <a:lnTo>
                  <a:pt x="166" y="15"/>
                </a:lnTo>
                <a:lnTo>
                  <a:pt x="192" y="10"/>
                </a:lnTo>
                <a:lnTo>
                  <a:pt x="222" y="7"/>
                </a:lnTo>
                <a:lnTo>
                  <a:pt x="252" y="2"/>
                </a:lnTo>
                <a:lnTo>
                  <a:pt x="283" y="2"/>
                </a:lnTo>
                <a:lnTo>
                  <a:pt x="315"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1" name="Rectangle 5"/>
          <p:cNvSpPr>
            <a:spLocks noChangeArrowheads="1"/>
          </p:cNvSpPr>
          <p:nvPr/>
        </p:nvSpPr>
        <p:spPr bwMode="auto">
          <a:xfrm>
            <a:off x="546100" y="1409700"/>
            <a:ext cx="2527300" cy="47625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55302" name="Rectangle 6"/>
          <p:cNvSpPr>
            <a:spLocks noChangeArrowheads="1"/>
          </p:cNvSpPr>
          <p:nvPr/>
        </p:nvSpPr>
        <p:spPr bwMode="auto">
          <a:xfrm>
            <a:off x="1079500" y="22479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en-US" sz="2000">
                <a:solidFill>
                  <a:schemeClr val="tx1"/>
                </a:solidFill>
                <a:latin typeface="Arial" pitchFamily="34" charset="0"/>
              </a:rPr>
              <a:t>Actor 1</a:t>
            </a:r>
          </a:p>
        </p:txBody>
      </p:sp>
      <p:sp>
        <p:nvSpPr>
          <p:cNvPr id="55303" name="Rectangle 7"/>
          <p:cNvSpPr>
            <a:spLocks noChangeArrowheads="1"/>
          </p:cNvSpPr>
          <p:nvPr/>
        </p:nvSpPr>
        <p:spPr bwMode="auto">
          <a:xfrm>
            <a:off x="350838" y="57023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en-US" sz="2000">
                <a:solidFill>
                  <a:schemeClr val="tx1"/>
                </a:solidFill>
                <a:latin typeface="Arial" pitchFamily="34" charset="0"/>
              </a:rPr>
              <a:t>Actor 2</a:t>
            </a:r>
          </a:p>
        </p:txBody>
      </p:sp>
      <p:sp>
        <p:nvSpPr>
          <p:cNvPr id="55304" name="Rectangle 8"/>
          <p:cNvSpPr>
            <a:spLocks noChangeArrowheads="1"/>
          </p:cNvSpPr>
          <p:nvPr/>
        </p:nvSpPr>
        <p:spPr bwMode="auto">
          <a:xfrm>
            <a:off x="1651000" y="569595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en-US" sz="2000">
                <a:solidFill>
                  <a:schemeClr val="tx1"/>
                </a:solidFill>
                <a:latin typeface="Arial" pitchFamily="34" charset="0"/>
              </a:rPr>
              <a:t>Actor 3</a:t>
            </a:r>
          </a:p>
        </p:txBody>
      </p:sp>
      <p:sp>
        <p:nvSpPr>
          <p:cNvPr id="55305" name="Line 9"/>
          <p:cNvSpPr>
            <a:spLocks noChangeShapeType="1"/>
          </p:cNvSpPr>
          <p:nvPr/>
        </p:nvSpPr>
        <p:spPr bwMode="auto">
          <a:xfrm flipH="1" flipV="1">
            <a:off x="2039938" y="3921125"/>
            <a:ext cx="285750" cy="931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55306" name="Oval 10"/>
          <p:cNvSpPr>
            <a:spLocks noChangeArrowheads="1"/>
          </p:cNvSpPr>
          <p:nvPr/>
        </p:nvSpPr>
        <p:spPr bwMode="auto">
          <a:xfrm>
            <a:off x="936625" y="3252788"/>
            <a:ext cx="1679575" cy="560387"/>
          </a:xfrm>
          <a:prstGeom prst="ellipse">
            <a:avLst/>
          </a:prstGeom>
          <a:solidFill>
            <a:srgbClr val="6699FF"/>
          </a:solidFill>
          <a:ln w="28575">
            <a:solidFill>
              <a:schemeClr val="tx1"/>
            </a:solidFill>
            <a:round/>
            <a:headEnd/>
            <a:tailEnd/>
          </a:ln>
        </p:spPr>
        <p:txBody>
          <a:bodyPr wrap="none" lIns="107950" tIns="53975" rIns="107950" bIns="53975" anchor="ctr"/>
          <a:lstStyle/>
          <a:p>
            <a:pPr algn="ctr" eaLnBrk="0" hangingPunct="0"/>
            <a:r>
              <a:rPr lang="en-US" sz="2000">
                <a:solidFill>
                  <a:schemeClr val="tx1"/>
                </a:solidFill>
                <a:latin typeface="Arial" pitchFamily="34" charset="0"/>
              </a:rPr>
              <a:t>Use Case</a:t>
            </a:r>
          </a:p>
        </p:txBody>
      </p:sp>
      <p:grpSp>
        <p:nvGrpSpPr>
          <p:cNvPr id="55307" name="Group 11"/>
          <p:cNvGrpSpPr>
            <a:grpSpLocks noChangeAspect="1"/>
          </p:cNvGrpSpPr>
          <p:nvPr/>
        </p:nvGrpSpPr>
        <p:grpSpPr bwMode="auto">
          <a:xfrm>
            <a:off x="1482725" y="1517650"/>
            <a:ext cx="584200" cy="738188"/>
            <a:chOff x="7654" y="3380"/>
            <a:chExt cx="554" cy="754"/>
          </a:xfrm>
        </p:grpSpPr>
        <p:sp>
          <p:nvSpPr>
            <p:cNvPr id="55320" name="Oval 12"/>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21" name="Line 13"/>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2" name="Line 14"/>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3" name="Freeform 15"/>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5308" name="Group 16"/>
          <p:cNvGrpSpPr>
            <a:grpSpLocks noChangeAspect="1"/>
          </p:cNvGrpSpPr>
          <p:nvPr/>
        </p:nvGrpSpPr>
        <p:grpSpPr bwMode="auto">
          <a:xfrm>
            <a:off x="809625" y="4997450"/>
            <a:ext cx="584200" cy="738188"/>
            <a:chOff x="7654" y="3380"/>
            <a:chExt cx="554" cy="754"/>
          </a:xfrm>
        </p:grpSpPr>
        <p:sp>
          <p:nvSpPr>
            <p:cNvPr id="55316" name="Oval 17"/>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17" name="Line 18"/>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8" name="Line 19"/>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9" name="Freeform 20"/>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5309" name="Group 21"/>
          <p:cNvGrpSpPr>
            <a:grpSpLocks noChangeAspect="1"/>
          </p:cNvGrpSpPr>
          <p:nvPr/>
        </p:nvGrpSpPr>
        <p:grpSpPr bwMode="auto">
          <a:xfrm>
            <a:off x="2054225" y="4946650"/>
            <a:ext cx="584200" cy="738188"/>
            <a:chOff x="7654" y="3380"/>
            <a:chExt cx="554" cy="754"/>
          </a:xfrm>
        </p:grpSpPr>
        <p:sp>
          <p:nvSpPr>
            <p:cNvPr id="55312" name="Oval 22"/>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13" name="Line 23"/>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4" name="Line 24"/>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5" name="Freeform 25"/>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5310" name="Line 26"/>
          <p:cNvSpPr>
            <a:spLocks noChangeShapeType="1"/>
          </p:cNvSpPr>
          <p:nvPr/>
        </p:nvSpPr>
        <p:spPr bwMode="auto">
          <a:xfrm>
            <a:off x="1752600" y="2628900"/>
            <a:ext cx="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1" name="Line 27"/>
          <p:cNvSpPr>
            <a:spLocks noChangeShapeType="1"/>
          </p:cNvSpPr>
          <p:nvPr/>
        </p:nvSpPr>
        <p:spPr bwMode="auto">
          <a:xfrm flipH="1">
            <a:off x="1143000" y="3924300"/>
            <a:ext cx="228600" cy="914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9E7EBC0B-640B-421E-9F39-768C81E9035E}" type="slidenum">
              <a:rPr lang="en-US" smtClean="0"/>
              <a:pPr>
                <a:defRPr/>
              </a:pPr>
              <a:t>44</a:t>
            </a:fld>
            <a:endParaRPr lang="en-US"/>
          </a:p>
        </p:txBody>
      </p:sp>
    </p:spTree>
    <p:extLst>
      <p:ext uri="{BB962C8B-B14F-4D97-AF65-F5344CB8AC3E}">
        <p14:creationId xmlns:p14="http://schemas.microsoft.com/office/powerpoint/2010/main" val="322602754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a:xfrm>
            <a:off x="1116013" y="104775"/>
            <a:ext cx="8045450" cy="533400"/>
          </a:xfrm>
        </p:spPr>
        <p:txBody>
          <a:bodyPr lIns="0" tIns="0" rIns="0" bIns="0" anchor="b"/>
          <a:lstStyle/>
          <a:p>
            <a:pPr eaLnBrk="1" hangingPunct="1">
              <a:defRPr/>
            </a:pPr>
            <a:r>
              <a:rPr lang="en-US" sz="2800" dirty="0"/>
              <a:t>Each communicates-association is a whole dialog</a:t>
            </a:r>
          </a:p>
        </p:txBody>
      </p:sp>
      <p:sp>
        <p:nvSpPr>
          <p:cNvPr id="4110" name="Rectangle 3"/>
          <p:cNvSpPr>
            <a:spLocks noChangeArrowheads="1"/>
          </p:cNvSpPr>
          <p:nvPr/>
        </p:nvSpPr>
        <p:spPr bwMode="auto">
          <a:xfrm>
            <a:off x="3708400" y="2498725"/>
            <a:ext cx="5364163" cy="1779588"/>
          </a:xfrm>
          <a:prstGeom prst="rect">
            <a:avLst/>
          </a:prstGeom>
          <a:solidFill>
            <a:schemeClr val="folHlink"/>
          </a:solidFill>
          <a:ln w="25400">
            <a:solidFill>
              <a:schemeClr val="tx1"/>
            </a:solidFill>
            <a:miter lim="800000"/>
            <a:headEnd/>
            <a:tailEnd/>
          </a:ln>
        </p:spPr>
        <p:txBody>
          <a:bodyPr wrap="none" anchor="ctr"/>
          <a:lstStyle/>
          <a:p>
            <a:pPr algn="ctr" eaLnBrk="0" hangingPunct="0"/>
            <a:endParaRPr lang="en-US" sz="1200">
              <a:solidFill>
                <a:schemeClr val="tx1"/>
              </a:solidFill>
              <a:latin typeface="ZapfHumnst BT" pitchFamily="34" charset="0"/>
            </a:endParaRPr>
          </a:p>
          <a:p>
            <a:pPr algn="ctr" eaLnBrk="0" hangingPunct="0"/>
            <a:endParaRPr lang="en-US" sz="1200">
              <a:solidFill>
                <a:schemeClr val="tx1"/>
              </a:solidFill>
              <a:latin typeface="ZapfHumnst BT" pitchFamily="34" charset="0"/>
            </a:endParaRPr>
          </a:p>
          <a:p>
            <a:pPr algn="ctr" eaLnBrk="0" hangingPunct="0"/>
            <a:endParaRPr lang="en-US" sz="2000" b="1">
              <a:solidFill>
                <a:schemeClr val="tx1"/>
              </a:solidFill>
              <a:latin typeface="ZapfHumnst BT" pitchFamily="34" charset="0"/>
            </a:endParaRPr>
          </a:p>
        </p:txBody>
      </p:sp>
      <p:grpSp>
        <p:nvGrpSpPr>
          <p:cNvPr id="4111" name="Group 4"/>
          <p:cNvGrpSpPr>
            <a:grpSpLocks/>
          </p:cNvGrpSpPr>
          <p:nvPr/>
        </p:nvGrpSpPr>
        <p:grpSpPr bwMode="auto">
          <a:xfrm>
            <a:off x="4000500" y="2873375"/>
            <a:ext cx="395288" cy="498475"/>
            <a:chOff x="2616" y="1340"/>
            <a:chExt cx="153" cy="242"/>
          </a:xfrm>
        </p:grpSpPr>
        <p:sp>
          <p:nvSpPr>
            <p:cNvPr id="4129" name="Oval 5"/>
            <p:cNvSpPr>
              <a:spLocks noChangeArrowheads="1"/>
            </p:cNvSpPr>
            <p:nvPr/>
          </p:nvSpPr>
          <p:spPr bwMode="auto">
            <a:xfrm>
              <a:off x="2658" y="1340"/>
              <a:ext cx="75" cy="7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30" name="Line 6"/>
            <p:cNvSpPr>
              <a:spLocks noChangeShapeType="1"/>
            </p:cNvSpPr>
            <p:nvPr/>
          </p:nvSpPr>
          <p:spPr bwMode="auto">
            <a:xfrm>
              <a:off x="2697" y="1412"/>
              <a:ext cx="0" cy="97"/>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31" name="Line 7"/>
            <p:cNvSpPr>
              <a:spLocks noChangeShapeType="1"/>
            </p:cNvSpPr>
            <p:nvPr/>
          </p:nvSpPr>
          <p:spPr bwMode="auto">
            <a:xfrm>
              <a:off x="2633" y="1446"/>
              <a:ext cx="127"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32" name="Line 8"/>
            <p:cNvSpPr>
              <a:spLocks noChangeShapeType="1"/>
            </p:cNvSpPr>
            <p:nvPr/>
          </p:nvSpPr>
          <p:spPr bwMode="auto">
            <a:xfrm flipH="1" flipV="1">
              <a:off x="2693" y="1509"/>
              <a:ext cx="76" cy="7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33" name="Line 9"/>
            <p:cNvSpPr>
              <a:spLocks noChangeShapeType="1"/>
            </p:cNvSpPr>
            <p:nvPr/>
          </p:nvSpPr>
          <p:spPr bwMode="auto">
            <a:xfrm flipV="1">
              <a:off x="2616" y="1509"/>
              <a:ext cx="77" cy="7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112" name="Rectangle 10"/>
          <p:cNvSpPr>
            <a:spLocks noChangeArrowheads="1"/>
          </p:cNvSpPr>
          <p:nvPr/>
        </p:nvSpPr>
        <p:spPr bwMode="auto">
          <a:xfrm>
            <a:off x="3754438" y="3381375"/>
            <a:ext cx="9429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7788" tIns="39688" rIns="77788" bIns="39688">
            <a:spAutoFit/>
          </a:bodyPr>
          <a:lstStyle/>
          <a:p>
            <a:pPr defTabSz="661988" eaLnBrk="0" hangingPunct="0"/>
            <a:r>
              <a:rPr lang="en-US" sz="1800">
                <a:solidFill>
                  <a:schemeClr val="tx1"/>
                </a:solidFill>
                <a:latin typeface="Arial" pitchFamily="34" charset="0"/>
              </a:rPr>
              <a:t>Student</a:t>
            </a:r>
          </a:p>
        </p:txBody>
      </p:sp>
      <p:sp>
        <p:nvSpPr>
          <p:cNvPr id="4113" name="Rectangle 11"/>
          <p:cNvSpPr>
            <a:spLocks noChangeArrowheads="1"/>
          </p:cNvSpPr>
          <p:nvPr/>
        </p:nvSpPr>
        <p:spPr bwMode="auto">
          <a:xfrm>
            <a:off x="7708900" y="3319463"/>
            <a:ext cx="1374775"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88" tIns="39688" rIns="77788" bIns="39688">
            <a:spAutoFit/>
          </a:bodyPr>
          <a:lstStyle/>
          <a:p>
            <a:pPr algn="ctr" defTabSz="661988" eaLnBrk="0" hangingPunct="0"/>
            <a:r>
              <a:rPr lang="en-US" sz="1800">
                <a:solidFill>
                  <a:schemeClr val="tx1"/>
                </a:solidFill>
                <a:latin typeface="Arial" pitchFamily="34" charset="0"/>
              </a:rPr>
              <a:t>Course </a:t>
            </a:r>
          </a:p>
          <a:p>
            <a:pPr algn="ctr" defTabSz="661988" eaLnBrk="0" hangingPunct="0"/>
            <a:r>
              <a:rPr lang="en-US" sz="1800">
                <a:solidFill>
                  <a:schemeClr val="tx1"/>
                </a:solidFill>
                <a:latin typeface="Arial" pitchFamily="34" charset="0"/>
              </a:rPr>
              <a:t>Catalog </a:t>
            </a:r>
          </a:p>
          <a:p>
            <a:pPr algn="ctr" defTabSz="661988" eaLnBrk="0" hangingPunct="0"/>
            <a:r>
              <a:rPr lang="en-US" sz="1800">
                <a:solidFill>
                  <a:schemeClr val="tx1"/>
                </a:solidFill>
                <a:latin typeface="Arial" pitchFamily="34" charset="0"/>
              </a:rPr>
              <a:t>System</a:t>
            </a:r>
          </a:p>
        </p:txBody>
      </p:sp>
      <p:sp>
        <p:nvSpPr>
          <p:cNvPr id="4114" name="Arc 12"/>
          <p:cNvSpPr>
            <a:spLocks/>
          </p:cNvSpPr>
          <p:nvPr/>
        </p:nvSpPr>
        <p:spPr bwMode="auto">
          <a:xfrm>
            <a:off x="3371850" y="2120900"/>
            <a:ext cx="1390650" cy="1066800"/>
          </a:xfrm>
          <a:custGeom>
            <a:avLst/>
            <a:gdLst>
              <a:gd name="T0" fmla="*/ 0 w 21527"/>
              <a:gd name="T1" fmla="*/ 0 h 21600"/>
              <a:gd name="T2" fmla="*/ 1390650 w 21527"/>
              <a:gd name="T3" fmla="*/ 965503 h 21600"/>
              <a:gd name="T4" fmla="*/ 1615 w 21527"/>
              <a:gd name="T5" fmla="*/ 1066800 h 21600"/>
              <a:gd name="T6" fmla="*/ 0 60000 65536"/>
              <a:gd name="T7" fmla="*/ 0 60000 65536"/>
              <a:gd name="T8" fmla="*/ 0 60000 65536"/>
              <a:gd name="T9" fmla="*/ 0 w 21527"/>
              <a:gd name="T10" fmla="*/ 0 h 21600"/>
              <a:gd name="T11" fmla="*/ 21527 w 21527"/>
              <a:gd name="T12" fmla="*/ 21600 h 21600"/>
            </a:gdLst>
            <a:ahLst/>
            <a:cxnLst>
              <a:cxn ang="T6">
                <a:pos x="T0" y="T1"/>
              </a:cxn>
              <a:cxn ang="T7">
                <a:pos x="T2" y="T3"/>
              </a:cxn>
              <a:cxn ang="T8">
                <a:pos x="T4" y="T5"/>
              </a:cxn>
            </a:cxnLst>
            <a:rect l="T9" t="T10" r="T11" b="T12"/>
            <a:pathLst>
              <a:path w="21527" h="21600" fill="none" extrusionOk="0">
                <a:moveTo>
                  <a:pt x="0" y="0"/>
                </a:moveTo>
                <a:cubicBezTo>
                  <a:pt x="8" y="0"/>
                  <a:pt x="16" y="-1"/>
                  <a:pt x="25" y="0"/>
                </a:cubicBezTo>
                <a:cubicBezTo>
                  <a:pt x="11159" y="0"/>
                  <a:pt x="20470" y="8464"/>
                  <a:pt x="21527" y="19548"/>
                </a:cubicBezTo>
              </a:path>
              <a:path w="21527" h="21600" stroke="0" extrusionOk="0">
                <a:moveTo>
                  <a:pt x="0" y="0"/>
                </a:moveTo>
                <a:cubicBezTo>
                  <a:pt x="8" y="0"/>
                  <a:pt x="16" y="-1"/>
                  <a:pt x="25" y="0"/>
                </a:cubicBezTo>
                <a:cubicBezTo>
                  <a:pt x="11159" y="0"/>
                  <a:pt x="20470" y="8464"/>
                  <a:pt x="21527" y="19548"/>
                </a:cubicBezTo>
                <a:lnTo>
                  <a:pt x="25" y="21600"/>
                </a:lnTo>
                <a:close/>
              </a:path>
            </a:pathLst>
          </a:custGeom>
          <a:noFill/>
          <a:ln w="57150" cap="rnd">
            <a:solidFill>
              <a:srgbClr val="006699"/>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15" name="Oval 13"/>
          <p:cNvSpPr>
            <a:spLocks noChangeArrowheads="1"/>
          </p:cNvSpPr>
          <p:nvPr/>
        </p:nvSpPr>
        <p:spPr bwMode="auto">
          <a:xfrm>
            <a:off x="5222875" y="3006725"/>
            <a:ext cx="2352675" cy="717550"/>
          </a:xfrm>
          <a:prstGeom prst="ellipse">
            <a:avLst/>
          </a:prstGeom>
          <a:solidFill>
            <a:srgbClr val="6699FF"/>
          </a:solidFill>
          <a:ln w="28575">
            <a:solidFill>
              <a:schemeClr val="tx1"/>
            </a:solidFill>
            <a:round/>
            <a:headEnd/>
            <a:tailEnd/>
          </a:ln>
        </p:spPr>
        <p:txBody>
          <a:bodyPr lIns="107950" tIns="53975" rIns="107950" bIns="53975" anchor="ctr"/>
          <a:lstStyle/>
          <a:p>
            <a:pPr algn="ctr" eaLnBrk="0" hangingPunct="0">
              <a:spcBef>
                <a:spcPts val="1000"/>
              </a:spcBef>
            </a:pPr>
            <a:r>
              <a:rPr lang="en-US" sz="2000">
                <a:solidFill>
                  <a:schemeClr val="tx1"/>
                </a:solidFill>
                <a:latin typeface="Arial" pitchFamily="34" charset="0"/>
              </a:rPr>
              <a:t>Register for Courses</a:t>
            </a:r>
          </a:p>
        </p:txBody>
      </p:sp>
      <p:grpSp>
        <p:nvGrpSpPr>
          <p:cNvPr id="4116" name="Group 14"/>
          <p:cNvGrpSpPr>
            <a:grpSpLocks/>
          </p:cNvGrpSpPr>
          <p:nvPr/>
        </p:nvGrpSpPr>
        <p:grpSpPr bwMode="auto">
          <a:xfrm>
            <a:off x="8178800" y="2759075"/>
            <a:ext cx="395288" cy="498475"/>
            <a:chOff x="2616" y="1340"/>
            <a:chExt cx="153" cy="242"/>
          </a:xfrm>
        </p:grpSpPr>
        <p:sp>
          <p:nvSpPr>
            <p:cNvPr id="4124" name="Oval 15"/>
            <p:cNvSpPr>
              <a:spLocks noChangeArrowheads="1"/>
            </p:cNvSpPr>
            <p:nvPr/>
          </p:nvSpPr>
          <p:spPr bwMode="auto">
            <a:xfrm>
              <a:off x="2658" y="1340"/>
              <a:ext cx="75" cy="7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25" name="Line 16"/>
            <p:cNvSpPr>
              <a:spLocks noChangeShapeType="1"/>
            </p:cNvSpPr>
            <p:nvPr/>
          </p:nvSpPr>
          <p:spPr bwMode="auto">
            <a:xfrm>
              <a:off x="2697" y="1412"/>
              <a:ext cx="0" cy="97"/>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26" name="Line 17"/>
            <p:cNvSpPr>
              <a:spLocks noChangeShapeType="1"/>
            </p:cNvSpPr>
            <p:nvPr/>
          </p:nvSpPr>
          <p:spPr bwMode="auto">
            <a:xfrm>
              <a:off x="2633" y="1446"/>
              <a:ext cx="127"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27" name="Line 18"/>
            <p:cNvSpPr>
              <a:spLocks noChangeShapeType="1"/>
            </p:cNvSpPr>
            <p:nvPr/>
          </p:nvSpPr>
          <p:spPr bwMode="auto">
            <a:xfrm flipH="1" flipV="1">
              <a:off x="2693" y="1509"/>
              <a:ext cx="76" cy="7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28" name="Line 19"/>
            <p:cNvSpPr>
              <a:spLocks noChangeShapeType="1"/>
            </p:cNvSpPr>
            <p:nvPr/>
          </p:nvSpPr>
          <p:spPr bwMode="auto">
            <a:xfrm flipV="1">
              <a:off x="2616" y="1509"/>
              <a:ext cx="77" cy="7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117" name="Arc 20"/>
          <p:cNvSpPr>
            <a:spLocks/>
          </p:cNvSpPr>
          <p:nvPr/>
        </p:nvSpPr>
        <p:spPr bwMode="auto">
          <a:xfrm>
            <a:off x="7758113" y="3422650"/>
            <a:ext cx="798512" cy="1685925"/>
          </a:xfrm>
          <a:custGeom>
            <a:avLst/>
            <a:gdLst>
              <a:gd name="T0" fmla="*/ 709904 w 21583"/>
              <a:gd name="T1" fmla="*/ 1685925 h 21467"/>
              <a:gd name="T2" fmla="*/ 0 w 21583"/>
              <a:gd name="T3" fmla="*/ 67069 h 21467"/>
              <a:gd name="T4" fmla="*/ 798512 w 21583"/>
              <a:gd name="T5" fmla="*/ 0 h 21467"/>
              <a:gd name="T6" fmla="*/ 0 60000 65536"/>
              <a:gd name="T7" fmla="*/ 0 60000 65536"/>
              <a:gd name="T8" fmla="*/ 0 60000 65536"/>
              <a:gd name="T9" fmla="*/ 0 w 21583"/>
              <a:gd name="T10" fmla="*/ 0 h 21467"/>
              <a:gd name="T11" fmla="*/ 21583 w 21583"/>
              <a:gd name="T12" fmla="*/ 21467 h 21467"/>
            </a:gdLst>
            <a:ahLst/>
            <a:cxnLst>
              <a:cxn ang="T6">
                <a:pos x="T0" y="T1"/>
              </a:cxn>
              <a:cxn ang="T7">
                <a:pos x="T2" y="T3"/>
              </a:cxn>
              <a:cxn ang="T8">
                <a:pos x="T4" y="T5"/>
              </a:cxn>
            </a:cxnLst>
            <a:rect l="T9" t="T10" r="T11" b="T12"/>
            <a:pathLst>
              <a:path w="21583" h="21467" fill="none" extrusionOk="0">
                <a:moveTo>
                  <a:pt x="19188" y="21466"/>
                </a:moveTo>
                <a:cubicBezTo>
                  <a:pt x="8576" y="20282"/>
                  <a:pt x="422" y="11523"/>
                  <a:pt x="-1" y="854"/>
                </a:cubicBezTo>
              </a:path>
              <a:path w="21583" h="21467" stroke="0" extrusionOk="0">
                <a:moveTo>
                  <a:pt x="19188" y="21466"/>
                </a:moveTo>
                <a:cubicBezTo>
                  <a:pt x="8576" y="20282"/>
                  <a:pt x="422" y="11523"/>
                  <a:pt x="-1" y="854"/>
                </a:cubicBezTo>
                <a:lnTo>
                  <a:pt x="21583" y="0"/>
                </a:lnTo>
                <a:close/>
              </a:path>
            </a:pathLst>
          </a:custGeom>
          <a:noFill/>
          <a:ln w="57150" cap="rnd">
            <a:solidFill>
              <a:srgbClr val="006699"/>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18" name="Arc 21"/>
          <p:cNvSpPr>
            <a:spLocks/>
          </p:cNvSpPr>
          <p:nvPr/>
        </p:nvSpPr>
        <p:spPr bwMode="auto">
          <a:xfrm rot="10800000">
            <a:off x="3805238" y="3400425"/>
            <a:ext cx="1006475" cy="1579563"/>
          </a:xfrm>
          <a:custGeom>
            <a:avLst/>
            <a:gdLst>
              <a:gd name="T0" fmla="*/ 0 w 21372"/>
              <a:gd name="T1" fmla="*/ 1345982 h 21173"/>
              <a:gd name="T2" fmla="*/ 805246 w 21372"/>
              <a:gd name="T3" fmla="*/ 0 h 21173"/>
              <a:gd name="T4" fmla="*/ 1006475 w 21372"/>
              <a:gd name="T5" fmla="*/ 1579563 h 21173"/>
              <a:gd name="T6" fmla="*/ 0 60000 65536"/>
              <a:gd name="T7" fmla="*/ 0 60000 65536"/>
              <a:gd name="T8" fmla="*/ 0 60000 65536"/>
              <a:gd name="T9" fmla="*/ 0 w 21372"/>
              <a:gd name="T10" fmla="*/ 0 h 21173"/>
              <a:gd name="T11" fmla="*/ 21372 w 21372"/>
              <a:gd name="T12" fmla="*/ 21173 h 21173"/>
            </a:gdLst>
            <a:ahLst/>
            <a:cxnLst>
              <a:cxn ang="T6">
                <a:pos x="T0" y="T1"/>
              </a:cxn>
              <a:cxn ang="T7">
                <a:pos x="T2" y="T3"/>
              </a:cxn>
              <a:cxn ang="T8">
                <a:pos x="T4" y="T5"/>
              </a:cxn>
            </a:cxnLst>
            <a:rect l="T9" t="T10" r="T11" b="T12"/>
            <a:pathLst>
              <a:path w="21372" h="21173" fill="none" extrusionOk="0">
                <a:moveTo>
                  <a:pt x="0" y="18042"/>
                </a:moveTo>
                <a:cubicBezTo>
                  <a:pt x="1321" y="9022"/>
                  <a:pt x="8163" y="1803"/>
                  <a:pt x="17098" y="-1"/>
                </a:cubicBezTo>
              </a:path>
              <a:path w="21372" h="21173" stroke="0" extrusionOk="0">
                <a:moveTo>
                  <a:pt x="0" y="18042"/>
                </a:moveTo>
                <a:cubicBezTo>
                  <a:pt x="1321" y="9022"/>
                  <a:pt x="8163" y="1803"/>
                  <a:pt x="17098" y="-1"/>
                </a:cubicBezTo>
                <a:lnTo>
                  <a:pt x="21372" y="21173"/>
                </a:lnTo>
                <a:close/>
              </a:path>
            </a:pathLst>
          </a:custGeom>
          <a:noFill/>
          <a:ln w="57150" cap="rnd">
            <a:solidFill>
              <a:srgbClr val="006699"/>
            </a:solidFill>
            <a:round/>
            <a:headEnd type="arrow"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19" name="Rectangle 22"/>
          <p:cNvSpPr>
            <a:spLocks noChangeArrowheads="1"/>
          </p:cNvSpPr>
          <p:nvPr/>
        </p:nvSpPr>
        <p:spPr bwMode="auto">
          <a:xfrm>
            <a:off x="228600" y="4992688"/>
            <a:ext cx="4062413" cy="1636712"/>
          </a:xfrm>
          <a:prstGeom prst="rect">
            <a:avLst/>
          </a:prstGeom>
          <a:solidFill>
            <a:srgbClr val="FFCC99"/>
          </a:solidFill>
          <a:ln w="9525">
            <a:solidFill>
              <a:schemeClr val="bg2"/>
            </a:solidFill>
            <a:miter lim="800000"/>
            <a:headEnd/>
            <a:tailEnd/>
          </a:ln>
        </p:spPr>
        <p:txBody>
          <a:bodyPr lIns="92075" tIns="46038" rIns="92075" bIns="46038">
            <a:spAutoFit/>
          </a:bodyPr>
          <a:lstStyle/>
          <a:p>
            <a:pPr algn="ctr" eaLnBrk="0" hangingPunct="0">
              <a:spcBef>
                <a:spcPts val="1000"/>
              </a:spcBef>
            </a:pPr>
            <a:r>
              <a:rPr lang="en-US" sz="1800">
                <a:solidFill>
                  <a:schemeClr val="tx1"/>
                </a:solidFill>
                <a:latin typeface="Arial" pitchFamily="34" charset="0"/>
              </a:rPr>
              <a:t>System displays course list</a:t>
            </a:r>
          </a:p>
          <a:p>
            <a:pPr algn="ctr" eaLnBrk="0" hangingPunct="0">
              <a:spcBef>
                <a:spcPts val="1000"/>
              </a:spcBef>
            </a:pPr>
            <a:r>
              <a:rPr lang="en-US" sz="1800">
                <a:solidFill>
                  <a:schemeClr val="tx1"/>
                </a:solidFill>
                <a:latin typeface="Arial" pitchFamily="34" charset="0"/>
              </a:rPr>
              <a:t>Student selects courses</a:t>
            </a:r>
          </a:p>
          <a:p>
            <a:pPr algn="ctr" eaLnBrk="0" hangingPunct="0">
              <a:spcBef>
                <a:spcPts val="1000"/>
              </a:spcBef>
              <a:spcAft>
                <a:spcPct val="20000"/>
              </a:spcAft>
            </a:pPr>
            <a:r>
              <a:rPr lang="en-US" sz="1800">
                <a:solidFill>
                  <a:schemeClr val="tx1"/>
                </a:solidFill>
                <a:latin typeface="Arial" pitchFamily="34" charset="0"/>
              </a:rPr>
              <a:t>System displays approved schedule</a:t>
            </a:r>
          </a:p>
          <a:p>
            <a:pPr algn="ctr" eaLnBrk="0" hangingPunct="0">
              <a:spcBef>
                <a:spcPts val="1000"/>
              </a:spcBef>
              <a:spcAft>
                <a:spcPct val="20000"/>
              </a:spcAft>
            </a:pPr>
            <a:endParaRPr lang="en-US" sz="1800">
              <a:solidFill>
                <a:schemeClr val="tx1"/>
              </a:solidFill>
              <a:latin typeface="Arial" pitchFamily="34" charset="0"/>
            </a:endParaRPr>
          </a:p>
        </p:txBody>
      </p:sp>
      <p:sp>
        <p:nvSpPr>
          <p:cNvPr id="4120" name="Rectangle 23"/>
          <p:cNvSpPr>
            <a:spLocks noChangeArrowheads="1"/>
          </p:cNvSpPr>
          <p:nvPr/>
        </p:nvSpPr>
        <p:spPr bwMode="auto">
          <a:xfrm>
            <a:off x="190500" y="1393825"/>
            <a:ext cx="3216275" cy="1544638"/>
          </a:xfrm>
          <a:prstGeom prst="rect">
            <a:avLst/>
          </a:prstGeom>
          <a:solidFill>
            <a:srgbClr val="FFCC99"/>
          </a:solidFill>
          <a:ln w="9525">
            <a:solidFill>
              <a:schemeClr val="tx1"/>
            </a:solidFill>
            <a:miter lim="800000"/>
            <a:headEnd/>
            <a:tailEnd/>
          </a:ln>
        </p:spPr>
        <p:txBody>
          <a:bodyPr lIns="92075" tIns="46038" rIns="92075" bIns="137160">
            <a:spAutoFit/>
          </a:bodyPr>
          <a:lstStyle/>
          <a:p>
            <a:pPr algn="ctr" eaLnBrk="0" hangingPunct="0">
              <a:spcBef>
                <a:spcPts val="1000"/>
              </a:spcBef>
            </a:pPr>
            <a:r>
              <a:rPr lang="en-US" sz="1800">
                <a:solidFill>
                  <a:schemeClr val="tx1"/>
                </a:solidFill>
                <a:latin typeface="Arial" pitchFamily="34" charset="0"/>
              </a:rPr>
              <a:t>Student logs on to system</a:t>
            </a:r>
          </a:p>
          <a:p>
            <a:pPr algn="ctr" eaLnBrk="0" hangingPunct="0">
              <a:spcBef>
                <a:spcPts val="1000"/>
              </a:spcBef>
            </a:pPr>
            <a:r>
              <a:rPr lang="en-US" sz="1800">
                <a:solidFill>
                  <a:schemeClr val="tx1"/>
                </a:solidFill>
                <a:latin typeface="Arial" pitchFamily="34" charset="0"/>
              </a:rPr>
              <a:t>System approves logon</a:t>
            </a:r>
          </a:p>
          <a:p>
            <a:pPr algn="ctr" eaLnBrk="0" hangingPunct="0">
              <a:spcBef>
                <a:spcPts val="1000"/>
              </a:spcBef>
            </a:pPr>
            <a:r>
              <a:rPr lang="en-US" sz="1800">
                <a:solidFill>
                  <a:schemeClr val="tx1"/>
                </a:solidFill>
                <a:latin typeface="Arial" pitchFamily="34" charset="0"/>
              </a:rPr>
              <a:t>Student requests course information</a:t>
            </a:r>
          </a:p>
        </p:txBody>
      </p:sp>
      <p:graphicFrame>
        <p:nvGraphicFramePr>
          <p:cNvPr id="4098" name="Object 24"/>
          <p:cNvGraphicFramePr>
            <a:graphicFrameLocks/>
          </p:cNvGraphicFramePr>
          <p:nvPr>
            <p:extLst>
              <p:ext uri="{D42A27DB-BD31-4B8C-83A1-F6EECF244321}">
                <p14:modId xmlns:p14="http://schemas.microsoft.com/office/powerpoint/2010/main" val="176666228"/>
              </p:ext>
            </p:extLst>
          </p:nvPr>
        </p:nvGraphicFramePr>
        <p:xfrm>
          <a:off x="1292225" y="1708150"/>
          <a:ext cx="793750" cy="107950"/>
        </p:xfrm>
        <a:graphic>
          <a:graphicData uri="http://schemas.openxmlformats.org/presentationml/2006/ole">
            <mc:AlternateContent xmlns:mc="http://schemas.openxmlformats.org/markup-compatibility/2006">
              <mc:Choice xmlns:v="urn:schemas-microsoft-com:vml" Requires="v">
                <p:oleObj spid="_x0000_s12458" name="CorelDRAW 6.0" r:id="rId4" imgW="803160" imgH="118800" progId="CorelDRAW.Graphic.6">
                  <p:embed/>
                </p:oleObj>
              </mc:Choice>
              <mc:Fallback>
                <p:oleObj name="CorelDRAW 6.0" r:id="rId4" imgW="803160" imgH="11880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2225" y="1708150"/>
                        <a:ext cx="793750" cy="10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 name="Object 25"/>
          <p:cNvGraphicFramePr>
            <a:graphicFrameLocks/>
          </p:cNvGraphicFramePr>
          <p:nvPr>
            <p:extLst>
              <p:ext uri="{D42A27DB-BD31-4B8C-83A1-F6EECF244321}">
                <p14:modId xmlns:p14="http://schemas.microsoft.com/office/powerpoint/2010/main" val="830226692"/>
              </p:ext>
            </p:extLst>
          </p:nvPr>
        </p:nvGraphicFramePr>
        <p:xfrm>
          <a:off x="1770063" y="5329238"/>
          <a:ext cx="793750" cy="109537"/>
        </p:xfrm>
        <a:graphic>
          <a:graphicData uri="http://schemas.openxmlformats.org/presentationml/2006/ole">
            <mc:AlternateContent xmlns:mc="http://schemas.openxmlformats.org/markup-compatibility/2006">
              <mc:Choice xmlns:v="urn:schemas-microsoft-com:vml" Requires="v">
                <p:oleObj spid="_x0000_s12459" name="CorelDRAW 6.0" r:id="rId6" imgW="803160" imgH="118800" progId="CorelDRAW.Graphic.6">
                  <p:embed/>
                </p:oleObj>
              </mc:Choice>
              <mc:Fallback>
                <p:oleObj name="CorelDRAW 6.0" r:id="rId6" imgW="803160" imgH="118800" progId="CorelDRAW.Graphic.6">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0063" y="5329238"/>
                        <a:ext cx="7937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26"/>
          <p:cNvGraphicFramePr>
            <a:graphicFrameLocks/>
          </p:cNvGraphicFramePr>
          <p:nvPr>
            <p:extLst>
              <p:ext uri="{D42A27DB-BD31-4B8C-83A1-F6EECF244321}">
                <p14:modId xmlns:p14="http://schemas.microsoft.com/office/powerpoint/2010/main" val="3814636342"/>
              </p:ext>
            </p:extLst>
          </p:nvPr>
        </p:nvGraphicFramePr>
        <p:xfrm>
          <a:off x="1219200" y="2790825"/>
          <a:ext cx="793750" cy="107950"/>
        </p:xfrm>
        <a:graphic>
          <a:graphicData uri="http://schemas.openxmlformats.org/presentationml/2006/ole">
            <mc:AlternateContent xmlns:mc="http://schemas.openxmlformats.org/markup-compatibility/2006">
              <mc:Choice xmlns:v="urn:schemas-microsoft-com:vml" Requires="v">
                <p:oleObj spid="_x0000_s12460" name="CorelDRAW 6.0" r:id="rId8" imgW="803160" imgH="118800" progId="CorelDRAW.Graphic.6">
                  <p:embed/>
                </p:oleObj>
              </mc:Choice>
              <mc:Fallback>
                <p:oleObj name="CorelDRAW 6.0" r:id="rId8" imgW="803160" imgH="11880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2790825"/>
                        <a:ext cx="793750" cy="10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1" name="Object 27"/>
          <p:cNvGraphicFramePr>
            <a:graphicFrameLocks/>
          </p:cNvGraphicFramePr>
          <p:nvPr>
            <p:extLst>
              <p:ext uri="{D42A27DB-BD31-4B8C-83A1-F6EECF244321}">
                <p14:modId xmlns:p14="http://schemas.microsoft.com/office/powerpoint/2010/main" val="2364549397"/>
              </p:ext>
            </p:extLst>
          </p:nvPr>
        </p:nvGraphicFramePr>
        <p:xfrm>
          <a:off x="1241425" y="2112963"/>
          <a:ext cx="793750" cy="109537"/>
        </p:xfrm>
        <a:graphic>
          <a:graphicData uri="http://schemas.openxmlformats.org/presentationml/2006/ole">
            <mc:AlternateContent xmlns:mc="http://schemas.openxmlformats.org/markup-compatibility/2006">
              <mc:Choice xmlns:v="urn:schemas-microsoft-com:vml" Requires="v">
                <p:oleObj spid="_x0000_s12461" name="CorelDRAW 6.0" r:id="rId9" imgW="803160" imgH="118800" progId="CorelDRAW.Graphic.6">
                  <p:embed/>
                </p:oleObj>
              </mc:Choice>
              <mc:Fallback>
                <p:oleObj name="CorelDRAW 6.0" r:id="rId9" imgW="803160" imgH="118800" progId="CorelDRAW.Graphic.6">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1425" y="2112963"/>
                        <a:ext cx="7937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2" name="Object 28"/>
          <p:cNvGraphicFramePr>
            <a:graphicFrameLocks/>
          </p:cNvGraphicFramePr>
          <p:nvPr>
            <p:extLst>
              <p:ext uri="{D42A27DB-BD31-4B8C-83A1-F6EECF244321}">
                <p14:modId xmlns:p14="http://schemas.microsoft.com/office/powerpoint/2010/main" val="3314074828"/>
              </p:ext>
            </p:extLst>
          </p:nvPr>
        </p:nvGraphicFramePr>
        <p:xfrm>
          <a:off x="1744663" y="5719763"/>
          <a:ext cx="793750" cy="107950"/>
        </p:xfrm>
        <a:graphic>
          <a:graphicData uri="http://schemas.openxmlformats.org/presentationml/2006/ole">
            <mc:AlternateContent xmlns:mc="http://schemas.openxmlformats.org/markup-compatibility/2006">
              <mc:Choice xmlns:v="urn:schemas-microsoft-com:vml" Requires="v">
                <p:oleObj spid="_x0000_s12462" name="CorelDRAW 6.0" r:id="rId10" imgW="803160" imgH="118800" progId="CorelDRAW.Graphic.6">
                  <p:embed/>
                </p:oleObj>
              </mc:Choice>
              <mc:Fallback>
                <p:oleObj name="CorelDRAW 6.0" r:id="rId10" imgW="803160" imgH="11880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4663" y="5719763"/>
                        <a:ext cx="793750" cy="10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21" name="Rectangle 29"/>
          <p:cNvSpPr>
            <a:spLocks noChangeArrowheads="1"/>
          </p:cNvSpPr>
          <p:nvPr/>
        </p:nvSpPr>
        <p:spPr bwMode="auto">
          <a:xfrm>
            <a:off x="5003800" y="4943475"/>
            <a:ext cx="3849688" cy="1089025"/>
          </a:xfrm>
          <a:prstGeom prst="rect">
            <a:avLst/>
          </a:prstGeom>
          <a:solidFill>
            <a:srgbClr val="FFCC99"/>
          </a:solidFill>
          <a:ln w="9525">
            <a:solidFill>
              <a:schemeClr val="tx1"/>
            </a:solidFill>
            <a:miter lim="800000"/>
            <a:headEnd/>
            <a:tailEnd/>
          </a:ln>
        </p:spPr>
        <p:txBody>
          <a:bodyPr lIns="92075" tIns="46038" rIns="92075" bIns="137160">
            <a:spAutoFit/>
          </a:bodyPr>
          <a:lstStyle/>
          <a:p>
            <a:pPr algn="ctr" eaLnBrk="0" hangingPunct="0">
              <a:spcBef>
                <a:spcPts val="1000"/>
              </a:spcBef>
            </a:pPr>
            <a:r>
              <a:rPr lang="en-US" sz="1800">
                <a:solidFill>
                  <a:schemeClr val="tx1"/>
                </a:solidFill>
                <a:latin typeface="Arial" pitchFamily="34" charset="0"/>
              </a:rPr>
              <a:t>System transmits request</a:t>
            </a:r>
          </a:p>
          <a:p>
            <a:pPr algn="ctr" eaLnBrk="0" hangingPunct="0">
              <a:lnSpc>
                <a:spcPct val="90000"/>
              </a:lnSpc>
              <a:spcBef>
                <a:spcPts val="1000"/>
              </a:spcBef>
            </a:pPr>
            <a:r>
              <a:rPr lang="en-US" sz="1800">
                <a:solidFill>
                  <a:schemeClr val="tx1"/>
                </a:solidFill>
                <a:latin typeface="Arial" pitchFamily="34" charset="0"/>
              </a:rPr>
              <a:t>Course Catalog returns course information</a:t>
            </a:r>
            <a:r>
              <a:rPr lang="en-US" sz="1800">
                <a:solidFill>
                  <a:schemeClr val="bg2"/>
                </a:solidFill>
                <a:latin typeface="Arial" pitchFamily="34" charset="0"/>
              </a:rPr>
              <a:t>          </a:t>
            </a:r>
          </a:p>
        </p:txBody>
      </p:sp>
      <p:graphicFrame>
        <p:nvGraphicFramePr>
          <p:cNvPr id="4103" name="Object 30"/>
          <p:cNvGraphicFramePr>
            <a:graphicFrameLocks/>
          </p:cNvGraphicFramePr>
          <p:nvPr>
            <p:extLst>
              <p:ext uri="{D42A27DB-BD31-4B8C-83A1-F6EECF244321}">
                <p14:modId xmlns:p14="http://schemas.microsoft.com/office/powerpoint/2010/main" val="1709000940"/>
              </p:ext>
            </p:extLst>
          </p:nvPr>
        </p:nvGraphicFramePr>
        <p:xfrm>
          <a:off x="6538913" y="5241925"/>
          <a:ext cx="817562" cy="115888"/>
        </p:xfrm>
        <a:graphic>
          <a:graphicData uri="http://schemas.openxmlformats.org/presentationml/2006/ole">
            <mc:AlternateContent xmlns:mc="http://schemas.openxmlformats.org/markup-compatibility/2006">
              <mc:Choice xmlns:v="urn:schemas-microsoft-com:vml" Requires="v">
                <p:oleObj spid="_x0000_s12463" name="CorelDRAW 6.0" r:id="rId11" imgW="803160" imgH="118800" progId="CorelDRAW.Graphic.6">
                  <p:embed/>
                </p:oleObj>
              </mc:Choice>
              <mc:Fallback>
                <p:oleObj name="CorelDRAW 6.0" r:id="rId11" imgW="803160" imgH="118800" progId="CorelDRAW.Graphic.6">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8913" y="5241925"/>
                        <a:ext cx="817562" cy="11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4" name="Object 31"/>
          <p:cNvGraphicFramePr>
            <a:graphicFrameLocks/>
          </p:cNvGraphicFramePr>
          <p:nvPr>
            <p:extLst>
              <p:ext uri="{D42A27DB-BD31-4B8C-83A1-F6EECF244321}">
                <p14:modId xmlns:p14="http://schemas.microsoft.com/office/powerpoint/2010/main" val="3159704417"/>
              </p:ext>
            </p:extLst>
          </p:nvPr>
        </p:nvGraphicFramePr>
        <p:xfrm>
          <a:off x="6610350" y="5881688"/>
          <a:ext cx="793750" cy="109537"/>
        </p:xfrm>
        <a:graphic>
          <a:graphicData uri="http://schemas.openxmlformats.org/presentationml/2006/ole">
            <mc:AlternateContent xmlns:mc="http://schemas.openxmlformats.org/markup-compatibility/2006">
              <mc:Choice xmlns:v="urn:schemas-microsoft-com:vml" Requires="v">
                <p:oleObj spid="_x0000_s12464" name="CorelDRAW 6.0" r:id="rId12" imgW="803160" imgH="118800" progId="CorelDRAW.Graphic.6">
                  <p:embed/>
                </p:oleObj>
              </mc:Choice>
              <mc:Fallback>
                <p:oleObj name="CorelDRAW 6.0" r:id="rId12" imgW="803160" imgH="118800" progId="CorelDRAW.Graphic.6">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10350" y="5881688"/>
                        <a:ext cx="7937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5" name="Object 32"/>
          <p:cNvGraphicFramePr>
            <a:graphicFrameLocks/>
          </p:cNvGraphicFramePr>
          <p:nvPr>
            <p:extLst>
              <p:ext uri="{D42A27DB-BD31-4B8C-83A1-F6EECF244321}">
                <p14:modId xmlns:p14="http://schemas.microsoft.com/office/powerpoint/2010/main" val="2516797023"/>
              </p:ext>
            </p:extLst>
          </p:nvPr>
        </p:nvGraphicFramePr>
        <p:xfrm>
          <a:off x="1692275" y="6176963"/>
          <a:ext cx="793750" cy="109537"/>
        </p:xfrm>
        <a:graphic>
          <a:graphicData uri="http://schemas.openxmlformats.org/presentationml/2006/ole">
            <mc:AlternateContent xmlns:mc="http://schemas.openxmlformats.org/markup-compatibility/2006">
              <mc:Choice xmlns:v="urn:schemas-microsoft-com:vml" Requires="v">
                <p:oleObj spid="_x0000_s12465" name="CorelDRAW 6.0" r:id="rId13" imgW="803160" imgH="118800" progId="CorelDRAW.Graphic.6">
                  <p:embed/>
                </p:oleObj>
              </mc:Choice>
              <mc:Fallback>
                <p:oleObj name="CorelDRAW 6.0" r:id="rId13" imgW="803160" imgH="118800" progId="CorelDRAW.Graphic.6">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6176963"/>
                        <a:ext cx="7937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22" name="Line 33"/>
          <p:cNvSpPr>
            <a:spLocks noChangeShapeType="1"/>
          </p:cNvSpPr>
          <p:nvPr/>
        </p:nvSpPr>
        <p:spPr bwMode="auto">
          <a:xfrm>
            <a:off x="4495800" y="3248025"/>
            <a:ext cx="6096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23" name="Line 34"/>
          <p:cNvSpPr>
            <a:spLocks noChangeShapeType="1"/>
          </p:cNvSpPr>
          <p:nvPr/>
        </p:nvSpPr>
        <p:spPr bwMode="auto">
          <a:xfrm flipV="1">
            <a:off x="7620000" y="3095625"/>
            <a:ext cx="5334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fld id="{27392B6C-813E-42DE-A59C-034281A964AB}" type="slidenum">
              <a:rPr lang="en-US" smtClean="0"/>
              <a:pPr/>
              <a:t>45</a:t>
            </a:fld>
            <a:endParaRPr lang="en-US"/>
          </a:p>
        </p:txBody>
      </p:sp>
    </p:spTree>
    <p:extLst>
      <p:ext uri="{BB962C8B-B14F-4D97-AF65-F5344CB8AC3E}">
        <p14:creationId xmlns:p14="http://schemas.microsoft.com/office/powerpoint/2010/main" val="26652884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ChangeArrowheads="1"/>
          </p:cNvSpPr>
          <p:nvPr/>
        </p:nvSpPr>
        <p:spPr bwMode="auto">
          <a:xfrm>
            <a:off x="1562100" y="1066800"/>
            <a:ext cx="5410200" cy="5791200"/>
          </a:xfrm>
          <a:prstGeom prst="rect">
            <a:avLst/>
          </a:prstGeom>
          <a:solidFill>
            <a:srgbClr val="CCCCCC"/>
          </a:solidFill>
          <a:ln w="9525">
            <a:solidFill>
              <a:schemeClr val="tx1"/>
            </a:solidFill>
            <a:miter lim="800000"/>
            <a:headEnd/>
            <a:tailEnd/>
          </a:ln>
        </p:spPr>
        <p:txBody>
          <a:bodyPr wrap="none" anchor="ctr"/>
          <a:lstStyle/>
          <a:p>
            <a:endParaRPr lang="en-US"/>
          </a:p>
        </p:txBody>
      </p:sp>
      <p:sp>
        <p:nvSpPr>
          <p:cNvPr id="643076" name="Rectangle 4"/>
          <p:cNvSpPr>
            <a:spLocks noGrp="1" noChangeArrowheads="1"/>
          </p:cNvSpPr>
          <p:nvPr>
            <p:ph type="title"/>
          </p:nvPr>
        </p:nvSpPr>
        <p:spPr/>
        <p:txBody>
          <a:bodyPr/>
          <a:lstStyle/>
          <a:p>
            <a:pPr eaLnBrk="1" hangingPunct="1">
              <a:defRPr/>
            </a:pPr>
            <a:r>
              <a:rPr lang="en-US" sz="2800" dirty="0"/>
              <a:t>Use-case diagram example</a:t>
            </a:r>
          </a:p>
        </p:txBody>
      </p:sp>
      <p:sp>
        <p:nvSpPr>
          <p:cNvPr id="56327" name="Line 5"/>
          <p:cNvSpPr>
            <a:spLocks noChangeShapeType="1"/>
          </p:cNvSpPr>
          <p:nvPr/>
        </p:nvSpPr>
        <p:spPr bwMode="auto">
          <a:xfrm flipV="1">
            <a:off x="1193800" y="1714500"/>
            <a:ext cx="939800" cy="774700"/>
          </a:xfrm>
          <a:prstGeom prst="line">
            <a:avLst/>
          </a:prstGeom>
          <a:noFill/>
          <a:ln w="2857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56328" name="Line 9"/>
          <p:cNvSpPr>
            <a:spLocks noChangeShapeType="1"/>
          </p:cNvSpPr>
          <p:nvPr/>
        </p:nvSpPr>
        <p:spPr bwMode="auto">
          <a:xfrm>
            <a:off x="4572000" y="1409700"/>
            <a:ext cx="3276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29" name="Line 10"/>
          <p:cNvSpPr>
            <a:spLocks noChangeShapeType="1"/>
          </p:cNvSpPr>
          <p:nvPr/>
        </p:nvSpPr>
        <p:spPr bwMode="auto">
          <a:xfrm flipH="1" flipV="1">
            <a:off x="971550" y="4710113"/>
            <a:ext cx="1728788" cy="285750"/>
          </a:xfrm>
          <a:prstGeom prst="line">
            <a:avLst/>
          </a:prstGeom>
          <a:noFill/>
          <a:ln w="2857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0" name="Line 11"/>
          <p:cNvSpPr>
            <a:spLocks noChangeShapeType="1"/>
          </p:cNvSpPr>
          <p:nvPr/>
        </p:nvSpPr>
        <p:spPr bwMode="auto">
          <a:xfrm flipH="1" flipV="1">
            <a:off x="971550" y="4757738"/>
            <a:ext cx="1800225" cy="1174750"/>
          </a:xfrm>
          <a:prstGeom prst="line">
            <a:avLst/>
          </a:prstGeom>
          <a:noFill/>
          <a:ln w="2857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1" name="Rectangle 13"/>
          <p:cNvSpPr>
            <a:spLocks noChangeArrowheads="1"/>
          </p:cNvSpPr>
          <p:nvPr/>
        </p:nvSpPr>
        <p:spPr bwMode="auto">
          <a:xfrm>
            <a:off x="250825" y="5140325"/>
            <a:ext cx="1162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2075" tIns="46038" rIns="92075" bIns="46038">
            <a:spAutoFit/>
          </a:bodyPr>
          <a:lstStyle/>
          <a:p>
            <a:pPr algn="ctr" eaLnBrk="0" hangingPunct="0"/>
            <a:r>
              <a:rPr lang="en-US" sz="1800">
                <a:solidFill>
                  <a:schemeClr val="tx1"/>
                </a:solidFill>
                <a:latin typeface="Arial" pitchFamily="34" charset="0"/>
              </a:rPr>
              <a:t>Professor</a:t>
            </a:r>
          </a:p>
        </p:txBody>
      </p:sp>
      <p:sp>
        <p:nvSpPr>
          <p:cNvPr id="56332" name="Rectangle 14"/>
          <p:cNvSpPr>
            <a:spLocks noChangeArrowheads="1"/>
          </p:cNvSpPr>
          <p:nvPr/>
        </p:nvSpPr>
        <p:spPr bwMode="auto">
          <a:xfrm>
            <a:off x="228600" y="25908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2075" tIns="46038" rIns="92075" bIns="46038">
            <a:spAutoFit/>
          </a:bodyPr>
          <a:lstStyle/>
          <a:p>
            <a:pPr algn="ctr" eaLnBrk="0" hangingPunct="0"/>
            <a:r>
              <a:rPr lang="en-US" sz="1800">
                <a:solidFill>
                  <a:schemeClr val="tx1"/>
                </a:solidFill>
                <a:latin typeface="Arial" pitchFamily="34" charset="0"/>
              </a:rPr>
              <a:t>Student</a:t>
            </a:r>
          </a:p>
        </p:txBody>
      </p:sp>
      <p:sp>
        <p:nvSpPr>
          <p:cNvPr id="56333" name="Freeform 17"/>
          <p:cNvSpPr>
            <a:spLocks/>
          </p:cNvSpPr>
          <p:nvPr/>
        </p:nvSpPr>
        <p:spPr bwMode="auto">
          <a:xfrm>
            <a:off x="1990725" y="1209675"/>
            <a:ext cx="2646363" cy="581025"/>
          </a:xfrm>
          <a:custGeom>
            <a:avLst/>
            <a:gdLst>
              <a:gd name="T0" fmla="*/ 574 w 1043"/>
              <a:gd name="T1" fmla="*/ 0 h 366"/>
              <a:gd name="T2" fmla="*/ 649 w 1043"/>
              <a:gd name="T3" fmla="*/ 7 h 366"/>
              <a:gd name="T4" fmla="*/ 725 w 1043"/>
              <a:gd name="T5" fmla="*/ 14 h 366"/>
              <a:gd name="T6" fmla="*/ 792 w 1043"/>
              <a:gd name="T7" fmla="*/ 25 h 366"/>
              <a:gd name="T8" fmla="*/ 851 w 1043"/>
              <a:gd name="T9" fmla="*/ 43 h 366"/>
              <a:gd name="T10" fmla="*/ 905 w 1043"/>
              <a:gd name="T11" fmla="*/ 62 h 366"/>
              <a:gd name="T12" fmla="*/ 951 w 1043"/>
              <a:gd name="T13" fmla="*/ 80 h 366"/>
              <a:gd name="T14" fmla="*/ 989 w 1043"/>
              <a:gd name="T15" fmla="*/ 105 h 366"/>
              <a:gd name="T16" fmla="*/ 1018 w 1043"/>
              <a:gd name="T17" fmla="*/ 127 h 366"/>
              <a:gd name="T18" fmla="*/ 1035 w 1043"/>
              <a:gd name="T19" fmla="*/ 156 h 366"/>
              <a:gd name="T20" fmla="*/ 1043 w 1043"/>
              <a:gd name="T21" fmla="*/ 181 h 366"/>
              <a:gd name="T22" fmla="*/ 1035 w 1043"/>
              <a:gd name="T23" fmla="*/ 210 h 366"/>
              <a:gd name="T24" fmla="*/ 1018 w 1043"/>
              <a:gd name="T25" fmla="*/ 236 h 366"/>
              <a:gd name="T26" fmla="*/ 989 w 1043"/>
              <a:gd name="T27" fmla="*/ 261 h 366"/>
              <a:gd name="T28" fmla="*/ 951 w 1043"/>
              <a:gd name="T29" fmla="*/ 283 h 366"/>
              <a:gd name="T30" fmla="*/ 905 w 1043"/>
              <a:gd name="T31" fmla="*/ 305 h 366"/>
              <a:gd name="T32" fmla="*/ 851 w 1043"/>
              <a:gd name="T33" fmla="*/ 323 h 366"/>
              <a:gd name="T34" fmla="*/ 792 w 1043"/>
              <a:gd name="T35" fmla="*/ 337 h 366"/>
              <a:gd name="T36" fmla="*/ 725 w 1043"/>
              <a:gd name="T37" fmla="*/ 352 h 366"/>
              <a:gd name="T38" fmla="*/ 649 w 1043"/>
              <a:gd name="T39" fmla="*/ 359 h 366"/>
              <a:gd name="T40" fmla="*/ 574 w 1043"/>
              <a:gd name="T41" fmla="*/ 363 h 366"/>
              <a:gd name="T42" fmla="*/ 494 w 1043"/>
              <a:gd name="T43" fmla="*/ 363 h 366"/>
              <a:gd name="T44" fmla="*/ 415 w 1043"/>
              <a:gd name="T45" fmla="*/ 359 h 366"/>
              <a:gd name="T46" fmla="*/ 344 w 1043"/>
              <a:gd name="T47" fmla="*/ 352 h 366"/>
              <a:gd name="T48" fmla="*/ 272 w 1043"/>
              <a:gd name="T49" fmla="*/ 341 h 366"/>
              <a:gd name="T50" fmla="*/ 210 w 1043"/>
              <a:gd name="T51" fmla="*/ 330 h 366"/>
              <a:gd name="T52" fmla="*/ 155 w 1043"/>
              <a:gd name="T53" fmla="*/ 312 h 366"/>
              <a:gd name="T54" fmla="*/ 105 w 1043"/>
              <a:gd name="T55" fmla="*/ 290 h 366"/>
              <a:gd name="T56" fmla="*/ 63 w 1043"/>
              <a:gd name="T57" fmla="*/ 268 h 366"/>
              <a:gd name="T58" fmla="*/ 34 w 1043"/>
              <a:gd name="T59" fmla="*/ 247 h 366"/>
              <a:gd name="T60" fmla="*/ 13 w 1043"/>
              <a:gd name="T61" fmla="*/ 218 h 366"/>
              <a:gd name="T62" fmla="*/ 0 w 1043"/>
              <a:gd name="T63" fmla="*/ 192 h 366"/>
              <a:gd name="T64" fmla="*/ 4 w 1043"/>
              <a:gd name="T65" fmla="*/ 163 h 366"/>
              <a:gd name="T66" fmla="*/ 17 w 1043"/>
              <a:gd name="T67" fmla="*/ 138 h 366"/>
              <a:gd name="T68" fmla="*/ 42 w 1043"/>
              <a:gd name="T69" fmla="*/ 112 h 366"/>
              <a:gd name="T70" fmla="*/ 75 w 1043"/>
              <a:gd name="T71" fmla="*/ 87 h 366"/>
              <a:gd name="T72" fmla="*/ 122 w 1043"/>
              <a:gd name="T73" fmla="*/ 65 h 366"/>
              <a:gd name="T74" fmla="*/ 172 w 1043"/>
              <a:gd name="T75" fmla="*/ 47 h 366"/>
              <a:gd name="T76" fmla="*/ 231 w 1043"/>
              <a:gd name="T77" fmla="*/ 33 h 366"/>
              <a:gd name="T78" fmla="*/ 298 w 1043"/>
              <a:gd name="T79" fmla="*/ 18 h 366"/>
              <a:gd name="T80" fmla="*/ 365 w 1043"/>
              <a:gd name="T81" fmla="*/ 7 h 366"/>
              <a:gd name="T82" fmla="*/ 440 w 1043"/>
              <a:gd name="T83" fmla="*/ 4 h 366"/>
              <a:gd name="T84" fmla="*/ 520 w 1043"/>
              <a:gd name="T85" fmla="*/ 0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43"/>
              <a:gd name="T130" fmla="*/ 0 h 366"/>
              <a:gd name="T131" fmla="*/ 1043 w 1043"/>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43" h="366">
                <a:moveTo>
                  <a:pt x="520" y="0"/>
                </a:moveTo>
                <a:lnTo>
                  <a:pt x="549" y="0"/>
                </a:lnTo>
                <a:lnTo>
                  <a:pt x="574" y="0"/>
                </a:lnTo>
                <a:lnTo>
                  <a:pt x="599" y="4"/>
                </a:lnTo>
                <a:lnTo>
                  <a:pt x="624" y="4"/>
                </a:lnTo>
                <a:lnTo>
                  <a:pt x="649" y="7"/>
                </a:lnTo>
                <a:lnTo>
                  <a:pt x="675" y="7"/>
                </a:lnTo>
                <a:lnTo>
                  <a:pt x="700" y="11"/>
                </a:lnTo>
                <a:lnTo>
                  <a:pt x="725" y="14"/>
                </a:lnTo>
                <a:lnTo>
                  <a:pt x="746" y="18"/>
                </a:lnTo>
                <a:lnTo>
                  <a:pt x="767" y="22"/>
                </a:lnTo>
                <a:lnTo>
                  <a:pt x="792" y="25"/>
                </a:lnTo>
                <a:lnTo>
                  <a:pt x="813" y="33"/>
                </a:lnTo>
                <a:lnTo>
                  <a:pt x="834" y="36"/>
                </a:lnTo>
                <a:lnTo>
                  <a:pt x="851" y="43"/>
                </a:lnTo>
                <a:lnTo>
                  <a:pt x="871" y="47"/>
                </a:lnTo>
                <a:lnTo>
                  <a:pt x="888" y="54"/>
                </a:lnTo>
                <a:lnTo>
                  <a:pt x="905" y="62"/>
                </a:lnTo>
                <a:lnTo>
                  <a:pt x="922" y="65"/>
                </a:lnTo>
                <a:lnTo>
                  <a:pt x="939" y="73"/>
                </a:lnTo>
                <a:lnTo>
                  <a:pt x="951" y="80"/>
                </a:lnTo>
                <a:lnTo>
                  <a:pt x="964" y="87"/>
                </a:lnTo>
                <a:lnTo>
                  <a:pt x="976" y="94"/>
                </a:lnTo>
                <a:lnTo>
                  <a:pt x="989" y="105"/>
                </a:lnTo>
                <a:lnTo>
                  <a:pt x="1001" y="112"/>
                </a:lnTo>
                <a:lnTo>
                  <a:pt x="1010" y="120"/>
                </a:lnTo>
                <a:lnTo>
                  <a:pt x="1018" y="127"/>
                </a:lnTo>
                <a:lnTo>
                  <a:pt x="1026" y="138"/>
                </a:lnTo>
                <a:lnTo>
                  <a:pt x="1031" y="145"/>
                </a:lnTo>
                <a:lnTo>
                  <a:pt x="1035" y="156"/>
                </a:lnTo>
                <a:lnTo>
                  <a:pt x="1039" y="163"/>
                </a:lnTo>
                <a:lnTo>
                  <a:pt x="1039" y="174"/>
                </a:lnTo>
                <a:lnTo>
                  <a:pt x="1043" y="181"/>
                </a:lnTo>
                <a:lnTo>
                  <a:pt x="1039" y="192"/>
                </a:lnTo>
                <a:lnTo>
                  <a:pt x="1039" y="200"/>
                </a:lnTo>
                <a:lnTo>
                  <a:pt x="1035" y="210"/>
                </a:lnTo>
                <a:lnTo>
                  <a:pt x="1031" y="218"/>
                </a:lnTo>
                <a:lnTo>
                  <a:pt x="1026" y="229"/>
                </a:lnTo>
                <a:lnTo>
                  <a:pt x="1018" y="236"/>
                </a:lnTo>
                <a:lnTo>
                  <a:pt x="1010" y="247"/>
                </a:lnTo>
                <a:lnTo>
                  <a:pt x="1001" y="254"/>
                </a:lnTo>
                <a:lnTo>
                  <a:pt x="989" y="261"/>
                </a:lnTo>
                <a:lnTo>
                  <a:pt x="976" y="268"/>
                </a:lnTo>
                <a:lnTo>
                  <a:pt x="964" y="276"/>
                </a:lnTo>
                <a:lnTo>
                  <a:pt x="951" y="283"/>
                </a:lnTo>
                <a:lnTo>
                  <a:pt x="939" y="290"/>
                </a:lnTo>
                <a:lnTo>
                  <a:pt x="922" y="298"/>
                </a:lnTo>
                <a:lnTo>
                  <a:pt x="905" y="305"/>
                </a:lnTo>
                <a:lnTo>
                  <a:pt x="888" y="312"/>
                </a:lnTo>
                <a:lnTo>
                  <a:pt x="871" y="316"/>
                </a:lnTo>
                <a:lnTo>
                  <a:pt x="851" y="323"/>
                </a:lnTo>
                <a:lnTo>
                  <a:pt x="834" y="330"/>
                </a:lnTo>
                <a:lnTo>
                  <a:pt x="813" y="334"/>
                </a:lnTo>
                <a:lnTo>
                  <a:pt x="792" y="337"/>
                </a:lnTo>
                <a:lnTo>
                  <a:pt x="767" y="341"/>
                </a:lnTo>
                <a:lnTo>
                  <a:pt x="746" y="348"/>
                </a:lnTo>
                <a:lnTo>
                  <a:pt x="725" y="352"/>
                </a:lnTo>
                <a:lnTo>
                  <a:pt x="700" y="352"/>
                </a:lnTo>
                <a:lnTo>
                  <a:pt x="675" y="356"/>
                </a:lnTo>
                <a:lnTo>
                  <a:pt x="649" y="359"/>
                </a:lnTo>
                <a:lnTo>
                  <a:pt x="624" y="359"/>
                </a:lnTo>
                <a:lnTo>
                  <a:pt x="599" y="363"/>
                </a:lnTo>
                <a:lnTo>
                  <a:pt x="574" y="363"/>
                </a:lnTo>
                <a:lnTo>
                  <a:pt x="549" y="363"/>
                </a:lnTo>
                <a:lnTo>
                  <a:pt x="520" y="366"/>
                </a:lnTo>
                <a:lnTo>
                  <a:pt x="494" y="363"/>
                </a:lnTo>
                <a:lnTo>
                  <a:pt x="469" y="363"/>
                </a:lnTo>
                <a:lnTo>
                  <a:pt x="440" y="363"/>
                </a:lnTo>
                <a:lnTo>
                  <a:pt x="415" y="359"/>
                </a:lnTo>
                <a:lnTo>
                  <a:pt x="390" y="359"/>
                </a:lnTo>
                <a:lnTo>
                  <a:pt x="365" y="356"/>
                </a:lnTo>
                <a:lnTo>
                  <a:pt x="344" y="352"/>
                </a:lnTo>
                <a:lnTo>
                  <a:pt x="318" y="352"/>
                </a:lnTo>
                <a:lnTo>
                  <a:pt x="298" y="348"/>
                </a:lnTo>
                <a:lnTo>
                  <a:pt x="272" y="341"/>
                </a:lnTo>
                <a:lnTo>
                  <a:pt x="251" y="337"/>
                </a:lnTo>
                <a:lnTo>
                  <a:pt x="231" y="334"/>
                </a:lnTo>
                <a:lnTo>
                  <a:pt x="210" y="330"/>
                </a:lnTo>
                <a:lnTo>
                  <a:pt x="189" y="323"/>
                </a:lnTo>
                <a:lnTo>
                  <a:pt x="172" y="316"/>
                </a:lnTo>
                <a:lnTo>
                  <a:pt x="155" y="312"/>
                </a:lnTo>
                <a:lnTo>
                  <a:pt x="138" y="305"/>
                </a:lnTo>
                <a:lnTo>
                  <a:pt x="122" y="298"/>
                </a:lnTo>
                <a:lnTo>
                  <a:pt x="105" y="290"/>
                </a:lnTo>
                <a:lnTo>
                  <a:pt x="88" y="283"/>
                </a:lnTo>
                <a:lnTo>
                  <a:pt x="75" y="276"/>
                </a:lnTo>
                <a:lnTo>
                  <a:pt x="63" y="268"/>
                </a:lnTo>
                <a:lnTo>
                  <a:pt x="50" y="261"/>
                </a:lnTo>
                <a:lnTo>
                  <a:pt x="42" y="254"/>
                </a:lnTo>
                <a:lnTo>
                  <a:pt x="34" y="247"/>
                </a:lnTo>
                <a:lnTo>
                  <a:pt x="25" y="236"/>
                </a:lnTo>
                <a:lnTo>
                  <a:pt x="17" y="229"/>
                </a:lnTo>
                <a:lnTo>
                  <a:pt x="13" y="218"/>
                </a:lnTo>
                <a:lnTo>
                  <a:pt x="8" y="210"/>
                </a:lnTo>
                <a:lnTo>
                  <a:pt x="4" y="200"/>
                </a:lnTo>
                <a:lnTo>
                  <a:pt x="0" y="192"/>
                </a:lnTo>
                <a:lnTo>
                  <a:pt x="0" y="181"/>
                </a:lnTo>
                <a:lnTo>
                  <a:pt x="0" y="174"/>
                </a:lnTo>
                <a:lnTo>
                  <a:pt x="4" y="163"/>
                </a:lnTo>
                <a:lnTo>
                  <a:pt x="8" y="156"/>
                </a:lnTo>
                <a:lnTo>
                  <a:pt x="13" y="145"/>
                </a:lnTo>
                <a:lnTo>
                  <a:pt x="17" y="138"/>
                </a:lnTo>
                <a:lnTo>
                  <a:pt x="25" y="127"/>
                </a:lnTo>
                <a:lnTo>
                  <a:pt x="34" y="120"/>
                </a:lnTo>
                <a:lnTo>
                  <a:pt x="42" y="112"/>
                </a:lnTo>
                <a:lnTo>
                  <a:pt x="50" y="105"/>
                </a:lnTo>
                <a:lnTo>
                  <a:pt x="63" y="94"/>
                </a:lnTo>
                <a:lnTo>
                  <a:pt x="75" y="87"/>
                </a:lnTo>
                <a:lnTo>
                  <a:pt x="88" y="80"/>
                </a:lnTo>
                <a:lnTo>
                  <a:pt x="105" y="73"/>
                </a:lnTo>
                <a:lnTo>
                  <a:pt x="122" y="65"/>
                </a:lnTo>
                <a:lnTo>
                  <a:pt x="138" y="62"/>
                </a:lnTo>
                <a:lnTo>
                  <a:pt x="155" y="54"/>
                </a:lnTo>
                <a:lnTo>
                  <a:pt x="172" y="47"/>
                </a:lnTo>
                <a:lnTo>
                  <a:pt x="189" y="43"/>
                </a:lnTo>
                <a:lnTo>
                  <a:pt x="210" y="36"/>
                </a:lnTo>
                <a:lnTo>
                  <a:pt x="231" y="33"/>
                </a:lnTo>
                <a:lnTo>
                  <a:pt x="251" y="25"/>
                </a:lnTo>
                <a:lnTo>
                  <a:pt x="272" y="22"/>
                </a:lnTo>
                <a:lnTo>
                  <a:pt x="298" y="18"/>
                </a:lnTo>
                <a:lnTo>
                  <a:pt x="318" y="14"/>
                </a:lnTo>
                <a:lnTo>
                  <a:pt x="344" y="11"/>
                </a:lnTo>
                <a:lnTo>
                  <a:pt x="365" y="7"/>
                </a:lnTo>
                <a:lnTo>
                  <a:pt x="390" y="7"/>
                </a:lnTo>
                <a:lnTo>
                  <a:pt x="415" y="4"/>
                </a:lnTo>
                <a:lnTo>
                  <a:pt x="440" y="4"/>
                </a:lnTo>
                <a:lnTo>
                  <a:pt x="469" y="0"/>
                </a:lnTo>
                <a:lnTo>
                  <a:pt x="494" y="0"/>
                </a:lnTo>
                <a:lnTo>
                  <a:pt x="520" y="0"/>
                </a:lnTo>
                <a:close/>
              </a:path>
            </a:pathLst>
          </a:custGeom>
          <a:solidFill>
            <a:srgbClr val="6699FF"/>
          </a:solidFill>
          <a:ln w="28575">
            <a:solidFill>
              <a:schemeClr val="tx1"/>
            </a:solidFill>
            <a:round/>
            <a:headEnd/>
            <a:tailEnd/>
          </a:ln>
        </p:spPr>
        <p:txBody>
          <a:bodyPr/>
          <a:lstStyle/>
          <a:p>
            <a:endParaRPr lang="en-US"/>
          </a:p>
        </p:txBody>
      </p:sp>
      <p:sp>
        <p:nvSpPr>
          <p:cNvPr id="56334" name="Rectangle 18"/>
          <p:cNvSpPr>
            <a:spLocks noChangeArrowheads="1"/>
          </p:cNvSpPr>
          <p:nvPr/>
        </p:nvSpPr>
        <p:spPr bwMode="auto">
          <a:xfrm>
            <a:off x="7258050" y="1968500"/>
            <a:ext cx="1835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2075" tIns="46038" rIns="92075" bIns="46038">
            <a:spAutoFit/>
          </a:bodyPr>
          <a:lstStyle/>
          <a:p>
            <a:pPr algn="ctr" eaLnBrk="0" hangingPunct="0"/>
            <a:r>
              <a:rPr lang="en-US" sz="1800">
                <a:solidFill>
                  <a:schemeClr val="tx1"/>
                </a:solidFill>
                <a:latin typeface="Arial" pitchFamily="34" charset="0"/>
              </a:rPr>
              <a:t>Course Catalog </a:t>
            </a:r>
          </a:p>
          <a:p>
            <a:pPr algn="ctr" eaLnBrk="0" hangingPunct="0"/>
            <a:r>
              <a:rPr lang="en-US" sz="1800">
                <a:solidFill>
                  <a:schemeClr val="tx1"/>
                </a:solidFill>
                <a:latin typeface="Arial" pitchFamily="34" charset="0"/>
              </a:rPr>
              <a:t>System</a:t>
            </a:r>
          </a:p>
        </p:txBody>
      </p:sp>
      <p:sp>
        <p:nvSpPr>
          <p:cNvPr id="56335" name="Rectangle 24"/>
          <p:cNvSpPr>
            <a:spLocks noChangeArrowheads="1"/>
          </p:cNvSpPr>
          <p:nvPr/>
        </p:nvSpPr>
        <p:spPr bwMode="auto">
          <a:xfrm>
            <a:off x="2097088" y="1281113"/>
            <a:ext cx="24415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2075" tIns="46038" rIns="92075" bIns="46038">
            <a:spAutoFit/>
          </a:bodyPr>
          <a:lstStyle/>
          <a:p>
            <a:pPr algn="ctr" eaLnBrk="0" hangingPunct="0"/>
            <a:r>
              <a:rPr lang="en-US" sz="1800">
                <a:solidFill>
                  <a:schemeClr val="tx1"/>
                </a:solidFill>
                <a:latin typeface="Arial" pitchFamily="34" charset="0"/>
              </a:rPr>
              <a:t>Register for Courses</a:t>
            </a:r>
          </a:p>
        </p:txBody>
      </p:sp>
      <p:sp>
        <p:nvSpPr>
          <p:cNvPr id="56336" name="Freeform 27"/>
          <p:cNvSpPr>
            <a:spLocks/>
          </p:cNvSpPr>
          <p:nvPr/>
        </p:nvSpPr>
        <p:spPr bwMode="auto">
          <a:xfrm>
            <a:off x="2771775" y="5584825"/>
            <a:ext cx="2062163" cy="720725"/>
          </a:xfrm>
          <a:custGeom>
            <a:avLst/>
            <a:gdLst>
              <a:gd name="T0" fmla="*/ 574 w 1043"/>
              <a:gd name="T1" fmla="*/ 0 h 366"/>
              <a:gd name="T2" fmla="*/ 649 w 1043"/>
              <a:gd name="T3" fmla="*/ 7 h 366"/>
              <a:gd name="T4" fmla="*/ 725 w 1043"/>
              <a:gd name="T5" fmla="*/ 14 h 366"/>
              <a:gd name="T6" fmla="*/ 792 w 1043"/>
              <a:gd name="T7" fmla="*/ 25 h 366"/>
              <a:gd name="T8" fmla="*/ 851 w 1043"/>
              <a:gd name="T9" fmla="*/ 43 h 366"/>
              <a:gd name="T10" fmla="*/ 905 w 1043"/>
              <a:gd name="T11" fmla="*/ 62 h 366"/>
              <a:gd name="T12" fmla="*/ 951 w 1043"/>
              <a:gd name="T13" fmla="*/ 80 h 366"/>
              <a:gd name="T14" fmla="*/ 989 w 1043"/>
              <a:gd name="T15" fmla="*/ 105 h 366"/>
              <a:gd name="T16" fmla="*/ 1018 w 1043"/>
              <a:gd name="T17" fmla="*/ 127 h 366"/>
              <a:gd name="T18" fmla="*/ 1035 w 1043"/>
              <a:gd name="T19" fmla="*/ 156 h 366"/>
              <a:gd name="T20" fmla="*/ 1043 w 1043"/>
              <a:gd name="T21" fmla="*/ 181 h 366"/>
              <a:gd name="T22" fmla="*/ 1035 w 1043"/>
              <a:gd name="T23" fmla="*/ 210 h 366"/>
              <a:gd name="T24" fmla="*/ 1018 w 1043"/>
              <a:gd name="T25" fmla="*/ 236 h 366"/>
              <a:gd name="T26" fmla="*/ 989 w 1043"/>
              <a:gd name="T27" fmla="*/ 261 h 366"/>
              <a:gd name="T28" fmla="*/ 951 w 1043"/>
              <a:gd name="T29" fmla="*/ 283 h 366"/>
              <a:gd name="T30" fmla="*/ 905 w 1043"/>
              <a:gd name="T31" fmla="*/ 305 h 366"/>
              <a:gd name="T32" fmla="*/ 851 w 1043"/>
              <a:gd name="T33" fmla="*/ 323 h 366"/>
              <a:gd name="T34" fmla="*/ 792 w 1043"/>
              <a:gd name="T35" fmla="*/ 337 h 366"/>
              <a:gd name="T36" fmla="*/ 725 w 1043"/>
              <a:gd name="T37" fmla="*/ 352 h 366"/>
              <a:gd name="T38" fmla="*/ 649 w 1043"/>
              <a:gd name="T39" fmla="*/ 359 h 366"/>
              <a:gd name="T40" fmla="*/ 574 w 1043"/>
              <a:gd name="T41" fmla="*/ 363 h 366"/>
              <a:gd name="T42" fmla="*/ 494 w 1043"/>
              <a:gd name="T43" fmla="*/ 363 h 366"/>
              <a:gd name="T44" fmla="*/ 415 w 1043"/>
              <a:gd name="T45" fmla="*/ 359 h 366"/>
              <a:gd name="T46" fmla="*/ 344 w 1043"/>
              <a:gd name="T47" fmla="*/ 352 h 366"/>
              <a:gd name="T48" fmla="*/ 272 w 1043"/>
              <a:gd name="T49" fmla="*/ 341 h 366"/>
              <a:gd name="T50" fmla="*/ 210 w 1043"/>
              <a:gd name="T51" fmla="*/ 330 h 366"/>
              <a:gd name="T52" fmla="*/ 155 w 1043"/>
              <a:gd name="T53" fmla="*/ 312 h 366"/>
              <a:gd name="T54" fmla="*/ 105 w 1043"/>
              <a:gd name="T55" fmla="*/ 290 h 366"/>
              <a:gd name="T56" fmla="*/ 63 w 1043"/>
              <a:gd name="T57" fmla="*/ 268 h 366"/>
              <a:gd name="T58" fmla="*/ 34 w 1043"/>
              <a:gd name="T59" fmla="*/ 247 h 366"/>
              <a:gd name="T60" fmla="*/ 13 w 1043"/>
              <a:gd name="T61" fmla="*/ 218 h 366"/>
              <a:gd name="T62" fmla="*/ 0 w 1043"/>
              <a:gd name="T63" fmla="*/ 192 h 366"/>
              <a:gd name="T64" fmla="*/ 4 w 1043"/>
              <a:gd name="T65" fmla="*/ 163 h 366"/>
              <a:gd name="T66" fmla="*/ 17 w 1043"/>
              <a:gd name="T67" fmla="*/ 138 h 366"/>
              <a:gd name="T68" fmla="*/ 42 w 1043"/>
              <a:gd name="T69" fmla="*/ 112 h 366"/>
              <a:gd name="T70" fmla="*/ 75 w 1043"/>
              <a:gd name="T71" fmla="*/ 87 h 366"/>
              <a:gd name="T72" fmla="*/ 122 w 1043"/>
              <a:gd name="T73" fmla="*/ 65 h 366"/>
              <a:gd name="T74" fmla="*/ 172 w 1043"/>
              <a:gd name="T75" fmla="*/ 47 h 366"/>
              <a:gd name="T76" fmla="*/ 231 w 1043"/>
              <a:gd name="T77" fmla="*/ 33 h 366"/>
              <a:gd name="T78" fmla="*/ 298 w 1043"/>
              <a:gd name="T79" fmla="*/ 18 h 366"/>
              <a:gd name="T80" fmla="*/ 365 w 1043"/>
              <a:gd name="T81" fmla="*/ 7 h 366"/>
              <a:gd name="T82" fmla="*/ 440 w 1043"/>
              <a:gd name="T83" fmla="*/ 4 h 366"/>
              <a:gd name="T84" fmla="*/ 520 w 1043"/>
              <a:gd name="T85" fmla="*/ 0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43"/>
              <a:gd name="T130" fmla="*/ 0 h 366"/>
              <a:gd name="T131" fmla="*/ 1043 w 1043"/>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43" h="366">
                <a:moveTo>
                  <a:pt x="520" y="0"/>
                </a:moveTo>
                <a:lnTo>
                  <a:pt x="549" y="0"/>
                </a:lnTo>
                <a:lnTo>
                  <a:pt x="574" y="0"/>
                </a:lnTo>
                <a:lnTo>
                  <a:pt x="599" y="4"/>
                </a:lnTo>
                <a:lnTo>
                  <a:pt x="624" y="4"/>
                </a:lnTo>
                <a:lnTo>
                  <a:pt x="649" y="7"/>
                </a:lnTo>
                <a:lnTo>
                  <a:pt x="675" y="7"/>
                </a:lnTo>
                <a:lnTo>
                  <a:pt x="700" y="11"/>
                </a:lnTo>
                <a:lnTo>
                  <a:pt x="725" y="14"/>
                </a:lnTo>
                <a:lnTo>
                  <a:pt x="746" y="18"/>
                </a:lnTo>
                <a:lnTo>
                  <a:pt x="767" y="22"/>
                </a:lnTo>
                <a:lnTo>
                  <a:pt x="792" y="25"/>
                </a:lnTo>
                <a:lnTo>
                  <a:pt x="813" y="33"/>
                </a:lnTo>
                <a:lnTo>
                  <a:pt x="834" y="36"/>
                </a:lnTo>
                <a:lnTo>
                  <a:pt x="851" y="43"/>
                </a:lnTo>
                <a:lnTo>
                  <a:pt x="871" y="47"/>
                </a:lnTo>
                <a:lnTo>
                  <a:pt x="888" y="54"/>
                </a:lnTo>
                <a:lnTo>
                  <a:pt x="905" y="62"/>
                </a:lnTo>
                <a:lnTo>
                  <a:pt x="922" y="65"/>
                </a:lnTo>
                <a:lnTo>
                  <a:pt x="939" y="73"/>
                </a:lnTo>
                <a:lnTo>
                  <a:pt x="951" y="80"/>
                </a:lnTo>
                <a:lnTo>
                  <a:pt x="964" y="87"/>
                </a:lnTo>
                <a:lnTo>
                  <a:pt x="976" y="94"/>
                </a:lnTo>
                <a:lnTo>
                  <a:pt x="989" y="105"/>
                </a:lnTo>
                <a:lnTo>
                  <a:pt x="1001" y="112"/>
                </a:lnTo>
                <a:lnTo>
                  <a:pt x="1010" y="120"/>
                </a:lnTo>
                <a:lnTo>
                  <a:pt x="1018" y="127"/>
                </a:lnTo>
                <a:lnTo>
                  <a:pt x="1026" y="138"/>
                </a:lnTo>
                <a:lnTo>
                  <a:pt x="1031" y="145"/>
                </a:lnTo>
                <a:lnTo>
                  <a:pt x="1035" y="156"/>
                </a:lnTo>
                <a:lnTo>
                  <a:pt x="1039" y="163"/>
                </a:lnTo>
                <a:lnTo>
                  <a:pt x="1039" y="174"/>
                </a:lnTo>
                <a:lnTo>
                  <a:pt x="1043" y="181"/>
                </a:lnTo>
                <a:lnTo>
                  <a:pt x="1039" y="192"/>
                </a:lnTo>
                <a:lnTo>
                  <a:pt x="1039" y="200"/>
                </a:lnTo>
                <a:lnTo>
                  <a:pt x="1035" y="210"/>
                </a:lnTo>
                <a:lnTo>
                  <a:pt x="1031" y="218"/>
                </a:lnTo>
                <a:lnTo>
                  <a:pt x="1026" y="229"/>
                </a:lnTo>
                <a:lnTo>
                  <a:pt x="1018" y="236"/>
                </a:lnTo>
                <a:lnTo>
                  <a:pt x="1010" y="247"/>
                </a:lnTo>
                <a:lnTo>
                  <a:pt x="1001" y="254"/>
                </a:lnTo>
                <a:lnTo>
                  <a:pt x="989" y="261"/>
                </a:lnTo>
                <a:lnTo>
                  <a:pt x="976" y="268"/>
                </a:lnTo>
                <a:lnTo>
                  <a:pt x="964" y="276"/>
                </a:lnTo>
                <a:lnTo>
                  <a:pt x="951" y="283"/>
                </a:lnTo>
                <a:lnTo>
                  <a:pt x="939" y="290"/>
                </a:lnTo>
                <a:lnTo>
                  <a:pt x="922" y="298"/>
                </a:lnTo>
                <a:lnTo>
                  <a:pt x="905" y="305"/>
                </a:lnTo>
                <a:lnTo>
                  <a:pt x="888" y="312"/>
                </a:lnTo>
                <a:lnTo>
                  <a:pt x="871" y="316"/>
                </a:lnTo>
                <a:lnTo>
                  <a:pt x="851" y="323"/>
                </a:lnTo>
                <a:lnTo>
                  <a:pt x="834" y="330"/>
                </a:lnTo>
                <a:lnTo>
                  <a:pt x="813" y="334"/>
                </a:lnTo>
                <a:lnTo>
                  <a:pt x="792" y="337"/>
                </a:lnTo>
                <a:lnTo>
                  <a:pt x="767" y="341"/>
                </a:lnTo>
                <a:lnTo>
                  <a:pt x="746" y="348"/>
                </a:lnTo>
                <a:lnTo>
                  <a:pt x="725" y="352"/>
                </a:lnTo>
                <a:lnTo>
                  <a:pt x="700" y="352"/>
                </a:lnTo>
                <a:lnTo>
                  <a:pt x="675" y="356"/>
                </a:lnTo>
                <a:lnTo>
                  <a:pt x="649" y="359"/>
                </a:lnTo>
                <a:lnTo>
                  <a:pt x="624" y="359"/>
                </a:lnTo>
                <a:lnTo>
                  <a:pt x="599" y="363"/>
                </a:lnTo>
                <a:lnTo>
                  <a:pt x="574" y="363"/>
                </a:lnTo>
                <a:lnTo>
                  <a:pt x="549" y="363"/>
                </a:lnTo>
                <a:lnTo>
                  <a:pt x="520" y="366"/>
                </a:lnTo>
                <a:lnTo>
                  <a:pt x="494" y="363"/>
                </a:lnTo>
                <a:lnTo>
                  <a:pt x="469" y="363"/>
                </a:lnTo>
                <a:lnTo>
                  <a:pt x="440" y="363"/>
                </a:lnTo>
                <a:lnTo>
                  <a:pt x="415" y="359"/>
                </a:lnTo>
                <a:lnTo>
                  <a:pt x="390" y="359"/>
                </a:lnTo>
                <a:lnTo>
                  <a:pt x="365" y="356"/>
                </a:lnTo>
                <a:lnTo>
                  <a:pt x="344" y="352"/>
                </a:lnTo>
                <a:lnTo>
                  <a:pt x="318" y="352"/>
                </a:lnTo>
                <a:lnTo>
                  <a:pt x="298" y="348"/>
                </a:lnTo>
                <a:lnTo>
                  <a:pt x="272" y="341"/>
                </a:lnTo>
                <a:lnTo>
                  <a:pt x="251" y="337"/>
                </a:lnTo>
                <a:lnTo>
                  <a:pt x="231" y="334"/>
                </a:lnTo>
                <a:lnTo>
                  <a:pt x="210" y="330"/>
                </a:lnTo>
                <a:lnTo>
                  <a:pt x="189" y="323"/>
                </a:lnTo>
                <a:lnTo>
                  <a:pt x="172" y="316"/>
                </a:lnTo>
                <a:lnTo>
                  <a:pt x="155" y="312"/>
                </a:lnTo>
                <a:lnTo>
                  <a:pt x="138" y="305"/>
                </a:lnTo>
                <a:lnTo>
                  <a:pt x="122" y="298"/>
                </a:lnTo>
                <a:lnTo>
                  <a:pt x="105" y="290"/>
                </a:lnTo>
                <a:lnTo>
                  <a:pt x="88" y="283"/>
                </a:lnTo>
                <a:lnTo>
                  <a:pt x="75" y="276"/>
                </a:lnTo>
                <a:lnTo>
                  <a:pt x="63" y="268"/>
                </a:lnTo>
                <a:lnTo>
                  <a:pt x="50" y="261"/>
                </a:lnTo>
                <a:lnTo>
                  <a:pt x="42" y="254"/>
                </a:lnTo>
                <a:lnTo>
                  <a:pt x="34" y="247"/>
                </a:lnTo>
                <a:lnTo>
                  <a:pt x="25" y="236"/>
                </a:lnTo>
                <a:lnTo>
                  <a:pt x="17" y="229"/>
                </a:lnTo>
                <a:lnTo>
                  <a:pt x="13" y="218"/>
                </a:lnTo>
                <a:lnTo>
                  <a:pt x="8" y="210"/>
                </a:lnTo>
                <a:lnTo>
                  <a:pt x="4" y="200"/>
                </a:lnTo>
                <a:lnTo>
                  <a:pt x="0" y="192"/>
                </a:lnTo>
                <a:lnTo>
                  <a:pt x="0" y="181"/>
                </a:lnTo>
                <a:lnTo>
                  <a:pt x="0" y="174"/>
                </a:lnTo>
                <a:lnTo>
                  <a:pt x="4" y="163"/>
                </a:lnTo>
                <a:lnTo>
                  <a:pt x="8" y="156"/>
                </a:lnTo>
                <a:lnTo>
                  <a:pt x="13" y="145"/>
                </a:lnTo>
                <a:lnTo>
                  <a:pt x="17" y="138"/>
                </a:lnTo>
                <a:lnTo>
                  <a:pt x="25" y="127"/>
                </a:lnTo>
                <a:lnTo>
                  <a:pt x="34" y="120"/>
                </a:lnTo>
                <a:lnTo>
                  <a:pt x="42" y="112"/>
                </a:lnTo>
                <a:lnTo>
                  <a:pt x="50" y="105"/>
                </a:lnTo>
                <a:lnTo>
                  <a:pt x="63" y="94"/>
                </a:lnTo>
                <a:lnTo>
                  <a:pt x="75" y="87"/>
                </a:lnTo>
                <a:lnTo>
                  <a:pt x="88" y="80"/>
                </a:lnTo>
                <a:lnTo>
                  <a:pt x="105" y="73"/>
                </a:lnTo>
                <a:lnTo>
                  <a:pt x="122" y="65"/>
                </a:lnTo>
                <a:lnTo>
                  <a:pt x="138" y="62"/>
                </a:lnTo>
                <a:lnTo>
                  <a:pt x="155" y="54"/>
                </a:lnTo>
                <a:lnTo>
                  <a:pt x="172" y="47"/>
                </a:lnTo>
                <a:lnTo>
                  <a:pt x="189" y="43"/>
                </a:lnTo>
                <a:lnTo>
                  <a:pt x="210" y="36"/>
                </a:lnTo>
                <a:lnTo>
                  <a:pt x="231" y="33"/>
                </a:lnTo>
                <a:lnTo>
                  <a:pt x="251" y="25"/>
                </a:lnTo>
                <a:lnTo>
                  <a:pt x="272" y="22"/>
                </a:lnTo>
                <a:lnTo>
                  <a:pt x="298" y="18"/>
                </a:lnTo>
                <a:lnTo>
                  <a:pt x="318" y="14"/>
                </a:lnTo>
                <a:lnTo>
                  <a:pt x="344" y="11"/>
                </a:lnTo>
                <a:lnTo>
                  <a:pt x="365" y="7"/>
                </a:lnTo>
                <a:lnTo>
                  <a:pt x="390" y="7"/>
                </a:lnTo>
                <a:lnTo>
                  <a:pt x="415" y="4"/>
                </a:lnTo>
                <a:lnTo>
                  <a:pt x="440" y="4"/>
                </a:lnTo>
                <a:lnTo>
                  <a:pt x="469" y="0"/>
                </a:lnTo>
                <a:lnTo>
                  <a:pt x="494" y="0"/>
                </a:lnTo>
                <a:lnTo>
                  <a:pt x="520" y="0"/>
                </a:lnTo>
                <a:close/>
              </a:path>
            </a:pathLst>
          </a:custGeom>
          <a:solidFill>
            <a:srgbClr val="6699FF"/>
          </a:solidFill>
          <a:ln w="28575">
            <a:solidFill>
              <a:schemeClr val="tx1"/>
            </a:solidFill>
            <a:round/>
            <a:headEnd/>
            <a:tailEnd/>
          </a:ln>
        </p:spPr>
        <p:txBody>
          <a:bodyPr/>
          <a:lstStyle/>
          <a:p>
            <a:endParaRPr lang="en-US"/>
          </a:p>
        </p:txBody>
      </p:sp>
      <p:sp>
        <p:nvSpPr>
          <p:cNvPr id="56337" name="Freeform 31"/>
          <p:cNvSpPr>
            <a:spLocks/>
          </p:cNvSpPr>
          <p:nvPr/>
        </p:nvSpPr>
        <p:spPr bwMode="auto">
          <a:xfrm>
            <a:off x="2743200" y="4702175"/>
            <a:ext cx="2112963" cy="708025"/>
          </a:xfrm>
          <a:custGeom>
            <a:avLst/>
            <a:gdLst>
              <a:gd name="T0" fmla="*/ 574 w 1043"/>
              <a:gd name="T1" fmla="*/ 0 h 366"/>
              <a:gd name="T2" fmla="*/ 649 w 1043"/>
              <a:gd name="T3" fmla="*/ 7 h 366"/>
              <a:gd name="T4" fmla="*/ 725 w 1043"/>
              <a:gd name="T5" fmla="*/ 14 h 366"/>
              <a:gd name="T6" fmla="*/ 792 w 1043"/>
              <a:gd name="T7" fmla="*/ 25 h 366"/>
              <a:gd name="T8" fmla="*/ 851 w 1043"/>
              <a:gd name="T9" fmla="*/ 43 h 366"/>
              <a:gd name="T10" fmla="*/ 905 w 1043"/>
              <a:gd name="T11" fmla="*/ 62 h 366"/>
              <a:gd name="T12" fmla="*/ 951 w 1043"/>
              <a:gd name="T13" fmla="*/ 80 h 366"/>
              <a:gd name="T14" fmla="*/ 989 w 1043"/>
              <a:gd name="T15" fmla="*/ 105 h 366"/>
              <a:gd name="T16" fmla="*/ 1018 w 1043"/>
              <a:gd name="T17" fmla="*/ 127 h 366"/>
              <a:gd name="T18" fmla="*/ 1035 w 1043"/>
              <a:gd name="T19" fmla="*/ 156 h 366"/>
              <a:gd name="T20" fmla="*/ 1043 w 1043"/>
              <a:gd name="T21" fmla="*/ 181 h 366"/>
              <a:gd name="T22" fmla="*/ 1035 w 1043"/>
              <a:gd name="T23" fmla="*/ 210 h 366"/>
              <a:gd name="T24" fmla="*/ 1018 w 1043"/>
              <a:gd name="T25" fmla="*/ 236 h 366"/>
              <a:gd name="T26" fmla="*/ 989 w 1043"/>
              <a:gd name="T27" fmla="*/ 261 h 366"/>
              <a:gd name="T28" fmla="*/ 951 w 1043"/>
              <a:gd name="T29" fmla="*/ 283 h 366"/>
              <a:gd name="T30" fmla="*/ 905 w 1043"/>
              <a:gd name="T31" fmla="*/ 305 h 366"/>
              <a:gd name="T32" fmla="*/ 851 w 1043"/>
              <a:gd name="T33" fmla="*/ 323 h 366"/>
              <a:gd name="T34" fmla="*/ 792 w 1043"/>
              <a:gd name="T35" fmla="*/ 337 h 366"/>
              <a:gd name="T36" fmla="*/ 725 w 1043"/>
              <a:gd name="T37" fmla="*/ 352 h 366"/>
              <a:gd name="T38" fmla="*/ 649 w 1043"/>
              <a:gd name="T39" fmla="*/ 359 h 366"/>
              <a:gd name="T40" fmla="*/ 574 w 1043"/>
              <a:gd name="T41" fmla="*/ 363 h 366"/>
              <a:gd name="T42" fmla="*/ 494 w 1043"/>
              <a:gd name="T43" fmla="*/ 363 h 366"/>
              <a:gd name="T44" fmla="*/ 415 w 1043"/>
              <a:gd name="T45" fmla="*/ 359 h 366"/>
              <a:gd name="T46" fmla="*/ 344 w 1043"/>
              <a:gd name="T47" fmla="*/ 352 h 366"/>
              <a:gd name="T48" fmla="*/ 272 w 1043"/>
              <a:gd name="T49" fmla="*/ 341 h 366"/>
              <a:gd name="T50" fmla="*/ 210 w 1043"/>
              <a:gd name="T51" fmla="*/ 330 h 366"/>
              <a:gd name="T52" fmla="*/ 155 w 1043"/>
              <a:gd name="T53" fmla="*/ 312 h 366"/>
              <a:gd name="T54" fmla="*/ 105 w 1043"/>
              <a:gd name="T55" fmla="*/ 290 h 366"/>
              <a:gd name="T56" fmla="*/ 63 w 1043"/>
              <a:gd name="T57" fmla="*/ 268 h 366"/>
              <a:gd name="T58" fmla="*/ 34 w 1043"/>
              <a:gd name="T59" fmla="*/ 247 h 366"/>
              <a:gd name="T60" fmla="*/ 13 w 1043"/>
              <a:gd name="T61" fmla="*/ 218 h 366"/>
              <a:gd name="T62" fmla="*/ 0 w 1043"/>
              <a:gd name="T63" fmla="*/ 192 h 366"/>
              <a:gd name="T64" fmla="*/ 4 w 1043"/>
              <a:gd name="T65" fmla="*/ 163 h 366"/>
              <a:gd name="T66" fmla="*/ 17 w 1043"/>
              <a:gd name="T67" fmla="*/ 138 h 366"/>
              <a:gd name="T68" fmla="*/ 42 w 1043"/>
              <a:gd name="T69" fmla="*/ 112 h 366"/>
              <a:gd name="T70" fmla="*/ 75 w 1043"/>
              <a:gd name="T71" fmla="*/ 87 h 366"/>
              <a:gd name="T72" fmla="*/ 122 w 1043"/>
              <a:gd name="T73" fmla="*/ 65 h 366"/>
              <a:gd name="T74" fmla="*/ 172 w 1043"/>
              <a:gd name="T75" fmla="*/ 47 h 366"/>
              <a:gd name="T76" fmla="*/ 231 w 1043"/>
              <a:gd name="T77" fmla="*/ 33 h 366"/>
              <a:gd name="T78" fmla="*/ 298 w 1043"/>
              <a:gd name="T79" fmla="*/ 18 h 366"/>
              <a:gd name="T80" fmla="*/ 365 w 1043"/>
              <a:gd name="T81" fmla="*/ 7 h 366"/>
              <a:gd name="T82" fmla="*/ 440 w 1043"/>
              <a:gd name="T83" fmla="*/ 4 h 366"/>
              <a:gd name="T84" fmla="*/ 520 w 1043"/>
              <a:gd name="T85" fmla="*/ 0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43"/>
              <a:gd name="T130" fmla="*/ 0 h 366"/>
              <a:gd name="T131" fmla="*/ 1043 w 1043"/>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43" h="366">
                <a:moveTo>
                  <a:pt x="520" y="0"/>
                </a:moveTo>
                <a:lnTo>
                  <a:pt x="549" y="0"/>
                </a:lnTo>
                <a:lnTo>
                  <a:pt x="574" y="0"/>
                </a:lnTo>
                <a:lnTo>
                  <a:pt x="599" y="4"/>
                </a:lnTo>
                <a:lnTo>
                  <a:pt x="624" y="4"/>
                </a:lnTo>
                <a:lnTo>
                  <a:pt x="649" y="7"/>
                </a:lnTo>
                <a:lnTo>
                  <a:pt x="675" y="7"/>
                </a:lnTo>
                <a:lnTo>
                  <a:pt x="700" y="11"/>
                </a:lnTo>
                <a:lnTo>
                  <a:pt x="725" y="14"/>
                </a:lnTo>
                <a:lnTo>
                  <a:pt x="746" y="18"/>
                </a:lnTo>
                <a:lnTo>
                  <a:pt x="767" y="22"/>
                </a:lnTo>
                <a:lnTo>
                  <a:pt x="792" y="25"/>
                </a:lnTo>
                <a:lnTo>
                  <a:pt x="813" y="33"/>
                </a:lnTo>
                <a:lnTo>
                  <a:pt x="834" y="36"/>
                </a:lnTo>
                <a:lnTo>
                  <a:pt x="851" y="43"/>
                </a:lnTo>
                <a:lnTo>
                  <a:pt x="871" y="47"/>
                </a:lnTo>
                <a:lnTo>
                  <a:pt x="888" y="54"/>
                </a:lnTo>
                <a:lnTo>
                  <a:pt x="905" y="62"/>
                </a:lnTo>
                <a:lnTo>
                  <a:pt x="922" y="65"/>
                </a:lnTo>
                <a:lnTo>
                  <a:pt x="939" y="73"/>
                </a:lnTo>
                <a:lnTo>
                  <a:pt x="951" y="80"/>
                </a:lnTo>
                <a:lnTo>
                  <a:pt x="964" y="87"/>
                </a:lnTo>
                <a:lnTo>
                  <a:pt x="976" y="94"/>
                </a:lnTo>
                <a:lnTo>
                  <a:pt x="989" y="105"/>
                </a:lnTo>
                <a:lnTo>
                  <a:pt x="1001" y="112"/>
                </a:lnTo>
                <a:lnTo>
                  <a:pt x="1010" y="120"/>
                </a:lnTo>
                <a:lnTo>
                  <a:pt x="1018" y="127"/>
                </a:lnTo>
                <a:lnTo>
                  <a:pt x="1026" y="138"/>
                </a:lnTo>
                <a:lnTo>
                  <a:pt x="1031" y="145"/>
                </a:lnTo>
                <a:lnTo>
                  <a:pt x="1035" y="156"/>
                </a:lnTo>
                <a:lnTo>
                  <a:pt x="1039" y="163"/>
                </a:lnTo>
                <a:lnTo>
                  <a:pt x="1039" y="174"/>
                </a:lnTo>
                <a:lnTo>
                  <a:pt x="1043" y="181"/>
                </a:lnTo>
                <a:lnTo>
                  <a:pt x="1039" y="192"/>
                </a:lnTo>
                <a:lnTo>
                  <a:pt x="1039" y="200"/>
                </a:lnTo>
                <a:lnTo>
                  <a:pt x="1035" y="210"/>
                </a:lnTo>
                <a:lnTo>
                  <a:pt x="1031" y="218"/>
                </a:lnTo>
                <a:lnTo>
                  <a:pt x="1026" y="229"/>
                </a:lnTo>
                <a:lnTo>
                  <a:pt x="1018" y="236"/>
                </a:lnTo>
                <a:lnTo>
                  <a:pt x="1010" y="247"/>
                </a:lnTo>
                <a:lnTo>
                  <a:pt x="1001" y="254"/>
                </a:lnTo>
                <a:lnTo>
                  <a:pt x="989" y="261"/>
                </a:lnTo>
                <a:lnTo>
                  <a:pt x="976" y="268"/>
                </a:lnTo>
                <a:lnTo>
                  <a:pt x="964" y="276"/>
                </a:lnTo>
                <a:lnTo>
                  <a:pt x="951" y="283"/>
                </a:lnTo>
                <a:lnTo>
                  <a:pt x="939" y="290"/>
                </a:lnTo>
                <a:lnTo>
                  <a:pt x="922" y="298"/>
                </a:lnTo>
                <a:lnTo>
                  <a:pt x="905" y="305"/>
                </a:lnTo>
                <a:lnTo>
                  <a:pt x="888" y="312"/>
                </a:lnTo>
                <a:lnTo>
                  <a:pt x="871" y="316"/>
                </a:lnTo>
                <a:lnTo>
                  <a:pt x="851" y="323"/>
                </a:lnTo>
                <a:lnTo>
                  <a:pt x="834" y="330"/>
                </a:lnTo>
                <a:lnTo>
                  <a:pt x="813" y="334"/>
                </a:lnTo>
                <a:lnTo>
                  <a:pt x="792" y="337"/>
                </a:lnTo>
                <a:lnTo>
                  <a:pt x="767" y="341"/>
                </a:lnTo>
                <a:lnTo>
                  <a:pt x="746" y="348"/>
                </a:lnTo>
                <a:lnTo>
                  <a:pt x="725" y="352"/>
                </a:lnTo>
                <a:lnTo>
                  <a:pt x="700" y="352"/>
                </a:lnTo>
                <a:lnTo>
                  <a:pt x="675" y="356"/>
                </a:lnTo>
                <a:lnTo>
                  <a:pt x="649" y="359"/>
                </a:lnTo>
                <a:lnTo>
                  <a:pt x="624" y="359"/>
                </a:lnTo>
                <a:lnTo>
                  <a:pt x="599" y="363"/>
                </a:lnTo>
                <a:lnTo>
                  <a:pt x="574" y="363"/>
                </a:lnTo>
                <a:lnTo>
                  <a:pt x="549" y="363"/>
                </a:lnTo>
                <a:lnTo>
                  <a:pt x="520" y="366"/>
                </a:lnTo>
                <a:lnTo>
                  <a:pt x="494" y="363"/>
                </a:lnTo>
                <a:lnTo>
                  <a:pt x="469" y="363"/>
                </a:lnTo>
                <a:lnTo>
                  <a:pt x="440" y="363"/>
                </a:lnTo>
                <a:lnTo>
                  <a:pt x="415" y="359"/>
                </a:lnTo>
                <a:lnTo>
                  <a:pt x="390" y="359"/>
                </a:lnTo>
                <a:lnTo>
                  <a:pt x="365" y="356"/>
                </a:lnTo>
                <a:lnTo>
                  <a:pt x="344" y="352"/>
                </a:lnTo>
                <a:lnTo>
                  <a:pt x="318" y="352"/>
                </a:lnTo>
                <a:lnTo>
                  <a:pt x="298" y="348"/>
                </a:lnTo>
                <a:lnTo>
                  <a:pt x="272" y="341"/>
                </a:lnTo>
                <a:lnTo>
                  <a:pt x="251" y="337"/>
                </a:lnTo>
                <a:lnTo>
                  <a:pt x="231" y="334"/>
                </a:lnTo>
                <a:lnTo>
                  <a:pt x="210" y="330"/>
                </a:lnTo>
                <a:lnTo>
                  <a:pt x="189" y="323"/>
                </a:lnTo>
                <a:lnTo>
                  <a:pt x="172" y="316"/>
                </a:lnTo>
                <a:lnTo>
                  <a:pt x="155" y="312"/>
                </a:lnTo>
                <a:lnTo>
                  <a:pt x="138" y="305"/>
                </a:lnTo>
                <a:lnTo>
                  <a:pt x="122" y="298"/>
                </a:lnTo>
                <a:lnTo>
                  <a:pt x="105" y="290"/>
                </a:lnTo>
                <a:lnTo>
                  <a:pt x="88" y="283"/>
                </a:lnTo>
                <a:lnTo>
                  <a:pt x="75" y="276"/>
                </a:lnTo>
                <a:lnTo>
                  <a:pt x="63" y="268"/>
                </a:lnTo>
                <a:lnTo>
                  <a:pt x="50" y="261"/>
                </a:lnTo>
                <a:lnTo>
                  <a:pt x="42" y="254"/>
                </a:lnTo>
                <a:lnTo>
                  <a:pt x="34" y="247"/>
                </a:lnTo>
                <a:lnTo>
                  <a:pt x="25" y="236"/>
                </a:lnTo>
                <a:lnTo>
                  <a:pt x="17" y="229"/>
                </a:lnTo>
                <a:lnTo>
                  <a:pt x="13" y="218"/>
                </a:lnTo>
                <a:lnTo>
                  <a:pt x="8" y="210"/>
                </a:lnTo>
                <a:lnTo>
                  <a:pt x="4" y="200"/>
                </a:lnTo>
                <a:lnTo>
                  <a:pt x="0" y="192"/>
                </a:lnTo>
                <a:lnTo>
                  <a:pt x="0" y="181"/>
                </a:lnTo>
                <a:lnTo>
                  <a:pt x="0" y="174"/>
                </a:lnTo>
                <a:lnTo>
                  <a:pt x="4" y="163"/>
                </a:lnTo>
                <a:lnTo>
                  <a:pt x="8" y="156"/>
                </a:lnTo>
                <a:lnTo>
                  <a:pt x="13" y="145"/>
                </a:lnTo>
                <a:lnTo>
                  <a:pt x="17" y="138"/>
                </a:lnTo>
                <a:lnTo>
                  <a:pt x="25" y="127"/>
                </a:lnTo>
                <a:lnTo>
                  <a:pt x="34" y="120"/>
                </a:lnTo>
                <a:lnTo>
                  <a:pt x="42" y="112"/>
                </a:lnTo>
                <a:lnTo>
                  <a:pt x="50" y="105"/>
                </a:lnTo>
                <a:lnTo>
                  <a:pt x="63" y="94"/>
                </a:lnTo>
                <a:lnTo>
                  <a:pt x="75" y="87"/>
                </a:lnTo>
                <a:lnTo>
                  <a:pt x="88" y="80"/>
                </a:lnTo>
                <a:lnTo>
                  <a:pt x="105" y="73"/>
                </a:lnTo>
                <a:lnTo>
                  <a:pt x="122" y="65"/>
                </a:lnTo>
                <a:lnTo>
                  <a:pt x="138" y="62"/>
                </a:lnTo>
                <a:lnTo>
                  <a:pt x="155" y="54"/>
                </a:lnTo>
                <a:lnTo>
                  <a:pt x="172" y="47"/>
                </a:lnTo>
                <a:lnTo>
                  <a:pt x="189" y="43"/>
                </a:lnTo>
                <a:lnTo>
                  <a:pt x="210" y="36"/>
                </a:lnTo>
                <a:lnTo>
                  <a:pt x="231" y="33"/>
                </a:lnTo>
                <a:lnTo>
                  <a:pt x="251" y="25"/>
                </a:lnTo>
                <a:lnTo>
                  <a:pt x="272" y="22"/>
                </a:lnTo>
                <a:lnTo>
                  <a:pt x="298" y="18"/>
                </a:lnTo>
                <a:lnTo>
                  <a:pt x="318" y="14"/>
                </a:lnTo>
                <a:lnTo>
                  <a:pt x="344" y="11"/>
                </a:lnTo>
                <a:lnTo>
                  <a:pt x="365" y="7"/>
                </a:lnTo>
                <a:lnTo>
                  <a:pt x="390" y="7"/>
                </a:lnTo>
                <a:lnTo>
                  <a:pt x="415" y="4"/>
                </a:lnTo>
                <a:lnTo>
                  <a:pt x="440" y="4"/>
                </a:lnTo>
                <a:lnTo>
                  <a:pt x="469" y="0"/>
                </a:lnTo>
                <a:lnTo>
                  <a:pt x="494" y="0"/>
                </a:lnTo>
                <a:lnTo>
                  <a:pt x="520" y="0"/>
                </a:lnTo>
                <a:close/>
              </a:path>
            </a:pathLst>
          </a:custGeom>
          <a:solidFill>
            <a:srgbClr val="6699FF"/>
          </a:solidFill>
          <a:ln w="28575">
            <a:solidFill>
              <a:schemeClr val="tx1"/>
            </a:solidFill>
            <a:round/>
            <a:headEnd/>
            <a:tailEnd/>
          </a:ln>
        </p:spPr>
        <p:txBody>
          <a:bodyPr/>
          <a:lstStyle/>
          <a:p>
            <a:endParaRPr lang="en-US"/>
          </a:p>
        </p:txBody>
      </p:sp>
      <p:sp>
        <p:nvSpPr>
          <p:cNvPr id="56338" name="Rectangle 32"/>
          <p:cNvSpPr>
            <a:spLocks noChangeArrowheads="1"/>
          </p:cNvSpPr>
          <p:nvPr/>
        </p:nvSpPr>
        <p:spPr bwMode="auto">
          <a:xfrm>
            <a:off x="2786063" y="4800600"/>
            <a:ext cx="2114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2075" tIns="46038" rIns="92075" bIns="46038">
            <a:spAutoFit/>
          </a:bodyPr>
          <a:lstStyle/>
          <a:p>
            <a:pPr algn="ctr" eaLnBrk="0" hangingPunct="0"/>
            <a:r>
              <a:rPr lang="en-US" sz="1800">
                <a:solidFill>
                  <a:schemeClr val="tx1"/>
                </a:solidFill>
                <a:latin typeface="Arial" pitchFamily="34" charset="0"/>
              </a:rPr>
              <a:t>Select Courses </a:t>
            </a:r>
          </a:p>
          <a:p>
            <a:pPr algn="ctr" eaLnBrk="0" hangingPunct="0"/>
            <a:r>
              <a:rPr lang="en-US" sz="1800">
                <a:solidFill>
                  <a:schemeClr val="tx1"/>
                </a:solidFill>
                <a:latin typeface="Arial" pitchFamily="34" charset="0"/>
              </a:rPr>
              <a:t>to Teach</a:t>
            </a:r>
          </a:p>
        </p:txBody>
      </p:sp>
      <p:sp>
        <p:nvSpPr>
          <p:cNvPr id="56339" name="Rectangle 35"/>
          <p:cNvSpPr>
            <a:spLocks noChangeArrowheads="1"/>
          </p:cNvSpPr>
          <p:nvPr/>
        </p:nvSpPr>
        <p:spPr bwMode="auto">
          <a:xfrm>
            <a:off x="2971800" y="5638800"/>
            <a:ext cx="1670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2075" tIns="46038" rIns="92075" bIns="46038">
            <a:spAutoFit/>
          </a:bodyPr>
          <a:lstStyle/>
          <a:p>
            <a:pPr algn="ctr" eaLnBrk="0" hangingPunct="0"/>
            <a:r>
              <a:rPr lang="en-US" sz="1800">
                <a:solidFill>
                  <a:schemeClr val="tx1"/>
                </a:solidFill>
                <a:latin typeface="Arial" pitchFamily="34" charset="0"/>
              </a:rPr>
              <a:t>Get Class List </a:t>
            </a:r>
          </a:p>
          <a:p>
            <a:pPr algn="ctr" eaLnBrk="0" hangingPunct="0"/>
            <a:r>
              <a:rPr lang="en-US" sz="1800">
                <a:solidFill>
                  <a:schemeClr val="tx1"/>
                </a:solidFill>
                <a:latin typeface="Arial" pitchFamily="34" charset="0"/>
              </a:rPr>
              <a:t>for a Course</a:t>
            </a:r>
          </a:p>
        </p:txBody>
      </p:sp>
      <p:grpSp>
        <p:nvGrpSpPr>
          <p:cNvPr id="56340" name="Group 36"/>
          <p:cNvGrpSpPr>
            <a:grpSpLocks noChangeAspect="1"/>
          </p:cNvGrpSpPr>
          <p:nvPr/>
        </p:nvGrpSpPr>
        <p:grpSpPr bwMode="auto">
          <a:xfrm>
            <a:off x="481013" y="1866900"/>
            <a:ext cx="482600" cy="692150"/>
            <a:chOff x="7654" y="3380"/>
            <a:chExt cx="554" cy="754"/>
          </a:xfrm>
        </p:grpSpPr>
        <p:sp>
          <p:nvSpPr>
            <p:cNvPr id="56351" name="Oval 37"/>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52" name="Line 38"/>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3" name="Line 39"/>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4" name="Freeform 40"/>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6341" name="Group 46"/>
          <p:cNvGrpSpPr>
            <a:grpSpLocks noChangeAspect="1"/>
          </p:cNvGrpSpPr>
          <p:nvPr/>
        </p:nvGrpSpPr>
        <p:grpSpPr bwMode="auto">
          <a:xfrm>
            <a:off x="7859713" y="1244600"/>
            <a:ext cx="482600" cy="692150"/>
            <a:chOff x="7654" y="3380"/>
            <a:chExt cx="554" cy="754"/>
          </a:xfrm>
        </p:grpSpPr>
        <p:sp>
          <p:nvSpPr>
            <p:cNvPr id="56347" name="Oval 47"/>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48" name="Line 48"/>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9" name="Line 49"/>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0" name="Freeform 50"/>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6342" name="Group 56"/>
          <p:cNvGrpSpPr>
            <a:grpSpLocks noChangeAspect="1"/>
          </p:cNvGrpSpPr>
          <p:nvPr/>
        </p:nvGrpSpPr>
        <p:grpSpPr bwMode="auto">
          <a:xfrm>
            <a:off x="468313" y="4276725"/>
            <a:ext cx="482600" cy="692150"/>
            <a:chOff x="7654" y="3380"/>
            <a:chExt cx="554" cy="754"/>
          </a:xfrm>
        </p:grpSpPr>
        <p:sp>
          <p:nvSpPr>
            <p:cNvPr id="56343" name="Oval 57"/>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44" name="Line 58"/>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5" name="Line 59"/>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6" name="Freeform 60"/>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46</a:t>
            </a:fld>
            <a:endParaRPr lang="en-US"/>
          </a:p>
        </p:txBody>
      </p:sp>
    </p:spTree>
    <p:extLst>
      <p:ext uri="{BB962C8B-B14F-4D97-AF65-F5344CB8AC3E}">
        <p14:creationId xmlns:p14="http://schemas.microsoft.com/office/powerpoint/2010/main" val="18576919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pPr eaLnBrk="1" hangingPunct="1">
              <a:defRPr/>
            </a:pPr>
            <a:r>
              <a:rPr lang="en-US" sz="2800" dirty="0"/>
              <a:t>Review</a:t>
            </a:r>
          </a:p>
        </p:txBody>
      </p:sp>
      <p:sp>
        <p:nvSpPr>
          <p:cNvPr id="57350" name="Rectangle 3"/>
          <p:cNvSpPr>
            <a:spLocks noGrp="1" noChangeArrowheads="1"/>
          </p:cNvSpPr>
          <p:nvPr>
            <p:ph type="body" idx="1"/>
          </p:nvPr>
        </p:nvSpPr>
        <p:spPr/>
        <p:txBody>
          <a:bodyPr/>
          <a:lstStyle/>
          <a:p>
            <a:pPr marL="230188" indent="-230188" eaLnBrk="1" hangingPunct="1">
              <a:lnSpc>
                <a:spcPct val="100000"/>
              </a:lnSpc>
            </a:pPr>
            <a:r>
              <a:rPr lang="en-US" sz="2000" dirty="0"/>
              <a:t>How do you find use cases?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47</a:t>
            </a:fld>
            <a:endParaRPr lang="en-US"/>
          </a:p>
        </p:txBody>
      </p:sp>
    </p:spTree>
    <p:extLst>
      <p:ext uri="{BB962C8B-B14F-4D97-AF65-F5344CB8AC3E}">
        <p14:creationId xmlns:p14="http://schemas.microsoft.com/office/powerpoint/2010/main" val="5514461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p:cNvSpPr>
            <a:spLocks noGrp="1" noChangeArrowheads="1"/>
          </p:cNvSpPr>
          <p:nvPr>
            <p:ph type="title"/>
          </p:nvPr>
        </p:nvSpPr>
        <p:spPr/>
        <p:txBody>
          <a:bodyPr/>
          <a:lstStyle/>
          <a:p>
            <a:r>
              <a:rPr lang="en-US"/>
              <a:t>Relating Use-case</a:t>
            </a:r>
            <a:endParaRPr lang="en-US" dirty="0"/>
          </a:p>
        </p:txBody>
      </p:sp>
      <p:sp>
        <p:nvSpPr>
          <p:cNvPr id="58374" name="Rectangle 4"/>
          <p:cNvSpPr>
            <a:spLocks noGrp="1" noChangeArrowheads="1"/>
          </p:cNvSpPr>
          <p:nvPr>
            <p:ph type="body" idx="1"/>
          </p:nvPr>
        </p:nvSpPr>
        <p:spPr/>
        <p:txBody>
          <a:bodyPr/>
          <a:lstStyle/>
          <a:p>
            <a:r>
              <a:rPr lang="en-US" sz="2000" dirty="0"/>
              <a:t>Use cases can be related to each other.</a:t>
            </a:r>
          </a:p>
          <a:p>
            <a:pPr lvl="1"/>
            <a:r>
              <a:rPr lang="en-US" sz="2000" dirty="0"/>
              <a:t>includes, extends, and generalization-specification</a:t>
            </a:r>
          </a:p>
          <a:p>
            <a:r>
              <a:rPr lang="en-US" sz="2000" dirty="0"/>
              <a:t>We explore:</a:t>
            </a:r>
          </a:p>
          <a:p>
            <a:pPr lvl="1"/>
            <a:r>
              <a:rPr lang="en-US" sz="2000" dirty="0"/>
              <a:t>Concepts.</a:t>
            </a:r>
          </a:p>
          <a:p>
            <a:pPr lvl="1"/>
            <a:r>
              <a:rPr lang="en-US" sz="2000" dirty="0"/>
              <a:t>Notation.</a:t>
            </a:r>
          </a:p>
          <a:p>
            <a:pPr lvl="1"/>
            <a:r>
              <a:rPr lang="en-US" sz="2000" dirty="0"/>
              <a:t>Practice.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48</a:t>
            </a:fld>
            <a:endParaRPr lang="en-US"/>
          </a:p>
        </p:txBody>
      </p:sp>
    </p:spTree>
    <p:extLst>
      <p:ext uri="{BB962C8B-B14F-4D97-AF65-F5344CB8AC3E}">
        <p14:creationId xmlns:p14="http://schemas.microsoft.com/office/powerpoint/2010/main" val="305665909"/>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lstStyle/>
          <a:p>
            <a:r>
              <a:rPr lang="en-US"/>
              <a:t>Relating Use Cases</a:t>
            </a:r>
            <a:endParaRPr lang="en-US" dirty="0"/>
          </a:p>
        </p:txBody>
      </p:sp>
      <p:sp>
        <p:nvSpPr>
          <p:cNvPr id="59398" name="Rectangle 3"/>
          <p:cNvSpPr>
            <a:spLocks noGrp="1" noChangeArrowheads="1"/>
          </p:cNvSpPr>
          <p:nvPr>
            <p:ph type="body" idx="1"/>
          </p:nvPr>
        </p:nvSpPr>
        <p:spPr/>
        <p:txBody>
          <a:bodyPr/>
          <a:lstStyle/>
          <a:p>
            <a:r>
              <a:rPr lang="en-US" sz="2000" dirty="0"/>
              <a:t>Use cases can be organized and related to simplify their descriptions. </a:t>
            </a:r>
          </a:p>
          <a:p>
            <a:r>
              <a:rPr lang="en-US" sz="2000" dirty="0"/>
              <a:t>Three associations are:</a:t>
            </a:r>
          </a:p>
          <a:p>
            <a:pPr lvl="1"/>
            <a:r>
              <a:rPr lang="en-US" sz="2000" dirty="0"/>
              <a:t>Includes. </a:t>
            </a:r>
          </a:p>
          <a:p>
            <a:pPr lvl="1"/>
            <a:r>
              <a:rPr lang="en-US" sz="2000" dirty="0"/>
              <a:t>Extends.</a:t>
            </a:r>
          </a:p>
          <a:p>
            <a:pPr lvl="1"/>
            <a:r>
              <a:rPr lang="en-US" sz="2000" dirty="0"/>
              <a:t>Generalization-specialization.</a:t>
            </a:r>
          </a:p>
        </p:txBody>
      </p:sp>
      <p:sp>
        <p:nvSpPr>
          <p:cNvPr id="2" name="Slide Number Placeholder 1"/>
          <p:cNvSpPr>
            <a:spLocks noGrp="1"/>
          </p:cNvSpPr>
          <p:nvPr>
            <p:ph type="sldNum" sz="quarter" idx="12"/>
          </p:nvPr>
        </p:nvSpPr>
        <p:spPr/>
        <p:txBody>
          <a:bodyPr/>
          <a:lstStyle/>
          <a:p>
            <a:fld id="{DED05017-923D-480E-B02E-B52739184DCA}" type="slidenum">
              <a:rPr lang="en-US" smtClean="0"/>
              <a:pPr/>
              <a:t>49</a:t>
            </a:fld>
            <a:endParaRPr lang="en-US"/>
          </a:p>
        </p:txBody>
      </p:sp>
    </p:spTree>
    <p:extLst>
      <p:ext uri="{BB962C8B-B14F-4D97-AF65-F5344CB8AC3E}">
        <p14:creationId xmlns:p14="http://schemas.microsoft.com/office/powerpoint/2010/main" val="423734224"/>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1" name="Rectangle 3"/>
          <p:cNvSpPr>
            <a:spLocks noGrp="1" noChangeArrowheads="1"/>
          </p:cNvSpPr>
          <p:nvPr>
            <p:ph type="title"/>
          </p:nvPr>
        </p:nvSpPr>
        <p:spPr/>
        <p:txBody>
          <a:bodyPr/>
          <a:lstStyle/>
          <a:p>
            <a:r>
              <a:rPr lang="en-US"/>
              <a:t>Includes</a:t>
            </a:r>
            <a:endParaRPr lang="en-US" dirty="0"/>
          </a:p>
        </p:txBody>
      </p:sp>
      <p:sp>
        <p:nvSpPr>
          <p:cNvPr id="5127" name="Rectangle 4"/>
          <p:cNvSpPr>
            <a:spLocks noGrp="1" noChangeArrowheads="1"/>
          </p:cNvSpPr>
          <p:nvPr>
            <p:ph type="body" idx="1"/>
          </p:nvPr>
        </p:nvSpPr>
        <p:spPr/>
        <p:txBody>
          <a:bodyPr/>
          <a:lstStyle/>
          <a:p>
            <a:r>
              <a:rPr lang="en-US" sz="2000" dirty="0"/>
              <a:t>includes: “The insertion of additional behavior into a base use case that explicitly describes the insertion.”</a:t>
            </a:r>
          </a:p>
          <a:p>
            <a:pPr lvl="1"/>
            <a:r>
              <a:rPr lang="en-US" sz="2000" dirty="0"/>
              <a:t>Used to factor out a shared </a:t>
            </a:r>
            <a:r>
              <a:rPr lang="en-US" sz="2000" dirty="0" err="1"/>
              <a:t>subprocess</a:t>
            </a:r>
            <a:r>
              <a:rPr lang="en-US" sz="2000" dirty="0"/>
              <a:t>.</a:t>
            </a:r>
          </a:p>
        </p:txBody>
      </p:sp>
      <p:graphicFrame>
        <p:nvGraphicFramePr>
          <p:cNvPr id="5122" name="Object 2"/>
          <p:cNvGraphicFramePr>
            <a:graphicFrameLocks/>
          </p:cNvGraphicFramePr>
          <p:nvPr/>
        </p:nvGraphicFramePr>
        <p:xfrm>
          <a:off x="2362200" y="2895600"/>
          <a:ext cx="4572000" cy="3352800"/>
        </p:xfrm>
        <a:graphic>
          <a:graphicData uri="http://schemas.openxmlformats.org/presentationml/2006/ole">
            <mc:AlternateContent xmlns:mc="http://schemas.openxmlformats.org/markup-compatibility/2006">
              <mc:Choice xmlns:v="urn:schemas-microsoft-com:vml" Requires="v">
                <p:oleObj spid="_x0000_s13335" name="VISIO" r:id="rId4" imgW="2469960" imgH="1835280" progId="Visio.Drawing.5">
                  <p:embed/>
                </p:oleObj>
              </mc:Choice>
              <mc:Fallback>
                <p:oleObj name="VISIO" r:id="rId4" imgW="2469960" imgH="1835280" progId="Visio.Drawing.5">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895600"/>
                        <a:ext cx="45720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DED05017-923D-480E-B02E-B52739184DCA}" type="slidenum">
              <a:rPr lang="en-US" smtClean="0"/>
              <a:pPr/>
              <a:t>50</a:t>
            </a:fld>
            <a:endParaRPr lang="en-US"/>
          </a:p>
        </p:txBody>
      </p:sp>
    </p:spTree>
    <p:extLst>
      <p:ext uri="{BB962C8B-B14F-4D97-AF65-F5344CB8AC3E}">
        <p14:creationId xmlns:p14="http://schemas.microsoft.com/office/powerpoint/2010/main" val="3291783828"/>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pPr eaLnBrk="1" hangingPunct="1">
              <a:defRPr/>
            </a:pPr>
            <a:r>
              <a:rPr lang="en-US" sz="2800" dirty="0"/>
              <a:t>Includes </a:t>
            </a:r>
            <a:r>
              <a:rPr lang="en-US" sz="2000" dirty="0"/>
              <a:t>(continued)</a:t>
            </a:r>
            <a:endParaRPr lang="en-US" sz="2800" dirty="0"/>
          </a:p>
        </p:txBody>
      </p:sp>
      <p:sp>
        <p:nvSpPr>
          <p:cNvPr id="60422" name="Rectangle 3"/>
          <p:cNvSpPr>
            <a:spLocks noGrp="1" noChangeArrowheads="1"/>
          </p:cNvSpPr>
          <p:nvPr>
            <p:ph type="body" idx="1"/>
          </p:nvPr>
        </p:nvSpPr>
        <p:spPr/>
        <p:txBody>
          <a:bodyPr/>
          <a:lstStyle/>
          <a:p>
            <a:pPr marL="285750" indent="-285750" eaLnBrk="1" hangingPunct="1"/>
            <a:r>
              <a:rPr lang="en-US" sz="2000" dirty="0"/>
              <a:t>When a super-task use case (base use case) uses a subtask use case (an abstract use case).</a:t>
            </a:r>
          </a:p>
          <a:p>
            <a:pPr marL="685800" lvl="1" indent="-228600" eaLnBrk="1" hangingPunct="1">
              <a:lnSpc>
                <a:spcPct val="80000"/>
              </a:lnSpc>
              <a:buFont typeface="Wingdings" pitchFamily="2" charset="2"/>
              <a:buNone/>
            </a:pPr>
            <a:r>
              <a:rPr lang="en-US" sz="2000" dirty="0"/>
              <a:t>   An abstract use case is a factored-out subtask that does not stand on its own as a complete, separate process.</a:t>
            </a:r>
          </a:p>
          <a:p>
            <a:pPr marL="285750" indent="-285750" eaLnBrk="1" hangingPunct="1"/>
            <a:r>
              <a:rPr lang="en-US" sz="2000" dirty="0"/>
              <a:t>In the use-case text, the base use case explicitly initiates the abstract use case.</a:t>
            </a:r>
          </a:p>
          <a:p>
            <a:pPr marL="685800" lvl="1" indent="-228600" eaLnBrk="1" hangingPunct="1">
              <a:buFont typeface="Wingdings" pitchFamily="2" charset="2"/>
              <a:buNone/>
            </a:pPr>
            <a:r>
              <a:rPr lang="en-US" sz="2000" dirty="0"/>
              <a:t>    “</a:t>
            </a:r>
            <a:r>
              <a:rPr lang="en-US" sz="2000" i="1" dirty="0"/>
              <a:t>initiates”</a:t>
            </a:r>
            <a:r>
              <a:rPr lang="en-US" sz="2000" dirty="0"/>
              <a:t> is a verb favored by some use case writers.</a:t>
            </a:r>
          </a:p>
          <a:p>
            <a:pPr lvl="2" eaLnBrk="1" hangingPunct="1">
              <a:buFontTx/>
              <a:buNone/>
            </a:pPr>
            <a:r>
              <a:rPr lang="en-US" dirty="0"/>
              <a:t>   Use Case: Borrow Resources</a:t>
            </a:r>
          </a:p>
          <a:p>
            <a:pPr lvl="2" eaLnBrk="1" hangingPunct="1">
              <a:buFontTx/>
              <a:buNone/>
            </a:pPr>
            <a:r>
              <a:rPr lang="en-US" dirty="0"/>
              <a:t>   ... 	</a:t>
            </a:r>
          </a:p>
          <a:p>
            <a:pPr lvl="2" eaLnBrk="1" hangingPunct="1">
              <a:buFontTx/>
              <a:buNone/>
            </a:pPr>
            <a:r>
              <a:rPr lang="en-US" dirty="0"/>
              <a:t>   Step 5. Initiate use case Check Library Privileges</a:t>
            </a:r>
          </a:p>
          <a:p>
            <a:pPr lvl="2" eaLnBrk="1" hangingPunct="1">
              <a:buFontTx/>
              <a:buNone/>
            </a:pPr>
            <a:r>
              <a:rPr lang="en-US" dirty="0"/>
              <a:t>   ...</a:t>
            </a:r>
          </a:p>
        </p:txBody>
      </p:sp>
      <p:sp>
        <p:nvSpPr>
          <p:cNvPr id="2" name="Slide Number Placeholder 1"/>
          <p:cNvSpPr>
            <a:spLocks noGrp="1"/>
          </p:cNvSpPr>
          <p:nvPr>
            <p:ph type="sldNum" sz="quarter" idx="12"/>
          </p:nvPr>
        </p:nvSpPr>
        <p:spPr/>
        <p:txBody>
          <a:bodyPr/>
          <a:lstStyle/>
          <a:p>
            <a:fld id="{DED05017-923D-480E-B02E-B52739184DCA}" type="slidenum">
              <a:rPr lang="en-US" smtClean="0"/>
              <a:pPr/>
              <a:t>51</a:t>
            </a:fld>
            <a:endParaRPr lang="en-US"/>
          </a:p>
        </p:txBody>
      </p:sp>
    </p:spTree>
    <p:extLst>
      <p:ext uri="{BB962C8B-B14F-4D97-AF65-F5344CB8AC3E}">
        <p14:creationId xmlns:p14="http://schemas.microsoft.com/office/powerpoint/2010/main" val="2965040324"/>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pPr eaLnBrk="1" hangingPunct="1">
              <a:defRPr/>
            </a:pPr>
            <a:r>
              <a:rPr lang="en-US" sz="2800" dirty="0"/>
              <a:t>Includes </a:t>
            </a:r>
            <a:r>
              <a:rPr lang="en-US" sz="2000" dirty="0"/>
              <a:t>(continued)</a:t>
            </a:r>
            <a:endParaRPr lang="en-US" sz="2800" dirty="0"/>
          </a:p>
        </p:txBody>
      </p:sp>
      <p:sp>
        <p:nvSpPr>
          <p:cNvPr id="61446" name="Rectangle 3"/>
          <p:cNvSpPr>
            <a:spLocks noGrp="1" noChangeArrowheads="1"/>
          </p:cNvSpPr>
          <p:nvPr>
            <p:ph type="body" idx="1"/>
          </p:nvPr>
        </p:nvSpPr>
        <p:spPr/>
        <p:txBody>
          <a:bodyPr/>
          <a:lstStyle/>
          <a:p>
            <a:pPr marL="285750" indent="-285750" eaLnBrk="1" hangingPunct="1"/>
            <a:r>
              <a:rPr lang="en-US" sz="2000" dirty="0"/>
              <a:t>When to use?</a:t>
            </a:r>
          </a:p>
          <a:p>
            <a:pPr marL="685800" lvl="1" indent="-228600" eaLnBrk="1" hangingPunct="1">
              <a:lnSpc>
                <a:spcPct val="85000"/>
              </a:lnSpc>
            </a:pPr>
            <a:r>
              <a:rPr lang="en-US" sz="2000" dirty="0"/>
              <a:t>When several use cases share a common </a:t>
            </a:r>
            <a:r>
              <a:rPr lang="en-US" sz="2000" dirty="0" err="1"/>
              <a:t>subflow</a:t>
            </a:r>
            <a:r>
              <a:rPr lang="en-US" sz="2000" dirty="0"/>
              <a:t> that can be factored out.</a:t>
            </a:r>
          </a:p>
          <a:p>
            <a:pPr marL="685800" lvl="1" indent="-228600" eaLnBrk="1" hangingPunct="1">
              <a:lnSpc>
                <a:spcPct val="85000"/>
              </a:lnSpc>
            </a:pPr>
            <a:r>
              <a:rPr lang="en-US" sz="2000" dirty="0"/>
              <a:t>When a use case is too complex and needs factoring into smaller, understandable chunks.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52</a:t>
            </a:fld>
            <a:endParaRPr lang="en-US"/>
          </a:p>
        </p:txBody>
      </p:sp>
    </p:spTree>
    <p:extLst>
      <p:ext uri="{BB962C8B-B14F-4D97-AF65-F5344CB8AC3E}">
        <p14:creationId xmlns:p14="http://schemas.microsoft.com/office/powerpoint/2010/main" val="2824194049"/>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5" name="Rectangle 3"/>
          <p:cNvSpPr>
            <a:spLocks noGrp="1" noChangeArrowheads="1"/>
          </p:cNvSpPr>
          <p:nvPr>
            <p:ph type="title"/>
          </p:nvPr>
        </p:nvSpPr>
        <p:spPr/>
        <p:txBody>
          <a:bodyPr/>
          <a:lstStyle/>
          <a:p>
            <a:r>
              <a:rPr lang="en-US" sz="2800"/>
              <a:t>Extends</a:t>
            </a:r>
            <a:endParaRPr lang="en-US" sz="2800" dirty="0"/>
          </a:p>
        </p:txBody>
      </p:sp>
      <p:sp>
        <p:nvSpPr>
          <p:cNvPr id="6151" name="Rectangle 4"/>
          <p:cNvSpPr>
            <a:spLocks noGrp="1" noChangeArrowheads="1"/>
          </p:cNvSpPr>
          <p:nvPr>
            <p:ph type="body" idx="1"/>
          </p:nvPr>
        </p:nvSpPr>
        <p:spPr/>
        <p:txBody>
          <a:bodyPr/>
          <a:lstStyle/>
          <a:p>
            <a:r>
              <a:rPr lang="en-US" sz="2000" dirty="0"/>
              <a:t>extends: “The insertion of additional behavior into a base use case that does not know about it.”</a:t>
            </a:r>
          </a:p>
          <a:p>
            <a:r>
              <a:rPr lang="en-US" sz="2000" dirty="0"/>
              <a:t>Used to extend an existing self-complete story.</a:t>
            </a:r>
          </a:p>
        </p:txBody>
      </p:sp>
      <p:graphicFrame>
        <p:nvGraphicFramePr>
          <p:cNvPr id="6146" name="Object 2"/>
          <p:cNvGraphicFramePr>
            <a:graphicFrameLocks/>
          </p:cNvGraphicFramePr>
          <p:nvPr/>
        </p:nvGraphicFramePr>
        <p:xfrm>
          <a:off x="2205038" y="2898775"/>
          <a:ext cx="4802187" cy="3143250"/>
        </p:xfrm>
        <a:graphic>
          <a:graphicData uri="http://schemas.openxmlformats.org/presentationml/2006/ole">
            <mc:AlternateContent xmlns:mc="http://schemas.openxmlformats.org/markup-compatibility/2006">
              <mc:Choice xmlns:v="urn:schemas-microsoft-com:vml" Requires="v">
                <p:oleObj spid="_x0000_s14360" name="VISIO" r:id="rId4" imgW="2469960" imgH="1700640" progId="Visio.Drawing.5">
                  <p:embed/>
                </p:oleObj>
              </mc:Choice>
              <mc:Fallback>
                <p:oleObj name="VISIO" r:id="rId4" imgW="2469960" imgH="1700640" progId="Visio.Drawing.5">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038" y="2898775"/>
                        <a:ext cx="4802187"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DED05017-923D-480E-B02E-B52739184DCA}" type="slidenum">
              <a:rPr lang="en-US" smtClean="0"/>
              <a:pPr/>
              <a:t>53</a:t>
            </a:fld>
            <a:endParaRPr lang="en-US"/>
          </a:p>
        </p:txBody>
      </p:sp>
    </p:spTree>
    <p:extLst>
      <p:ext uri="{BB962C8B-B14F-4D97-AF65-F5344CB8AC3E}">
        <p14:creationId xmlns:p14="http://schemas.microsoft.com/office/powerpoint/2010/main" val="1591136956"/>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p:txBody>
          <a:bodyPr/>
          <a:lstStyle/>
          <a:p>
            <a:r>
              <a:rPr lang="en-US" sz="2800"/>
              <a:t>Extends (continued)</a:t>
            </a:r>
            <a:endParaRPr lang="en-US" sz="2800" dirty="0"/>
          </a:p>
        </p:txBody>
      </p:sp>
      <p:sp>
        <p:nvSpPr>
          <p:cNvPr id="62470" name="Rectangle 3"/>
          <p:cNvSpPr>
            <a:spLocks noGrp="1" noChangeArrowheads="1"/>
          </p:cNvSpPr>
          <p:nvPr>
            <p:ph type="body" idx="1"/>
          </p:nvPr>
        </p:nvSpPr>
        <p:spPr/>
        <p:txBody>
          <a:bodyPr/>
          <a:lstStyle/>
          <a:p>
            <a:r>
              <a:rPr lang="en-US" sz="2000" dirty="0"/>
              <a:t>When a second use case extends the story of the first use case.</a:t>
            </a:r>
          </a:p>
          <a:p>
            <a:pPr lvl="1"/>
            <a:r>
              <a:rPr lang="en-US" sz="2000" dirty="0"/>
              <a:t>“Chapter 1 followed by Chapter 2.”</a:t>
            </a:r>
          </a:p>
          <a:p>
            <a:r>
              <a:rPr lang="en-US" sz="2000" dirty="0"/>
              <a:t>The two use cases are complete on their own.</a:t>
            </a:r>
          </a:p>
          <a:p>
            <a:r>
              <a:rPr lang="en-US" sz="2000" dirty="0"/>
              <a:t>The first use case does not know about or refer to the second use case.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54</a:t>
            </a:fld>
            <a:endParaRPr lang="en-US"/>
          </a:p>
        </p:txBody>
      </p:sp>
    </p:spTree>
    <p:extLst>
      <p:ext uri="{BB962C8B-B14F-4D97-AF65-F5344CB8AC3E}">
        <p14:creationId xmlns:p14="http://schemas.microsoft.com/office/powerpoint/2010/main" val="3040076647"/>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p:txBody>
          <a:bodyPr/>
          <a:lstStyle/>
          <a:p>
            <a:r>
              <a:rPr lang="en-US" sz="2800"/>
              <a:t>Extends (continued)</a:t>
            </a:r>
            <a:endParaRPr lang="en-US" sz="2800" dirty="0"/>
          </a:p>
        </p:txBody>
      </p:sp>
      <p:sp>
        <p:nvSpPr>
          <p:cNvPr id="63494" name="Rectangle 3"/>
          <p:cNvSpPr>
            <a:spLocks noGrp="1" noChangeArrowheads="1"/>
          </p:cNvSpPr>
          <p:nvPr>
            <p:ph type="body" idx="1"/>
          </p:nvPr>
        </p:nvSpPr>
        <p:spPr/>
        <p:txBody>
          <a:bodyPr/>
          <a:lstStyle/>
          <a:p>
            <a:r>
              <a:rPr lang="en-US" sz="2000" dirty="0"/>
              <a:t>The second use case can extend the first at its end or at any point - the extension point.</a:t>
            </a:r>
          </a:p>
          <a:p>
            <a:r>
              <a:rPr lang="en-US" sz="2000" dirty="0"/>
              <a:t>The second use case might unconditionally extend the first or only under some condition.</a:t>
            </a:r>
          </a:p>
          <a:p>
            <a:r>
              <a:rPr lang="en-US" sz="2000" dirty="0"/>
              <a:t>In the use case text of the second, it notes (in the Cross Reference section) that it extends the first.</a:t>
            </a:r>
          </a:p>
          <a:p>
            <a:pPr lvl="2"/>
            <a:r>
              <a:rPr lang="en-US" dirty="0"/>
              <a:t>Use Case:    Return Resources</a:t>
            </a:r>
          </a:p>
          <a:p>
            <a:pPr lvl="2"/>
            <a:r>
              <a:rPr lang="en-US" dirty="0"/>
              <a:t>Cross-References:  Extends use case Borrow Resources</a:t>
            </a:r>
          </a:p>
          <a:p>
            <a:pPr lvl="2"/>
            <a:r>
              <a:rPr lang="en-US" dirty="0"/>
              <a:t>...</a:t>
            </a:r>
          </a:p>
        </p:txBody>
      </p:sp>
      <p:sp>
        <p:nvSpPr>
          <p:cNvPr id="2" name="Slide Number Placeholder 1"/>
          <p:cNvSpPr>
            <a:spLocks noGrp="1"/>
          </p:cNvSpPr>
          <p:nvPr>
            <p:ph type="sldNum" sz="quarter" idx="12"/>
          </p:nvPr>
        </p:nvSpPr>
        <p:spPr/>
        <p:txBody>
          <a:bodyPr/>
          <a:lstStyle/>
          <a:p>
            <a:fld id="{DED05017-923D-480E-B02E-B52739184DCA}" type="slidenum">
              <a:rPr lang="en-US" smtClean="0"/>
              <a:pPr/>
              <a:t>55</a:t>
            </a:fld>
            <a:endParaRPr lang="en-US"/>
          </a:p>
        </p:txBody>
      </p:sp>
    </p:spTree>
    <p:extLst>
      <p:ext uri="{BB962C8B-B14F-4D97-AF65-F5344CB8AC3E}">
        <p14:creationId xmlns:p14="http://schemas.microsoft.com/office/powerpoint/2010/main" val="2380629752"/>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r>
              <a:rPr lang="en-US" sz="2800"/>
              <a:t>Extends (continued)</a:t>
            </a:r>
            <a:endParaRPr lang="en-US" sz="2800" dirty="0"/>
          </a:p>
        </p:txBody>
      </p:sp>
      <p:sp>
        <p:nvSpPr>
          <p:cNvPr id="64518" name="Rectangle 3"/>
          <p:cNvSpPr>
            <a:spLocks noGrp="1" noChangeArrowheads="1"/>
          </p:cNvSpPr>
          <p:nvPr>
            <p:ph type="body" idx="1"/>
          </p:nvPr>
        </p:nvSpPr>
        <p:spPr/>
        <p:txBody>
          <a:bodyPr/>
          <a:lstStyle/>
          <a:p>
            <a:r>
              <a:rPr lang="en-US" sz="2000" dirty="0"/>
              <a:t>When to use?</a:t>
            </a:r>
          </a:p>
          <a:p>
            <a:pPr lvl="1"/>
            <a:r>
              <a:rPr lang="en-US" sz="2000" dirty="0"/>
              <a:t>To add new possible </a:t>
            </a:r>
            <a:r>
              <a:rPr lang="en-US" sz="2000" dirty="0" err="1"/>
              <a:t>postflows</a:t>
            </a:r>
            <a:r>
              <a:rPr lang="en-US" sz="2000" dirty="0"/>
              <a:t> to a complete use case.</a:t>
            </a:r>
          </a:p>
          <a:p>
            <a:pPr lvl="1"/>
            <a:r>
              <a:rPr lang="en-US" sz="2000" dirty="0"/>
              <a:t>To show a conditional or alternate </a:t>
            </a:r>
            <a:r>
              <a:rPr lang="en-US" sz="2000" dirty="0" err="1"/>
              <a:t>subflow</a:t>
            </a:r>
            <a:r>
              <a:rPr lang="en-US" sz="2000" dirty="0"/>
              <a:t>.</a:t>
            </a:r>
          </a:p>
          <a:p>
            <a:endParaRPr lang="en-US" sz="2000" dirty="0"/>
          </a:p>
        </p:txBody>
      </p:sp>
      <p:sp>
        <p:nvSpPr>
          <p:cNvPr id="2" name="Slide Number Placeholder 1"/>
          <p:cNvSpPr>
            <a:spLocks noGrp="1"/>
          </p:cNvSpPr>
          <p:nvPr>
            <p:ph type="sldNum" sz="quarter" idx="12"/>
          </p:nvPr>
        </p:nvSpPr>
        <p:spPr/>
        <p:txBody>
          <a:bodyPr/>
          <a:lstStyle/>
          <a:p>
            <a:fld id="{DED05017-923D-480E-B02E-B52739184DCA}" type="slidenum">
              <a:rPr lang="en-US" smtClean="0"/>
              <a:pPr/>
              <a:t>56</a:t>
            </a:fld>
            <a:endParaRPr lang="en-US"/>
          </a:p>
        </p:txBody>
      </p:sp>
    </p:spTree>
    <p:extLst>
      <p:ext uri="{BB962C8B-B14F-4D97-AF65-F5344CB8AC3E}">
        <p14:creationId xmlns:p14="http://schemas.microsoft.com/office/powerpoint/2010/main" val="1060906947"/>
      </p:ext>
    </p:extLst>
  </p:cSld>
  <p:clrMapOvr>
    <a:masterClrMapping/>
  </p:clrMapOvr>
  <p:transition>
    <p:pull/>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7" name="Rectangle 3"/>
          <p:cNvSpPr>
            <a:spLocks noGrp="1" noChangeArrowheads="1"/>
          </p:cNvSpPr>
          <p:nvPr>
            <p:ph type="title"/>
          </p:nvPr>
        </p:nvSpPr>
        <p:spPr/>
        <p:txBody>
          <a:bodyPr/>
          <a:lstStyle/>
          <a:p>
            <a:r>
              <a:rPr lang="en-US" sz="2800"/>
              <a:t>Generalization-Specialization</a:t>
            </a:r>
            <a:endParaRPr lang="en-US" sz="2800" dirty="0"/>
          </a:p>
        </p:txBody>
      </p:sp>
      <p:sp>
        <p:nvSpPr>
          <p:cNvPr id="7175" name="Rectangle 4"/>
          <p:cNvSpPr>
            <a:spLocks noGrp="1" noChangeArrowheads="1"/>
          </p:cNvSpPr>
          <p:nvPr>
            <p:ph type="body" idx="1"/>
          </p:nvPr>
        </p:nvSpPr>
        <p:spPr/>
        <p:txBody>
          <a:bodyPr/>
          <a:lstStyle/>
          <a:p>
            <a:r>
              <a:rPr lang="en-US" sz="2000" dirty="0"/>
              <a:t>“… to add a more specific use case that inherits and adds features to (a more general use case).”</a:t>
            </a:r>
          </a:p>
        </p:txBody>
      </p:sp>
      <p:graphicFrame>
        <p:nvGraphicFramePr>
          <p:cNvPr id="7170" name="Object 2"/>
          <p:cNvGraphicFramePr>
            <a:graphicFrameLocks/>
          </p:cNvGraphicFramePr>
          <p:nvPr/>
        </p:nvGraphicFramePr>
        <p:xfrm>
          <a:off x="1447800" y="2667000"/>
          <a:ext cx="6324600" cy="3124200"/>
        </p:xfrm>
        <a:graphic>
          <a:graphicData uri="http://schemas.openxmlformats.org/presentationml/2006/ole">
            <mc:AlternateContent xmlns:mc="http://schemas.openxmlformats.org/markup-compatibility/2006">
              <mc:Choice xmlns:v="urn:schemas-microsoft-com:vml" Requires="v">
                <p:oleObj spid="_x0000_s15384" name="VISIO" r:id="rId4" imgW="2441160" imgH="1270080" progId="Visio.Drawing.5">
                  <p:embed/>
                </p:oleObj>
              </mc:Choice>
              <mc:Fallback>
                <p:oleObj name="VISIO" r:id="rId4" imgW="2441160" imgH="1270080" progId="Visio.Drawing.5">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667000"/>
                        <a:ext cx="63246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DED05017-923D-480E-B02E-B52739184DCA}" type="slidenum">
              <a:rPr lang="en-US" smtClean="0"/>
              <a:pPr/>
              <a:t>57</a:t>
            </a:fld>
            <a:endParaRPr lang="en-US"/>
          </a:p>
        </p:txBody>
      </p:sp>
    </p:spTree>
    <p:extLst>
      <p:ext uri="{BB962C8B-B14F-4D97-AF65-F5344CB8AC3E}">
        <p14:creationId xmlns:p14="http://schemas.microsoft.com/office/powerpoint/2010/main" val="1049730560"/>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en-US" sz="2800" dirty="0"/>
              <a:t>Generalization-Specialization (continued)</a:t>
            </a:r>
          </a:p>
        </p:txBody>
      </p:sp>
      <p:sp>
        <p:nvSpPr>
          <p:cNvPr id="65542" name="Rectangle 3"/>
          <p:cNvSpPr>
            <a:spLocks noGrp="1" noChangeArrowheads="1"/>
          </p:cNvSpPr>
          <p:nvPr>
            <p:ph type="body" idx="1"/>
          </p:nvPr>
        </p:nvSpPr>
        <p:spPr/>
        <p:txBody>
          <a:bodyPr/>
          <a:lstStyle/>
          <a:p>
            <a:r>
              <a:rPr lang="en-US" sz="2000" dirty="0"/>
              <a:t>   Example:</a:t>
            </a:r>
          </a:p>
          <a:p>
            <a:pPr lvl="2"/>
            <a:r>
              <a:rPr lang="en-US" dirty="0"/>
              <a:t>Use Case: Pay Fine</a:t>
            </a:r>
          </a:p>
          <a:p>
            <a:pPr lvl="2"/>
            <a:r>
              <a:rPr lang="en-US" dirty="0"/>
              <a:t>... 	</a:t>
            </a:r>
          </a:p>
          <a:p>
            <a:pPr lvl="2"/>
            <a:r>
              <a:rPr lang="en-US" dirty="0"/>
              <a:t>Step 3. Initiate use case Arrange Payment</a:t>
            </a:r>
          </a:p>
          <a:p>
            <a:pPr lvl="2"/>
            <a:r>
              <a:rPr lang="en-US" dirty="0"/>
              <a:t>…</a:t>
            </a:r>
          </a:p>
          <a:p>
            <a:pPr lvl="2"/>
            <a:r>
              <a:rPr lang="en-US" dirty="0"/>
              <a:t>- - - - - - - - - - - - - - - - - - - - - - - - - - - - - - - - </a:t>
            </a:r>
          </a:p>
          <a:p>
            <a:pPr lvl="2"/>
            <a:r>
              <a:rPr lang="en-US" dirty="0"/>
              <a:t>Use Case: Arrange Payment</a:t>
            </a:r>
          </a:p>
          <a:p>
            <a:pPr lvl="2"/>
            <a:r>
              <a:rPr lang="en-US" dirty="0"/>
              <a:t>Step 1. Collect payment</a:t>
            </a:r>
          </a:p>
          <a:p>
            <a:pPr lvl="2"/>
            <a:r>
              <a:rPr lang="en-US" dirty="0"/>
              <a:t>Step 2: Verify payment</a:t>
            </a:r>
          </a:p>
          <a:p>
            <a:pPr lvl="2"/>
            <a:r>
              <a:rPr lang="en-US" dirty="0"/>
              <a:t>Step 3: Record payment</a:t>
            </a:r>
          </a:p>
          <a:p>
            <a:pPr lvl="2"/>
            <a:endParaRPr lang="en-US" dirty="0"/>
          </a:p>
        </p:txBody>
      </p:sp>
      <p:sp>
        <p:nvSpPr>
          <p:cNvPr id="2" name="Slide Number Placeholder 1"/>
          <p:cNvSpPr>
            <a:spLocks noGrp="1"/>
          </p:cNvSpPr>
          <p:nvPr>
            <p:ph type="sldNum" sz="quarter" idx="12"/>
          </p:nvPr>
        </p:nvSpPr>
        <p:spPr/>
        <p:txBody>
          <a:bodyPr/>
          <a:lstStyle/>
          <a:p>
            <a:fld id="{DED05017-923D-480E-B02E-B52739184DCA}" type="slidenum">
              <a:rPr lang="en-US" smtClean="0"/>
              <a:pPr/>
              <a:t>58</a:t>
            </a:fld>
            <a:endParaRPr lang="en-US"/>
          </a:p>
        </p:txBody>
      </p:sp>
    </p:spTree>
    <p:extLst>
      <p:ext uri="{BB962C8B-B14F-4D97-AF65-F5344CB8AC3E}">
        <p14:creationId xmlns:p14="http://schemas.microsoft.com/office/powerpoint/2010/main" val="1517934907"/>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pPr eaLnBrk="1" hangingPunct="1">
              <a:defRPr/>
            </a:pPr>
            <a:r>
              <a:rPr lang="en-US" sz="2800"/>
              <a:t>Generalization-Specialization </a:t>
            </a:r>
            <a:r>
              <a:rPr lang="en-US" sz="2000"/>
              <a:t>(continued)</a:t>
            </a:r>
            <a:endParaRPr lang="en-US" sz="2800" dirty="0"/>
          </a:p>
        </p:txBody>
      </p:sp>
      <p:sp>
        <p:nvSpPr>
          <p:cNvPr id="66566" name="Rectangle 3"/>
          <p:cNvSpPr>
            <a:spLocks noGrp="1" noChangeArrowheads="1"/>
          </p:cNvSpPr>
          <p:nvPr>
            <p:ph type="body" idx="1"/>
          </p:nvPr>
        </p:nvSpPr>
        <p:spPr/>
        <p:txBody>
          <a:bodyPr/>
          <a:lstStyle/>
          <a:p>
            <a:pPr lvl="2" eaLnBrk="1" hangingPunct="1">
              <a:buFontTx/>
              <a:buNone/>
            </a:pPr>
            <a:r>
              <a:rPr lang="en-US" dirty="0"/>
              <a:t>Use Case: Pay by Cash</a:t>
            </a:r>
          </a:p>
          <a:p>
            <a:pPr lvl="2" eaLnBrk="1" hangingPunct="1">
              <a:buFontTx/>
              <a:buNone/>
            </a:pPr>
            <a:r>
              <a:rPr lang="en-US" dirty="0"/>
              <a:t>Cross References: Specializes Arrange Payment</a:t>
            </a:r>
          </a:p>
          <a:p>
            <a:pPr lvl="2" eaLnBrk="1" hangingPunct="1">
              <a:buFontTx/>
              <a:buNone/>
            </a:pPr>
            <a:r>
              <a:rPr lang="en-US" dirty="0"/>
              <a:t>... 	</a:t>
            </a:r>
          </a:p>
          <a:p>
            <a:pPr lvl="2" eaLnBrk="1" hangingPunct="1">
              <a:buFontTx/>
              <a:buNone/>
            </a:pPr>
            <a:endParaRPr lang="en-US" dirty="0"/>
          </a:p>
          <a:p>
            <a:pPr lvl="2" eaLnBrk="1" hangingPunct="1">
              <a:buFontTx/>
              <a:buNone/>
            </a:pPr>
            <a:r>
              <a:rPr lang="en-US" dirty="0"/>
              <a:t>- - - - - - - - - - - - - - - - - - - - - - - - - - - - - - - - </a:t>
            </a:r>
          </a:p>
          <a:p>
            <a:pPr lvl="2" eaLnBrk="1" hangingPunct="1">
              <a:buFontTx/>
              <a:buNone/>
            </a:pPr>
            <a:endParaRPr lang="en-US" dirty="0"/>
          </a:p>
          <a:p>
            <a:pPr lvl="2" eaLnBrk="1" hangingPunct="1">
              <a:buFontTx/>
              <a:buNone/>
            </a:pPr>
            <a:r>
              <a:rPr lang="en-US" dirty="0"/>
              <a:t>Use Case: Arrange Credit</a:t>
            </a:r>
          </a:p>
          <a:p>
            <a:pPr lvl="2" eaLnBrk="1" hangingPunct="1">
              <a:buFontTx/>
              <a:buNone/>
            </a:pPr>
            <a:r>
              <a:rPr lang="en-US" dirty="0"/>
              <a:t>Cross References: Specializes Arrange Payment</a:t>
            </a:r>
          </a:p>
          <a:p>
            <a:pPr lvl="2" eaLnBrk="1" hangingPunct="1">
              <a:buFontTx/>
              <a:buNone/>
            </a:pPr>
            <a:r>
              <a:rPr lang="en-US" dirty="0"/>
              <a:t>... 	</a:t>
            </a:r>
          </a:p>
        </p:txBody>
      </p:sp>
      <p:sp>
        <p:nvSpPr>
          <p:cNvPr id="2" name="Slide Number Placeholder 1"/>
          <p:cNvSpPr>
            <a:spLocks noGrp="1"/>
          </p:cNvSpPr>
          <p:nvPr>
            <p:ph type="sldNum" sz="quarter" idx="12"/>
          </p:nvPr>
        </p:nvSpPr>
        <p:spPr/>
        <p:txBody>
          <a:bodyPr/>
          <a:lstStyle/>
          <a:p>
            <a:fld id="{DED05017-923D-480E-B02E-B52739184DCA}" type="slidenum">
              <a:rPr lang="en-US" smtClean="0"/>
              <a:pPr/>
              <a:t>59</a:t>
            </a:fld>
            <a:endParaRPr lang="en-US"/>
          </a:p>
        </p:txBody>
      </p:sp>
    </p:spTree>
    <p:extLst>
      <p:ext uri="{BB962C8B-B14F-4D97-AF65-F5344CB8AC3E}">
        <p14:creationId xmlns:p14="http://schemas.microsoft.com/office/powerpoint/2010/main" val="2412133600"/>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p:cNvSpPr>
            <a:spLocks noGrp="1" noChangeArrowheads="1"/>
          </p:cNvSpPr>
          <p:nvPr>
            <p:ph type="title"/>
          </p:nvPr>
        </p:nvSpPr>
        <p:spPr/>
        <p:txBody>
          <a:bodyPr/>
          <a:lstStyle/>
          <a:p>
            <a:pPr eaLnBrk="1" hangingPunct="1">
              <a:defRPr/>
            </a:pPr>
            <a:r>
              <a:rPr lang="en-US" sz="2800"/>
              <a:t>Exercise 2:</a:t>
            </a:r>
            <a:r>
              <a:rPr lang="en-US" sz="2800">
                <a:solidFill>
                  <a:srgbClr val="CC0000"/>
                </a:solidFill>
              </a:rPr>
              <a:t> </a:t>
            </a:r>
            <a:r>
              <a:rPr lang="en-US" sz="2800"/>
              <a:t>Finding actors and use cases</a:t>
            </a:r>
            <a:endParaRPr lang="en-US" sz="2800" dirty="0"/>
          </a:p>
        </p:txBody>
      </p:sp>
      <p:sp>
        <p:nvSpPr>
          <p:cNvPr id="67590" name="Rectangle 3"/>
          <p:cNvSpPr>
            <a:spLocks noGrp="1" noChangeArrowheads="1"/>
          </p:cNvSpPr>
          <p:nvPr>
            <p:ph type="body" sz="half" idx="1"/>
          </p:nvPr>
        </p:nvSpPr>
        <p:spPr>
          <a:xfrm>
            <a:off x="2286000" y="1143000"/>
            <a:ext cx="6459538" cy="5392738"/>
          </a:xfrm>
        </p:spPr>
        <p:txBody>
          <a:bodyPr/>
          <a:lstStyle/>
          <a:p>
            <a:pPr marL="230188" indent="-230188" eaLnBrk="1" hangingPunct="1">
              <a:lnSpc>
                <a:spcPct val="100000"/>
              </a:lnSpc>
            </a:pPr>
            <a:r>
              <a:rPr lang="en-US" sz="2000" dirty="0"/>
              <a:t>In this exercise, you:</a:t>
            </a:r>
          </a:p>
          <a:p>
            <a:pPr marL="685800" lvl="1" indent="-341313" eaLnBrk="1" hangingPunct="1">
              <a:lnSpc>
                <a:spcPct val="100000"/>
              </a:lnSpc>
            </a:pPr>
            <a:r>
              <a:rPr lang="en-US" sz="2000" dirty="0"/>
              <a:t>Find and describe actors and use cases</a:t>
            </a:r>
          </a:p>
          <a:p>
            <a:pPr marL="685800" lvl="1" indent="-341313" eaLnBrk="1" hangingPunct="1">
              <a:lnSpc>
                <a:spcPct val="100000"/>
              </a:lnSpc>
            </a:pPr>
            <a:r>
              <a:rPr lang="en-US" sz="2000" dirty="0"/>
              <a:t>Create a use-case diagram</a:t>
            </a:r>
          </a:p>
        </p:txBody>
      </p:sp>
      <p:pic>
        <p:nvPicPr>
          <p:cNvPr id="67591" name="Picture 4" descr="exercise"/>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393700" y="1255713"/>
            <a:ext cx="1716088" cy="1392237"/>
          </a:xfrm>
          <a:noFill/>
        </p:spPr>
      </p:pic>
      <p:sp>
        <p:nvSpPr>
          <p:cNvPr id="2" name="Slide Number Placeholder 1"/>
          <p:cNvSpPr>
            <a:spLocks noGrp="1"/>
          </p:cNvSpPr>
          <p:nvPr>
            <p:ph type="sldNum" sz="quarter" idx="12"/>
          </p:nvPr>
        </p:nvSpPr>
        <p:spPr/>
        <p:txBody>
          <a:bodyPr/>
          <a:lstStyle/>
          <a:p>
            <a:pPr>
              <a:defRPr/>
            </a:pPr>
            <a:fld id="{DBF0D3E2-D141-4F40-B95C-01950E48E834}" type="slidenum">
              <a:rPr lang="en-US" smtClean="0"/>
              <a:pPr>
                <a:defRPr/>
              </a:pPr>
              <a:t>60</a:t>
            </a:fld>
            <a:endParaRPr lang="en-US"/>
          </a:p>
        </p:txBody>
      </p:sp>
    </p:spTree>
    <p:custDataLst>
      <p:tags r:id="rId1"/>
    </p:custDataLst>
    <p:extLst>
      <p:ext uri="{BB962C8B-B14F-4D97-AF65-F5344CB8AC3E}">
        <p14:creationId xmlns:p14="http://schemas.microsoft.com/office/powerpoint/2010/main" val="33105193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pPr eaLnBrk="1" hangingPunct="1">
              <a:defRPr/>
            </a:pPr>
            <a:r>
              <a:rPr lang="en-US" sz="2800" dirty="0"/>
              <a:t>Process of writing use cases</a:t>
            </a:r>
          </a:p>
        </p:txBody>
      </p:sp>
      <p:sp>
        <p:nvSpPr>
          <p:cNvPr id="69638" name="AutoShape 3"/>
          <p:cNvSpPr>
            <a:spLocks noChangeArrowheads="1"/>
          </p:cNvSpPr>
          <p:nvPr/>
        </p:nvSpPr>
        <p:spPr bwMode="auto">
          <a:xfrm>
            <a:off x="4191000" y="1371600"/>
            <a:ext cx="4495800" cy="5257800"/>
          </a:xfrm>
          <a:prstGeom prst="roundRect">
            <a:avLst>
              <a:gd name="adj" fmla="val 16667"/>
            </a:avLst>
          </a:prstGeom>
          <a:gradFill rotWithShape="1">
            <a:gsLst>
              <a:gs pos="0">
                <a:srgbClr val="9BBBFB"/>
              </a:gs>
              <a:gs pos="50000">
                <a:srgbClr val="9DBEFF"/>
              </a:gs>
              <a:gs pos="100000">
                <a:srgbClr val="9BBBFB"/>
              </a:gs>
            </a:gsLst>
            <a:lin ang="5400000" scaled="1"/>
          </a:gradFill>
          <a:ln w="9525">
            <a:solidFill>
              <a:schemeClr val="tx1"/>
            </a:solidFill>
            <a:round/>
            <a:headEnd/>
            <a:tailEnd/>
          </a:ln>
        </p:spPr>
        <p:txBody>
          <a:bodyPr wrap="none" anchor="ctr"/>
          <a:lstStyle/>
          <a:p>
            <a:endParaRPr lang="en-US"/>
          </a:p>
        </p:txBody>
      </p:sp>
      <p:sp>
        <p:nvSpPr>
          <p:cNvPr id="69639" name="Text Box 4"/>
          <p:cNvSpPr txBox="1">
            <a:spLocks noChangeArrowheads="1"/>
          </p:cNvSpPr>
          <p:nvPr/>
        </p:nvSpPr>
        <p:spPr bwMode="auto">
          <a:xfrm>
            <a:off x="4572000" y="24384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endParaRPr lang="en-US" sz="2400">
              <a:solidFill>
                <a:schemeClr val="tx1"/>
              </a:solidFill>
            </a:endParaRPr>
          </a:p>
        </p:txBody>
      </p:sp>
      <p:sp>
        <p:nvSpPr>
          <p:cNvPr id="69640" name="Rectangle 5"/>
          <p:cNvSpPr>
            <a:spLocks noChangeArrowheads="1"/>
          </p:cNvSpPr>
          <p:nvPr/>
        </p:nvSpPr>
        <p:spPr bwMode="auto">
          <a:xfrm>
            <a:off x="381000" y="4267200"/>
            <a:ext cx="2895600" cy="1066800"/>
          </a:xfrm>
          <a:prstGeom prst="rect">
            <a:avLst/>
          </a:prstGeom>
          <a:gradFill rotWithShape="1">
            <a:gsLst>
              <a:gs pos="0">
                <a:srgbClr val="7791C2"/>
              </a:gs>
              <a:gs pos="50000">
                <a:srgbClr val="9DBEFF"/>
              </a:gs>
              <a:gs pos="100000">
                <a:srgbClr val="7791C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69641" name="Rectangle 6"/>
          <p:cNvSpPr>
            <a:spLocks noChangeArrowheads="1"/>
          </p:cNvSpPr>
          <p:nvPr/>
        </p:nvSpPr>
        <p:spPr bwMode="auto">
          <a:xfrm>
            <a:off x="381000" y="1371600"/>
            <a:ext cx="2895600" cy="1066800"/>
          </a:xfrm>
          <a:prstGeom prst="rect">
            <a:avLst/>
          </a:prstGeom>
          <a:gradFill rotWithShape="1">
            <a:gsLst>
              <a:gs pos="0">
                <a:srgbClr val="838383"/>
              </a:gs>
              <a:gs pos="50000">
                <a:srgbClr val="999999"/>
              </a:gs>
              <a:gs pos="100000">
                <a:srgbClr val="838383"/>
              </a:gs>
            </a:gsLst>
            <a:lin ang="5400000" scaled="1"/>
          </a:gradFill>
          <a:ln w="9525">
            <a:solidFill>
              <a:schemeClr val="tx1"/>
            </a:solidFill>
            <a:miter lim="800000"/>
            <a:headEnd/>
            <a:tailEnd/>
          </a:ln>
        </p:spPr>
        <p:txBody>
          <a:bodyPr wrap="none" anchor="ctr"/>
          <a:lstStyle/>
          <a:p>
            <a:endParaRPr lang="en-US"/>
          </a:p>
        </p:txBody>
      </p:sp>
      <p:sp>
        <p:nvSpPr>
          <p:cNvPr id="69642" name="Text Box 7"/>
          <p:cNvSpPr txBox="1">
            <a:spLocks noChangeArrowheads="1"/>
          </p:cNvSpPr>
          <p:nvPr/>
        </p:nvSpPr>
        <p:spPr bwMode="auto">
          <a:xfrm>
            <a:off x="762000" y="1600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actors</a:t>
            </a:r>
          </a:p>
        </p:txBody>
      </p:sp>
      <p:sp>
        <p:nvSpPr>
          <p:cNvPr id="69643" name="Rectangle 8"/>
          <p:cNvSpPr>
            <a:spLocks noChangeArrowheads="1"/>
          </p:cNvSpPr>
          <p:nvPr/>
        </p:nvSpPr>
        <p:spPr bwMode="auto">
          <a:xfrm>
            <a:off x="381000" y="2819400"/>
            <a:ext cx="2895600" cy="1066800"/>
          </a:xfrm>
          <a:prstGeom prst="rect">
            <a:avLst/>
          </a:prstGeom>
          <a:gradFill rotWithShape="1">
            <a:gsLst>
              <a:gs pos="0">
                <a:srgbClr val="838383"/>
              </a:gs>
              <a:gs pos="50000">
                <a:srgbClr val="999999"/>
              </a:gs>
              <a:gs pos="100000">
                <a:srgbClr val="838383"/>
              </a:gs>
            </a:gsLst>
            <a:lin ang="5400000" scaled="1"/>
          </a:gradFill>
          <a:ln w="9525">
            <a:solidFill>
              <a:schemeClr val="tx1"/>
            </a:solidFill>
            <a:miter lim="800000"/>
            <a:headEnd/>
            <a:tailEnd/>
          </a:ln>
        </p:spPr>
        <p:txBody>
          <a:bodyPr wrap="none" anchor="ctr"/>
          <a:lstStyle/>
          <a:p>
            <a:endParaRPr lang="en-US"/>
          </a:p>
        </p:txBody>
      </p:sp>
      <p:sp>
        <p:nvSpPr>
          <p:cNvPr id="69644" name="Text Box 9"/>
          <p:cNvSpPr txBox="1">
            <a:spLocks noChangeArrowheads="1"/>
          </p:cNvSpPr>
          <p:nvPr/>
        </p:nvSpPr>
        <p:spPr bwMode="auto">
          <a:xfrm>
            <a:off x="457200" y="29860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use cases</a:t>
            </a:r>
          </a:p>
        </p:txBody>
      </p:sp>
      <p:sp>
        <p:nvSpPr>
          <p:cNvPr id="69645" name="Text Box 10"/>
          <p:cNvSpPr txBox="1">
            <a:spLocks noChangeArrowheads="1"/>
          </p:cNvSpPr>
          <p:nvPr/>
        </p:nvSpPr>
        <p:spPr bwMode="auto">
          <a:xfrm>
            <a:off x="609600" y="42672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Outline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69646" name="Rectangle 11"/>
          <p:cNvSpPr>
            <a:spLocks noChangeArrowheads="1"/>
          </p:cNvSpPr>
          <p:nvPr/>
        </p:nvSpPr>
        <p:spPr bwMode="auto">
          <a:xfrm>
            <a:off x="381000" y="5715000"/>
            <a:ext cx="2895600" cy="1066800"/>
          </a:xfrm>
          <a:prstGeom prst="rect">
            <a:avLst/>
          </a:prstGeom>
          <a:gradFill rotWithShape="1">
            <a:gsLst>
              <a:gs pos="0">
                <a:srgbClr val="838383"/>
              </a:gs>
              <a:gs pos="50000">
                <a:srgbClr val="999999"/>
              </a:gs>
              <a:gs pos="100000">
                <a:srgbClr val="838383"/>
              </a:gs>
            </a:gsLst>
            <a:lin ang="5400000" scaled="1"/>
          </a:gradFill>
          <a:ln w="9525">
            <a:solidFill>
              <a:schemeClr val="tx1"/>
            </a:solidFill>
            <a:miter lim="800000"/>
            <a:headEnd/>
            <a:tailEnd/>
          </a:ln>
        </p:spPr>
        <p:txBody>
          <a:bodyPr wrap="none" anchor="ctr"/>
          <a:lstStyle/>
          <a:p>
            <a:endParaRPr lang="en-US"/>
          </a:p>
        </p:txBody>
      </p:sp>
      <p:sp>
        <p:nvSpPr>
          <p:cNvPr id="69647" name="Text Box 12"/>
          <p:cNvSpPr txBox="1">
            <a:spLocks noChangeArrowheads="1"/>
          </p:cNvSpPr>
          <p:nvPr/>
        </p:nvSpPr>
        <p:spPr bwMode="auto">
          <a:xfrm>
            <a:off x="609600" y="57912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Detail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69648" name="Line 13"/>
          <p:cNvSpPr>
            <a:spLocks noChangeShapeType="1"/>
          </p:cNvSpPr>
          <p:nvPr/>
        </p:nvSpPr>
        <p:spPr bwMode="auto">
          <a:xfrm>
            <a:off x="1828800" y="22860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649" name="Line 14"/>
          <p:cNvSpPr>
            <a:spLocks noChangeShapeType="1"/>
          </p:cNvSpPr>
          <p:nvPr/>
        </p:nvSpPr>
        <p:spPr bwMode="auto">
          <a:xfrm>
            <a:off x="1828800" y="37338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650" name="Line 15"/>
          <p:cNvSpPr>
            <a:spLocks noChangeShapeType="1"/>
          </p:cNvSpPr>
          <p:nvPr/>
        </p:nvSpPr>
        <p:spPr bwMode="auto">
          <a:xfrm>
            <a:off x="1828800" y="5181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651" name="AutoShape 16"/>
          <p:cNvSpPr>
            <a:spLocks noChangeArrowheads="1"/>
          </p:cNvSpPr>
          <p:nvPr/>
        </p:nvSpPr>
        <p:spPr bwMode="auto">
          <a:xfrm flipV="1">
            <a:off x="3276600" y="4267200"/>
            <a:ext cx="990600" cy="1066800"/>
          </a:xfrm>
          <a:prstGeom prst="triangle">
            <a:avLst>
              <a:gd name="adj" fmla="val 0"/>
            </a:avLst>
          </a:prstGeom>
          <a:gradFill rotWithShape="1">
            <a:gsLst>
              <a:gs pos="0">
                <a:srgbClr val="7791C2"/>
              </a:gs>
              <a:gs pos="50000">
                <a:srgbClr val="9DBEFF"/>
              </a:gs>
              <a:gs pos="100000">
                <a:srgbClr val="7791C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69652" name="Text Box 17"/>
          <p:cNvSpPr txBox="1">
            <a:spLocks noChangeArrowheads="1"/>
          </p:cNvSpPr>
          <p:nvPr/>
        </p:nvSpPr>
        <p:spPr bwMode="auto">
          <a:xfrm>
            <a:off x="4343400" y="1981200"/>
            <a:ext cx="41910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465138" indent="-350838"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lvl="1" eaLnBrk="1" hangingPunct="1">
              <a:spcBef>
                <a:spcPct val="30000"/>
              </a:spcBef>
              <a:buClr>
                <a:schemeClr val="tx1"/>
              </a:buClr>
              <a:buFont typeface="Webdings" pitchFamily="18" charset="2"/>
              <a:buChar char="4"/>
            </a:pPr>
            <a:r>
              <a:rPr lang="en-US" sz="2800">
                <a:solidFill>
                  <a:schemeClr val="tx1"/>
                </a:solidFill>
                <a:latin typeface="Arial" pitchFamily="34" charset="0"/>
              </a:rPr>
              <a:t>Outline the flow of events</a:t>
            </a:r>
          </a:p>
          <a:p>
            <a:pPr lvl="1" eaLnBrk="1" hangingPunct="1">
              <a:spcBef>
                <a:spcPct val="30000"/>
              </a:spcBef>
              <a:buClr>
                <a:schemeClr val="tx1"/>
              </a:buClr>
              <a:buFont typeface="Webdings" pitchFamily="18" charset="2"/>
              <a:buChar char="4"/>
            </a:pPr>
            <a:r>
              <a:rPr lang="en-US" sz="2800">
                <a:solidFill>
                  <a:schemeClr val="tx1"/>
                </a:solidFill>
                <a:latin typeface="Arial" pitchFamily="34" charset="0"/>
              </a:rPr>
              <a:t>Capture use-case scenarios</a:t>
            </a:r>
          </a:p>
          <a:p>
            <a:pPr lvl="1" eaLnBrk="1" hangingPunct="1">
              <a:spcBef>
                <a:spcPct val="30000"/>
              </a:spcBef>
              <a:buClr>
                <a:schemeClr val="tx1"/>
              </a:buClr>
              <a:buFont typeface="Webdings" pitchFamily="18" charset="2"/>
              <a:buChar char="4"/>
            </a:pPr>
            <a:r>
              <a:rPr lang="en-US" sz="2800">
                <a:solidFill>
                  <a:schemeClr val="tx1"/>
                </a:solidFill>
                <a:latin typeface="Arial" pitchFamily="34" charset="0"/>
              </a:rPr>
              <a:t>Collect additional requirements</a:t>
            </a:r>
          </a:p>
          <a:p>
            <a:pPr lvl="1" eaLnBrk="1" hangingPunct="1">
              <a:spcBef>
                <a:spcPct val="30000"/>
              </a:spcBef>
              <a:buClr>
                <a:schemeClr val="tx1"/>
              </a:buClr>
              <a:buFont typeface="Webdings" pitchFamily="18" charset="2"/>
              <a:buChar char="4"/>
            </a:pPr>
            <a:endParaRPr lang="en-US" sz="2800">
              <a:solidFill>
                <a:schemeClr val="tx1"/>
              </a:solidFill>
              <a:latin typeface="Arial" pitchFamily="34" charset="0"/>
            </a:endParaRPr>
          </a:p>
          <a:p>
            <a:pPr eaLnBrk="1" hangingPunct="1">
              <a:spcBef>
                <a:spcPct val="50000"/>
              </a:spcBef>
            </a:pPr>
            <a:endParaRPr lang="en-US" sz="2800">
              <a:solidFill>
                <a:schemeClr val="tx1"/>
              </a:solidFill>
              <a:latin typeface="Arial" pitchFamily="34" charset="0"/>
            </a:endParaRPr>
          </a:p>
        </p:txBody>
      </p:sp>
      <p:sp>
        <p:nvSpPr>
          <p:cNvPr id="2" name="Slide Number Placeholder 1"/>
          <p:cNvSpPr>
            <a:spLocks noGrp="1"/>
          </p:cNvSpPr>
          <p:nvPr>
            <p:ph type="sldNum" sz="quarter" idx="12"/>
          </p:nvPr>
        </p:nvSpPr>
        <p:spPr/>
        <p:txBody>
          <a:bodyPr/>
          <a:lstStyle/>
          <a:p>
            <a:fld id="{DED05017-923D-480E-B02E-B52739184DCA}" type="slidenum">
              <a:rPr lang="en-US" smtClean="0"/>
              <a:pPr/>
              <a:t>61</a:t>
            </a:fld>
            <a:endParaRPr lang="en-US"/>
          </a:p>
        </p:txBody>
      </p:sp>
    </p:spTree>
    <p:extLst>
      <p:ext uri="{BB962C8B-B14F-4D97-AF65-F5344CB8AC3E}">
        <p14:creationId xmlns:p14="http://schemas.microsoft.com/office/powerpoint/2010/main" val="2305274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r>
              <a:rPr lang="en-US" sz="2800" dirty="0"/>
              <a:t>Outline each use case</a:t>
            </a:r>
          </a:p>
        </p:txBody>
      </p:sp>
      <p:sp>
        <p:nvSpPr>
          <p:cNvPr id="70662" name="Text Box 3"/>
          <p:cNvSpPr txBox="1">
            <a:spLocks noChangeArrowheads="1"/>
          </p:cNvSpPr>
          <p:nvPr/>
        </p:nvSpPr>
        <p:spPr bwMode="auto">
          <a:xfrm>
            <a:off x="2592388" y="2189163"/>
            <a:ext cx="3732212" cy="3814762"/>
          </a:xfrm>
          <a:prstGeom prst="rect">
            <a:avLst/>
          </a:prstGeom>
          <a:solidFill>
            <a:srgbClr val="CCCCCC"/>
          </a:solidFill>
          <a:ln w="9525">
            <a:solidFill>
              <a:schemeClr val="bg2"/>
            </a:solidFill>
            <a:miter lim="800000"/>
            <a:headEnd/>
            <a:tailEnd/>
          </a:ln>
        </p:spPr>
        <p:txBody>
          <a:bodyPr>
            <a:spAutoFit/>
          </a:bodyPr>
          <a:lstStyle>
            <a:lvl1pPr marL="457200" indent="-457200" eaLnBrk="0" hangingPunct="0">
              <a:defRPr sz="1600">
                <a:solidFill>
                  <a:schemeClr val="tx2"/>
                </a:solidFill>
                <a:latin typeface="Times New Roman" pitchFamily="18" charset="0"/>
              </a:defRPr>
            </a:lvl1pPr>
            <a:lvl2pPr marL="914400" indent="-45720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b="1" u="sng">
                <a:solidFill>
                  <a:schemeClr val="tx1"/>
                </a:solidFill>
                <a:latin typeface="Arial" pitchFamily="34" charset="0"/>
              </a:rPr>
              <a:t>Use Case Name</a:t>
            </a:r>
          </a:p>
          <a:p>
            <a:r>
              <a:rPr lang="en-US" sz="2400" b="1">
                <a:solidFill>
                  <a:schemeClr val="tx1"/>
                </a:solidFill>
                <a:latin typeface="Arial" pitchFamily="34" charset="0"/>
              </a:rPr>
              <a:t>Brief Description</a:t>
            </a:r>
          </a:p>
          <a:p>
            <a:r>
              <a:rPr lang="en-US" sz="2400" b="1">
                <a:solidFill>
                  <a:schemeClr val="tx1"/>
                </a:solidFill>
                <a:latin typeface="Arial" pitchFamily="34" charset="0"/>
              </a:rPr>
              <a:t>Basic Flow </a:t>
            </a:r>
          </a:p>
          <a:p>
            <a:r>
              <a:rPr lang="en-US" sz="2400" b="1">
                <a:solidFill>
                  <a:schemeClr val="tx1"/>
                </a:solidFill>
                <a:latin typeface="Arial" pitchFamily="34" charset="0"/>
              </a:rPr>
              <a:t>     1. First step</a:t>
            </a:r>
          </a:p>
          <a:p>
            <a:r>
              <a:rPr lang="en-US" sz="2400" b="1">
                <a:solidFill>
                  <a:schemeClr val="tx1"/>
                </a:solidFill>
                <a:latin typeface="Arial" pitchFamily="34" charset="0"/>
              </a:rPr>
              <a:t>     2. Second step</a:t>
            </a:r>
          </a:p>
          <a:p>
            <a:r>
              <a:rPr lang="en-US" sz="2400" b="1">
                <a:solidFill>
                  <a:schemeClr val="tx1"/>
                </a:solidFill>
                <a:latin typeface="Arial" pitchFamily="34" charset="0"/>
              </a:rPr>
              <a:t>     3. Third step</a:t>
            </a:r>
          </a:p>
          <a:p>
            <a:r>
              <a:rPr lang="en-US" sz="2400" b="1">
                <a:solidFill>
                  <a:schemeClr val="tx1"/>
                </a:solidFill>
                <a:latin typeface="Arial" pitchFamily="34" charset="0"/>
              </a:rPr>
              <a:t>Alternative Flows</a:t>
            </a:r>
          </a:p>
          <a:p>
            <a:pPr lvl="1">
              <a:buFontTx/>
              <a:buAutoNum type="arabicPeriod"/>
            </a:pPr>
            <a:r>
              <a:rPr lang="en-US" sz="2400" b="1">
                <a:solidFill>
                  <a:schemeClr val="tx1"/>
                </a:solidFill>
                <a:latin typeface="Arial" pitchFamily="34" charset="0"/>
              </a:rPr>
              <a:t>Alternative flow 1</a:t>
            </a:r>
          </a:p>
          <a:p>
            <a:pPr lvl="1">
              <a:buFontTx/>
              <a:buAutoNum type="arabicPeriod"/>
            </a:pPr>
            <a:r>
              <a:rPr lang="en-US" sz="2400" b="1">
                <a:solidFill>
                  <a:schemeClr val="tx1"/>
                </a:solidFill>
                <a:latin typeface="Arial" pitchFamily="34" charset="0"/>
              </a:rPr>
              <a:t>Alternative flow 2 </a:t>
            </a:r>
          </a:p>
          <a:p>
            <a:pPr lvl="1">
              <a:buFontTx/>
              <a:buAutoNum type="arabicPeriod"/>
            </a:pPr>
            <a:r>
              <a:rPr lang="en-US" sz="2400" b="1">
                <a:solidFill>
                  <a:schemeClr val="tx1"/>
                </a:solidFill>
                <a:latin typeface="Arial" pitchFamily="34" charset="0"/>
              </a:rPr>
              <a:t>Alternative flow 3</a:t>
            </a:r>
          </a:p>
        </p:txBody>
      </p:sp>
      <p:sp>
        <p:nvSpPr>
          <p:cNvPr id="655364" name="AutoShape 4"/>
          <p:cNvSpPr>
            <a:spLocks/>
          </p:cNvSpPr>
          <p:nvPr/>
        </p:nvSpPr>
        <p:spPr bwMode="auto">
          <a:xfrm>
            <a:off x="6324600" y="3276600"/>
            <a:ext cx="703263" cy="1068388"/>
          </a:xfrm>
          <a:prstGeom prst="rightBrace">
            <a:avLst>
              <a:gd name="adj1" fmla="val 12660"/>
              <a:gd name="adj2" fmla="val 50000"/>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pPr algn="ctr" eaLnBrk="0" hangingPunct="0"/>
            <a:endParaRPr lang="en-US" sz="1000">
              <a:solidFill>
                <a:srgbClr val="73E1FF"/>
              </a:solidFill>
              <a:latin typeface="Arial" pitchFamily="34" charset="0"/>
            </a:endParaRPr>
          </a:p>
        </p:txBody>
      </p:sp>
      <p:sp>
        <p:nvSpPr>
          <p:cNvPr id="655365" name="Text Box 5"/>
          <p:cNvSpPr txBox="1">
            <a:spLocks noChangeArrowheads="1"/>
          </p:cNvSpPr>
          <p:nvPr/>
        </p:nvSpPr>
        <p:spPr bwMode="auto">
          <a:xfrm>
            <a:off x="7048500" y="2884488"/>
            <a:ext cx="19653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dirty="0">
                <a:solidFill>
                  <a:schemeClr val="tx1"/>
                </a:solidFill>
                <a:latin typeface="Arial" pitchFamily="34" charset="0"/>
              </a:rPr>
              <a:t>Structure the basic flow into steps</a:t>
            </a:r>
          </a:p>
        </p:txBody>
      </p:sp>
      <p:sp>
        <p:nvSpPr>
          <p:cNvPr id="655366" name="AutoShape 6"/>
          <p:cNvSpPr>
            <a:spLocks/>
          </p:cNvSpPr>
          <p:nvPr/>
        </p:nvSpPr>
        <p:spPr bwMode="auto">
          <a:xfrm>
            <a:off x="2163763" y="3505200"/>
            <a:ext cx="407987" cy="914400"/>
          </a:xfrm>
          <a:prstGeom prst="leftBrace">
            <a:avLst>
              <a:gd name="adj1" fmla="val 18677"/>
              <a:gd name="adj2" fmla="val 50000"/>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endParaRPr lang="en-US"/>
          </a:p>
        </p:txBody>
      </p:sp>
      <p:sp>
        <p:nvSpPr>
          <p:cNvPr id="655367" name="Text Box 7"/>
          <p:cNvSpPr txBox="1">
            <a:spLocks noChangeArrowheads="1"/>
          </p:cNvSpPr>
          <p:nvPr/>
        </p:nvSpPr>
        <p:spPr bwMode="auto">
          <a:xfrm>
            <a:off x="107950" y="3178175"/>
            <a:ext cx="2162175" cy="138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sz="2800" dirty="0">
                <a:solidFill>
                  <a:schemeClr val="tx1"/>
                </a:solidFill>
                <a:latin typeface="Arial" pitchFamily="34" charset="0"/>
              </a:rPr>
              <a:t>Number and name the steps</a:t>
            </a:r>
          </a:p>
        </p:txBody>
      </p:sp>
      <p:sp>
        <p:nvSpPr>
          <p:cNvPr id="70667" name="Text Box 8"/>
          <p:cNvSpPr txBox="1">
            <a:spLocks noChangeArrowheads="1"/>
          </p:cNvSpPr>
          <p:nvPr/>
        </p:nvSpPr>
        <p:spPr bwMode="auto">
          <a:xfrm>
            <a:off x="228600" y="1349514"/>
            <a:ext cx="8610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7663" indent="-347663"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buFont typeface="Wingdings" pitchFamily="2" charset="2"/>
              <a:buChar char="§"/>
            </a:pPr>
            <a:r>
              <a:rPr lang="en-US" sz="2000" dirty="0">
                <a:solidFill>
                  <a:schemeClr val="tx1"/>
                </a:solidFill>
                <a:latin typeface="Arial" pitchFamily="34" charset="0"/>
              </a:rPr>
              <a:t>An outline captures use case steps in short sentences, organized sequentially</a:t>
            </a:r>
          </a:p>
        </p:txBody>
      </p:sp>
      <p:sp>
        <p:nvSpPr>
          <p:cNvPr id="655369" name="AutoShape 9"/>
          <p:cNvSpPr>
            <a:spLocks/>
          </p:cNvSpPr>
          <p:nvPr/>
        </p:nvSpPr>
        <p:spPr bwMode="auto">
          <a:xfrm>
            <a:off x="6324600" y="4876800"/>
            <a:ext cx="703263" cy="1068388"/>
          </a:xfrm>
          <a:prstGeom prst="rightBrace">
            <a:avLst>
              <a:gd name="adj1" fmla="val 12660"/>
              <a:gd name="adj2" fmla="val 50000"/>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pPr algn="ctr" eaLnBrk="0" hangingPunct="0"/>
            <a:endParaRPr lang="en-US" sz="1000">
              <a:solidFill>
                <a:srgbClr val="73E1FF"/>
              </a:solidFill>
              <a:latin typeface="Arial" pitchFamily="34" charset="0"/>
            </a:endParaRPr>
          </a:p>
        </p:txBody>
      </p:sp>
      <p:sp>
        <p:nvSpPr>
          <p:cNvPr id="655370" name="Text Box 10"/>
          <p:cNvSpPr txBox="1">
            <a:spLocks noChangeArrowheads="1"/>
          </p:cNvSpPr>
          <p:nvPr/>
        </p:nvSpPr>
        <p:spPr bwMode="auto">
          <a:xfrm>
            <a:off x="7178675" y="4724400"/>
            <a:ext cx="1965325" cy="121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400" dirty="0">
                <a:solidFill>
                  <a:schemeClr val="tx1"/>
                </a:solidFill>
                <a:latin typeface="Arial" pitchFamily="34" charset="0"/>
              </a:rPr>
              <a:t>Identify</a:t>
            </a:r>
          </a:p>
          <a:p>
            <a:r>
              <a:rPr lang="en-US" sz="2400" dirty="0">
                <a:solidFill>
                  <a:schemeClr val="tx1"/>
                </a:solidFill>
                <a:latin typeface="Arial" pitchFamily="34" charset="0"/>
              </a:rPr>
              <a:t>alternative</a:t>
            </a:r>
          </a:p>
          <a:p>
            <a:r>
              <a:rPr lang="en-US" sz="2400" dirty="0">
                <a:solidFill>
                  <a:schemeClr val="tx1"/>
                </a:solidFill>
                <a:latin typeface="Arial" pitchFamily="34" charset="0"/>
              </a:rPr>
              <a:t>flows</a:t>
            </a:r>
          </a:p>
        </p:txBody>
      </p:sp>
      <p:sp>
        <p:nvSpPr>
          <p:cNvPr id="2" name="Slide Number Placeholder 1"/>
          <p:cNvSpPr>
            <a:spLocks noGrp="1"/>
          </p:cNvSpPr>
          <p:nvPr>
            <p:ph type="sldNum" sz="quarter" idx="12"/>
          </p:nvPr>
        </p:nvSpPr>
        <p:spPr/>
        <p:txBody>
          <a:bodyPr/>
          <a:lstStyle/>
          <a:p>
            <a:fld id="{27392B6C-813E-42DE-A59C-034281A964AB}" type="slidenum">
              <a:rPr lang="en-US" smtClean="0"/>
              <a:pPr/>
              <a:t>62</a:t>
            </a:fld>
            <a:endParaRPr lang="en-US"/>
          </a:p>
        </p:txBody>
      </p:sp>
    </p:spTree>
    <p:custDataLst>
      <p:tags r:id="rId1"/>
    </p:custDataLst>
    <p:extLst>
      <p:ext uri="{BB962C8B-B14F-4D97-AF65-F5344CB8AC3E}">
        <p14:creationId xmlns:p14="http://schemas.microsoft.com/office/powerpoint/2010/main" val="35940912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655364"/>
                                        </p:tgtEl>
                                        <p:attrNameLst>
                                          <p:attrName>style.visibility</p:attrName>
                                        </p:attrNameLst>
                                      </p:cBhvr>
                                      <p:to>
                                        <p:strVal val="visible"/>
                                      </p:to>
                                    </p:set>
                                    <p:animEffect transition="in" filter="dissolve">
                                      <p:cBhvr>
                                        <p:cTn id="7" dur="500"/>
                                        <p:tgtEl>
                                          <p:spTgt spid="655364"/>
                                        </p:tgtEl>
                                      </p:cBhvr>
                                    </p:animEffect>
                                  </p:childTnLst>
                                </p:cTn>
                              </p:par>
                            </p:childTnLst>
                          </p:cTn>
                        </p:par>
                        <p:par>
                          <p:cTn id="8" fill="hold" nodeType="afterGroup">
                            <p:stCondLst>
                              <p:cond delay="1500"/>
                            </p:stCondLst>
                            <p:childTnLst>
                              <p:par>
                                <p:cTn id="9" presetID="9" presetClass="entr" presetSubtype="0" fill="hold" grpId="0" nodeType="afterEffect">
                                  <p:stCondLst>
                                    <p:cond delay="1000"/>
                                  </p:stCondLst>
                                  <p:childTnLst>
                                    <p:set>
                                      <p:cBhvr>
                                        <p:cTn id="10" dur="1" fill="hold">
                                          <p:stCondLst>
                                            <p:cond delay="0"/>
                                          </p:stCondLst>
                                        </p:cTn>
                                        <p:tgtEl>
                                          <p:spTgt spid="655365">
                                            <p:txEl>
                                              <p:pRg st="0" end="0"/>
                                            </p:txEl>
                                          </p:spTgt>
                                        </p:tgtEl>
                                        <p:attrNameLst>
                                          <p:attrName>style.visibility</p:attrName>
                                        </p:attrNameLst>
                                      </p:cBhvr>
                                      <p:to>
                                        <p:strVal val="visible"/>
                                      </p:to>
                                    </p:set>
                                    <p:animEffect transition="in" filter="dissolve">
                                      <p:cBhvr>
                                        <p:cTn id="11" dur="500"/>
                                        <p:tgtEl>
                                          <p:spTgt spid="655365">
                                            <p:txEl>
                                              <p:pRg st="0" end="0"/>
                                            </p:txEl>
                                          </p:spTgt>
                                        </p:tgtEl>
                                      </p:cBhvr>
                                    </p:animEffect>
                                  </p:childTnLst>
                                </p:cTn>
                              </p:par>
                            </p:childTnLst>
                          </p:cTn>
                        </p:par>
                        <p:par>
                          <p:cTn id="12" fill="hold" nodeType="afterGroup">
                            <p:stCondLst>
                              <p:cond delay="3000"/>
                            </p:stCondLst>
                            <p:childTnLst>
                              <p:par>
                                <p:cTn id="13" presetID="9" presetClass="entr" presetSubtype="0" fill="hold" grpId="0" nodeType="afterEffect">
                                  <p:stCondLst>
                                    <p:cond delay="2000"/>
                                  </p:stCondLst>
                                  <p:childTnLst>
                                    <p:set>
                                      <p:cBhvr>
                                        <p:cTn id="14" dur="1" fill="hold">
                                          <p:stCondLst>
                                            <p:cond delay="0"/>
                                          </p:stCondLst>
                                        </p:cTn>
                                        <p:tgtEl>
                                          <p:spTgt spid="655366"/>
                                        </p:tgtEl>
                                        <p:attrNameLst>
                                          <p:attrName>style.visibility</p:attrName>
                                        </p:attrNameLst>
                                      </p:cBhvr>
                                      <p:to>
                                        <p:strVal val="visible"/>
                                      </p:to>
                                    </p:set>
                                    <p:animEffect transition="in" filter="dissolve">
                                      <p:cBhvr>
                                        <p:cTn id="15" dur="500"/>
                                        <p:tgtEl>
                                          <p:spTgt spid="655366"/>
                                        </p:tgtEl>
                                      </p:cBhvr>
                                    </p:animEffect>
                                  </p:childTnLst>
                                </p:cTn>
                              </p:par>
                            </p:childTnLst>
                          </p:cTn>
                        </p:par>
                        <p:par>
                          <p:cTn id="16" fill="hold" nodeType="afterGroup">
                            <p:stCondLst>
                              <p:cond delay="5500"/>
                            </p:stCondLst>
                            <p:childTnLst>
                              <p:par>
                                <p:cTn id="17" presetID="9" presetClass="entr" presetSubtype="0" fill="hold" grpId="0" nodeType="afterEffect">
                                  <p:stCondLst>
                                    <p:cond delay="1000"/>
                                  </p:stCondLst>
                                  <p:childTnLst>
                                    <p:set>
                                      <p:cBhvr>
                                        <p:cTn id="18" dur="1" fill="hold">
                                          <p:stCondLst>
                                            <p:cond delay="0"/>
                                          </p:stCondLst>
                                        </p:cTn>
                                        <p:tgtEl>
                                          <p:spTgt spid="655367"/>
                                        </p:tgtEl>
                                        <p:attrNameLst>
                                          <p:attrName>style.visibility</p:attrName>
                                        </p:attrNameLst>
                                      </p:cBhvr>
                                      <p:to>
                                        <p:strVal val="visible"/>
                                      </p:to>
                                    </p:set>
                                    <p:animEffect transition="in" filter="dissolve">
                                      <p:cBhvr>
                                        <p:cTn id="19" dur="500"/>
                                        <p:tgtEl>
                                          <p:spTgt spid="655367"/>
                                        </p:tgtEl>
                                      </p:cBhvr>
                                    </p:animEffect>
                                  </p:childTnLst>
                                </p:cTn>
                              </p:par>
                            </p:childTnLst>
                          </p:cTn>
                        </p:par>
                        <p:par>
                          <p:cTn id="20" fill="hold" nodeType="afterGroup">
                            <p:stCondLst>
                              <p:cond delay="7000"/>
                            </p:stCondLst>
                            <p:childTnLst>
                              <p:par>
                                <p:cTn id="21" presetID="9" presetClass="entr" presetSubtype="0" fill="hold" grpId="0" nodeType="afterEffect">
                                  <p:stCondLst>
                                    <p:cond delay="1000"/>
                                  </p:stCondLst>
                                  <p:childTnLst>
                                    <p:set>
                                      <p:cBhvr>
                                        <p:cTn id="22" dur="1" fill="hold">
                                          <p:stCondLst>
                                            <p:cond delay="0"/>
                                          </p:stCondLst>
                                        </p:cTn>
                                        <p:tgtEl>
                                          <p:spTgt spid="655369"/>
                                        </p:tgtEl>
                                        <p:attrNameLst>
                                          <p:attrName>style.visibility</p:attrName>
                                        </p:attrNameLst>
                                      </p:cBhvr>
                                      <p:to>
                                        <p:strVal val="visible"/>
                                      </p:to>
                                    </p:set>
                                    <p:animEffect transition="in" filter="dissolve">
                                      <p:cBhvr>
                                        <p:cTn id="23" dur="500"/>
                                        <p:tgtEl>
                                          <p:spTgt spid="655369"/>
                                        </p:tgtEl>
                                      </p:cBhvr>
                                    </p:animEffect>
                                  </p:childTnLst>
                                </p:cTn>
                              </p:par>
                            </p:childTnLst>
                          </p:cTn>
                        </p:par>
                        <p:par>
                          <p:cTn id="24" fill="hold" nodeType="afterGroup">
                            <p:stCondLst>
                              <p:cond delay="8500"/>
                            </p:stCondLst>
                            <p:childTnLst>
                              <p:par>
                                <p:cTn id="25" presetID="9" presetClass="entr" presetSubtype="0" fill="hold" grpId="0" nodeType="afterEffect">
                                  <p:stCondLst>
                                    <p:cond delay="1000"/>
                                  </p:stCondLst>
                                  <p:childTnLst>
                                    <p:set>
                                      <p:cBhvr>
                                        <p:cTn id="26" dur="1" fill="hold">
                                          <p:stCondLst>
                                            <p:cond delay="0"/>
                                          </p:stCondLst>
                                        </p:cTn>
                                        <p:tgtEl>
                                          <p:spTgt spid="655370">
                                            <p:txEl>
                                              <p:pRg st="0" end="0"/>
                                            </p:txEl>
                                          </p:spTgt>
                                        </p:tgtEl>
                                        <p:attrNameLst>
                                          <p:attrName>style.visibility</p:attrName>
                                        </p:attrNameLst>
                                      </p:cBhvr>
                                      <p:to>
                                        <p:strVal val="visible"/>
                                      </p:to>
                                    </p:set>
                                    <p:animEffect transition="in" filter="dissolve">
                                      <p:cBhvr>
                                        <p:cTn id="27" dur="500"/>
                                        <p:tgtEl>
                                          <p:spTgt spid="655370">
                                            <p:txEl>
                                              <p:pRg st="0" end="0"/>
                                            </p:txEl>
                                          </p:spTgt>
                                        </p:tgtEl>
                                      </p:cBhvr>
                                    </p:animEffect>
                                  </p:childTnLst>
                                </p:cTn>
                              </p:par>
                            </p:childTnLst>
                          </p:cTn>
                        </p:par>
                        <p:par>
                          <p:cTn id="28" fill="hold" nodeType="afterGroup">
                            <p:stCondLst>
                              <p:cond delay="10000"/>
                            </p:stCondLst>
                            <p:childTnLst>
                              <p:par>
                                <p:cTn id="29" presetID="9" presetClass="entr" presetSubtype="0" fill="hold" grpId="0" nodeType="afterEffect">
                                  <p:stCondLst>
                                    <p:cond delay="1000"/>
                                  </p:stCondLst>
                                  <p:childTnLst>
                                    <p:set>
                                      <p:cBhvr>
                                        <p:cTn id="30" dur="1" fill="hold">
                                          <p:stCondLst>
                                            <p:cond delay="0"/>
                                          </p:stCondLst>
                                        </p:cTn>
                                        <p:tgtEl>
                                          <p:spTgt spid="655370">
                                            <p:txEl>
                                              <p:pRg st="1" end="1"/>
                                            </p:txEl>
                                          </p:spTgt>
                                        </p:tgtEl>
                                        <p:attrNameLst>
                                          <p:attrName>style.visibility</p:attrName>
                                        </p:attrNameLst>
                                      </p:cBhvr>
                                      <p:to>
                                        <p:strVal val="visible"/>
                                      </p:to>
                                    </p:set>
                                    <p:animEffect transition="in" filter="dissolve">
                                      <p:cBhvr>
                                        <p:cTn id="31" dur="500"/>
                                        <p:tgtEl>
                                          <p:spTgt spid="655370">
                                            <p:txEl>
                                              <p:pRg st="1" end="1"/>
                                            </p:txEl>
                                          </p:spTgt>
                                        </p:tgtEl>
                                      </p:cBhvr>
                                    </p:animEffect>
                                  </p:childTnLst>
                                </p:cTn>
                              </p:par>
                            </p:childTnLst>
                          </p:cTn>
                        </p:par>
                        <p:par>
                          <p:cTn id="32" fill="hold" nodeType="afterGroup">
                            <p:stCondLst>
                              <p:cond delay="11500"/>
                            </p:stCondLst>
                            <p:childTnLst>
                              <p:par>
                                <p:cTn id="33" presetID="9" presetClass="entr" presetSubtype="0" fill="hold" grpId="0" nodeType="afterEffect">
                                  <p:stCondLst>
                                    <p:cond delay="1000"/>
                                  </p:stCondLst>
                                  <p:childTnLst>
                                    <p:set>
                                      <p:cBhvr>
                                        <p:cTn id="34" dur="1" fill="hold">
                                          <p:stCondLst>
                                            <p:cond delay="0"/>
                                          </p:stCondLst>
                                        </p:cTn>
                                        <p:tgtEl>
                                          <p:spTgt spid="655370">
                                            <p:txEl>
                                              <p:pRg st="2" end="2"/>
                                            </p:txEl>
                                          </p:spTgt>
                                        </p:tgtEl>
                                        <p:attrNameLst>
                                          <p:attrName>style.visibility</p:attrName>
                                        </p:attrNameLst>
                                      </p:cBhvr>
                                      <p:to>
                                        <p:strVal val="visible"/>
                                      </p:to>
                                    </p:set>
                                    <p:animEffect transition="in" filter="dissolve">
                                      <p:cBhvr>
                                        <p:cTn id="35" dur="500"/>
                                        <p:tgtEl>
                                          <p:spTgt spid="6553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4" grpId="0" animBg="1" autoUpdateAnimBg="0"/>
      <p:bldP spid="655365" grpId="0" build="p" autoUpdateAnimBg="0" advAuto="1000"/>
      <p:bldP spid="655366" grpId="0" animBg="1"/>
      <p:bldP spid="655367" grpId="0" autoUpdateAnimBg="0"/>
      <p:bldP spid="655369" grpId="0" animBg="1" autoUpdateAnimBg="0"/>
      <p:bldP spid="655370" grpId="0" build="p" autoUpdateAnimBg="0" advAuto="100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p:txBody>
          <a:bodyPr/>
          <a:lstStyle/>
          <a:p>
            <a:pPr eaLnBrk="1" hangingPunct="1">
              <a:defRPr/>
            </a:pPr>
            <a:r>
              <a:rPr lang="en-US" sz="2800" dirty="0"/>
              <a:t>Why outline use cases?</a:t>
            </a:r>
          </a:p>
        </p:txBody>
      </p:sp>
      <p:grpSp>
        <p:nvGrpSpPr>
          <p:cNvPr id="71686" name="Group 3"/>
          <p:cNvGrpSpPr>
            <a:grpSpLocks/>
          </p:cNvGrpSpPr>
          <p:nvPr/>
        </p:nvGrpSpPr>
        <p:grpSpPr bwMode="auto">
          <a:xfrm>
            <a:off x="876300" y="1252538"/>
            <a:ext cx="1803400" cy="2295525"/>
            <a:chOff x="552" y="789"/>
            <a:chExt cx="1136" cy="1446"/>
          </a:xfrm>
        </p:grpSpPr>
        <p:sp>
          <p:nvSpPr>
            <p:cNvPr id="71705" name="AutoShape 4"/>
            <p:cNvSpPr>
              <a:spLocks noChangeArrowheads="1"/>
            </p:cNvSpPr>
            <p:nvPr/>
          </p:nvSpPr>
          <p:spPr bwMode="auto">
            <a:xfrm rot="10800000">
              <a:off x="552" y="789"/>
              <a:ext cx="1136" cy="1446"/>
            </a:xfrm>
            <a:prstGeom prst="foldedCorner">
              <a:avLst>
                <a:gd name="adj" fmla="val 12500"/>
              </a:avLst>
            </a:prstGeom>
            <a:solidFill>
              <a:srgbClr val="DDDDDD"/>
            </a:solidFill>
            <a:ln w="9525">
              <a:solidFill>
                <a:schemeClr val="bg2"/>
              </a:solidFill>
              <a:round/>
              <a:headEnd/>
              <a:tailEnd/>
            </a:ln>
          </p:spPr>
          <p:txBody>
            <a:bodyPr wrap="none" lIns="107950" tIns="53975" rIns="107950" bIns="53975" anchor="ctr"/>
            <a:lstStyle/>
            <a:p>
              <a:endParaRPr lang="en-US"/>
            </a:p>
          </p:txBody>
        </p:sp>
        <p:sp>
          <p:nvSpPr>
            <p:cNvPr id="71706" name="Line 5"/>
            <p:cNvSpPr>
              <a:spLocks noChangeShapeType="1"/>
            </p:cNvSpPr>
            <p:nvPr/>
          </p:nvSpPr>
          <p:spPr bwMode="auto">
            <a:xfrm>
              <a:off x="731" y="1066"/>
              <a:ext cx="585" cy="7"/>
            </a:xfrm>
            <a:prstGeom prst="line">
              <a:avLst/>
            </a:prstGeom>
            <a:noFill/>
            <a:ln w="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7" name="Line 6"/>
            <p:cNvSpPr>
              <a:spLocks noChangeShapeType="1"/>
            </p:cNvSpPr>
            <p:nvPr/>
          </p:nvSpPr>
          <p:spPr bwMode="auto">
            <a:xfrm>
              <a:off x="731" y="1236"/>
              <a:ext cx="809"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8" name="Line 7"/>
            <p:cNvSpPr>
              <a:spLocks noChangeShapeType="1"/>
            </p:cNvSpPr>
            <p:nvPr/>
          </p:nvSpPr>
          <p:spPr bwMode="auto">
            <a:xfrm>
              <a:off x="731" y="1425"/>
              <a:ext cx="809"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9" name="Line 8"/>
            <p:cNvSpPr>
              <a:spLocks noChangeShapeType="1"/>
            </p:cNvSpPr>
            <p:nvPr/>
          </p:nvSpPr>
          <p:spPr bwMode="auto">
            <a:xfrm>
              <a:off x="731" y="1587"/>
              <a:ext cx="809" cy="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0" name="Line 9"/>
            <p:cNvSpPr>
              <a:spLocks noChangeShapeType="1"/>
            </p:cNvSpPr>
            <p:nvPr/>
          </p:nvSpPr>
          <p:spPr bwMode="auto">
            <a:xfrm>
              <a:off x="731" y="1688"/>
              <a:ext cx="809" cy="6"/>
            </a:xfrm>
            <a:prstGeom prst="line">
              <a:avLst/>
            </a:prstGeom>
            <a:noFill/>
            <a:ln w="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1" name="Line 10"/>
            <p:cNvSpPr>
              <a:spLocks noChangeShapeType="1"/>
            </p:cNvSpPr>
            <p:nvPr/>
          </p:nvSpPr>
          <p:spPr bwMode="auto">
            <a:xfrm>
              <a:off x="731" y="1775"/>
              <a:ext cx="809"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2" name="Line 11"/>
            <p:cNvSpPr>
              <a:spLocks noChangeShapeType="1"/>
            </p:cNvSpPr>
            <p:nvPr/>
          </p:nvSpPr>
          <p:spPr bwMode="auto">
            <a:xfrm>
              <a:off x="731" y="1943"/>
              <a:ext cx="809"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3" name="Line 12"/>
            <p:cNvSpPr>
              <a:spLocks noChangeShapeType="1"/>
            </p:cNvSpPr>
            <p:nvPr/>
          </p:nvSpPr>
          <p:spPr bwMode="auto">
            <a:xfrm>
              <a:off x="731" y="2130"/>
              <a:ext cx="809" cy="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4" name="Line 13"/>
            <p:cNvSpPr>
              <a:spLocks noChangeShapeType="1"/>
            </p:cNvSpPr>
            <p:nvPr/>
          </p:nvSpPr>
          <p:spPr bwMode="auto">
            <a:xfrm>
              <a:off x="710" y="1247"/>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715" name="Line 14"/>
            <p:cNvSpPr>
              <a:spLocks noChangeShapeType="1"/>
            </p:cNvSpPr>
            <p:nvPr/>
          </p:nvSpPr>
          <p:spPr bwMode="auto">
            <a:xfrm>
              <a:off x="1248" y="1420"/>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716" name="Line 15"/>
            <p:cNvSpPr>
              <a:spLocks noChangeShapeType="1"/>
            </p:cNvSpPr>
            <p:nvPr/>
          </p:nvSpPr>
          <p:spPr bwMode="auto">
            <a:xfrm>
              <a:off x="1189" y="1594"/>
              <a:ext cx="29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717" name="Line 16"/>
            <p:cNvSpPr>
              <a:spLocks noChangeShapeType="1"/>
            </p:cNvSpPr>
            <p:nvPr/>
          </p:nvSpPr>
          <p:spPr bwMode="auto">
            <a:xfrm>
              <a:off x="830" y="1767"/>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718" name="Line 17"/>
            <p:cNvSpPr>
              <a:spLocks noChangeShapeType="1"/>
            </p:cNvSpPr>
            <p:nvPr/>
          </p:nvSpPr>
          <p:spPr bwMode="auto">
            <a:xfrm>
              <a:off x="770" y="2115"/>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719" name="Text Box 18"/>
            <p:cNvSpPr txBox="1">
              <a:spLocks noChangeArrowheads="1"/>
            </p:cNvSpPr>
            <p:nvPr/>
          </p:nvSpPr>
          <p:spPr bwMode="auto">
            <a:xfrm>
              <a:off x="830" y="829"/>
              <a:ext cx="56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b="1">
                  <a:solidFill>
                    <a:schemeClr val="bg2"/>
                  </a:solidFill>
                  <a:latin typeface="Arial" pitchFamily="34" charset="0"/>
                </a:rPr>
                <a:t>DRAFT</a:t>
              </a:r>
              <a:endParaRPr lang="en-US" sz="1400">
                <a:solidFill>
                  <a:schemeClr val="bg2"/>
                </a:solidFill>
                <a:latin typeface="Arial" pitchFamily="34" charset="0"/>
              </a:endParaRPr>
            </a:p>
          </p:txBody>
        </p:sp>
        <p:sp>
          <p:nvSpPr>
            <p:cNvPr id="71720" name="Line 19"/>
            <p:cNvSpPr>
              <a:spLocks noChangeShapeType="1"/>
            </p:cNvSpPr>
            <p:nvPr/>
          </p:nvSpPr>
          <p:spPr bwMode="auto">
            <a:xfrm>
              <a:off x="710" y="1877"/>
              <a:ext cx="809" cy="6"/>
            </a:xfrm>
            <a:prstGeom prst="line">
              <a:avLst/>
            </a:prstGeom>
            <a:noFill/>
            <a:ln w="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1687" name="Text Box 20"/>
          <p:cNvSpPr txBox="1">
            <a:spLocks noChangeArrowheads="1"/>
          </p:cNvSpPr>
          <p:nvPr/>
        </p:nvSpPr>
        <p:spPr bwMode="auto">
          <a:xfrm>
            <a:off x="693738" y="4938713"/>
            <a:ext cx="1565275" cy="482600"/>
          </a:xfrm>
          <a:prstGeom prst="rect">
            <a:avLst/>
          </a:prstGeom>
          <a:solidFill>
            <a:srgbClr val="6699FF"/>
          </a:solidFill>
          <a:ln w="9525">
            <a:solidFill>
              <a:schemeClr val="tx1"/>
            </a:solidFill>
            <a:miter lim="800000"/>
            <a:headEnd/>
            <a:tailEnd/>
          </a:ln>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400">
                <a:solidFill>
                  <a:schemeClr val="tx1"/>
                </a:solidFill>
                <a:latin typeface="Arial" pitchFamily="34" charset="0"/>
              </a:rPr>
              <a:t>Use Case</a:t>
            </a:r>
          </a:p>
        </p:txBody>
      </p:sp>
      <p:sp>
        <p:nvSpPr>
          <p:cNvPr id="71688" name="Oval 21"/>
          <p:cNvSpPr>
            <a:spLocks noChangeArrowheads="1"/>
          </p:cNvSpPr>
          <p:nvPr/>
        </p:nvSpPr>
        <p:spPr bwMode="auto">
          <a:xfrm>
            <a:off x="552450" y="4306888"/>
            <a:ext cx="1712913" cy="681037"/>
          </a:xfrm>
          <a:prstGeom prst="ellipse">
            <a:avLst/>
          </a:prstGeom>
          <a:solidFill>
            <a:srgbClr val="6699FF"/>
          </a:solidFill>
          <a:ln w="19050">
            <a:solidFill>
              <a:schemeClr val="tx1"/>
            </a:solidFill>
            <a:round/>
            <a:headEnd/>
            <a:tailEnd/>
          </a:ln>
        </p:spPr>
        <p:txBody>
          <a:bodyPr wrap="none" lIns="107950" tIns="53975" rIns="107950" bIns="53975" anchor="ctr"/>
          <a:lstStyle/>
          <a:p>
            <a:endParaRPr lang="en-US"/>
          </a:p>
        </p:txBody>
      </p:sp>
      <p:grpSp>
        <p:nvGrpSpPr>
          <p:cNvPr id="71689" name="Group 22"/>
          <p:cNvGrpSpPr>
            <a:grpSpLocks/>
          </p:cNvGrpSpPr>
          <p:nvPr/>
        </p:nvGrpSpPr>
        <p:grpSpPr bwMode="auto">
          <a:xfrm>
            <a:off x="4248150" y="1450975"/>
            <a:ext cx="3697288" cy="2081213"/>
            <a:chOff x="2676" y="914"/>
            <a:chExt cx="2329" cy="1311"/>
          </a:xfrm>
        </p:grpSpPr>
        <p:sp>
          <p:nvSpPr>
            <p:cNvPr id="71697" name="Oval 23"/>
            <p:cNvSpPr>
              <a:spLocks noChangeArrowheads="1"/>
            </p:cNvSpPr>
            <p:nvPr/>
          </p:nvSpPr>
          <p:spPr bwMode="auto">
            <a:xfrm>
              <a:off x="2676" y="1334"/>
              <a:ext cx="911" cy="336"/>
            </a:xfrm>
            <a:prstGeom prst="ellipse">
              <a:avLst/>
            </a:prstGeom>
            <a:solidFill>
              <a:srgbClr val="6699FF"/>
            </a:solidFill>
            <a:ln w="9525">
              <a:solidFill>
                <a:schemeClr val="tx1"/>
              </a:solidFill>
              <a:round/>
              <a:headEnd/>
              <a:tailEnd/>
            </a:ln>
          </p:spPr>
          <p:txBody>
            <a:bodyPr wrap="none" lIns="107950" tIns="53975" rIns="107950" bIns="53975" anchor="ctr"/>
            <a:lstStyle/>
            <a:p>
              <a:pPr algn="ctr" eaLnBrk="0" hangingPunct="0"/>
              <a:r>
                <a:rPr lang="en-US" sz="2000">
                  <a:solidFill>
                    <a:schemeClr val="tx1"/>
                  </a:solidFill>
                  <a:latin typeface="Arial" pitchFamily="34" charset="0"/>
                </a:rPr>
                <a:t>Too Small?</a:t>
              </a:r>
            </a:p>
          </p:txBody>
        </p:sp>
        <p:sp>
          <p:nvSpPr>
            <p:cNvPr id="71698" name="Text Box 24"/>
            <p:cNvSpPr txBox="1">
              <a:spLocks noChangeArrowheads="1"/>
            </p:cNvSpPr>
            <p:nvPr/>
          </p:nvSpPr>
          <p:spPr bwMode="auto">
            <a:xfrm>
              <a:off x="3029" y="914"/>
              <a:ext cx="15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400">
                  <a:solidFill>
                    <a:schemeClr val="tx1"/>
                  </a:solidFill>
                  <a:latin typeface="Arial" pitchFamily="34" charset="0"/>
                </a:rPr>
                <a:t>Use-Case Size</a:t>
              </a:r>
              <a:r>
                <a:rPr lang="en-US" sz="2400">
                  <a:solidFill>
                    <a:srgbClr val="FFFF99"/>
                  </a:solidFill>
                  <a:latin typeface="Arial" pitchFamily="34" charset="0"/>
                </a:rPr>
                <a:t>  </a:t>
              </a:r>
            </a:p>
          </p:txBody>
        </p:sp>
        <p:sp>
          <p:nvSpPr>
            <p:cNvPr id="71699" name="Oval 25"/>
            <p:cNvSpPr>
              <a:spLocks noChangeArrowheads="1"/>
            </p:cNvSpPr>
            <p:nvPr/>
          </p:nvSpPr>
          <p:spPr bwMode="auto">
            <a:xfrm>
              <a:off x="3598" y="1245"/>
              <a:ext cx="1219" cy="495"/>
            </a:xfrm>
            <a:prstGeom prst="ellipse">
              <a:avLst/>
            </a:prstGeom>
            <a:solidFill>
              <a:srgbClr val="6699FF"/>
            </a:solidFill>
            <a:ln w="9525">
              <a:solidFill>
                <a:schemeClr val="tx1"/>
              </a:solidFill>
              <a:round/>
              <a:headEnd/>
              <a:tailEnd/>
            </a:ln>
          </p:spPr>
          <p:txBody>
            <a:bodyPr wrap="none" lIns="107950" tIns="53975" rIns="107950" bIns="53975" anchor="ctr"/>
            <a:lstStyle/>
            <a:p>
              <a:pPr algn="ctr" eaLnBrk="0" hangingPunct="0"/>
              <a:r>
                <a:rPr lang="en-US" sz="2000">
                  <a:solidFill>
                    <a:schemeClr val="tx1"/>
                  </a:solidFill>
                  <a:latin typeface="Arial" pitchFamily="34" charset="0"/>
                </a:rPr>
                <a:t>Too Big?</a:t>
              </a:r>
            </a:p>
          </p:txBody>
        </p:sp>
        <p:grpSp>
          <p:nvGrpSpPr>
            <p:cNvPr id="71700" name="Group 26"/>
            <p:cNvGrpSpPr>
              <a:grpSpLocks/>
            </p:cNvGrpSpPr>
            <p:nvPr/>
          </p:nvGrpSpPr>
          <p:grpSpPr bwMode="auto">
            <a:xfrm>
              <a:off x="3010" y="1725"/>
              <a:ext cx="672" cy="432"/>
              <a:chOff x="912" y="3168"/>
              <a:chExt cx="672" cy="432"/>
            </a:xfrm>
          </p:grpSpPr>
          <p:sp>
            <p:nvSpPr>
              <p:cNvPr id="71702" name="Oval 27"/>
              <p:cNvSpPr>
                <a:spLocks noChangeArrowheads="1"/>
              </p:cNvSpPr>
              <p:nvPr/>
            </p:nvSpPr>
            <p:spPr bwMode="auto">
              <a:xfrm>
                <a:off x="912" y="3168"/>
                <a:ext cx="480" cy="240"/>
              </a:xfrm>
              <a:prstGeom prst="ellipse">
                <a:avLst/>
              </a:prstGeom>
              <a:solidFill>
                <a:srgbClr val="6699FF"/>
              </a:solidFill>
              <a:ln w="9525">
                <a:solidFill>
                  <a:schemeClr val="tx1"/>
                </a:solidFill>
                <a:round/>
                <a:headEnd/>
                <a:tailEnd/>
              </a:ln>
            </p:spPr>
            <p:txBody>
              <a:bodyPr wrap="none" lIns="107950" tIns="53975" rIns="107950" bIns="53975" anchor="ctr"/>
              <a:lstStyle/>
              <a:p>
                <a:endParaRPr lang="en-US"/>
              </a:p>
            </p:txBody>
          </p:sp>
          <p:sp>
            <p:nvSpPr>
              <p:cNvPr id="71703" name="Oval 28"/>
              <p:cNvSpPr>
                <a:spLocks noChangeArrowheads="1"/>
              </p:cNvSpPr>
              <p:nvPr/>
            </p:nvSpPr>
            <p:spPr bwMode="auto">
              <a:xfrm>
                <a:off x="1008" y="3264"/>
                <a:ext cx="480" cy="240"/>
              </a:xfrm>
              <a:prstGeom prst="ellipse">
                <a:avLst/>
              </a:prstGeom>
              <a:solidFill>
                <a:srgbClr val="6699FF"/>
              </a:solidFill>
              <a:ln w="9525">
                <a:solidFill>
                  <a:schemeClr val="tx1"/>
                </a:solidFill>
                <a:round/>
                <a:headEnd/>
                <a:tailEnd/>
              </a:ln>
            </p:spPr>
            <p:txBody>
              <a:bodyPr wrap="none" lIns="107950" tIns="53975" rIns="107950" bIns="53975" anchor="ctr"/>
              <a:lstStyle/>
              <a:p>
                <a:endParaRPr lang="en-US"/>
              </a:p>
            </p:txBody>
          </p:sp>
          <p:sp>
            <p:nvSpPr>
              <p:cNvPr id="71704" name="Oval 29"/>
              <p:cNvSpPr>
                <a:spLocks noChangeArrowheads="1"/>
              </p:cNvSpPr>
              <p:nvPr/>
            </p:nvSpPr>
            <p:spPr bwMode="auto">
              <a:xfrm>
                <a:off x="1104" y="3360"/>
                <a:ext cx="480" cy="240"/>
              </a:xfrm>
              <a:prstGeom prst="ellipse">
                <a:avLst/>
              </a:prstGeom>
              <a:solidFill>
                <a:srgbClr val="6699FF"/>
              </a:solidFill>
              <a:ln w="9525">
                <a:solidFill>
                  <a:schemeClr val="tx1"/>
                </a:solidFill>
                <a:round/>
                <a:headEnd/>
                <a:tailEnd/>
              </a:ln>
            </p:spPr>
            <p:txBody>
              <a:bodyPr wrap="none" lIns="107950" tIns="53975" rIns="107950" bIns="53975" anchor="ctr"/>
              <a:lstStyle/>
              <a:p>
                <a:endParaRPr lang="en-US"/>
              </a:p>
            </p:txBody>
          </p:sp>
        </p:grpSp>
        <p:sp>
          <p:nvSpPr>
            <p:cNvPr id="71701" name="Text Box 30"/>
            <p:cNvSpPr txBox="1">
              <a:spLocks noChangeArrowheads="1"/>
            </p:cNvSpPr>
            <p:nvPr/>
          </p:nvSpPr>
          <p:spPr bwMode="auto">
            <a:xfrm>
              <a:off x="3738" y="1773"/>
              <a:ext cx="1267"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a:solidFill>
                    <a:schemeClr val="tx1"/>
                  </a:solidFill>
                  <a:latin typeface="Arial" pitchFamily="34" charset="0"/>
                </a:rPr>
                <a:t>Is it more than one use case?</a:t>
              </a:r>
            </a:p>
          </p:txBody>
        </p:sp>
      </p:grpSp>
      <p:sp>
        <p:nvSpPr>
          <p:cNvPr id="71690" name="AutoShape 31"/>
          <p:cNvSpPr>
            <a:spLocks noChangeArrowheads="1"/>
          </p:cNvSpPr>
          <p:nvPr/>
        </p:nvSpPr>
        <p:spPr bwMode="auto">
          <a:xfrm>
            <a:off x="3548063" y="4017963"/>
            <a:ext cx="4824412" cy="1211262"/>
          </a:xfrm>
          <a:prstGeom prst="cloudCallout">
            <a:avLst>
              <a:gd name="adj1" fmla="val -43750"/>
              <a:gd name="adj2" fmla="val 70000"/>
            </a:avLst>
          </a:prstGeom>
          <a:solidFill>
            <a:srgbClr val="FFFF99"/>
          </a:solidFill>
          <a:ln w="9525">
            <a:solidFill>
              <a:schemeClr val="tx1"/>
            </a:solidFill>
            <a:round/>
            <a:headEnd/>
            <a:tailEnd/>
          </a:ln>
        </p:spPr>
        <p:txBody>
          <a:bodyPr wrap="none" lIns="107950" tIns="53975" rIns="107950" bIns="53975" anchor="ctr"/>
          <a:lstStyle/>
          <a:p>
            <a:pPr algn="ctr" eaLnBrk="0" hangingPunct="0"/>
            <a:endParaRPr lang="en-US" sz="1000">
              <a:solidFill>
                <a:schemeClr val="tx1"/>
              </a:solidFill>
            </a:endParaRPr>
          </a:p>
        </p:txBody>
      </p:sp>
      <p:sp>
        <p:nvSpPr>
          <p:cNvPr id="71691" name="Text Box 32"/>
          <p:cNvSpPr txBox="1">
            <a:spLocks noChangeArrowheads="1"/>
          </p:cNvSpPr>
          <p:nvPr/>
        </p:nvSpPr>
        <p:spPr bwMode="auto">
          <a:xfrm>
            <a:off x="3849688" y="4216400"/>
            <a:ext cx="41751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a:solidFill>
                  <a:schemeClr val="tx1"/>
                </a:solidFill>
                <a:latin typeface="Arial" pitchFamily="34" charset="0"/>
              </a:rPr>
              <a:t>Outlining helps find alternative  flows</a:t>
            </a:r>
          </a:p>
        </p:txBody>
      </p:sp>
      <p:sp>
        <p:nvSpPr>
          <p:cNvPr id="71692" name="Text Box 33"/>
          <p:cNvSpPr txBox="1">
            <a:spLocks noChangeArrowheads="1"/>
          </p:cNvSpPr>
          <p:nvPr/>
        </p:nvSpPr>
        <p:spPr bwMode="auto">
          <a:xfrm>
            <a:off x="457200" y="4014788"/>
            <a:ext cx="381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sz="2400">
                <a:solidFill>
                  <a:schemeClr val="tx1"/>
                </a:solidFill>
                <a:latin typeface="Arial" pitchFamily="34" charset="0"/>
              </a:rPr>
              <a:t>?</a:t>
            </a:r>
          </a:p>
        </p:txBody>
      </p:sp>
      <p:sp>
        <p:nvSpPr>
          <p:cNvPr id="71693" name="Text Box 34"/>
          <p:cNvSpPr txBox="1">
            <a:spLocks noChangeArrowheads="1"/>
          </p:cNvSpPr>
          <p:nvPr/>
        </p:nvSpPr>
        <p:spPr bwMode="auto">
          <a:xfrm>
            <a:off x="1839913" y="3962400"/>
            <a:ext cx="2635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spcBef>
                <a:spcPct val="50000"/>
              </a:spcBef>
            </a:pPr>
            <a:r>
              <a:rPr lang="en-US" sz="2400">
                <a:solidFill>
                  <a:schemeClr val="tx1"/>
                </a:solidFill>
                <a:latin typeface="Arial" pitchFamily="34" charset="0"/>
              </a:rPr>
              <a:t>?</a:t>
            </a:r>
          </a:p>
        </p:txBody>
      </p:sp>
      <p:sp>
        <p:nvSpPr>
          <p:cNvPr id="71694" name="Line 35"/>
          <p:cNvSpPr>
            <a:spLocks noChangeShapeType="1"/>
          </p:cNvSpPr>
          <p:nvPr/>
        </p:nvSpPr>
        <p:spPr bwMode="auto">
          <a:xfrm>
            <a:off x="958850" y="4256088"/>
            <a:ext cx="828675" cy="763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695" name="Line 36"/>
          <p:cNvSpPr>
            <a:spLocks noChangeShapeType="1"/>
          </p:cNvSpPr>
          <p:nvPr/>
        </p:nvSpPr>
        <p:spPr bwMode="auto">
          <a:xfrm flipH="1">
            <a:off x="957263" y="4278313"/>
            <a:ext cx="858837" cy="7604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71696" name="Text Box 37"/>
          <p:cNvSpPr txBox="1">
            <a:spLocks noChangeArrowheads="1"/>
          </p:cNvSpPr>
          <p:nvPr/>
        </p:nvSpPr>
        <p:spPr bwMode="auto">
          <a:xfrm>
            <a:off x="1217613" y="5256213"/>
            <a:ext cx="3016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sz="2400">
                <a:solidFill>
                  <a:schemeClr val="tx1"/>
                </a:solidFill>
                <a:latin typeface="Arial" pitchFamily="34" charset="0"/>
              </a:rPr>
              <a:t>?</a:t>
            </a:r>
          </a:p>
        </p:txBody>
      </p:sp>
      <p:sp>
        <p:nvSpPr>
          <p:cNvPr id="2" name="Slide Number Placeholder 1"/>
          <p:cNvSpPr>
            <a:spLocks noGrp="1"/>
          </p:cNvSpPr>
          <p:nvPr>
            <p:ph type="sldNum" sz="quarter" idx="12"/>
          </p:nvPr>
        </p:nvSpPr>
        <p:spPr/>
        <p:txBody>
          <a:bodyPr/>
          <a:lstStyle/>
          <a:p>
            <a:fld id="{DED05017-923D-480E-B02E-B52739184DCA}" type="slidenum">
              <a:rPr lang="en-US" smtClean="0"/>
              <a:pPr/>
              <a:t>63</a:t>
            </a:fld>
            <a:endParaRPr lang="en-US"/>
          </a:p>
        </p:txBody>
      </p:sp>
    </p:spTree>
    <p:extLst>
      <p:ext uri="{BB962C8B-B14F-4D97-AF65-F5344CB8AC3E}">
        <p14:creationId xmlns:p14="http://schemas.microsoft.com/office/powerpoint/2010/main" val="13793993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p:txBody>
          <a:bodyPr/>
          <a:lstStyle/>
          <a:p>
            <a:pPr eaLnBrk="1" hangingPunct="1">
              <a:defRPr/>
            </a:pPr>
            <a:r>
              <a:rPr lang="en-US" sz="2800" dirty="0"/>
              <a:t>Flows of events (basic and alternative)</a:t>
            </a:r>
          </a:p>
        </p:txBody>
      </p:sp>
      <p:sp>
        <p:nvSpPr>
          <p:cNvPr id="72710" name="Rectangle 3"/>
          <p:cNvSpPr>
            <a:spLocks noGrp="1" noChangeArrowheads="1"/>
          </p:cNvSpPr>
          <p:nvPr>
            <p:ph type="body" idx="1"/>
          </p:nvPr>
        </p:nvSpPr>
        <p:spPr/>
        <p:txBody>
          <a:bodyPr/>
          <a:lstStyle/>
          <a:p>
            <a:pPr marL="339725" indent="-339725" eaLnBrk="1" hangingPunct="1">
              <a:lnSpc>
                <a:spcPct val="100000"/>
              </a:lnSpc>
            </a:pPr>
            <a:r>
              <a:rPr lang="en-US" sz="2000" dirty="0"/>
              <a:t>A flow is a sequential set of steps</a:t>
            </a:r>
          </a:p>
          <a:p>
            <a:pPr marL="339725" indent="-339725" eaLnBrk="1" hangingPunct="1">
              <a:lnSpc>
                <a:spcPct val="100000"/>
              </a:lnSpc>
            </a:pPr>
            <a:r>
              <a:rPr lang="en-US" sz="2000" dirty="0"/>
              <a:t>One basic flow</a:t>
            </a:r>
          </a:p>
          <a:p>
            <a:pPr marL="682625" lvl="1" indent="-228600" eaLnBrk="1" hangingPunct="1">
              <a:lnSpc>
                <a:spcPct val="100000"/>
              </a:lnSpc>
            </a:pPr>
            <a:r>
              <a:rPr lang="en-US" sz="2000" dirty="0"/>
              <a:t>Successful scenario from start to finish</a:t>
            </a:r>
          </a:p>
          <a:p>
            <a:pPr marL="339725" indent="-339725" eaLnBrk="1" hangingPunct="1">
              <a:lnSpc>
                <a:spcPct val="100000"/>
              </a:lnSpc>
            </a:pPr>
            <a:r>
              <a:rPr lang="en-US" sz="2000" dirty="0"/>
              <a:t>Many alternative flows</a:t>
            </a:r>
          </a:p>
          <a:p>
            <a:pPr marL="682625" lvl="1" indent="-228600" eaLnBrk="1" hangingPunct="1">
              <a:lnSpc>
                <a:spcPct val="100000"/>
              </a:lnSpc>
            </a:pPr>
            <a:r>
              <a:rPr lang="en-US" sz="2000" dirty="0"/>
              <a:t>Regular variants</a:t>
            </a:r>
          </a:p>
          <a:p>
            <a:pPr marL="682625" lvl="1" indent="-228600" eaLnBrk="1" hangingPunct="1">
              <a:lnSpc>
                <a:spcPct val="100000"/>
              </a:lnSpc>
            </a:pPr>
            <a:r>
              <a:rPr lang="en-US" sz="2000" dirty="0"/>
              <a:t>Odd cases</a:t>
            </a:r>
          </a:p>
          <a:p>
            <a:pPr marL="682625" lvl="1" indent="-228600" eaLnBrk="1" hangingPunct="1">
              <a:lnSpc>
                <a:spcPct val="100000"/>
              </a:lnSpc>
            </a:pPr>
            <a:r>
              <a:rPr lang="en-US" sz="2000" dirty="0">
                <a:solidFill>
                  <a:srgbClr val="666666"/>
                </a:solidFill>
              </a:rPr>
              <a:t>Exceptional (error) flows</a:t>
            </a:r>
          </a:p>
        </p:txBody>
      </p:sp>
      <p:grpSp>
        <p:nvGrpSpPr>
          <p:cNvPr id="72711" name="Group 4"/>
          <p:cNvGrpSpPr>
            <a:grpSpLocks/>
          </p:cNvGrpSpPr>
          <p:nvPr/>
        </p:nvGrpSpPr>
        <p:grpSpPr bwMode="auto">
          <a:xfrm>
            <a:off x="6019800" y="3352800"/>
            <a:ext cx="2819400" cy="2590800"/>
            <a:chOff x="3792" y="2112"/>
            <a:chExt cx="1776" cy="1632"/>
          </a:xfrm>
        </p:grpSpPr>
        <p:sp>
          <p:nvSpPr>
            <p:cNvPr id="72712" name="Line 5"/>
            <p:cNvSpPr>
              <a:spLocks noChangeShapeType="1"/>
            </p:cNvSpPr>
            <p:nvPr/>
          </p:nvSpPr>
          <p:spPr bwMode="auto">
            <a:xfrm>
              <a:off x="4704" y="2112"/>
              <a:ext cx="0" cy="1632"/>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72713" name="Group 6"/>
            <p:cNvGrpSpPr>
              <a:grpSpLocks/>
            </p:cNvGrpSpPr>
            <p:nvPr/>
          </p:nvGrpSpPr>
          <p:grpSpPr bwMode="auto">
            <a:xfrm>
              <a:off x="4704" y="2449"/>
              <a:ext cx="337" cy="336"/>
              <a:chOff x="4176" y="1537"/>
              <a:chExt cx="337" cy="336"/>
            </a:xfrm>
          </p:grpSpPr>
          <p:sp>
            <p:nvSpPr>
              <p:cNvPr id="72732" name="Arc 7"/>
              <p:cNvSpPr>
                <a:spLocks/>
              </p:cNvSpPr>
              <p:nvPr/>
            </p:nvSpPr>
            <p:spPr bwMode="auto">
              <a:xfrm>
                <a:off x="4176" y="1537"/>
                <a:ext cx="337" cy="192"/>
              </a:xfrm>
              <a:custGeom>
                <a:avLst/>
                <a:gdLst>
                  <a:gd name="T0" fmla="*/ 0 w 21664"/>
                  <a:gd name="T1" fmla="*/ 0 h 21600"/>
                  <a:gd name="T2" fmla="*/ 337 w 21664"/>
                  <a:gd name="T3" fmla="*/ 192 h 21600"/>
                  <a:gd name="T4" fmla="*/ 1 w 21664"/>
                  <a:gd name="T5" fmla="*/ 192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33" name="Arc 8"/>
              <p:cNvSpPr>
                <a:spLocks/>
              </p:cNvSpPr>
              <p:nvPr/>
            </p:nvSpPr>
            <p:spPr bwMode="auto">
              <a:xfrm rot="10800000">
                <a:off x="4177" y="1682"/>
                <a:ext cx="336" cy="191"/>
              </a:xfrm>
              <a:custGeom>
                <a:avLst/>
                <a:gdLst>
                  <a:gd name="T0" fmla="*/ 0 w 21600"/>
                  <a:gd name="T1" fmla="*/ 191 h 21497"/>
                  <a:gd name="T2" fmla="*/ 303 w 21600"/>
                  <a:gd name="T3" fmla="*/ 0 h 21497"/>
                  <a:gd name="T4" fmla="*/ 336 w 21600"/>
                  <a:gd name="T5" fmla="*/ 191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508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2714" name="Group 9"/>
            <p:cNvGrpSpPr>
              <a:grpSpLocks/>
            </p:cNvGrpSpPr>
            <p:nvPr/>
          </p:nvGrpSpPr>
          <p:grpSpPr bwMode="auto">
            <a:xfrm>
              <a:off x="4320" y="2256"/>
              <a:ext cx="337" cy="430"/>
              <a:chOff x="3792" y="1345"/>
              <a:chExt cx="337" cy="430"/>
            </a:xfrm>
          </p:grpSpPr>
          <p:sp>
            <p:nvSpPr>
              <p:cNvPr id="72730" name="Arc 10"/>
              <p:cNvSpPr>
                <a:spLocks/>
              </p:cNvSpPr>
              <p:nvPr/>
            </p:nvSpPr>
            <p:spPr bwMode="auto">
              <a:xfrm rot="10800000">
                <a:off x="3792" y="1556"/>
                <a:ext cx="336" cy="219"/>
              </a:xfrm>
              <a:custGeom>
                <a:avLst/>
                <a:gdLst>
                  <a:gd name="T0" fmla="*/ 0 w 21600"/>
                  <a:gd name="T1" fmla="*/ 0 h 21600"/>
                  <a:gd name="T2" fmla="*/ 336 w 21600"/>
                  <a:gd name="T3" fmla="*/ 219 h 21600"/>
                  <a:gd name="T4" fmla="*/ 0 w 21600"/>
                  <a:gd name="T5" fmla="*/ 21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rgbClr val="0066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31" name="Arc 11"/>
              <p:cNvSpPr>
                <a:spLocks/>
              </p:cNvSpPr>
              <p:nvPr/>
            </p:nvSpPr>
            <p:spPr bwMode="auto">
              <a:xfrm>
                <a:off x="3793" y="1345"/>
                <a:ext cx="336" cy="218"/>
              </a:xfrm>
              <a:custGeom>
                <a:avLst/>
                <a:gdLst>
                  <a:gd name="T0" fmla="*/ 0 w 21600"/>
                  <a:gd name="T1" fmla="*/ 218 h 21496"/>
                  <a:gd name="T2" fmla="*/ 303 w 21600"/>
                  <a:gd name="T3" fmla="*/ 0 h 21496"/>
                  <a:gd name="T4" fmla="*/ 336 w 21600"/>
                  <a:gd name="T5" fmla="*/ 218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50800" cap="rnd">
                <a:solidFill>
                  <a:srgbClr val="006699"/>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2715" name="Group 12"/>
            <p:cNvGrpSpPr>
              <a:grpSpLocks/>
            </p:cNvGrpSpPr>
            <p:nvPr/>
          </p:nvGrpSpPr>
          <p:grpSpPr bwMode="auto">
            <a:xfrm>
              <a:off x="5040" y="2641"/>
              <a:ext cx="528" cy="479"/>
              <a:chOff x="4512" y="1729"/>
              <a:chExt cx="528" cy="479"/>
            </a:xfrm>
          </p:grpSpPr>
          <p:sp>
            <p:nvSpPr>
              <p:cNvPr id="72726" name="Arc 13"/>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27" name="Line 14"/>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8" name="Line 15"/>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9" name="Line 16"/>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716" name="Group 17"/>
            <p:cNvGrpSpPr>
              <a:grpSpLocks/>
            </p:cNvGrpSpPr>
            <p:nvPr/>
          </p:nvGrpSpPr>
          <p:grpSpPr bwMode="auto">
            <a:xfrm>
              <a:off x="4128" y="2881"/>
              <a:ext cx="529" cy="479"/>
              <a:chOff x="3600" y="1969"/>
              <a:chExt cx="529" cy="479"/>
            </a:xfrm>
          </p:grpSpPr>
          <p:sp>
            <p:nvSpPr>
              <p:cNvPr id="72722" name="Arc 18"/>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23" name="Line 19"/>
              <p:cNvSpPr>
                <a:spLocks noChangeShapeType="1"/>
              </p:cNvSpPr>
              <p:nvPr/>
            </p:nvSpPr>
            <p:spPr bwMode="auto">
              <a:xfrm flipH="1">
                <a:off x="3600" y="2352"/>
                <a:ext cx="240"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4" name="Line 20"/>
              <p:cNvSpPr>
                <a:spLocks noChangeShapeType="1"/>
              </p:cNvSpPr>
              <p:nvPr/>
            </p:nvSpPr>
            <p:spPr bwMode="auto">
              <a:xfrm flipH="1">
                <a:off x="3648" y="2400"/>
                <a:ext cx="144"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5" name="Line 21"/>
              <p:cNvSpPr>
                <a:spLocks noChangeShapeType="1"/>
              </p:cNvSpPr>
              <p:nvPr/>
            </p:nvSpPr>
            <p:spPr bwMode="auto">
              <a:xfrm flipH="1">
                <a:off x="3696" y="2448"/>
                <a:ext cx="48"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717" name="Group 22"/>
            <p:cNvGrpSpPr>
              <a:grpSpLocks/>
            </p:cNvGrpSpPr>
            <p:nvPr/>
          </p:nvGrpSpPr>
          <p:grpSpPr bwMode="auto">
            <a:xfrm>
              <a:off x="3792" y="2449"/>
              <a:ext cx="529" cy="479"/>
              <a:chOff x="3264" y="1537"/>
              <a:chExt cx="529" cy="479"/>
            </a:xfrm>
          </p:grpSpPr>
          <p:sp>
            <p:nvSpPr>
              <p:cNvPr id="72718" name="Arc 23"/>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19" name="Line 24"/>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0" name="Line 25"/>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1" name="Line 26"/>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 name="Slide Number Placeholder 1"/>
          <p:cNvSpPr>
            <a:spLocks noGrp="1"/>
          </p:cNvSpPr>
          <p:nvPr>
            <p:ph type="sldNum" sz="quarter" idx="12"/>
          </p:nvPr>
        </p:nvSpPr>
        <p:spPr/>
        <p:txBody>
          <a:bodyPr/>
          <a:lstStyle/>
          <a:p>
            <a:fld id="{DED05017-923D-480E-B02E-B52739184DCA}" type="slidenum">
              <a:rPr lang="en-US" smtClean="0"/>
              <a:pPr/>
              <a:t>64</a:t>
            </a:fld>
            <a:endParaRPr lang="en-US"/>
          </a:p>
        </p:txBody>
      </p:sp>
    </p:spTree>
    <p:custDataLst>
      <p:tags r:id="rId1"/>
    </p:custDataLst>
    <p:extLst>
      <p:ext uri="{BB962C8B-B14F-4D97-AF65-F5344CB8AC3E}">
        <p14:creationId xmlns:p14="http://schemas.microsoft.com/office/powerpoint/2010/main" val="2356545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Grp="1" noChangeArrowheads="1"/>
          </p:cNvSpPr>
          <p:nvPr>
            <p:ph type="title"/>
          </p:nvPr>
        </p:nvSpPr>
        <p:spPr/>
        <p:txBody>
          <a:bodyPr/>
          <a:lstStyle/>
          <a:p>
            <a:pPr eaLnBrk="1" hangingPunct="1">
              <a:defRPr/>
            </a:pPr>
            <a:r>
              <a:rPr lang="en-US" sz="2800" dirty="0"/>
              <a:t>Outline the flows of events </a:t>
            </a:r>
          </a:p>
        </p:txBody>
      </p:sp>
      <p:sp>
        <p:nvSpPr>
          <p:cNvPr id="73734" name="Rectangle 3"/>
          <p:cNvSpPr>
            <a:spLocks noGrp="1" noChangeArrowheads="1"/>
          </p:cNvSpPr>
          <p:nvPr>
            <p:ph type="body" idx="1"/>
          </p:nvPr>
        </p:nvSpPr>
        <p:spPr/>
        <p:txBody>
          <a:bodyPr/>
          <a:lstStyle/>
          <a:p>
            <a:pPr marL="339725" indent="-339725" eaLnBrk="1" hangingPunct="1">
              <a:lnSpc>
                <a:spcPct val="100000"/>
              </a:lnSpc>
            </a:pPr>
            <a:r>
              <a:rPr lang="en-US" sz="2000" dirty="0"/>
              <a:t>Basic flow </a:t>
            </a:r>
          </a:p>
          <a:p>
            <a:pPr marL="682625" lvl="1" indent="-228600" eaLnBrk="1" hangingPunct="1">
              <a:lnSpc>
                <a:spcPct val="100000"/>
              </a:lnSpc>
            </a:pPr>
            <a:r>
              <a:rPr lang="en-US" sz="2000" dirty="0"/>
              <a:t>What event starts the use case? </a:t>
            </a:r>
          </a:p>
          <a:p>
            <a:pPr marL="682625" lvl="1" indent="-228600" eaLnBrk="1" hangingPunct="1">
              <a:lnSpc>
                <a:spcPct val="100000"/>
              </a:lnSpc>
            </a:pPr>
            <a:r>
              <a:rPr lang="en-US" sz="2000" dirty="0"/>
              <a:t>How does the use case end?</a:t>
            </a:r>
          </a:p>
          <a:p>
            <a:pPr marL="682625" lvl="1" indent="-228600" eaLnBrk="1" hangingPunct="1">
              <a:lnSpc>
                <a:spcPct val="100000"/>
              </a:lnSpc>
            </a:pPr>
            <a:r>
              <a:rPr lang="en-US" sz="2000" dirty="0"/>
              <a:t>How does the use case repeat some behavior?</a:t>
            </a:r>
          </a:p>
          <a:p>
            <a:pPr marL="339725" indent="-339725" eaLnBrk="1" hangingPunct="1">
              <a:lnSpc>
                <a:spcPct val="100000"/>
              </a:lnSpc>
            </a:pPr>
            <a:r>
              <a:rPr lang="en-US" sz="2000" dirty="0"/>
              <a:t>Alternative flows</a:t>
            </a:r>
          </a:p>
          <a:p>
            <a:pPr marL="682625" lvl="1" indent="-228600" eaLnBrk="1" hangingPunct="1">
              <a:lnSpc>
                <a:spcPct val="100000"/>
              </a:lnSpc>
            </a:pPr>
            <a:r>
              <a:rPr lang="en-US" sz="2000" dirty="0"/>
              <a:t>Are there optional situations in the use case?</a:t>
            </a:r>
          </a:p>
          <a:p>
            <a:pPr marL="682625" lvl="1" indent="-228600" eaLnBrk="1" hangingPunct="1">
              <a:lnSpc>
                <a:spcPct val="100000"/>
              </a:lnSpc>
            </a:pPr>
            <a:r>
              <a:rPr lang="en-US" sz="2000" dirty="0"/>
              <a:t>What odd cases might happen?</a:t>
            </a:r>
          </a:p>
          <a:p>
            <a:pPr marL="682625" lvl="1" indent="-228600" eaLnBrk="1" hangingPunct="1">
              <a:lnSpc>
                <a:spcPct val="100000"/>
              </a:lnSpc>
            </a:pPr>
            <a:r>
              <a:rPr lang="en-US" sz="2000" dirty="0"/>
              <a:t>What variants might happen?</a:t>
            </a:r>
          </a:p>
          <a:p>
            <a:pPr marL="682625" lvl="1" indent="-228600" eaLnBrk="1" hangingPunct="1">
              <a:lnSpc>
                <a:spcPct val="100000"/>
              </a:lnSpc>
            </a:pPr>
            <a:r>
              <a:rPr lang="en-US" sz="2000" dirty="0"/>
              <a:t>What may go wrong?</a:t>
            </a:r>
          </a:p>
          <a:p>
            <a:pPr marL="682625" lvl="1" indent="-228600" eaLnBrk="1" hangingPunct="1">
              <a:lnSpc>
                <a:spcPct val="100000"/>
              </a:lnSpc>
            </a:pPr>
            <a:r>
              <a:rPr lang="en-US" sz="2000" dirty="0"/>
              <a:t>What may not happen?</a:t>
            </a:r>
          </a:p>
          <a:p>
            <a:pPr marL="682625" lvl="1" indent="-228600" eaLnBrk="1" hangingPunct="1">
              <a:lnSpc>
                <a:spcPct val="100000"/>
              </a:lnSpc>
            </a:pPr>
            <a:r>
              <a:rPr lang="en-US" sz="2000" dirty="0"/>
              <a:t>What kinds of resources can be blocked?</a:t>
            </a:r>
          </a:p>
        </p:txBody>
      </p:sp>
      <p:sp>
        <p:nvSpPr>
          <p:cNvPr id="2" name="Slide Number Placeholder 1"/>
          <p:cNvSpPr>
            <a:spLocks noGrp="1"/>
          </p:cNvSpPr>
          <p:nvPr>
            <p:ph type="sldNum" sz="quarter" idx="12"/>
          </p:nvPr>
        </p:nvSpPr>
        <p:spPr/>
        <p:txBody>
          <a:bodyPr/>
          <a:lstStyle/>
          <a:p>
            <a:fld id="{DED05017-923D-480E-B02E-B52739184DCA}" type="slidenum">
              <a:rPr lang="en-US" smtClean="0"/>
              <a:pPr/>
              <a:t>65</a:t>
            </a:fld>
            <a:endParaRPr lang="en-US"/>
          </a:p>
        </p:txBody>
      </p:sp>
    </p:spTree>
    <p:custDataLst>
      <p:tags r:id="rId1"/>
    </p:custDataLst>
    <p:extLst>
      <p:ext uri="{BB962C8B-B14F-4D97-AF65-F5344CB8AC3E}">
        <p14:creationId xmlns:p14="http://schemas.microsoft.com/office/powerpoint/2010/main" val="1339406256"/>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2"/>
          <p:cNvSpPr>
            <a:spLocks noChangeArrowheads="1"/>
          </p:cNvSpPr>
          <p:nvPr/>
        </p:nvSpPr>
        <p:spPr bwMode="auto">
          <a:xfrm>
            <a:off x="304800" y="1433512"/>
            <a:ext cx="6345238" cy="5043488"/>
          </a:xfrm>
          <a:prstGeom prst="rect">
            <a:avLst/>
          </a:prstGeom>
          <a:noFill/>
          <a:ln w="9525">
            <a:solidFill>
              <a:schemeClr val="tx1"/>
            </a:solidFill>
            <a:miter lim="800000"/>
            <a:headEnd/>
            <a:tailEnd/>
          </a:ln>
        </p:spPr>
        <p:txBody>
          <a:bodyPr wrap="none" lIns="107950" tIns="53975" rIns="107950" bIns="53975" anchor="ctr"/>
          <a:lstStyle/>
          <a:p>
            <a:endParaRPr lang="en-US"/>
          </a:p>
        </p:txBody>
      </p:sp>
      <p:sp>
        <p:nvSpPr>
          <p:cNvPr id="663555" name="Rectangle 3"/>
          <p:cNvSpPr>
            <a:spLocks noGrp="1" noChangeArrowheads="1"/>
          </p:cNvSpPr>
          <p:nvPr>
            <p:ph type="title"/>
          </p:nvPr>
        </p:nvSpPr>
        <p:spPr/>
        <p:txBody>
          <a:bodyPr/>
          <a:lstStyle/>
          <a:p>
            <a:pPr eaLnBrk="1" hangingPunct="1">
              <a:defRPr/>
            </a:pPr>
            <a:r>
              <a:rPr lang="en-US" sz="2800" dirty="0"/>
              <a:t>Step-by-step outline: Register for Courses</a:t>
            </a:r>
          </a:p>
        </p:txBody>
      </p:sp>
      <p:sp>
        <p:nvSpPr>
          <p:cNvPr id="74759" name="Rectangle 4"/>
          <p:cNvSpPr>
            <a:spLocks noGrp="1" noChangeArrowheads="1"/>
          </p:cNvSpPr>
          <p:nvPr>
            <p:ph type="body" idx="1"/>
          </p:nvPr>
        </p:nvSpPr>
        <p:spPr>
          <a:xfrm>
            <a:off x="430213" y="1619250"/>
            <a:ext cx="8169275" cy="4781550"/>
          </a:xfrm>
        </p:spPr>
        <p:txBody>
          <a:bodyPr/>
          <a:lstStyle/>
          <a:p>
            <a:pPr marL="609600" indent="-609600" eaLnBrk="1" hangingPunct="1">
              <a:lnSpc>
                <a:spcPct val="70000"/>
              </a:lnSpc>
              <a:buFont typeface="Wingdings" pitchFamily="2" charset="2"/>
              <a:buNone/>
            </a:pPr>
            <a:r>
              <a:rPr lang="en-US" sz="1800" b="1" dirty="0"/>
              <a:t>Basic Flow</a:t>
            </a:r>
          </a:p>
          <a:p>
            <a:pPr marL="790575" lvl="1" indent="-336550" eaLnBrk="1" hangingPunct="1">
              <a:lnSpc>
                <a:spcPct val="77000"/>
              </a:lnSpc>
              <a:buFont typeface="Wingdings" pitchFamily="2" charset="2"/>
              <a:buNone/>
            </a:pPr>
            <a:r>
              <a:rPr lang="en-US" sz="1600" dirty="0">
                <a:solidFill>
                  <a:schemeClr val="tx1"/>
                </a:solidFill>
              </a:rPr>
              <a:t>1.	Student logs on.</a:t>
            </a:r>
          </a:p>
          <a:p>
            <a:pPr marL="790575" lvl="1" indent="-336550" eaLnBrk="1" hangingPunct="1">
              <a:lnSpc>
                <a:spcPct val="77000"/>
              </a:lnSpc>
              <a:buFont typeface="Wingdings" pitchFamily="2" charset="2"/>
              <a:buNone/>
            </a:pPr>
            <a:r>
              <a:rPr lang="en-US" sz="1600" dirty="0">
                <a:solidFill>
                  <a:schemeClr val="tx1"/>
                </a:solidFill>
              </a:rPr>
              <a:t>2.	Student chooses to create a schedule.</a:t>
            </a:r>
          </a:p>
          <a:p>
            <a:pPr marL="790575" lvl="1" indent="-336550" eaLnBrk="1" hangingPunct="1">
              <a:lnSpc>
                <a:spcPct val="77000"/>
              </a:lnSpc>
              <a:buFont typeface="Wingdings" pitchFamily="2" charset="2"/>
              <a:buNone/>
            </a:pPr>
            <a:r>
              <a:rPr lang="en-US" sz="1600" dirty="0">
                <a:solidFill>
                  <a:schemeClr val="tx1"/>
                </a:solidFill>
              </a:rPr>
              <a:t>3.	Student obtains course information.</a:t>
            </a:r>
          </a:p>
          <a:p>
            <a:pPr marL="790575" lvl="1" indent="-336550" eaLnBrk="1" hangingPunct="1">
              <a:lnSpc>
                <a:spcPct val="77000"/>
              </a:lnSpc>
              <a:buFont typeface="Wingdings" pitchFamily="2" charset="2"/>
              <a:buNone/>
            </a:pPr>
            <a:r>
              <a:rPr lang="en-US" sz="1600" dirty="0">
                <a:solidFill>
                  <a:schemeClr val="tx1"/>
                </a:solidFill>
              </a:rPr>
              <a:t>4.	Student selects courses.</a:t>
            </a:r>
          </a:p>
          <a:p>
            <a:pPr marL="790575" lvl="1" indent="-336550" eaLnBrk="1" hangingPunct="1">
              <a:lnSpc>
                <a:spcPct val="77000"/>
              </a:lnSpc>
              <a:buFont typeface="Wingdings" pitchFamily="2" charset="2"/>
              <a:buNone/>
            </a:pPr>
            <a:r>
              <a:rPr lang="en-US" sz="1600" dirty="0">
                <a:solidFill>
                  <a:schemeClr val="tx1"/>
                </a:solidFill>
              </a:rPr>
              <a:t>5.	Student submits schedule.</a:t>
            </a:r>
          </a:p>
          <a:p>
            <a:pPr marL="790575" lvl="1" indent="-336550" eaLnBrk="1" hangingPunct="1">
              <a:lnSpc>
                <a:spcPct val="77000"/>
              </a:lnSpc>
              <a:buFont typeface="Wingdings" pitchFamily="2" charset="2"/>
              <a:buNone/>
            </a:pPr>
            <a:r>
              <a:rPr lang="en-US" sz="1600" dirty="0">
                <a:solidFill>
                  <a:schemeClr val="tx1"/>
                </a:solidFill>
              </a:rPr>
              <a:t>6.	System displays completed schedule</a:t>
            </a:r>
            <a:r>
              <a:rPr lang="en-US" sz="1600" dirty="0">
                <a:solidFill>
                  <a:srgbClr val="0000FF"/>
                </a:solidFill>
              </a:rPr>
              <a:t> </a:t>
            </a:r>
            <a:r>
              <a:rPr lang="en-US" sz="1600" dirty="0">
                <a:solidFill>
                  <a:schemeClr val="tx1"/>
                </a:solidFill>
              </a:rPr>
              <a:t>.</a:t>
            </a:r>
          </a:p>
          <a:p>
            <a:pPr marL="609600" indent="-609600" eaLnBrk="1" hangingPunct="1">
              <a:lnSpc>
                <a:spcPct val="77000"/>
              </a:lnSpc>
              <a:buFont typeface="Wingdings" pitchFamily="2" charset="2"/>
              <a:buNone/>
            </a:pPr>
            <a:r>
              <a:rPr lang="en-US" sz="1800" b="1" dirty="0"/>
              <a:t>Alternative Flows</a:t>
            </a:r>
          </a:p>
          <a:p>
            <a:pPr marL="790575" lvl="1" indent="-336550" eaLnBrk="1" hangingPunct="1">
              <a:lnSpc>
                <a:spcPct val="77000"/>
              </a:lnSpc>
              <a:buFont typeface="Wingdings" pitchFamily="2" charset="2"/>
              <a:buNone/>
            </a:pPr>
            <a:r>
              <a:rPr lang="en-US" sz="1600" dirty="0">
                <a:solidFill>
                  <a:schemeClr val="tx1"/>
                </a:solidFill>
              </a:rPr>
              <a:t>A1. Unidentified student.</a:t>
            </a:r>
          </a:p>
          <a:p>
            <a:pPr marL="790575" lvl="1" indent="-336550" eaLnBrk="1" hangingPunct="1">
              <a:lnSpc>
                <a:spcPct val="77000"/>
              </a:lnSpc>
              <a:buFont typeface="Wingdings" pitchFamily="2" charset="2"/>
              <a:buNone/>
            </a:pPr>
            <a:r>
              <a:rPr lang="en-US" sz="1600" dirty="0" err="1">
                <a:solidFill>
                  <a:schemeClr val="tx1"/>
                </a:solidFill>
              </a:rPr>
              <a:t>A2</a:t>
            </a:r>
            <a:r>
              <a:rPr lang="en-US" sz="1600" dirty="0">
                <a:solidFill>
                  <a:schemeClr val="tx1"/>
                </a:solidFill>
              </a:rPr>
              <a:t>. Quit. </a:t>
            </a:r>
          </a:p>
          <a:p>
            <a:pPr marL="790575" lvl="1" indent="-336550" eaLnBrk="1" hangingPunct="1">
              <a:lnSpc>
                <a:spcPct val="77000"/>
              </a:lnSpc>
              <a:buFont typeface="Wingdings" pitchFamily="2" charset="2"/>
              <a:buNone/>
            </a:pPr>
            <a:r>
              <a:rPr lang="en-US" sz="1600" dirty="0" err="1">
                <a:solidFill>
                  <a:schemeClr val="tx1"/>
                </a:solidFill>
              </a:rPr>
              <a:t>A3</a:t>
            </a:r>
            <a:r>
              <a:rPr lang="en-US" sz="1600" dirty="0">
                <a:solidFill>
                  <a:schemeClr val="tx1"/>
                </a:solidFill>
              </a:rPr>
              <a:t>. Cannot enroll.</a:t>
            </a:r>
          </a:p>
          <a:p>
            <a:pPr marL="790575" lvl="1" indent="-336550" eaLnBrk="1" hangingPunct="1">
              <a:lnSpc>
                <a:spcPct val="77000"/>
              </a:lnSpc>
              <a:buFont typeface="Wingdings" pitchFamily="2" charset="2"/>
              <a:buNone/>
            </a:pPr>
            <a:r>
              <a:rPr lang="en-US" sz="1600" dirty="0" err="1">
                <a:solidFill>
                  <a:schemeClr val="tx1"/>
                </a:solidFill>
              </a:rPr>
              <a:t>A4</a:t>
            </a:r>
            <a:r>
              <a:rPr lang="en-US" sz="1600" dirty="0">
                <a:solidFill>
                  <a:schemeClr val="tx1"/>
                </a:solidFill>
              </a:rPr>
              <a:t>. Course Catalog System unavailable.</a:t>
            </a:r>
          </a:p>
          <a:p>
            <a:pPr marL="790575" lvl="1" indent="-336550" eaLnBrk="1" hangingPunct="1">
              <a:lnSpc>
                <a:spcPct val="77000"/>
              </a:lnSpc>
              <a:buFont typeface="Wingdings" pitchFamily="2" charset="2"/>
              <a:buNone/>
            </a:pPr>
            <a:r>
              <a:rPr lang="en-US" sz="1600" dirty="0">
                <a:solidFill>
                  <a:schemeClr val="tx1"/>
                </a:solidFill>
              </a:rPr>
              <a:t>      Can we allow students to register if the Course </a:t>
            </a:r>
          </a:p>
          <a:p>
            <a:pPr marL="790575" lvl="1" indent="-336550" eaLnBrk="1" hangingPunct="1">
              <a:lnSpc>
                <a:spcPct val="77000"/>
              </a:lnSpc>
              <a:buFont typeface="Wingdings" pitchFamily="2" charset="2"/>
              <a:buNone/>
            </a:pPr>
            <a:r>
              <a:rPr lang="en-US" sz="1600" dirty="0">
                <a:solidFill>
                  <a:schemeClr val="tx1"/>
                </a:solidFill>
              </a:rPr>
              <a:t>	 Catalog is unavailable?</a:t>
            </a:r>
          </a:p>
          <a:p>
            <a:pPr marL="790575" lvl="1" indent="-336550" eaLnBrk="1" hangingPunct="1">
              <a:lnSpc>
                <a:spcPct val="77000"/>
              </a:lnSpc>
              <a:buFont typeface="Wingdings" pitchFamily="2" charset="2"/>
              <a:buNone/>
            </a:pPr>
            <a:r>
              <a:rPr lang="en-US" sz="1600" dirty="0" err="1">
                <a:solidFill>
                  <a:schemeClr val="tx1"/>
                </a:solidFill>
              </a:rPr>
              <a:t>A5</a:t>
            </a:r>
            <a:r>
              <a:rPr lang="en-US" sz="1600" dirty="0">
                <a:solidFill>
                  <a:schemeClr val="tx1"/>
                </a:solidFill>
              </a:rPr>
              <a:t>. Course registration closed.</a:t>
            </a:r>
          </a:p>
        </p:txBody>
      </p:sp>
      <p:sp>
        <p:nvSpPr>
          <p:cNvPr id="74760" name="AutoShape 5"/>
          <p:cNvSpPr>
            <a:spLocks noChangeArrowheads="1"/>
          </p:cNvSpPr>
          <p:nvPr/>
        </p:nvSpPr>
        <p:spPr bwMode="auto">
          <a:xfrm>
            <a:off x="6691313" y="2773362"/>
            <a:ext cx="2452687" cy="976313"/>
          </a:xfrm>
          <a:prstGeom prst="wedgeEllipseCallout">
            <a:avLst>
              <a:gd name="adj1" fmla="val -78477"/>
              <a:gd name="adj2" fmla="val 90648"/>
            </a:avLst>
          </a:prstGeom>
          <a:solidFill>
            <a:srgbClr val="FFFF99"/>
          </a:solidFill>
          <a:ln w="9525">
            <a:solidFill>
              <a:schemeClr val="tx1"/>
            </a:solidFill>
            <a:miter lim="800000"/>
            <a:headEnd/>
            <a:tailEnd/>
          </a:ln>
        </p:spPr>
        <p:txBody>
          <a:bodyPr lIns="107950" tIns="53975" rIns="107950" bIns="53975"/>
          <a:lstStyle/>
          <a:p>
            <a:pPr algn="ctr" eaLnBrk="0" hangingPunct="0"/>
            <a:endParaRPr lang="en-US" sz="2000">
              <a:solidFill>
                <a:srgbClr val="FFFF99"/>
              </a:solidFill>
              <a:latin typeface="Arial" pitchFamily="34" charset="0"/>
            </a:endParaRPr>
          </a:p>
        </p:txBody>
      </p:sp>
      <p:sp>
        <p:nvSpPr>
          <p:cNvPr id="74761" name="Text Box 6"/>
          <p:cNvSpPr txBox="1">
            <a:spLocks noChangeArrowheads="1"/>
          </p:cNvSpPr>
          <p:nvPr/>
        </p:nvSpPr>
        <p:spPr bwMode="auto">
          <a:xfrm>
            <a:off x="6858000" y="2940050"/>
            <a:ext cx="2001838"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dirty="0">
                <a:solidFill>
                  <a:schemeClr val="tx1"/>
                </a:solidFill>
                <a:latin typeface="Arial" pitchFamily="34" charset="0"/>
              </a:rPr>
              <a:t>What are other alternatives?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66</a:t>
            </a:fld>
            <a:endParaRPr lang="en-US"/>
          </a:p>
        </p:txBody>
      </p:sp>
    </p:spTree>
    <p:extLst>
      <p:ext uri="{BB962C8B-B14F-4D97-AF65-F5344CB8AC3E}">
        <p14:creationId xmlns:p14="http://schemas.microsoft.com/office/powerpoint/2010/main" val="18486231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665603" name="Rectangle 3"/>
          <p:cNvSpPr>
            <a:spLocks noGrp="1" noChangeArrowheads="1"/>
          </p:cNvSpPr>
          <p:nvPr>
            <p:ph type="title"/>
          </p:nvPr>
        </p:nvSpPr>
        <p:spPr/>
        <p:txBody>
          <a:bodyPr/>
          <a:lstStyle/>
          <a:p>
            <a:pPr eaLnBrk="1" hangingPunct="1">
              <a:defRPr/>
            </a:pPr>
            <a:r>
              <a:rPr lang="en-US" sz="2800" dirty="0"/>
              <a:t>What is a use-case scenario?</a:t>
            </a:r>
          </a:p>
        </p:txBody>
      </p:sp>
      <p:sp>
        <p:nvSpPr>
          <p:cNvPr id="75780" name="Line 4"/>
          <p:cNvSpPr>
            <a:spLocks noChangeShapeType="1"/>
          </p:cNvSpPr>
          <p:nvPr/>
        </p:nvSpPr>
        <p:spPr bwMode="auto">
          <a:xfrm>
            <a:off x="6019800" y="2514600"/>
            <a:ext cx="0" cy="914400"/>
          </a:xfrm>
          <a:prstGeom prst="line">
            <a:avLst/>
          </a:prstGeom>
          <a:noFill/>
          <a:ln w="762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wrap="none" anchor="ctr"/>
          <a:lstStyle/>
          <a:p>
            <a:endParaRPr lang="en-US"/>
          </a:p>
        </p:txBody>
      </p:sp>
      <p:sp>
        <p:nvSpPr>
          <p:cNvPr id="75781" name="Arc 5"/>
          <p:cNvSpPr>
            <a:spLocks/>
          </p:cNvSpPr>
          <p:nvPr/>
        </p:nvSpPr>
        <p:spPr bwMode="auto">
          <a:xfrm rot="10800000">
            <a:off x="5408613" y="3051175"/>
            <a:ext cx="601662" cy="385763"/>
          </a:xfrm>
          <a:custGeom>
            <a:avLst/>
            <a:gdLst>
              <a:gd name="T0" fmla="*/ 0 w 24779"/>
              <a:gd name="T1" fmla="*/ 4197 h 21600"/>
              <a:gd name="T2" fmla="*/ 601662 w 24779"/>
              <a:gd name="T3" fmla="*/ 385763 h 21600"/>
              <a:gd name="T4" fmla="*/ 77190 w 24779"/>
              <a:gd name="T5" fmla="*/ 385763 h 21600"/>
              <a:gd name="T6" fmla="*/ 0 60000 65536"/>
              <a:gd name="T7" fmla="*/ 0 60000 65536"/>
              <a:gd name="T8" fmla="*/ 0 60000 65536"/>
              <a:gd name="T9" fmla="*/ 0 w 24779"/>
              <a:gd name="T10" fmla="*/ 0 h 21600"/>
              <a:gd name="T11" fmla="*/ 24779 w 24779"/>
              <a:gd name="T12" fmla="*/ 21600 h 21600"/>
            </a:gdLst>
            <a:ahLst/>
            <a:cxnLst>
              <a:cxn ang="T6">
                <a:pos x="T0" y="T1"/>
              </a:cxn>
              <a:cxn ang="T7">
                <a:pos x="T2" y="T3"/>
              </a:cxn>
              <a:cxn ang="T8">
                <a:pos x="T4" y="T5"/>
              </a:cxn>
            </a:cxnLst>
            <a:rect l="T9" t="T10" r="T11" b="T12"/>
            <a:pathLst>
              <a:path w="24779" h="21600" fill="none" extrusionOk="0">
                <a:moveTo>
                  <a:pt x="0" y="235"/>
                </a:moveTo>
                <a:cubicBezTo>
                  <a:pt x="1052" y="78"/>
                  <a:pt x="2114" y="-1"/>
                  <a:pt x="3179" y="0"/>
                </a:cubicBezTo>
                <a:cubicBezTo>
                  <a:pt x="15108" y="0"/>
                  <a:pt x="24779" y="9670"/>
                  <a:pt x="24779" y="21600"/>
                </a:cubicBezTo>
              </a:path>
              <a:path w="24779" h="21600" stroke="0" extrusionOk="0">
                <a:moveTo>
                  <a:pt x="0" y="235"/>
                </a:moveTo>
                <a:cubicBezTo>
                  <a:pt x="1052" y="78"/>
                  <a:pt x="2114" y="-1"/>
                  <a:pt x="3179" y="0"/>
                </a:cubicBezTo>
                <a:cubicBezTo>
                  <a:pt x="15108" y="0"/>
                  <a:pt x="24779" y="9670"/>
                  <a:pt x="24779" y="21600"/>
                </a:cubicBezTo>
                <a:lnTo>
                  <a:pt x="3179" y="21600"/>
                </a:lnTo>
                <a:close/>
              </a:path>
            </a:pathLst>
          </a:custGeom>
          <a:noFill/>
          <a:ln w="508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5782" name="Group 6"/>
          <p:cNvGrpSpPr>
            <a:grpSpLocks/>
          </p:cNvGrpSpPr>
          <p:nvPr/>
        </p:nvGrpSpPr>
        <p:grpSpPr bwMode="auto">
          <a:xfrm>
            <a:off x="4572000" y="3049588"/>
            <a:ext cx="839788" cy="760412"/>
            <a:chOff x="3264" y="1537"/>
            <a:chExt cx="529" cy="479"/>
          </a:xfrm>
        </p:grpSpPr>
        <p:sp>
          <p:nvSpPr>
            <p:cNvPr id="75824" name="Arc 7"/>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25" name="Line 8"/>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26" name="Line 9"/>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27" name="Line 10"/>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5783" name="Line 11"/>
          <p:cNvSpPr>
            <a:spLocks noChangeShapeType="1"/>
          </p:cNvSpPr>
          <p:nvPr/>
        </p:nvSpPr>
        <p:spPr bwMode="auto">
          <a:xfrm>
            <a:off x="7061200" y="2520950"/>
            <a:ext cx="0" cy="685800"/>
          </a:xfrm>
          <a:prstGeom prst="line">
            <a:avLst/>
          </a:prstGeom>
          <a:noFill/>
          <a:ln w="762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wrap="none" anchor="ctr"/>
          <a:lstStyle/>
          <a:p>
            <a:endParaRPr lang="en-US"/>
          </a:p>
        </p:txBody>
      </p:sp>
      <p:sp>
        <p:nvSpPr>
          <p:cNvPr id="75784" name="Arc 12"/>
          <p:cNvSpPr>
            <a:spLocks/>
          </p:cNvSpPr>
          <p:nvPr/>
        </p:nvSpPr>
        <p:spPr bwMode="auto">
          <a:xfrm>
            <a:off x="7083425" y="3208338"/>
            <a:ext cx="436563" cy="304800"/>
          </a:xfrm>
          <a:custGeom>
            <a:avLst/>
            <a:gdLst>
              <a:gd name="T0" fmla="*/ 0 w 21664"/>
              <a:gd name="T1" fmla="*/ 0 h 21600"/>
              <a:gd name="T2" fmla="*/ 436563 w 21664"/>
              <a:gd name="T3" fmla="*/ 304800 h 21600"/>
              <a:gd name="T4" fmla="*/ 1290 w 21664"/>
              <a:gd name="T5" fmla="*/ 304800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5785" name="Group 13"/>
          <p:cNvGrpSpPr>
            <a:grpSpLocks/>
          </p:cNvGrpSpPr>
          <p:nvPr/>
        </p:nvGrpSpPr>
        <p:grpSpPr bwMode="auto">
          <a:xfrm>
            <a:off x="7518400" y="3513138"/>
            <a:ext cx="838200" cy="760412"/>
            <a:chOff x="4512" y="1729"/>
            <a:chExt cx="528" cy="479"/>
          </a:xfrm>
        </p:grpSpPr>
        <p:sp>
          <p:nvSpPr>
            <p:cNvPr id="75820" name="Arc 14"/>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21" name="Line 15"/>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22" name="Line 16"/>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23" name="Line 17"/>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5786" name="Line 18"/>
          <p:cNvSpPr>
            <a:spLocks noChangeShapeType="1"/>
          </p:cNvSpPr>
          <p:nvPr/>
        </p:nvSpPr>
        <p:spPr bwMode="auto">
          <a:xfrm flipH="1" flipV="1">
            <a:off x="2133600" y="4375150"/>
            <a:ext cx="5334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75787" name="Line 19"/>
          <p:cNvSpPr>
            <a:spLocks noChangeShapeType="1"/>
          </p:cNvSpPr>
          <p:nvPr/>
        </p:nvSpPr>
        <p:spPr bwMode="auto">
          <a:xfrm flipH="1" flipV="1">
            <a:off x="5133975" y="3414713"/>
            <a:ext cx="1335088" cy="18716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75788" name="Line 20"/>
          <p:cNvSpPr>
            <a:spLocks noChangeShapeType="1"/>
          </p:cNvSpPr>
          <p:nvPr/>
        </p:nvSpPr>
        <p:spPr bwMode="auto">
          <a:xfrm flipV="1">
            <a:off x="7348538" y="3825875"/>
            <a:ext cx="517525" cy="1501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75789" name="Text Box 21"/>
          <p:cNvSpPr txBox="1">
            <a:spLocks noChangeArrowheads="1"/>
          </p:cNvSpPr>
          <p:nvPr/>
        </p:nvSpPr>
        <p:spPr bwMode="auto">
          <a:xfrm>
            <a:off x="2590800" y="4832350"/>
            <a:ext cx="9683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a:solidFill>
                  <a:schemeClr val="accent2"/>
                </a:solidFill>
                <a:latin typeface="Arial" pitchFamily="34" charset="0"/>
              </a:rPr>
              <a:t>Flow</a:t>
            </a:r>
          </a:p>
        </p:txBody>
      </p:sp>
      <p:sp>
        <p:nvSpPr>
          <p:cNvPr id="75790" name="Text Box 22"/>
          <p:cNvSpPr txBox="1">
            <a:spLocks noChangeArrowheads="1"/>
          </p:cNvSpPr>
          <p:nvPr/>
        </p:nvSpPr>
        <p:spPr bwMode="auto">
          <a:xfrm>
            <a:off x="6272213" y="5256213"/>
            <a:ext cx="16224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a:solidFill>
                  <a:schemeClr val="accent2"/>
                </a:solidFill>
                <a:latin typeface="Arial" pitchFamily="34" charset="0"/>
              </a:rPr>
              <a:t>Scenario</a:t>
            </a:r>
          </a:p>
        </p:txBody>
      </p:sp>
      <p:sp>
        <p:nvSpPr>
          <p:cNvPr id="75791" name="Line 23"/>
          <p:cNvSpPr>
            <a:spLocks noChangeShapeType="1"/>
          </p:cNvSpPr>
          <p:nvPr/>
        </p:nvSpPr>
        <p:spPr bwMode="auto">
          <a:xfrm flipH="1" flipV="1">
            <a:off x="2438400" y="3841750"/>
            <a:ext cx="533400" cy="990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75792" name="Line 24"/>
          <p:cNvSpPr>
            <a:spLocks noChangeShapeType="1"/>
          </p:cNvSpPr>
          <p:nvPr/>
        </p:nvSpPr>
        <p:spPr bwMode="auto">
          <a:xfrm>
            <a:off x="6556375" y="2514600"/>
            <a:ext cx="0" cy="2590800"/>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75793" name="Line 25"/>
          <p:cNvSpPr>
            <a:spLocks noChangeShapeType="1"/>
          </p:cNvSpPr>
          <p:nvPr/>
        </p:nvSpPr>
        <p:spPr bwMode="auto">
          <a:xfrm flipH="1" flipV="1">
            <a:off x="6665913" y="4329113"/>
            <a:ext cx="384175" cy="1028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75794" name="Text Box 26"/>
          <p:cNvSpPr txBox="1">
            <a:spLocks noChangeArrowheads="1"/>
          </p:cNvSpPr>
          <p:nvPr/>
        </p:nvSpPr>
        <p:spPr bwMode="auto">
          <a:xfrm>
            <a:off x="609600" y="1326788"/>
            <a:ext cx="8001000" cy="10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marL="347663" indent="-347663"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lnSpc>
                <a:spcPct val="87000"/>
              </a:lnSpc>
              <a:spcBef>
                <a:spcPct val="40000"/>
              </a:spcBef>
              <a:buFont typeface="Wingdings" pitchFamily="2" charset="2"/>
              <a:buChar char="§"/>
            </a:pPr>
            <a:r>
              <a:rPr lang="en-US" sz="2000" dirty="0">
                <a:solidFill>
                  <a:srgbClr val="000000"/>
                </a:solidFill>
                <a:latin typeface="Arial" pitchFamily="34" charset="0"/>
              </a:rPr>
              <a:t>An instance of a use case</a:t>
            </a:r>
          </a:p>
          <a:p>
            <a:pPr eaLnBrk="1" hangingPunct="1">
              <a:lnSpc>
                <a:spcPct val="87000"/>
              </a:lnSpc>
              <a:spcBef>
                <a:spcPct val="40000"/>
              </a:spcBef>
              <a:buFont typeface="Wingdings" pitchFamily="2" charset="2"/>
              <a:buChar char="§"/>
            </a:pPr>
            <a:r>
              <a:rPr lang="en-US" sz="2000" dirty="0">
                <a:solidFill>
                  <a:srgbClr val="000000"/>
                </a:solidFill>
                <a:latin typeface="Arial" pitchFamily="34" charset="0"/>
              </a:rPr>
              <a:t>An ordered set of flows from the start of a use case to one of its end points</a:t>
            </a:r>
          </a:p>
        </p:txBody>
      </p:sp>
      <p:grpSp>
        <p:nvGrpSpPr>
          <p:cNvPr id="75795" name="Group 27"/>
          <p:cNvGrpSpPr>
            <a:grpSpLocks/>
          </p:cNvGrpSpPr>
          <p:nvPr/>
        </p:nvGrpSpPr>
        <p:grpSpPr bwMode="auto">
          <a:xfrm>
            <a:off x="609600" y="2698750"/>
            <a:ext cx="2819400" cy="2590800"/>
            <a:chOff x="3792" y="2112"/>
            <a:chExt cx="1776" cy="1632"/>
          </a:xfrm>
        </p:grpSpPr>
        <p:sp>
          <p:nvSpPr>
            <p:cNvPr id="75798" name="Line 28"/>
            <p:cNvSpPr>
              <a:spLocks noChangeShapeType="1"/>
            </p:cNvSpPr>
            <p:nvPr/>
          </p:nvSpPr>
          <p:spPr bwMode="auto">
            <a:xfrm>
              <a:off x="4704" y="2112"/>
              <a:ext cx="0" cy="1632"/>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75799" name="Group 29"/>
            <p:cNvGrpSpPr>
              <a:grpSpLocks/>
            </p:cNvGrpSpPr>
            <p:nvPr/>
          </p:nvGrpSpPr>
          <p:grpSpPr bwMode="auto">
            <a:xfrm>
              <a:off x="4704" y="2449"/>
              <a:ext cx="337" cy="336"/>
              <a:chOff x="4176" y="1537"/>
              <a:chExt cx="337" cy="336"/>
            </a:xfrm>
          </p:grpSpPr>
          <p:sp>
            <p:nvSpPr>
              <p:cNvPr id="75818" name="Arc 30"/>
              <p:cNvSpPr>
                <a:spLocks/>
              </p:cNvSpPr>
              <p:nvPr/>
            </p:nvSpPr>
            <p:spPr bwMode="auto">
              <a:xfrm>
                <a:off x="4176" y="1537"/>
                <a:ext cx="337" cy="192"/>
              </a:xfrm>
              <a:custGeom>
                <a:avLst/>
                <a:gdLst>
                  <a:gd name="T0" fmla="*/ 0 w 21664"/>
                  <a:gd name="T1" fmla="*/ 0 h 21600"/>
                  <a:gd name="T2" fmla="*/ 337 w 21664"/>
                  <a:gd name="T3" fmla="*/ 192 h 21600"/>
                  <a:gd name="T4" fmla="*/ 1 w 21664"/>
                  <a:gd name="T5" fmla="*/ 192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19" name="Arc 31"/>
              <p:cNvSpPr>
                <a:spLocks/>
              </p:cNvSpPr>
              <p:nvPr/>
            </p:nvSpPr>
            <p:spPr bwMode="auto">
              <a:xfrm rot="10800000">
                <a:off x="4177" y="1682"/>
                <a:ext cx="336" cy="191"/>
              </a:xfrm>
              <a:custGeom>
                <a:avLst/>
                <a:gdLst>
                  <a:gd name="T0" fmla="*/ 0 w 21600"/>
                  <a:gd name="T1" fmla="*/ 191 h 21497"/>
                  <a:gd name="T2" fmla="*/ 303 w 21600"/>
                  <a:gd name="T3" fmla="*/ 0 h 21497"/>
                  <a:gd name="T4" fmla="*/ 336 w 21600"/>
                  <a:gd name="T5" fmla="*/ 191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508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5800" name="Group 32"/>
            <p:cNvGrpSpPr>
              <a:grpSpLocks/>
            </p:cNvGrpSpPr>
            <p:nvPr/>
          </p:nvGrpSpPr>
          <p:grpSpPr bwMode="auto">
            <a:xfrm>
              <a:off x="4320" y="2256"/>
              <a:ext cx="337" cy="430"/>
              <a:chOff x="3792" y="1345"/>
              <a:chExt cx="337" cy="430"/>
            </a:xfrm>
          </p:grpSpPr>
          <p:sp>
            <p:nvSpPr>
              <p:cNvPr id="75816" name="Arc 33"/>
              <p:cNvSpPr>
                <a:spLocks/>
              </p:cNvSpPr>
              <p:nvPr/>
            </p:nvSpPr>
            <p:spPr bwMode="auto">
              <a:xfrm rot="10800000">
                <a:off x="3792" y="1556"/>
                <a:ext cx="336" cy="219"/>
              </a:xfrm>
              <a:custGeom>
                <a:avLst/>
                <a:gdLst>
                  <a:gd name="T0" fmla="*/ 0 w 21600"/>
                  <a:gd name="T1" fmla="*/ 0 h 21600"/>
                  <a:gd name="T2" fmla="*/ 336 w 21600"/>
                  <a:gd name="T3" fmla="*/ 219 h 21600"/>
                  <a:gd name="T4" fmla="*/ 0 w 21600"/>
                  <a:gd name="T5" fmla="*/ 21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rgbClr val="0066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17" name="Arc 34"/>
              <p:cNvSpPr>
                <a:spLocks/>
              </p:cNvSpPr>
              <p:nvPr/>
            </p:nvSpPr>
            <p:spPr bwMode="auto">
              <a:xfrm>
                <a:off x="3793" y="1345"/>
                <a:ext cx="336" cy="218"/>
              </a:xfrm>
              <a:custGeom>
                <a:avLst/>
                <a:gdLst>
                  <a:gd name="T0" fmla="*/ 0 w 21600"/>
                  <a:gd name="T1" fmla="*/ 218 h 21496"/>
                  <a:gd name="T2" fmla="*/ 303 w 21600"/>
                  <a:gd name="T3" fmla="*/ 0 h 21496"/>
                  <a:gd name="T4" fmla="*/ 336 w 21600"/>
                  <a:gd name="T5" fmla="*/ 218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50800" cap="rnd">
                <a:solidFill>
                  <a:srgbClr val="006699"/>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5801" name="Group 35"/>
            <p:cNvGrpSpPr>
              <a:grpSpLocks/>
            </p:cNvGrpSpPr>
            <p:nvPr/>
          </p:nvGrpSpPr>
          <p:grpSpPr bwMode="auto">
            <a:xfrm>
              <a:off x="5040" y="2641"/>
              <a:ext cx="528" cy="479"/>
              <a:chOff x="4512" y="1729"/>
              <a:chExt cx="528" cy="479"/>
            </a:xfrm>
          </p:grpSpPr>
          <p:sp>
            <p:nvSpPr>
              <p:cNvPr id="75812" name="Arc 36"/>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13" name="Line 37"/>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14" name="Line 38"/>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15" name="Line 39"/>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02" name="Group 40"/>
            <p:cNvGrpSpPr>
              <a:grpSpLocks/>
            </p:cNvGrpSpPr>
            <p:nvPr/>
          </p:nvGrpSpPr>
          <p:grpSpPr bwMode="auto">
            <a:xfrm>
              <a:off x="4128" y="2881"/>
              <a:ext cx="529" cy="479"/>
              <a:chOff x="3600" y="1969"/>
              <a:chExt cx="529" cy="479"/>
            </a:xfrm>
          </p:grpSpPr>
          <p:sp>
            <p:nvSpPr>
              <p:cNvPr id="75808" name="Arc 41"/>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09" name="Line 42"/>
              <p:cNvSpPr>
                <a:spLocks noChangeShapeType="1"/>
              </p:cNvSpPr>
              <p:nvPr/>
            </p:nvSpPr>
            <p:spPr bwMode="auto">
              <a:xfrm flipH="1">
                <a:off x="3600" y="2352"/>
                <a:ext cx="240"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10" name="Line 43"/>
              <p:cNvSpPr>
                <a:spLocks noChangeShapeType="1"/>
              </p:cNvSpPr>
              <p:nvPr/>
            </p:nvSpPr>
            <p:spPr bwMode="auto">
              <a:xfrm flipH="1">
                <a:off x="3648" y="2400"/>
                <a:ext cx="144"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11" name="Line 44"/>
              <p:cNvSpPr>
                <a:spLocks noChangeShapeType="1"/>
              </p:cNvSpPr>
              <p:nvPr/>
            </p:nvSpPr>
            <p:spPr bwMode="auto">
              <a:xfrm flipH="1">
                <a:off x="3696" y="2448"/>
                <a:ext cx="48"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03" name="Group 45"/>
            <p:cNvGrpSpPr>
              <a:grpSpLocks/>
            </p:cNvGrpSpPr>
            <p:nvPr/>
          </p:nvGrpSpPr>
          <p:grpSpPr bwMode="auto">
            <a:xfrm>
              <a:off x="3792" y="2449"/>
              <a:ext cx="529" cy="479"/>
              <a:chOff x="3264" y="1537"/>
              <a:chExt cx="529" cy="479"/>
            </a:xfrm>
          </p:grpSpPr>
          <p:sp>
            <p:nvSpPr>
              <p:cNvPr id="75804" name="Arc 46"/>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805" name="Line 47"/>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06" name="Line 48"/>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807" name="Line 49"/>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5796" name="Line 50"/>
          <p:cNvSpPr>
            <a:spLocks noChangeShapeType="1"/>
          </p:cNvSpPr>
          <p:nvPr/>
        </p:nvSpPr>
        <p:spPr bwMode="auto">
          <a:xfrm flipH="1" flipV="1">
            <a:off x="1600200" y="4527550"/>
            <a:ext cx="9906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75797" name="Text Box 51"/>
          <p:cNvSpPr txBox="1">
            <a:spLocks noChangeArrowheads="1"/>
          </p:cNvSpPr>
          <p:nvPr/>
        </p:nvSpPr>
        <p:spPr bwMode="auto">
          <a:xfrm>
            <a:off x="4114800" y="5749925"/>
            <a:ext cx="4953000" cy="650875"/>
          </a:xfrm>
          <a:prstGeom prst="rect">
            <a:avLst/>
          </a:prstGeom>
          <a:solidFill>
            <a:srgbClr val="FFFF99"/>
          </a:solidFill>
          <a:ln w="9525">
            <a:solidFill>
              <a:schemeClr val="tx1"/>
            </a:solidFill>
            <a:miter lim="800000"/>
            <a:headEnd/>
            <a:tailEnd/>
          </a:ln>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1800" b="1">
                <a:solidFill>
                  <a:schemeClr val="tx1"/>
                </a:solidFill>
                <a:latin typeface="Arial" pitchFamily="34" charset="0"/>
              </a:rPr>
              <a:t>Note:</a:t>
            </a:r>
            <a:r>
              <a:rPr lang="en-US" sz="1800">
                <a:solidFill>
                  <a:schemeClr val="tx1"/>
                </a:solidFill>
                <a:latin typeface="Arial" pitchFamily="34" charset="0"/>
              </a:rPr>
              <a:t> This diagram illustrates </a:t>
            </a:r>
            <a:r>
              <a:rPr lang="en-US" sz="1800">
                <a:solidFill>
                  <a:schemeClr val="tx1"/>
                </a:solidFill>
                <a:latin typeface="Arial" pitchFamily="34" charset="0"/>
                <a:cs typeface="Arial" pitchFamily="34" charset="0"/>
              </a:rPr>
              <a:t>only</a:t>
            </a:r>
            <a:r>
              <a:rPr lang="en-US" sz="1800">
                <a:solidFill>
                  <a:schemeClr val="tx1"/>
                </a:solidFill>
                <a:latin typeface="Arial" pitchFamily="34" charset="0"/>
              </a:rPr>
              <a:t> some of the possible scenarios based on the flows.</a:t>
            </a:r>
          </a:p>
        </p:txBody>
      </p:sp>
      <p:sp>
        <p:nvSpPr>
          <p:cNvPr id="3" name="Slide Number Placeholder 2"/>
          <p:cNvSpPr>
            <a:spLocks noGrp="1"/>
          </p:cNvSpPr>
          <p:nvPr>
            <p:ph type="sldNum" sz="quarter" idx="12"/>
          </p:nvPr>
        </p:nvSpPr>
        <p:spPr/>
        <p:txBody>
          <a:bodyPr/>
          <a:lstStyle/>
          <a:p>
            <a:fld id="{DED05017-923D-480E-B02E-B52739184DCA}" type="slidenum">
              <a:rPr lang="en-US" smtClean="0"/>
              <a:pPr/>
              <a:t>67</a:t>
            </a:fld>
            <a:endParaRPr lang="en-US"/>
          </a:p>
        </p:txBody>
      </p:sp>
    </p:spTree>
    <p:custDataLst>
      <p:tags r:id="rId1"/>
    </p:custDataLst>
    <p:extLst>
      <p:ext uri="{BB962C8B-B14F-4D97-AF65-F5344CB8AC3E}">
        <p14:creationId xmlns:p14="http://schemas.microsoft.com/office/powerpoint/2010/main" val="1663266180"/>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pPr eaLnBrk="1" hangingPunct="1">
              <a:defRPr/>
            </a:pPr>
            <a:r>
              <a:rPr lang="en-US" sz="2800" dirty="0"/>
              <a:t>Why capture use-case scenarios?</a:t>
            </a:r>
          </a:p>
        </p:txBody>
      </p:sp>
      <p:sp>
        <p:nvSpPr>
          <p:cNvPr id="76806" name="Rectangle 3"/>
          <p:cNvSpPr>
            <a:spLocks noGrp="1" noChangeArrowheads="1"/>
          </p:cNvSpPr>
          <p:nvPr>
            <p:ph type="body" idx="1"/>
          </p:nvPr>
        </p:nvSpPr>
        <p:spPr/>
        <p:txBody>
          <a:bodyPr/>
          <a:lstStyle/>
          <a:p>
            <a:pPr marL="230188" indent="-230188" eaLnBrk="1" hangingPunct="1"/>
            <a:r>
              <a:rPr lang="en-US" sz="2000" dirty="0"/>
              <a:t>Help you identify, in concrete terms, what a system will do when a use case is performed</a:t>
            </a:r>
          </a:p>
          <a:p>
            <a:pPr marL="230188" indent="-230188" eaLnBrk="1" hangingPunct="1"/>
            <a:r>
              <a:rPr lang="en-US" sz="2000" dirty="0"/>
              <a:t>Make excellent test cases</a:t>
            </a:r>
          </a:p>
          <a:p>
            <a:pPr marL="230188" indent="-230188" eaLnBrk="1" hangingPunct="1"/>
            <a:r>
              <a:rPr lang="en-US" sz="2000" dirty="0"/>
              <a:t>Help with project planning</a:t>
            </a:r>
          </a:p>
          <a:p>
            <a:pPr marL="230188" indent="-230188" eaLnBrk="1" hangingPunct="1"/>
            <a:r>
              <a:rPr lang="en-US" sz="2000" dirty="0"/>
              <a:t>Useful for analysis and design</a:t>
            </a:r>
          </a:p>
        </p:txBody>
      </p:sp>
      <p:sp>
        <p:nvSpPr>
          <p:cNvPr id="2" name="Slide Number Placeholder 1"/>
          <p:cNvSpPr>
            <a:spLocks noGrp="1"/>
          </p:cNvSpPr>
          <p:nvPr>
            <p:ph type="sldNum" sz="quarter" idx="12"/>
          </p:nvPr>
        </p:nvSpPr>
        <p:spPr/>
        <p:txBody>
          <a:bodyPr/>
          <a:lstStyle/>
          <a:p>
            <a:fld id="{DED05017-923D-480E-B02E-B52739184DCA}" type="slidenum">
              <a:rPr lang="en-US" smtClean="0"/>
              <a:pPr/>
              <a:t>68</a:t>
            </a:fld>
            <a:endParaRPr lang="en-US"/>
          </a:p>
        </p:txBody>
      </p:sp>
    </p:spTree>
    <p:extLst>
      <p:ext uri="{BB962C8B-B14F-4D97-AF65-F5344CB8AC3E}">
        <p14:creationId xmlns:p14="http://schemas.microsoft.com/office/powerpoint/2010/main" val="12782023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pPr eaLnBrk="1" hangingPunct="1">
              <a:defRPr/>
            </a:pPr>
            <a:r>
              <a:rPr lang="en-US" sz="2800" dirty="0"/>
              <a:t>How to capture use-case scenarios</a:t>
            </a:r>
          </a:p>
        </p:txBody>
      </p:sp>
      <p:sp>
        <p:nvSpPr>
          <p:cNvPr id="77830" name="Rectangle 3"/>
          <p:cNvSpPr>
            <a:spLocks noGrp="1" noChangeArrowheads="1"/>
          </p:cNvSpPr>
          <p:nvPr>
            <p:ph type="body" idx="1"/>
          </p:nvPr>
        </p:nvSpPr>
        <p:spPr>
          <a:xfrm>
            <a:off x="261937" y="1312862"/>
            <a:ext cx="8958263" cy="5621338"/>
          </a:xfrm>
        </p:spPr>
        <p:txBody>
          <a:bodyPr/>
          <a:lstStyle/>
          <a:p>
            <a:pPr marL="339725" indent="-339725" eaLnBrk="1" hangingPunct="1">
              <a:lnSpc>
                <a:spcPct val="100000"/>
              </a:lnSpc>
            </a:pPr>
            <a:r>
              <a:rPr lang="en-US" sz="2000" dirty="0"/>
              <a:t>Capture scenarios in the Use-Case Specification in their own section</a:t>
            </a:r>
          </a:p>
          <a:p>
            <a:pPr marL="339725" indent="-339725" eaLnBrk="1" hangingPunct="1">
              <a:lnSpc>
                <a:spcPct val="100000"/>
              </a:lnSpc>
            </a:pPr>
            <a:r>
              <a:rPr lang="en-US" sz="2000" dirty="0"/>
              <a:t>Give each scenario a name</a:t>
            </a:r>
          </a:p>
          <a:p>
            <a:pPr marL="339725" indent="-339725" eaLnBrk="1" hangingPunct="1">
              <a:lnSpc>
                <a:spcPct val="100000"/>
              </a:lnSpc>
            </a:pPr>
            <a:r>
              <a:rPr lang="en-US" sz="2000" dirty="0"/>
              <a:t>List the name of each flow in the scenario</a:t>
            </a:r>
          </a:p>
          <a:p>
            <a:pPr marL="454025" lvl="1" indent="3175" eaLnBrk="1" hangingPunct="1">
              <a:lnSpc>
                <a:spcPct val="100000"/>
              </a:lnSpc>
            </a:pPr>
            <a:r>
              <a:rPr lang="en-US" sz="2000" dirty="0"/>
              <a:t>Place the flows in sequence</a:t>
            </a:r>
          </a:p>
          <a:p>
            <a:pPr marL="339725" indent="-339725" eaLnBrk="1" hangingPunct="1">
              <a:lnSpc>
                <a:spcPct val="100000"/>
              </a:lnSpc>
            </a:pPr>
            <a:r>
              <a:rPr lang="en-US" sz="2000" b="1" dirty="0"/>
              <a:t>Example: </a:t>
            </a:r>
          </a:p>
          <a:p>
            <a:pPr marL="339725" indent="-339725" eaLnBrk="1" hangingPunct="1">
              <a:lnSpc>
                <a:spcPct val="100000"/>
              </a:lnSpc>
              <a:buFont typeface="Wingdings" pitchFamily="2" charset="2"/>
              <a:buNone/>
            </a:pPr>
            <a:r>
              <a:rPr lang="en-US" sz="2000" b="1" dirty="0">
                <a:solidFill>
                  <a:srgbClr val="006699"/>
                </a:solidFill>
              </a:rPr>
              <a:t>    Use Case: Register for Courses </a:t>
            </a:r>
          </a:p>
          <a:p>
            <a:pPr marL="339725" indent="-339725" eaLnBrk="1" hangingPunct="1">
              <a:lnSpc>
                <a:spcPct val="100000"/>
              </a:lnSpc>
              <a:buFont typeface="Wingdings" pitchFamily="2" charset="2"/>
              <a:buNone/>
            </a:pPr>
            <a:r>
              <a:rPr lang="en-US" sz="2000" b="1" dirty="0">
                <a:solidFill>
                  <a:srgbClr val="006699"/>
                </a:solidFill>
              </a:rPr>
              <a:t>		</a:t>
            </a:r>
            <a:r>
              <a:rPr lang="en-US" sz="2000" dirty="0">
                <a:solidFill>
                  <a:schemeClr val="bg2"/>
                </a:solidFill>
              </a:rPr>
              <a:t>Scenario: Quit before registering</a:t>
            </a:r>
          </a:p>
          <a:p>
            <a:pPr marL="793750" lvl="2" indent="0" eaLnBrk="1" hangingPunct="1">
              <a:buFontTx/>
              <a:buNone/>
            </a:pPr>
            <a:r>
              <a:rPr lang="en-US" dirty="0">
                <a:solidFill>
                  <a:schemeClr val="bg2"/>
                </a:solidFill>
              </a:rPr>
              <a:t>		Flows: Basic Flow, Quit</a:t>
            </a:r>
          </a:p>
        </p:txBody>
      </p:sp>
      <p:sp>
        <p:nvSpPr>
          <p:cNvPr id="77831" name="Line 4"/>
          <p:cNvSpPr>
            <a:spLocks noChangeShapeType="1"/>
          </p:cNvSpPr>
          <p:nvPr/>
        </p:nvSpPr>
        <p:spPr bwMode="auto">
          <a:xfrm>
            <a:off x="7737475" y="1987550"/>
            <a:ext cx="0" cy="458788"/>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wrap="none" anchor="ctr"/>
          <a:lstStyle/>
          <a:p>
            <a:endParaRPr lang="en-US"/>
          </a:p>
        </p:txBody>
      </p:sp>
      <p:sp>
        <p:nvSpPr>
          <p:cNvPr id="77832" name="Arc 5"/>
          <p:cNvSpPr>
            <a:spLocks/>
          </p:cNvSpPr>
          <p:nvPr/>
        </p:nvSpPr>
        <p:spPr bwMode="auto">
          <a:xfrm rot="10800000">
            <a:off x="7431088" y="2255838"/>
            <a:ext cx="301625" cy="193675"/>
          </a:xfrm>
          <a:custGeom>
            <a:avLst/>
            <a:gdLst>
              <a:gd name="T0" fmla="*/ 0 w 24779"/>
              <a:gd name="T1" fmla="*/ 2107 h 21600"/>
              <a:gd name="T2" fmla="*/ 301625 w 24779"/>
              <a:gd name="T3" fmla="*/ 193675 h 21600"/>
              <a:gd name="T4" fmla="*/ 38697 w 24779"/>
              <a:gd name="T5" fmla="*/ 193675 h 21600"/>
              <a:gd name="T6" fmla="*/ 0 60000 65536"/>
              <a:gd name="T7" fmla="*/ 0 60000 65536"/>
              <a:gd name="T8" fmla="*/ 0 60000 65536"/>
              <a:gd name="T9" fmla="*/ 0 w 24779"/>
              <a:gd name="T10" fmla="*/ 0 h 21600"/>
              <a:gd name="T11" fmla="*/ 24779 w 24779"/>
              <a:gd name="T12" fmla="*/ 21600 h 21600"/>
            </a:gdLst>
            <a:ahLst/>
            <a:cxnLst>
              <a:cxn ang="T6">
                <a:pos x="T0" y="T1"/>
              </a:cxn>
              <a:cxn ang="T7">
                <a:pos x="T2" y="T3"/>
              </a:cxn>
              <a:cxn ang="T8">
                <a:pos x="T4" y="T5"/>
              </a:cxn>
            </a:cxnLst>
            <a:rect l="T9" t="T10" r="T11" b="T12"/>
            <a:pathLst>
              <a:path w="24779" h="21600" fill="none" extrusionOk="0">
                <a:moveTo>
                  <a:pt x="0" y="235"/>
                </a:moveTo>
                <a:cubicBezTo>
                  <a:pt x="1052" y="78"/>
                  <a:pt x="2114" y="-1"/>
                  <a:pt x="3179" y="0"/>
                </a:cubicBezTo>
                <a:cubicBezTo>
                  <a:pt x="15108" y="0"/>
                  <a:pt x="24779" y="9670"/>
                  <a:pt x="24779" y="21600"/>
                </a:cubicBezTo>
              </a:path>
              <a:path w="24779" h="21600" stroke="0" extrusionOk="0">
                <a:moveTo>
                  <a:pt x="0" y="235"/>
                </a:moveTo>
                <a:cubicBezTo>
                  <a:pt x="1052" y="78"/>
                  <a:pt x="2114" y="-1"/>
                  <a:pt x="3179" y="0"/>
                </a:cubicBezTo>
                <a:cubicBezTo>
                  <a:pt x="15108" y="0"/>
                  <a:pt x="24779" y="9670"/>
                  <a:pt x="24779" y="21600"/>
                </a:cubicBezTo>
                <a:lnTo>
                  <a:pt x="3179" y="21600"/>
                </a:lnTo>
                <a:close/>
              </a:path>
            </a:pathLst>
          </a:custGeom>
          <a:noFill/>
          <a:ln w="381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7833" name="Group 6"/>
          <p:cNvGrpSpPr>
            <a:grpSpLocks/>
          </p:cNvGrpSpPr>
          <p:nvPr/>
        </p:nvGrpSpPr>
        <p:grpSpPr bwMode="auto">
          <a:xfrm>
            <a:off x="7010400" y="2255838"/>
            <a:ext cx="422275" cy="381000"/>
            <a:chOff x="3264" y="1537"/>
            <a:chExt cx="529" cy="479"/>
          </a:xfrm>
        </p:grpSpPr>
        <p:sp>
          <p:nvSpPr>
            <p:cNvPr id="77842" name="Arc 7"/>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381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843" name="Line 8"/>
            <p:cNvSpPr>
              <a:spLocks noChangeShapeType="1"/>
            </p:cNvSpPr>
            <p:nvPr/>
          </p:nvSpPr>
          <p:spPr bwMode="auto">
            <a:xfrm flipH="1">
              <a:off x="3264" y="1920"/>
              <a:ext cx="240"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844" name="Line 9"/>
            <p:cNvSpPr>
              <a:spLocks noChangeShapeType="1"/>
            </p:cNvSpPr>
            <p:nvPr/>
          </p:nvSpPr>
          <p:spPr bwMode="auto">
            <a:xfrm flipH="1">
              <a:off x="3312" y="1968"/>
              <a:ext cx="144"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845" name="Line 10"/>
            <p:cNvSpPr>
              <a:spLocks noChangeShapeType="1"/>
            </p:cNvSpPr>
            <p:nvPr/>
          </p:nvSpPr>
          <p:spPr bwMode="auto">
            <a:xfrm flipH="1">
              <a:off x="3360" y="2016"/>
              <a:ext cx="48"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7834" name="Line 11"/>
          <p:cNvSpPr>
            <a:spLocks noChangeShapeType="1"/>
          </p:cNvSpPr>
          <p:nvPr/>
        </p:nvSpPr>
        <p:spPr bwMode="auto">
          <a:xfrm>
            <a:off x="8262938" y="1990725"/>
            <a:ext cx="0" cy="342900"/>
          </a:xfrm>
          <a:prstGeom prst="line">
            <a:avLst/>
          </a:prstGeom>
          <a:noFill/>
          <a:ln w="381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wrap="none" anchor="ctr"/>
          <a:lstStyle/>
          <a:p>
            <a:endParaRPr lang="en-US"/>
          </a:p>
        </p:txBody>
      </p:sp>
      <p:sp>
        <p:nvSpPr>
          <p:cNvPr id="77835" name="Arc 12"/>
          <p:cNvSpPr>
            <a:spLocks/>
          </p:cNvSpPr>
          <p:nvPr/>
        </p:nvSpPr>
        <p:spPr bwMode="auto">
          <a:xfrm>
            <a:off x="8274050" y="2335213"/>
            <a:ext cx="219075" cy="152400"/>
          </a:xfrm>
          <a:custGeom>
            <a:avLst/>
            <a:gdLst>
              <a:gd name="T0" fmla="*/ 0 w 21664"/>
              <a:gd name="T1" fmla="*/ 0 h 21600"/>
              <a:gd name="T2" fmla="*/ 219075 w 21664"/>
              <a:gd name="T3" fmla="*/ 152400 h 21600"/>
              <a:gd name="T4" fmla="*/ 647 w 21664"/>
              <a:gd name="T5" fmla="*/ 152400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7836" name="Group 13"/>
          <p:cNvGrpSpPr>
            <a:grpSpLocks/>
          </p:cNvGrpSpPr>
          <p:nvPr/>
        </p:nvGrpSpPr>
        <p:grpSpPr bwMode="auto">
          <a:xfrm>
            <a:off x="8491538" y="2487613"/>
            <a:ext cx="420687" cy="381000"/>
            <a:chOff x="4512" y="1729"/>
            <a:chExt cx="528" cy="479"/>
          </a:xfrm>
        </p:grpSpPr>
        <p:sp>
          <p:nvSpPr>
            <p:cNvPr id="77838" name="Arc 14"/>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381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839" name="Line 15"/>
            <p:cNvSpPr>
              <a:spLocks noChangeShapeType="1"/>
            </p:cNvSpPr>
            <p:nvPr/>
          </p:nvSpPr>
          <p:spPr bwMode="auto">
            <a:xfrm>
              <a:off x="4800" y="2112"/>
              <a:ext cx="240"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840" name="Line 16"/>
            <p:cNvSpPr>
              <a:spLocks noChangeShapeType="1"/>
            </p:cNvSpPr>
            <p:nvPr/>
          </p:nvSpPr>
          <p:spPr bwMode="auto">
            <a:xfrm>
              <a:off x="4848" y="2160"/>
              <a:ext cx="144"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841" name="Line 17"/>
            <p:cNvSpPr>
              <a:spLocks noChangeShapeType="1"/>
            </p:cNvSpPr>
            <p:nvPr/>
          </p:nvSpPr>
          <p:spPr bwMode="auto">
            <a:xfrm>
              <a:off x="4896" y="2208"/>
              <a:ext cx="48"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7837" name="Line 18"/>
          <p:cNvSpPr>
            <a:spLocks noChangeShapeType="1"/>
          </p:cNvSpPr>
          <p:nvPr/>
        </p:nvSpPr>
        <p:spPr bwMode="auto">
          <a:xfrm>
            <a:off x="8008938" y="1987550"/>
            <a:ext cx="0" cy="908050"/>
          </a:xfrm>
          <a:prstGeom prst="line">
            <a:avLst/>
          </a:prstGeom>
          <a:noFill/>
          <a:ln w="38100">
            <a:solidFill>
              <a:schemeClr val="tx1"/>
            </a:solidFill>
            <a:round/>
            <a:headEnd type="none" w="sm" len="sm"/>
            <a:tailEnd type="stealth" w="sm"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69</a:t>
            </a:fld>
            <a:endParaRPr lang="en-US"/>
          </a:p>
        </p:txBody>
      </p:sp>
    </p:spTree>
    <p:extLst>
      <p:ext uri="{BB962C8B-B14F-4D97-AF65-F5344CB8AC3E}">
        <p14:creationId xmlns:p14="http://schemas.microsoft.com/office/powerpoint/2010/main" val="36096319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pPr eaLnBrk="1" hangingPunct="1">
              <a:defRPr/>
            </a:pPr>
            <a:r>
              <a:rPr lang="en-US" sz="2800" dirty="0"/>
              <a:t>Outline: Register for Courses</a:t>
            </a:r>
          </a:p>
        </p:txBody>
      </p:sp>
      <p:sp>
        <p:nvSpPr>
          <p:cNvPr id="78854" name="Rectangle 3"/>
          <p:cNvSpPr>
            <a:spLocks noChangeArrowheads="1"/>
          </p:cNvSpPr>
          <p:nvPr/>
        </p:nvSpPr>
        <p:spPr bwMode="auto">
          <a:xfrm>
            <a:off x="190500" y="1276350"/>
            <a:ext cx="7200900" cy="5734050"/>
          </a:xfrm>
          <a:prstGeom prst="rect">
            <a:avLst/>
          </a:prstGeom>
          <a:noFill/>
          <a:ln w="9525">
            <a:solidFill>
              <a:schemeClr val="tx1"/>
            </a:solidFill>
            <a:miter lim="800000"/>
            <a:headEnd/>
            <a:tailEnd/>
          </a:ln>
        </p:spPr>
        <p:txBody>
          <a:bodyPr wrap="none" lIns="107950" tIns="53975" rIns="107950" bIns="53975" anchor="ctr"/>
          <a:lstStyle/>
          <a:p>
            <a:pPr marL="457200" indent="-457200"/>
            <a:r>
              <a:rPr lang="en-US" sz="2000" b="1" dirty="0">
                <a:solidFill>
                  <a:schemeClr val="tx1"/>
                </a:solidFill>
                <a:latin typeface="Arial" pitchFamily="34" charset="0"/>
              </a:rPr>
              <a:t>Basic Flow of Events</a:t>
            </a:r>
          </a:p>
          <a:p>
            <a:pPr marL="914400" lvl="1" indent="-457200"/>
            <a:r>
              <a:rPr lang="en-US" sz="2000" dirty="0">
                <a:solidFill>
                  <a:schemeClr val="tx1"/>
                </a:solidFill>
                <a:latin typeface="Arial" pitchFamily="34" charset="0"/>
              </a:rPr>
              <a:t>1.	Student logs on.</a:t>
            </a:r>
          </a:p>
          <a:p>
            <a:pPr marL="914400" lvl="1" indent="-457200"/>
            <a:r>
              <a:rPr lang="en-US" sz="2000" dirty="0">
                <a:solidFill>
                  <a:schemeClr val="tx1"/>
                </a:solidFill>
                <a:latin typeface="Arial" pitchFamily="34" charset="0"/>
              </a:rPr>
              <a:t>2.	Student chooses to create a schedule.</a:t>
            </a:r>
          </a:p>
          <a:p>
            <a:pPr marL="914400" lvl="1" indent="-457200"/>
            <a:r>
              <a:rPr lang="en-US" sz="2000" dirty="0">
                <a:solidFill>
                  <a:schemeClr val="tx1"/>
                </a:solidFill>
                <a:latin typeface="Arial" pitchFamily="34" charset="0"/>
              </a:rPr>
              <a:t>3.	Student obtains course information.</a:t>
            </a:r>
          </a:p>
          <a:p>
            <a:pPr marL="914400" lvl="1" indent="-457200"/>
            <a:r>
              <a:rPr lang="en-US" sz="2000" dirty="0">
                <a:solidFill>
                  <a:schemeClr val="tx1"/>
                </a:solidFill>
                <a:latin typeface="Arial" pitchFamily="34" charset="0"/>
              </a:rPr>
              <a:t>4.	Student selects courses.</a:t>
            </a:r>
          </a:p>
          <a:p>
            <a:pPr marL="914400" lvl="1" indent="-457200"/>
            <a:r>
              <a:rPr lang="en-US" sz="2000" dirty="0">
                <a:solidFill>
                  <a:schemeClr val="tx1"/>
                </a:solidFill>
                <a:latin typeface="Arial" pitchFamily="34" charset="0"/>
              </a:rPr>
              <a:t>5.	Student submits schedule.</a:t>
            </a:r>
          </a:p>
          <a:p>
            <a:pPr marL="914400" lvl="1" indent="-457200"/>
            <a:r>
              <a:rPr lang="en-US" sz="2000" dirty="0">
                <a:solidFill>
                  <a:schemeClr val="tx1"/>
                </a:solidFill>
                <a:latin typeface="Arial" pitchFamily="34" charset="0"/>
              </a:rPr>
              <a:t>6.	System displays completed schedule.</a:t>
            </a:r>
          </a:p>
          <a:p>
            <a:pPr marL="457200" indent="-457200"/>
            <a:r>
              <a:rPr lang="en-US" sz="2000" b="1" dirty="0">
                <a:solidFill>
                  <a:schemeClr val="tx1"/>
                </a:solidFill>
                <a:latin typeface="Arial" pitchFamily="34" charset="0"/>
              </a:rPr>
              <a:t>Alternative Flows</a:t>
            </a:r>
          </a:p>
          <a:p>
            <a:pPr marL="914400" lvl="1" indent="-457200"/>
            <a:r>
              <a:rPr lang="en-US" sz="2000" dirty="0">
                <a:solidFill>
                  <a:schemeClr val="tx1"/>
                </a:solidFill>
                <a:latin typeface="Arial" pitchFamily="34" charset="0"/>
              </a:rPr>
              <a:t>A1. 	Unidentified student.</a:t>
            </a:r>
          </a:p>
          <a:p>
            <a:pPr marL="914400" lvl="1" indent="-457200"/>
            <a:r>
              <a:rPr lang="en-US" sz="2000" dirty="0" err="1">
                <a:solidFill>
                  <a:schemeClr val="tx1"/>
                </a:solidFill>
                <a:latin typeface="Arial" pitchFamily="34" charset="0"/>
              </a:rPr>
              <a:t>A2</a:t>
            </a:r>
            <a:r>
              <a:rPr lang="en-US" sz="2000" dirty="0">
                <a:solidFill>
                  <a:schemeClr val="tx1"/>
                </a:solidFill>
                <a:latin typeface="Arial" pitchFamily="34" charset="0"/>
              </a:rPr>
              <a:t>. 	Quit. </a:t>
            </a:r>
          </a:p>
          <a:p>
            <a:pPr marL="914400" lvl="1" indent="-457200"/>
            <a:r>
              <a:rPr lang="en-US" sz="2000" dirty="0" err="1">
                <a:solidFill>
                  <a:schemeClr val="tx1"/>
                </a:solidFill>
                <a:latin typeface="Arial" pitchFamily="34" charset="0"/>
              </a:rPr>
              <a:t>A3</a:t>
            </a:r>
            <a:r>
              <a:rPr lang="en-US" sz="2000" dirty="0">
                <a:solidFill>
                  <a:schemeClr val="tx1"/>
                </a:solidFill>
                <a:latin typeface="Arial" pitchFamily="34" charset="0"/>
              </a:rPr>
              <a:t>. 	Cannot enroll.</a:t>
            </a:r>
          </a:p>
          <a:p>
            <a:pPr marL="914400" lvl="1" indent="-457200"/>
            <a:r>
              <a:rPr lang="en-US" sz="2000" dirty="0" err="1">
                <a:solidFill>
                  <a:schemeClr val="tx1"/>
                </a:solidFill>
                <a:latin typeface="Arial" pitchFamily="34" charset="0"/>
              </a:rPr>
              <a:t>A4</a:t>
            </a:r>
            <a:r>
              <a:rPr lang="en-US" sz="2000" dirty="0">
                <a:solidFill>
                  <a:schemeClr val="tx1"/>
                </a:solidFill>
                <a:latin typeface="Arial" pitchFamily="34" charset="0"/>
              </a:rPr>
              <a:t>. 	Course Catalog System unavailable.</a:t>
            </a:r>
          </a:p>
          <a:p>
            <a:pPr marL="914400" lvl="1" indent="-457200"/>
            <a:r>
              <a:rPr lang="en-US" sz="2000" dirty="0" err="1">
                <a:solidFill>
                  <a:schemeClr val="tx1"/>
                </a:solidFill>
                <a:latin typeface="Arial" pitchFamily="34" charset="0"/>
              </a:rPr>
              <a:t>A5</a:t>
            </a:r>
            <a:r>
              <a:rPr lang="en-US" sz="2000" dirty="0">
                <a:solidFill>
                  <a:schemeClr val="tx1"/>
                </a:solidFill>
                <a:latin typeface="Arial" pitchFamily="34" charset="0"/>
              </a:rPr>
              <a:t>. 	Course registration closed.</a:t>
            </a:r>
          </a:p>
          <a:p>
            <a:pPr marL="914400" lvl="1" indent="-457200"/>
            <a:r>
              <a:rPr lang="en-US" sz="2000" dirty="0">
                <a:solidFill>
                  <a:schemeClr val="tx1"/>
                </a:solidFill>
                <a:latin typeface="Arial" pitchFamily="34" charset="0"/>
              </a:rPr>
              <a:t>…</a:t>
            </a:r>
          </a:p>
          <a:p>
            <a:pPr marL="457200" indent="-457200"/>
            <a:r>
              <a:rPr lang="en-US" sz="2000" b="1" dirty="0">
                <a:solidFill>
                  <a:schemeClr val="tx1"/>
                </a:solidFill>
                <a:latin typeface="Arial" pitchFamily="34" charset="0"/>
              </a:rPr>
              <a:t>Scenarios</a:t>
            </a:r>
          </a:p>
          <a:p>
            <a:pPr marL="914400" lvl="1" indent="-457200">
              <a:buFontTx/>
              <a:buAutoNum type="arabicPeriod"/>
            </a:pPr>
            <a:r>
              <a:rPr lang="en-US" sz="2000" dirty="0">
                <a:solidFill>
                  <a:schemeClr val="tx1"/>
                </a:solidFill>
                <a:latin typeface="Arial" pitchFamily="34" charset="0"/>
              </a:rPr>
              <a:t>Register for courses: Basic Flow</a:t>
            </a:r>
          </a:p>
          <a:p>
            <a:pPr marL="914400" lvl="1" indent="-457200">
              <a:buFontTx/>
              <a:buAutoNum type="arabicPeriod"/>
            </a:pPr>
            <a:r>
              <a:rPr lang="en-US" sz="2000" dirty="0">
                <a:solidFill>
                  <a:schemeClr val="tx1"/>
                </a:solidFill>
                <a:latin typeface="Arial" pitchFamily="34" charset="0"/>
              </a:rPr>
              <a:t>Unidentified Student: Basic Flow, Unidentified Student</a:t>
            </a:r>
          </a:p>
          <a:p>
            <a:pPr marL="914400" lvl="1" indent="-457200">
              <a:buFontTx/>
              <a:buAutoNum type="arabicPeriod"/>
            </a:pPr>
            <a:r>
              <a:rPr lang="en-US" sz="2000" dirty="0">
                <a:solidFill>
                  <a:schemeClr val="tx1"/>
                </a:solidFill>
                <a:latin typeface="Arial" pitchFamily="34" charset="0"/>
              </a:rPr>
              <a:t>Quit before registering: Basic Flow, Quit</a:t>
            </a:r>
          </a:p>
          <a:p>
            <a:pPr marL="457200" indent="-457200"/>
            <a:r>
              <a:rPr lang="en-US" sz="2000" dirty="0">
                <a:solidFill>
                  <a:schemeClr val="tx1"/>
                </a:solidFill>
                <a:latin typeface="Arial" pitchFamily="34" charset="0"/>
              </a:rPr>
              <a:t>        …</a:t>
            </a:r>
          </a:p>
        </p:txBody>
      </p:sp>
      <p:sp>
        <p:nvSpPr>
          <p:cNvPr id="78855" name="AutoShape 4"/>
          <p:cNvSpPr>
            <a:spLocks noChangeArrowheads="1"/>
          </p:cNvSpPr>
          <p:nvPr/>
        </p:nvSpPr>
        <p:spPr bwMode="auto">
          <a:xfrm>
            <a:off x="6691313" y="4343400"/>
            <a:ext cx="2452687" cy="976313"/>
          </a:xfrm>
          <a:prstGeom prst="wedgeEllipseCallout">
            <a:avLst>
              <a:gd name="adj1" fmla="val -78477"/>
              <a:gd name="adj2" fmla="val 90648"/>
            </a:avLst>
          </a:prstGeom>
          <a:solidFill>
            <a:srgbClr val="FFFF99"/>
          </a:solidFill>
          <a:ln w="9525">
            <a:solidFill>
              <a:schemeClr val="tx1"/>
            </a:solidFill>
            <a:miter lim="800000"/>
            <a:headEnd/>
            <a:tailEnd/>
          </a:ln>
        </p:spPr>
        <p:txBody>
          <a:bodyPr lIns="107950" tIns="53975" rIns="107950" bIns="53975"/>
          <a:lstStyle/>
          <a:p>
            <a:pPr algn="ctr" eaLnBrk="0" hangingPunct="0"/>
            <a:endParaRPr lang="en-US" sz="2000">
              <a:solidFill>
                <a:srgbClr val="FFFF99"/>
              </a:solidFill>
              <a:latin typeface="Arial" pitchFamily="34" charset="0"/>
            </a:endParaRPr>
          </a:p>
        </p:txBody>
      </p:sp>
      <p:sp>
        <p:nvSpPr>
          <p:cNvPr id="78856" name="Text Box 5"/>
          <p:cNvSpPr txBox="1">
            <a:spLocks noChangeArrowheads="1"/>
          </p:cNvSpPr>
          <p:nvPr/>
        </p:nvSpPr>
        <p:spPr bwMode="auto">
          <a:xfrm>
            <a:off x="6934200" y="4387850"/>
            <a:ext cx="2001838"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dirty="0">
                <a:solidFill>
                  <a:schemeClr val="tx1"/>
                </a:solidFill>
                <a:latin typeface="Arial" pitchFamily="34" charset="0"/>
              </a:rPr>
              <a:t>What are other scenarios?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70</a:t>
            </a:fld>
            <a:endParaRPr lang="en-US"/>
          </a:p>
        </p:txBody>
      </p:sp>
    </p:spTree>
    <p:extLst>
      <p:ext uri="{BB962C8B-B14F-4D97-AF65-F5344CB8AC3E}">
        <p14:creationId xmlns:p14="http://schemas.microsoft.com/office/powerpoint/2010/main" val="8532834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p:txBody>
          <a:bodyPr/>
          <a:lstStyle/>
          <a:p>
            <a:pPr eaLnBrk="1" hangingPunct="1">
              <a:defRPr/>
            </a:pPr>
            <a:r>
              <a:rPr lang="en-US" sz="2800" dirty="0"/>
              <a:t>Checkpoints for use cases</a:t>
            </a:r>
          </a:p>
        </p:txBody>
      </p:sp>
      <p:sp>
        <p:nvSpPr>
          <p:cNvPr id="79878" name="Rectangle 3"/>
          <p:cNvSpPr>
            <a:spLocks noGrp="1" noChangeArrowheads="1"/>
          </p:cNvSpPr>
          <p:nvPr>
            <p:ph type="body" idx="1"/>
          </p:nvPr>
        </p:nvSpPr>
        <p:spPr/>
        <p:txBody>
          <a:bodyPr/>
          <a:lstStyle/>
          <a:p>
            <a:pPr marL="339725" indent="-339725" eaLnBrk="1" fontAlgn="t" hangingPunct="1">
              <a:lnSpc>
                <a:spcPct val="100000"/>
              </a:lnSpc>
              <a:buFont typeface="Wingdings" pitchFamily="2" charset="2"/>
              <a:buChar char="ü"/>
            </a:pPr>
            <a:r>
              <a:rPr lang="en-US" sz="2000" dirty="0"/>
              <a:t>Each use case is independent of the others</a:t>
            </a:r>
          </a:p>
          <a:p>
            <a:pPr marL="339725" indent="-339725" eaLnBrk="1" fontAlgn="t" hangingPunct="1">
              <a:lnSpc>
                <a:spcPct val="100000"/>
              </a:lnSpc>
              <a:buFont typeface="Wingdings" pitchFamily="2" charset="2"/>
              <a:buChar char="ü"/>
            </a:pPr>
            <a:r>
              <a:rPr lang="en-US" sz="2000" dirty="0"/>
              <a:t>No use cases have very similar behaviors or flows of events </a:t>
            </a:r>
          </a:p>
          <a:p>
            <a:pPr marL="339725" indent="-339725" eaLnBrk="1" fontAlgn="t" hangingPunct="1">
              <a:lnSpc>
                <a:spcPct val="100000"/>
              </a:lnSpc>
              <a:buFont typeface="Wingdings" pitchFamily="2" charset="2"/>
              <a:buChar char="ü"/>
            </a:pPr>
            <a:r>
              <a:rPr lang="en-US" sz="2000" dirty="0"/>
              <a:t>No part of the flow of events has already been modeled as another use case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71</a:t>
            </a:fld>
            <a:endParaRPr lang="en-US"/>
          </a:p>
        </p:txBody>
      </p:sp>
    </p:spTree>
    <p:custDataLst>
      <p:tags r:id="rId1"/>
    </p:custDataLst>
    <p:extLst>
      <p:ext uri="{BB962C8B-B14F-4D97-AF65-F5344CB8AC3E}">
        <p14:creationId xmlns:p14="http://schemas.microsoft.com/office/powerpoint/2010/main" val="7730568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p:txBody>
          <a:bodyPr/>
          <a:lstStyle/>
          <a:p>
            <a:pPr eaLnBrk="1" hangingPunct="1">
              <a:defRPr/>
            </a:pPr>
            <a:r>
              <a:rPr lang="en-US" sz="2800" dirty="0"/>
              <a:t>Collect additional requirements</a:t>
            </a:r>
          </a:p>
        </p:txBody>
      </p:sp>
      <p:sp>
        <p:nvSpPr>
          <p:cNvPr id="80902" name="Rectangle 3"/>
          <p:cNvSpPr>
            <a:spLocks noGrp="1" noChangeArrowheads="1"/>
          </p:cNvSpPr>
          <p:nvPr>
            <p:ph type="body" idx="1"/>
          </p:nvPr>
        </p:nvSpPr>
        <p:spPr>
          <a:xfrm>
            <a:off x="90488" y="1447800"/>
            <a:ext cx="5167312" cy="5029200"/>
          </a:xfrm>
        </p:spPr>
        <p:txBody>
          <a:bodyPr/>
          <a:lstStyle/>
          <a:p>
            <a:pPr marL="230188" indent="-230188" eaLnBrk="1" hangingPunct="1">
              <a:lnSpc>
                <a:spcPct val="100000"/>
              </a:lnSpc>
            </a:pPr>
            <a:r>
              <a:rPr lang="en-US" sz="2000" dirty="0"/>
              <a:t>Collect system requirements that cannot be allocated to specific use cases in other requirements documents, such as Supplementary Specifications</a:t>
            </a:r>
          </a:p>
        </p:txBody>
      </p:sp>
      <p:grpSp>
        <p:nvGrpSpPr>
          <p:cNvPr id="80903" name="Group 4"/>
          <p:cNvGrpSpPr>
            <a:grpSpLocks/>
          </p:cNvGrpSpPr>
          <p:nvPr/>
        </p:nvGrpSpPr>
        <p:grpSpPr bwMode="auto">
          <a:xfrm>
            <a:off x="5638800" y="1676400"/>
            <a:ext cx="2819400" cy="2895600"/>
            <a:chOff x="2784" y="2064"/>
            <a:chExt cx="1136" cy="1446"/>
          </a:xfrm>
        </p:grpSpPr>
        <p:sp>
          <p:nvSpPr>
            <p:cNvPr id="80904" name="AutoShape 5"/>
            <p:cNvSpPr>
              <a:spLocks noChangeArrowheads="1"/>
            </p:cNvSpPr>
            <p:nvPr/>
          </p:nvSpPr>
          <p:spPr bwMode="auto">
            <a:xfrm rot="10800000">
              <a:off x="2784" y="2064"/>
              <a:ext cx="1136" cy="1446"/>
            </a:xfrm>
            <a:prstGeom prst="foldedCorner">
              <a:avLst>
                <a:gd name="adj" fmla="val 12500"/>
              </a:avLst>
            </a:prstGeom>
            <a:solidFill>
              <a:srgbClr val="DDDDDD"/>
            </a:solidFill>
            <a:ln w="9525">
              <a:solidFill>
                <a:schemeClr val="bg2"/>
              </a:solidFill>
              <a:round/>
              <a:headEnd/>
              <a:tailEnd/>
            </a:ln>
          </p:spPr>
          <p:txBody>
            <a:bodyPr wrap="none" lIns="107950" tIns="53975" rIns="107950" bIns="53975" anchor="ctr"/>
            <a:lstStyle/>
            <a:p>
              <a:endParaRPr lang="en-US"/>
            </a:p>
          </p:txBody>
        </p:sp>
        <p:sp>
          <p:nvSpPr>
            <p:cNvPr id="80905" name="Line 6"/>
            <p:cNvSpPr>
              <a:spLocks noChangeShapeType="1"/>
            </p:cNvSpPr>
            <p:nvPr/>
          </p:nvSpPr>
          <p:spPr bwMode="auto">
            <a:xfrm>
              <a:off x="2963" y="2511"/>
              <a:ext cx="809"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6" name="Line 7"/>
            <p:cNvSpPr>
              <a:spLocks noChangeShapeType="1"/>
            </p:cNvSpPr>
            <p:nvPr/>
          </p:nvSpPr>
          <p:spPr bwMode="auto">
            <a:xfrm>
              <a:off x="2963" y="2700"/>
              <a:ext cx="809"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7" name="Line 8"/>
            <p:cNvSpPr>
              <a:spLocks noChangeShapeType="1"/>
            </p:cNvSpPr>
            <p:nvPr/>
          </p:nvSpPr>
          <p:spPr bwMode="auto">
            <a:xfrm>
              <a:off x="2963" y="2862"/>
              <a:ext cx="809" cy="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8" name="Line 9"/>
            <p:cNvSpPr>
              <a:spLocks noChangeShapeType="1"/>
            </p:cNvSpPr>
            <p:nvPr/>
          </p:nvSpPr>
          <p:spPr bwMode="auto">
            <a:xfrm>
              <a:off x="2963" y="2963"/>
              <a:ext cx="809" cy="6"/>
            </a:xfrm>
            <a:prstGeom prst="line">
              <a:avLst/>
            </a:prstGeom>
            <a:noFill/>
            <a:ln w="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9" name="Line 10"/>
            <p:cNvSpPr>
              <a:spLocks noChangeShapeType="1"/>
            </p:cNvSpPr>
            <p:nvPr/>
          </p:nvSpPr>
          <p:spPr bwMode="auto">
            <a:xfrm>
              <a:off x="2963" y="3050"/>
              <a:ext cx="809"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0" name="Line 11"/>
            <p:cNvSpPr>
              <a:spLocks noChangeShapeType="1"/>
            </p:cNvSpPr>
            <p:nvPr/>
          </p:nvSpPr>
          <p:spPr bwMode="auto">
            <a:xfrm>
              <a:off x="2963" y="3218"/>
              <a:ext cx="809"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1" name="Line 12"/>
            <p:cNvSpPr>
              <a:spLocks noChangeShapeType="1"/>
            </p:cNvSpPr>
            <p:nvPr/>
          </p:nvSpPr>
          <p:spPr bwMode="auto">
            <a:xfrm>
              <a:off x="2963" y="3405"/>
              <a:ext cx="809" cy="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2" name="Line 13"/>
            <p:cNvSpPr>
              <a:spLocks noChangeShapeType="1"/>
            </p:cNvSpPr>
            <p:nvPr/>
          </p:nvSpPr>
          <p:spPr bwMode="auto">
            <a:xfrm>
              <a:off x="2942" y="2522"/>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80913" name="Line 14"/>
            <p:cNvSpPr>
              <a:spLocks noChangeShapeType="1"/>
            </p:cNvSpPr>
            <p:nvPr/>
          </p:nvSpPr>
          <p:spPr bwMode="auto">
            <a:xfrm>
              <a:off x="3480" y="2695"/>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80914" name="Line 15"/>
            <p:cNvSpPr>
              <a:spLocks noChangeShapeType="1"/>
            </p:cNvSpPr>
            <p:nvPr/>
          </p:nvSpPr>
          <p:spPr bwMode="auto">
            <a:xfrm>
              <a:off x="3421" y="2869"/>
              <a:ext cx="29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80915" name="Line 16"/>
            <p:cNvSpPr>
              <a:spLocks noChangeShapeType="1"/>
            </p:cNvSpPr>
            <p:nvPr/>
          </p:nvSpPr>
          <p:spPr bwMode="auto">
            <a:xfrm>
              <a:off x="3062" y="3042"/>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80916" name="Line 17"/>
            <p:cNvSpPr>
              <a:spLocks noChangeShapeType="1"/>
            </p:cNvSpPr>
            <p:nvPr/>
          </p:nvSpPr>
          <p:spPr bwMode="auto">
            <a:xfrm>
              <a:off x="3002" y="3390"/>
              <a:ext cx="29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80917" name="Text Box 18"/>
            <p:cNvSpPr txBox="1">
              <a:spLocks noChangeArrowheads="1"/>
            </p:cNvSpPr>
            <p:nvPr/>
          </p:nvSpPr>
          <p:spPr bwMode="auto">
            <a:xfrm>
              <a:off x="3067" y="2072"/>
              <a:ext cx="67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b="1">
                  <a:solidFill>
                    <a:schemeClr val="tx1"/>
                  </a:solidFill>
                  <a:latin typeface="Arial" pitchFamily="34" charset="0"/>
                </a:rPr>
                <a:t>Supplementary</a:t>
              </a:r>
              <a:br>
                <a:rPr lang="en-US" b="1">
                  <a:solidFill>
                    <a:schemeClr val="tx1"/>
                  </a:solidFill>
                  <a:latin typeface="Arial" pitchFamily="34" charset="0"/>
                </a:rPr>
              </a:br>
              <a:r>
                <a:rPr lang="en-US" b="1">
                  <a:solidFill>
                    <a:schemeClr val="tx1"/>
                  </a:solidFill>
                  <a:latin typeface="Arial" pitchFamily="34" charset="0"/>
                </a:rPr>
                <a:t>Specification</a:t>
              </a:r>
              <a:endParaRPr lang="en-US" sz="1400">
                <a:solidFill>
                  <a:schemeClr val="tx1"/>
                </a:solidFill>
                <a:latin typeface="Arial" pitchFamily="34" charset="0"/>
              </a:endParaRPr>
            </a:p>
          </p:txBody>
        </p:sp>
        <p:sp>
          <p:nvSpPr>
            <p:cNvPr id="80918" name="Line 19"/>
            <p:cNvSpPr>
              <a:spLocks noChangeShapeType="1"/>
            </p:cNvSpPr>
            <p:nvPr/>
          </p:nvSpPr>
          <p:spPr bwMode="auto">
            <a:xfrm>
              <a:off x="2942" y="3152"/>
              <a:ext cx="809" cy="6"/>
            </a:xfrm>
            <a:prstGeom prst="line">
              <a:avLst/>
            </a:prstGeom>
            <a:noFill/>
            <a:ln w="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72</a:t>
            </a:fld>
            <a:endParaRPr lang="en-US"/>
          </a:p>
        </p:txBody>
      </p:sp>
    </p:spTree>
    <p:extLst>
      <p:ext uri="{BB962C8B-B14F-4D97-AF65-F5344CB8AC3E}">
        <p14:creationId xmlns:p14="http://schemas.microsoft.com/office/powerpoint/2010/main" val="15831957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p:cNvSpPr>
            <a:spLocks noGrp="1" noChangeArrowheads="1"/>
          </p:cNvSpPr>
          <p:nvPr>
            <p:ph type="title"/>
          </p:nvPr>
        </p:nvSpPr>
        <p:spPr/>
        <p:txBody>
          <a:bodyPr/>
          <a:lstStyle/>
          <a:p>
            <a:pPr eaLnBrk="1" hangingPunct="1">
              <a:defRPr/>
            </a:pPr>
            <a:r>
              <a:rPr lang="en-US" sz="2800" dirty="0"/>
              <a:t>What Is an Activity Diagram?</a:t>
            </a:r>
          </a:p>
        </p:txBody>
      </p:sp>
      <p:sp>
        <p:nvSpPr>
          <p:cNvPr id="81926" name="Rectangle 3"/>
          <p:cNvSpPr>
            <a:spLocks noGrp="1" noChangeArrowheads="1"/>
          </p:cNvSpPr>
          <p:nvPr>
            <p:ph type="body" idx="1"/>
          </p:nvPr>
        </p:nvSpPr>
        <p:spPr>
          <a:xfrm>
            <a:off x="184150" y="1295399"/>
            <a:ext cx="8775700" cy="2106613"/>
          </a:xfrm>
        </p:spPr>
        <p:txBody>
          <a:bodyPr/>
          <a:lstStyle/>
          <a:p>
            <a:pPr marL="339725" indent="-339725" eaLnBrk="1" hangingPunct="1"/>
            <a:r>
              <a:rPr lang="en-US" sz="2000" dirty="0"/>
              <a:t>An activity diagram in the use-case model can be used to capture the activities and actions performed in a use case.</a:t>
            </a:r>
          </a:p>
          <a:p>
            <a:pPr marL="339725" indent="-339725" eaLnBrk="1" hangingPunct="1"/>
            <a:r>
              <a:rPr lang="en-US" sz="2000" dirty="0"/>
              <a:t>It is essentially a flow chart, showing flow of control from one activity or action to another.</a:t>
            </a:r>
          </a:p>
        </p:txBody>
      </p:sp>
      <p:sp>
        <p:nvSpPr>
          <p:cNvPr id="81927" name="Rectangle 4"/>
          <p:cNvSpPr>
            <a:spLocks noChangeArrowheads="1"/>
          </p:cNvSpPr>
          <p:nvPr/>
        </p:nvSpPr>
        <p:spPr bwMode="auto">
          <a:xfrm>
            <a:off x="466725" y="3079750"/>
            <a:ext cx="4257675" cy="2909888"/>
          </a:xfrm>
          <a:prstGeom prst="rect">
            <a:avLst/>
          </a:prstGeom>
          <a:noFill/>
          <a:ln w="9525">
            <a:solidFill>
              <a:schemeClr val="tx1"/>
            </a:solidFill>
            <a:miter lim="800000"/>
            <a:headEnd/>
            <a:tailEnd/>
          </a:ln>
        </p:spPr>
        <p:txBody>
          <a:bodyPr lIns="109728" tIns="53975" rIns="54864" bIns="53975">
            <a:spAutoFit/>
          </a:bodyPr>
          <a:lstStyle/>
          <a:p>
            <a:pPr eaLnBrk="0" hangingPunct="0">
              <a:spcBef>
                <a:spcPts val="1200"/>
              </a:spcBef>
              <a:spcAft>
                <a:spcPts val="300"/>
              </a:spcAft>
            </a:pPr>
            <a:r>
              <a:rPr lang="en-GB" sz="1400" i="1" dirty="0">
                <a:solidFill>
                  <a:srgbClr val="000000"/>
                </a:solidFill>
                <a:latin typeface="Arial" pitchFamily="34" charset="0"/>
              </a:rPr>
              <a:t>Flow of Events</a:t>
            </a:r>
          </a:p>
          <a:p>
            <a:pPr eaLnBrk="0" hangingPunct="0">
              <a:spcBef>
                <a:spcPts val="1200"/>
              </a:spcBef>
              <a:spcAft>
                <a:spcPts val="300"/>
              </a:spcAft>
            </a:pPr>
            <a:r>
              <a:rPr lang="en-US" sz="1200" dirty="0">
                <a:solidFill>
                  <a:srgbClr val="000000"/>
                </a:solidFill>
                <a:latin typeface="Arial" pitchFamily="34" charset="0"/>
                <a:cs typeface="Times New Roman" pitchFamily="18" charset="0"/>
              </a:rPr>
              <a:t>This use case starts when the Registrar requests that the system close registration.</a:t>
            </a:r>
          </a:p>
          <a:p>
            <a:pPr eaLnBrk="0" hangingPunct="0">
              <a:spcBef>
                <a:spcPts val="1200"/>
              </a:spcBef>
              <a:spcAft>
                <a:spcPts val="300"/>
              </a:spcAft>
            </a:pPr>
            <a:r>
              <a:rPr lang="en-US" sz="1200" dirty="0">
                <a:solidFill>
                  <a:srgbClr val="000000"/>
                </a:solidFill>
                <a:latin typeface="Arial" pitchFamily="34" charset="0"/>
                <a:cs typeface="Times New Roman" pitchFamily="18" charset="0"/>
              </a:rPr>
              <a:t>1. The system checks to see if registration is in progress.  If it is, then a message is displayed to the Registrar and the use case terminates.  The Close Registration processing cannot be performed if registration is in progress.</a:t>
            </a:r>
          </a:p>
          <a:p>
            <a:pPr eaLnBrk="0" hangingPunct="0">
              <a:spcBef>
                <a:spcPts val="1200"/>
              </a:spcBef>
              <a:spcAft>
                <a:spcPts val="300"/>
              </a:spcAft>
            </a:pPr>
            <a:r>
              <a:rPr lang="en-US" sz="1200" dirty="0">
                <a:solidFill>
                  <a:srgbClr val="000000"/>
                </a:solidFill>
                <a:latin typeface="Arial" pitchFamily="34" charset="0"/>
                <a:cs typeface="Times New Roman" pitchFamily="18" charset="0"/>
              </a:rPr>
              <a:t>2. For each course offering, the system checks if a professor has signed up to teach the course offering and at least three students have registered.  If so, the system commits the course offering for each schedule that contains it.</a:t>
            </a:r>
            <a:br>
              <a:rPr lang="en-US" sz="1200" dirty="0">
                <a:solidFill>
                  <a:srgbClr val="000000"/>
                </a:solidFill>
                <a:latin typeface="Arial" pitchFamily="34" charset="0"/>
                <a:cs typeface="Times New Roman" pitchFamily="18" charset="0"/>
              </a:rPr>
            </a:br>
            <a:endParaRPr lang="en-US" sz="1200" dirty="0">
              <a:solidFill>
                <a:srgbClr val="000000"/>
              </a:solidFill>
              <a:latin typeface="Arial" pitchFamily="34" charset="0"/>
              <a:cs typeface="Times New Roman" pitchFamily="18" charset="0"/>
            </a:endParaRPr>
          </a:p>
        </p:txBody>
      </p:sp>
      <p:sp>
        <p:nvSpPr>
          <p:cNvPr id="81928" name="Oval 5"/>
          <p:cNvSpPr>
            <a:spLocks noChangeArrowheads="1"/>
          </p:cNvSpPr>
          <p:nvPr/>
        </p:nvSpPr>
        <p:spPr bwMode="auto">
          <a:xfrm>
            <a:off x="6286500" y="4103688"/>
            <a:ext cx="223838" cy="223837"/>
          </a:xfrm>
          <a:prstGeom prst="ellipse">
            <a:avLst/>
          </a:prstGeom>
          <a:solidFill>
            <a:srgbClr val="C0C0C0"/>
          </a:solidFill>
          <a:ln w="0">
            <a:solidFill>
              <a:schemeClr val="tx1"/>
            </a:solidFill>
            <a:round/>
            <a:headEnd/>
            <a:tailEnd/>
          </a:ln>
        </p:spPr>
        <p:txBody>
          <a:bodyPr/>
          <a:lstStyle/>
          <a:p>
            <a:endParaRPr lang="en-US">
              <a:solidFill>
                <a:srgbClr val="000000"/>
              </a:solidFill>
            </a:endParaRPr>
          </a:p>
        </p:txBody>
      </p:sp>
      <p:sp>
        <p:nvSpPr>
          <p:cNvPr id="81929" name="AutoShape 6"/>
          <p:cNvSpPr>
            <a:spLocks noChangeArrowheads="1"/>
          </p:cNvSpPr>
          <p:nvPr/>
        </p:nvSpPr>
        <p:spPr bwMode="auto">
          <a:xfrm>
            <a:off x="5864225" y="4775200"/>
            <a:ext cx="1081088" cy="484188"/>
          </a:xfrm>
          <a:prstGeom prst="roundRect">
            <a:avLst>
              <a:gd name="adj" fmla="val 16667"/>
            </a:avLst>
          </a:prstGeom>
          <a:solidFill>
            <a:srgbClr val="FFFFCC"/>
          </a:solidFill>
          <a:ln w="0">
            <a:solidFill>
              <a:srgbClr val="990033"/>
            </a:solidFill>
            <a:round/>
            <a:headEnd/>
            <a:tailEnd/>
          </a:ln>
        </p:spPr>
        <p:txBody>
          <a:bodyPr/>
          <a:lstStyle/>
          <a:p>
            <a:endParaRPr lang="en-US">
              <a:solidFill>
                <a:srgbClr val="000000"/>
              </a:solidFill>
            </a:endParaRPr>
          </a:p>
        </p:txBody>
      </p:sp>
      <p:sp>
        <p:nvSpPr>
          <p:cNvPr id="81930" name="Freeform 7"/>
          <p:cNvSpPr>
            <a:spLocks/>
          </p:cNvSpPr>
          <p:nvPr/>
        </p:nvSpPr>
        <p:spPr bwMode="auto">
          <a:xfrm>
            <a:off x="6397625" y="4314825"/>
            <a:ext cx="63500" cy="460375"/>
          </a:xfrm>
          <a:custGeom>
            <a:avLst/>
            <a:gdLst>
              <a:gd name="T0" fmla="*/ 0 w 5"/>
              <a:gd name="T1" fmla="*/ 0 h 37"/>
              <a:gd name="T2" fmla="*/ 0 w 5"/>
              <a:gd name="T3" fmla="*/ 37 h 37"/>
              <a:gd name="T4" fmla="*/ 5 w 5"/>
              <a:gd name="T5" fmla="*/ 27 h 37"/>
              <a:gd name="T6" fmla="*/ 0 60000 65536"/>
              <a:gd name="T7" fmla="*/ 0 60000 65536"/>
              <a:gd name="T8" fmla="*/ 0 60000 65536"/>
              <a:gd name="T9" fmla="*/ 0 w 5"/>
              <a:gd name="T10" fmla="*/ 0 h 37"/>
              <a:gd name="T11" fmla="*/ 5 w 5"/>
              <a:gd name="T12" fmla="*/ 37 h 37"/>
            </a:gdLst>
            <a:ahLst/>
            <a:cxnLst>
              <a:cxn ang="T6">
                <a:pos x="T0" y="T1"/>
              </a:cxn>
              <a:cxn ang="T7">
                <a:pos x="T2" y="T3"/>
              </a:cxn>
              <a:cxn ang="T8">
                <a:pos x="T4" y="T5"/>
              </a:cxn>
            </a:cxnLst>
            <a:rect l="T9" t="T10" r="T11" b="T12"/>
            <a:pathLst>
              <a:path w="5" h="37">
                <a:moveTo>
                  <a:pt x="0" y="0"/>
                </a:moveTo>
                <a:lnTo>
                  <a:pt x="0" y="37"/>
                </a:lnTo>
                <a:lnTo>
                  <a:pt x="5" y="27"/>
                </a:lnTo>
              </a:path>
            </a:pathLst>
          </a:custGeom>
          <a:noFill/>
          <a:ln w="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1931" name="Line 8"/>
          <p:cNvSpPr>
            <a:spLocks noChangeShapeType="1"/>
          </p:cNvSpPr>
          <p:nvPr/>
        </p:nvSpPr>
        <p:spPr bwMode="auto">
          <a:xfrm flipH="1" flipV="1">
            <a:off x="6348413" y="4651375"/>
            <a:ext cx="49212" cy="123825"/>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81932" name="Freeform 9"/>
          <p:cNvSpPr>
            <a:spLocks/>
          </p:cNvSpPr>
          <p:nvPr/>
        </p:nvSpPr>
        <p:spPr bwMode="auto">
          <a:xfrm>
            <a:off x="7205663" y="4886325"/>
            <a:ext cx="522287" cy="249238"/>
          </a:xfrm>
          <a:custGeom>
            <a:avLst/>
            <a:gdLst>
              <a:gd name="T0" fmla="*/ 0 w 329"/>
              <a:gd name="T1" fmla="*/ 86 h 157"/>
              <a:gd name="T2" fmla="*/ 172 w 329"/>
              <a:gd name="T3" fmla="*/ 0 h 157"/>
              <a:gd name="T4" fmla="*/ 329 w 329"/>
              <a:gd name="T5" fmla="*/ 86 h 157"/>
              <a:gd name="T6" fmla="*/ 172 w 329"/>
              <a:gd name="T7" fmla="*/ 157 h 157"/>
              <a:gd name="T8" fmla="*/ 0 w 329"/>
              <a:gd name="T9" fmla="*/ 86 h 157"/>
              <a:gd name="T10" fmla="*/ 0 60000 65536"/>
              <a:gd name="T11" fmla="*/ 0 60000 65536"/>
              <a:gd name="T12" fmla="*/ 0 60000 65536"/>
              <a:gd name="T13" fmla="*/ 0 60000 65536"/>
              <a:gd name="T14" fmla="*/ 0 60000 65536"/>
              <a:gd name="T15" fmla="*/ 0 w 329"/>
              <a:gd name="T16" fmla="*/ 0 h 157"/>
              <a:gd name="T17" fmla="*/ 329 w 329"/>
              <a:gd name="T18" fmla="*/ 157 h 157"/>
            </a:gdLst>
            <a:ahLst/>
            <a:cxnLst>
              <a:cxn ang="T10">
                <a:pos x="T0" y="T1"/>
              </a:cxn>
              <a:cxn ang="T11">
                <a:pos x="T2" y="T3"/>
              </a:cxn>
              <a:cxn ang="T12">
                <a:pos x="T4" y="T5"/>
              </a:cxn>
              <a:cxn ang="T13">
                <a:pos x="T6" y="T7"/>
              </a:cxn>
              <a:cxn ang="T14">
                <a:pos x="T8" y="T9"/>
              </a:cxn>
            </a:cxnLst>
            <a:rect l="T15" t="T16" r="T17" b="T18"/>
            <a:pathLst>
              <a:path w="329" h="157">
                <a:moveTo>
                  <a:pt x="0" y="86"/>
                </a:moveTo>
                <a:lnTo>
                  <a:pt x="172" y="0"/>
                </a:lnTo>
                <a:lnTo>
                  <a:pt x="329" y="86"/>
                </a:lnTo>
                <a:lnTo>
                  <a:pt x="172" y="157"/>
                </a:lnTo>
                <a:lnTo>
                  <a:pt x="0" y="86"/>
                </a:lnTo>
                <a:close/>
              </a:path>
            </a:pathLst>
          </a:custGeom>
          <a:solidFill>
            <a:srgbClr val="FFFFCC"/>
          </a:solidFill>
          <a:ln w="0">
            <a:solidFill>
              <a:srgbClr val="990033"/>
            </a:solidFill>
            <a:round/>
            <a:headEnd/>
            <a:tailEnd/>
          </a:ln>
        </p:spPr>
        <p:txBody>
          <a:bodyPr/>
          <a:lstStyle/>
          <a:p>
            <a:endParaRPr lang="en-US">
              <a:solidFill>
                <a:srgbClr val="000000"/>
              </a:solidFill>
            </a:endParaRPr>
          </a:p>
        </p:txBody>
      </p:sp>
      <p:sp>
        <p:nvSpPr>
          <p:cNvPr id="81933" name="Freeform 10"/>
          <p:cNvSpPr>
            <a:spLocks/>
          </p:cNvSpPr>
          <p:nvPr/>
        </p:nvSpPr>
        <p:spPr bwMode="auto">
          <a:xfrm>
            <a:off x="6945313" y="4960938"/>
            <a:ext cx="260350" cy="61912"/>
          </a:xfrm>
          <a:custGeom>
            <a:avLst/>
            <a:gdLst>
              <a:gd name="T0" fmla="*/ 0 w 21"/>
              <a:gd name="T1" fmla="*/ 4 h 5"/>
              <a:gd name="T2" fmla="*/ 21 w 21"/>
              <a:gd name="T3" fmla="*/ 5 h 5"/>
              <a:gd name="T4" fmla="*/ 11 w 21"/>
              <a:gd name="T5" fmla="*/ 0 h 5"/>
              <a:gd name="T6" fmla="*/ 0 60000 65536"/>
              <a:gd name="T7" fmla="*/ 0 60000 65536"/>
              <a:gd name="T8" fmla="*/ 0 60000 65536"/>
              <a:gd name="T9" fmla="*/ 0 w 21"/>
              <a:gd name="T10" fmla="*/ 0 h 5"/>
              <a:gd name="T11" fmla="*/ 21 w 21"/>
              <a:gd name="T12" fmla="*/ 5 h 5"/>
            </a:gdLst>
            <a:ahLst/>
            <a:cxnLst>
              <a:cxn ang="T6">
                <a:pos x="T0" y="T1"/>
              </a:cxn>
              <a:cxn ang="T7">
                <a:pos x="T2" y="T3"/>
              </a:cxn>
              <a:cxn ang="T8">
                <a:pos x="T4" y="T5"/>
              </a:cxn>
            </a:cxnLst>
            <a:rect l="T9" t="T10" r="T11" b="T12"/>
            <a:pathLst>
              <a:path w="21" h="5">
                <a:moveTo>
                  <a:pt x="0" y="4"/>
                </a:moveTo>
                <a:lnTo>
                  <a:pt x="21" y="5"/>
                </a:lnTo>
                <a:lnTo>
                  <a:pt x="11" y="0"/>
                </a:lnTo>
              </a:path>
            </a:pathLst>
          </a:custGeom>
          <a:noFill/>
          <a:ln w="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1934" name="Line 11"/>
          <p:cNvSpPr>
            <a:spLocks noChangeShapeType="1"/>
          </p:cNvSpPr>
          <p:nvPr/>
        </p:nvSpPr>
        <p:spPr bwMode="auto">
          <a:xfrm flipH="1">
            <a:off x="7081838" y="5022850"/>
            <a:ext cx="123825" cy="50800"/>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81935" name="AutoShape 12"/>
          <p:cNvSpPr>
            <a:spLocks noChangeArrowheads="1"/>
          </p:cNvSpPr>
          <p:nvPr/>
        </p:nvSpPr>
        <p:spPr bwMode="auto">
          <a:xfrm>
            <a:off x="7913688" y="4775200"/>
            <a:ext cx="1068387" cy="484188"/>
          </a:xfrm>
          <a:prstGeom prst="roundRect">
            <a:avLst>
              <a:gd name="adj" fmla="val 16667"/>
            </a:avLst>
          </a:prstGeom>
          <a:solidFill>
            <a:srgbClr val="FFFFCC"/>
          </a:solidFill>
          <a:ln w="0">
            <a:solidFill>
              <a:srgbClr val="990033"/>
            </a:solidFill>
            <a:round/>
            <a:headEnd/>
            <a:tailEnd/>
          </a:ln>
        </p:spPr>
        <p:txBody>
          <a:bodyPr/>
          <a:lstStyle/>
          <a:p>
            <a:endParaRPr lang="en-US">
              <a:solidFill>
                <a:srgbClr val="000000"/>
              </a:solidFill>
            </a:endParaRPr>
          </a:p>
        </p:txBody>
      </p:sp>
      <p:sp>
        <p:nvSpPr>
          <p:cNvPr id="81936" name="AutoShape 13"/>
          <p:cNvSpPr>
            <a:spLocks noChangeArrowheads="1"/>
          </p:cNvSpPr>
          <p:nvPr/>
        </p:nvSpPr>
        <p:spPr bwMode="auto">
          <a:xfrm>
            <a:off x="7913688" y="3868738"/>
            <a:ext cx="1068387" cy="471487"/>
          </a:xfrm>
          <a:prstGeom prst="roundRect">
            <a:avLst>
              <a:gd name="adj" fmla="val 17106"/>
            </a:avLst>
          </a:prstGeom>
          <a:solidFill>
            <a:srgbClr val="FFFFCC"/>
          </a:solidFill>
          <a:ln w="0">
            <a:solidFill>
              <a:srgbClr val="990033"/>
            </a:solidFill>
            <a:round/>
            <a:headEnd/>
            <a:tailEnd/>
          </a:ln>
        </p:spPr>
        <p:txBody>
          <a:bodyPr/>
          <a:lstStyle/>
          <a:p>
            <a:endParaRPr lang="en-US">
              <a:solidFill>
                <a:srgbClr val="000000"/>
              </a:solidFill>
            </a:endParaRPr>
          </a:p>
        </p:txBody>
      </p:sp>
      <p:sp>
        <p:nvSpPr>
          <p:cNvPr id="81937" name="Freeform 14"/>
          <p:cNvSpPr>
            <a:spLocks/>
          </p:cNvSpPr>
          <p:nvPr/>
        </p:nvSpPr>
        <p:spPr bwMode="auto">
          <a:xfrm>
            <a:off x="7751763" y="5011738"/>
            <a:ext cx="161925" cy="61912"/>
          </a:xfrm>
          <a:custGeom>
            <a:avLst/>
            <a:gdLst>
              <a:gd name="T0" fmla="*/ 0 w 13"/>
              <a:gd name="T1" fmla="*/ 1 h 5"/>
              <a:gd name="T2" fmla="*/ 13 w 13"/>
              <a:gd name="T3" fmla="*/ 0 h 5"/>
              <a:gd name="T4" fmla="*/ 3 w 13"/>
              <a:gd name="T5" fmla="*/ 5 h 5"/>
              <a:gd name="T6" fmla="*/ 0 60000 65536"/>
              <a:gd name="T7" fmla="*/ 0 60000 65536"/>
              <a:gd name="T8" fmla="*/ 0 60000 65536"/>
              <a:gd name="T9" fmla="*/ 0 w 13"/>
              <a:gd name="T10" fmla="*/ 0 h 5"/>
              <a:gd name="T11" fmla="*/ 13 w 13"/>
              <a:gd name="T12" fmla="*/ 5 h 5"/>
            </a:gdLst>
            <a:ahLst/>
            <a:cxnLst>
              <a:cxn ang="T6">
                <a:pos x="T0" y="T1"/>
              </a:cxn>
              <a:cxn ang="T7">
                <a:pos x="T2" y="T3"/>
              </a:cxn>
              <a:cxn ang="T8">
                <a:pos x="T4" y="T5"/>
              </a:cxn>
            </a:cxnLst>
            <a:rect l="T9" t="T10" r="T11" b="T12"/>
            <a:pathLst>
              <a:path w="13" h="5">
                <a:moveTo>
                  <a:pt x="0" y="1"/>
                </a:moveTo>
                <a:lnTo>
                  <a:pt x="13" y="0"/>
                </a:lnTo>
                <a:lnTo>
                  <a:pt x="3" y="5"/>
                </a:lnTo>
              </a:path>
            </a:pathLst>
          </a:custGeom>
          <a:noFill/>
          <a:ln w="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1938" name="Line 15"/>
          <p:cNvSpPr>
            <a:spLocks noChangeShapeType="1"/>
          </p:cNvSpPr>
          <p:nvPr/>
        </p:nvSpPr>
        <p:spPr bwMode="auto">
          <a:xfrm flipH="1" flipV="1">
            <a:off x="7789863" y="4960938"/>
            <a:ext cx="123825" cy="50800"/>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81939" name="Freeform 16"/>
          <p:cNvSpPr>
            <a:spLocks/>
          </p:cNvSpPr>
          <p:nvPr/>
        </p:nvSpPr>
        <p:spPr bwMode="auto">
          <a:xfrm>
            <a:off x="7478713" y="4041775"/>
            <a:ext cx="434975" cy="844550"/>
          </a:xfrm>
          <a:custGeom>
            <a:avLst/>
            <a:gdLst>
              <a:gd name="T0" fmla="*/ 0 w 35"/>
              <a:gd name="T1" fmla="*/ 68 h 68"/>
              <a:gd name="T2" fmla="*/ 0 w 35"/>
              <a:gd name="T3" fmla="*/ 4 h 68"/>
              <a:gd name="T4" fmla="*/ 35 w 35"/>
              <a:gd name="T5" fmla="*/ 4 h 68"/>
              <a:gd name="T6" fmla="*/ 25 w 35"/>
              <a:gd name="T7" fmla="*/ 0 h 68"/>
              <a:gd name="T8" fmla="*/ 0 60000 65536"/>
              <a:gd name="T9" fmla="*/ 0 60000 65536"/>
              <a:gd name="T10" fmla="*/ 0 60000 65536"/>
              <a:gd name="T11" fmla="*/ 0 60000 65536"/>
              <a:gd name="T12" fmla="*/ 0 w 35"/>
              <a:gd name="T13" fmla="*/ 0 h 68"/>
              <a:gd name="T14" fmla="*/ 35 w 35"/>
              <a:gd name="T15" fmla="*/ 68 h 68"/>
            </a:gdLst>
            <a:ahLst/>
            <a:cxnLst>
              <a:cxn ang="T8">
                <a:pos x="T0" y="T1"/>
              </a:cxn>
              <a:cxn ang="T9">
                <a:pos x="T2" y="T3"/>
              </a:cxn>
              <a:cxn ang="T10">
                <a:pos x="T4" y="T5"/>
              </a:cxn>
              <a:cxn ang="T11">
                <a:pos x="T6" y="T7"/>
              </a:cxn>
            </a:cxnLst>
            <a:rect l="T12" t="T13" r="T14" b="T15"/>
            <a:pathLst>
              <a:path w="35" h="68">
                <a:moveTo>
                  <a:pt x="0" y="68"/>
                </a:moveTo>
                <a:lnTo>
                  <a:pt x="0" y="4"/>
                </a:lnTo>
                <a:lnTo>
                  <a:pt x="35" y="4"/>
                </a:lnTo>
                <a:lnTo>
                  <a:pt x="25" y="0"/>
                </a:lnTo>
              </a:path>
            </a:pathLst>
          </a:custGeom>
          <a:noFill/>
          <a:ln w="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1940" name="Line 17"/>
          <p:cNvSpPr>
            <a:spLocks noChangeShapeType="1"/>
          </p:cNvSpPr>
          <p:nvPr/>
        </p:nvSpPr>
        <p:spPr bwMode="auto">
          <a:xfrm flipH="1">
            <a:off x="7789863" y="4092575"/>
            <a:ext cx="123825" cy="61913"/>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81941" name="Line 18"/>
          <p:cNvSpPr>
            <a:spLocks noChangeShapeType="1"/>
          </p:cNvSpPr>
          <p:nvPr/>
        </p:nvSpPr>
        <p:spPr bwMode="auto">
          <a:xfrm>
            <a:off x="4724400" y="4724400"/>
            <a:ext cx="99060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107950" tIns="53975" rIns="107950" bIns="53975" anchor="ctr"/>
          <a:lstStyle/>
          <a:p>
            <a:endParaRPr lang="en-US"/>
          </a:p>
        </p:txBody>
      </p:sp>
      <p:sp>
        <p:nvSpPr>
          <p:cNvPr id="81942" name="Text Box 19"/>
          <p:cNvSpPr txBox="1">
            <a:spLocks noChangeArrowheads="1"/>
          </p:cNvSpPr>
          <p:nvPr/>
        </p:nvSpPr>
        <p:spPr bwMode="auto">
          <a:xfrm>
            <a:off x="5867400" y="4829175"/>
            <a:ext cx="10953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a:solidFill>
                  <a:srgbClr val="000000"/>
                </a:solidFill>
                <a:latin typeface="Arial" pitchFamily="34" charset="0"/>
              </a:rPr>
              <a:t>Activity 1</a:t>
            </a:r>
          </a:p>
        </p:txBody>
      </p:sp>
      <p:sp>
        <p:nvSpPr>
          <p:cNvPr id="81943" name="Text Box 20"/>
          <p:cNvSpPr txBox="1">
            <a:spLocks noChangeArrowheads="1"/>
          </p:cNvSpPr>
          <p:nvPr/>
        </p:nvSpPr>
        <p:spPr bwMode="auto">
          <a:xfrm>
            <a:off x="7937500" y="4841875"/>
            <a:ext cx="12065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a:solidFill>
                  <a:srgbClr val="000000"/>
                </a:solidFill>
                <a:latin typeface="Arial" pitchFamily="34" charset="0"/>
              </a:rPr>
              <a:t>Activity 3</a:t>
            </a:r>
          </a:p>
        </p:txBody>
      </p:sp>
      <p:sp>
        <p:nvSpPr>
          <p:cNvPr id="81944" name="Text Box 21"/>
          <p:cNvSpPr txBox="1">
            <a:spLocks noChangeArrowheads="1"/>
          </p:cNvSpPr>
          <p:nvPr/>
        </p:nvSpPr>
        <p:spPr bwMode="auto">
          <a:xfrm>
            <a:off x="7924800" y="3924300"/>
            <a:ext cx="1054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a:solidFill>
                  <a:srgbClr val="000000"/>
                </a:solidFill>
                <a:latin typeface="Arial" pitchFamily="34" charset="0"/>
              </a:rPr>
              <a:t>Activity 2</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73</a:t>
            </a:fld>
            <a:endParaRPr lang="en-US"/>
          </a:p>
        </p:txBody>
      </p:sp>
    </p:spTree>
    <p:extLst>
      <p:ext uri="{BB962C8B-B14F-4D97-AF65-F5344CB8AC3E}">
        <p14:creationId xmlns:p14="http://schemas.microsoft.com/office/powerpoint/2010/main" val="14242891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p:cNvSpPr>
            <a:spLocks noGrp="1" noChangeArrowheads="1"/>
          </p:cNvSpPr>
          <p:nvPr>
            <p:ph type="title"/>
          </p:nvPr>
        </p:nvSpPr>
        <p:spPr/>
        <p:txBody>
          <a:bodyPr/>
          <a:lstStyle/>
          <a:p>
            <a:pPr eaLnBrk="1" hangingPunct="1">
              <a:defRPr/>
            </a:pPr>
            <a:r>
              <a:rPr lang="en-US" sz="2800" dirty="0"/>
              <a:t>What Is an Activity?</a:t>
            </a:r>
          </a:p>
        </p:txBody>
      </p:sp>
      <p:sp>
        <p:nvSpPr>
          <p:cNvPr id="82950" name="Rectangle 3"/>
          <p:cNvSpPr>
            <a:spLocks noGrp="1" noChangeArrowheads="1"/>
          </p:cNvSpPr>
          <p:nvPr>
            <p:ph type="body" idx="1"/>
          </p:nvPr>
        </p:nvSpPr>
        <p:spPr/>
        <p:txBody>
          <a:bodyPr/>
          <a:lstStyle/>
          <a:p>
            <a:pPr marL="339725" indent="-339725" eaLnBrk="1" hangingPunct="1"/>
            <a:r>
              <a:rPr lang="en-US" sz="2000" dirty="0"/>
              <a:t>A specification of behavior expressed as a flow of execution via sequencing of subordinate units.</a:t>
            </a:r>
          </a:p>
          <a:p>
            <a:pPr marL="682625" lvl="1" indent="-228600" eaLnBrk="1" hangingPunct="1"/>
            <a:r>
              <a:rPr lang="en-US" sz="2000" dirty="0"/>
              <a:t>Subordinate units include nested activities and ultimately individual actions.</a:t>
            </a:r>
          </a:p>
          <a:p>
            <a:pPr marL="339725" indent="-339725" eaLnBrk="1" hangingPunct="1"/>
            <a:r>
              <a:rPr lang="en-US" sz="2000" dirty="0"/>
              <a:t>May contain </a:t>
            </a:r>
            <a:r>
              <a:rPr lang="en-US" sz="2000" dirty="0" err="1"/>
              <a:t>boolean</a:t>
            </a:r>
            <a:r>
              <a:rPr lang="en-US" sz="2000" dirty="0"/>
              <a:t> expression constraints when the activity is invoked or exited</a:t>
            </a:r>
          </a:p>
        </p:txBody>
      </p:sp>
      <p:grpSp>
        <p:nvGrpSpPr>
          <p:cNvPr id="82951" name="Group 4"/>
          <p:cNvGrpSpPr>
            <a:grpSpLocks/>
          </p:cNvGrpSpPr>
          <p:nvPr/>
        </p:nvGrpSpPr>
        <p:grpSpPr bwMode="auto">
          <a:xfrm>
            <a:off x="1863725" y="4641850"/>
            <a:ext cx="1827213" cy="587375"/>
            <a:chOff x="1174" y="2828"/>
            <a:chExt cx="1151" cy="370"/>
          </a:xfrm>
        </p:grpSpPr>
        <p:grpSp>
          <p:nvGrpSpPr>
            <p:cNvPr id="82967" name="Group 5"/>
            <p:cNvGrpSpPr>
              <a:grpSpLocks/>
            </p:cNvGrpSpPr>
            <p:nvPr/>
          </p:nvGrpSpPr>
          <p:grpSpPr bwMode="auto">
            <a:xfrm>
              <a:off x="1174" y="2828"/>
              <a:ext cx="1151" cy="370"/>
              <a:chOff x="325" y="2748"/>
              <a:chExt cx="1564" cy="731"/>
            </a:xfrm>
          </p:grpSpPr>
          <p:sp>
            <p:nvSpPr>
              <p:cNvPr id="82970" name="Freeform 6"/>
              <p:cNvSpPr>
                <a:spLocks/>
              </p:cNvSpPr>
              <p:nvPr/>
            </p:nvSpPr>
            <p:spPr bwMode="auto">
              <a:xfrm>
                <a:off x="325" y="2748"/>
                <a:ext cx="1564" cy="731"/>
              </a:xfrm>
              <a:custGeom>
                <a:avLst/>
                <a:gdLst>
                  <a:gd name="T0" fmla="*/ 0 w 1716"/>
                  <a:gd name="T1" fmla="*/ 0 h 731"/>
                  <a:gd name="T2" fmla="*/ 1591 w 1716"/>
                  <a:gd name="T3" fmla="*/ 0 h 731"/>
                  <a:gd name="T4" fmla="*/ 1716 w 1716"/>
                  <a:gd name="T5" fmla="*/ 137 h 731"/>
                  <a:gd name="T6" fmla="*/ 1716 w 1716"/>
                  <a:gd name="T7" fmla="*/ 731 h 731"/>
                  <a:gd name="T8" fmla="*/ 0 w 1716"/>
                  <a:gd name="T9" fmla="*/ 731 h 731"/>
                  <a:gd name="T10" fmla="*/ 0 w 1716"/>
                  <a:gd name="T11" fmla="*/ 0 h 731"/>
                  <a:gd name="T12" fmla="*/ 0 60000 65536"/>
                  <a:gd name="T13" fmla="*/ 0 60000 65536"/>
                  <a:gd name="T14" fmla="*/ 0 60000 65536"/>
                  <a:gd name="T15" fmla="*/ 0 60000 65536"/>
                  <a:gd name="T16" fmla="*/ 0 60000 65536"/>
                  <a:gd name="T17" fmla="*/ 0 60000 65536"/>
                  <a:gd name="T18" fmla="*/ 0 w 1716"/>
                  <a:gd name="T19" fmla="*/ 0 h 731"/>
                  <a:gd name="T20" fmla="*/ 1716 w 1716"/>
                  <a:gd name="T21" fmla="*/ 731 h 731"/>
                </a:gdLst>
                <a:ahLst/>
                <a:cxnLst>
                  <a:cxn ang="T12">
                    <a:pos x="T0" y="T1"/>
                  </a:cxn>
                  <a:cxn ang="T13">
                    <a:pos x="T2" y="T3"/>
                  </a:cxn>
                  <a:cxn ang="T14">
                    <a:pos x="T4" y="T5"/>
                  </a:cxn>
                  <a:cxn ang="T15">
                    <a:pos x="T6" y="T7"/>
                  </a:cxn>
                  <a:cxn ang="T16">
                    <a:pos x="T8" y="T9"/>
                  </a:cxn>
                  <a:cxn ang="T17">
                    <a:pos x="T10" y="T11"/>
                  </a:cxn>
                </a:cxnLst>
                <a:rect l="T18" t="T19" r="T20" b="T21"/>
                <a:pathLst>
                  <a:path w="1716" h="731">
                    <a:moveTo>
                      <a:pt x="0" y="0"/>
                    </a:moveTo>
                    <a:lnTo>
                      <a:pt x="1591" y="0"/>
                    </a:lnTo>
                    <a:lnTo>
                      <a:pt x="1716" y="137"/>
                    </a:lnTo>
                    <a:lnTo>
                      <a:pt x="1716" y="731"/>
                    </a:lnTo>
                    <a:lnTo>
                      <a:pt x="0" y="731"/>
                    </a:lnTo>
                    <a:lnTo>
                      <a:pt x="0" y="0"/>
                    </a:lnTo>
                    <a:close/>
                  </a:path>
                </a:pathLst>
              </a:custGeom>
              <a:solidFill>
                <a:srgbClr val="FFFFCC"/>
              </a:solidFill>
              <a:ln w="15875">
                <a:solidFill>
                  <a:srgbClr val="990033"/>
                </a:solidFill>
                <a:round/>
                <a:headEnd/>
                <a:tailEnd/>
              </a:ln>
            </p:spPr>
            <p:txBody>
              <a:bodyPr/>
              <a:lstStyle/>
              <a:p>
                <a:endParaRPr lang="en-US"/>
              </a:p>
            </p:txBody>
          </p:sp>
          <p:sp>
            <p:nvSpPr>
              <p:cNvPr id="82971" name="Freeform 7"/>
              <p:cNvSpPr>
                <a:spLocks/>
              </p:cNvSpPr>
              <p:nvPr/>
            </p:nvSpPr>
            <p:spPr bwMode="auto">
              <a:xfrm>
                <a:off x="1776" y="2756"/>
                <a:ext cx="110" cy="137"/>
              </a:xfrm>
              <a:custGeom>
                <a:avLst/>
                <a:gdLst>
                  <a:gd name="T0" fmla="*/ 0 w 11"/>
                  <a:gd name="T1" fmla="*/ 0 h 12"/>
                  <a:gd name="T2" fmla="*/ 0 w 11"/>
                  <a:gd name="T3" fmla="*/ 12 h 12"/>
                  <a:gd name="T4" fmla="*/ 11 w 11"/>
                  <a:gd name="T5" fmla="*/ 12 h 12"/>
                  <a:gd name="T6" fmla="*/ 0 60000 65536"/>
                  <a:gd name="T7" fmla="*/ 0 60000 65536"/>
                  <a:gd name="T8" fmla="*/ 0 60000 65536"/>
                  <a:gd name="T9" fmla="*/ 0 w 11"/>
                  <a:gd name="T10" fmla="*/ 0 h 12"/>
                  <a:gd name="T11" fmla="*/ 11 w 11"/>
                  <a:gd name="T12" fmla="*/ 12 h 12"/>
                </a:gdLst>
                <a:ahLst/>
                <a:cxnLst>
                  <a:cxn ang="T6">
                    <a:pos x="T0" y="T1"/>
                  </a:cxn>
                  <a:cxn ang="T7">
                    <a:pos x="T2" y="T3"/>
                  </a:cxn>
                  <a:cxn ang="T8">
                    <a:pos x="T4" y="T5"/>
                  </a:cxn>
                </a:cxnLst>
                <a:rect l="T9" t="T10" r="T11" b="T12"/>
                <a:pathLst>
                  <a:path w="11" h="12">
                    <a:moveTo>
                      <a:pt x="0" y="0"/>
                    </a:moveTo>
                    <a:lnTo>
                      <a:pt x="0" y="12"/>
                    </a:lnTo>
                    <a:lnTo>
                      <a:pt x="11" y="12"/>
                    </a:lnTo>
                  </a:path>
                </a:pathLst>
              </a:custGeom>
              <a:solidFill>
                <a:srgbClr val="FFFFCC"/>
              </a:solidFill>
              <a:ln w="15875">
                <a:solidFill>
                  <a:srgbClr val="990033"/>
                </a:solidFill>
                <a:round/>
                <a:headEnd/>
                <a:tailEnd/>
              </a:ln>
            </p:spPr>
            <p:txBody>
              <a:bodyPr/>
              <a:lstStyle/>
              <a:p>
                <a:endParaRPr lang="en-US"/>
              </a:p>
            </p:txBody>
          </p:sp>
        </p:grpSp>
        <p:sp>
          <p:nvSpPr>
            <p:cNvPr id="82968" name="Rectangle 8"/>
            <p:cNvSpPr>
              <a:spLocks noChangeArrowheads="1"/>
            </p:cNvSpPr>
            <p:nvPr/>
          </p:nvSpPr>
          <p:spPr bwMode="auto">
            <a:xfrm>
              <a:off x="1234" y="2852"/>
              <a:ext cx="10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solidFill>
                    <a:srgbClr val="000000"/>
                  </a:solidFill>
                  <a:latin typeface="Arial" pitchFamily="34" charset="0"/>
                </a:rPr>
                <a:t>&lt;&lt;Precondition&gt;&gt;</a:t>
              </a:r>
              <a:endParaRPr lang="en-US" sz="1600" dirty="0">
                <a:solidFill>
                  <a:schemeClr val="tx1"/>
                </a:solidFill>
                <a:latin typeface="Arial" pitchFamily="34" charset="0"/>
              </a:endParaRPr>
            </a:p>
          </p:txBody>
        </p:sp>
        <p:sp>
          <p:nvSpPr>
            <p:cNvPr id="82969" name="Rectangle 9"/>
            <p:cNvSpPr>
              <a:spLocks noChangeArrowheads="1"/>
            </p:cNvSpPr>
            <p:nvPr/>
          </p:nvSpPr>
          <p:spPr bwMode="auto">
            <a:xfrm>
              <a:off x="1245" y="3009"/>
              <a:ext cx="10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solidFill>
                    <a:srgbClr val="000000"/>
                  </a:solidFill>
                  <a:latin typeface="Arial" pitchFamily="34" charset="0"/>
                </a:rPr>
                <a:t>Boolean constraint</a:t>
              </a:r>
              <a:endParaRPr lang="en-US" sz="1600" dirty="0">
                <a:solidFill>
                  <a:schemeClr val="tx1"/>
                </a:solidFill>
                <a:latin typeface="Arial" pitchFamily="34" charset="0"/>
              </a:endParaRPr>
            </a:p>
          </p:txBody>
        </p:sp>
      </p:grpSp>
      <p:sp>
        <p:nvSpPr>
          <p:cNvPr id="82952" name="AutoShape 10"/>
          <p:cNvSpPr>
            <a:spLocks noChangeArrowheads="1"/>
          </p:cNvSpPr>
          <p:nvPr/>
        </p:nvSpPr>
        <p:spPr bwMode="auto">
          <a:xfrm>
            <a:off x="1971675" y="5737225"/>
            <a:ext cx="1460500" cy="522288"/>
          </a:xfrm>
          <a:prstGeom prst="roundRect">
            <a:avLst>
              <a:gd name="adj" fmla="val 16667"/>
            </a:avLst>
          </a:prstGeom>
          <a:solidFill>
            <a:srgbClr val="FFFFCC"/>
          </a:solidFill>
          <a:ln w="0">
            <a:solidFill>
              <a:srgbClr val="990033"/>
            </a:solidFill>
            <a:round/>
            <a:headEnd/>
            <a:tailEnd/>
          </a:ln>
        </p:spPr>
        <p:txBody>
          <a:bodyPr/>
          <a:lstStyle/>
          <a:p>
            <a:endParaRPr lang="en-US">
              <a:solidFill>
                <a:srgbClr val="000000"/>
              </a:solidFill>
            </a:endParaRPr>
          </a:p>
        </p:txBody>
      </p:sp>
      <p:sp>
        <p:nvSpPr>
          <p:cNvPr id="82953" name="Text Box 11"/>
          <p:cNvSpPr txBox="1">
            <a:spLocks noChangeArrowheads="1"/>
          </p:cNvSpPr>
          <p:nvPr/>
        </p:nvSpPr>
        <p:spPr bwMode="auto">
          <a:xfrm>
            <a:off x="2200275" y="5813425"/>
            <a:ext cx="11318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a:solidFill>
                  <a:srgbClr val="000000"/>
                </a:solidFill>
                <a:latin typeface="Arial" pitchFamily="34" charset="0"/>
              </a:rPr>
              <a:t>Activity 5</a:t>
            </a:r>
          </a:p>
        </p:txBody>
      </p:sp>
      <p:sp>
        <p:nvSpPr>
          <p:cNvPr id="82954" name="Line 12"/>
          <p:cNvSpPr>
            <a:spLocks noChangeShapeType="1"/>
          </p:cNvSpPr>
          <p:nvPr/>
        </p:nvSpPr>
        <p:spPr bwMode="auto">
          <a:xfrm flipH="1">
            <a:off x="2778125" y="5251450"/>
            <a:ext cx="6350" cy="49688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grpSp>
        <p:nvGrpSpPr>
          <p:cNvPr id="82955" name="Group 13"/>
          <p:cNvGrpSpPr>
            <a:grpSpLocks/>
          </p:cNvGrpSpPr>
          <p:nvPr/>
        </p:nvGrpSpPr>
        <p:grpSpPr bwMode="auto">
          <a:xfrm>
            <a:off x="4622800" y="5583238"/>
            <a:ext cx="1827213" cy="587375"/>
            <a:chOff x="2912" y="3637"/>
            <a:chExt cx="1151" cy="370"/>
          </a:xfrm>
        </p:grpSpPr>
        <p:grpSp>
          <p:nvGrpSpPr>
            <p:cNvPr id="82962" name="Group 14"/>
            <p:cNvGrpSpPr>
              <a:grpSpLocks/>
            </p:cNvGrpSpPr>
            <p:nvPr/>
          </p:nvGrpSpPr>
          <p:grpSpPr bwMode="auto">
            <a:xfrm>
              <a:off x="2912" y="3637"/>
              <a:ext cx="1151" cy="370"/>
              <a:chOff x="325" y="2748"/>
              <a:chExt cx="1564" cy="731"/>
            </a:xfrm>
          </p:grpSpPr>
          <p:sp>
            <p:nvSpPr>
              <p:cNvPr id="82965" name="Freeform 15"/>
              <p:cNvSpPr>
                <a:spLocks/>
              </p:cNvSpPr>
              <p:nvPr/>
            </p:nvSpPr>
            <p:spPr bwMode="auto">
              <a:xfrm>
                <a:off x="325" y="2748"/>
                <a:ext cx="1564" cy="731"/>
              </a:xfrm>
              <a:custGeom>
                <a:avLst/>
                <a:gdLst>
                  <a:gd name="T0" fmla="*/ 0 w 1716"/>
                  <a:gd name="T1" fmla="*/ 0 h 731"/>
                  <a:gd name="T2" fmla="*/ 1591 w 1716"/>
                  <a:gd name="T3" fmla="*/ 0 h 731"/>
                  <a:gd name="T4" fmla="*/ 1716 w 1716"/>
                  <a:gd name="T5" fmla="*/ 137 h 731"/>
                  <a:gd name="T6" fmla="*/ 1716 w 1716"/>
                  <a:gd name="T7" fmla="*/ 731 h 731"/>
                  <a:gd name="T8" fmla="*/ 0 w 1716"/>
                  <a:gd name="T9" fmla="*/ 731 h 731"/>
                  <a:gd name="T10" fmla="*/ 0 w 1716"/>
                  <a:gd name="T11" fmla="*/ 0 h 731"/>
                  <a:gd name="T12" fmla="*/ 0 60000 65536"/>
                  <a:gd name="T13" fmla="*/ 0 60000 65536"/>
                  <a:gd name="T14" fmla="*/ 0 60000 65536"/>
                  <a:gd name="T15" fmla="*/ 0 60000 65536"/>
                  <a:gd name="T16" fmla="*/ 0 60000 65536"/>
                  <a:gd name="T17" fmla="*/ 0 60000 65536"/>
                  <a:gd name="T18" fmla="*/ 0 w 1716"/>
                  <a:gd name="T19" fmla="*/ 0 h 731"/>
                  <a:gd name="T20" fmla="*/ 1716 w 1716"/>
                  <a:gd name="T21" fmla="*/ 731 h 731"/>
                </a:gdLst>
                <a:ahLst/>
                <a:cxnLst>
                  <a:cxn ang="T12">
                    <a:pos x="T0" y="T1"/>
                  </a:cxn>
                  <a:cxn ang="T13">
                    <a:pos x="T2" y="T3"/>
                  </a:cxn>
                  <a:cxn ang="T14">
                    <a:pos x="T4" y="T5"/>
                  </a:cxn>
                  <a:cxn ang="T15">
                    <a:pos x="T6" y="T7"/>
                  </a:cxn>
                  <a:cxn ang="T16">
                    <a:pos x="T8" y="T9"/>
                  </a:cxn>
                  <a:cxn ang="T17">
                    <a:pos x="T10" y="T11"/>
                  </a:cxn>
                </a:cxnLst>
                <a:rect l="T18" t="T19" r="T20" b="T21"/>
                <a:pathLst>
                  <a:path w="1716" h="731">
                    <a:moveTo>
                      <a:pt x="0" y="0"/>
                    </a:moveTo>
                    <a:lnTo>
                      <a:pt x="1591" y="0"/>
                    </a:lnTo>
                    <a:lnTo>
                      <a:pt x="1716" y="137"/>
                    </a:lnTo>
                    <a:lnTo>
                      <a:pt x="1716" y="731"/>
                    </a:lnTo>
                    <a:lnTo>
                      <a:pt x="0" y="731"/>
                    </a:lnTo>
                    <a:lnTo>
                      <a:pt x="0" y="0"/>
                    </a:lnTo>
                    <a:close/>
                  </a:path>
                </a:pathLst>
              </a:custGeom>
              <a:solidFill>
                <a:srgbClr val="FFFFCC"/>
              </a:solidFill>
              <a:ln w="15875">
                <a:solidFill>
                  <a:srgbClr val="990033"/>
                </a:solidFill>
                <a:round/>
                <a:headEnd/>
                <a:tailEnd/>
              </a:ln>
            </p:spPr>
            <p:txBody>
              <a:bodyPr/>
              <a:lstStyle/>
              <a:p>
                <a:endParaRPr lang="en-US"/>
              </a:p>
            </p:txBody>
          </p:sp>
          <p:sp>
            <p:nvSpPr>
              <p:cNvPr id="82966" name="Freeform 16"/>
              <p:cNvSpPr>
                <a:spLocks/>
              </p:cNvSpPr>
              <p:nvPr/>
            </p:nvSpPr>
            <p:spPr bwMode="auto">
              <a:xfrm>
                <a:off x="1776" y="2756"/>
                <a:ext cx="110" cy="137"/>
              </a:xfrm>
              <a:custGeom>
                <a:avLst/>
                <a:gdLst>
                  <a:gd name="T0" fmla="*/ 0 w 11"/>
                  <a:gd name="T1" fmla="*/ 0 h 12"/>
                  <a:gd name="T2" fmla="*/ 0 w 11"/>
                  <a:gd name="T3" fmla="*/ 12 h 12"/>
                  <a:gd name="T4" fmla="*/ 11 w 11"/>
                  <a:gd name="T5" fmla="*/ 12 h 12"/>
                  <a:gd name="T6" fmla="*/ 0 60000 65536"/>
                  <a:gd name="T7" fmla="*/ 0 60000 65536"/>
                  <a:gd name="T8" fmla="*/ 0 60000 65536"/>
                  <a:gd name="T9" fmla="*/ 0 w 11"/>
                  <a:gd name="T10" fmla="*/ 0 h 12"/>
                  <a:gd name="T11" fmla="*/ 11 w 11"/>
                  <a:gd name="T12" fmla="*/ 12 h 12"/>
                </a:gdLst>
                <a:ahLst/>
                <a:cxnLst>
                  <a:cxn ang="T6">
                    <a:pos x="T0" y="T1"/>
                  </a:cxn>
                  <a:cxn ang="T7">
                    <a:pos x="T2" y="T3"/>
                  </a:cxn>
                  <a:cxn ang="T8">
                    <a:pos x="T4" y="T5"/>
                  </a:cxn>
                </a:cxnLst>
                <a:rect l="T9" t="T10" r="T11" b="T12"/>
                <a:pathLst>
                  <a:path w="11" h="12">
                    <a:moveTo>
                      <a:pt x="0" y="0"/>
                    </a:moveTo>
                    <a:lnTo>
                      <a:pt x="0" y="12"/>
                    </a:lnTo>
                    <a:lnTo>
                      <a:pt x="11" y="12"/>
                    </a:lnTo>
                  </a:path>
                </a:pathLst>
              </a:custGeom>
              <a:solidFill>
                <a:srgbClr val="FFFFCC"/>
              </a:solidFill>
              <a:ln w="15875">
                <a:solidFill>
                  <a:srgbClr val="990033"/>
                </a:solidFill>
                <a:round/>
                <a:headEnd/>
                <a:tailEnd/>
              </a:ln>
            </p:spPr>
            <p:txBody>
              <a:bodyPr/>
              <a:lstStyle/>
              <a:p>
                <a:endParaRPr lang="en-US"/>
              </a:p>
            </p:txBody>
          </p:sp>
        </p:grpSp>
        <p:sp>
          <p:nvSpPr>
            <p:cNvPr id="82963" name="Rectangle 17"/>
            <p:cNvSpPr>
              <a:spLocks noChangeArrowheads="1"/>
            </p:cNvSpPr>
            <p:nvPr/>
          </p:nvSpPr>
          <p:spPr bwMode="auto">
            <a:xfrm>
              <a:off x="2972" y="3661"/>
              <a:ext cx="10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solidFill>
                    <a:srgbClr val="000000"/>
                  </a:solidFill>
                  <a:latin typeface="Arial" pitchFamily="34" charset="0"/>
                </a:rPr>
                <a:t>&lt;&lt;</a:t>
              </a:r>
              <a:r>
                <a:rPr lang="en-US" sz="1600" dirty="0" err="1">
                  <a:solidFill>
                    <a:srgbClr val="000000"/>
                  </a:solidFill>
                  <a:latin typeface="Arial" pitchFamily="34" charset="0"/>
                </a:rPr>
                <a:t>Postcondition</a:t>
              </a:r>
              <a:r>
                <a:rPr lang="en-US" sz="1600" dirty="0">
                  <a:solidFill>
                    <a:srgbClr val="000000"/>
                  </a:solidFill>
                  <a:latin typeface="Arial" pitchFamily="34" charset="0"/>
                </a:rPr>
                <a:t>&gt;&gt;</a:t>
              </a:r>
              <a:endParaRPr lang="en-US" sz="1600" dirty="0">
                <a:solidFill>
                  <a:schemeClr val="tx1"/>
                </a:solidFill>
                <a:latin typeface="Arial" pitchFamily="34" charset="0"/>
              </a:endParaRPr>
            </a:p>
          </p:txBody>
        </p:sp>
        <p:sp>
          <p:nvSpPr>
            <p:cNvPr id="82964" name="Rectangle 18"/>
            <p:cNvSpPr>
              <a:spLocks noChangeArrowheads="1"/>
            </p:cNvSpPr>
            <p:nvPr/>
          </p:nvSpPr>
          <p:spPr bwMode="auto">
            <a:xfrm>
              <a:off x="2983" y="3818"/>
              <a:ext cx="10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dirty="0">
                  <a:solidFill>
                    <a:srgbClr val="000000"/>
                  </a:solidFill>
                  <a:latin typeface="Arial" pitchFamily="34" charset="0"/>
                </a:rPr>
                <a:t>Boolean constraint</a:t>
              </a:r>
              <a:endParaRPr lang="en-US" sz="1600" dirty="0">
                <a:solidFill>
                  <a:schemeClr val="tx1"/>
                </a:solidFill>
                <a:latin typeface="Arial" pitchFamily="34" charset="0"/>
              </a:endParaRPr>
            </a:p>
          </p:txBody>
        </p:sp>
      </p:grpSp>
      <p:sp>
        <p:nvSpPr>
          <p:cNvPr id="82956" name="AutoShape 19"/>
          <p:cNvSpPr>
            <a:spLocks noChangeArrowheads="1"/>
          </p:cNvSpPr>
          <p:nvPr/>
        </p:nvSpPr>
        <p:spPr bwMode="auto">
          <a:xfrm>
            <a:off x="4799013" y="4578350"/>
            <a:ext cx="1460500" cy="522288"/>
          </a:xfrm>
          <a:prstGeom prst="roundRect">
            <a:avLst>
              <a:gd name="adj" fmla="val 16667"/>
            </a:avLst>
          </a:prstGeom>
          <a:solidFill>
            <a:srgbClr val="FFFFCC"/>
          </a:solidFill>
          <a:ln w="0">
            <a:solidFill>
              <a:srgbClr val="990033"/>
            </a:solidFill>
            <a:round/>
            <a:headEnd/>
            <a:tailEnd/>
          </a:ln>
        </p:spPr>
        <p:txBody>
          <a:bodyPr/>
          <a:lstStyle/>
          <a:p>
            <a:endParaRPr lang="en-US">
              <a:solidFill>
                <a:srgbClr val="000000"/>
              </a:solidFill>
            </a:endParaRPr>
          </a:p>
        </p:txBody>
      </p:sp>
      <p:sp>
        <p:nvSpPr>
          <p:cNvPr id="82957" name="Text Box 20"/>
          <p:cNvSpPr txBox="1">
            <a:spLocks noChangeArrowheads="1"/>
          </p:cNvSpPr>
          <p:nvPr/>
        </p:nvSpPr>
        <p:spPr bwMode="auto">
          <a:xfrm>
            <a:off x="4970463" y="4654550"/>
            <a:ext cx="1090612"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dirty="0">
                <a:solidFill>
                  <a:srgbClr val="000000"/>
                </a:solidFill>
                <a:latin typeface="Arial" pitchFamily="34" charset="0"/>
              </a:rPr>
              <a:t>Activity 4</a:t>
            </a:r>
          </a:p>
        </p:txBody>
      </p:sp>
      <p:sp>
        <p:nvSpPr>
          <p:cNvPr id="82958" name="Line 21"/>
          <p:cNvSpPr>
            <a:spLocks noChangeShapeType="1"/>
          </p:cNvSpPr>
          <p:nvPr/>
        </p:nvSpPr>
        <p:spPr bwMode="auto">
          <a:xfrm>
            <a:off x="5522913" y="5122863"/>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2959" name="Line 22"/>
          <p:cNvSpPr>
            <a:spLocks noChangeShapeType="1"/>
          </p:cNvSpPr>
          <p:nvPr/>
        </p:nvSpPr>
        <p:spPr bwMode="auto">
          <a:xfrm flipH="1">
            <a:off x="3413125" y="5065713"/>
            <a:ext cx="1431925" cy="698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2960" name="AutoShape 23"/>
          <p:cNvSpPr>
            <a:spLocks noChangeArrowheads="1"/>
          </p:cNvSpPr>
          <p:nvPr/>
        </p:nvSpPr>
        <p:spPr bwMode="auto">
          <a:xfrm>
            <a:off x="1119188" y="4195763"/>
            <a:ext cx="5859462" cy="2182812"/>
          </a:xfrm>
          <a:prstGeom prst="roundRect">
            <a:avLst>
              <a:gd name="adj" fmla="val 16667"/>
            </a:avLst>
          </a:prstGeom>
          <a:noFill/>
          <a:ln w="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61" name="Text Box 24"/>
          <p:cNvSpPr txBox="1">
            <a:spLocks noChangeArrowheads="1"/>
          </p:cNvSpPr>
          <p:nvPr/>
        </p:nvSpPr>
        <p:spPr bwMode="auto">
          <a:xfrm>
            <a:off x="1322388" y="4224338"/>
            <a:ext cx="1090612"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spcBef>
                <a:spcPct val="50000"/>
              </a:spcBef>
            </a:pPr>
            <a:r>
              <a:rPr lang="en-US">
                <a:solidFill>
                  <a:schemeClr val="tx1"/>
                </a:solidFill>
                <a:latin typeface="Arial" pitchFamily="34" charset="0"/>
              </a:rPr>
              <a:t>Activity 2</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74</a:t>
            </a:fld>
            <a:endParaRPr lang="en-US"/>
          </a:p>
        </p:txBody>
      </p:sp>
    </p:spTree>
    <p:extLst>
      <p:ext uri="{BB962C8B-B14F-4D97-AF65-F5344CB8AC3E}">
        <p14:creationId xmlns:p14="http://schemas.microsoft.com/office/powerpoint/2010/main" val="25951440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p:txBody>
          <a:bodyPr/>
          <a:lstStyle/>
          <a:p>
            <a:pPr eaLnBrk="1" hangingPunct="1">
              <a:defRPr/>
            </a:pPr>
            <a:r>
              <a:rPr lang="en-US" sz="2800" dirty="0"/>
              <a:t>Example: Activity Diagram</a:t>
            </a:r>
          </a:p>
        </p:txBody>
      </p:sp>
      <p:sp>
        <p:nvSpPr>
          <p:cNvPr id="83974" name="AutoShape 3"/>
          <p:cNvSpPr>
            <a:spLocks noChangeArrowheads="1"/>
          </p:cNvSpPr>
          <p:nvPr/>
        </p:nvSpPr>
        <p:spPr bwMode="auto">
          <a:xfrm>
            <a:off x="5626100" y="2265362"/>
            <a:ext cx="1081088" cy="436563"/>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3975" name="AutoShape 4"/>
          <p:cNvSpPr>
            <a:spLocks noChangeArrowheads="1"/>
          </p:cNvSpPr>
          <p:nvPr/>
        </p:nvSpPr>
        <p:spPr bwMode="auto">
          <a:xfrm>
            <a:off x="3282950" y="1674812"/>
            <a:ext cx="1081088" cy="436563"/>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3976" name="Freeform 5"/>
          <p:cNvSpPr>
            <a:spLocks/>
          </p:cNvSpPr>
          <p:nvPr/>
        </p:nvSpPr>
        <p:spPr bwMode="auto">
          <a:xfrm>
            <a:off x="3822700" y="2065337"/>
            <a:ext cx="1588" cy="282575"/>
          </a:xfrm>
          <a:custGeom>
            <a:avLst/>
            <a:gdLst>
              <a:gd name="T0" fmla="*/ 0 w 1"/>
              <a:gd name="T1" fmla="*/ 0 h 178"/>
              <a:gd name="T2" fmla="*/ 0 w 1"/>
              <a:gd name="T3" fmla="*/ 178 h 178"/>
              <a:gd name="T4" fmla="*/ 0 60000 65536"/>
              <a:gd name="T5" fmla="*/ 0 60000 65536"/>
              <a:gd name="T6" fmla="*/ 0 w 1"/>
              <a:gd name="T7" fmla="*/ 0 h 178"/>
              <a:gd name="T8" fmla="*/ 1 w 1"/>
              <a:gd name="T9" fmla="*/ 178 h 178"/>
            </a:gdLst>
            <a:ahLst/>
            <a:cxnLst>
              <a:cxn ang="T4">
                <a:pos x="T0" y="T1"/>
              </a:cxn>
              <a:cxn ang="T5">
                <a:pos x="T2" y="T3"/>
              </a:cxn>
            </a:cxnLst>
            <a:rect l="T6" t="T7" r="T8" b="T9"/>
            <a:pathLst>
              <a:path w="1" h="178">
                <a:moveTo>
                  <a:pt x="0" y="0"/>
                </a:moveTo>
                <a:lnTo>
                  <a:pt x="0" y="178"/>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77" name="Freeform 6"/>
          <p:cNvSpPr>
            <a:spLocks/>
          </p:cNvSpPr>
          <p:nvPr/>
        </p:nvSpPr>
        <p:spPr bwMode="auto">
          <a:xfrm flipH="1">
            <a:off x="3303588" y="3686175"/>
            <a:ext cx="325437" cy="334962"/>
          </a:xfrm>
          <a:custGeom>
            <a:avLst/>
            <a:gdLst>
              <a:gd name="T0" fmla="*/ 316 w 316"/>
              <a:gd name="T1" fmla="*/ 0 h 211"/>
              <a:gd name="T2" fmla="*/ 0 w 316"/>
              <a:gd name="T3" fmla="*/ 211 h 211"/>
              <a:gd name="T4" fmla="*/ 0 60000 65536"/>
              <a:gd name="T5" fmla="*/ 0 60000 65536"/>
              <a:gd name="T6" fmla="*/ 0 w 316"/>
              <a:gd name="T7" fmla="*/ 0 h 211"/>
              <a:gd name="T8" fmla="*/ 316 w 316"/>
              <a:gd name="T9" fmla="*/ 211 h 211"/>
            </a:gdLst>
            <a:ahLst/>
            <a:cxnLst>
              <a:cxn ang="T4">
                <a:pos x="T0" y="T1"/>
              </a:cxn>
              <a:cxn ang="T5">
                <a:pos x="T2" y="T3"/>
              </a:cxn>
            </a:cxnLst>
            <a:rect l="T6" t="T7" r="T8" b="T9"/>
            <a:pathLst>
              <a:path w="316" h="211">
                <a:moveTo>
                  <a:pt x="316" y="0"/>
                </a:moveTo>
                <a:lnTo>
                  <a:pt x="0" y="211"/>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78" name="Freeform 7"/>
          <p:cNvSpPr>
            <a:spLocks/>
          </p:cNvSpPr>
          <p:nvPr/>
        </p:nvSpPr>
        <p:spPr bwMode="auto">
          <a:xfrm>
            <a:off x="3208338" y="5942012"/>
            <a:ext cx="533400" cy="312738"/>
          </a:xfrm>
          <a:custGeom>
            <a:avLst/>
            <a:gdLst>
              <a:gd name="T0" fmla="*/ 0 w 303"/>
              <a:gd name="T1" fmla="*/ 0 h 178"/>
              <a:gd name="T2" fmla="*/ 303 w 303"/>
              <a:gd name="T3" fmla="*/ 178 h 178"/>
              <a:gd name="T4" fmla="*/ 0 60000 65536"/>
              <a:gd name="T5" fmla="*/ 0 60000 65536"/>
              <a:gd name="T6" fmla="*/ 0 w 303"/>
              <a:gd name="T7" fmla="*/ 0 h 178"/>
              <a:gd name="T8" fmla="*/ 303 w 303"/>
              <a:gd name="T9" fmla="*/ 178 h 178"/>
            </a:gdLst>
            <a:ahLst/>
            <a:cxnLst>
              <a:cxn ang="T4">
                <a:pos x="T0" y="T1"/>
              </a:cxn>
              <a:cxn ang="T5">
                <a:pos x="T2" y="T3"/>
              </a:cxn>
            </a:cxnLst>
            <a:rect l="T6" t="T7" r="T8" b="T9"/>
            <a:pathLst>
              <a:path w="303" h="178">
                <a:moveTo>
                  <a:pt x="0" y="0"/>
                </a:moveTo>
                <a:lnTo>
                  <a:pt x="303" y="178"/>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79" name="Freeform 8"/>
          <p:cNvSpPr>
            <a:spLocks/>
          </p:cNvSpPr>
          <p:nvPr/>
        </p:nvSpPr>
        <p:spPr bwMode="auto">
          <a:xfrm>
            <a:off x="4002088" y="5354637"/>
            <a:ext cx="892175" cy="887413"/>
          </a:xfrm>
          <a:custGeom>
            <a:avLst/>
            <a:gdLst>
              <a:gd name="T0" fmla="*/ 490 w 490"/>
              <a:gd name="T1" fmla="*/ 0 h 529"/>
              <a:gd name="T2" fmla="*/ 0 w 490"/>
              <a:gd name="T3" fmla="*/ 529 h 529"/>
              <a:gd name="T4" fmla="*/ 0 60000 65536"/>
              <a:gd name="T5" fmla="*/ 0 60000 65536"/>
              <a:gd name="T6" fmla="*/ 0 w 490"/>
              <a:gd name="T7" fmla="*/ 0 h 529"/>
              <a:gd name="T8" fmla="*/ 490 w 490"/>
              <a:gd name="T9" fmla="*/ 529 h 529"/>
            </a:gdLst>
            <a:ahLst/>
            <a:cxnLst>
              <a:cxn ang="T4">
                <a:pos x="T0" y="T1"/>
              </a:cxn>
              <a:cxn ang="T5">
                <a:pos x="T2" y="T3"/>
              </a:cxn>
            </a:cxnLst>
            <a:rect l="T6" t="T7" r="T8" b="T9"/>
            <a:pathLst>
              <a:path w="490" h="529">
                <a:moveTo>
                  <a:pt x="490" y="0"/>
                </a:moveTo>
                <a:lnTo>
                  <a:pt x="0" y="529"/>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80" name="Freeform 9"/>
          <p:cNvSpPr>
            <a:spLocks/>
          </p:cNvSpPr>
          <p:nvPr/>
        </p:nvSpPr>
        <p:spPr bwMode="auto">
          <a:xfrm flipH="1">
            <a:off x="3343275" y="2897187"/>
            <a:ext cx="400050" cy="400050"/>
          </a:xfrm>
          <a:custGeom>
            <a:avLst/>
            <a:gdLst>
              <a:gd name="T0" fmla="*/ 0 w 270"/>
              <a:gd name="T1" fmla="*/ 0 h 140"/>
              <a:gd name="T2" fmla="*/ 270 w 270"/>
              <a:gd name="T3" fmla="*/ 140 h 140"/>
              <a:gd name="T4" fmla="*/ 0 60000 65536"/>
              <a:gd name="T5" fmla="*/ 0 60000 65536"/>
              <a:gd name="T6" fmla="*/ 0 w 270"/>
              <a:gd name="T7" fmla="*/ 0 h 140"/>
              <a:gd name="T8" fmla="*/ 270 w 270"/>
              <a:gd name="T9" fmla="*/ 140 h 140"/>
            </a:gdLst>
            <a:ahLst/>
            <a:cxnLst>
              <a:cxn ang="T4">
                <a:pos x="T0" y="T1"/>
              </a:cxn>
              <a:cxn ang="T5">
                <a:pos x="T2" y="T3"/>
              </a:cxn>
            </a:cxnLst>
            <a:rect l="T6" t="T7" r="T8" b="T9"/>
            <a:pathLst>
              <a:path w="270" h="140">
                <a:moveTo>
                  <a:pt x="0" y="0"/>
                </a:moveTo>
                <a:lnTo>
                  <a:pt x="270" y="140"/>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81" name="Freeform 10"/>
          <p:cNvSpPr>
            <a:spLocks/>
          </p:cNvSpPr>
          <p:nvPr/>
        </p:nvSpPr>
        <p:spPr bwMode="auto">
          <a:xfrm>
            <a:off x="3873500" y="4076700"/>
            <a:ext cx="1588" cy="319087"/>
          </a:xfrm>
          <a:custGeom>
            <a:avLst/>
            <a:gdLst>
              <a:gd name="T0" fmla="*/ 0 w 1"/>
              <a:gd name="T1" fmla="*/ 0 h 201"/>
              <a:gd name="T2" fmla="*/ 1 w 1"/>
              <a:gd name="T3" fmla="*/ 201 h 201"/>
              <a:gd name="T4" fmla="*/ 0 60000 65536"/>
              <a:gd name="T5" fmla="*/ 0 60000 65536"/>
              <a:gd name="T6" fmla="*/ 0 w 1"/>
              <a:gd name="T7" fmla="*/ 0 h 201"/>
              <a:gd name="T8" fmla="*/ 1 w 1"/>
              <a:gd name="T9" fmla="*/ 201 h 201"/>
            </a:gdLst>
            <a:ahLst/>
            <a:cxnLst>
              <a:cxn ang="T4">
                <a:pos x="T0" y="T1"/>
              </a:cxn>
              <a:cxn ang="T5">
                <a:pos x="T2" y="T3"/>
              </a:cxn>
            </a:cxnLst>
            <a:rect l="T6" t="T7" r="T8" b="T9"/>
            <a:pathLst>
              <a:path w="1" h="201">
                <a:moveTo>
                  <a:pt x="0" y="0"/>
                </a:moveTo>
                <a:lnTo>
                  <a:pt x="1" y="201"/>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82" name="Freeform 11"/>
          <p:cNvSpPr>
            <a:spLocks/>
          </p:cNvSpPr>
          <p:nvPr/>
        </p:nvSpPr>
        <p:spPr bwMode="auto">
          <a:xfrm>
            <a:off x="3819525" y="2566987"/>
            <a:ext cx="1588" cy="282575"/>
          </a:xfrm>
          <a:custGeom>
            <a:avLst/>
            <a:gdLst>
              <a:gd name="T0" fmla="*/ 0 w 1"/>
              <a:gd name="T1" fmla="*/ 0 h 178"/>
              <a:gd name="T2" fmla="*/ 0 w 1"/>
              <a:gd name="T3" fmla="*/ 178 h 178"/>
              <a:gd name="T4" fmla="*/ 0 60000 65536"/>
              <a:gd name="T5" fmla="*/ 0 60000 65536"/>
              <a:gd name="T6" fmla="*/ 0 w 1"/>
              <a:gd name="T7" fmla="*/ 0 h 178"/>
              <a:gd name="T8" fmla="*/ 1 w 1"/>
              <a:gd name="T9" fmla="*/ 178 h 178"/>
            </a:gdLst>
            <a:ahLst/>
            <a:cxnLst>
              <a:cxn ang="T4">
                <a:pos x="T0" y="T1"/>
              </a:cxn>
              <a:cxn ang="T5">
                <a:pos x="T2" y="T3"/>
              </a:cxn>
            </a:cxnLst>
            <a:rect l="T6" t="T7" r="T8" b="T9"/>
            <a:pathLst>
              <a:path w="1" h="178">
                <a:moveTo>
                  <a:pt x="0" y="0"/>
                </a:moveTo>
                <a:lnTo>
                  <a:pt x="0" y="178"/>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83" name="Line 12"/>
          <p:cNvSpPr>
            <a:spLocks noChangeShapeType="1"/>
          </p:cNvSpPr>
          <p:nvPr/>
        </p:nvSpPr>
        <p:spPr bwMode="auto">
          <a:xfrm flipV="1">
            <a:off x="6832600" y="1801812"/>
            <a:ext cx="584200" cy="584200"/>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3984" name="Line 13"/>
          <p:cNvSpPr>
            <a:spLocks noChangeShapeType="1"/>
          </p:cNvSpPr>
          <p:nvPr/>
        </p:nvSpPr>
        <p:spPr bwMode="auto">
          <a:xfrm flipV="1">
            <a:off x="4425950" y="2889250"/>
            <a:ext cx="2419350" cy="0"/>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3985" name="Text Box 14"/>
          <p:cNvSpPr txBox="1">
            <a:spLocks noChangeArrowheads="1"/>
          </p:cNvSpPr>
          <p:nvPr/>
        </p:nvSpPr>
        <p:spPr bwMode="auto">
          <a:xfrm>
            <a:off x="6800850" y="2714625"/>
            <a:ext cx="18732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1800" dirty="0">
                <a:solidFill>
                  <a:srgbClr val="FF0000"/>
                </a:solidFill>
                <a:latin typeface="Arial" pitchFamily="34" charset="0"/>
              </a:rPr>
              <a:t>Synchronization</a:t>
            </a:r>
            <a:endParaRPr lang="fr-FR" sz="1800" dirty="0">
              <a:solidFill>
                <a:srgbClr val="FF0000"/>
              </a:solidFill>
              <a:latin typeface="Arial" pitchFamily="34" charset="0"/>
            </a:endParaRPr>
          </a:p>
          <a:p>
            <a:r>
              <a:rPr lang="en-US" sz="1800" dirty="0">
                <a:solidFill>
                  <a:srgbClr val="FF0000"/>
                </a:solidFill>
                <a:latin typeface="Arial" pitchFamily="34" charset="0"/>
              </a:rPr>
              <a:t>Bar (Fork)</a:t>
            </a:r>
          </a:p>
        </p:txBody>
      </p:sp>
      <p:sp>
        <p:nvSpPr>
          <p:cNvPr id="83986" name="Line 15"/>
          <p:cNvSpPr>
            <a:spLocks noChangeShapeType="1"/>
          </p:cNvSpPr>
          <p:nvPr/>
        </p:nvSpPr>
        <p:spPr bwMode="auto">
          <a:xfrm flipH="1" flipV="1">
            <a:off x="1771650" y="3841750"/>
            <a:ext cx="449263" cy="454025"/>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3987" name="Text Box 16"/>
          <p:cNvSpPr txBox="1">
            <a:spLocks noChangeArrowheads="1"/>
          </p:cNvSpPr>
          <p:nvPr/>
        </p:nvSpPr>
        <p:spPr bwMode="auto">
          <a:xfrm>
            <a:off x="644525" y="3305175"/>
            <a:ext cx="1198563"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1800" dirty="0">
                <a:solidFill>
                  <a:srgbClr val="FF0000"/>
                </a:solidFill>
                <a:latin typeface="Arial" pitchFamily="34" charset="0"/>
              </a:rPr>
              <a:t>Guard</a:t>
            </a:r>
          </a:p>
          <a:p>
            <a:r>
              <a:rPr lang="en-US" sz="1800" dirty="0">
                <a:solidFill>
                  <a:srgbClr val="FF0000"/>
                </a:solidFill>
                <a:latin typeface="Arial" pitchFamily="34" charset="0"/>
              </a:rPr>
              <a:t>Condition</a:t>
            </a:r>
          </a:p>
        </p:txBody>
      </p:sp>
      <p:sp>
        <p:nvSpPr>
          <p:cNvPr id="83988" name="Text Box 17"/>
          <p:cNvSpPr txBox="1">
            <a:spLocks noChangeArrowheads="1"/>
          </p:cNvSpPr>
          <p:nvPr/>
        </p:nvSpPr>
        <p:spPr bwMode="auto">
          <a:xfrm>
            <a:off x="6800850" y="3878262"/>
            <a:ext cx="18732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1800" dirty="0">
                <a:solidFill>
                  <a:srgbClr val="FF0000"/>
                </a:solidFill>
                <a:latin typeface="Arial" pitchFamily="34" charset="0"/>
              </a:rPr>
              <a:t>Synchronization</a:t>
            </a:r>
            <a:endParaRPr lang="fr-FR" sz="1800" dirty="0">
              <a:solidFill>
                <a:srgbClr val="FF0000"/>
              </a:solidFill>
              <a:latin typeface="Arial" pitchFamily="34" charset="0"/>
            </a:endParaRPr>
          </a:p>
          <a:p>
            <a:r>
              <a:rPr lang="en-US" sz="1800" dirty="0">
                <a:solidFill>
                  <a:srgbClr val="FF0000"/>
                </a:solidFill>
                <a:latin typeface="Arial" pitchFamily="34" charset="0"/>
              </a:rPr>
              <a:t>Bar (Join)</a:t>
            </a:r>
          </a:p>
        </p:txBody>
      </p:sp>
      <p:sp>
        <p:nvSpPr>
          <p:cNvPr id="83989" name="Line 18"/>
          <p:cNvSpPr>
            <a:spLocks noChangeShapeType="1"/>
          </p:cNvSpPr>
          <p:nvPr/>
        </p:nvSpPr>
        <p:spPr bwMode="auto">
          <a:xfrm flipV="1">
            <a:off x="3987800" y="1643062"/>
            <a:ext cx="1079500" cy="762000"/>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3990" name="Text Box 19"/>
          <p:cNvSpPr txBox="1">
            <a:spLocks noChangeArrowheads="1"/>
          </p:cNvSpPr>
          <p:nvPr/>
        </p:nvSpPr>
        <p:spPr bwMode="auto">
          <a:xfrm>
            <a:off x="5003800" y="1439862"/>
            <a:ext cx="111125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1800" dirty="0">
                <a:solidFill>
                  <a:srgbClr val="FF0000"/>
                </a:solidFill>
                <a:latin typeface="Arial" pitchFamily="34" charset="0"/>
              </a:rPr>
              <a:t>Decision</a:t>
            </a:r>
          </a:p>
        </p:txBody>
      </p:sp>
      <p:sp>
        <p:nvSpPr>
          <p:cNvPr id="83991" name="Text Box 20"/>
          <p:cNvSpPr txBox="1">
            <a:spLocks noChangeArrowheads="1"/>
          </p:cNvSpPr>
          <p:nvPr/>
        </p:nvSpPr>
        <p:spPr bwMode="auto">
          <a:xfrm>
            <a:off x="482600" y="1824037"/>
            <a:ext cx="15240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r"/>
            <a:r>
              <a:rPr lang="en-US" sz="1800" dirty="0">
                <a:solidFill>
                  <a:srgbClr val="FF0000"/>
                </a:solidFill>
                <a:latin typeface="Arial" pitchFamily="34" charset="0"/>
              </a:rPr>
              <a:t>Concurrent Threads</a:t>
            </a:r>
          </a:p>
        </p:txBody>
      </p:sp>
      <p:sp>
        <p:nvSpPr>
          <p:cNvPr id="83992" name="Line 21"/>
          <p:cNvSpPr>
            <a:spLocks noChangeShapeType="1"/>
          </p:cNvSpPr>
          <p:nvPr/>
        </p:nvSpPr>
        <p:spPr bwMode="auto">
          <a:xfrm flipV="1">
            <a:off x="6197600" y="5116512"/>
            <a:ext cx="1219200" cy="0"/>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3993" name="Text Box 22"/>
          <p:cNvSpPr txBox="1">
            <a:spLocks noChangeArrowheads="1"/>
          </p:cNvSpPr>
          <p:nvPr/>
        </p:nvSpPr>
        <p:spPr bwMode="auto">
          <a:xfrm>
            <a:off x="7378700" y="4919662"/>
            <a:ext cx="12954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1800" dirty="0">
                <a:solidFill>
                  <a:srgbClr val="FF0000"/>
                </a:solidFill>
                <a:latin typeface="Arial" pitchFamily="34" charset="0"/>
              </a:rPr>
              <a:t>Transition</a:t>
            </a:r>
          </a:p>
        </p:txBody>
      </p:sp>
      <p:sp>
        <p:nvSpPr>
          <p:cNvPr id="794647" name="Oval 23"/>
          <p:cNvSpPr>
            <a:spLocks noChangeArrowheads="1"/>
          </p:cNvSpPr>
          <p:nvPr/>
        </p:nvSpPr>
        <p:spPr bwMode="auto">
          <a:xfrm>
            <a:off x="3721100" y="1185862"/>
            <a:ext cx="204788" cy="192088"/>
          </a:xfrm>
          <a:prstGeom prst="ellipse">
            <a:avLst/>
          </a:prstGeom>
          <a:solidFill>
            <a:schemeClr val="tx2"/>
          </a:solidFill>
          <a:ln w="12700">
            <a:solidFill>
              <a:schemeClr val="tx1"/>
            </a:solidFill>
            <a:round/>
            <a:headEnd/>
            <a:tailEnd/>
          </a:ln>
        </p:spPr>
        <p:txBody>
          <a:bodyPr/>
          <a:lstStyle/>
          <a:p>
            <a:pPr>
              <a:defRPr/>
            </a:pPr>
            <a:endParaRPr lang="en-US">
              <a:ln>
                <a:solidFill>
                  <a:srgbClr val="FF0000"/>
                </a:solidFill>
              </a:ln>
              <a:solidFill>
                <a:srgbClr val="CC0000"/>
              </a:solidFill>
            </a:endParaRPr>
          </a:p>
        </p:txBody>
      </p:sp>
      <p:sp>
        <p:nvSpPr>
          <p:cNvPr id="83995" name="Freeform 24"/>
          <p:cNvSpPr>
            <a:spLocks/>
          </p:cNvSpPr>
          <p:nvPr/>
        </p:nvSpPr>
        <p:spPr bwMode="auto">
          <a:xfrm>
            <a:off x="3822700" y="1377950"/>
            <a:ext cx="52388" cy="303212"/>
          </a:xfrm>
          <a:custGeom>
            <a:avLst/>
            <a:gdLst>
              <a:gd name="T0" fmla="*/ 0 w 5"/>
              <a:gd name="T1" fmla="*/ 0 h 30"/>
              <a:gd name="T2" fmla="*/ 0 w 5"/>
              <a:gd name="T3" fmla="*/ 30 h 30"/>
              <a:gd name="T4" fmla="*/ 5 w 5"/>
              <a:gd name="T5" fmla="*/ 18 h 30"/>
              <a:gd name="T6" fmla="*/ 0 60000 65536"/>
              <a:gd name="T7" fmla="*/ 0 60000 65536"/>
              <a:gd name="T8" fmla="*/ 0 60000 65536"/>
              <a:gd name="T9" fmla="*/ 0 w 5"/>
              <a:gd name="T10" fmla="*/ 0 h 30"/>
              <a:gd name="T11" fmla="*/ 5 w 5"/>
              <a:gd name="T12" fmla="*/ 30 h 30"/>
            </a:gdLst>
            <a:ahLst/>
            <a:cxnLst>
              <a:cxn ang="T6">
                <a:pos x="T0" y="T1"/>
              </a:cxn>
              <a:cxn ang="T7">
                <a:pos x="T2" y="T3"/>
              </a:cxn>
              <a:cxn ang="T8">
                <a:pos x="T4" y="T5"/>
              </a:cxn>
            </a:cxnLst>
            <a:rect l="T9" t="T10" r="T11" b="T12"/>
            <a:pathLst>
              <a:path w="5" h="30">
                <a:moveTo>
                  <a:pt x="0" y="0"/>
                </a:moveTo>
                <a:lnTo>
                  <a:pt x="0" y="30"/>
                </a:lnTo>
                <a:lnTo>
                  <a:pt x="5" y="1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96" name="Line 25"/>
          <p:cNvSpPr>
            <a:spLocks noChangeShapeType="1"/>
          </p:cNvSpPr>
          <p:nvPr/>
        </p:nvSpPr>
        <p:spPr bwMode="auto">
          <a:xfrm flipH="1" flipV="1">
            <a:off x="3771900" y="1560512"/>
            <a:ext cx="50800" cy="1206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997" name="Freeform 26"/>
          <p:cNvSpPr>
            <a:spLocks/>
          </p:cNvSpPr>
          <p:nvPr/>
        </p:nvSpPr>
        <p:spPr bwMode="auto">
          <a:xfrm>
            <a:off x="3578225" y="2366962"/>
            <a:ext cx="469900" cy="212725"/>
          </a:xfrm>
          <a:custGeom>
            <a:avLst/>
            <a:gdLst>
              <a:gd name="T0" fmla="*/ 0 w 326"/>
              <a:gd name="T1" fmla="*/ 78 h 149"/>
              <a:gd name="T2" fmla="*/ 170 w 326"/>
              <a:gd name="T3" fmla="*/ 0 h 149"/>
              <a:gd name="T4" fmla="*/ 326 w 326"/>
              <a:gd name="T5" fmla="*/ 78 h 149"/>
              <a:gd name="T6" fmla="*/ 170 w 326"/>
              <a:gd name="T7" fmla="*/ 149 h 149"/>
              <a:gd name="T8" fmla="*/ 0 w 326"/>
              <a:gd name="T9" fmla="*/ 78 h 149"/>
              <a:gd name="T10" fmla="*/ 0 60000 65536"/>
              <a:gd name="T11" fmla="*/ 0 60000 65536"/>
              <a:gd name="T12" fmla="*/ 0 60000 65536"/>
              <a:gd name="T13" fmla="*/ 0 60000 65536"/>
              <a:gd name="T14" fmla="*/ 0 60000 65536"/>
              <a:gd name="T15" fmla="*/ 0 w 326"/>
              <a:gd name="T16" fmla="*/ 0 h 149"/>
              <a:gd name="T17" fmla="*/ 326 w 326"/>
              <a:gd name="T18" fmla="*/ 149 h 149"/>
            </a:gdLst>
            <a:ahLst/>
            <a:cxnLst>
              <a:cxn ang="T10">
                <a:pos x="T0" y="T1"/>
              </a:cxn>
              <a:cxn ang="T11">
                <a:pos x="T2" y="T3"/>
              </a:cxn>
              <a:cxn ang="T12">
                <a:pos x="T4" y="T5"/>
              </a:cxn>
              <a:cxn ang="T13">
                <a:pos x="T6" y="T7"/>
              </a:cxn>
              <a:cxn ang="T14">
                <a:pos x="T8" y="T9"/>
              </a:cxn>
            </a:cxnLst>
            <a:rect l="T15" t="T16" r="T17" b="T18"/>
            <a:pathLst>
              <a:path w="326" h="149">
                <a:moveTo>
                  <a:pt x="0" y="78"/>
                </a:moveTo>
                <a:lnTo>
                  <a:pt x="170" y="0"/>
                </a:lnTo>
                <a:lnTo>
                  <a:pt x="326" y="78"/>
                </a:lnTo>
                <a:lnTo>
                  <a:pt x="170" y="149"/>
                </a:lnTo>
                <a:lnTo>
                  <a:pt x="0" y="78"/>
                </a:lnTo>
                <a:close/>
              </a:path>
            </a:pathLst>
          </a:custGeom>
          <a:solidFill>
            <a:srgbClr val="FFFFCC"/>
          </a:solidFill>
          <a:ln w="12700">
            <a:solidFill>
              <a:srgbClr val="990033"/>
            </a:solidFill>
            <a:round/>
            <a:headEnd/>
            <a:tailEnd/>
          </a:ln>
        </p:spPr>
        <p:txBody>
          <a:bodyPr/>
          <a:lstStyle/>
          <a:p>
            <a:endParaRPr lang="en-US"/>
          </a:p>
        </p:txBody>
      </p:sp>
      <p:sp>
        <p:nvSpPr>
          <p:cNvPr id="83998" name="Freeform 27"/>
          <p:cNvSpPr>
            <a:spLocks/>
          </p:cNvSpPr>
          <p:nvPr/>
        </p:nvSpPr>
        <p:spPr bwMode="auto">
          <a:xfrm>
            <a:off x="3822700" y="1377950"/>
            <a:ext cx="52388" cy="303212"/>
          </a:xfrm>
          <a:custGeom>
            <a:avLst/>
            <a:gdLst>
              <a:gd name="T0" fmla="*/ 0 w 5"/>
              <a:gd name="T1" fmla="*/ 0 h 30"/>
              <a:gd name="T2" fmla="*/ 0 w 5"/>
              <a:gd name="T3" fmla="*/ 30 h 30"/>
              <a:gd name="T4" fmla="*/ 5 w 5"/>
              <a:gd name="T5" fmla="*/ 18 h 30"/>
              <a:gd name="T6" fmla="*/ 0 60000 65536"/>
              <a:gd name="T7" fmla="*/ 0 60000 65536"/>
              <a:gd name="T8" fmla="*/ 0 60000 65536"/>
              <a:gd name="T9" fmla="*/ 0 w 5"/>
              <a:gd name="T10" fmla="*/ 0 h 30"/>
              <a:gd name="T11" fmla="*/ 5 w 5"/>
              <a:gd name="T12" fmla="*/ 30 h 30"/>
            </a:gdLst>
            <a:ahLst/>
            <a:cxnLst>
              <a:cxn ang="T6">
                <a:pos x="T0" y="T1"/>
              </a:cxn>
              <a:cxn ang="T7">
                <a:pos x="T2" y="T3"/>
              </a:cxn>
              <a:cxn ang="T8">
                <a:pos x="T4" y="T5"/>
              </a:cxn>
            </a:cxnLst>
            <a:rect l="T9" t="T10" r="T11" b="T12"/>
            <a:pathLst>
              <a:path w="5" h="30">
                <a:moveTo>
                  <a:pt x="0" y="0"/>
                </a:moveTo>
                <a:lnTo>
                  <a:pt x="0" y="30"/>
                </a:lnTo>
                <a:lnTo>
                  <a:pt x="5" y="18"/>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999" name="Line 28"/>
          <p:cNvSpPr>
            <a:spLocks noChangeShapeType="1"/>
          </p:cNvSpPr>
          <p:nvPr/>
        </p:nvSpPr>
        <p:spPr bwMode="auto">
          <a:xfrm flipH="1" flipV="1">
            <a:off x="3771900" y="1560512"/>
            <a:ext cx="50800" cy="1206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00" name="Rectangle 29"/>
          <p:cNvSpPr>
            <a:spLocks noChangeArrowheads="1"/>
          </p:cNvSpPr>
          <p:nvPr/>
        </p:nvSpPr>
        <p:spPr bwMode="auto">
          <a:xfrm>
            <a:off x="3349625" y="1725612"/>
            <a:ext cx="9540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eaLnBrk="0" hangingPunct="0"/>
            <a:r>
              <a:rPr lang="en-US" sz="1200">
                <a:solidFill>
                  <a:srgbClr val="000000"/>
                </a:solidFill>
                <a:latin typeface="Arial" pitchFamily="34" charset="0"/>
              </a:rPr>
              <a:t>Select Course</a:t>
            </a:r>
            <a:endParaRPr lang="en-US" sz="1000">
              <a:solidFill>
                <a:schemeClr val="tx1"/>
              </a:solidFill>
              <a:latin typeface="Arial" pitchFamily="34" charset="0"/>
            </a:endParaRPr>
          </a:p>
        </p:txBody>
      </p:sp>
      <p:sp>
        <p:nvSpPr>
          <p:cNvPr id="84001" name="Rectangle 30"/>
          <p:cNvSpPr>
            <a:spLocks noChangeArrowheads="1"/>
          </p:cNvSpPr>
          <p:nvPr/>
        </p:nvSpPr>
        <p:spPr bwMode="auto">
          <a:xfrm>
            <a:off x="3435350" y="2536825"/>
            <a:ext cx="10080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chemeClr val="tx1"/>
                </a:solidFill>
                <a:latin typeface="Arial" pitchFamily="34" charset="0"/>
              </a:rPr>
              <a:t>[ add  course ] </a:t>
            </a:r>
            <a:endParaRPr lang="en-US" sz="1000">
              <a:solidFill>
                <a:schemeClr val="tx1"/>
              </a:solidFill>
              <a:latin typeface="Arial" pitchFamily="34" charset="0"/>
            </a:endParaRPr>
          </a:p>
        </p:txBody>
      </p:sp>
      <p:grpSp>
        <p:nvGrpSpPr>
          <p:cNvPr id="84002" name="Group 31"/>
          <p:cNvGrpSpPr>
            <a:grpSpLocks/>
          </p:cNvGrpSpPr>
          <p:nvPr/>
        </p:nvGrpSpPr>
        <p:grpSpPr bwMode="auto">
          <a:xfrm>
            <a:off x="2401888" y="3284537"/>
            <a:ext cx="1081087" cy="436563"/>
            <a:chOff x="1630" y="1850"/>
            <a:chExt cx="681" cy="275"/>
          </a:xfrm>
        </p:grpSpPr>
        <p:sp>
          <p:nvSpPr>
            <p:cNvPr id="84040" name="AutoShape 32"/>
            <p:cNvSpPr>
              <a:spLocks noChangeArrowheads="1"/>
            </p:cNvSpPr>
            <p:nvPr/>
          </p:nvSpPr>
          <p:spPr bwMode="auto">
            <a:xfrm>
              <a:off x="1630" y="1850"/>
              <a:ext cx="681" cy="275"/>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4041" name="Rectangle 33"/>
            <p:cNvSpPr>
              <a:spLocks noChangeArrowheads="1"/>
            </p:cNvSpPr>
            <p:nvPr/>
          </p:nvSpPr>
          <p:spPr bwMode="auto">
            <a:xfrm>
              <a:off x="1824" y="1873"/>
              <a:ext cx="2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Check </a:t>
              </a:r>
              <a:endParaRPr lang="en-US" sz="1000">
                <a:solidFill>
                  <a:schemeClr val="tx1"/>
                </a:solidFill>
                <a:latin typeface="Arial" pitchFamily="34" charset="0"/>
              </a:endParaRPr>
            </a:p>
          </p:txBody>
        </p:sp>
        <p:sp>
          <p:nvSpPr>
            <p:cNvPr id="84042" name="Rectangle 34"/>
            <p:cNvSpPr>
              <a:spLocks noChangeArrowheads="1"/>
            </p:cNvSpPr>
            <p:nvPr/>
          </p:nvSpPr>
          <p:spPr bwMode="auto">
            <a:xfrm>
              <a:off x="1779" y="1975"/>
              <a:ext cx="3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Schedule</a:t>
              </a:r>
              <a:endParaRPr lang="en-US" sz="1000">
                <a:solidFill>
                  <a:schemeClr val="tx1"/>
                </a:solidFill>
                <a:latin typeface="Arial" pitchFamily="34" charset="0"/>
              </a:endParaRPr>
            </a:p>
          </p:txBody>
        </p:sp>
      </p:grpSp>
      <p:grpSp>
        <p:nvGrpSpPr>
          <p:cNvPr id="84003" name="Group 35"/>
          <p:cNvGrpSpPr>
            <a:grpSpLocks/>
          </p:cNvGrpSpPr>
          <p:nvPr/>
        </p:nvGrpSpPr>
        <p:grpSpPr bwMode="auto">
          <a:xfrm>
            <a:off x="4330700" y="3284537"/>
            <a:ext cx="1081088" cy="436563"/>
            <a:chOff x="2626" y="1850"/>
            <a:chExt cx="681" cy="275"/>
          </a:xfrm>
        </p:grpSpPr>
        <p:sp>
          <p:nvSpPr>
            <p:cNvPr id="84037" name="AutoShape 36"/>
            <p:cNvSpPr>
              <a:spLocks noChangeArrowheads="1"/>
            </p:cNvSpPr>
            <p:nvPr/>
          </p:nvSpPr>
          <p:spPr bwMode="auto">
            <a:xfrm>
              <a:off x="2626" y="1850"/>
              <a:ext cx="681" cy="275"/>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4038" name="Rectangle 37"/>
            <p:cNvSpPr>
              <a:spLocks noChangeArrowheads="1"/>
            </p:cNvSpPr>
            <p:nvPr/>
          </p:nvSpPr>
          <p:spPr bwMode="auto">
            <a:xfrm>
              <a:off x="2797" y="1873"/>
              <a:ext cx="2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Check </a:t>
              </a:r>
              <a:endParaRPr lang="en-US" sz="1000">
                <a:solidFill>
                  <a:schemeClr val="tx1"/>
                </a:solidFill>
                <a:latin typeface="Arial" pitchFamily="34" charset="0"/>
              </a:endParaRPr>
            </a:p>
          </p:txBody>
        </p:sp>
        <p:sp>
          <p:nvSpPr>
            <p:cNvPr id="84039" name="Rectangle 38"/>
            <p:cNvSpPr>
              <a:spLocks noChangeArrowheads="1"/>
            </p:cNvSpPr>
            <p:nvPr/>
          </p:nvSpPr>
          <p:spPr bwMode="auto">
            <a:xfrm>
              <a:off x="2675" y="1975"/>
              <a:ext cx="59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Pre-requisites</a:t>
              </a:r>
              <a:endParaRPr lang="en-US" sz="1000">
                <a:solidFill>
                  <a:schemeClr val="tx1"/>
                </a:solidFill>
                <a:latin typeface="Arial" pitchFamily="34" charset="0"/>
              </a:endParaRPr>
            </a:p>
          </p:txBody>
        </p:sp>
      </p:grpSp>
      <p:grpSp>
        <p:nvGrpSpPr>
          <p:cNvPr id="84004" name="Group 39"/>
          <p:cNvGrpSpPr>
            <a:grpSpLocks/>
          </p:cNvGrpSpPr>
          <p:nvPr/>
        </p:nvGrpSpPr>
        <p:grpSpPr bwMode="auto">
          <a:xfrm>
            <a:off x="2401888" y="4941887"/>
            <a:ext cx="1081087" cy="436563"/>
            <a:chOff x="1540" y="2894"/>
            <a:chExt cx="681" cy="275"/>
          </a:xfrm>
        </p:grpSpPr>
        <p:sp>
          <p:nvSpPr>
            <p:cNvPr id="84034" name="AutoShape 40"/>
            <p:cNvSpPr>
              <a:spLocks noChangeArrowheads="1"/>
            </p:cNvSpPr>
            <p:nvPr/>
          </p:nvSpPr>
          <p:spPr bwMode="auto">
            <a:xfrm>
              <a:off x="1540" y="2894"/>
              <a:ext cx="681" cy="275"/>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4035" name="Rectangle 41"/>
            <p:cNvSpPr>
              <a:spLocks noChangeArrowheads="1"/>
            </p:cNvSpPr>
            <p:nvPr/>
          </p:nvSpPr>
          <p:spPr bwMode="auto">
            <a:xfrm>
              <a:off x="1661" y="2911"/>
              <a:ext cx="42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Assign to </a:t>
              </a:r>
              <a:endParaRPr lang="en-US" sz="1000">
                <a:solidFill>
                  <a:schemeClr val="tx1"/>
                </a:solidFill>
                <a:latin typeface="Arial" pitchFamily="34" charset="0"/>
              </a:endParaRPr>
            </a:p>
          </p:txBody>
        </p:sp>
        <p:sp>
          <p:nvSpPr>
            <p:cNvPr id="84036" name="Rectangle 42"/>
            <p:cNvSpPr>
              <a:spLocks noChangeArrowheads="1"/>
            </p:cNvSpPr>
            <p:nvPr/>
          </p:nvSpPr>
          <p:spPr bwMode="auto">
            <a:xfrm>
              <a:off x="1713" y="3014"/>
              <a:ext cx="30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Course</a:t>
              </a:r>
              <a:endParaRPr lang="en-US" sz="1000">
                <a:solidFill>
                  <a:schemeClr val="tx1"/>
                </a:solidFill>
                <a:latin typeface="Arial" pitchFamily="34" charset="0"/>
              </a:endParaRPr>
            </a:p>
          </p:txBody>
        </p:sp>
      </p:grpSp>
      <p:sp>
        <p:nvSpPr>
          <p:cNvPr id="84005" name="Freeform 43"/>
          <p:cNvSpPr>
            <a:spLocks/>
          </p:cNvSpPr>
          <p:nvPr/>
        </p:nvSpPr>
        <p:spPr bwMode="auto">
          <a:xfrm>
            <a:off x="2933700" y="5354637"/>
            <a:ext cx="1588" cy="222250"/>
          </a:xfrm>
          <a:custGeom>
            <a:avLst/>
            <a:gdLst>
              <a:gd name="T0" fmla="*/ 0 w 1"/>
              <a:gd name="T1" fmla="*/ 0 h 140"/>
              <a:gd name="T2" fmla="*/ 0 w 1"/>
              <a:gd name="T3" fmla="*/ 140 h 140"/>
              <a:gd name="T4" fmla="*/ 0 60000 65536"/>
              <a:gd name="T5" fmla="*/ 0 60000 65536"/>
              <a:gd name="T6" fmla="*/ 0 w 1"/>
              <a:gd name="T7" fmla="*/ 0 h 140"/>
              <a:gd name="T8" fmla="*/ 1 w 1"/>
              <a:gd name="T9" fmla="*/ 140 h 140"/>
            </a:gdLst>
            <a:ahLst/>
            <a:cxnLst>
              <a:cxn ang="T4">
                <a:pos x="T0" y="T1"/>
              </a:cxn>
              <a:cxn ang="T5">
                <a:pos x="T2" y="T3"/>
              </a:cxn>
            </a:cxnLst>
            <a:rect l="T6" t="T7" r="T8" b="T9"/>
            <a:pathLst>
              <a:path w="1" h="140">
                <a:moveTo>
                  <a:pt x="0" y="0"/>
                </a:moveTo>
                <a:lnTo>
                  <a:pt x="0" y="140"/>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006" name="Freeform 44"/>
          <p:cNvSpPr>
            <a:spLocks/>
          </p:cNvSpPr>
          <p:nvPr/>
        </p:nvSpPr>
        <p:spPr bwMode="auto">
          <a:xfrm>
            <a:off x="2943225" y="4535487"/>
            <a:ext cx="687388" cy="423863"/>
          </a:xfrm>
          <a:custGeom>
            <a:avLst/>
            <a:gdLst>
              <a:gd name="T0" fmla="*/ 433 w 433"/>
              <a:gd name="T1" fmla="*/ 0 h 267"/>
              <a:gd name="T2" fmla="*/ 0 w 433"/>
              <a:gd name="T3" fmla="*/ 0 h 267"/>
              <a:gd name="T4" fmla="*/ 0 w 433"/>
              <a:gd name="T5" fmla="*/ 267 h 267"/>
              <a:gd name="T6" fmla="*/ 0 60000 65536"/>
              <a:gd name="T7" fmla="*/ 0 60000 65536"/>
              <a:gd name="T8" fmla="*/ 0 60000 65536"/>
              <a:gd name="T9" fmla="*/ 0 w 433"/>
              <a:gd name="T10" fmla="*/ 0 h 267"/>
              <a:gd name="T11" fmla="*/ 433 w 433"/>
              <a:gd name="T12" fmla="*/ 267 h 267"/>
            </a:gdLst>
            <a:ahLst/>
            <a:cxnLst>
              <a:cxn ang="T6">
                <a:pos x="T0" y="T1"/>
              </a:cxn>
              <a:cxn ang="T7">
                <a:pos x="T2" y="T3"/>
              </a:cxn>
              <a:cxn ang="T8">
                <a:pos x="T4" y="T5"/>
              </a:cxn>
            </a:cxnLst>
            <a:rect l="T9" t="T10" r="T11" b="T12"/>
            <a:pathLst>
              <a:path w="433" h="267">
                <a:moveTo>
                  <a:pt x="433" y="0"/>
                </a:moveTo>
                <a:lnTo>
                  <a:pt x="0" y="0"/>
                </a:lnTo>
                <a:lnTo>
                  <a:pt x="0" y="267"/>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4007" name="Group 45"/>
          <p:cNvGrpSpPr>
            <a:grpSpLocks/>
          </p:cNvGrpSpPr>
          <p:nvPr/>
        </p:nvGrpSpPr>
        <p:grpSpPr bwMode="auto">
          <a:xfrm>
            <a:off x="4330700" y="4941887"/>
            <a:ext cx="1081088" cy="436563"/>
            <a:chOff x="2722" y="2894"/>
            <a:chExt cx="681" cy="275"/>
          </a:xfrm>
        </p:grpSpPr>
        <p:sp>
          <p:nvSpPr>
            <p:cNvPr id="84031" name="AutoShape 46"/>
            <p:cNvSpPr>
              <a:spLocks noChangeArrowheads="1"/>
            </p:cNvSpPr>
            <p:nvPr/>
          </p:nvSpPr>
          <p:spPr bwMode="auto">
            <a:xfrm>
              <a:off x="2722" y="2894"/>
              <a:ext cx="681" cy="275"/>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4032" name="Rectangle 47"/>
            <p:cNvSpPr>
              <a:spLocks noChangeArrowheads="1"/>
            </p:cNvSpPr>
            <p:nvPr/>
          </p:nvSpPr>
          <p:spPr bwMode="auto">
            <a:xfrm>
              <a:off x="2888" y="2911"/>
              <a:ext cx="37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Resolve </a:t>
              </a:r>
              <a:endParaRPr lang="en-US" sz="1000">
                <a:solidFill>
                  <a:schemeClr val="tx1"/>
                </a:solidFill>
                <a:latin typeface="Arial" pitchFamily="34" charset="0"/>
              </a:endParaRPr>
            </a:p>
          </p:txBody>
        </p:sp>
        <p:sp>
          <p:nvSpPr>
            <p:cNvPr id="84033" name="Rectangle 48"/>
            <p:cNvSpPr>
              <a:spLocks noChangeArrowheads="1"/>
            </p:cNvSpPr>
            <p:nvPr/>
          </p:nvSpPr>
          <p:spPr bwMode="auto">
            <a:xfrm>
              <a:off x="2888" y="3014"/>
              <a:ext cx="36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Conflicts</a:t>
              </a:r>
              <a:endParaRPr lang="en-US" sz="1000">
                <a:solidFill>
                  <a:schemeClr val="tx1"/>
                </a:solidFill>
                <a:latin typeface="Arial" pitchFamily="34" charset="0"/>
              </a:endParaRPr>
            </a:p>
          </p:txBody>
        </p:sp>
      </p:grpSp>
      <p:sp>
        <p:nvSpPr>
          <p:cNvPr id="84008" name="Freeform 49"/>
          <p:cNvSpPr>
            <a:spLocks/>
          </p:cNvSpPr>
          <p:nvPr/>
        </p:nvSpPr>
        <p:spPr bwMode="auto">
          <a:xfrm>
            <a:off x="4119563" y="4535487"/>
            <a:ext cx="755650" cy="423863"/>
          </a:xfrm>
          <a:custGeom>
            <a:avLst/>
            <a:gdLst>
              <a:gd name="T0" fmla="*/ 0 w 476"/>
              <a:gd name="T1" fmla="*/ 0 h 267"/>
              <a:gd name="T2" fmla="*/ 476 w 476"/>
              <a:gd name="T3" fmla="*/ 0 h 267"/>
              <a:gd name="T4" fmla="*/ 476 w 476"/>
              <a:gd name="T5" fmla="*/ 267 h 267"/>
              <a:gd name="T6" fmla="*/ 0 60000 65536"/>
              <a:gd name="T7" fmla="*/ 0 60000 65536"/>
              <a:gd name="T8" fmla="*/ 0 60000 65536"/>
              <a:gd name="T9" fmla="*/ 0 w 476"/>
              <a:gd name="T10" fmla="*/ 0 h 267"/>
              <a:gd name="T11" fmla="*/ 476 w 476"/>
              <a:gd name="T12" fmla="*/ 267 h 267"/>
            </a:gdLst>
            <a:ahLst/>
            <a:cxnLst>
              <a:cxn ang="T6">
                <a:pos x="T0" y="T1"/>
              </a:cxn>
              <a:cxn ang="T7">
                <a:pos x="T2" y="T3"/>
              </a:cxn>
              <a:cxn ang="T8">
                <a:pos x="T4" y="T5"/>
              </a:cxn>
            </a:cxnLst>
            <a:rect l="T9" t="T10" r="T11" b="T12"/>
            <a:pathLst>
              <a:path w="476" h="267">
                <a:moveTo>
                  <a:pt x="0" y="0"/>
                </a:moveTo>
                <a:lnTo>
                  <a:pt x="476" y="0"/>
                </a:lnTo>
                <a:lnTo>
                  <a:pt x="476" y="267"/>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4009" name="Group 50"/>
          <p:cNvGrpSpPr>
            <a:grpSpLocks/>
          </p:cNvGrpSpPr>
          <p:nvPr/>
        </p:nvGrpSpPr>
        <p:grpSpPr bwMode="auto">
          <a:xfrm>
            <a:off x="2401888" y="5570537"/>
            <a:ext cx="1081087" cy="436563"/>
            <a:chOff x="1540" y="3290"/>
            <a:chExt cx="681" cy="275"/>
          </a:xfrm>
        </p:grpSpPr>
        <p:sp>
          <p:nvSpPr>
            <p:cNvPr id="84028" name="AutoShape 51"/>
            <p:cNvSpPr>
              <a:spLocks noChangeArrowheads="1"/>
            </p:cNvSpPr>
            <p:nvPr/>
          </p:nvSpPr>
          <p:spPr bwMode="auto">
            <a:xfrm>
              <a:off x="1540" y="3290"/>
              <a:ext cx="681" cy="275"/>
            </a:xfrm>
            <a:prstGeom prst="roundRect">
              <a:avLst>
                <a:gd name="adj" fmla="val 16667"/>
              </a:avLst>
            </a:prstGeom>
            <a:solidFill>
              <a:srgbClr val="FFFFCC"/>
            </a:solidFill>
            <a:ln w="0">
              <a:solidFill>
                <a:srgbClr val="990033"/>
              </a:solidFill>
              <a:round/>
              <a:headEnd/>
              <a:tailEnd/>
            </a:ln>
          </p:spPr>
          <p:txBody>
            <a:bodyPr/>
            <a:lstStyle/>
            <a:p>
              <a:endParaRPr lang="en-US"/>
            </a:p>
          </p:txBody>
        </p:sp>
        <p:sp>
          <p:nvSpPr>
            <p:cNvPr id="84029" name="Rectangle 52"/>
            <p:cNvSpPr>
              <a:spLocks noChangeArrowheads="1"/>
            </p:cNvSpPr>
            <p:nvPr/>
          </p:nvSpPr>
          <p:spPr bwMode="auto">
            <a:xfrm>
              <a:off x="1707" y="3307"/>
              <a:ext cx="33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Update </a:t>
              </a:r>
              <a:endParaRPr lang="en-US" sz="1000">
                <a:solidFill>
                  <a:schemeClr val="tx1"/>
                </a:solidFill>
                <a:latin typeface="Arial" pitchFamily="34" charset="0"/>
              </a:endParaRPr>
            </a:p>
          </p:txBody>
        </p:sp>
        <p:sp>
          <p:nvSpPr>
            <p:cNvPr id="84030" name="Rectangle 53"/>
            <p:cNvSpPr>
              <a:spLocks noChangeArrowheads="1"/>
            </p:cNvSpPr>
            <p:nvPr/>
          </p:nvSpPr>
          <p:spPr bwMode="auto">
            <a:xfrm>
              <a:off x="1675" y="3409"/>
              <a:ext cx="3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Schedule</a:t>
              </a:r>
              <a:endParaRPr lang="en-US" sz="1000">
                <a:solidFill>
                  <a:schemeClr val="tx1"/>
                </a:solidFill>
                <a:latin typeface="Arial" pitchFamily="34" charset="0"/>
              </a:endParaRPr>
            </a:p>
          </p:txBody>
        </p:sp>
      </p:grpSp>
      <p:sp>
        <p:nvSpPr>
          <p:cNvPr id="84010" name="Rectangle 54"/>
          <p:cNvSpPr>
            <a:spLocks noChangeArrowheads="1"/>
          </p:cNvSpPr>
          <p:nvPr/>
        </p:nvSpPr>
        <p:spPr bwMode="auto">
          <a:xfrm>
            <a:off x="5689600" y="2335212"/>
            <a:ext cx="9699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rgbClr val="000000"/>
                </a:solidFill>
                <a:latin typeface="Arial" pitchFamily="34" charset="0"/>
              </a:rPr>
              <a:t>Delete Course</a:t>
            </a:r>
            <a:endParaRPr lang="en-US" sz="1000">
              <a:solidFill>
                <a:schemeClr val="tx1"/>
              </a:solidFill>
              <a:latin typeface="Arial" pitchFamily="34" charset="0"/>
            </a:endParaRPr>
          </a:p>
        </p:txBody>
      </p:sp>
      <p:sp>
        <p:nvSpPr>
          <p:cNvPr id="84011" name="Oval 55"/>
          <p:cNvSpPr>
            <a:spLocks noChangeArrowheads="1"/>
          </p:cNvSpPr>
          <p:nvPr/>
        </p:nvSpPr>
        <p:spPr bwMode="auto">
          <a:xfrm>
            <a:off x="3741738" y="6215062"/>
            <a:ext cx="265112" cy="26193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4680" name="Oval 56"/>
          <p:cNvSpPr>
            <a:spLocks noChangeArrowheads="1"/>
          </p:cNvSpPr>
          <p:nvPr/>
        </p:nvSpPr>
        <p:spPr bwMode="auto">
          <a:xfrm>
            <a:off x="3771900" y="6243637"/>
            <a:ext cx="204788" cy="203200"/>
          </a:xfrm>
          <a:prstGeom prst="ellipse">
            <a:avLst/>
          </a:prstGeom>
          <a:solidFill>
            <a:schemeClr val="tx2"/>
          </a:solidFill>
          <a:ln w="12700">
            <a:solidFill>
              <a:schemeClr val="tx1"/>
            </a:solidFill>
            <a:round/>
            <a:headEnd/>
            <a:tailEnd/>
          </a:ln>
        </p:spPr>
        <p:txBody>
          <a:bodyPr/>
          <a:lstStyle/>
          <a:p>
            <a:pPr>
              <a:defRPr/>
            </a:pPr>
            <a:endParaRPr lang="en-US">
              <a:ln>
                <a:solidFill>
                  <a:srgbClr val="FF0000"/>
                </a:solidFill>
              </a:ln>
              <a:solidFill>
                <a:srgbClr val="CC0000"/>
              </a:solidFill>
            </a:endParaRPr>
          </a:p>
        </p:txBody>
      </p:sp>
      <p:sp>
        <p:nvSpPr>
          <p:cNvPr id="84013" name="Freeform 57"/>
          <p:cNvSpPr>
            <a:spLocks/>
          </p:cNvSpPr>
          <p:nvPr/>
        </p:nvSpPr>
        <p:spPr bwMode="auto">
          <a:xfrm>
            <a:off x="3630613" y="4413250"/>
            <a:ext cx="468312" cy="223837"/>
          </a:xfrm>
          <a:custGeom>
            <a:avLst/>
            <a:gdLst>
              <a:gd name="T0" fmla="*/ 0 w 326"/>
              <a:gd name="T1" fmla="*/ 85 h 156"/>
              <a:gd name="T2" fmla="*/ 170 w 326"/>
              <a:gd name="T3" fmla="*/ 0 h 156"/>
              <a:gd name="T4" fmla="*/ 326 w 326"/>
              <a:gd name="T5" fmla="*/ 85 h 156"/>
              <a:gd name="T6" fmla="*/ 170 w 326"/>
              <a:gd name="T7" fmla="*/ 156 h 156"/>
              <a:gd name="T8" fmla="*/ 0 w 326"/>
              <a:gd name="T9" fmla="*/ 85 h 156"/>
              <a:gd name="T10" fmla="*/ 0 60000 65536"/>
              <a:gd name="T11" fmla="*/ 0 60000 65536"/>
              <a:gd name="T12" fmla="*/ 0 60000 65536"/>
              <a:gd name="T13" fmla="*/ 0 60000 65536"/>
              <a:gd name="T14" fmla="*/ 0 60000 65536"/>
              <a:gd name="T15" fmla="*/ 0 w 326"/>
              <a:gd name="T16" fmla="*/ 0 h 156"/>
              <a:gd name="T17" fmla="*/ 326 w 326"/>
              <a:gd name="T18" fmla="*/ 156 h 156"/>
            </a:gdLst>
            <a:ahLst/>
            <a:cxnLst>
              <a:cxn ang="T10">
                <a:pos x="T0" y="T1"/>
              </a:cxn>
              <a:cxn ang="T11">
                <a:pos x="T2" y="T3"/>
              </a:cxn>
              <a:cxn ang="T12">
                <a:pos x="T4" y="T5"/>
              </a:cxn>
              <a:cxn ang="T13">
                <a:pos x="T6" y="T7"/>
              </a:cxn>
              <a:cxn ang="T14">
                <a:pos x="T8" y="T9"/>
              </a:cxn>
            </a:cxnLst>
            <a:rect l="T15" t="T16" r="T17" b="T18"/>
            <a:pathLst>
              <a:path w="326" h="156">
                <a:moveTo>
                  <a:pt x="0" y="85"/>
                </a:moveTo>
                <a:lnTo>
                  <a:pt x="170" y="0"/>
                </a:lnTo>
                <a:lnTo>
                  <a:pt x="326" y="85"/>
                </a:lnTo>
                <a:lnTo>
                  <a:pt x="170" y="156"/>
                </a:lnTo>
                <a:lnTo>
                  <a:pt x="0" y="85"/>
                </a:lnTo>
                <a:close/>
              </a:path>
            </a:pathLst>
          </a:custGeom>
          <a:solidFill>
            <a:srgbClr val="FFFFCC"/>
          </a:solidFill>
          <a:ln w="12700">
            <a:solidFill>
              <a:srgbClr val="990033"/>
            </a:solidFill>
            <a:round/>
            <a:headEnd/>
            <a:tailEnd/>
          </a:ln>
        </p:spPr>
        <p:txBody>
          <a:bodyPr/>
          <a:lstStyle/>
          <a:p>
            <a:endParaRPr lang="en-US"/>
          </a:p>
        </p:txBody>
      </p:sp>
      <p:sp>
        <p:nvSpPr>
          <p:cNvPr id="794682" name="Rectangle 58"/>
          <p:cNvSpPr>
            <a:spLocks noChangeArrowheads="1"/>
          </p:cNvSpPr>
          <p:nvPr/>
        </p:nvSpPr>
        <p:spPr bwMode="auto">
          <a:xfrm>
            <a:off x="3343275" y="2865437"/>
            <a:ext cx="981075" cy="60325"/>
          </a:xfrm>
          <a:prstGeom prst="rect">
            <a:avLst/>
          </a:prstGeom>
          <a:solidFill>
            <a:schemeClr val="tx2"/>
          </a:solidFill>
          <a:ln w="12700">
            <a:solidFill>
              <a:srgbClr val="C0C0C0"/>
            </a:solidFill>
            <a:miter lim="800000"/>
            <a:headEnd/>
            <a:tailEnd/>
          </a:ln>
        </p:spPr>
        <p:txBody>
          <a:bodyPr/>
          <a:lstStyle/>
          <a:p>
            <a:pPr>
              <a:defRPr/>
            </a:pPr>
            <a:endParaRPr lang="en-US">
              <a:ln>
                <a:solidFill>
                  <a:srgbClr val="FF0000"/>
                </a:solidFill>
              </a:ln>
              <a:solidFill>
                <a:srgbClr val="CC0000"/>
              </a:solidFill>
            </a:endParaRPr>
          </a:p>
        </p:txBody>
      </p:sp>
      <p:sp>
        <p:nvSpPr>
          <p:cNvPr id="794683" name="Rectangle 59"/>
          <p:cNvSpPr>
            <a:spLocks noChangeArrowheads="1"/>
          </p:cNvSpPr>
          <p:nvPr/>
        </p:nvSpPr>
        <p:spPr bwMode="auto">
          <a:xfrm>
            <a:off x="3382963" y="4040187"/>
            <a:ext cx="981075" cy="58738"/>
          </a:xfrm>
          <a:prstGeom prst="rect">
            <a:avLst/>
          </a:prstGeom>
          <a:solidFill>
            <a:schemeClr val="tx2"/>
          </a:solidFill>
          <a:ln w="12700">
            <a:solidFill>
              <a:srgbClr val="C0C0C0"/>
            </a:solidFill>
            <a:miter lim="800000"/>
            <a:headEnd/>
            <a:tailEnd/>
          </a:ln>
        </p:spPr>
        <p:txBody>
          <a:bodyPr/>
          <a:lstStyle/>
          <a:p>
            <a:pPr>
              <a:defRPr/>
            </a:pPr>
            <a:endParaRPr lang="en-US">
              <a:ln>
                <a:solidFill>
                  <a:srgbClr val="FF0000"/>
                </a:solidFill>
              </a:ln>
              <a:solidFill>
                <a:srgbClr val="CC0000"/>
              </a:solidFill>
            </a:endParaRPr>
          </a:p>
        </p:txBody>
      </p:sp>
      <p:sp>
        <p:nvSpPr>
          <p:cNvPr id="84016" name="Rectangle 60"/>
          <p:cNvSpPr>
            <a:spLocks noChangeArrowheads="1"/>
          </p:cNvSpPr>
          <p:nvPr/>
        </p:nvSpPr>
        <p:spPr bwMode="auto">
          <a:xfrm>
            <a:off x="2268538" y="4305300"/>
            <a:ext cx="1387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chemeClr val="tx1"/>
                </a:solidFill>
                <a:latin typeface="Arial" pitchFamily="34" charset="0"/>
              </a:rPr>
              <a:t>[ checks completed ]</a:t>
            </a:r>
            <a:endParaRPr lang="en-US" sz="1000">
              <a:solidFill>
                <a:schemeClr val="tx1"/>
              </a:solidFill>
              <a:latin typeface="Arial" pitchFamily="34" charset="0"/>
            </a:endParaRPr>
          </a:p>
        </p:txBody>
      </p:sp>
      <p:sp>
        <p:nvSpPr>
          <p:cNvPr id="84017" name="Rectangle 61"/>
          <p:cNvSpPr>
            <a:spLocks noChangeArrowheads="1"/>
          </p:cNvSpPr>
          <p:nvPr/>
        </p:nvSpPr>
        <p:spPr bwMode="auto">
          <a:xfrm>
            <a:off x="4108450" y="4305300"/>
            <a:ext cx="10493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chemeClr val="tx1"/>
                </a:solidFill>
                <a:latin typeface="Arial" pitchFamily="34" charset="0"/>
              </a:rPr>
              <a:t>[ checks failed ]</a:t>
            </a:r>
            <a:endParaRPr lang="en-US" sz="1000">
              <a:solidFill>
                <a:schemeClr val="tx1"/>
              </a:solidFill>
              <a:latin typeface="Arial" pitchFamily="34" charset="0"/>
            </a:endParaRPr>
          </a:p>
        </p:txBody>
      </p:sp>
      <p:sp>
        <p:nvSpPr>
          <p:cNvPr id="84018" name="Rectangle 62"/>
          <p:cNvSpPr>
            <a:spLocks noChangeArrowheads="1"/>
          </p:cNvSpPr>
          <p:nvPr/>
        </p:nvSpPr>
        <p:spPr bwMode="auto">
          <a:xfrm>
            <a:off x="4425950" y="2236787"/>
            <a:ext cx="10826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eaLnBrk="0" hangingPunct="0"/>
            <a:r>
              <a:rPr lang="en-US" sz="1200">
                <a:solidFill>
                  <a:schemeClr val="tx1"/>
                </a:solidFill>
                <a:latin typeface="Arial" pitchFamily="34" charset="0"/>
              </a:rPr>
              <a:t>[ delete course ]</a:t>
            </a:r>
            <a:endParaRPr lang="en-US" sz="1000">
              <a:solidFill>
                <a:schemeClr val="tx1"/>
              </a:solidFill>
              <a:latin typeface="Arial" pitchFamily="34" charset="0"/>
            </a:endParaRPr>
          </a:p>
        </p:txBody>
      </p:sp>
      <p:sp>
        <p:nvSpPr>
          <p:cNvPr id="84019" name="Line 63"/>
          <p:cNvSpPr>
            <a:spLocks noChangeShapeType="1"/>
          </p:cNvSpPr>
          <p:nvPr/>
        </p:nvSpPr>
        <p:spPr bwMode="auto">
          <a:xfrm flipH="1" flipV="1">
            <a:off x="1946275" y="2306637"/>
            <a:ext cx="1541463" cy="788988"/>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0" name="Line 64"/>
          <p:cNvSpPr>
            <a:spLocks noChangeShapeType="1"/>
          </p:cNvSpPr>
          <p:nvPr/>
        </p:nvSpPr>
        <p:spPr bwMode="auto">
          <a:xfrm>
            <a:off x="4470400" y="4081462"/>
            <a:ext cx="2352675" cy="3175"/>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1" name="Freeform 65"/>
          <p:cNvSpPr>
            <a:spLocks/>
          </p:cNvSpPr>
          <p:nvPr/>
        </p:nvSpPr>
        <p:spPr bwMode="auto">
          <a:xfrm>
            <a:off x="4117975" y="3686175"/>
            <a:ext cx="325438" cy="334962"/>
          </a:xfrm>
          <a:custGeom>
            <a:avLst/>
            <a:gdLst>
              <a:gd name="T0" fmla="*/ 316 w 316"/>
              <a:gd name="T1" fmla="*/ 0 h 211"/>
              <a:gd name="T2" fmla="*/ 0 w 316"/>
              <a:gd name="T3" fmla="*/ 211 h 211"/>
              <a:gd name="T4" fmla="*/ 0 60000 65536"/>
              <a:gd name="T5" fmla="*/ 0 60000 65536"/>
              <a:gd name="T6" fmla="*/ 0 w 316"/>
              <a:gd name="T7" fmla="*/ 0 h 211"/>
              <a:gd name="T8" fmla="*/ 316 w 316"/>
              <a:gd name="T9" fmla="*/ 211 h 211"/>
            </a:gdLst>
            <a:ahLst/>
            <a:cxnLst>
              <a:cxn ang="T4">
                <a:pos x="T0" y="T1"/>
              </a:cxn>
              <a:cxn ang="T5">
                <a:pos x="T2" y="T3"/>
              </a:cxn>
            </a:cxnLst>
            <a:rect l="T6" t="T7" r="T8" b="T9"/>
            <a:pathLst>
              <a:path w="316" h="211">
                <a:moveTo>
                  <a:pt x="316" y="0"/>
                </a:moveTo>
                <a:lnTo>
                  <a:pt x="0" y="211"/>
                </a:lnTo>
              </a:path>
            </a:pathLst>
          </a:custGeom>
          <a:noFill/>
          <a:ln w="12700">
            <a:solidFill>
              <a:schemeClr val="tx1"/>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022" name="Line 66"/>
          <p:cNvSpPr>
            <a:spLocks noChangeShapeType="1"/>
          </p:cNvSpPr>
          <p:nvPr/>
        </p:nvSpPr>
        <p:spPr bwMode="auto">
          <a:xfrm>
            <a:off x="4038600" y="2471737"/>
            <a:ext cx="1571625" cy="0"/>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3" name="Line 67"/>
          <p:cNvSpPr>
            <a:spLocks noChangeShapeType="1"/>
          </p:cNvSpPr>
          <p:nvPr/>
        </p:nvSpPr>
        <p:spPr bwMode="auto">
          <a:xfrm>
            <a:off x="3943350" y="2919412"/>
            <a:ext cx="466725" cy="361950"/>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4" name="Line 68"/>
          <p:cNvSpPr>
            <a:spLocks noChangeShapeType="1"/>
          </p:cNvSpPr>
          <p:nvPr/>
        </p:nvSpPr>
        <p:spPr bwMode="auto">
          <a:xfrm flipH="1" flipV="1">
            <a:off x="1943100" y="2303462"/>
            <a:ext cx="2139950" cy="782638"/>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5" name="Line 69"/>
          <p:cNvSpPr>
            <a:spLocks noChangeShapeType="1"/>
          </p:cNvSpPr>
          <p:nvPr/>
        </p:nvSpPr>
        <p:spPr bwMode="auto">
          <a:xfrm>
            <a:off x="6181725" y="2690812"/>
            <a:ext cx="0" cy="36671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6" name="Line 70"/>
          <p:cNvSpPr>
            <a:spLocks noChangeShapeType="1"/>
          </p:cNvSpPr>
          <p:nvPr/>
        </p:nvSpPr>
        <p:spPr bwMode="auto">
          <a:xfrm flipH="1">
            <a:off x="4048125" y="6367462"/>
            <a:ext cx="2133600" cy="0"/>
          </a:xfrm>
          <a:prstGeom prst="line">
            <a:avLst/>
          </a:prstGeom>
          <a:noFill/>
          <a:ln w="9525">
            <a:solidFill>
              <a:schemeClr val="tx1"/>
            </a:solidFill>
            <a:round/>
            <a:headEnd/>
            <a:tailEnd type="arrow" w="lg" len="med"/>
          </a:ln>
          <a:extLst>
            <a:ext uri="{909E8E84-426E-40DD-AFC4-6F175D3DCCD1}">
              <a14:hiddenFill xmlns:a14="http://schemas.microsoft.com/office/drawing/2010/main">
                <a:noFill/>
              </a14:hiddenFill>
            </a:ext>
          </a:extLst>
        </p:spPr>
        <p:txBody>
          <a:bodyPr lIns="107950" tIns="53975" rIns="107950" bIns="53975"/>
          <a:lstStyle/>
          <a:p>
            <a:endParaRPr lang="en-US"/>
          </a:p>
        </p:txBody>
      </p:sp>
      <p:sp>
        <p:nvSpPr>
          <p:cNvPr id="84027" name="Text Box 71"/>
          <p:cNvSpPr txBox="1">
            <a:spLocks noChangeArrowheads="1"/>
          </p:cNvSpPr>
          <p:nvPr/>
        </p:nvSpPr>
        <p:spPr bwMode="auto">
          <a:xfrm>
            <a:off x="7375525" y="1617662"/>
            <a:ext cx="176847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1800" dirty="0">
                <a:solidFill>
                  <a:srgbClr val="FF0000"/>
                </a:solidFill>
                <a:latin typeface="Arial" pitchFamily="34" charset="0"/>
              </a:rPr>
              <a:t>Activity/Action</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75</a:t>
            </a:fld>
            <a:endParaRPr lang="en-US"/>
          </a:p>
        </p:txBody>
      </p:sp>
    </p:spTree>
    <p:extLst>
      <p:ext uri="{BB962C8B-B14F-4D97-AF65-F5344CB8AC3E}">
        <p14:creationId xmlns:p14="http://schemas.microsoft.com/office/powerpoint/2010/main" val="196791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p:txBody>
          <a:bodyPr/>
          <a:lstStyle/>
          <a:p>
            <a:pPr eaLnBrk="1" hangingPunct="1">
              <a:defRPr/>
            </a:pPr>
            <a:r>
              <a:rPr lang="en-US" sz="2800" dirty="0"/>
              <a:t>Review</a:t>
            </a:r>
          </a:p>
        </p:txBody>
      </p:sp>
      <p:sp>
        <p:nvSpPr>
          <p:cNvPr id="84998" name="Rectangle 3"/>
          <p:cNvSpPr>
            <a:spLocks noGrp="1" noChangeArrowheads="1"/>
          </p:cNvSpPr>
          <p:nvPr>
            <p:ph type="body" idx="1"/>
          </p:nvPr>
        </p:nvSpPr>
        <p:spPr/>
        <p:txBody>
          <a:bodyPr/>
          <a:lstStyle/>
          <a:p>
            <a:pPr marL="230188" indent="-230188" eaLnBrk="1" hangingPunct="1">
              <a:lnSpc>
                <a:spcPct val="100000"/>
              </a:lnSpc>
            </a:pPr>
            <a:r>
              <a:rPr lang="en-US" sz="2000" dirty="0"/>
              <a:t>What is the basic flow?</a:t>
            </a:r>
          </a:p>
          <a:p>
            <a:pPr marL="230188" indent="-230188" eaLnBrk="1" hangingPunct="1">
              <a:lnSpc>
                <a:spcPct val="100000"/>
              </a:lnSpc>
            </a:pPr>
            <a:r>
              <a:rPr lang="en-US" sz="2000" dirty="0"/>
              <a:t>What is an alternative flow?</a:t>
            </a:r>
          </a:p>
          <a:p>
            <a:pPr marL="230188" indent="-230188" eaLnBrk="1" hangingPunct="1">
              <a:lnSpc>
                <a:spcPct val="100000"/>
              </a:lnSpc>
            </a:pPr>
            <a:r>
              <a:rPr lang="en-US" sz="2000" dirty="0"/>
              <a:t>What is a scenario?</a:t>
            </a:r>
          </a:p>
          <a:p>
            <a:pPr marL="230188" indent="-230188" eaLnBrk="1" hangingPunct="1">
              <a:lnSpc>
                <a:spcPct val="100000"/>
              </a:lnSpc>
            </a:pPr>
            <a:r>
              <a:rPr lang="en-US" sz="2000" dirty="0"/>
              <a:t>Why do you capture use-case scenarios?</a:t>
            </a:r>
          </a:p>
          <a:p>
            <a:pPr marL="230188" indent="-230188" eaLnBrk="1" hangingPunct="1">
              <a:lnSpc>
                <a:spcPct val="100000"/>
              </a:lnSpc>
            </a:pPr>
            <a:r>
              <a:rPr lang="en-US" sz="2000" dirty="0"/>
              <a:t>Where do you collect requirements other than use cases?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76</a:t>
            </a:fld>
            <a:endParaRPr lang="en-US"/>
          </a:p>
        </p:txBody>
      </p:sp>
    </p:spTree>
    <p:extLst>
      <p:ext uri="{BB962C8B-B14F-4D97-AF65-F5344CB8AC3E}">
        <p14:creationId xmlns:p14="http://schemas.microsoft.com/office/powerpoint/2010/main" val="12571535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p:txBody>
          <a:bodyPr/>
          <a:lstStyle/>
          <a:p>
            <a:pPr eaLnBrk="1" hangingPunct="1">
              <a:defRPr/>
            </a:pPr>
            <a:r>
              <a:rPr lang="en-US" sz="2800" dirty="0"/>
              <a:t>Exercise 3: Outlining use cases</a:t>
            </a:r>
          </a:p>
        </p:txBody>
      </p:sp>
      <p:sp>
        <p:nvSpPr>
          <p:cNvPr id="86022" name="Rectangle 3"/>
          <p:cNvSpPr>
            <a:spLocks noGrp="1" noChangeArrowheads="1"/>
          </p:cNvSpPr>
          <p:nvPr>
            <p:ph type="body" sz="half" idx="1"/>
          </p:nvPr>
        </p:nvSpPr>
        <p:spPr>
          <a:xfrm>
            <a:off x="2590800" y="990600"/>
            <a:ext cx="6230938" cy="5468938"/>
          </a:xfrm>
        </p:spPr>
        <p:txBody>
          <a:bodyPr/>
          <a:lstStyle/>
          <a:p>
            <a:pPr marL="230188" indent="-230188" eaLnBrk="1" hangingPunct="1">
              <a:lnSpc>
                <a:spcPct val="100000"/>
              </a:lnSpc>
            </a:pPr>
            <a:r>
              <a:rPr lang="en-US" sz="2000" dirty="0"/>
              <a:t>In this exercise, you outline a use case</a:t>
            </a:r>
          </a:p>
        </p:txBody>
      </p:sp>
      <p:pic>
        <p:nvPicPr>
          <p:cNvPr id="86023" name="Picture 4" descr="exercise"/>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8313" y="1182688"/>
            <a:ext cx="1716087" cy="1392237"/>
          </a:xfrm>
          <a:noFill/>
        </p:spPr>
      </p:pic>
      <p:sp>
        <p:nvSpPr>
          <p:cNvPr id="2" name="Slide Number Placeholder 1"/>
          <p:cNvSpPr>
            <a:spLocks noGrp="1"/>
          </p:cNvSpPr>
          <p:nvPr>
            <p:ph type="sldNum" sz="quarter" idx="12"/>
          </p:nvPr>
        </p:nvSpPr>
        <p:spPr/>
        <p:txBody>
          <a:bodyPr/>
          <a:lstStyle/>
          <a:p>
            <a:pPr>
              <a:defRPr/>
            </a:pPr>
            <a:fld id="{DBF0D3E2-D141-4F40-B95C-01950E48E834}" type="slidenum">
              <a:rPr lang="en-US" smtClean="0"/>
              <a:pPr>
                <a:defRPr/>
              </a:pPr>
              <a:t>77</a:t>
            </a:fld>
            <a:endParaRPr lang="en-US"/>
          </a:p>
        </p:txBody>
      </p:sp>
    </p:spTree>
    <p:custDataLst>
      <p:tags r:id="rId1"/>
    </p:custDataLst>
    <p:extLst>
      <p:ext uri="{BB962C8B-B14F-4D97-AF65-F5344CB8AC3E}">
        <p14:creationId xmlns:p14="http://schemas.microsoft.com/office/powerpoint/2010/main" val="19266603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Rectangle 2"/>
          <p:cNvSpPr>
            <a:spLocks noChangeArrowheads="1"/>
          </p:cNvSpPr>
          <p:nvPr/>
        </p:nvSpPr>
        <p:spPr bwMode="auto">
          <a:xfrm>
            <a:off x="381000" y="4267200"/>
            <a:ext cx="2895600" cy="1066800"/>
          </a:xfrm>
          <a:prstGeom prst="rect">
            <a:avLst/>
          </a:prstGeom>
          <a:gradFill rotWithShape="1">
            <a:gsLst>
              <a:gs pos="0">
                <a:srgbClr val="888888"/>
              </a:gs>
              <a:gs pos="50000">
                <a:srgbClr val="999999"/>
              </a:gs>
              <a:gs pos="100000">
                <a:srgbClr val="888888"/>
              </a:gs>
            </a:gsLst>
            <a:lin ang="5400000" scaled="1"/>
          </a:gradFill>
          <a:ln w="9525">
            <a:solidFill>
              <a:schemeClr val="tx1"/>
            </a:solidFill>
            <a:miter lim="800000"/>
            <a:headEnd/>
            <a:tailEnd/>
          </a:ln>
        </p:spPr>
        <p:txBody>
          <a:bodyPr wrap="none" anchor="ctr"/>
          <a:lstStyle/>
          <a:p>
            <a:pPr algn="ctr"/>
            <a:endParaRPr lang="en-US" sz="2400">
              <a:solidFill>
                <a:schemeClr val="tx1"/>
              </a:solidFill>
            </a:endParaRPr>
          </a:p>
        </p:txBody>
      </p:sp>
      <p:sp>
        <p:nvSpPr>
          <p:cNvPr id="686083" name="Rectangle 3"/>
          <p:cNvSpPr>
            <a:spLocks noGrp="1" noChangeArrowheads="1"/>
          </p:cNvSpPr>
          <p:nvPr>
            <p:ph type="title"/>
          </p:nvPr>
        </p:nvSpPr>
        <p:spPr/>
        <p:txBody>
          <a:bodyPr/>
          <a:lstStyle/>
          <a:p>
            <a:pPr eaLnBrk="1" hangingPunct="1">
              <a:defRPr/>
            </a:pPr>
            <a:r>
              <a:rPr lang="en-US" sz="2800" dirty="0"/>
              <a:t>Process of writing use cases</a:t>
            </a:r>
          </a:p>
        </p:txBody>
      </p:sp>
      <p:sp>
        <p:nvSpPr>
          <p:cNvPr id="87047" name="AutoShape 4"/>
          <p:cNvSpPr>
            <a:spLocks noChangeArrowheads="1"/>
          </p:cNvSpPr>
          <p:nvPr/>
        </p:nvSpPr>
        <p:spPr bwMode="auto">
          <a:xfrm>
            <a:off x="4191000" y="1371600"/>
            <a:ext cx="4495800" cy="5257800"/>
          </a:xfrm>
          <a:prstGeom prst="roundRect">
            <a:avLst>
              <a:gd name="adj" fmla="val 16667"/>
            </a:avLst>
          </a:prstGeom>
          <a:gradFill rotWithShape="1">
            <a:gsLst>
              <a:gs pos="0">
                <a:srgbClr val="96B5F3"/>
              </a:gs>
              <a:gs pos="50000">
                <a:srgbClr val="9DBEFF"/>
              </a:gs>
              <a:gs pos="100000">
                <a:srgbClr val="96B5F3"/>
              </a:gs>
            </a:gsLst>
            <a:lin ang="5400000" scaled="1"/>
          </a:gradFill>
          <a:ln w="9525">
            <a:solidFill>
              <a:schemeClr val="tx1"/>
            </a:solidFill>
            <a:round/>
            <a:headEnd/>
            <a:tailEnd/>
          </a:ln>
        </p:spPr>
        <p:txBody>
          <a:bodyPr wrap="none" anchor="ctr"/>
          <a:lstStyle/>
          <a:p>
            <a:endParaRPr lang="en-US"/>
          </a:p>
        </p:txBody>
      </p:sp>
      <p:sp>
        <p:nvSpPr>
          <p:cNvPr id="87048" name="Text Box 5"/>
          <p:cNvSpPr txBox="1">
            <a:spLocks noChangeArrowheads="1"/>
          </p:cNvSpPr>
          <p:nvPr/>
        </p:nvSpPr>
        <p:spPr bwMode="auto">
          <a:xfrm>
            <a:off x="4572000" y="24384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endParaRPr lang="en-US" sz="2400">
              <a:solidFill>
                <a:schemeClr val="tx1"/>
              </a:solidFill>
            </a:endParaRPr>
          </a:p>
        </p:txBody>
      </p:sp>
      <p:sp>
        <p:nvSpPr>
          <p:cNvPr id="87049" name="Rectangle 6"/>
          <p:cNvSpPr>
            <a:spLocks noChangeArrowheads="1"/>
          </p:cNvSpPr>
          <p:nvPr/>
        </p:nvSpPr>
        <p:spPr bwMode="auto">
          <a:xfrm>
            <a:off x="381000" y="5715000"/>
            <a:ext cx="2895600" cy="1066800"/>
          </a:xfrm>
          <a:prstGeom prst="rect">
            <a:avLst/>
          </a:prstGeom>
          <a:gradFill rotWithShape="1">
            <a:gsLst>
              <a:gs pos="0">
                <a:srgbClr val="7791C2"/>
              </a:gs>
              <a:gs pos="50000">
                <a:srgbClr val="9DBEFF"/>
              </a:gs>
              <a:gs pos="100000">
                <a:srgbClr val="7791C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87050" name="Rectangle 7"/>
          <p:cNvSpPr>
            <a:spLocks noChangeArrowheads="1"/>
          </p:cNvSpPr>
          <p:nvPr/>
        </p:nvSpPr>
        <p:spPr bwMode="auto">
          <a:xfrm>
            <a:off x="381000" y="1371600"/>
            <a:ext cx="2895600" cy="1066800"/>
          </a:xfrm>
          <a:prstGeom prst="rect">
            <a:avLst/>
          </a:prstGeom>
          <a:gradFill rotWithShape="1">
            <a:gsLst>
              <a:gs pos="0">
                <a:srgbClr val="888888"/>
              </a:gs>
              <a:gs pos="50000">
                <a:srgbClr val="999999"/>
              </a:gs>
              <a:gs pos="100000">
                <a:srgbClr val="888888"/>
              </a:gs>
            </a:gsLst>
            <a:lin ang="5400000" scaled="1"/>
          </a:gradFill>
          <a:ln w="9525">
            <a:solidFill>
              <a:schemeClr val="tx1"/>
            </a:solidFill>
            <a:miter lim="800000"/>
            <a:headEnd/>
            <a:tailEnd/>
          </a:ln>
        </p:spPr>
        <p:txBody>
          <a:bodyPr wrap="none" anchor="ctr"/>
          <a:lstStyle/>
          <a:p>
            <a:pPr algn="ctr"/>
            <a:endParaRPr lang="en-US" sz="2400">
              <a:solidFill>
                <a:schemeClr val="tx1"/>
              </a:solidFill>
            </a:endParaRPr>
          </a:p>
        </p:txBody>
      </p:sp>
      <p:sp>
        <p:nvSpPr>
          <p:cNvPr id="87051" name="Text Box 8"/>
          <p:cNvSpPr txBox="1">
            <a:spLocks noChangeArrowheads="1"/>
          </p:cNvSpPr>
          <p:nvPr/>
        </p:nvSpPr>
        <p:spPr bwMode="auto">
          <a:xfrm>
            <a:off x="762000" y="1600200"/>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actors</a:t>
            </a:r>
          </a:p>
        </p:txBody>
      </p:sp>
      <p:sp>
        <p:nvSpPr>
          <p:cNvPr id="87052" name="Rectangle 9"/>
          <p:cNvSpPr>
            <a:spLocks noChangeArrowheads="1"/>
          </p:cNvSpPr>
          <p:nvPr/>
        </p:nvSpPr>
        <p:spPr bwMode="auto">
          <a:xfrm>
            <a:off x="381000" y="2819400"/>
            <a:ext cx="2895600" cy="1066800"/>
          </a:xfrm>
          <a:prstGeom prst="rect">
            <a:avLst/>
          </a:prstGeom>
          <a:gradFill rotWithShape="1">
            <a:gsLst>
              <a:gs pos="0">
                <a:srgbClr val="888888"/>
              </a:gs>
              <a:gs pos="50000">
                <a:srgbClr val="999999"/>
              </a:gs>
              <a:gs pos="100000">
                <a:srgbClr val="888888"/>
              </a:gs>
            </a:gsLst>
            <a:lin ang="5400000" scaled="1"/>
          </a:gradFill>
          <a:ln w="9525">
            <a:solidFill>
              <a:schemeClr val="tx1"/>
            </a:solidFill>
            <a:miter lim="800000"/>
            <a:headEnd/>
            <a:tailEnd/>
          </a:ln>
        </p:spPr>
        <p:txBody>
          <a:bodyPr wrap="none" anchor="ctr"/>
          <a:lstStyle/>
          <a:p>
            <a:pPr algn="ctr"/>
            <a:endParaRPr lang="en-US" sz="2400">
              <a:solidFill>
                <a:schemeClr val="tx1"/>
              </a:solidFill>
            </a:endParaRPr>
          </a:p>
        </p:txBody>
      </p:sp>
      <p:sp>
        <p:nvSpPr>
          <p:cNvPr id="87053" name="Text Box 10"/>
          <p:cNvSpPr txBox="1">
            <a:spLocks noChangeArrowheads="1"/>
          </p:cNvSpPr>
          <p:nvPr/>
        </p:nvSpPr>
        <p:spPr bwMode="auto">
          <a:xfrm>
            <a:off x="457200" y="29860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800">
                <a:solidFill>
                  <a:schemeClr val="tx1"/>
                </a:solidFill>
                <a:latin typeface="Arial" pitchFamily="34" charset="0"/>
              </a:rPr>
              <a:t>Find use cases</a:t>
            </a:r>
          </a:p>
        </p:txBody>
      </p:sp>
      <p:sp>
        <p:nvSpPr>
          <p:cNvPr id="87054" name="Text Box 11"/>
          <p:cNvSpPr txBox="1">
            <a:spLocks noChangeArrowheads="1"/>
          </p:cNvSpPr>
          <p:nvPr/>
        </p:nvSpPr>
        <p:spPr bwMode="auto">
          <a:xfrm>
            <a:off x="609600" y="42672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Outline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87055" name="Text Box 12"/>
          <p:cNvSpPr txBox="1">
            <a:spLocks noChangeArrowheads="1"/>
          </p:cNvSpPr>
          <p:nvPr/>
        </p:nvSpPr>
        <p:spPr bwMode="auto">
          <a:xfrm>
            <a:off x="609600" y="5791200"/>
            <a:ext cx="236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2800">
                <a:solidFill>
                  <a:schemeClr val="tx1"/>
                </a:solidFill>
                <a:latin typeface="Arial" pitchFamily="34" charset="0"/>
              </a:rPr>
              <a:t>Detail a </a:t>
            </a:r>
            <a:br>
              <a:rPr lang="en-US" sz="2800">
                <a:solidFill>
                  <a:schemeClr val="tx1"/>
                </a:solidFill>
                <a:latin typeface="Arial" pitchFamily="34" charset="0"/>
              </a:rPr>
            </a:br>
            <a:r>
              <a:rPr lang="en-US" sz="2800">
                <a:solidFill>
                  <a:schemeClr val="tx1"/>
                </a:solidFill>
                <a:latin typeface="Arial" pitchFamily="34" charset="0"/>
              </a:rPr>
              <a:t>use case</a:t>
            </a:r>
          </a:p>
        </p:txBody>
      </p:sp>
      <p:sp>
        <p:nvSpPr>
          <p:cNvPr id="87056" name="Line 13"/>
          <p:cNvSpPr>
            <a:spLocks noChangeShapeType="1"/>
          </p:cNvSpPr>
          <p:nvPr/>
        </p:nvSpPr>
        <p:spPr bwMode="auto">
          <a:xfrm>
            <a:off x="1828800" y="22860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7" name="Line 14"/>
          <p:cNvSpPr>
            <a:spLocks noChangeShapeType="1"/>
          </p:cNvSpPr>
          <p:nvPr/>
        </p:nvSpPr>
        <p:spPr bwMode="auto">
          <a:xfrm>
            <a:off x="1828800" y="37338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8" name="Line 15"/>
          <p:cNvSpPr>
            <a:spLocks noChangeShapeType="1"/>
          </p:cNvSpPr>
          <p:nvPr/>
        </p:nvSpPr>
        <p:spPr bwMode="auto">
          <a:xfrm>
            <a:off x="1828800" y="5181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9" name="AutoShape 16"/>
          <p:cNvSpPr>
            <a:spLocks noChangeArrowheads="1"/>
          </p:cNvSpPr>
          <p:nvPr/>
        </p:nvSpPr>
        <p:spPr bwMode="auto">
          <a:xfrm flipV="1">
            <a:off x="3276600" y="5715000"/>
            <a:ext cx="990600" cy="1066800"/>
          </a:xfrm>
          <a:prstGeom prst="triangle">
            <a:avLst>
              <a:gd name="adj" fmla="val 0"/>
            </a:avLst>
          </a:prstGeom>
          <a:gradFill rotWithShape="1">
            <a:gsLst>
              <a:gs pos="0">
                <a:srgbClr val="7791C2"/>
              </a:gs>
              <a:gs pos="50000">
                <a:srgbClr val="9DBEFF"/>
              </a:gs>
              <a:gs pos="100000">
                <a:srgbClr val="7791C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87060" name="Text Box 17"/>
          <p:cNvSpPr txBox="1">
            <a:spLocks noChangeArrowheads="1"/>
          </p:cNvSpPr>
          <p:nvPr/>
        </p:nvSpPr>
        <p:spPr bwMode="auto">
          <a:xfrm>
            <a:off x="4343400" y="1981200"/>
            <a:ext cx="41910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465138" indent="-350838"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lvl="1" eaLnBrk="1" hangingPunct="1">
              <a:spcBef>
                <a:spcPct val="30000"/>
              </a:spcBef>
              <a:buClr>
                <a:schemeClr val="tx1"/>
              </a:buClr>
              <a:buFont typeface="Webdings" pitchFamily="18" charset="2"/>
              <a:buChar char="4"/>
            </a:pPr>
            <a:r>
              <a:rPr lang="en-US" sz="2800">
                <a:solidFill>
                  <a:schemeClr val="tx1"/>
                </a:solidFill>
                <a:latin typeface="Arial" pitchFamily="34" charset="0"/>
              </a:rPr>
              <a:t>Detail the flow of events</a:t>
            </a:r>
          </a:p>
          <a:p>
            <a:pPr lvl="1" eaLnBrk="1" hangingPunct="1">
              <a:spcBef>
                <a:spcPct val="30000"/>
              </a:spcBef>
              <a:buClr>
                <a:schemeClr val="tx1"/>
              </a:buClr>
              <a:buFont typeface="Webdings" pitchFamily="18" charset="2"/>
              <a:buChar char="4"/>
            </a:pPr>
            <a:r>
              <a:rPr lang="en-US" sz="2800">
                <a:solidFill>
                  <a:schemeClr val="tx1"/>
                </a:solidFill>
                <a:latin typeface="Arial" pitchFamily="34" charset="0"/>
              </a:rPr>
              <a:t>Structure the flow of events</a:t>
            </a:r>
          </a:p>
          <a:p>
            <a:pPr lvl="1" eaLnBrk="1" hangingPunct="1">
              <a:spcBef>
                <a:spcPct val="30000"/>
              </a:spcBef>
              <a:buClr>
                <a:schemeClr val="tx1"/>
              </a:buClr>
              <a:buFont typeface="Webdings" pitchFamily="18" charset="2"/>
              <a:buChar char="4"/>
            </a:pPr>
            <a:r>
              <a:rPr lang="en-US" sz="2800">
                <a:solidFill>
                  <a:schemeClr val="tx1"/>
                </a:solidFill>
                <a:latin typeface="Arial" pitchFamily="34" charset="0"/>
              </a:rPr>
              <a:t>Specify additional use case properties</a:t>
            </a:r>
          </a:p>
          <a:p>
            <a:pPr lvl="1" eaLnBrk="1" hangingPunct="1">
              <a:spcBef>
                <a:spcPct val="30000"/>
              </a:spcBef>
              <a:buClr>
                <a:schemeClr val="tx1"/>
              </a:buClr>
              <a:buFont typeface="Webdings" pitchFamily="18" charset="2"/>
              <a:buChar char="4"/>
            </a:pPr>
            <a:endParaRPr lang="en-US" sz="2800">
              <a:solidFill>
                <a:schemeClr val="tx1"/>
              </a:solidFill>
              <a:latin typeface="Arial" pitchFamily="34" charset="0"/>
            </a:endParaRPr>
          </a:p>
          <a:p>
            <a:pPr eaLnBrk="1" hangingPunct="1">
              <a:spcBef>
                <a:spcPct val="50000"/>
              </a:spcBef>
            </a:pPr>
            <a:endParaRPr lang="en-US" sz="2800">
              <a:solidFill>
                <a:schemeClr val="tx1"/>
              </a:solidFill>
              <a:latin typeface="Arial" pitchFamily="34" charset="0"/>
            </a:endParaRPr>
          </a:p>
        </p:txBody>
      </p:sp>
      <p:sp>
        <p:nvSpPr>
          <p:cNvPr id="2" name="Slide Number Placeholder 1"/>
          <p:cNvSpPr>
            <a:spLocks noGrp="1"/>
          </p:cNvSpPr>
          <p:nvPr>
            <p:ph type="sldNum" sz="quarter" idx="12"/>
          </p:nvPr>
        </p:nvSpPr>
        <p:spPr/>
        <p:txBody>
          <a:bodyPr/>
          <a:lstStyle/>
          <a:p>
            <a:fld id="{DED05017-923D-480E-B02E-B52739184DCA}" type="slidenum">
              <a:rPr lang="en-US" smtClean="0"/>
              <a:pPr/>
              <a:t>78</a:t>
            </a:fld>
            <a:endParaRPr lang="en-US"/>
          </a:p>
        </p:txBody>
      </p:sp>
    </p:spTree>
    <p:extLst>
      <p:ext uri="{BB962C8B-B14F-4D97-AF65-F5344CB8AC3E}">
        <p14:creationId xmlns:p14="http://schemas.microsoft.com/office/powerpoint/2010/main" val="14909158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p:txBody>
          <a:bodyPr/>
          <a:lstStyle/>
          <a:p>
            <a:pPr eaLnBrk="1" hangingPunct="1">
              <a:defRPr/>
            </a:pPr>
            <a:r>
              <a:rPr lang="en-US" sz="2800" dirty="0"/>
              <a:t>Detail a use case </a:t>
            </a:r>
          </a:p>
        </p:txBody>
      </p:sp>
      <p:sp>
        <p:nvSpPr>
          <p:cNvPr id="88070" name="Text Box 3"/>
          <p:cNvSpPr txBox="1">
            <a:spLocks noChangeArrowheads="1"/>
          </p:cNvSpPr>
          <p:nvPr/>
        </p:nvSpPr>
        <p:spPr bwMode="auto">
          <a:xfrm>
            <a:off x="304800" y="1256643"/>
            <a:ext cx="8534400" cy="72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dirty="0">
                <a:solidFill>
                  <a:srgbClr val="000000"/>
                </a:solidFill>
                <a:latin typeface="Arial" pitchFamily="34" charset="0"/>
              </a:rPr>
              <a:t>You found actors and use cases, then outlined the use cases. Next, you add detail.</a:t>
            </a:r>
          </a:p>
        </p:txBody>
      </p:sp>
      <p:sp>
        <p:nvSpPr>
          <p:cNvPr id="688132" name="Rectangle 4"/>
          <p:cNvSpPr>
            <a:spLocks noChangeArrowheads="1"/>
          </p:cNvSpPr>
          <p:nvPr/>
        </p:nvSpPr>
        <p:spPr bwMode="auto">
          <a:xfrm>
            <a:off x="1804988" y="2209800"/>
            <a:ext cx="4121150" cy="3654425"/>
          </a:xfrm>
          <a:prstGeom prst="rect">
            <a:avLst/>
          </a:prstGeom>
          <a:solidFill>
            <a:srgbClr val="CCCCCC"/>
          </a:solidFill>
          <a:ln w="12700">
            <a:solidFill>
              <a:schemeClr val="bg2"/>
            </a:solidFill>
            <a:miter lim="800000"/>
            <a:headEnd/>
            <a:tailEnd/>
          </a:ln>
          <a:effectLst>
            <a:outerShdw dist="107763" dir="2700000" algn="ctr" rotWithShape="0">
              <a:schemeClr val="bg2"/>
            </a:outerShdw>
          </a:effectLst>
        </p:spPr>
        <p:txBody>
          <a:bodyPr lIns="92075" tIns="182562" rIns="92075" bIns="182562" anchorCtr="1">
            <a:spAutoFit/>
          </a:bodyPr>
          <a:lstStyle/>
          <a:p>
            <a:pPr marL="53975" indent="-53975" eaLnBrk="0" hangingPunct="0">
              <a:lnSpc>
                <a:spcPct val="75000"/>
              </a:lnSpc>
              <a:spcBef>
                <a:spcPct val="50000"/>
              </a:spcBef>
              <a:defRPr/>
            </a:pPr>
            <a:r>
              <a:rPr lang="en-US" sz="1800" i="1" u="sng">
                <a:solidFill>
                  <a:schemeClr val="tx1"/>
                </a:solidFill>
                <a:latin typeface="Arial" charset="0"/>
              </a:rPr>
              <a:t> </a:t>
            </a:r>
            <a:r>
              <a:rPr lang="en-US" sz="2000" u="sng">
                <a:solidFill>
                  <a:schemeClr val="tx1"/>
                </a:solidFill>
                <a:latin typeface="Arial" charset="0"/>
              </a:rPr>
              <a:t> </a:t>
            </a:r>
            <a:r>
              <a:rPr lang="en-US" sz="2000" b="1" u="sng">
                <a:solidFill>
                  <a:schemeClr val="tx1"/>
                </a:solidFill>
                <a:latin typeface="Arial" charset="0"/>
              </a:rPr>
              <a:t>&lt;Use-Case Name&gt;</a:t>
            </a:r>
            <a:endParaRPr lang="en-US" sz="2000" u="sng">
              <a:solidFill>
                <a:schemeClr val="tx1"/>
              </a:solidFill>
              <a:latin typeface="Arial" charset="0"/>
            </a:endParaRPr>
          </a:p>
          <a:p>
            <a:pPr marL="53975" indent="-53975" eaLnBrk="0" hangingPunct="0">
              <a:lnSpc>
                <a:spcPct val="75000"/>
              </a:lnSpc>
              <a:spcBef>
                <a:spcPct val="25000"/>
              </a:spcBef>
              <a:defRPr/>
            </a:pPr>
            <a:r>
              <a:rPr lang="en-US" sz="2000" b="1">
                <a:solidFill>
                  <a:schemeClr val="tx1"/>
                </a:solidFill>
                <a:latin typeface="Arial" charset="0"/>
              </a:rPr>
              <a:t>1. Brief</a:t>
            </a:r>
            <a:r>
              <a:rPr lang="en-US" sz="2000" b="1">
                <a:solidFill>
                  <a:srgbClr val="0000FF"/>
                </a:solidFill>
                <a:latin typeface="Arial" charset="0"/>
              </a:rPr>
              <a:t> </a:t>
            </a:r>
            <a:r>
              <a:rPr lang="en-US" sz="2000" b="1">
                <a:solidFill>
                  <a:schemeClr val="tx1"/>
                </a:solidFill>
                <a:latin typeface="Arial" charset="0"/>
              </a:rPr>
              <a:t>Description</a:t>
            </a:r>
            <a:endParaRPr lang="en-US">
              <a:solidFill>
                <a:schemeClr val="tx1"/>
              </a:solidFill>
              <a:latin typeface="Arial" charset="0"/>
            </a:endParaRPr>
          </a:p>
          <a:p>
            <a:pPr marL="53975" indent="-53975" eaLnBrk="0" hangingPunct="0">
              <a:lnSpc>
                <a:spcPct val="75000"/>
              </a:lnSpc>
              <a:spcBef>
                <a:spcPct val="25000"/>
              </a:spcBef>
              <a:defRPr/>
            </a:pPr>
            <a:r>
              <a:rPr lang="en-US" sz="2000" b="1">
                <a:solidFill>
                  <a:schemeClr val="tx1"/>
                </a:solidFill>
                <a:latin typeface="Arial" charset="0"/>
              </a:rPr>
              <a:t>2. Basic Flow of</a:t>
            </a:r>
            <a:r>
              <a:rPr lang="en-US" sz="2000" b="1">
                <a:solidFill>
                  <a:srgbClr val="0000FF"/>
                </a:solidFill>
                <a:latin typeface="Arial" charset="0"/>
              </a:rPr>
              <a:t> </a:t>
            </a:r>
            <a:r>
              <a:rPr lang="en-US" sz="2000" b="1">
                <a:solidFill>
                  <a:schemeClr val="tx1"/>
                </a:solidFill>
                <a:latin typeface="Arial" charset="0"/>
              </a:rPr>
              <a:t>Events</a:t>
            </a:r>
          </a:p>
          <a:p>
            <a:pPr marL="53975" indent="-53975" eaLnBrk="0" hangingPunct="0">
              <a:lnSpc>
                <a:spcPct val="75000"/>
              </a:lnSpc>
              <a:spcBef>
                <a:spcPct val="25000"/>
              </a:spcBef>
              <a:defRPr/>
            </a:pPr>
            <a:r>
              <a:rPr lang="en-US" sz="2000" b="1">
                <a:solidFill>
                  <a:schemeClr val="tx1"/>
                </a:solidFill>
                <a:latin typeface="Arial" charset="0"/>
              </a:rPr>
              <a:t>3. Alternative</a:t>
            </a:r>
            <a:r>
              <a:rPr lang="en-US" sz="2000" b="1">
                <a:solidFill>
                  <a:srgbClr val="0000FF"/>
                </a:solidFill>
                <a:latin typeface="Arial" charset="0"/>
              </a:rPr>
              <a:t> </a:t>
            </a:r>
            <a:r>
              <a:rPr lang="en-US" sz="2000" b="1">
                <a:solidFill>
                  <a:schemeClr val="tx1"/>
                </a:solidFill>
                <a:latin typeface="Arial" charset="0"/>
              </a:rPr>
              <a:t>Flows</a:t>
            </a:r>
          </a:p>
          <a:p>
            <a:pPr marL="53975" indent="-53975" eaLnBrk="0" hangingPunct="0">
              <a:lnSpc>
                <a:spcPct val="75000"/>
              </a:lnSpc>
              <a:spcBef>
                <a:spcPct val="25000"/>
              </a:spcBef>
              <a:defRPr/>
            </a:pPr>
            <a:r>
              <a:rPr lang="en-US" sz="2000" b="1">
                <a:solidFill>
                  <a:schemeClr val="tx1"/>
                </a:solidFill>
                <a:latin typeface="Arial" charset="0"/>
              </a:rPr>
              <a:t>4. Subflows</a:t>
            </a:r>
          </a:p>
          <a:p>
            <a:pPr marL="53975" indent="-53975" eaLnBrk="0" hangingPunct="0">
              <a:lnSpc>
                <a:spcPct val="75000"/>
              </a:lnSpc>
              <a:spcBef>
                <a:spcPct val="25000"/>
              </a:spcBef>
              <a:defRPr/>
            </a:pPr>
            <a:r>
              <a:rPr lang="en-US" sz="2000" b="1">
                <a:solidFill>
                  <a:schemeClr val="tx1"/>
                </a:solidFill>
                <a:latin typeface="Arial" charset="0"/>
              </a:rPr>
              <a:t>5. Key</a:t>
            </a:r>
            <a:r>
              <a:rPr lang="en-US" sz="2000" b="1">
                <a:solidFill>
                  <a:srgbClr val="0000FF"/>
                </a:solidFill>
                <a:latin typeface="Arial" charset="0"/>
              </a:rPr>
              <a:t> </a:t>
            </a:r>
            <a:r>
              <a:rPr lang="en-US" sz="2000" b="1">
                <a:solidFill>
                  <a:schemeClr val="tx1"/>
                </a:solidFill>
                <a:latin typeface="Arial" charset="0"/>
              </a:rPr>
              <a:t>Scenario</a:t>
            </a:r>
          </a:p>
          <a:p>
            <a:pPr marL="53975" indent="-53975" eaLnBrk="0" hangingPunct="0">
              <a:lnSpc>
                <a:spcPct val="75000"/>
              </a:lnSpc>
              <a:spcBef>
                <a:spcPct val="25000"/>
              </a:spcBef>
              <a:defRPr/>
            </a:pPr>
            <a:r>
              <a:rPr lang="en-US" sz="2000" b="1">
                <a:solidFill>
                  <a:schemeClr val="tx1"/>
                </a:solidFill>
                <a:latin typeface="Arial" charset="0"/>
              </a:rPr>
              <a:t>6. Preconditions</a:t>
            </a:r>
          </a:p>
          <a:p>
            <a:pPr marL="53975" indent="-53975" eaLnBrk="0" hangingPunct="0">
              <a:lnSpc>
                <a:spcPct val="75000"/>
              </a:lnSpc>
              <a:spcBef>
                <a:spcPct val="25000"/>
              </a:spcBef>
              <a:defRPr/>
            </a:pPr>
            <a:r>
              <a:rPr lang="en-US" sz="2000" b="1">
                <a:solidFill>
                  <a:schemeClr val="tx1"/>
                </a:solidFill>
                <a:latin typeface="Arial" charset="0"/>
              </a:rPr>
              <a:t>7. Postconditions</a:t>
            </a:r>
            <a:endParaRPr lang="en-US" sz="2000">
              <a:solidFill>
                <a:schemeClr val="tx1"/>
              </a:solidFill>
              <a:latin typeface="Arial" charset="0"/>
            </a:endParaRPr>
          </a:p>
          <a:p>
            <a:pPr marL="53975" indent="-53975" eaLnBrk="0" hangingPunct="0">
              <a:lnSpc>
                <a:spcPct val="75000"/>
              </a:lnSpc>
              <a:spcBef>
                <a:spcPct val="25000"/>
              </a:spcBef>
              <a:defRPr/>
            </a:pPr>
            <a:r>
              <a:rPr lang="en-US" sz="2000" b="1">
                <a:solidFill>
                  <a:schemeClr val="tx1"/>
                </a:solidFill>
                <a:latin typeface="Arial" charset="0"/>
              </a:rPr>
              <a:t>8. Extension</a:t>
            </a:r>
            <a:r>
              <a:rPr lang="en-US" sz="2000" b="1">
                <a:solidFill>
                  <a:srgbClr val="0000FF"/>
                </a:solidFill>
                <a:latin typeface="Arial" charset="0"/>
              </a:rPr>
              <a:t> </a:t>
            </a:r>
            <a:r>
              <a:rPr lang="en-US" sz="2000" b="1">
                <a:solidFill>
                  <a:schemeClr val="tx1"/>
                </a:solidFill>
                <a:latin typeface="Arial" charset="0"/>
              </a:rPr>
              <a:t>Points</a:t>
            </a:r>
          </a:p>
          <a:p>
            <a:pPr marL="53975" indent="-53975" eaLnBrk="0" hangingPunct="0">
              <a:lnSpc>
                <a:spcPct val="75000"/>
              </a:lnSpc>
              <a:spcBef>
                <a:spcPct val="25000"/>
              </a:spcBef>
              <a:defRPr/>
            </a:pPr>
            <a:r>
              <a:rPr lang="en-US" sz="2000" b="1">
                <a:solidFill>
                  <a:schemeClr val="tx1"/>
                </a:solidFill>
                <a:latin typeface="Arial" charset="0"/>
              </a:rPr>
              <a:t>9. Special</a:t>
            </a:r>
            <a:r>
              <a:rPr lang="en-US" sz="2000" b="1">
                <a:solidFill>
                  <a:srgbClr val="0000FF"/>
                </a:solidFill>
                <a:latin typeface="Arial" charset="0"/>
              </a:rPr>
              <a:t> </a:t>
            </a:r>
            <a:r>
              <a:rPr lang="en-US" sz="2000" b="1">
                <a:solidFill>
                  <a:schemeClr val="tx1"/>
                </a:solidFill>
                <a:latin typeface="Arial" charset="0"/>
              </a:rPr>
              <a:t>Requirements</a:t>
            </a:r>
          </a:p>
          <a:p>
            <a:pPr marL="53975" indent="-53975" eaLnBrk="0" hangingPunct="0">
              <a:lnSpc>
                <a:spcPct val="75000"/>
              </a:lnSpc>
              <a:spcBef>
                <a:spcPct val="25000"/>
              </a:spcBef>
              <a:defRPr/>
            </a:pPr>
            <a:r>
              <a:rPr lang="en-US" sz="2000" b="1">
                <a:solidFill>
                  <a:schemeClr val="tx1"/>
                </a:solidFill>
                <a:latin typeface="Arial" charset="0"/>
              </a:rPr>
              <a:t>10. Additional</a:t>
            </a:r>
            <a:r>
              <a:rPr lang="en-US" sz="2000" b="1">
                <a:solidFill>
                  <a:srgbClr val="0000FF"/>
                </a:solidFill>
                <a:latin typeface="Arial" charset="0"/>
              </a:rPr>
              <a:t> </a:t>
            </a:r>
            <a:r>
              <a:rPr lang="en-US" sz="2000" b="1">
                <a:solidFill>
                  <a:schemeClr val="tx1"/>
                </a:solidFill>
                <a:latin typeface="Arial" charset="0"/>
              </a:rPr>
              <a:t>Information</a:t>
            </a:r>
          </a:p>
        </p:txBody>
      </p:sp>
      <p:sp>
        <p:nvSpPr>
          <p:cNvPr id="88072" name="AutoShape 5"/>
          <p:cNvSpPr>
            <a:spLocks/>
          </p:cNvSpPr>
          <p:nvPr/>
        </p:nvSpPr>
        <p:spPr bwMode="auto">
          <a:xfrm>
            <a:off x="5691188" y="3048000"/>
            <a:ext cx="762000" cy="2855913"/>
          </a:xfrm>
          <a:prstGeom prst="rightBracket">
            <a:avLst>
              <a:gd name="adj" fmla="val 31233"/>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107950" tIns="53975" rIns="107950" bIns="53975" anchor="ctr"/>
          <a:lstStyle/>
          <a:p>
            <a:endParaRPr lang="en-US"/>
          </a:p>
        </p:txBody>
      </p:sp>
      <p:sp>
        <p:nvSpPr>
          <p:cNvPr id="88073" name="Text Box 6"/>
          <p:cNvSpPr txBox="1">
            <a:spLocks noChangeArrowheads="1"/>
          </p:cNvSpPr>
          <p:nvPr/>
        </p:nvSpPr>
        <p:spPr bwMode="auto">
          <a:xfrm>
            <a:off x="6605588" y="4038600"/>
            <a:ext cx="16240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400">
                <a:solidFill>
                  <a:schemeClr val="tx1"/>
                </a:solidFill>
                <a:latin typeface="Arial" pitchFamily="34" charset="0"/>
              </a:rPr>
              <a:t>Add Detail</a:t>
            </a:r>
          </a:p>
        </p:txBody>
      </p:sp>
      <p:sp>
        <p:nvSpPr>
          <p:cNvPr id="2" name="Slide Number Placeholder 1"/>
          <p:cNvSpPr>
            <a:spLocks noGrp="1"/>
          </p:cNvSpPr>
          <p:nvPr>
            <p:ph type="sldNum" sz="quarter" idx="12"/>
          </p:nvPr>
        </p:nvSpPr>
        <p:spPr/>
        <p:txBody>
          <a:bodyPr/>
          <a:lstStyle/>
          <a:p>
            <a:fld id="{27392B6C-813E-42DE-A59C-034281A964AB}" type="slidenum">
              <a:rPr lang="en-US" smtClean="0"/>
              <a:pPr/>
              <a:t>79</a:t>
            </a:fld>
            <a:endParaRPr lang="en-US"/>
          </a:p>
        </p:txBody>
      </p:sp>
    </p:spTree>
    <p:extLst>
      <p:ext uri="{BB962C8B-B14F-4D97-AF65-F5344CB8AC3E}">
        <p14:creationId xmlns:p14="http://schemas.microsoft.com/office/powerpoint/2010/main" val="31930481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p:txBody>
          <a:bodyPr/>
          <a:lstStyle/>
          <a:p>
            <a:pPr eaLnBrk="1" hangingPunct="1">
              <a:defRPr/>
            </a:pPr>
            <a:r>
              <a:rPr lang="en-US" sz="2800" dirty="0"/>
              <a:t>Use case style</a:t>
            </a:r>
          </a:p>
        </p:txBody>
      </p:sp>
      <p:sp>
        <p:nvSpPr>
          <p:cNvPr id="89094" name="Rectangle 3"/>
          <p:cNvSpPr>
            <a:spLocks noGrp="1" noChangeArrowheads="1"/>
          </p:cNvSpPr>
          <p:nvPr>
            <p:ph type="body" idx="1"/>
          </p:nvPr>
        </p:nvSpPr>
        <p:spPr/>
        <p:txBody>
          <a:bodyPr/>
          <a:lstStyle/>
          <a:p>
            <a:pPr marL="230188" indent="-230188" eaLnBrk="1" hangingPunct="1"/>
            <a:r>
              <a:rPr lang="en-US" sz="2000" dirty="0"/>
              <a:t>Use cases are structured text</a:t>
            </a:r>
          </a:p>
          <a:p>
            <a:pPr marL="230188" indent="-230188" eaLnBrk="1" hangingPunct="1"/>
            <a:r>
              <a:rPr lang="en-US" sz="2000" dirty="0"/>
              <a:t>How you structure the text is the use case style</a:t>
            </a:r>
          </a:p>
          <a:p>
            <a:pPr marL="230188" indent="-230188" eaLnBrk="1" hangingPunct="1"/>
            <a:r>
              <a:rPr lang="en-US" sz="2000" dirty="0"/>
              <a:t>There are</a:t>
            </a:r>
            <a:r>
              <a:rPr lang="en-US" sz="2000" dirty="0">
                <a:solidFill>
                  <a:srgbClr val="CC0000"/>
                </a:solidFill>
              </a:rPr>
              <a:t> </a:t>
            </a:r>
            <a:r>
              <a:rPr lang="en-US" sz="2000" dirty="0"/>
              <a:t>a number of acceptable styles</a:t>
            </a:r>
          </a:p>
          <a:p>
            <a:pPr marL="230188" indent="-230188" eaLnBrk="1" hangingPunct="1"/>
            <a:r>
              <a:rPr lang="en-US" sz="2000" dirty="0"/>
              <a:t>Choose and use</a:t>
            </a:r>
            <a:r>
              <a:rPr lang="en-US" sz="2000" dirty="0">
                <a:solidFill>
                  <a:srgbClr val="CC0000"/>
                </a:solidFill>
              </a:rPr>
              <a:t> </a:t>
            </a:r>
            <a:r>
              <a:rPr lang="en-US" sz="2000" dirty="0"/>
              <a:t>only one style</a:t>
            </a:r>
          </a:p>
          <a:p>
            <a:pPr marL="576263" lvl="1" indent="-231775" eaLnBrk="1" hangingPunct="1"/>
            <a:r>
              <a:rPr lang="en-US" sz="2000" dirty="0"/>
              <a:t>For consistency</a:t>
            </a:r>
          </a:p>
          <a:p>
            <a:pPr marL="576263" lvl="1" indent="-231775" eaLnBrk="1" hangingPunct="1"/>
            <a:r>
              <a:rPr lang="en-US" sz="2000" dirty="0"/>
              <a:t>For readability </a:t>
            </a:r>
          </a:p>
          <a:p>
            <a:pPr marL="576263" lvl="1" indent="-231775" eaLnBrk="1" hangingPunct="1"/>
            <a:r>
              <a:rPr lang="en-US" sz="2000" dirty="0"/>
              <a:t>For usability by the development team</a:t>
            </a:r>
          </a:p>
          <a:p>
            <a:pPr marL="230188" indent="-230188" eaLnBrk="1" hangingPunct="1"/>
            <a:r>
              <a:rPr lang="en-US" sz="2000" dirty="0"/>
              <a:t>This course uses the </a:t>
            </a:r>
            <a:r>
              <a:rPr lang="en-US" sz="2000" b="1" dirty="0">
                <a:solidFill>
                  <a:srgbClr val="006699"/>
                </a:solidFill>
              </a:rPr>
              <a:t>RUP style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80</a:t>
            </a:fld>
            <a:endParaRPr lang="en-US"/>
          </a:p>
        </p:txBody>
      </p:sp>
    </p:spTree>
    <p:extLst>
      <p:ext uri="{BB962C8B-B14F-4D97-AF65-F5344CB8AC3E}">
        <p14:creationId xmlns:p14="http://schemas.microsoft.com/office/powerpoint/2010/main" val="1425605364"/>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lIns="92075" tIns="46038" rIns="92075" bIns="46038"/>
          <a:lstStyle/>
          <a:p>
            <a:pPr eaLnBrk="1" hangingPunct="1">
              <a:defRPr/>
            </a:pPr>
            <a:r>
              <a:rPr lang="en-US" sz="2800" dirty="0"/>
              <a:t>Detail the basic flow of events</a:t>
            </a:r>
          </a:p>
        </p:txBody>
      </p:sp>
      <p:sp>
        <p:nvSpPr>
          <p:cNvPr id="90118" name="Rectangle 3"/>
          <p:cNvSpPr>
            <a:spLocks noChangeArrowheads="1"/>
          </p:cNvSpPr>
          <p:nvPr/>
        </p:nvSpPr>
        <p:spPr bwMode="auto">
          <a:xfrm>
            <a:off x="2895600" y="762000"/>
            <a:ext cx="6096000" cy="5891213"/>
          </a:xfrm>
          <a:prstGeom prst="rect">
            <a:avLst/>
          </a:prstGeom>
          <a:solidFill>
            <a:srgbClr val="DDDDDD"/>
          </a:solidFill>
          <a:ln w="9525">
            <a:solidFill>
              <a:schemeClr val="bg2"/>
            </a:solidFill>
            <a:miter lim="800000"/>
            <a:headEnd/>
            <a:tailEnd/>
          </a:ln>
        </p:spPr>
        <p:txBody>
          <a:bodyPr lIns="0" tIns="76176" rIns="0" bIns="38088">
            <a:spAutoFit/>
          </a:bodyPr>
          <a:lstStyle/>
          <a:p>
            <a:pPr marL="342900" indent="-119063" algn="ctr" eaLnBrk="0" hangingPunct="0"/>
            <a:r>
              <a:rPr lang="en-US" sz="1800" b="1">
                <a:solidFill>
                  <a:schemeClr val="tx1"/>
                </a:solidFill>
                <a:latin typeface="Arial" pitchFamily="34" charset="0"/>
                <a:cs typeface="Times New Roman" pitchFamily="18" charset="0"/>
              </a:rPr>
              <a:t>Register for Courses</a:t>
            </a:r>
          </a:p>
          <a:p>
            <a:pPr marL="342900" indent="-119063" eaLnBrk="0" hangingPunct="0"/>
            <a:r>
              <a:rPr lang="en-US" sz="1800">
                <a:solidFill>
                  <a:schemeClr val="tx1"/>
                </a:solidFill>
                <a:latin typeface="Arial" pitchFamily="34" charset="0"/>
                <a:cs typeface="Times New Roman" pitchFamily="18" charset="0"/>
              </a:rPr>
              <a:t>1.1	Basic Flow</a:t>
            </a:r>
          </a:p>
          <a:p>
            <a:pPr marL="342900" indent="-119063" eaLnBrk="0" hangingPunct="0"/>
            <a:r>
              <a:rPr lang="en-US" sz="1800">
                <a:solidFill>
                  <a:schemeClr val="tx1"/>
                </a:solidFill>
                <a:latin typeface="Arial" pitchFamily="34" charset="0"/>
                <a:cs typeface="Times New Roman" pitchFamily="18" charset="0"/>
              </a:rPr>
              <a:t>1.	</a:t>
            </a:r>
            <a:r>
              <a:rPr lang="en-US" sz="1800" b="1">
                <a:solidFill>
                  <a:schemeClr val="tx1"/>
                </a:solidFill>
                <a:latin typeface="Arial" pitchFamily="34" charset="0"/>
                <a:cs typeface="Times New Roman" pitchFamily="18" charset="0"/>
              </a:rPr>
              <a:t>Log On</a:t>
            </a:r>
            <a:r>
              <a:rPr lang="en-US" sz="1800">
                <a:solidFill>
                  <a:schemeClr val="tx1"/>
                </a:solidFill>
                <a:latin typeface="Arial" pitchFamily="34" charset="0"/>
                <a:cs typeface="Times New Roman" pitchFamily="18" charset="0"/>
              </a:rPr>
              <a:t>.</a:t>
            </a:r>
          </a:p>
          <a:p>
            <a:pPr marL="342900" indent="-119063" eaLnBrk="0" hangingPunct="0"/>
            <a:r>
              <a:rPr lang="en-US" sz="1800">
                <a:solidFill>
                  <a:schemeClr val="tx1"/>
                </a:solidFill>
                <a:latin typeface="Arial" pitchFamily="34" charset="0"/>
                <a:cs typeface="Times New Roman" pitchFamily="18" charset="0"/>
              </a:rPr>
              <a:t>    This use case starts when someone accesses the Course Registration System and chooses to register for courses. The system validates that the person accessing the system is an authorized student.</a:t>
            </a:r>
          </a:p>
          <a:p>
            <a:pPr marL="342900" indent="-119063" eaLnBrk="0" hangingPunct="0"/>
            <a:r>
              <a:rPr lang="en-US" sz="1800">
                <a:solidFill>
                  <a:schemeClr val="tx1"/>
                </a:solidFill>
                <a:latin typeface="Arial" pitchFamily="34" charset="0"/>
                <a:cs typeface="Times New Roman" pitchFamily="18" charset="0"/>
              </a:rPr>
              <a:t>2.	</a:t>
            </a:r>
            <a:r>
              <a:rPr lang="en-US" sz="1800" b="1">
                <a:solidFill>
                  <a:schemeClr val="tx1"/>
                </a:solidFill>
                <a:latin typeface="Arial" pitchFamily="34" charset="0"/>
                <a:cs typeface="Times New Roman" pitchFamily="18" charset="0"/>
              </a:rPr>
              <a:t>Select “Create a Schedule</a:t>
            </a:r>
            <a:r>
              <a:rPr lang="en-US" sz="1800" b="1">
                <a:solidFill>
                  <a:srgbClr val="0000FF"/>
                </a:solidFill>
                <a:latin typeface="Arial" pitchFamily="34" charset="0"/>
                <a:cs typeface="Times New Roman" pitchFamily="18" charset="0"/>
              </a:rPr>
              <a:t> </a:t>
            </a:r>
            <a:r>
              <a:rPr lang="en-US" sz="1800" b="1">
                <a:solidFill>
                  <a:schemeClr val="tx1"/>
                </a:solidFill>
                <a:latin typeface="Arial" pitchFamily="34" charset="0"/>
                <a:cs typeface="Times New Roman" pitchFamily="18" charset="0"/>
              </a:rPr>
              <a:t>”</a:t>
            </a:r>
            <a:r>
              <a:rPr lang="en-US" sz="1800">
                <a:solidFill>
                  <a:schemeClr val="tx1"/>
                </a:solidFill>
                <a:latin typeface="Arial" pitchFamily="34" charset="0"/>
                <a:cs typeface="Times New Roman" pitchFamily="18" charset="0"/>
              </a:rPr>
              <a:t>.</a:t>
            </a:r>
          </a:p>
          <a:p>
            <a:pPr marL="342900" indent="-119063" eaLnBrk="0" hangingPunct="0"/>
            <a:r>
              <a:rPr lang="en-US" sz="1800">
                <a:solidFill>
                  <a:schemeClr val="tx1"/>
                </a:solidFill>
                <a:latin typeface="Arial" pitchFamily="34" charset="0"/>
                <a:cs typeface="Times New Roman" pitchFamily="18" charset="0"/>
              </a:rPr>
              <a:t>    The system displays the functions available to the student. The student selects “Create a Schedule</a:t>
            </a:r>
            <a:r>
              <a:rPr lang="en-US" sz="1800">
                <a:solidFill>
                  <a:srgbClr val="CC0000"/>
                </a:solidFill>
                <a:latin typeface="Arial" pitchFamily="34" charset="0"/>
                <a:cs typeface="Times New Roman" pitchFamily="18" charset="0"/>
              </a:rPr>
              <a:t> </a:t>
            </a:r>
            <a:r>
              <a:rPr lang="en-US" sz="1800">
                <a:solidFill>
                  <a:schemeClr val="tx1"/>
                </a:solidFill>
                <a:latin typeface="Arial" pitchFamily="34" charset="0"/>
                <a:cs typeface="Times New Roman" pitchFamily="18" charset="0"/>
              </a:rPr>
              <a:t>”. </a:t>
            </a:r>
          </a:p>
          <a:p>
            <a:pPr marL="342900" indent="-119063" eaLnBrk="0" hangingPunct="0"/>
            <a:r>
              <a:rPr lang="en-US" sz="1800">
                <a:solidFill>
                  <a:schemeClr val="tx1"/>
                </a:solidFill>
                <a:latin typeface="Arial" pitchFamily="34" charset="0"/>
                <a:cs typeface="Times New Roman" pitchFamily="18" charset="0"/>
              </a:rPr>
              <a:t>3.	</a:t>
            </a:r>
            <a:r>
              <a:rPr lang="en-US" sz="1800" b="1">
                <a:solidFill>
                  <a:schemeClr val="tx1"/>
                </a:solidFill>
                <a:latin typeface="Arial" pitchFamily="34" charset="0"/>
                <a:cs typeface="Times New Roman" pitchFamily="18" charset="0"/>
              </a:rPr>
              <a:t>Obtain</a:t>
            </a:r>
            <a:r>
              <a:rPr lang="en-US" sz="1800" b="1">
                <a:solidFill>
                  <a:srgbClr val="CC0000"/>
                </a:solidFill>
                <a:latin typeface="Arial" pitchFamily="34" charset="0"/>
                <a:cs typeface="Times New Roman" pitchFamily="18" charset="0"/>
              </a:rPr>
              <a:t> </a:t>
            </a:r>
            <a:r>
              <a:rPr lang="en-US" sz="1800" b="1">
                <a:solidFill>
                  <a:schemeClr val="tx1"/>
                </a:solidFill>
                <a:latin typeface="Arial" pitchFamily="34" charset="0"/>
                <a:cs typeface="Times New Roman" pitchFamily="18" charset="0"/>
              </a:rPr>
              <a:t>Course Information</a:t>
            </a:r>
            <a:r>
              <a:rPr lang="en-US" sz="1800">
                <a:solidFill>
                  <a:schemeClr val="tx1"/>
                </a:solidFill>
                <a:latin typeface="Arial" pitchFamily="34" charset="0"/>
                <a:cs typeface="Times New Roman" pitchFamily="18" charset="0"/>
              </a:rPr>
              <a:t>.</a:t>
            </a:r>
          </a:p>
          <a:p>
            <a:pPr marL="342900" indent="-119063" eaLnBrk="0" hangingPunct="0"/>
            <a:r>
              <a:rPr lang="en-US" sz="1800">
                <a:solidFill>
                  <a:schemeClr val="tx1"/>
                </a:solidFill>
                <a:latin typeface="Arial" pitchFamily="34" charset="0"/>
                <a:cs typeface="Times New Roman" pitchFamily="18" charset="0"/>
              </a:rPr>
              <a:t>    The system retrieves a list of available</a:t>
            </a:r>
            <a:r>
              <a:rPr lang="en-US" sz="1800">
                <a:solidFill>
                  <a:srgbClr val="0000FF"/>
                </a:solidFill>
                <a:latin typeface="Arial" pitchFamily="34" charset="0"/>
                <a:cs typeface="Times New Roman" pitchFamily="18" charset="0"/>
              </a:rPr>
              <a:t> </a:t>
            </a:r>
            <a:r>
              <a:rPr lang="en-US" sz="1800">
                <a:solidFill>
                  <a:schemeClr val="tx1"/>
                </a:solidFill>
                <a:latin typeface="Arial" pitchFamily="34" charset="0"/>
                <a:cs typeface="Times New Roman" pitchFamily="18" charset="0"/>
              </a:rPr>
              <a:t>course offerings from the Course Catalog System and displays the list to the student</a:t>
            </a:r>
            <a:r>
              <a:rPr lang="en-US" sz="1800">
                <a:solidFill>
                  <a:srgbClr val="CC0000"/>
                </a:solidFill>
                <a:latin typeface="Arial" pitchFamily="34" charset="0"/>
                <a:cs typeface="Times New Roman" pitchFamily="18" charset="0"/>
              </a:rPr>
              <a:t> </a:t>
            </a:r>
            <a:r>
              <a:rPr lang="en-US" sz="1800">
                <a:solidFill>
                  <a:schemeClr val="tx1"/>
                </a:solidFill>
                <a:latin typeface="Arial" pitchFamily="34" charset="0"/>
                <a:cs typeface="Times New Roman" pitchFamily="18" charset="0"/>
              </a:rPr>
              <a:t>.The student can search the list by department, professor, or topic to obtain the desired course information</a:t>
            </a:r>
            <a:r>
              <a:rPr lang="en-US" sz="1800">
                <a:solidFill>
                  <a:srgbClr val="CC0000"/>
                </a:solidFill>
                <a:latin typeface="Arial" pitchFamily="34" charset="0"/>
                <a:cs typeface="Times New Roman" pitchFamily="18" charset="0"/>
              </a:rPr>
              <a:t> </a:t>
            </a:r>
            <a:r>
              <a:rPr lang="en-US" sz="1800">
                <a:solidFill>
                  <a:schemeClr val="tx1"/>
                </a:solidFill>
                <a:latin typeface="Arial" pitchFamily="34" charset="0"/>
                <a:cs typeface="Times New Roman" pitchFamily="18" charset="0"/>
              </a:rPr>
              <a:t>.</a:t>
            </a:r>
          </a:p>
          <a:p>
            <a:pPr marL="342900" indent="-119063" eaLnBrk="0" hangingPunct="0"/>
            <a:r>
              <a:rPr lang="en-US" sz="1800">
                <a:solidFill>
                  <a:schemeClr val="tx1"/>
                </a:solidFill>
                <a:latin typeface="Arial" pitchFamily="34" charset="0"/>
                <a:cs typeface="Times New Roman" pitchFamily="18" charset="0"/>
              </a:rPr>
              <a:t>4.	</a:t>
            </a:r>
            <a:r>
              <a:rPr lang="en-US" sz="1800" b="1">
                <a:solidFill>
                  <a:schemeClr val="tx1"/>
                </a:solidFill>
                <a:latin typeface="Arial" pitchFamily="34" charset="0"/>
                <a:cs typeface="Times New Roman" pitchFamily="18" charset="0"/>
              </a:rPr>
              <a:t>Select</a:t>
            </a:r>
            <a:r>
              <a:rPr lang="en-US" sz="1800" b="1">
                <a:solidFill>
                  <a:srgbClr val="0000FF"/>
                </a:solidFill>
                <a:latin typeface="Arial" pitchFamily="34" charset="0"/>
                <a:cs typeface="Times New Roman" pitchFamily="18" charset="0"/>
              </a:rPr>
              <a:t> </a:t>
            </a:r>
            <a:r>
              <a:rPr lang="en-US" sz="1800" b="1">
                <a:solidFill>
                  <a:schemeClr val="tx1"/>
                </a:solidFill>
                <a:latin typeface="Arial" pitchFamily="34" charset="0"/>
                <a:cs typeface="Times New Roman" pitchFamily="18" charset="0"/>
              </a:rPr>
              <a:t>Courses</a:t>
            </a:r>
            <a:r>
              <a:rPr lang="en-US" sz="1800">
                <a:solidFill>
                  <a:schemeClr val="tx1"/>
                </a:solidFill>
                <a:latin typeface="Arial" pitchFamily="34" charset="0"/>
                <a:cs typeface="Times New Roman" pitchFamily="18" charset="0"/>
              </a:rPr>
              <a:t>.</a:t>
            </a:r>
          </a:p>
          <a:p>
            <a:pPr marL="342900" indent="-119063" eaLnBrk="0" hangingPunct="0"/>
            <a:r>
              <a:rPr lang="en-US" sz="1800">
                <a:solidFill>
                  <a:schemeClr val="tx1"/>
                </a:solidFill>
                <a:latin typeface="Arial" pitchFamily="34" charset="0"/>
                <a:cs typeface="Times New Roman" pitchFamily="18" charset="0"/>
              </a:rPr>
              <a:t>    The student selects four primary</a:t>
            </a:r>
            <a:r>
              <a:rPr lang="en-US" sz="1800">
                <a:solidFill>
                  <a:srgbClr val="0000FF"/>
                </a:solidFill>
                <a:latin typeface="Arial" pitchFamily="34" charset="0"/>
                <a:cs typeface="Times New Roman" pitchFamily="18" charset="0"/>
              </a:rPr>
              <a:t> </a:t>
            </a:r>
            <a:r>
              <a:rPr lang="en-US" sz="1800">
                <a:solidFill>
                  <a:schemeClr val="tx1"/>
                </a:solidFill>
                <a:latin typeface="Arial" pitchFamily="34" charset="0"/>
                <a:cs typeface="Times New Roman" pitchFamily="18" charset="0"/>
              </a:rPr>
              <a:t>course offerings and two alternate</a:t>
            </a:r>
            <a:r>
              <a:rPr lang="en-US" sz="1800">
                <a:solidFill>
                  <a:srgbClr val="0000FF"/>
                </a:solidFill>
                <a:latin typeface="Arial" pitchFamily="34" charset="0"/>
                <a:cs typeface="Times New Roman" pitchFamily="18" charset="0"/>
              </a:rPr>
              <a:t> </a:t>
            </a:r>
            <a:r>
              <a:rPr lang="en-US" sz="1800">
                <a:solidFill>
                  <a:schemeClr val="tx1"/>
                </a:solidFill>
                <a:latin typeface="Arial" pitchFamily="34" charset="0"/>
                <a:cs typeface="Times New Roman" pitchFamily="18" charset="0"/>
              </a:rPr>
              <a:t>course offerings from the list of available offerings course offerings. </a:t>
            </a:r>
          </a:p>
          <a:p>
            <a:pPr marL="342900" indent="-119063" eaLnBrk="0" hangingPunct="0"/>
            <a:r>
              <a:rPr lang="en-US" sz="1800">
                <a:solidFill>
                  <a:schemeClr val="tx1"/>
                </a:solidFill>
                <a:latin typeface="Arial" pitchFamily="34" charset="0"/>
                <a:cs typeface="Times New Roman" pitchFamily="18" charset="0"/>
              </a:rPr>
              <a:t>…</a:t>
            </a:r>
          </a:p>
        </p:txBody>
      </p:sp>
      <p:sp>
        <p:nvSpPr>
          <p:cNvPr id="90119" name="AutoShape 4"/>
          <p:cNvSpPr>
            <a:spLocks noChangeArrowheads="1"/>
          </p:cNvSpPr>
          <p:nvPr/>
        </p:nvSpPr>
        <p:spPr bwMode="auto">
          <a:xfrm>
            <a:off x="228600" y="1066800"/>
            <a:ext cx="2133600" cy="762000"/>
          </a:xfrm>
          <a:prstGeom prst="wedgeRectCallout">
            <a:avLst>
              <a:gd name="adj1" fmla="val 84523"/>
              <a:gd name="adj2" fmla="val 2083"/>
            </a:avLst>
          </a:prstGeom>
          <a:solidFill>
            <a:srgbClr val="BDD3FF"/>
          </a:solidFill>
          <a:ln w="9525">
            <a:solidFill>
              <a:schemeClr val="tx1"/>
            </a:solidFill>
            <a:miter lim="800000"/>
            <a:headEnd/>
            <a:tailEnd/>
          </a:ln>
        </p:spPr>
        <p:txBody>
          <a:bodyPr/>
          <a:lstStyle/>
          <a:p>
            <a:r>
              <a:rPr lang="en-US" sz="2000">
                <a:solidFill>
                  <a:schemeClr val="tx1"/>
                </a:solidFill>
                <a:latin typeface="Arial" pitchFamily="34" charset="0"/>
              </a:rPr>
              <a:t>Structure the flow into steps </a:t>
            </a:r>
          </a:p>
          <a:p>
            <a:endParaRPr lang="en-US" sz="2000">
              <a:solidFill>
                <a:schemeClr val="tx1"/>
              </a:solidFill>
              <a:latin typeface="Arial" pitchFamily="34" charset="0"/>
            </a:endParaRPr>
          </a:p>
        </p:txBody>
      </p:sp>
      <p:sp>
        <p:nvSpPr>
          <p:cNvPr id="90120" name="AutoShape 5"/>
          <p:cNvSpPr>
            <a:spLocks noChangeArrowheads="1"/>
          </p:cNvSpPr>
          <p:nvPr/>
        </p:nvSpPr>
        <p:spPr bwMode="auto">
          <a:xfrm>
            <a:off x="228600" y="2590800"/>
            <a:ext cx="2286000" cy="762000"/>
          </a:xfrm>
          <a:prstGeom prst="wedgeRectCallout">
            <a:avLst>
              <a:gd name="adj1" fmla="val 75486"/>
              <a:gd name="adj2" fmla="val -12083"/>
            </a:avLst>
          </a:prstGeom>
          <a:solidFill>
            <a:srgbClr val="BDD3FF"/>
          </a:solidFill>
          <a:ln w="9525">
            <a:solidFill>
              <a:schemeClr val="tx1"/>
            </a:solidFill>
            <a:miter lim="800000"/>
            <a:headEnd/>
            <a:tailEnd/>
          </a:ln>
        </p:spPr>
        <p:txBody>
          <a:bodyPr/>
          <a:lstStyle/>
          <a:p>
            <a:r>
              <a:rPr lang="en-US" sz="2000">
                <a:solidFill>
                  <a:schemeClr val="tx1"/>
                </a:solidFill>
                <a:latin typeface="Arial" pitchFamily="34" charset="0"/>
              </a:rPr>
              <a:t>Number and</a:t>
            </a:r>
          </a:p>
          <a:p>
            <a:r>
              <a:rPr lang="en-US" sz="2000">
                <a:solidFill>
                  <a:schemeClr val="tx1"/>
                </a:solidFill>
                <a:latin typeface="Arial" pitchFamily="34" charset="0"/>
              </a:rPr>
              <a:t>title each step</a:t>
            </a:r>
          </a:p>
        </p:txBody>
      </p:sp>
      <p:sp>
        <p:nvSpPr>
          <p:cNvPr id="90121" name="AutoShape 6"/>
          <p:cNvSpPr>
            <a:spLocks noChangeArrowheads="1"/>
          </p:cNvSpPr>
          <p:nvPr/>
        </p:nvSpPr>
        <p:spPr bwMode="auto">
          <a:xfrm>
            <a:off x="228600" y="4038600"/>
            <a:ext cx="2133600" cy="762000"/>
          </a:xfrm>
          <a:prstGeom prst="wedgeRectCallout">
            <a:avLst>
              <a:gd name="adj1" fmla="val 84671"/>
              <a:gd name="adj2" fmla="val -46875"/>
            </a:avLst>
          </a:prstGeom>
          <a:solidFill>
            <a:srgbClr val="BDD3FF"/>
          </a:solidFill>
          <a:ln w="9525">
            <a:solidFill>
              <a:schemeClr val="tx1"/>
            </a:solidFill>
            <a:miter lim="800000"/>
            <a:headEnd/>
            <a:tailEnd/>
          </a:ln>
        </p:spPr>
        <p:txBody>
          <a:bodyPr/>
          <a:lstStyle/>
          <a:p>
            <a:r>
              <a:rPr lang="en-US" sz="2000">
                <a:solidFill>
                  <a:schemeClr val="tx1"/>
                </a:solidFill>
                <a:latin typeface="Arial" pitchFamily="34" charset="0"/>
              </a:rPr>
              <a:t>Describe the steps </a:t>
            </a:r>
          </a:p>
        </p:txBody>
      </p:sp>
      <p:sp>
        <p:nvSpPr>
          <p:cNvPr id="2" name="Slide Number Placeholder 1"/>
          <p:cNvSpPr>
            <a:spLocks noGrp="1"/>
          </p:cNvSpPr>
          <p:nvPr>
            <p:ph type="sldNum" sz="quarter" idx="12"/>
          </p:nvPr>
        </p:nvSpPr>
        <p:spPr/>
        <p:txBody>
          <a:bodyPr/>
          <a:lstStyle/>
          <a:p>
            <a:fld id="{DED05017-923D-480E-B02E-B52739184DCA}" type="slidenum">
              <a:rPr lang="en-US" smtClean="0"/>
              <a:pPr/>
              <a:t>81</a:t>
            </a:fld>
            <a:endParaRPr lang="en-US"/>
          </a:p>
        </p:txBody>
      </p:sp>
    </p:spTree>
    <p:extLst>
      <p:ext uri="{BB962C8B-B14F-4D97-AF65-F5344CB8AC3E}">
        <p14:creationId xmlns:p14="http://schemas.microsoft.com/office/powerpoint/2010/main" val="4292663771"/>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p:txBody>
          <a:bodyPr/>
          <a:lstStyle/>
          <a:p>
            <a:pPr eaLnBrk="1" hangingPunct="1">
              <a:defRPr/>
            </a:pPr>
            <a:r>
              <a:rPr lang="en-US" sz="2800" dirty="0"/>
              <a:t>Phrasing of steps</a:t>
            </a:r>
          </a:p>
        </p:txBody>
      </p:sp>
      <p:sp>
        <p:nvSpPr>
          <p:cNvPr id="91142" name="Rectangle 3"/>
          <p:cNvSpPr>
            <a:spLocks noGrp="1" noChangeArrowheads="1"/>
          </p:cNvSpPr>
          <p:nvPr>
            <p:ph type="body" idx="1"/>
          </p:nvPr>
        </p:nvSpPr>
        <p:spPr>
          <a:xfrm>
            <a:off x="228600" y="1312863"/>
            <a:ext cx="9053512" cy="5621337"/>
          </a:xfrm>
        </p:spPr>
        <p:txBody>
          <a:bodyPr/>
          <a:lstStyle/>
          <a:p>
            <a:pPr marL="288925" indent="-288925" eaLnBrk="1" hangingPunct="1"/>
            <a:r>
              <a:rPr lang="en-US" sz="2000" dirty="0"/>
              <a:t>Use the active voice</a:t>
            </a:r>
          </a:p>
          <a:p>
            <a:pPr marL="744538" lvl="1" indent="-341313" eaLnBrk="1" hangingPunct="1"/>
            <a:r>
              <a:rPr lang="en-US" sz="2000" dirty="0"/>
              <a:t>Say: “The Professor provides the grades for each student”</a:t>
            </a:r>
          </a:p>
          <a:p>
            <a:pPr marL="744538" lvl="1" indent="-341313" eaLnBrk="1" hangingPunct="1"/>
            <a:r>
              <a:rPr lang="en-US" sz="2000" dirty="0">
                <a:solidFill>
                  <a:srgbClr val="666666"/>
                </a:solidFill>
              </a:rPr>
              <a:t>Instead of: “When the Professor has provided the grades”</a:t>
            </a:r>
          </a:p>
          <a:p>
            <a:pPr marL="288925" indent="-288925" eaLnBrk="1" hangingPunct="1"/>
            <a:r>
              <a:rPr lang="en-US" sz="2000" dirty="0"/>
              <a:t>Say what triggers the</a:t>
            </a:r>
            <a:r>
              <a:rPr lang="en-US" sz="2000" dirty="0">
                <a:solidFill>
                  <a:srgbClr val="CC0000"/>
                </a:solidFill>
              </a:rPr>
              <a:t> </a:t>
            </a:r>
            <a:r>
              <a:rPr lang="en-US" sz="2000" dirty="0"/>
              <a:t>step</a:t>
            </a:r>
          </a:p>
          <a:p>
            <a:pPr marL="744538" lvl="1" indent="-341313" eaLnBrk="1" hangingPunct="1"/>
            <a:r>
              <a:rPr lang="en-US" sz="2000" dirty="0"/>
              <a:t>Say: “The use case starts when the Professor chooses to submit grades”</a:t>
            </a:r>
          </a:p>
          <a:p>
            <a:pPr marL="744538" lvl="1" indent="-341313" eaLnBrk="1" hangingPunct="1"/>
            <a:r>
              <a:rPr lang="en-US" sz="2000" dirty="0">
                <a:solidFill>
                  <a:srgbClr val="666666"/>
                </a:solidFill>
              </a:rPr>
              <a:t>Instead of:  “The use case starts when the</a:t>
            </a:r>
            <a:r>
              <a:rPr lang="en-US" sz="2000" dirty="0">
                <a:solidFill>
                  <a:srgbClr val="CC0000"/>
                </a:solidFill>
              </a:rPr>
              <a:t> </a:t>
            </a:r>
            <a:r>
              <a:rPr lang="en-US" sz="2000" dirty="0">
                <a:solidFill>
                  <a:srgbClr val="666666"/>
                </a:solidFill>
              </a:rPr>
              <a:t>Professor decides to submit grades</a:t>
            </a:r>
            <a:r>
              <a:rPr lang="en-US" sz="2000" dirty="0">
                <a:solidFill>
                  <a:srgbClr val="CC0000"/>
                </a:solidFill>
              </a:rPr>
              <a:t> </a:t>
            </a:r>
            <a:r>
              <a:rPr lang="en-US" sz="2000" dirty="0">
                <a:solidFill>
                  <a:srgbClr val="666666"/>
                </a:solidFill>
              </a:rPr>
              <a:t>”.</a:t>
            </a:r>
          </a:p>
          <a:p>
            <a:pPr marL="288925" indent="-288925" eaLnBrk="1" hangingPunct="1"/>
            <a:r>
              <a:rPr lang="en-US" sz="2000" dirty="0"/>
              <a:t>Say who</a:t>
            </a:r>
            <a:r>
              <a:rPr lang="en-US" sz="2000" dirty="0">
                <a:solidFill>
                  <a:srgbClr val="CC0000"/>
                </a:solidFill>
              </a:rPr>
              <a:t> </a:t>
            </a:r>
            <a:r>
              <a:rPr lang="en-US" sz="2000" dirty="0"/>
              <a:t>is doing what (use the Actor name)</a:t>
            </a:r>
          </a:p>
          <a:p>
            <a:pPr marL="744538" lvl="1" indent="-341313" eaLnBrk="1" hangingPunct="1"/>
            <a:r>
              <a:rPr lang="en-US" sz="2000" dirty="0"/>
              <a:t>Say: “The Student chooses …”</a:t>
            </a:r>
          </a:p>
          <a:p>
            <a:pPr marL="744538" lvl="1" indent="-341313" eaLnBrk="1" hangingPunct="1"/>
            <a:r>
              <a:rPr lang="en-US" sz="2000" dirty="0">
                <a:solidFill>
                  <a:srgbClr val="666666"/>
                </a:solidFill>
              </a:rPr>
              <a:t>Instead of: "The user chooses …"</a:t>
            </a:r>
          </a:p>
          <a:p>
            <a:pPr marL="744538" lvl="1" indent="-341313" eaLnBrk="1" hangingPunct="1"/>
            <a:r>
              <a:rPr lang="en-US" sz="2000" dirty="0"/>
              <a:t>Say: “The System validates …”</a:t>
            </a:r>
          </a:p>
          <a:p>
            <a:pPr marL="744538" lvl="1" indent="-341313" eaLnBrk="1" hangingPunct="1"/>
            <a:r>
              <a:rPr lang="en-US" sz="2000" dirty="0">
                <a:solidFill>
                  <a:srgbClr val="666666"/>
                </a:solidFill>
              </a:rPr>
              <a:t>Instead of: "The choice is validated …"</a:t>
            </a:r>
          </a:p>
        </p:txBody>
      </p:sp>
      <p:sp>
        <p:nvSpPr>
          <p:cNvPr id="2" name="Slide Number Placeholder 1"/>
          <p:cNvSpPr>
            <a:spLocks noGrp="1"/>
          </p:cNvSpPr>
          <p:nvPr>
            <p:ph type="sldNum" sz="quarter" idx="12"/>
          </p:nvPr>
        </p:nvSpPr>
        <p:spPr/>
        <p:txBody>
          <a:bodyPr/>
          <a:lstStyle/>
          <a:p>
            <a:fld id="{DED05017-923D-480E-B02E-B52739184DCA}" type="slidenum">
              <a:rPr lang="en-US" smtClean="0"/>
              <a:pPr/>
              <a:t>82</a:t>
            </a:fld>
            <a:endParaRPr lang="en-US"/>
          </a:p>
        </p:txBody>
      </p:sp>
    </p:spTree>
    <p:extLst>
      <p:ext uri="{BB962C8B-B14F-4D97-AF65-F5344CB8AC3E}">
        <p14:creationId xmlns:p14="http://schemas.microsoft.com/office/powerpoint/2010/main" val="181187037"/>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p:txBody>
          <a:bodyPr/>
          <a:lstStyle/>
          <a:p>
            <a:pPr eaLnBrk="1" hangingPunct="1">
              <a:defRPr/>
            </a:pPr>
            <a:r>
              <a:rPr lang="en-US" sz="2800" dirty="0"/>
              <a:t>Structure the use-case flows</a:t>
            </a:r>
          </a:p>
        </p:txBody>
      </p:sp>
      <p:sp>
        <p:nvSpPr>
          <p:cNvPr id="92166" name="Rectangle 3"/>
          <p:cNvSpPr>
            <a:spLocks noGrp="1" noChangeArrowheads="1"/>
          </p:cNvSpPr>
          <p:nvPr>
            <p:ph type="body" idx="1"/>
          </p:nvPr>
        </p:nvSpPr>
        <p:spPr/>
        <p:txBody>
          <a:bodyPr/>
          <a:lstStyle/>
          <a:p>
            <a:pPr marL="339725" indent="-339725" eaLnBrk="1" hangingPunct="1"/>
            <a:r>
              <a:rPr lang="en-US" sz="2000" dirty="0"/>
              <a:t>Internal organization of the use case</a:t>
            </a:r>
          </a:p>
          <a:p>
            <a:pPr marL="682625" lvl="1" indent="-228600" eaLnBrk="1" hangingPunct="1"/>
            <a:r>
              <a:rPr lang="en-US" sz="2000" dirty="0"/>
              <a:t>Increases readability</a:t>
            </a:r>
          </a:p>
          <a:p>
            <a:pPr marL="682625" lvl="1" indent="-228600" eaLnBrk="1" hangingPunct="1"/>
            <a:r>
              <a:rPr lang="en-US" sz="2000" dirty="0"/>
              <a:t>Makes the requirements easier to understand</a:t>
            </a:r>
          </a:p>
          <a:p>
            <a:pPr marL="339725" indent="-339725" eaLnBrk="1" hangingPunct="1"/>
            <a:r>
              <a:rPr lang="en-US" sz="2000" dirty="0"/>
              <a:t>Document acceptable styles in the Use-Case Modeling Guidelines</a:t>
            </a:r>
          </a:p>
          <a:p>
            <a:pPr marL="339725" indent="-339725" eaLnBrk="1" hangingPunct="1">
              <a:buFont typeface="Wingdings" pitchFamily="2" charset="2"/>
              <a:buNone/>
            </a:pPr>
            <a:endParaRPr lang="en-US" sz="2000" dirty="0"/>
          </a:p>
        </p:txBody>
      </p:sp>
      <p:sp>
        <p:nvSpPr>
          <p:cNvPr id="92167" name="AutoShape 4"/>
          <p:cNvSpPr>
            <a:spLocks noChangeArrowheads="1"/>
          </p:cNvSpPr>
          <p:nvPr/>
        </p:nvSpPr>
        <p:spPr bwMode="auto">
          <a:xfrm>
            <a:off x="3048000" y="4648200"/>
            <a:ext cx="2017713" cy="439738"/>
          </a:xfrm>
          <a:custGeom>
            <a:avLst/>
            <a:gdLst>
              <a:gd name="T0" fmla="*/ 1513285 w 21600"/>
              <a:gd name="T1" fmla="*/ 0 h 21600"/>
              <a:gd name="T2" fmla="*/ 0 w 21600"/>
              <a:gd name="T3" fmla="*/ 219869 h 21600"/>
              <a:gd name="T4" fmla="*/ 1513285 w 21600"/>
              <a:gd name="T5" fmla="*/ 439738 h 21600"/>
              <a:gd name="T6" fmla="*/ 2017713 w 21600"/>
              <a:gd name="T7" fmla="*/ 2198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66"/>
          </a:solidFill>
          <a:ln w="9525">
            <a:solidFill>
              <a:schemeClr val="tx1"/>
            </a:solidFill>
            <a:miter lim="800000"/>
            <a:headEnd type="none" w="sm" len="sm"/>
            <a:tailEnd/>
          </a:ln>
        </p:spPr>
        <p:txBody>
          <a:bodyPr wrap="none" anchor="ctr"/>
          <a:lstStyle/>
          <a:p>
            <a:endParaRPr lang="en-US"/>
          </a:p>
        </p:txBody>
      </p:sp>
      <p:grpSp>
        <p:nvGrpSpPr>
          <p:cNvPr id="92168" name="Group 5"/>
          <p:cNvGrpSpPr>
            <a:grpSpLocks/>
          </p:cNvGrpSpPr>
          <p:nvPr/>
        </p:nvGrpSpPr>
        <p:grpSpPr bwMode="auto">
          <a:xfrm>
            <a:off x="958850" y="3597275"/>
            <a:ext cx="2262188" cy="2652713"/>
            <a:chOff x="604" y="2266"/>
            <a:chExt cx="1425" cy="1671"/>
          </a:xfrm>
        </p:grpSpPr>
        <p:sp>
          <p:nvSpPr>
            <p:cNvPr id="92201" name="Oval 6"/>
            <p:cNvSpPr>
              <a:spLocks noChangeArrowheads="1"/>
            </p:cNvSpPr>
            <p:nvPr/>
          </p:nvSpPr>
          <p:spPr bwMode="auto">
            <a:xfrm>
              <a:off x="604" y="2266"/>
              <a:ext cx="750" cy="329"/>
            </a:xfrm>
            <a:prstGeom prst="ellipse">
              <a:avLst/>
            </a:prstGeom>
            <a:solidFill>
              <a:srgbClr val="6699FF"/>
            </a:solidFill>
            <a:ln w="28575">
              <a:solidFill>
                <a:srgbClr val="6699FF"/>
              </a:solidFill>
              <a:round/>
              <a:headEnd/>
              <a:tailEnd/>
            </a:ln>
          </p:spPr>
          <p:txBody>
            <a:bodyPr wrap="none" lIns="107950" tIns="53975" rIns="107950" bIns="53975" anchor="ctr"/>
            <a:lstStyle/>
            <a:p>
              <a:pPr algn="ctr" eaLnBrk="0" hangingPunct="0"/>
              <a:endParaRPr lang="en-US" sz="1000">
                <a:solidFill>
                  <a:srgbClr val="EAEAEA"/>
                </a:solidFill>
                <a:latin typeface="Arial" pitchFamily="34" charset="0"/>
              </a:endParaRPr>
            </a:p>
          </p:txBody>
        </p:sp>
        <p:grpSp>
          <p:nvGrpSpPr>
            <p:cNvPr id="92202" name="Group 7"/>
            <p:cNvGrpSpPr>
              <a:grpSpLocks/>
            </p:cNvGrpSpPr>
            <p:nvPr/>
          </p:nvGrpSpPr>
          <p:grpSpPr bwMode="auto">
            <a:xfrm rot="1278171">
              <a:off x="1610" y="3249"/>
              <a:ext cx="419" cy="482"/>
              <a:chOff x="3070" y="1253"/>
              <a:chExt cx="546" cy="770"/>
            </a:xfrm>
          </p:grpSpPr>
          <p:sp>
            <p:nvSpPr>
              <p:cNvPr id="696328" name="Document"/>
              <p:cNvSpPr>
                <a:spLocks noEditPoints="1" noChangeArrowheads="1"/>
              </p:cNvSpPr>
              <p:nvPr/>
            </p:nvSpPr>
            <p:spPr bwMode="auto">
              <a:xfrm rot="10800000">
                <a:off x="3070" y="1253"/>
                <a:ext cx="546" cy="770"/>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FFFF99"/>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2239" name="Line 9"/>
              <p:cNvSpPr>
                <a:spLocks noChangeShapeType="1"/>
              </p:cNvSpPr>
              <p:nvPr/>
            </p:nvSpPr>
            <p:spPr bwMode="auto">
              <a:xfrm>
                <a:off x="3133" y="1437"/>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0" name="Line 10"/>
              <p:cNvSpPr>
                <a:spLocks noChangeShapeType="1"/>
              </p:cNvSpPr>
              <p:nvPr/>
            </p:nvSpPr>
            <p:spPr bwMode="auto">
              <a:xfrm>
                <a:off x="3139" y="1533"/>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1" name="Line 11"/>
              <p:cNvSpPr>
                <a:spLocks noChangeShapeType="1"/>
              </p:cNvSpPr>
              <p:nvPr/>
            </p:nvSpPr>
            <p:spPr bwMode="auto">
              <a:xfrm>
                <a:off x="3139" y="1911"/>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2" name="Line 12"/>
              <p:cNvSpPr>
                <a:spLocks noChangeShapeType="1"/>
              </p:cNvSpPr>
              <p:nvPr/>
            </p:nvSpPr>
            <p:spPr bwMode="auto">
              <a:xfrm>
                <a:off x="3172" y="1629"/>
                <a:ext cx="41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3" name="Line 13"/>
              <p:cNvSpPr>
                <a:spLocks noChangeShapeType="1"/>
              </p:cNvSpPr>
              <p:nvPr/>
            </p:nvSpPr>
            <p:spPr bwMode="auto">
              <a:xfrm>
                <a:off x="3160" y="1725"/>
                <a:ext cx="41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4" name="Line 14"/>
              <p:cNvSpPr>
                <a:spLocks noChangeShapeType="1"/>
              </p:cNvSpPr>
              <p:nvPr/>
            </p:nvSpPr>
            <p:spPr bwMode="auto">
              <a:xfrm>
                <a:off x="3121" y="1821"/>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203" name="Group 15"/>
            <p:cNvGrpSpPr>
              <a:grpSpLocks/>
            </p:cNvGrpSpPr>
            <p:nvPr/>
          </p:nvGrpSpPr>
          <p:grpSpPr bwMode="auto">
            <a:xfrm>
              <a:off x="777" y="2533"/>
              <a:ext cx="916" cy="1215"/>
              <a:chOff x="3070" y="1253"/>
              <a:chExt cx="546" cy="770"/>
            </a:xfrm>
          </p:grpSpPr>
          <p:sp>
            <p:nvSpPr>
              <p:cNvPr id="696336" name="Document"/>
              <p:cNvSpPr>
                <a:spLocks noEditPoints="1" noChangeArrowheads="1"/>
              </p:cNvSpPr>
              <p:nvPr/>
            </p:nvSpPr>
            <p:spPr bwMode="auto">
              <a:xfrm rot="10800000">
                <a:off x="3070" y="1253"/>
                <a:ext cx="546" cy="770"/>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FFFF99"/>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2232" name="Line 17"/>
              <p:cNvSpPr>
                <a:spLocks noChangeShapeType="1"/>
              </p:cNvSpPr>
              <p:nvPr/>
            </p:nvSpPr>
            <p:spPr bwMode="auto">
              <a:xfrm>
                <a:off x="3133" y="1437"/>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3" name="Line 18"/>
              <p:cNvSpPr>
                <a:spLocks noChangeShapeType="1"/>
              </p:cNvSpPr>
              <p:nvPr/>
            </p:nvSpPr>
            <p:spPr bwMode="auto">
              <a:xfrm>
                <a:off x="3139" y="1533"/>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4" name="Line 19"/>
              <p:cNvSpPr>
                <a:spLocks noChangeShapeType="1"/>
              </p:cNvSpPr>
              <p:nvPr/>
            </p:nvSpPr>
            <p:spPr bwMode="auto">
              <a:xfrm>
                <a:off x="3139" y="1911"/>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5" name="Line 20"/>
              <p:cNvSpPr>
                <a:spLocks noChangeShapeType="1"/>
              </p:cNvSpPr>
              <p:nvPr/>
            </p:nvSpPr>
            <p:spPr bwMode="auto">
              <a:xfrm>
                <a:off x="3172" y="1629"/>
                <a:ext cx="41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6" name="Line 21"/>
              <p:cNvSpPr>
                <a:spLocks noChangeShapeType="1"/>
              </p:cNvSpPr>
              <p:nvPr/>
            </p:nvSpPr>
            <p:spPr bwMode="auto">
              <a:xfrm>
                <a:off x="3160" y="1725"/>
                <a:ext cx="41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7" name="Line 22"/>
              <p:cNvSpPr>
                <a:spLocks noChangeShapeType="1"/>
              </p:cNvSpPr>
              <p:nvPr/>
            </p:nvSpPr>
            <p:spPr bwMode="auto">
              <a:xfrm>
                <a:off x="3121" y="1821"/>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96343" name="Document"/>
            <p:cNvSpPr>
              <a:spLocks noEditPoints="1" noChangeArrowheads="1"/>
            </p:cNvSpPr>
            <p:nvPr/>
          </p:nvSpPr>
          <p:spPr bwMode="auto">
            <a:xfrm rot="9232257">
              <a:off x="745" y="2962"/>
              <a:ext cx="419" cy="482"/>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chemeClr val="tx1"/>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2205" name="Line 24"/>
            <p:cNvSpPr>
              <a:spLocks noChangeShapeType="1"/>
            </p:cNvSpPr>
            <p:nvPr/>
          </p:nvSpPr>
          <p:spPr bwMode="auto">
            <a:xfrm rot="-1567743">
              <a:off x="737" y="3091"/>
              <a:ext cx="317"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6" name="Line 25"/>
            <p:cNvSpPr>
              <a:spLocks noChangeShapeType="1"/>
            </p:cNvSpPr>
            <p:nvPr/>
          </p:nvSpPr>
          <p:spPr bwMode="auto">
            <a:xfrm rot="-1567743">
              <a:off x="768" y="3143"/>
              <a:ext cx="31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7" name="Line 26"/>
            <p:cNvSpPr>
              <a:spLocks noChangeShapeType="1"/>
            </p:cNvSpPr>
            <p:nvPr/>
          </p:nvSpPr>
          <p:spPr bwMode="auto">
            <a:xfrm rot="-1567743">
              <a:off x="764" y="3200"/>
              <a:ext cx="316"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8" name="Line 27"/>
            <p:cNvSpPr>
              <a:spLocks noChangeShapeType="1"/>
            </p:cNvSpPr>
            <p:nvPr/>
          </p:nvSpPr>
          <p:spPr bwMode="auto">
            <a:xfrm rot="-1567743">
              <a:off x="836" y="3243"/>
              <a:ext cx="316"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9" name="Line 28"/>
            <p:cNvSpPr>
              <a:spLocks noChangeShapeType="1"/>
            </p:cNvSpPr>
            <p:nvPr/>
          </p:nvSpPr>
          <p:spPr bwMode="auto">
            <a:xfrm rot="-1567743">
              <a:off x="835" y="3311"/>
              <a:ext cx="31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2210" name="Group 29"/>
            <p:cNvGrpSpPr>
              <a:grpSpLocks/>
            </p:cNvGrpSpPr>
            <p:nvPr/>
          </p:nvGrpSpPr>
          <p:grpSpPr bwMode="auto">
            <a:xfrm rot="-1084374">
              <a:off x="1202" y="3391"/>
              <a:ext cx="419" cy="482"/>
              <a:chOff x="3070" y="1253"/>
              <a:chExt cx="546" cy="770"/>
            </a:xfrm>
          </p:grpSpPr>
          <p:sp>
            <p:nvSpPr>
              <p:cNvPr id="696350" name="Document"/>
              <p:cNvSpPr>
                <a:spLocks noEditPoints="1" noChangeArrowheads="1"/>
              </p:cNvSpPr>
              <p:nvPr/>
            </p:nvSpPr>
            <p:spPr bwMode="auto">
              <a:xfrm rot="10800000">
                <a:off x="3070" y="1253"/>
                <a:ext cx="546" cy="770"/>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FFCC66"/>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2225" name="Line 31"/>
              <p:cNvSpPr>
                <a:spLocks noChangeShapeType="1"/>
              </p:cNvSpPr>
              <p:nvPr/>
            </p:nvSpPr>
            <p:spPr bwMode="auto">
              <a:xfrm>
                <a:off x="3133" y="1437"/>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6" name="Line 32"/>
              <p:cNvSpPr>
                <a:spLocks noChangeShapeType="1"/>
              </p:cNvSpPr>
              <p:nvPr/>
            </p:nvSpPr>
            <p:spPr bwMode="auto">
              <a:xfrm>
                <a:off x="3139" y="1533"/>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7" name="Line 33"/>
              <p:cNvSpPr>
                <a:spLocks noChangeShapeType="1"/>
              </p:cNvSpPr>
              <p:nvPr/>
            </p:nvSpPr>
            <p:spPr bwMode="auto">
              <a:xfrm>
                <a:off x="3139" y="1911"/>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8" name="Line 34"/>
              <p:cNvSpPr>
                <a:spLocks noChangeShapeType="1"/>
              </p:cNvSpPr>
              <p:nvPr/>
            </p:nvSpPr>
            <p:spPr bwMode="auto">
              <a:xfrm>
                <a:off x="3172" y="1629"/>
                <a:ext cx="41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9" name="Line 35"/>
              <p:cNvSpPr>
                <a:spLocks noChangeShapeType="1"/>
              </p:cNvSpPr>
              <p:nvPr/>
            </p:nvSpPr>
            <p:spPr bwMode="auto">
              <a:xfrm>
                <a:off x="3160" y="1725"/>
                <a:ext cx="41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0" name="Line 36"/>
              <p:cNvSpPr>
                <a:spLocks noChangeShapeType="1"/>
              </p:cNvSpPr>
              <p:nvPr/>
            </p:nvSpPr>
            <p:spPr bwMode="auto">
              <a:xfrm>
                <a:off x="3121" y="1821"/>
                <a:ext cx="41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211" name="Freeform 37"/>
            <p:cNvSpPr>
              <a:spLocks/>
            </p:cNvSpPr>
            <p:nvPr/>
          </p:nvSpPr>
          <p:spPr bwMode="auto">
            <a:xfrm>
              <a:off x="1143" y="2832"/>
              <a:ext cx="773" cy="524"/>
            </a:xfrm>
            <a:custGeom>
              <a:avLst/>
              <a:gdLst>
                <a:gd name="T0" fmla="*/ 478 w 478"/>
                <a:gd name="T1" fmla="*/ 448 h 448"/>
                <a:gd name="T2" fmla="*/ 75 w 478"/>
                <a:gd name="T3" fmla="*/ 119 h 448"/>
                <a:gd name="T4" fmla="*/ 30 w 478"/>
                <a:gd name="T5" fmla="*/ 0 h 448"/>
                <a:gd name="T6" fmla="*/ 0 60000 65536"/>
                <a:gd name="T7" fmla="*/ 0 60000 65536"/>
                <a:gd name="T8" fmla="*/ 0 60000 65536"/>
                <a:gd name="T9" fmla="*/ 0 w 478"/>
                <a:gd name="T10" fmla="*/ 0 h 448"/>
                <a:gd name="T11" fmla="*/ 478 w 478"/>
                <a:gd name="T12" fmla="*/ 448 h 448"/>
              </a:gdLst>
              <a:ahLst/>
              <a:cxnLst>
                <a:cxn ang="T6">
                  <a:pos x="T0" y="T1"/>
                </a:cxn>
                <a:cxn ang="T7">
                  <a:pos x="T2" y="T3"/>
                </a:cxn>
                <a:cxn ang="T8">
                  <a:pos x="T4" y="T5"/>
                </a:cxn>
              </a:cxnLst>
              <a:rect l="T9" t="T10" r="T11" b="T12"/>
              <a:pathLst>
                <a:path w="478" h="448">
                  <a:moveTo>
                    <a:pt x="478" y="448"/>
                  </a:moveTo>
                  <a:cubicBezTo>
                    <a:pt x="314" y="321"/>
                    <a:pt x="150" y="194"/>
                    <a:pt x="75" y="119"/>
                  </a:cubicBezTo>
                  <a:cubicBezTo>
                    <a:pt x="0" y="44"/>
                    <a:pt x="15" y="22"/>
                    <a:pt x="30" y="0"/>
                  </a:cubicBezTo>
                </a:path>
              </a:pathLst>
            </a:custGeom>
            <a:noFill/>
            <a:ln w="28575">
              <a:solidFill>
                <a:srgbClr val="CC0000"/>
              </a:solidFill>
              <a:prstDash val="sysDot"/>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12" name="Freeform 38"/>
            <p:cNvSpPr>
              <a:spLocks/>
            </p:cNvSpPr>
            <p:nvPr/>
          </p:nvSpPr>
          <p:spPr bwMode="auto">
            <a:xfrm>
              <a:off x="1111" y="3232"/>
              <a:ext cx="417" cy="347"/>
            </a:xfrm>
            <a:custGeom>
              <a:avLst/>
              <a:gdLst>
                <a:gd name="T0" fmla="*/ 478 w 478"/>
                <a:gd name="T1" fmla="*/ 448 h 448"/>
                <a:gd name="T2" fmla="*/ 75 w 478"/>
                <a:gd name="T3" fmla="*/ 119 h 448"/>
                <a:gd name="T4" fmla="*/ 30 w 478"/>
                <a:gd name="T5" fmla="*/ 0 h 448"/>
                <a:gd name="T6" fmla="*/ 0 60000 65536"/>
                <a:gd name="T7" fmla="*/ 0 60000 65536"/>
                <a:gd name="T8" fmla="*/ 0 60000 65536"/>
                <a:gd name="T9" fmla="*/ 0 w 478"/>
                <a:gd name="T10" fmla="*/ 0 h 448"/>
                <a:gd name="T11" fmla="*/ 478 w 478"/>
                <a:gd name="T12" fmla="*/ 448 h 448"/>
              </a:gdLst>
              <a:ahLst/>
              <a:cxnLst>
                <a:cxn ang="T6">
                  <a:pos x="T0" y="T1"/>
                </a:cxn>
                <a:cxn ang="T7">
                  <a:pos x="T2" y="T3"/>
                </a:cxn>
                <a:cxn ang="T8">
                  <a:pos x="T4" y="T5"/>
                </a:cxn>
              </a:cxnLst>
              <a:rect l="T9" t="T10" r="T11" b="T12"/>
              <a:pathLst>
                <a:path w="478" h="448">
                  <a:moveTo>
                    <a:pt x="478" y="448"/>
                  </a:moveTo>
                  <a:cubicBezTo>
                    <a:pt x="314" y="321"/>
                    <a:pt x="150" y="194"/>
                    <a:pt x="75" y="119"/>
                  </a:cubicBezTo>
                  <a:cubicBezTo>
                    <a:pt x="0" y="44"/>
                    <a:pt x="15" y="22"/>
                    <a:pt x="30" y="0"/>
                  </a:cubicBezTo>
                </a:path>
              </a:pathLst>
            </a:custGeom>
            <a:noFill/>
            <a:ln w="28575">
              <a:solidFill>
                <a:srgbClr val="CC0000"/>
              </a:solidFill>
              <a:prstDash val="sysDot"/>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13" name="Freeform 39"/>
            <p:cNvSpPr>
              <a:spLocks/>
            </p:cNvSpPr>
            <p:nvPr/>
          </p:nvSpPr>
          <p:spPr bwMode="auto">
            <a:xfrm>
              <a:off x="805" y="2779"/>
              <a:ext cx="56" cy="320"/>
            </a:xfrm>
            <a:custGeom>
              <a:avLst/>
              <a:gdLst>
                <a:gd name="T0" fmla="*/ 47 w 56"/>
                <a:gd name="T1" fmla="*/ 320 h 320"/>
                <a:gd name="T2" fmla="*/ 1 w 56"/>
                <a:gd name="T3" fmla="*/ 110 h 320"/>
                <a:gd name="T4" fmla="*/ 56 w 56"/>
                <a:gd name="T5" fmla="*/ 0 h 320"/>
                <a:gd name="T6" fmla="*/ 0 60000 65536"/>
                <a:gd name="T7" fmla="*/ 0 60000 65536"/>
                <a:gd name="T8" fmla="*/ 0 60000 65536"/>
                <a:gd name="T9" fmla="*/ 0 w 56"/>
                <a:gd name="T10" fmla="*/ 0 h 320"/>
                <a:gd name="T11" fmla="*/ 56 w 56"/>
                <a:gd name="T12" fmla="*/ 320 h 320"/>
              </a:gdLst>
              <a:ahLst/>
              <a:cxnLst>
                <a:cxn ang="T6">
                  <a:pos x="T0" y="T1"/>
                </a:cxn>
                <a:cxn ang="T7">
                  <a:pos x="T2" y="T3"/>
                </a:cxn>
                <a:cxn ang="T8">
                  <a:pos x="T4" y="T5"/>
                </a:cxn>
              </a:cxnLst>
              <a:rect l="T9" t="T10" r="T11" b="T12"/>
              <a:pathLst>
                <a:path w="56" h="320">
                  <a:moveTo>
                    <a:pt x="47" y="320"/>
                  </a:moveTo>
                  <a:cubicBezTo>
                    <a:pt x="23" y="241"/>
                    <a:pt x="0" y="163"/>
                    <a:pt x="1" y="110"/>
                  </a:cubicBezTo>
                  <a:cubicBezTo>
                    <a:pt x="2" y="57"/>
                    <a:pt x="29" y="28"/>
                    <a:pt x="56" y="0"/>
                  </a:cubicBezTo>
                </a:path>
              </a:pathLst>
            </a:custGeom>
            <a:noFill/>
            <a:ln w="28575">
              <a:solidFill>
                <a:srgbClr val="CC0000"/>
              </a:solidFill>
              <a:prstDash val="sysDot"/>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92214" name="Group 40"/>
            <p:cNvGrpSpPr>
              <a:grpSpLocks/>
            </p:cNvGrpSpPr>
            <p:nvPr/>
          </p:nvGrpSpPr>
          <p:grpSpPr bwMode="auto">
            <a:xfrm>
              <a:off x="768" y="3356"/>
              <a:ext cx="421" cy="581"/>
              <a:chOff x="291" y="3356"/>
              <a:chExt cx="421" cy="581"/>
            </a:xfrm>
          </p:grpSpPr>
          <p:sp>
            <p:nvSpPr>
              <p:cNvPr id="92215" name="Line 41"/>
              <p:cNvSpPr>
                <a:spLocks noChangeShapeType="1"/>
              </p:cNvSpPr>
              <p:nvPr/>
            </p:nvSpPr>
            <p:spPr bwMode="auto">
              <a:xfrm rot="-1567743">
                <a:off x="396" y="3356"/>
                <a:ext cx="31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362" name="Document"/>
              <p:cNvSpPr>
                <a:spLocks noEditPoints="1" noChangeArrowheads="1"/>
              </p:cNvSpPr>
              <p:nvPr/>
            </p:nvSpPr>
            <p:spPr bwMode="auto">
              <a:xfrm rot="11081689">
                <a:off x="291" y="3455"/>
                <a:ext cx="419" cy="482"/>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EAEAEA"/>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2217" name="Line 43"/>
              <p:cNvSpPr>
                <a:spLocks noChangeShapeType="1"/>
              </p:cNvSpPr>
              <p:nvPr/>
            </p:nvSpPr>
            <p:spPr bwMode="auto">
              <a:xfrm rot="281689">
                <a:off x="349" y="3570"/>
                <a:ext cx="317"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8" name="Line 44"/>
              <p:cNvSpPr>
                <a:spLocks noChangeShapeType="1"/>
              </p:cNvSpPr>
              <p:nvPr/>
            </p:nvSpPr>
            <p:spPr bwMode="auto">
              <a:xfrm rot="281689">
                <a:off x="349" y="3630"/>
                <a:ext cx="31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9" name="Line 45"/>
              <p:cNvSpPr>
                <a:spLocks noChangeShapeType="1"/>
              </p:cNvSpPr>
              <p:nvPr/>
            </p:nvSpPr>
            <p:spPr bwMode="auto">
              <a:xfrm rot="281689">
                <a:off x="330" y="3866"/>
                <a:ext cx="31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0" name="Line 46"/>
              <p:cNvSpPr>
                <a:spLocks noChangeShapeType="1"/>
              </p:cNvSpPr>
              <p:nvPr/>
            </p:nvSpPr>
            <p:spPr bwMode="auto">
              <a:xfrm rot="281689">
                <a:off x="369" y="3692"/>
                <a:ext cx="316"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1" name="Line 47"/>
              <p:cNvSpPr>
                <a:spLocks noChangeShapeType="1"/>
              </p:cNvSpPr>
              <p:nvPr/>
            </p:nvSpPr>
            <p:spPr bwMode="auto">
              <a:xfrm rot="281689">
                <a:off x="355" y="3751"/>
                <a:ext cx="316"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2" name="Line 48"/>
              <p:cNvSpPr>
                <a:spLocks noChangeShapeType="1"/>
              </p:cNvSpPr>
              <p:nvPr/>
            </p:nvSpPr>
            <p:spPr bwMode="auto">
              <a:xfrm rot="281689">
                <a:off x="320" y="3809"/>
                <a:ext cx="31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3" name="Oval 49"/>
              <p:cNvSpPr>
                <a:spLocks noChangeArrowheads="1"/>
              </p:cNvSpPr>
              <p:nvPr/>
            </p:nvSpPr>
            <p:spPr bwMode="auto">
              <a:xfrm>
                <a:off x="332" y="3718"/>
                <a:ext cx="307" cy="112"/>
              </a:xfrm>
              <a:prstGeom prst="ellipse">
                <a:avLst/>
              </a:prstGeom>
              <a:solidFill>
                <a:srgbClr val="EAEAEA"/>
              </a:solidFill>
              <a:ln w="28575">
                <a:solidFill>
                  <a:schemeClr val="folHlink"/>
                </a:solidFill>
                <a:round/>
                <a:headEnd/>
                <a:tailEnd/>
              </a:ln>
            </p:spPr>
            <p:txBody>
              <a:bodyPr wrap="none" lIns="107950" tIns="53975" rIns="107950" bIns="53975" anchor="ctr"/>
              <a:lstStyle/>
              <a:p>
                <a:pPr algn="ctr" eaLnBrk="0" hangingPunct="0"/>
                <a:endParaRPr lang="en-US" sz="1000">
                  <a:solidFill>
                    <a:srgbClr val="EAEAEA"/>
                  </a:solidFill>
                  <a:latin typeface="Arial" pitchFamily="34" charset="0"/>
                </a:endParaRPr>
              </a:p>
            </p:txBody>
          </p:sp>
        </p:grpSp>
      </p:grpSp>
      <p:grpSp>
        <p:nvGrpSpPr>
          <p:cNvPr id="92169" name="Group 50"/>
          <p:cNvGrpSpPr>
            <a:grpSpLocks/>
          </p:cNvGrpSpPr>
          <p:nvPr/>
        </p:nvGrpSpPr>
        <p:grpSpPr bwMode="auto">
          <a:xfrm>
            <a:off x="4987925" y="3668713"/>
            <a:ext cx="1984375" cy="2625725"/>
            <a:chOff x="3142" y="2311"/>
            <a:chExt cx="1250" cy="1654"/>
          </a:xfrm>
        </p:grpSpPr>
        <p:sp>
          <p:nvSpPr>
            <p:cNvPr id="92170" name="Oval 51"/>
            <p:cNvSpPr>
              <a:spLocks noChangeArrowheads="1"/>
            </p:cNvSpPr>
            <p:nvPr/>
          </p:nvSpPr>
          <p:spPr bwMode="auto">
            <a:xfrm>
              <a:off x="3142" y="2311"/>
              <a:ext cx="829" cy="303"/>
            </a:xfrm>
            <a:prstGeom prst="ellipse">
              <a:avLst/>
            </a:prstGeom>
            <a:solidFill>
              <a:srgbClr val="6699FF"/>
            </a:solidFill>
            <a:ln w="28575">
              <a:solidFill>
                <a:srgbClr val="6699FF"/>
              </a:solidFill>
              <a:round/>
              <a:headEnd/>
              <a:tailEnd/>
            </a:ln>
          </p:spPr>
          <p:txBody>
            <a:bodyPr wrap="none" lIns="107950" tIns="53975" rIns="107950" bIns="53975" anchor="ctr"/>
            <a:lstStyle/>
            <a:p>
              <a:pPr algn="ctr" eaLnBrk="0" hangingPunct="0"/>
              <a:endParaRPr lang="en-US" sz="1000">
                <a:solidFill>
                  <a:srgbClr val="EAEAEA"/>
                </a:solidFill>
                <a:latin typeface="Arial" pitchFamily="34" charset="0"/>
              </a:endParaRPr>
            </a:p>
          </p:txBody>
        </p:sp>
        <p:sp>
          <p:nvSpPr>
            <p:cNvPr id="696372" name="Document"/>
            <p:cNvSpPr>
              <a:spLocks noEditPoints="1" noChangeArrowheads="1"/>
            </p:cNvSpPr>
            <p:nvPr/>
          </p:nvSpPr>
          <p:spPr bwMode="auto">
            <a:xfrm rot="10800000">
              <a:off x="3346" y="2547"/>
              <a:ext cx="1046" cy="1418"/>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FFFF99"/>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92172" name="Line 53"/>
            <p:cNvSpPr>
              <a:spLocks noChangeShapeType="1"/>
            </p:cNvSpPr>
            <p:nvPr/>
          </p:nvSpPr>
          <p:spPr bwMode="auto">
            <a:xfrm>
              <a:off x="3455" y="2852"/>
              <a:ext cx="708"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3" name="Line 54"/>
            <p:cNvSpPr>
              <a:spLocks noChangeShapeType="1"/>
            </p:cNvSpPr>
            <p:nvPr/>
          </p:nvSpPr>
          <p:spPr bwMode="auto">
            <a:xfrm>
              <a:off x="3465" y="3011"/>
              <a:ext cx="708"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4" name="Line 55"/>
            <p:cNvSpPr>
              <a:spLocks noChangeShapeType="1"/>
            </p:cNvSpPr>
            <p:nvPr/>
          </p:nvSpPr>
          <p:spPr bwMode="auto">
            <a:xfrm>
              <a:off x="3465" y="3605"/>
              <a:ext cx="708"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5" name="Line 56"/>
            <p:cNvSpPr>
              <a:spLocks noChangeShapeType="1"/>
            </p:cNvSpPr>
            <p:nvPr/>
          </p:nvSpPr>
          <p:spPr bwMode="auto">
            <a:xfrm>
              <a:off x="3522" y="3171"/>
              <a:ext cx="709"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6" name="Line 57"/>
            <p:cNvSpPr>
              <a:spLocks noChangeShapeType="1"/>
            </p:cNvSpPr>
            <p:nvPr/>
          </p:nvSpPr>
          <p:spPr bwMode="auto">
            <a:xfrm>
              <a:off x="3502" y="3330"/>
              <a:ext cx="708"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7" name="Line 58"/>
            <p:cNvSpPr>
              <a:spLocks noChangeShapeType="1"/>
            </p:cNvSpPr>
            <p:nvPr/>
          </p:nvSpPr>
          <p:spPr bwMode="auto">
            <a:xfrm>
              <a:off x="3434" y="3489"/>
              <a:ext cx="709"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2178" name="Group 59"/>
            <p:cNvGrpSpPr>
              <a:grpSpLocks/>
            </p:cNvGrpSpPr>
            <p:nvPr/>
          </p:nvGrpSpPr>
          <p:grpSpPr bwMode="auto">
            <a:xfrm>
              <a:off x="3424" y="2974"/>
              <a:ext cx="807" cy="288"/>
              <a:chOff x="3393" y="2942"/>
              <a:chExt cx="900" cy="317"/>
            </a:xfrm>
          </p:grpSpPr>
          <p:sp>
            <p:nvSpPr>
              <p:cNvPr id="92194" name="Document"/>
              <p:cNvSpPr>
                <a:spLocks noEditPoints="1" noChangeArrowheads="1"/>
              </p:cNvSpPr>
              <p:nvPr/>
            </p:nvSpPr>
            <p:spPr bwMode="auto">
              <a:xfrm rot="10800000">
                <a:off x="3393" y="2942"/>
                <a:ext cx="900" cy="317"/>
              </a:xfrm>
              <a:custGeom>
                <a:avLst/>
                <a:gdLst>
                  <a:gd name="T0" fmla="*/ 448 w 21600"/>
                  <a:gd name="T1" fmla="*/ 317 h 21600"/>
                  <a:gd name="T2" fmla="*/ 4 w 21600"/>
                  <a:gd name="T3" fmla="*/ 159 h 21600"/>
                  <a:gd name="T4" fmla="*/ 448 w 21600"/>
                  <a:gd name="T5" fmla="*/ 1 h 21600"/>
                  <a:gd name="T6" fmla="*/ 904 w 21600"/>
                  <a:gd name="T7" fmla="*/ 156 h 21600"/>
                  <a:gd name="T8" fmla="*/ 448 w 21600"/>
                  <a:gd name="T9" fmla="*/ 317 h 21600"/>
                  <a:gd name="T10" fmla="*/ 0 w 21600"/>
                  <a:gd name="T11" fmla="*/ 0 h 21600"/>
                  <a:gd name="T12" fmla="*/ 900 w 21600"/>
                  <a:gd name="T13" fmla="*/ 0 h 21600"/>
                  <a:gd name="T14" fmla="*/ 900 w 21600"/>
                  <a:gd name="T15" fmla="*/ 317 h 21600"/>
                  <a:gd name="T16" fmla="*/ 0 60000 65536"/>
                  <a:gd name="T17" fmla="*/ 0 60000 65536"/>
                  <a:gd name="T18" fmla="*/ 0 60000 65536"/>
                  <a:gd name="T19" fmla="*/ 0 60000 65536"/>
                  <a:gd name="T20" fmla="*/ 0 60000 65536"/>
                  <a:gd name="T21" fmla="*/ 0 60000 65536"/>
                  <a:gd name="T22" fmla="*/ 0 60000 65536"/>
                  <a:gd name="T23" fmla="*/ 0 60000 65536"/>
                  <a:gd name="T24" fmla="*/ 984 w 21600"/>
                  <a:gd name="T25" fmla="*/ 818 h 21600"/>
                  <a:gd name="T26" fmla="*/ 20616 w 21600"/>
                  <a:gd name="T27" fmla="*/ 1642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195" name="Line 61"/>
              <p:cNvSpPr>
                <a:spLocks noChangeShapeType="1"/>
              </p:cNvSpPr>
              <p:nvPr/>
            </p:nvSpPr>
            <p:spPr bwMode="auto">
              <a:xfrm>
                <a:off x="3497" y="3018"/>
                <a:ext cx="679"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6" name="Line 62"/>
              <p:cNvSpPr>
                <a:spLocks noChangeShapeType="1"/>
              </p:cNvSpPr>
              <p:nvPr/>
            </p:nvSpPr>
            <p:spPr bwMode="auto">
              <a:xfrm>
                <a:off x="3507" y="3057"/>
                <a:ext cx="679"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7" name="Line 63"/>
              <p:cNvSpPr>
                <a:spLocks noChangeShapeType="1"/>
              </p:cNvSpPr>
              <p:nvPr/>
            </p:nvSpPr>
            <p:spPr bwMode="auto">
              <a:xfrm>
                <a:off x="3507" y="3213"/>
                <a:ext cx="679"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8" name="Line 64"/>
              <p:cNvSpPr>
                <a:spLocks noChangeShapeType="1"/>
              </p:cNvSpPr>
              <p:nvPr/>
            </p:nvSpPr>
            <p:spPr bwMode="auto">
              <a:xfrm>
                <a:off x="3561" y="3097"/>
                <a:ext cx="679"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9" name="Line 65"/>
              <p:cNvSpPr>
                <a:spLocks noChangeShapeType="1"/>
              </p:cNvSpPr>
              <p:nvPr/>
            </p:nvSpPr>
            <p:spPr bwMode="auto">
              <a:xfrm>
                <a:off x="3541" y="3136"/>
                <a:ext cx="679"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0" name="Line 66"/>
              <p:cNvSpPr>
                <a:spLocks noChangeShapeType="1"/>
              </p:cNvSpPr>
              <p:nvPr/>
            </p:nvSpPr>
            <p:spPr bwMode="auto">
              <a:xfrm>
                <a:off x="3477" y="3176"/>
                <a:ext cx="679"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179" name="Group 67"/>
            <p:cNvGrpSpPr>
              <a:grpSpLocks/>
            </p:cNvGrpSpPr>
            <p:nvPr/>
          </p:nvGrpSpPr>
          <p:grpSpPr bwMode="auto">
            <a:xfrm>
              <a:off x="3436" y="3265"/>
              <a:ext cx="827" cy="288"/>
              <a:chOff x="2984" y="3352"/>
              <a:chExt cx="922" cy="317"/>
            </a:xfrm>
          </p:grpSpPr>
          <p:sp>
            <p:nvSpPr>
              <p:cNvPr id="92187" name="Document"/>
              <p:cNvSpPr>
                <a:spLocks noEditPoints="1" noChangeArrowheads="1"/>
              </p:cNvSpPr>
              <p:nvPr/>
            </p:nvSpPr>
            <p:spPr bwMode="auto">
              <a:xfrm rot="10800000">
                <a:off x="2984" y="3352"/>
                <a:ext cx="922" cy="317"/>
              </a:xfrm>
              <a:custGeom>
                <a:avLst/>
                <a:gdLst>
                  <a:gd name="T0" fmla="*/ 459 w 21600"/>
                  <a:gd name="T1" fmla="*/ 317 h 21600"/>
                  <a:gd name="T2" fmla="*/ 4 w 21600"/>
                  <a:gd name="T3" fmla="*/ 159 h 21600"/>
                  <a:gd name="T4" fmla="*/ 459 w 21600"/>
                  <a:gd name="T5" fmla="*/ 1 h 21600"/>
                  <a:gd name="T6" fmla="*/ 927 w 21600"/>
                  <a:gd name="T7" fmla="*/ 156 h 21600"/>
                  <a:gd name="T8" fmla="*/ 459 w 21600"/>
                  <a:gd name="T9" fmla="*/ 317 h 21600"/>
                  <a:gd name="T10" fmla="*/ 0 w 21600"/>
                  <a:gd name="T11" fmla="*/ 0 h 21600"/>
                  <a:gd name="T12" fmla="*/ 922 w 21600"/>
                  <a:gd name="T13" fmla="*/ 0 h 21600"/>
                  <a:gd name="T14" fmla="*/ 922 w 21600"/>
                  <a:gd name="T15" fmla="*/ 317 h 21600"/>
                  <a:gd name="T16" fmla="*/ 0 60000 65536"/>
                  <a:gd name="T17" fmla="*/ 0 60000 65536"/>
                  <a:gd name="T18" fmla="*/ 0 60000 65536"/>
                  <a:gd name="T19" fmla="*/ 0 60000 65536"/>
                  <a:gd name="T20" fmla="*/ 0 60000 65536"/>
                  <a:gd name="T21" fmla="*/ 0 60000 65536"/>
                  <a:gd name="T22" fmla="*/ 0 60000 65536"/>
                  <a:gd name="T23" fmla="*/ 0 60000 65536"/>
                  <a:gd name="T24" fmla="*/ 984 w 21600"/>
                  <a:gd name="T25" fmla="*/ 818 h 21600"/>
                  <a:gd name="T26" fmla="*/ 20616 w 21600"/>
                  <a:gd name="T27" fmla="*/ 1642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188" name="Line 69"/>
              <p:cNvSpPr>
                <a:spLocks noChangeShapeType="1"/>
              </p:cNvSpPr>
              <p:nvPr/>
            </p:nvSpPr>
            <p:spPr bwMode="auto">
              <a:xfrm>
                <a:off x="3090" y="3428"/>
                <a:ext cx="69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9" name="Line 70"/>
              <p:cNvSpPr>
                <a:spLocks noChangeShapeType="1"/>
              </p:cNvSpPr>
              <p:nvPr/>
            </p:nvSpPr>
            <p:spPr bwMode="auto">
              <a:xfrm>
                <a:off x="3101" y="3467"/>
                <a:ext cx="69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0" name="Line 71"/>
              <p:cNvSpPr>
                <a:spLocks noChangeShapeType="1"/>
              </p:cNvSpPr>
              <p:nvPr/>
            </p:nvSpPr>
            <p:spPr bwMode="auto">
              <a:xfrm>
                <a:off x="3101" y="3623"/>
                <a:ext cx="69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1" name="Line 72"/>
              <p:cNvSpPr>
                <a:spLocks noChangeShapeType="1"/>
              </p:cNvSpPr>
              <p:nvPr/>
            </p:nvSpPr>
            <p:spPr bwMode="auto">
              <a:xfrm>
                <a:off x="3156" y="3507"/>
                <a:ext cx="696"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2" name="Line 73"/>
              <p:cNvSpPr>
                <a:spLocks noChangeShapeType="1"/>
              </p:cNvSpPr>
              <p:nvPr/>
            </p:nvSpPr>
            <p:spPr bwMode="auto">
              <a:xfrm>
                <a:off x="3136" y="3546"/>
                <a:ext cx="696"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3" name="Line 74"/>
              <p:cNvSpPr>
                <a:spLocks noChangeShapeType="1"/>
              </p:cNvSpPr>
              <p:nvPr/>
            </p:nvSpPr>
            <p:spPr bwMode="auto">
              <a:xfrm>
                <a:off x="3070" y="3586"/>
                <a:ext cx="696"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180" name="Oval 75"/>
            <p:cNvSpPr>
              <a:spLocks noChangeArrowheads="1"/>
            </p:cNvSpPr>
            <p:nvPr/>
          </p:nvSpPr>
          <p:spPr bwMode="auto">
            <a:xfrm>
              <a:off x="3465" y="3760"/>
              <a:ext cx="275" cy="101"/>
            </a:xfrm>
            <a:prstGeom prst="ellipse">
              <a:avLst/>
            </a:prstGeom>
            <a:solidFill>
              <a:schemeClr val="tx1"/>
            </a:solidFill>
            <a:ln w="28575">
              <a:solidFill>
                <a:schemeClr val="folHlink"/>
              </a:solidFill>
              <a:round/>
              <a:headEnd/>
              <a:tailEnd/>
            </a:ln>
          </p:spPr>
          <p:txBody>
            <a:bodyPr wrap="none" lIns="107950" tIns="53975" rIns="107950" bIns="53975" anchor="ctr"/>
            <a:lstStyle/>
            <a:p>
              <a:pPr algn="ctr" eaLnBrk="0" hangingPunct="0"/>
              <a:endParaRPr lang="en-US" sz="1000">
                <a:solidFill>
                  <a:srgbClr val="EAEAEA"/>
                </a:solidFill>
                <a:latin typeface="Arial" pitchFamily="34" charset="0"/>
              </a:endParaRPr>
            </a:p>
          </p:txBody>
        </p:sp>
        <p:sp>
          <p:nvSpPr>
            <p:cNvPr id="92181" name="Document"/>
            <p:cNvSpPr>
              <a:spLocks noEditPoints="1" noChangeArrowheads="1"/>
            </p:cNvSpPr>
            <p:nvPr/>
          </p:nvSpPr>
          <p:spPr bwMode="auto">
            <a:xfrm rot="10800000">
              <a:off x="3433" y="3564"/>
              <a:ext cx="827" cy="147"/>
            </a:xfrm>
            <a:custGeom>
              <a:avLst/>
              <a:gdLst>
                <a:gd name="T0" fmla="*/ 412 w 21600"/>
                <a:gd name="T1" fmla="*/ 147 h 21600"/>
                <a:gd name="T2" fmla="*/ 3 w 21600"/>
                <a:gd name="T3" fmla="*/ 74 h 21600"/>
                <a:gd name="T4" fmla="*/ 412 w 21600"/>
                <a:gd name="T5" fmla="*/ 1 h 21600"/>
                <a:gd name="T6" fmla="*/ 831 w 21600"/>
                <a:gd name="T7" fmla="*/ 72 h 21600"/>
                <a:gd name="T8" fmla="*/ 412 w 21600"/>
                <a:gd name="T9" fmla="*/ 147 h 21600"/>
                <a:gd name="T10" fmla="*/ 0 w 21600"/>
                <a:gd name="T11" fmla="*/ 0 h 21600"/>
                <a:gd name="T12" fmla="*/ 827 w 21600"/>
                <a:gd name="T13" fmla="*/ 0 h 21600"/>
                <a:gd name="T14" fmla="*/ 827 w 21600"/>
                <a:gd name="T15" fmla="*/ 147 h 21600"/>
                <a:gd name="T16" fmla="*/ 0 60000 65536"/>
                <a:gd name="T17" fmla="*/ 0 60000 65536"/>
                <a:gd name="T18" fmla="*/ 0 60000 65536"/>
                <a:gd name="T19" fmla="*/ 0 60000 65536"/>
                <a:gd name="T20" fmla="*/ 0 60000 65536"/>
                <a:gd name="T21" fmla="*/ 0 60000 65536"/>
                <a:gd name="T22" fmla="*/ 0 60000 65536"/>
                <a:gd name="T23" fmla="*/ 0 60000 65536"/>
                <a:gd name="T24" fmla="*/ 966 w 21600"/>
                <a:gd name="T25" fmla="*/ 882 h 21600"/>
                <a:gd name="T26" fmla="*/ 20634 w 21600"/>
                <a:gd name="T27" fmla="*/ 1645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182" name="Line 77"/>
            <p:cNvSpPr>
              <a:spLocks noChangeShapeType="1"/>
            </p:cNvSpPr>
            <p:nvPr/>
          </p:nvSpPr>
          <p:spPr bwMode="auto">
            <a:xfrm>
              <a:off x="3528" y="3599"/>
              <a:ext cx="6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3" name="Line 78"/>
            <p:cNvSpPr>
              <a:spLocks noChangeShapeType="1"/>
            </p:cNvSpPr>
            <p:nvPr/>
          </p:nvSpPr>
          <p:spPr bwMode="auto">
            <a:xfrm>
              <a:off x="3538" y="3673"/>
              <a:ext cx="62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4" name="Line 79"/>
            <p:cNvSpPr>
              <a:spLocks noChangeShapeType="1"/>
            </p:cNvSpPr>
            <p:nvPr/>
          </p:nvSpPr>
          <p:spPr bwMode="auto">
            <a:xfrm>
              <a:off x="3588" y="3636"/>
              <a:ext cx="624"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5" name="Line 80"/>
            <p:cNvSpPr>
              <a:spLocks noChangeShapeType="1"/>
            </p:cNvSpPr>
            <p:nvPr/>
          </p:nvSpPr>
          <p:spPr bwMode="auto">
            <a:xfrm>
              <a:off x="3754" y="3796"/>
              <a:ext cx="477"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6" name="Line 81"/>
            <p:cNvSpPr>
              <a:spLocks noChangeShapeType="1"/>
            </p:cNvSpPr>
            <p:nvPr/>
          </p:nvSpPr>
          <p:spPr bwMode="auto">
            <a:xfrm>
              <a:off x="3759" y="3851"/>
              <a:ext cx="477"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83</a:t>
            </a:fld>
            <a:endParaRPr lang="en-US"/>
          </a:p>
        </p:txBody>
      </p:sp>
    </p:spTree>
    <p:extLst>
      <p:ext uri="{BB962C8B-B14F-4D97-AF65-F5344CB8AC3E}">
        <p14:creationId xmlns:p14="http://schemas.microsoft.com/office/powerpoint/2010/main" val="6870390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9"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027238" y="2022475"/>
            <a:ext cx="5010150" cy="4144963"/>
          </a:xfrm>
          <a:noFill/>
          <a:ln>
            <a:solidFill>
              <a:schemeClr val="tx1"/>
            </a:solidFill>
            <a:miter lim="800000"/>
            <a:headEnd/>
            <a:tailEnd/>
          </a:ln>
        </p:spPr>
      </p:pic>
      <p:sp>
        <p:nvSpPr>
          <p:cNvPr id="698371" name="Rectangle 3"/>
          <p:cNvSpPr>
            <a:spLocks noGrp="1" noChangeArrowheads="1"/>
          </p:cNvSpPr>
          <p:nvPr>
            <p:ph type="title"/>
          </p:nvPr>
        </p:nvSpPr>
        <p:spPr/>
        <p:txBody>
          <a:bodyPr/>
          <a:lstStyle/>
          <a:p>
            <a:pPr eaLnBrk="1" hangingPunct="1">
              <a:defRPr/>
            </a:pPr>
            <a:r>
              <a:rPr lang="en-US" sz="2800" dirty="0"/>
              <a:t>Cross-referencing using a label</a:t>
            </a:r>
          </a:p>
        </p:txBody>
      </p:sp>
      <p:sp>
        <p:nvSpPr>
          <p:cNvPr id="93191" name="Text Box 4"/>
          <p:cNvSpPr txBox="1">
            <a:spLocks noChangeArrowheads="1"/>
          </p:cNvSpPr>
          <p:nvPr/>
        </p:nvSpPr>
        <p:spPr bwMode="auto">
          <a:xfrm>
            <a:off x="3640138" y="1270000"/>
            <a:ext cx="1441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b="1">
                <a:solidFill>
                  <a:schemeClr val="tx1"/>
                </a:solidFill>
                <a:latin typeface="Arial" pitchFamily="34" charset="0"/>
              </a:rPr>
              <a:t>RUP</a:t>
            </a:r>
            <a:r>
              <a:rPr lang="en-US" sz="3200" b="1">
                <a:solidFill>
                  <a:schemeClr val="tx1"/>
                </a:solidFill>
                <a:latin typeface="Arial" pitchFamily="34" charset="0"/>
              </a:rPr>
              <a:t> </a:t>
            </a:r>
            <a:r>
              <a:rPr lang="en-US" sz="2000" b="1">
                <a:solidFill>
                  <a:schemeClr val="tx1"/>
                </a:solidFill>
                <a:latin typeface="Arial" pitchFamily="34" charset="0"/>
              </a:rPr>
              <a:t>Style</a:t>
            </a:r>
          </a:p>
        </p:txBody>
      </p:sp>
      <p:sp>
        <p:nvSpPr>
          <p:cNvPr id="93192" name="Oval 5"/>
          <p:cNvSpPr>
            <a:spLocks noChangeArrowheads="1"/>
          </p:cNvSpPr>
          <p:nvPr/>
        </p:nvSpPr>
        <p:spPr bwMode="auto">
          <a:xfrm>
            <a:off x="1971675" y="2133600"/>
            <a:ext cx="2211388" cy="317500"/>
          </a:xfrm>
          <a:prstGeom prst="ellipse">
            <a:avLst/>
          </a:prstGeom>
          <a:solidFill>
            <a:srgbClr val="EAEAEA"/>
          </a:solidFill>
          <a:ln w="28575">
            <a:solidFill>
              <a:srgbClr val="006699"/>
            </a:solidFill>
            <a:round/>
            <a:headEnd type="none" w="sm" len="sm"/>
            <a:tailEnd/>
          </a:ln>
        </p:spPr>
        <p:txBody>
          <a:bodyPr wrap="none" anchor="ctr"/>
          <a:lstStyle/>
          <a:p>
            <a:pPr algn="ctr" eaLnBrk="0" hangingPunct="0"/>
            <a:r>
              <a:rPr lang="en-US" sz="1400" b="1">
                <a:solidFill>
                  <a:schemeClr val="tx1"/>
                </a:solidFill>
              </a:rPr>
              <a:t>1. Student Logs On</a:t>
            </a:r>
          </a:p>
        </p:txBody>
      </p:sp>
      <p:sp>
        <p:nvSpPr>
          <p:cNvPr id="93193" name="Oval 6"/>
          <p:cNvSpPr>
            <a:spLocks noChangeArrowheads="1"/>
          </p:cNvSpPr>
          <p:nvPr/>
        </p:nvSpPr>
        <p:spPr bwMode="auto">
          <a:xfrm>
            <a:off x="2057400" y="5257800"/>
            <a:ext cx="3657600" cy="457200"/>
          </a:xfrm>
          <a:prstGeom prst="ellipse">
            <a:avLst/>
          </a:prstGeom>
          <a:solidFill>
            <a:srgbClr val="EAEAEA"/>
          </a:solidFill>
          <a:ln w="28575">
            <a:solidFill>
              <a:srgbClr val="006699"/>
            </a:solidFill>
            <a:round/>
            <a:headEnd type="none" w="sm" len="sm"/>
            <a:tailEnd/>
          </a:ln>
        </p:spPr>
        <p:txBody>
          <a:bodyPr wrap="none" anchor="ctr"/>
          <a:lstStyle/>
          <a:p>
            <a:pPr algn="ctr" eaLnBrk="0" hangingPunct="0"/>
            <a:r>
              <a:rPr lang="en-US" sz="1400" b="1">
                <a:solidFill>
                  <a:schemeClr val="tx1"/>
                </a:solidFill>
              </a:rPr>
              <a:t>In the Student Logs On step of the Basic Flow, </a:t>
            </a:r>
          </a:p>
        </p:txBody>
      </p:sp>
      <p:sp>
        <p:nvSpPr>
          <p:cNvPr id="93194" name="Line 7"/>
          <p:cNvSpPr>
            <a:spLocks noChangeShapeType="1"/>
          </p:cNvSpPr>
          <p:nvPr/>
        </p:nvSpPr>
        <p:spPr bwMode="auto">
          <a:xfrm flipH="1" flipV="1">
            <a:off x="3419475" y="2486025"/>
            <a:ext cx="390525" cy="2771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93195" name="Group 8"/>
          <p:cNvGrpSpPr>
            <a:grpSpLocks/>
          </p:cNvGrpSpPr>
          <p:nvPr/>
        </p:nvGrpSpPr>
        <p:grpSpPr bwMode="auto">
          <a:xfrm>
            <a:off x="381000" y="914400"/>
            <a:ext cx="3048000" cy="762000"/>
            <a:chOff x="240" y="576"/>
            <a:chExt cx="1920" cy="480"/>
          </a:xfrm>
        </p:grpSpPr>
        <p:sp>
          <p:nvSpPr>
            <p:cNvPr id="93196" name="Oval 9"/>
            <p:cNvSpPr>
              <a:spLocks noChangeArrowheads="1"/>
            </p:cNvSpPr>
            <p:nvPr/>
          </p:nvSpPr>
          <p:spPr bwMode="auto">
            <a:xfrm>
              <a:off x="240" y="576"/>
              <a:ext cx="1920" cy="48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93197" name="Text Box 10"/>
            <p:cNvSpPr txBox="1">
              <a:spLocks noChangeArrowheads="1"/>
            </p:cNvSpPr>
            <p:nvPr/>
          </p:nvSpPr>
          <p:spPr bwMode="auto">
            <a:xfrm>
              <a:off x="528" y="672"/>
              <a:ext cx="1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1800">
                  <a:solidFill>
                    <a:schemeClr val="tx1"/>
                  </a:solidFill>
                  <a:latin typeface="Arial" pitchFamily="34" charset="0"/>
                </a:rPr>
                <a:t>Register for Course</a:t>
              </a:r>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84</a:t>
            </a:fld>
            <a:endParaRPr lang="en-US"/>
          </a:p>
        </p:txBody>
      </p:sp>
    </p:spTree>
    <p:extLst>
      <p:ext uri="{BB962C8B-B14F-4D97-AF65-F5344CB8AC3E}">
        <p14:creationId xmlns:p14="http://schemas.microsoft.com/office/powerpoint/2010/main" val="24370866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pPr eaLnBrk="1" hangingPunct="1">
              <a:defRPr/>
            </a:pPr>
            <a:r>
              <a:rPr lang="en-US" sz="2800" dirty="0"/>
              <a:t>Review: Flows of events (basic and alternative)</a:t>
            </a:r>
          </a:p>
        </p:txBody>
      </p:sp>
      <p:sp>
        <p:nvSpPr>
          <p:cNvPr id="94214" name="Rectangle 3"/>
          <p:cNvSpPr>
            <a:spLocks noGrp="1" noChangeArrowheads="1"/>
          </p:cNvSpPr>
          <p:nvPr>
            <p:ph type="body" idx="1"/>
          </p:nvPr>
        </p:nvSpPr>
        <p:spPr/>
        <p:txBody>
          <a:bodyPr/>
          <a:lstStyle/>
          <a:p>
            <a:pPr marL="339725" indent="-339725" eaLnBrk="1" hangingPunct="1"/>
            <a:r>
              <a:rPr lang="en-US" sz="2000" dirty="0"/>
              <a:t>One basic flow</a:t>
            </a:r>
          </a:p>
          <a:p>
            <a:pPr marL="682625" lvl="1" indent="-228600" eaLnBrk="1" hangingPunct="1"/>
            <a:r>
              <a:rPr lang="en-US" sz="2000" dirty="0"/>
              <a:t>Happy day scenario</a:t>
            </a:r>
          </a:p>
          <a:p>
            <a:pPr marL="682625" lvl="1" indent="-228600" eaLnBrk="1" hangingPunct="1"/>
            <a:r>
              <a:rPr lang="en-US" sz="2000" dirty="0"/>
              <a:t>Successful scenario from start to finish</a:t>
            </a:r>
          </a:p>
          <a:p>
            <a:pPr marL="339725" indent="-339725" eaLnBrk="1" hangingPunct="1"/>
            <a:r>
              <a:rPr lang="en-US" sz="2000" dirty="0"/>
              <a:t>Many alternative flows</a:t>
            </a:r>
          </a:p>
          <a:p>
            <a:pPr marL="682625" lvl="1" indent="-228600" eaLnBrk="1" hangingPunct="1"/>
            <a:r>
              <a:rPr lang="en-US" sz="2000" dirty="0"/>
              <a:t>Regular variants</a:t>
            </a:r>
          </a:p>
          <a:p>
            <a:pPr marL="682625" lvl="1" indent="-228600" eaLnBrk="1" hangingPunct="1"/>
            <a:r>
              <a:rPr lang="en-US" sz="2000" dirty="0"/>
              <a:t>Odd cases</a:t>
            </a:r>
          </a:p>
          <a:p>
            <a:pPr marL="682625" lvl="1" indent="-228600" eaLnBrk="1" hangingPunct="1"/>
            <a:r>
              <a:rPr lang="en-US" sz="2000" dirty="0">
                <a:solidFill>
                  <a:srgbClr val="999999"/>
                </a:solidFill>
              </a:rPr>
              <a:t>Exceptional (error) flows</a:t>
            </a:r>
          </a:p>
        </p:txBody>
      </p:sp>
      <p:grpSp>
        <p:nvGrpSpPr>
          <p:cNvPr id="94215" name="Group 4"/>
          <p:cNvGrpSpPr>
            <a:grpSpLocks/>
          </p:cNvGrpSpPr>
          <p:nvPr/>
        </p:nvGrpSpPr>
        <p:grpSpPr bwMode="auto">
          <a:xfrm>
            <a:off x="6019800" y="2819400"/>
            <a:ext cx="2819400" cy="2590800"/>
            <a:chOff x="3792" y="1776"/>
            <a:chExt cx="1776" cy="1632"/>
          </a:xfrm>
        </p:grpSpPr>
        <p:sp>
          <p:nvSpPr>
            <p:cNvPr id="94216" name="Line 5"/>
            <p:cNvSpPr>
              <a:spLocks noChangeShapeType="1"/>
            </p:cNvSpPr>
            <p:nvPr/>
          </p:nvSpPr>
          <p:spPr bwMode="auto">
            <a:xfrm>
              <a:off x="4704" y="1776"/>
              <a:ext cx="0" cy="1632"/>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94217" name="Group 6"/>
            <p:cNvGrpSpPr>
              <a:grpSpLocks/>
            </p:cNvGrpSpPr>
            <p:nvPr/>
          </p:nvGrpSpPr>
          <p:grpSpPr bwMode="auto">
            <a:xfrm>
              <a:off x="4704" y="2113"/>
              <a:ext cx="337" cy="336"/>
              <a:chOff x="4176" y="1537"/>
              <a:chExt cx="337" cy="336"/>
            </a:xfrm>
          </p:grpSpPr>
          <p:sp>
            <p:nvSpPr>
              <p:cNvPr id="94236" name="Arc 7"/>
              <p:cNvSpPr>
                <a:spLocks/>
              </p:cNvSpPr>
              <p:nvPr/>
            </p:nvSpPr>
            <p:spPr bwMode="auto">
              <a:xfrm>
                <a:off x="4176" y="1537"/>
                <a:ext cx="337" cy="192"/>
              </a:xfrm>
              <a:custGeom>
                <a:avLst/>
                <a:gdLst>
                  <a:gd name="T0" fmla="*/ 0 w 21664"/>
                  <a:gd name="T1" fmla="*/ 0 h 21600"/>
                  <a:gd name="T2" fmla="*/ 337 w 21664"/>
                  <a:gd name="T3" fmla="*/ 192 h 21600"/>
                  <a:gd name="T4" fmla="*/ 1 w 21664"/>
                  <a:gd name="T5" fmla="*/ 192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237" name="Arc 8"/>
              <p:cNvSpPr>
                <a:spLocks/>
              </p:cNvSpPr>
              <p:nvPr/>
            </p:nvSpPr>
            <p:spPr bwMode="auto">
              <a:xfrm rot="10800000">
                <a:off x="4177" y="1682"/>
                <a:ext cx="336" cy="191"/>
              </a:xfrm>
              <a:custGeom>
                <a:avLst/>
                <a:gdLst>
                  <a:gd name="T0" fmla="*/ 0 w 21600"/>
                  <a:gd name="T1" fmla="*/ 191 h 21497"/>
                  <a:gd name="T2" fmla="*/ 303 w 21600"/>
                  <a:gd name="T3" fmla="*/ 0 h 21497"/>
                  <a:gd name="T4" fmla="*/ 336 w 21600"/>
                  <a:gd name="T5" fmla="*/ 191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508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4218" name="Group 9"/>
            <p:cNvGrpSpPr>
              <a:grpSpLocks/>
            </p:cNvGrpSpPr>
            <p:nvPr/>
          </p:nvGrpSpPr>
          <p:grpSpPr bwMode="auto">
            <a:xfrm>
              <a:off x="4320" y="1921"/>
              <a:ext cx="337" cy="430"/>
              <a:chOff x="3792" y="1345"/>
              <a:chExt cx="337" cy="430"/>
            </a:xfrm>
          </p:grpSpPr>
          <p:sp>
            <p:nvSpPr>
              <p:cNvPr id="94234" name="Arc 10"/>
              <p:cNvSpPr>
                <a:spLocks/>
              </p:cNvSpPr>
              <p:nvPr/>
            </p:nvSpPr>
            <p:spPr bwMode="auto">
              <a:xfrm rot="10800000">
                <a:off x="3792" y="1556"/>
                <a:ext cx="336" cy="219"/>
              </a:xfrm>
              <a:custGeom>
                <a:avLst/>
                <a:gdLst>
                  <a:gd name="T0" fmla="*/ 0 w 21600"/>
                  <a:gd name="T1" fmla="*/ 0 h 21600"/>
                  <a:gd name="T2" fmla="*/ 336 w 21600"/>
                  <a:gd name="T3" fmla="*/ 219 h 21600"/>
                  <a:gd name="T4" fmla="*/ 0 w 21600"/>
                  <a:gd name="T5" fmla="*/ 21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rgbClr val="0066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235" name="Arc 11"/>
              <p:cNvSpPr>
                <a:spLocks/>
              </p:cNvSpPr>
              <p:nvPr/>
            </p:nvSpPr>
            <p:spPr bwMode="auto">
              <a:xfrm>
                <a:off x="3793" y="1345"/>
                <a:ext cx="336" cy="218"/>
              </a:xfrm>
              <a:custGeom>
                <a:avLst/>
                <a:gdLst>
                  <a:gd name="T0" fmla="*/ 0 w 21600"/>
                  <a:gd name="T1" fmla="*/ 218 h 21496"/>
                  <a:gd name="T2" fmla="*/ 303 w 21600"/>
                  <a:gd name="T3" fmla="*/ 0 h 21496"/>
                  <a:gd name="T4" fmla="*/ 336 w 21600"/>
                  <a:gd name="T5" fmla="*/ 218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50800" cap="rnd">
                <a:solidFill>
                  <a:srgbClr val="006699"/>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4219" name="Group 12"/>
            <p:cNvGrpSpPr>
              <a:grpSpLocks/>
            </p:cNvGrpSpPr>
            <p:nvPr/>
          </p:nvGrpSpPr>
          <p:grpSpPr bwMode="auto">
            <a:xfrm>
              <a:off x="5040" y="2305"/>
              <a:ext cx="528" cy="479"/>
              <a:chOff x="4512" y="1729"/>
              <a:chExt cx="528" cy="479"/>
            </a:xfrm>
          </p:grpSpPr>
          <p:sp>
            <p:nvSpPr>
              <p:cNvPr id="94230" name="Arc 13"/>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231" name="Line 14"/>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32" name="Line 15"/>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33" name="Line 16"/>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4220" name="Group 17"/>
            <p:cNvGrpSpPr>
              <a:grpSpLocks/>
            </p:cNvGrpSpPr>
            <p:nvPr/>
          </p:nvGrpSpPr>
          <p:grpSpPr bwMode="auto">
            <a:xfrm>
              <a:off x="4128" y="2545"/>
              <a:ext cx="529" cy="479"/>
              <a:chOff x="3600" y="1969"/>
              <a:chExt cx="529" cy="479"/>
            </a:xfrm>
          </p:grpSpPr>
          <p:sp>
            <p:nvSpPr>
              <p:cNvPr id="94226" name="Arc 18"/>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227" name="Line 19"/>
              <p:cNvSpPr>
                <a:spLocks noChangeShapeType="1"/>
              </p:cNvSpPr>
              <p:nvPr/>
            </p:nvSpPr>
            <p:spPr bwMode="auto">
              <a:xfrm flipH="1">
                <a:off x="3600" y="2352"/>
                <a:ext cx="240"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8" name="Line 20"/>
              <p:cNvSpPr>
                <a:spLocks noChangeShapeType="1"/>
              </p:cNvSpPr>
              <p:nvPr/>
            </p:nvSpPr>
            <p:spPr bwMode="auto">
              <a:xfrm flipH="1">
                <a:off x="3648" y="2400"/>
                <a:ext cx="144"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9" name="Line 21"/>
              <p:cNvSpPr>
                <a:spLocks noChangeShapeType="1"/>
              </p:cNvSpPr>
              <p:nvPr/>
            </p:nvSpPr>
            <p:spPr bwMode="auto">
              <a:xfrm flipH="1">
                <a:off x="3696" y="2448"/>
                <a:ext cx="48"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4221" name="Group 22"/>
            <p:cNvGrpSpPr>
              <a:grpSpLocks/>
            </p:cNvGrpSpPr>
            <p:nvPr/>
          </p:nvGrpSpPr>
          <p:grpSpPr bwMode="auto">
            <a:xfrm>
              <a:off x="3792" y="2113"/>
              <a:ext cx="529" cy="479"/>
              <a:chOff x="3264" y="1537"/>
              <a:chExt cx="529" cy="479"/>
            </a:xfrm>
          </p:grpSpPr>
          <p:sp>
            <p:nvSpPr>
              <p:cNvPr id="94222" name="Arc 23"/>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4223" name="Line 24"/>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4" name="Line 25"/>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5" name="Line 26"/>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 name="Slide Number Placeholder 1"/>
          <p:cNvSpPr>
            <a:spLocks noGrp="1"/>
          </p:cNvSpPr>
          <p:nvPr>
            <p:ph type="sldNum" sz="quarter" idx="12"/>
          </p:nvPr>
        </p:nvSpPr>
        <p:spPr/>
        <p:txBody>
          <a:bodyPr/>
          <a:lstStyle/>
          <a:p>
            <a:fld id="{DED05017-923D-480E-B02E-B52739184DCA}" type="slidenum">
              <a:rPr lang="en-US" smtClean="0"/>
              <a:pPr/>
              <a:t>85</a:t>
            </a:fld>
            <a:endParaRPr lang="en-US"/>
          </a:p>
        </p:txBody>
      </p:sp>
    </p:spTree>
    <p:extLst>
      <p:ext uri="{BB962C8B-B14F-4D97-AF65-F5344CB8AC3E}">
        <p14:creationId xmlns:p14="http://schemas.microsoft.com/office/powerpoint/2010/main" val="11881351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7" name="Rectangle 2"/>
          <p:cNvSpPr>
            <a:spLocks noChangeArrowheads="1"/>
          </p:cNvSpPr>
          <p:nvPr/>
        </p:nvSpPr>
        <p:spPr bwMode="auto">
          <a:xfrm>
            <a:off x="304800" y="1219200"/>
            <a:ext cx="6870700" cy="5203825"/>
          </a:xfrm>
          <a:prstGeom prst="rect">
            <a:avLst/>
          </a:prstGeom>
          <a:solidFill>
            <a:srgbClr val="DDDDDD"/>
          </a:solidFill>
          <a:ln w="9525">
            <a:solidFill>
              <a:schemeClr val="bg2"/>
            </a:solidFill>
            <a:prstDash val="dash"/>
            <a:miter lim="800000"/>
            <a:headEnd/>
            <a:tailEnd/>
          </a:ln>
        </p:spPr>
        <p:txBody>
          <a:bodyPr lIns="0" tIns="76176" rIns="0" bIns="38088">
            <a:spAutoFit/>
          </a:bodyPr>
          <a:lstStyle/>
          <a:p>
            <a:pPr marL="611188" indent="-457200" eaLnBrk="0" hangingPunct="0">
              <a:lnSpc>
                <a:spcPct val="95000"/>
              </a:lnSpc>
            </a:pPr>
            <a:r>
              <a:rPr lang="en-US" sz="2200" b="1" dirty="0">
                <a:solidFill>
                  <a:schemeClr val="bg2"/>
                </a:solidFill>
                <a:latin typeface="Arial Narrow" pitchFamily="34" charset="0"/>
                <a:cs typeface="Times New Roman" pitchFamily="18" charset="0"/>
              </a:rPr>
              <a:t>2.8	Unidentified Student.  </a:t>
            </a:r>
          </a:p>
          <a:p>
            <a:pPr marL="611188" indent="-457200" eaLnBrk="0" hangingPunct="0">
              <a:lnSpc>
                <a:spcPct val="95000"/>
              </a:lnSpc>
            </a:pPr>
            <a:r>
              <a:rPr lang="en-US" sz="2200" b="1" dirty="0">
                <a:solidFill>
                  <a:schemeClr val="bg2"/>
                </a:solidFill>
                <a:latin typeface="Arial Narrow" pitchFamily="34" charset="0"/>
                <a:cs typeface="Times New Roman" pitchFamily="18" charset="0"/>
              </a:rPr>
              <a:t>     </a:t>
            </a:r>
            <a:r>
              <a:rPr lang="en-US" sz="2200" b="1" dirty="0">
                <a:solidFill>
                  <a:schemeClr val="accent1"/>
                </a:solidFill>
                <a:latin typeface="Arial Narrow" pitchFamily="34" charset="0"/>
                <a:cs typeface="Times New Roman" pitchFamily="18" charset="0"/>
              </a:rPr>
              <a:t>In the Log On step of the Basic Flow</a:t>
            </a:r>
            <a:r>
              <a:rPr lang="en-US" sz="2200" b="1" dirty="0">
                <a:solidFill>
                  <a:schemeClr val="bg2"/>
                </a:solidFill>
                <a:latin typeface="Arial Narrow" pitchFamily="34" charset="0"/>
                <a:cs typeface="Times New Roman" pitchFamily="18" charset="0"/>
              </a:rPr>
              <a:t>, </a:t>
            </a:r>
            <a:r>
              <a:rPr lang="en-US" sz="2200" b="1" i="1" dirty="0">
                <a:solidFill>
                  <a:schemeClr val="bg2"/>
                </a:solidFill>
                <a:latin typeface="Arial Narrow" pitchFamily="34" charset="0"/>
                <a:cs typeface="Times New Roman" pitchFamily="18" charset="0"/>
              </a:rPr>
              <a:t>if the system determines that the student identification information is not valid</a:t>
            </a:r>
            <a:r>
              <a:rPr lang="en-US" sz="2200" b="1" dirty="0">
                <a:solidFill>
                  <a:schemeClr val="bg2"/>
                </a:solidFill>
                <a:latin typeface="Arial Narrow" pitchFamily="34" charset="0"/>
                <a:cs typeface="Times New Roman" pitchFamily="18" charset="0"/>
              </a:rPr>
              <a:t>, </a:t>
            </a:r>
            <a:r>
              <a:rPr lang="en-US" sz="2200" b="1" dirty="0">
                <a:solidFill>
                  <a:srgbClr val="009900"/>
                </a:solidFill>
                <a:latin typeface="Arial Narrow" pitchFamily="34" charset="0"/>
                <a:cs typeface="Times New Roman" pitchFamily="18" charset="0"/>
              </a:rPr>
              <a:t>an error message is displayed</a:t>
            </a:r>
            <a:r>
              <a:rPr lang="en-US" sz="2200" b="1" dirty="0">
                <a:solidFill>
                  <a:schemeClr val="bg2"/>
                </a:solidFill>
                <a:latin typeface="Arial Narrow" pitchFamily="34" charset="0"/>
                <a:cs typeface="Times New Roman" pitchFamily="18" charset="0"/>
              </a:rPr>
              <a:t>, and the use case ends. </a:t>
            </a:r>
            <a:endParaRPr lang="en-GB" sz="2400" b="1" i="1" dirty="0">
              <a:solidFill>
                <a:schemeClr val="tx1"/>
              </a:solidFill>
            </a:endParaRPr>
          </a:p>
          <a:p>
            <a:pPr marL="611188" indent="-457200" eaLnBrk="0" hangingPunct="0">
              <a:lnSpc>
                <a:spcPct val="95000"/>
              </a:lnSpc>
            </a:pPr>
            <a:r>
              <a:rPr lang="en-US" sz="2200" b="1" dirty="0">
                <a:solidFill>
                  <a:schemeClr val="bg2"/>
                </a:solidFill>
                <a:latin typeface="Arial Narrow" pitchFamily="34" charset="0"/>
                <a:cs typeface="Times New Roman" pitchFamily="18" charset="0"/>
              </a:rPr>
              <a:t>2.9	Quit and Save.</a:t>
            </a:r>
          </a:p>
          <a:p>
            <a:pPr marL="611188" indent="-457200" eaLnBrk="0" hangingPunct="0">
              <a:lnSpc>
                <a:spcPct val="95000"/>
              </a:lnSpc>
            </a:pPr>
            <a:r>
              <a:rPr lang="en-US" sz="2200" b="1" dirty="0">
                <a:solidFill>
                  <a:schemeClr val="bg2"/>
                </a:solidFill>
                <a:latin typeface="Arial Narrow" pitchFamily="34" charset="0"/>
                <a:cs typeface="Times New Roman" pitchFamily="18" charset="0"/>
              </a:rPr>
              <a:t>      </a:t>
            </a:r>
            <a:r>
              <a:rPr lang="en-US" sz="2200" b="1" dirty="0">
                <a:solidFill>
                  <a:schemeClr val="accent1"/>
                </a:solidFill>
                <a:latin typeface="Arial Narrow" pitchFamily="34" charset="0"/>
                <a:cs typeface="Times New Roman" pitchFamily="18" charset="0"/>
              </a:rPr>
              <a:t>At any time</a:t>
            </a:r>
            <a:r>
              <a:rPr lang="en-US" sz="2200" b="1" dirty="0">
                <a:solidFill>
                  <a:schemeClr val="bg2"/>
                </a:solidFill>
                <a:latin typeface="Arial Narrow" pitchFamily="34" charset="0"/>
                <a:cs typeface="Times New Roman" pitchFamily="18" charset="0"/>
              </a:rPr>
              <a:t>, </a:t>
            </a:r>
            <a:r>
              <a:rPr lang="en-US" sz="2200" b="1" dirty="0">
                <a:solidFill>
                  <a:srgbClr val="009900"/>
                </a:solidFill>
                <a:latin typeface="Arial Narrow" pitchFamily="34" charset="0"/>
                <a:cs typeface="Times New Roman" pitchFamily="18" charset="0"/>
              </a:rPr>
              <a:t>the system will allow the Student to quit.  The student chooses to quit and save a partial schedule before quitting. The system saves the schedule</a:t>
            </a:r>
            <a:r>
              <a:rPr lang="en-US" sz="2200" b="1" dirty="0">
                <a:solidFill>
                  <a:schemeClr val="bg2"/>
                </a:solidFill>
                <a:latin typeface="Arial Narrow" pitchFamily="34" charset="0"/>
                <a:cs typeface="Times New Roman" pitchFamily="18" charset="0"/>
              </a:rPr>
              <a:t>, and the use case ends. </a:t>
            </a:r>
          </a:p>
          <a:p>
            <a:pPr marL="611188" indent="-457200" eaLnBrk="0" hangingPunct="0">
              <a:lnSpc>
                <a:spcPct val="95000"/>
              </a:lnSpc>
            </a:pPr>
            <a:r>
              <a:rPr lang="en-US" sz="2200" b="1" dirty="0">
                <a:solidFill>
                  <a:schemeClr val="bg2"/>
                </a:solidFill>
                <a:latin typeface="Arial Narrow" pitchFamily="34" charset="0"/>
                <a:cs typeface="Times New Roman" pitchFamily="18" charset="0"/>
              </a:rPr>
              <a:t>2.10	 Waiting List</a:t>
            </a:r>
          </a:p>
          <a:p>
            <a:pPr marL="611188" indent="-457200" eaLnBrk="0" hangingPunct="0">
              <a:lnSpc>
                <a:spcPct val="95000"/>
              </a:lnSpc>
            </a:pPr>
            <a:r>
              <a:rPr lang="en-US" sz="2200" b="1" dirty="0">
                <a:solidFill>
                  <a:schemeClr val="bg2"/>
                </a:solidFill>
                <a:latin typeface="Arial Narrow" pitchFamily="34" charset="0"/>
                <a:cs typeface="Times New Roman" pitchFamily="18" charset="0"/>
              </a:rPr>
              <a:t>     </a:t>
            </a:r>
            <a:r>
              <a:rPr lang="en-US" sz="2200" b="1" dirty="0">
                <a:solidFill>
                  <a:schemeClr val="accent1"/>
                </a:solidFill>
                <a:latin typeface="Arial Narrow" pitchFamily="34" charset="0"/>
                <a:cs typeface="Times New Roman" pitchFamily="18" charset="0"/>
              </a:rPr>
              <a:t>In the Select Courses step of the Basic Flow,</a:t>
            </a:r>
            <a:r>
              <a:rPr lang="en-US" sz="2200" b="1" dirty="0">
                <a:solidFill>
                  <a:schemeClr val="bg2"/>
                </a:solidFill>
                <a:latin typeface="Arial Narrow" pitchFamily="34" charset="0"/>
                <a:cs typeface="Times New Roman" pitchFamily="18" charset="0"/>
              </a:rPr>
              <a:t> </a:t>
            </a:r>
            <a:r>
              <a:rPr lang="en-US" sz="2200" b="1" i="1" dirty="0">
                <a:solidFill>
                  <a:schemeClr val="bg2"/>
                </a:solidFill>
                <a:latin typeface="Arial Narrow" pitchFamily="34" charset="0"/>
                <a:cs typeface="Times New Roman" pitchFamily="18" charset="0"/>
              </a:rPr>
              <a:t>if a course the Student wants to take is full</a:t>
            </a:r>
            <a:r>
              <a:rPr lang="en-US" sz="2200" b="1" dirty="0">
                <a:solidFill>
                  <a:schemeClr val="bg2"/>
                </a:solidFill>
                <a:latin typeface="Arial Narrow" pitchFamily="34" charset="0"/>
                <a:cs typeface="Times New Roman" pitchFamily="18" charset="0"/>
              </a:rPr>
              <a:t>, </a:t>
            </a:r>
            <a:r>
              <a:rPr lang="en-US" sz="2200" b="1" dirty="0">
                <a:solidFill>
                  <a:srgbClr val="009900"/>
                </a:solidFill>
                <a:latin typeface="Arial Narrow" pitchFamily="34" charset="0"/>
                <a:cs typeface="Times New Roman" pitchFamily="18" charset="0"/>
              </a:rPr>
              <a:t>the systems allows the student to be added to a waiting list for the course</a:t>
            </a:r>
            <a:r>
              <a:rPr lang="en-US" sz="2200" b="1" dirty="0">
                <a:solidFill>
                  <a:schemeClr val="bg2"/>
                </a:solidFill>
                <a:latin typeface="Arial Narrow" pitchFamily="34" charset="0"/>
                <a:cs typeface="Times New Roman" pitchFamily="18" charset="0"/>
              </a:rPr>
              <a:t>.  The use case resumes at the Select Courses step in the Basic Flow.</a:t>
            </a:r>
          </a:p>
        </p:txBody>
      </p:sp>
      <p:sp>
        <p:nvSpPr>
          <p:cNvPr id="95238" name="Rectangle 3"/>
          <p:cNvSpPr>
            <a:spLocks noChangeArrowheads="1"/>
          </p:cNvSpPr>
          <p:nvPr/>
        </p:nvSpPr>
        <p:spPr bwMode="auto">
          <a:xfrm>
            <a:off x="304800" y="798513"/>
            <a:ext cx="6870700" cy="40322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76176" rIns="0" bIns="38088">
            <a:spAutoFit/>
          </a:bodyPr>
          <a:lstStyle/>
          <a:p>
            <a:pPr marL="450850" indent="-296863" eaLnBrk="0" hangingPunct="0">
              <a:lnSpc>
                <a:spcPct val="95000"/>
              </a:lnSpc>
            </a:pPr>
            <a:r>
              <a:rPr lang="en-US" sz="2000" b="1" i="1">
                <a:solidFill>
                  <a:schemeClr val="bg2"/>
                </a:solidFill>
                <a:latin typeface="Arial Narrow" pitchFamily="34" charset="0"/>
                <a:cs typeface="Times New Roman" pitchFamily="18" charset="0"/>
              </a:rPr>
              <a:t>	</a:t>
            </a:r>
            <a:r>
              <a:rPr lang="en-US" sz="2000" b="1" i="1">
                <a:solidFill>
                  <a:schemeClr val="tx1"/>
                </a:solidFill>
                <a:latin typeface="Arial Narrow" pitchFamily="34" charset="0"/>
                <a:cs typeface="Times New Roman" pitchFamily="18" charset="0"/>
              </a:rPr>
              <a:t>Alternative Flows</a:t>
            </a:r>
          </a:p>
        </p:txBody>
      </p:sp>
      <p:sp>
        <p:nvSpPr>
          <p:cNvPr id="95239" name="Rectangle 4"/>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702469" name="Rectangle 5"/>
          <p:cNvSpPr>
            <a:spLocks noGrp="1" noChangeArrowheads="1"/>
          </p:cNvSpPr>
          <p:nvPr>
            <p:ph type="title"/>
          </p:nvPr>
        </p:nvSpPr>
        <p:spPr/>
        <p:txBody>
          <a:bodyPr/>
          <a:lstStyle/>
          <a:p>
            <a:pPr eaLnBrk="1" hangingPunct="1">
              <a:defRPr/>
            </a:pPr>
            <a:r>
              <a:rPr lang="en-US" sz="2800" dirty="0"/>
              <a:t>Detail of Alternative Flows</a:t>
            </a:r>
          </a:p>
        </p:txBody>
      </p:sp>
      <p:sp>
        <p:nvSpPr>
          <p:cNvPr id="95241" name="Text Box 6"/>
          <p:cNvSpPr txBox="1">
            <a:spLocks noChangeArrowheads="1"/>
          </p:cNvSpPr>
          <p:nvPr/>
        </p:nvSpPr>
        <p:spPr bwMode="auto">
          <a:xfrm>
            <a:off x="7165975" y="803275"/>
            <a:ext cx="18954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a:solidFill>
                  <a:schemeClr val="tx1"/>
                </a:solidFill>
                <a:latin typeface="Arial" pitchFamily="34" charset="0"/>
              </a:rPr>
              <a:t>Describe what </a:t>
            </a:r>
          </a:p>
          <a:p>
            <a:pPr algn="ctr"/>
            <a:r>
              <a:rPr lang="en-US" sz="2000">
                <a:solidFill>
                  <a:schemeClr val="tx1"/>
                </a:solidFill>
                <a:latin typeface="Arial" pitchFamily="34" charset="0"/>
              </a:rPr>
              <a:t>happens</a:t>
            </a:r>
          </a:p>
        </p:txBody>
      </p:sp>
      <p:sp>
        <p:nvSpPr>
          <p:cNvPr id="95242" name="Text Box 7"/>
          <p:cNvSpPr txBox="1">
            <a:spLocks noChangeArrowheads="1"/>
          </p:cNvSpPr>
          <p:nvPr/>
        </p:nvSpPr>
        <p:spPr bwMode="auto">
          <a:xfrm>
            <a:off x="7351713" y="2659063"/>
            <a:ext cx="15970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i="1">
                <a:solidFill>
                  <a:schemeClr val="bg2"/>
                </a:solidFill>
                <a:latin typeface="Arial" pitchFamily="34" charset="0"/>
              </a:rPr>
              <a:t>Condition</a:t>
            </a:r>
          </a:p>
        </p:txBody>
      </p:sp>
      <p:sp>
        <p:nvSpPr>
          <p:cNvPr id="95243" name="Text Box 8"/>
          <p:cNvSpPr txBox="1">
            <a:spLocks noChangeArrowheads="1"/>
          </p:cNvSpPr>
          <p:nvPr/>
        </p:nvSpPr>
        <p:spPr bwMode="auto">
          <a:xfrm>
            <a:off x="7558088" y="3733800"/>
            <a:ext cx="12160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a:solidFill>
                  <a:srgbClr val="009900"/>
                </a:solidFill>
                <a:latin typeface="Arial" pitchFamily="34" charset="0"/>
              </a:rPr>
              <a:t>Actions</a:t>
            </a:r>
          </a:p>
        </p:txBody>
      </p:sp>
      <p:sp>
        <p:nvSpPr>
          <p:cNvPr id="95244" name="Text Box 9"/>
          <p:cNvSpPr txBox="1">
            <a:spLocks noChangeArrowheads="1"/>
          </p:cNvSpPr>
          <p:nvPr/>
        </p:nvSpPr>
        <p:spPr bwMode="auto">
          <a:xfrm>
            <a:off x="7391400" y="4872038"/>
            <a:ext cx="15843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a:solidFill>
                  <a:srgbClr val="040000"/>
                </a:solidFill>
                <a:latin typeface="Arial" pitchFamily="34" charset="0"/>
              </a:rPr>
              <a:t>Resume location</a:t>
            </a:r>
          </a:p>
        </p:txBody>
      </p:sp>
      <p:sp>
        <p:nvSpPr>
          <p:cNvPr id="95245" name="Line 10"/>
          <p:cNvSpPr>
            <a:spLocks noChangeShapeType="1"/>
          </p:cNvSpPr>
          <p:nvPr/>
        </p:nvSpPr>
        <p:spPr bwMode="auto">
          <a:xfrm flipV="1">
            <a:off x="7621588" y="5286375"/>
            <a:ext cx="1082675" cy="0"/>
          </a:xfrm>
          <a:prstGeom prst="line">
            <a:avLst/>
          </a:prstGeom>
          <a:noFill/>
          <a:ln w="38100">
            <a:solidFill>
              <a:schemeClr val="accent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6" name="Line 11"/>
          <p:cNvSpPr>
            <a:spLocks noChangeShapeType="1"/>
          </p:cNvSpPr>
          <p:nvPr/>
        </p:nvSpPr>
        <p:spPr bwMode="auto">
          <a:xfrm flipV="1">
            <a:off x="7659688" y="5624513"/>
            <a:ext cx="1082675" cy="0"/>
          </a:xfrm>
          <a:prstGeom prst="line">
            <a:avLst/>
          </a:prstGeom>
          <a:noFill/>
          <a:ln w="38100">
            <a:solidFill>
              <a:schemeClr val="accent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7" name="Text Box 12"/>
          <p:cNvSpPr txBox="1">
            <a:spLocks noChangeArrowheads="1"/>
          </p:cNvSpPr>
          <p:nvPr/>
        </p:nvSpPr>
        <p:spPr bwMode="auto">
          <a:xfrm>
            <a:off x="7364413" y="1677988"/>
            <a:ext cx="15875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a:solidFill>
                  <a:schemeClr val="accent1"/>
                </a:solidFill>
                <a:latin typeface="Arial" pitchFamily="34" charset="0"/>
              </a:rPr>
              <a:t>Location</a:t>
            </a:r>
          </a:p>
        </p:txBody>
      </p:sp>
      <p:sp>
        <p:nvSpPr>
          <p:cNvPr id="95248" name="Line 13"/>
          <p:cNvSpPr>
            <a:spLocks noChangeShapeType="1"/>
          </p:cNvSpPr>
          <p:nvPr/>
        </p:nvSpPr>
        <p:spPr bwMode="auto">
          <a:xfrm flipV="1">
            <a:off x="895350" y="6057900"/>
            <a:ext cx="6096000" cy="0"/>
          </a:xfrm>
          <a:prstGeom prst="line">
            <a:avLst/>
          </a:prstGeom>
          <a:noFill/>
          <a:ln w="38100">
            <a:solidFill>
              <a:schemeClr val="accent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95249" name="Line 14"/>
          <p:cNvSpPr>
            <a:spLocks noChangeShapeType="1"/>
          </p:cNvSpPr>
          <p:nvPr/>
        </p:nvSpPr>
        <p:spPr bwMode="auto">
          <a:xfrm flipV="1">
            <a:off x="6610350" y="5753100"/>
            <a:ext cx="381000" cy="0"/>
          </a:xfrm>
          <a:prstGeom prst="line">
            <a:avLst/>
          </a:prstGeom>
          <a:noFill/>
          <a:ln w="38100">
            <a:solidFill>
              <a:schemeClr val="accent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95250" name="Line 15"/>
          <p:cNvSpPr>
            <a:spLocks noChangeShapeType="1"/>
          </p:cNvSpPr>
          <p:nvPr/>
        </p:nvSpPr>
        <p:spPr bwMode="auto">
          <a:xfrm flipV="1">
            <a:off x="895350" y="6378575"/>
            <a:ext cx="685800" cy="0"/>
          </a:xfrm>
          <a:prstGeom prst="line">
            <a:avLst/>
          </a:prstGeom>
          <a:noFill/>
          <a:ln w="38100">
            <a:solidFill>
              <a:schemeClr val="accent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95251" name="Line 16"/>
          <p:cNvSpPr>
            <a:spLocks noChangeShapeType="1"/>
          </p:cNvSpPr>
          <p:nvPr/>
        </p:nvSpPr>
        <p:spPr bwMode="auto">
          <a:xfrm>
            <a:off x="762000" y="1905000"/>
            <a:ext cx="3962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5252" name="Line 17"/>
          <p:cNvSpPr>
            <a:spLocks noChangeShapeType="1"/>
          </p:cNvSpPr>
          <p:nvPr/>
        </p:nvSpPr>
        <p:spPr bwMode="auto">
          <a:xfrm>
            <a:off x="838200" y="3505200"/>
            <a:ext cx="1219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5253" name="Line 18"/>
          <p:cNvSpPr>
            <a:spLocks noChangeShapeType="1"/>
          </p:cNvSpPr>
          <p:nvPr/>
        </p:nvSpPr>
        <p:spPr bwMode="auto">
          <a:xfrm>
            <a:off x="762000" y="5105400"/>
            <a:ext cx="4800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5254" name="Line 19"/>
          <p:cNvSpPr>
            <a:spLocks noChangeShapeType="1"/>
          </p:cNvSpPr>
          <p:nvPr/>
        </p:nvSpPr>
        <p:spPr bwMode="auto">
          <a:xfrm>
            <a:off x="2057400" y="2590800"/>
            <a:ext cx="31242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5" name="Line 20"/>
          <p:cNvSpPr>
            <a:spLocks noChangeShapeType="1"/>
          </p:cNvSpPr>
          <p:nvPr/>
        </p:nvSpPr>
        <p:spPr bwMode="auto">
          <a:xfrm>
            <a:off x="2209800" y="3505200"/>
            <a:ext cx="49530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6" name="Line 21"/>
          <p:cNvSpPr>
            <a:spLocks noChangeShapeType="1"/>
          </p:cNvSpPr>
          <p:nvPr/>
        </p:nvSpPr>
        <p:spPr bwMode="auto">
          <a:xfrm>
            <a:off x="914400" y="3810000"/>
            <a:ext cx="57150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7" name="Line 22"/>
          <p:cNvSpPr>
            <a:spLocks noChangeShapeType="1"/>
          </p:cNvSpPr>
          <p:nvPr/>
        </p:nvSpPr>
        <p:spPr bwMode="auto">
          <a:xfrm>
            <a:off x="914400" y="4191000"/>
            <a:ext cx="5181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8" name="Line 23"/>
          <p:cNvSpPr>
            <a:spLocks noChangeShapeType="1"/>
          </p:cNvSpPr>
          <p:nvPr/>
        </p:nvSpPr>
        <p:spPr bwMode="auto">
          <a:xfrm>
            <a:off x="4419600" y="5410200"/>
            <a:ext cx="251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9" name="Line 24"/>
          <p:cNvSpPr>
            <a:spLocks noChangeShapeType="1"/>
          </p:cNvSpPr>
          <p:nvPr/>
        </p:nvSpPr>
        <p:spPr bwMode="auto">
          <a:xfrm>
            <a:off x="914400" y="5715000"/>
            <a:ext cx="54864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0" name="Line 25"/>
          <p:cNvSpPr>
            <a:spLocks noChangeShapeType="1"/>
          </p:cNvSpPr>
          <p:nvPr/>
        </p:nvSpPr>
        <p:spPr bwMode="auto">
          <a:xfrm>
            <a:off x="7543800" y="2133600"/>
            <a:ext cx="1143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5261" name="Line 26"/>
          <p:cNvSpPr>
            <a:spLocks noChangeShapeType="1"/>
          </p:cNvSpPr>
          <p:nvPr/>
        </p:nvSpPr>
        <p:spPr bwMode="auto">
          <a:xfrm>
            <a:off x="7696200" y="4191000"/>
            <a:ext cx="9144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pPr>
              <a:defRPr/>
            </a:pPr>
            <a:fld id="{1B50D9FB-BC40-4AF9-B100-CBB86E8BC229}" type="slidenum">
              <a:rPr lang="en-US" smtClean="0"/>
              <a:pPr>
                <a:defRPr/>
              </a:pPr>
              <a:t>86</a:t>
            </a:fld>
            <a:endParaRPr lang="en-US"/>
          </a:p>
        </p:txBody>
      </p:sp>
    </p:spTree>
    <p:extLst>
      <p:ext uri="{BB962C8B-B14F-4D97-AF65-F5344CB8AC3E}">
        <p14:creationId xmlns:p14="http://schemas.microsoft.com/office/powerpoint/2010/main" val="2658167050"/>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p:cNvSpPr>
            <a:spLocks noGrp="1" noChangeArrowheads="1"/>
          </p:cNvSpPr>
          <p:nvPr>
            <p:ph type="title"/>
          </p:nvPr>
        </p:nvSpPr>
        <p:spPr/>
        <p:txBody>
          <a:bodyPr/>
          <a:lstStyle/>
          <a:p>
            <a:r>
              <a:rPr lang="en-US" sz="2800" dirty="0"/>
              <a:t>Visualize behavior</a:t>
            </a:r>
          </a:p>
        </p:txBody>
      </p:sp>
      <p:sp>
        <p:nvSpPr>
          <p:cNvPr id="96262" name="Rectangle 3"/>
          <p:cNvSpPr>
            <a:spLocks noGrp="1" noChangeArrowheads="1"/>
          </p:cNvSpPr>
          <p:nvPr>
            <p:ph type="body" idx="1"/>
          </p:nvPr>
        </p:nvSpPr>
        <p:spPr/>
        <p:txBody>
          <a:bodyPr/>
          <a:lstStyle/>
          <a:p>
            <a:r>
              <a:rPr lang="en-US" sz="2000" dirty="0"/>
              <a:t>Visual modeling tools</a:t>
            </a:r>
          </a:p>
          <a:p>
            <a:pPr lvl="1"/>
            <a:r>
              <a:rPr lang="en-US" sz="2000" dirty="0"/>
              <a:t>Activity diagrams or flow charts</a:t>
            </a:r>
          </a:p>
          <a:p>
            <a:pPr lvl="1"/>
            <a:r>
              <a:rPr lang="en-US" sz="2000" dirty="0"/>
              <a:t>Business process models</a:t>
            </a:r>
          </a:p>
          <a:p>
            <a:r>
              <a:rPr lang="en-US" sz="2000" dirty="0"/>
              <a:t>Should you illustrate behavior?</a:t>
            </a:r>
          </a:p>
          <a:p>
            <a:pPr lvl="1"/>
            <a:r>
              <a:rPr lang="en-US" sz="2000" dirty="0"/>
              <a:t>Pro</a:t>
            </a:r>
          </a:p>
          <a:p>
            <a:pPr lvl="2"/>
            <a:r>
              <a:rPr lang="en-US" dirty="0"/>
              <a:t>Great tool to identify alternative flows, especially for visually oriented people</a:t>
            </a:r>
          </a:p>
          <a:p>
            <a:pPr lvl="2"/>
            <a:r>
              <a:rPr lang="en-US" dirty="0"/>
              <a:t>Succinctly conveys information about use case flows</a:t>
            </a:r>
          </a:p>
          <a:p>
            <a:pPr lvl="1"/>
            <a:r>
              <a:rPr lang="en-US" sz="2000" dirty="0"/>
              <a:t>Con</a:t>
            </a:r>
          </a:p>
          <a:p>
            <a:pPr lvl="2"/>
            <a:r>
              <a:rPr lang="en-US" dirty="0"/>
              <a:t>Costly to keep diagrams and use-case specifications synchronized</a:t>
            </a:r>
          </a:p>
        </p:txBody>
      </p:sp>
      <p:sp>
        <p:nvSpPr>
          <p:cNvPr id="2" name="Slide Number Placeholder 1"/>
          <p:cNvSpPr>
            <a:spLocks noGrp="1"/>
          </p:cNvSpPr>
          <p:nvPr>
            <p:ph type="sldNum" sz="quarter" idx="12"/>
          </p:nvPr>
        </p:nvSpPr>
        <p:spPr/>
        <p:txBody>
          <a:bodyPr/>
          <a:lstStyle/>
          <a:p>
            <a:fld id="{DED05017-923D-480E-B02E-B52739184DCA}" type="slidenum">
              <a:rPr lang="en-US" smtClean="0"/>
              <a:pPr/>
              <a:t>87</a:t>
            </a:fld>
            <a:endParaRPr lang="en-US"/>
          </a:p>
        </p:txBody>
      </p:sp>
    </p:spTree>
    <p:extLst>
      <p:ext uri="{BB962C8B-B14F-4D97-AF65-F5344CB8AC3E}">
        <p14:creationId xmlns:p14="http://schemas.microsoft.com/office/powerpoint/2010/main" val="60224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type="title"/>
          </p:nvPr>
        </p:nvSpPr>
        <p:spPr/>
        <p:txBody>
          <a:bodyPr/>
          <a:lstStyle/>
          <a:p>
            <a:pPr eaLnBrk="1" hangingPunct="1">
              <a:defRPr/>
            </a:pPr>
            <a:r>
              <a:rPr lang="en-US" sz="2800" dirty="0" err="1"/>
              <a:t>Subflows</a:t>
            </a:r>
            <a:endParaRPr lang="en-US" sz="2800" dirty="0"/>
          </a:p>
        </p:txBody>
      </p:sp>
      <p:sp>
        <p:nvSpPr>
          <p:cNvPr id="97286" name="Rectangle 3"/>
          <p:cNvSpPr>
            <a:spLocks noGrp="1" noChangeArrowheads="1"/>
          </p:cNvSpPr>
          <p:nvPr>
            <p:ph type="body" idx="1"/>
          </p:nvPr>
        </p:nvSpPr>
        <p:spPr/>
        <p:txBody>
          <a:bodyPr/>
          <a:lstStyle/>
          <a:p>
            <a:pPr marL="339725" indent="-339725" eaLnBrk="1" hangingPunct="1"/>
            <a:r>
              <a:rPr lang="en-US" sz="2000" dirty="0"/>
              <a:t>If flows become unwieldy, break individual sections into self-contained </a:t>
            </a:r>
            <a:r>
              <a:rPr lang="en-US" sz="2000" dirty="0" err="1"/>
              <a:t>subflows</a:t>
            </a:r>
            <a:endParaRPr lang="en-US" sz="2000" dirty="0"/>
          </a:p>
          <a:p>
            <a:pPr marL="339725" indent="-339725" eaLnBrk="1" hangingPunct="1"/>
            <a:r>
              <a:rPr lang="en-US" sz="2000" dirty="0" err="1"/>
              <a:t>Subflows</a:t>
            </a:r>
            <a:endParaRPr lang="en-US" sz="2000" dirty="0"/>
          </a:p>
          <a:p>
            <a:pPr marL="682625" lvl="1" indent="-228600" eaLnBrk="1" hangingPunct="1"/>
            <a:r>
              <a:rPr lang="en-US" sz="2000" dirty="0"/>
              <a:t>Increase clarity</a:t>
            </a:r>
          </a:p>
          <a:p>
            <a:pPr marL="682625" lvl="1" indent="-228600" eaLnBrk="1" hangingPunct="1"/>
            <a:r>
              <a:rPr lang="en-US" sz="2000" dirty="0"/>
              <a:t>Allow internal reuse of requirements</a:t>
            </a:r>
          </a:p>
          <a:p>
            <a:pPr marL="682625" lvl="1" indent="-228600" eaLnBrk="1" hangingPunct="1"/>
            <a:r>
              <a:rPr lang="en-US" sz="2000" dirty="0"/>
              <a:t>Always return to the line after they were called</a:t>
            </a:r>
          </a:p>
          <a:p>
            <a:pPr marL="682625" lvl="1" indent="-228600" eaLnBrk="1" hangingPunct="1"/>
            <a:r>
              <a:rPr lang="en-US" sz="2000" dirty="0"/>
              <a:t>Are called explicitly, unlike alternative flows</a:t>
            </a:r>
          </a:p>
        </p:txBody>
      </p:sp>
      <p:sp>
        <p:nvSpPr>
          <p:cNvPr id="97287" name="Text Box 4"/>
          <p:cNvSpPr txBox="1">
            <a:spLocks noChangeArrowheads="1"/>
          </p:cNvSpPr>
          <p:nvPr/>
        </p:nvSpPr>
        <p:spPr bwMode="auto">
          <a:xfrm>
            <a:off x="304800" y="5410200"/>
            <a:ext cx="22479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r"/>
            <a:r>
              <a:rPr lang="en-US" sz="2800">
                <a:latin typeface="Arial" pitchFamily="34" charset="0"/>
              </a:rPr>
              <a:t>Alternative Flows</a:t>
            </a:r>
          </a:p>
        </p:txBody>
      </p:sp>
      <p:sp>
        <p:nvSpPr>
          <p:cNvPr id="97288" name="Line 5"/>
          <p:cNvSpPr>
            <a:spLocks noChangeShapeType="1"/>
          </p:cNvSpPr>
          <p:nvPr/>
        </p:nvSpPr>
        <p:spPr bwMode="auto">
          <a:xfrm flipH="1">
            <a:off x="2514600" y="5437188"/>
            <a:ext cx="1700213" cy="6524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89" name="Line 6"/>
          <p:cNvSpPr>
            <a:spLocks noChangeShapeType="1"/>
          </p:cNvSpPr>
          <p:nvPr/>
        </p:nvSpPr>
        <p:spPr bwMode="auto">
          <a:xfrm flipH="1">
            <a:off x="2514600" y="4849813"/>
            <a:ext cx="2128838" cy="1017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0" name="Line 7"/>
          <p:cNvSpPr>
            <a:spLocks noChangeShapeType="1"/>
          </p:cNvSpPr>
          <p:nvPr/>
        </p:nvSpPr>
        <p:spPr bwMode="auto">
          <a:xfrm flipH="1">
            <a:off x="2514600" y="4832350"/>
            <a:ext cx="1144588" cy="831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7291" name="Group 8"/>
          <p:cNvGrpSpPr>
            <a:grpSpLocks/>
          </p:cNvGrpSpPr>
          <p:nvPr/>
        </p:nvGrpSpPr>
        <p:grpSpPr bwMode="auto">
          <a:xfrm>
            <a:off x="5638800" y="5638800"/>
            <a:ext cx="2030413" cy="638175"/>
            <a:chOff x="3669" y="3490"/>
            <a:chExt cx="1139" cy="310"/>
          </a:xfrm>
        </p:grpSpPr>
        <p:sp>
          <p:nvSpPr>
            <p:cNvPr id="97316" name="Text Box 9"/>
            <p:cNvSpPr txBox="1">
              <a:spLocks noChangeArrowheads="1"/>
            </p:cNvSpPr>
            <p:nvPr/>
          </p:nvSpPr>
          <p:spPr bwMode="auto">
            <a:xfrm>
              <a:off x="3939" y="3548"/>
              <a:ext cx="8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800">
                  <a:solidFill>
                    <a:srgbClr val="009933"/>
                  </a:solidFill>
                  <a:latin typeface="Arial" pitchFamily="34" charset="0"/>
                </a:rPr>
                <a:t>Subflow </a:t>
              </a:r>
            </a:p>
          </p:txBody>
        </p:sp>
        <p:sp>
          <p:nvSpPr>
            <p:cNvPr id="97317" name="Line 10"/>
            <p:cNvSpPr>
              <a:spLocks noChangeShapeType="1"/>
            </p:cNvSpPr>
            <p:nvPr/>
          </p:nvSpPr>
          <p:spPr bwMode="auto">
            <a:xfrm>
              <a:off x="3669" y="3490"/>
              <a:ext cx="317"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7292" name="Group 11"/>
          <p:cNvGrpSpPr>
            <a:grpSpLocks/>
          </p:cNvGrpSpPr>
          <p:nvPr/>
        </p:nvGrpSpPr>
        <p:grpSpPr bwMode="auto">
          <a:xfrm>
            <a:off x="5508625" y="4725988"/>
            <a:ext cx="838200" cy="760412"/>
            <a:chOff x="4512" y="1729"/>
            <a:chExt cx="528" cy="479"/>
          </a:xfrm>
        </p:grpSpPr>
        <p:sp>
          <p:nvSpPr>
            <p:cNvPr id="97312" name="Arc 12"/>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313" name="Line 13"/>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314" name="Line 14"/>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315" name="Line 15"/>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7293" name="Group 16"/>
          <p:cNvGrpSpPr>
            <a:grpSpLocks/>
          </p:cNvGrpSpPr>
          <p:nvPr/>
        </p:nvGrpSpPr>
        <p:grpSpPr bwMode="auto">
          <a:xfrm>
            <a:off x="3527425" y="4421188"/>
            <a:ext cx="839788" cy="760412"/>
            <a:chOff x="3264" y="1537"/>
            <a:chExt cx="529" cy="479"/>
          </a:xfrm>
        </p:grpSpPr>
        <p:sp>
          <p:nvSpPr>
            <p:cNvPr id="97308" name="Arc 17"/>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309" name="Line 18"/>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310" name="Line 19"/>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311" name="Line 20"/>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7294" name="Group 21"/>
          <p:cNvGrpSpPr>
            <a:grpSpLocks/>
          </p:cNvGrpSpPr>
          <p:nvPr/>
        </p:nvGrpSpPr>
        <p:grpSpPr bwMode="auto">
          <a:xfrm>
            <a:off x="4975225" y="4421188"/>
            <a:ext cx="534988" cy="533400"/>
            <a:chOff x="4176" y="1537"/>
            <a:chExt cx="337" cy="336"/>
          </a:xfrm>
        </p:grpSpPr>
        <p:sp>
          <p:nvSpPr>
            <p:cNvPr id="97306" name="Arc 22"/>
            <p:cNvSpPr>
              <a:spLocks/>
            </p:cNvSpPr>
            <p:nvPr/>
          </p:nvSpPr>
          <p:spPr bwMode="auto">
            <a:xfrm>
              <a:off x="4176" y="1537"/>
              <a:ext cx="337" cy="192"/>
            </a:xfrm>
            <a:custGeom>
              <a:avLst/>
              <a:gdLst>
                <a:gd name="T0" fmla="*/ 0 w 21664"/>
                <a:gd name="T1" fmla="*/ 0 h 21600"/>
                <a:gd name="T2" fmla="*/ 337 w 21664"/>
                <a:gd name="T3" fmla="*/ 192 h 21600"/>
                <a:gd name="T4" fmla="*/ 1 w 21664"/>
                <a:gd name="T5" fmla="*/ 192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307" name="Arc 23"/>
            <p:cNvSpPr>
              <a:spLocks/>
            </p:cNvSpPr>
            <p:nvPr/>
          </p:nvSpPr>
          <p:spPr bwMode="auto">
            <a:xfrm rot="10800000">
              <a:off x="4177" y="1682"/>
              <a:ext cx="336" cy="191"/>
            </a:xfrm>
            <a:custGeom>
              <a:avLst/>
              <a:gdLst>
                <a:gd name="T0" fmla="*/ 0 w 21600"/>
                <a:gd name="T1" fmla="*/ 191 h 21497"/>
                <a:gd name="T2" fmla="*/ 303 w 21600"/>
                <a:gd name="T3" fmla="*/ 0 h 21497"/>
                <a:gd name="T4" fmla="*/ 336 w 21600"/>
                <a:gd name="T5" fmla="*/ 191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508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7295" name="Group 24"/>
          <p:cNvGrpSpPr>
            <a:grpSpLocks/>
          </p:cNvGrpSpPr>
          <p:nvPr/>
        </p:nvGrpSpPr>
        <p:grpSpPr bwMode="auto">
          <a:xfrm>
            <a:off x="4365625" y="4116388"/>
            <a:ext cx="534988" cy="682625"/>
            <a:chOff x="3792" y="1345"/>
            <a:chExt cx="337" cy="430"/>
          </a:xfrm>
        </p:grpSpPr>
        <p:sp>
          <p:nvSpPr>
            <p:cNvPr id="97304" name="Arc 25"/>
            <p:cNvSpPr>
              <a:spLocks/>
            </p:cNvSpPr>
            <p:nvPr/>
          </p:nvSpPr>
          <p:spPr bwMode="auto">
            <a:xfrm rot="10800000">
              <a:off x="3792" y="1556"/>
              <a:ext cx="336" cy="219"/>
            </a:xfrm>
            <a:custGeom>
              <a:avLst/>
              <a:gdLst>
                <a:gd name="T0" fmla="*/ 0 w 21600"/>
                <a:gd name="T1" fmla="*/ 0 h 21600"/>
                <a:gd name="T2" fmla="*/ 336 w 21600"/>
                <a:gd name="T3" fmla="*/ 219 h 21600"/>
                <a:gd name="T4" fmla="*/ 0 w 21600"/>
                <a:gd name="T5" fmla="*/ 21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305" name="Arc 26"/>
            <p:cNvSpPr>
              <a:spLocks/>
            </p:cNvSpPr>
            <p:nvPr/>
          </p:nvSpPr>
          <p:spPr bwMode="auto">
            <a:xfrm>
              <a:off x="3793" y="1345"/>
              <a:ext cx="336" cy="218"/>
            </a:xfrm>
            <a:custGeom>
              <a:avLst/>
              <a:gdLst>
                <a:gd name="T0" fmla="*/ 0 w 21600"/>
                <a:gd name="T1" fmla="*/ 218 h 21496"/>
                <a:gd name="T2" fmla="*/ 303 w 21600"/>
                <a:gd name="T3" fmla="*/ 0 h 21496"/>
                <a:gd name="T4" fmla="*/ 336 w 21600"/>
                <a:gd name="T5" fmla="*/ 218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508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7296" name="Group 27"/>
          <p:cNvGrpSpPr>
            <a:grpSpLocks/>
          </p:cNvGrpSpPr>
          <p:nvPr/>
        </p:nvGrpSpPr>
        <p:grpSpPr bwMode="auto">
          <a:xfrm>
            <a:off x="4060825" y="5106988"/>
            <a:ext cx="839788" cy="760412"/>
            <a:chOff x="3600" y="1969"/>
            <a:chExt cx="529" cy="479"/>
          </a:xfrm>
        </p:grpSpPr>
        <p:sp>
          <p:nvSpPr>
            <p:cNvPr id="97300" name="Arc 28"/>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7301" name="Line 29"/>
            <p:cNvSpPr>
              <a:spLocks noChangeShapeType="1"/>
            </p:cNvSpPr>
            <p:nvPr/>
          </p:nvSpPr>
          <p:spPr bwMode="auto">
            <a:xfrm flipH="1">
              <a:off x="3600" y="2352"/>
              <a:ext cx="240"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302" name="Line 30"/>
            <p:cNvSpPr>
              <a:spLocks noChangeShapeType="1"/>
            </p:cNvSpPr>
            <p:nvPr/>
          </p:nvSpPr>
          <p:spPr bwMode="auto">
            <a:xfrm flipH="1">
              <a:off x="3648" y="2400"/>
              <a:ext cx="144"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303" name="Line 31"/>
            <p:cNvSpPr>
              <a:spLocks noChangeShapeType="1"/>
            </p:cNvSpPr>
            <p:nvPr/>
          </p:nvSpPr>
          <p:spPr bwMode="auto">
            <a:xfrm flipH="1">
              <a:off x="3696" y="2448"/>
              <a:ext cx="48"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7297" name="Line 32"/>
          <p:cNvSpPr>
            <a:spLocks noChangeShapeType="1"/>
          </p:cNvSpPr>
          <p:nvPr/>
        </p:nvSpPr>
        <p:spPr bwMode="auto">
          <a:xfrm>
            <a:off x="4975225" y="3886200"/>
            <a:ext cx="0" cy="2590800"/>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97298" name="Freeform 33"/>
          <p:cNvSpPr>
            <a:spLocks/>
          </p:cNvSpPr>
          <p:nvPr/>
        </p:nvSpPr>
        <p:spPr bwMode="auto">
          <a:xfrm>
            <a:off x="5029200" y="5029200"/>
            <a:ext cx="622300" cy="838200"/>
          </a:xfrm>
          <a:custGeom>
            <a:avLst/>
            <a:gdLst>
              <a:gd name="T0" fmla="*/ 0 w 392"/>
              <a:gd name="T1" fmla="*/ 336 h 680"/>
              <a:gd name="T2" fmla="*/ 336 w 392"/>
              <a:gd name="T3" fmla="*/ 48 h 680"/>
              <a:gd name="T4" fmla="*/ 336 w 392"/>
              <a:gd name="T5" fmla="*/ 624 h 680"/>
              <a:gd name="T6" fmla="*/ 0 w 392"/>
              <a:gd name="T7" fmla="*/ 384 h 680"/>
              <a:gd name="T8" fmla="*/ 0 60000 65536"/>
              <a:gd name="T9" fmla="*/ 0 60000 65536"/>
              <a:gd name="T10" fmla="*/ 0 60000 65536"/>
              <a:gd name="T11" fmla="*/ 0 60000 65536"/>
              <a:gd name="T12" fmla="*/ 0 w 392"/>
              <a:gd name="T13" fmla="*/ 0 h 680"/>
              <a:gd name="T14" fmla="*/ 392 w 392"/>
              <a:gd name="T15" fmla="*/ 680 h 680"/>
            </a:gdLst>
            <a:ahLst/>
            <a:cxnLst>
              <a:cxn ang="T8">
                <a:pos x="T0" y="T1"/>
              </a:cxn>
              <a:cxn ang="T9">
                <a:pos x="T2" y="T3"/>
              </a:cxn>
              <a:cxn ang="T10">
                <a:pos x="T4" y="T5"/>
              </a:cxn>
              <a:cxn ang="T11">
                <a:pos x="T6" y="T7"/>
              </a:cxn>
            </a:cxnLst>
            <a:rect l="T12" t="T13" r="T14" b="T15"/>
            <a:pathLst>
              <a:path w="392" h="680">
                <a:moveTo>
                  <a:pt x="0" y="336"/>
                </a:moveTo>
                <a:cubicBezTo>
                  <a:pt x="140" y="168"/>
                  <a:pt x="280" y="0"/>
                  <a:pt x="336" y="48"/>
                </a:cubicBezTo>
                <a:cubicBezTo>
                  <a:pt x="392" y="96"/>
                  <a:pt x="392" y="568"/>
                  <a:pt x="336" y="624"/>
                </a:cubicBezTo>
                <a:cubicBezTo>
                  <a:pt x="280" y="680"/>
                  <a:pt x="56" y="424"/>
                  <a:pt x="0" y="384"/>
                </a:cubicBezTo>
              </a:path>
            </a:pathLst>
          </a:custGeom>
          <a:noFill/>
          <a:ln w="50800">
            <a:solidFill>
              <a:srgbClr val="009933"/>
            </a:solidFill>
            <a:round/>
            <a:headEnd/>
            <a:tailEnd/>
          </a:ln>
          <a:extLst>
            <a:ext uri="{909E8E84-426E-40DD-AFC4-6F175D3DCCD1}">
              <a14:hiddenFill xmlns:a14="http://schemas.microsoft.com/office/drawing/2010/main">
                <a:solidFill>
                  <a:srgbClr val="FFFFFF"/>
                </a:solidFill>
              </a14:hiddenFill>
            </a:ext>
          </a:extLst>
        </p:spPr>
        <p:txBody>
          <a:bodyPr lIns="228600" tIns="228600" rIns="228600" bIns="228600" anchor="ctr">
            <a:spAutoFit/>
          </a:bodyPr>
          <a:lstStyle/>
          <a:p>
            <a:endParaRPr lang="en-US"/>
          </a:p>
        </p:txBody>
      </p:sp>
      <p:sp>
        <p:nvSpPr>
          <p:cNvPr id="97299" name="Line 34"/>
          <p:cNvSpPr>
            <a:spLocks noChangeShapeType="1"/>
          </p:cNvSpPr>
          <p:nvPr/>
        </p:nvSpPr>
        <p:spPr bwMode="auto">
          <a:xfrm flipH="1" flipV="1">
            <a:off x="5006975" y="5470525"/>
            <a:ext cx="225425" cy="184150"/>
          </a:xfrm>
          <a:prstGeom prst="line">
            <a:avLst/>
          </a:prstGeom>
          <a:noFill/>
          <a:ln w="73025">
            <a:solidFill>
              <a:srgbClr val="009933"/>
            </a:solidFill>
            <a:round/>
            <a:headEnd/>
            <a:tailEnd type="triangle" w="med" len="med"/>
          </a:ln>
          <a:extLst>
            <a:ext uri="{909E8E84-426E-40DD-AFC4-6F175D3DCCD1}">
              <a14:hiddenFill xmlns:a14="http://schemas.microsoft.com/office/drawing/2010/main">
                <a:noFill/>
              </a14:hiddenFill>
            </a:ext>
          </a:extLst>
        </p:spPr>
        <p:txBody>
          <a:bodyPr lIns="228600" tIns="228600" rIns="228600" bIns="228600" anchor="ctr">
            <a:spAutoFit/>
          </a:bodyPr>
          <a:lstStyle/>
          <a:p>
            <a:endParaRPr lang="en-US"/>
          </a:p>
        </p:txBody>
      </p:sp>
      <p:sp>
        <p:nvSpPr>
          <p:cNvPr id="2" name="Slide Number Placeholder 1"/>
          <p:cNvSpPr>
            <a:spLocks noGrp="1"/>
          </p:cNvSpPr>
          <p:nvPr>
            <p:ph type="sldNum" sz="quarter" idx="12"/>
          </p:nvPr>
        </p:nvSpPr>
        <p:spPr/>
        <p:txBody>
          <a:bodyPr/>
          <a:lstStyle/>
          <a:p>
            <a:fld id="{DED05017-923D-480E-B02E-B52739184DCA}" type="slidenum">
              <a:rPr lang="en-US" smtClean="0"/>
              <a:pPr/>
              <a:t>88</a:t>
            </a:fld>
            <a:endParaRPr lang="en-US"/>
          </a:p>
        </p:txBody>
      </p:sp>
    </p:spTree>
    <p:custDataLst>
      <p:tags r:id="rId1"/>
    </p:custDataLst>
    <p:extLst>
      <p:ext uri="{BB962C8B-B14F-4D97-AF65-F5344CB8AC3E}">
        <p14:creationId xmlns:p14="http://schemas.microsoft.com/office/powerpoint/2010/main" val="35489490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9" name="Group 2"/>
          <p:cNvGrpSpPr>
            <a:grpSpLocks/>
          </p:cNvGrpSpPr>
          <p:nvPr/>
        </p:nvGrpSpPr>
        <p:grpSpPr bwMode="auto">
          <a:xfrm>
            <a:off x="1704975" y="923925"/>
            <a:ext cx="5838825" cy="5476875"/>
            <a:chOff x="1074" y="582"/>
            <a:chExt cx="3678" cy="3450"/>
          </a:xfrm>
        </p:grpSpPr>
        <p:pic>
          <p:nvPicPr>
            <p:cNvPr id="983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 y="582"/>
              <a:ext cx="3678" cy="3450"/>
            </a:xfrm>
            <a:prstGeom prst="rect">
              <a:avLst/>
            </a:prstGeom>
            <a:noFill/>
            <a:ln w="127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98314" name="Rectangle 4"/>
            <p:cNvSpPr>
              <a:spLocks noChangeArrowheads="1"/>
            </p:cNvSpPr>
            <p:nvPr/>
          </p:nvSpPr>
          <p:spPr bwMode="white">
            <a:xfrm>
              <a:off x="2592" y="624"/>
              <a:ext cx="624" cy="96"/>
            </a:xfrm>
            <a:prstGeom prst="rect">
              <a:avLst/>
            </a:prstGeom>
            <a:solidFill>
              <a:schemeClr val="bg1"/>
            </a:solidFill>
            <a:ln w="9525">
              <a:solidFill>
                <a:srgbClr val="FFFFFF"/>
              </a:solidFill>
              <a:miter lim="800000"/>
              <a:headEnd/>
              <a:tailEnd/>
            </a:ln>
          </p:spPr>
          <p:txBody>
            <a:bodyPr wrap="none" anchor="ctr"/>
            <a:lstStyle/>
            <a:p>
              <a:endParaRPr lang="en-US"/>
            </a:p>
          </p:txBody>
        </p:sp>
      </p:grpSp>
      <p:sp>
        <p:nvSpPr>
          <p:cNvPr id="708613" name="Rectangle 5"/>
          <p:cNvSpPr>
            <a:spLocks noGrp="1" noChangeArrowheads="1"/>
          </p:cNvSpPr>
          <p:nvPr>
            <p:ph type="title"/>
          </p:nvPr>
        </p:nvSpPr>
        <p:spPr/>
        <p:txBody>
          <a:bodyPr/>
          <a:lstStyle/>
          <a:p>
            <a:pPr eaLnBrk="1" hangingPunct="1">
              <a:defRPr/>
            </a:pPr>
            <a:r>
              <a:rPr lang="en-US" sz="2800" dirty="0"/>
              <a:t>Example </a:t>
            </a:r>
            <a:r>
              <a:rPr lang="en-US" sz="2800" dirty="0" err="1"/>
              <a:t>subflow</a:t>
            </a:r>
            <a:endParaRPr lang="en-US" sz="2800" dirty="0"/>
          </a:p>
        </p:txBody>
      </p:sp>
      <p:sp>
        <p:nvSpPr>
          <p:cNvPr id="98311" name="Oval 6"/>
          <p:cNvSpPr>
            <a:spLocks noChangeArrowheads="1"/>
          </p:cNvSpPr>
          <p:nvPr/>
        </p:nvSpPr>
        <p:spPr bwMode="auto">
          <a:xfrm>
            <a:off x="2514600" y="3429000"/>
            <a:ext cx="3614738" cy="431800"/>
          </a:xfrm>
          <a:prstGeom prst="ellipse">
            <a:avLst/>
          </a:prstGeom>
          <a:noFill/>
          <a:ln w="2857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a:solidFill>
                <a:schemeClr val="tx1"/>
              </a:solidFill>
            </a:endParaRPr>
          </a:p>
        </p:txBody>
      </p:sp>
      <p:sp>
        <p:nvSpPr>
          <p:cNvPr id="98312" name="Oval 7"/>
          <p:cNvSpPr>
            <a:spLocks noChangeArrowheads="1"/>
          </p:cNvSpPr>
          <p:nvPr/>
        </p:nvSpPr>
        <p:spPr bwMode="auto">
          <a:xfrm>
            <a:off x="1524000" y="5257800"/>
            <a:ext cx="3429000" cy="311150"/>
          </a:xfrm>
          <a:prstGeom prst="ellipse">
            <a:avLst/>
          </a:prstGeom>
          <a:noFill/>
          <a:ln w="2857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a:solidFill>
                <a:schemeClr val="tx1"/>
              </a:solidFill>
            </a:endParaRPr>
          </a:p>
        </p:txBody>
      </p:sp>
      <p:sp>
        <p:nvSpPr>
          <p:cNvPr id="2" name="Slide Number Placeholder 1"/>
          <p:cNvSpPr>
            <a:spLocks noGrp="1"/>
          </p:cNvSpPr>
          <p:nvPr>
            <p:ph type="sldNum" sz="quarter" idx="12"/>
          </p:nvPr>
        </p:nvSpPr>
        <p:spPr/>
        <p:txBody>
          <a:bodyPr/>
          <a:lstStyle/>
          <a:p>
            <a:fld id="{27392B6C-813E-42DE-A59C-034281A964AB}" type="slidenum">
              <a:rPr lang="en-US" smtClean="0"/>
              <a:pPr/>
              <a:t>89</a:t>
            </a:fld>
            <a:endParaRPr lang="en-US"/>
          </a:p>
        </p:txBody>
      </p:sp>
    </p:spTree>
    <p:extLst>
      <p:ext uri="{BB962C8B-B14F-4D97-AF65-F5344CB8AC3E}">
        <p14:creationId xmlns:p14="http://schemas.microsoft.com/office/powerpoint/2010/main" val="3810151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p:txBody>
          <a:bodyPr/>
          <a:lstStyle/>
          <a:p>
            <a:r>
              <a:rPr lang="en-US" sz="2800" dirty="0"/>
              <a:t>Preconditions</a:t>
            </a:r>
          </a:p>
        </p:txBody>
      </p:sp>
      <p:sp>
        <p:nvSpPr>
          <p:cNvPr id="99334" name="Rectangle 3"/>
          <p:cNvSpPr>
            <a:spLocks noGrp="1" noChangeArrowheads="1"/>
          </p:cNvSpPr>
          <p:nvPr>
            <p:ph type="body" idx="1"/>
          </p:nvPr>
        </p:nvSpPr>
        <p:spPr/>
        <p:txBody>
          <a:bodyPr/>
          <a:lstStyle/>
          <a:p>
            <a:r>
              <a:rPr lang="en-US" sz="2000" dirty="0"/>
              <a:t>Describe the state that the system must be in before the use case can start</a:t>
            </a:r>
          </a:p>
          <a:p>
            <a:pPr lvl="1"/>
            <a:r>
              <a:rPr lang="en-US" sz="2000" dirty="0"/>
              <a:t>Simple statements that define the state of the system, expressed as conditions that must be true</a:t>
            </a:r>
          </a:p>
          <a:p>
            <a:pPr lvl="1"/>
            <a:r>
              <a:rPr lang="en-US" sz="2000" dirty="0"/>
              <a:t>Should never refer to other use cases that need to be performed prior to this use case</a:t>
            </a:r>
          </a:p>
          <a:p>
            <a:pPr lvl="1"/>
            <a:r>
              <a:rPr lang="en-US" sz="2000" dirty="0"/>
              <a:t>Should be stated clearly and should be easily verifiable</a:t>
            </a:r>
          </a:p>
          <a:p>
            <a:r>
              <a:rPr lang="en-US" sz="2000" dirty="0"/>
              <a:t>Optional: Use only if needed for clarification</a:t>
            </a:r>
          </a:p>
          <a:p>
            <a:r>
              <a:rPr lang="en-US" sz="2000" dirty="0"/>
              <a:t>Example</a:t>
            </a:r>
          </a:p>
          <a:p>
            <a:pPr lvl="1"/>
            <a:r>
              <a:rPr lang="en-US" sz="2000" dirty="0"/>
              <a:t>Register for Courses use case</a:t>
            </a:r>
          </a:p>
          <a:p>
            <a:pPr lvl="1"/>
            <a:r>
              <a:rPr lang="en-US" sz="2000" dirty="0"/>
              <a:t>Precondition: </a:t>
            </a:r>
          </a:p>
          <a:p>
            <a:pPr lvl="1"/>
            <a:r>
              <a:rPr lang="en-US" sz="2000" dirty="0"/>
              <a:t>The list of course offerings for the semester  has been created and is available to the Course Registration System</a:t>
            </a:r>
          </a:p>
          <a:p>
            <a:pPr lvl="1"/>
            <a:r>
              <a:rPr lang="en-US" sz="2000" dirty="0"/>
              <a:t>Student has logged into the Course Registration System </a:t>
            </a:r>
          </a:p>
          <a:p>
            <a:pPr lvl="1"/>
            <a:endParaRPr lang="en-US" sz="2000" dirty="0"/>
          </a:p>
        </p:txBody>
      </p:sp>
      <p:sp>
        <p:nvSpPr>
          <p:cNvPr id="99335"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99336"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nvGrpSpPr>
          <p:cNvPr id="99337" name="Group 6"/>
          <p:cNvGrpSpPr>
            <a:grpSpLocks/>
          </p:cNvGrpSpPr>
          <p:nvPr/>
        </p:nvGrpSpPr>
        <p:grpSpPr bwMode="auto">
          <a:xfrm>
            <a:off x="6934200" y="3375025"/>
            <a:ext cx="1862138" cy="2187575"/>
            <a:chOff x="4368" y="2521"/>
            <a:chExt cx="1173" cy="1378"/>
          </a:xfrm>
        </p:grpSpPr>
        <p:sp>
          <p:nvSpPr>
            <p:cNvPr id="99338" name="AutoShape 7"/>
            <p:cNvSpPr>
              <a:spLocks noChangeArrowheads="1"/>
            </p:cNvSpPr>
            <p:nvPr/>
          </p:nvSpPr>
          <p:spPr bwMode="auto">
            <a:xfrm>
              <a:off x="4873" y="2521"/>
              <a:ext cx="167" cy="167"/>
            </a:xfrm>
            <a:prstGeom prst="flowChartConnector">
              <a:avLst/>
            </a:prstGeom>
            <a:solidFill>
              <a:schemeClr val="hlink"/>
            </a:solidFill>
            <a:ln w="28575">
              <a:solidFill>
                <a:srgbClr val="FFFFCC"/>
              </a:solidFill>
              <a:round/>
              <a:headEnd/>
              <a:tailEnd/>
            </a:ln>
          </p:spPr>
          <p:txBody>
            <a:bodyPr wrap="none" anchor="ctr"/>
            <a:lstStyle/>
            <a:p>
              <a:pPr algn="ctr" eaLnBrk="0" hangingPunct="0"/>
              <a:endParaRPr lang="en-US" sz="1000">
                <a:solidFill>
                  <a:schemeClr val="tx1"/>
                </a:solidFill>
                <a:latin typeface="Arial" pitchFamily="34" charset="0"/>
              </a:endParaRPr>
            </a:p>
          </p:txBody>
        </p:sp>
        <p:grpSp>
          <p:nvGrpSpPr>
            <p:cNvPr id="99339" name="Group 8"/>
            <p:cNvGrpSpPr>
              <a:grpSpLocks/>
            </p:cNvGrpSpPr>
            <p:nvPr/>
          </p:nvGrpSpPr>
          <p:grpSpPr bwMode="auto">
            <a:xfrm>
              <a:off x="5192" y="3145"/>
              <a:ext cx="349" cy="328"/>
              <a:chOff x="4512" y="1729"/>
              <a:chExt cx="528" cy="479"/>
            </a:xfrm>
          </p:grpSpPr>
          <p:sp>
            <p:nvSpPr>
              <p:cNvPr id="99357" name="Arc 9"/>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358" name="Line 10"/>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359" name="Line 11"/>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360" name="Line 12"/>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9340" name="Group 13"/>
            <p:cNvGrpSpPr>
              <a:grpSpLocks/>
            </p:cNvGrpSpPr>
            <p:nvPr/>
          </p:nvGrpSpPr>
          <p:grpSpPr bwMode="auto">
            <a:xfrm>
              <a:off x="4368" y="3014"/>
              <a:ext cx="349" cy="328"/>
              <a:chOff x="3264" y="1537"/>
              <a:chExt cx="529" cy="479"/>
            </a:xfrm>
          </p:grpSpPr>
          <p:sp>
            <p:nvSpPr>
              <p:cNvPr id="99353" name="Arc 14"/>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354" name="Line 15"/>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355" name="Line 16"/>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356" name="Line 17"/>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9341" name="Group 18"/>
            <p:cNvGrpSpPr>
              <a:grpSpLocks/>
            </p:cNvGrpSpPr>
            <p:nvPr/>
          </p:nvGrpSpPr>
          <p:grpSpPr bwMode="auto">
            <a:xfrm>
              <a:off x="4970" y="3014"/>
              <a:ext cx="223" cy="230"/>
              <a:chOff x="4176" y="1537"/>
              <a:chExt cx="337" cy="336"/>
            </a:xfrm>
          </p:grpSpPr>
          <p:sp>
            <p:nvSpPr>
              <p:cNvPr id="99351" name="Arc 19"/>
              <p:cNvSpPr>
                <a:spLocks/>
              </p:cNvSpPr>
              <p:nvPr/>
            </p:nvSpPr>
            <p:spPr bwMode="auto">
              <a:xfrm>
                <a:off x="4176" y="1537"/>
                <a:ext cx="337" cy="192"/>
              </a:xfrm>
              <a:custGeom>
                <a:avLst/>
                <a:gdLst>
                  <a:gd name="T0" fmla="*/ 0 w 21664"/>
                  <a:gd name="T1" fmla="*/ 0 h 21600"/>
                  <a:gd name="T2" fmla="*/ 337 w 21664"/>
                  <a:gd name="T3" fmla="*/ 192 h 21600"/>
                  <a:gd name="T4" fmla="*/ 1 w 21664"/>
                  <a:gd name="T5" fmla="*/ 192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352" name="Arc 20"/>
              <p:cNvSpPr>
                <a:spLocks/>
              </p:cNvSpPr>
              <p:nvPr/>
            </p:nvSpPr>
            <p:spPr bwMode="auto">
              <a:xfrm rot="10800000">
                <a:off x="4177" y="1682"/>
                <a:ext cx="336" cy="191"/>
              </a:xfrm>
              <a:custGeom>
                <a:avLst/>
                <a:gdLst>
                  <a:gd name="T0" fmla="*/ 0 w 21600"/>
                  <a:gd name="T1" fmla="*/ 191 h 21497"/>
                  <a:gd name="T2" fmla="*/ 303 w 21600"/>
                  <a:gd name="T3" fmla="*/ 0 h 21497"/>
                  <a:gd name="T4" fmla="*/ 336 w 21600"/>
                  <a:gd name="T5" fmla="*/ 191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50800" cap="rnd">
                <a:solidFill>
                  <a:schemeClr val="tx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9342" name="Group 21"/>
            <p:cNvGrpSpPr>
              <a:grpSpLocks/>
            </p:cNvGrpSpPr>
            <p:nvPr/>
          </p:nvGrpSpPr>
          <p:grpSpPr bwMode="auto">
            <a:xfrm>
              <a:off x="4717" y="2883"/>
              <a:ext cx="222" cy="294"/>
              <a:chOff x="3792" y="1345"/>
              <a:chExt cx="337" cy="430"/>
            </a:xfrm>
          </p:grpSpPr>
          <p:sp>
            <p:nvSpPr>
              <p:cNvPr id="99349" name="Arc 22"/>
              <p:cNvSpPr>
                <a:spLocks/>
              </p:cNvSpPr>
              <p:nvPr/>
            </p:nvSpPr>
            <p:spPr bwMode="auto">
              <a:xfrm rot="10800000">
                <a:off x="3792" y="1556"/>
                <a:ext cx="336" cy="219"/>
              </a:xfrm>
              <a:custGeom>
                <a:avLst/>
                <a:gdLst>
                  <a:gd name="T0" fmla="*/ 0 w 21600"/>
                  <a:gd name="T1" fmla="*/ 0 h 21600"/>
                  <a:gd name="T2" fmla="*/ 336 w 21600"/>
                  <a:gd name="T3" fmla="*/ 219 h 21600"/>
                  <a:gd name="T4" fmla="*/ 0 w 21600"/>
                  <a:gd name="T5" fmla="*/ 21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accent2"/>
                </a:solidFill>
                <a:round/>
                <a:headEnd type="none" w="sm" len="sm"/>
                <a:tailEnd type="none"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350" name="Arc 23"/>
              <p:cNvSpPr>
                <a:spLocks/>
              </p:cNvSpPr>
              <p:nvPr/>
            </p:nvSpPr>
            <p:spPr bwMode="auto">
              <a:xfrm>
                <a:off x="3793" y="1345"/>
                <a:ext cx="336" cy="218"/>
              </a:xfrm>
              <a:custGeom>
                <a:avLst/>
                <a:gdLst>
                  <a:gd name="T0" fmla="*/ 0 w 21600"/>
                  <a:gd name="T1" fmla="*/ 218 h 21496"/>
                  <a:gd name="T2" fmla="*/ 303 w 21600"/>
                  <a:gd name="T3" fmla="*/ 0 h 21496"/>
                  <a:gd name="T4" fmla="*/ 336 w 21600"/>
                  <a:gd name="T5" fmla="*/ 218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50800" cap="rnd">
                <a:solidFill>
                  <a:schemeClr val="accent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9343" name="Group 24"/>
            <p:cNvGrpSpPr>
              <a:grpSpLocks/>
            </p:cNvGrpSpPr>
            <p:nvPr/>
          </p:nvGrpSpPr>
          <p:grpSpPr bwMode="auto">
            <a:xfrm>
              <a:off x="4590" y="3309"/>
              <a:ext cx="349" cy="328"/>
              <a:chOff x="3600" y="1969"/>
              <a:chExt cx="529" cy="479"/>
            </a:xfrm>
          </p:grpSpPr>
          <p:sp>
            <p:nvSpPr>
              <p:cNvPr id="99345" name="Arc 25"/>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9346" name="Line 26"/>
              <p:cNvSpPr>
                <a:spLocks noChangeShapeType="1"/>
              </p:cNvSpPr>
              <p:nvPr/>
            </p:nvSpPr>
            <p:spPr bwMode="auto">
              <a:xfrm flipH="1">
                <a:off x="3600" y="2352"/>
                <a:ext cx="240"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347" name="Line 27"/>
              <p:cNvSpPr>
                <a:spLocks noChangeShapeType="1"/>
              </p:cNvSpPr>
              <p:nvPr/>
            </p:nvSpPr>
            <p:spPr bwMode="auto">
              <a:xfrm flipH="1">
                <a:off x="3648" y="2400"/>
                <a:ext cx="144"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348" name="Line 28"/>
              <p:cNvSpPr>
                <a:spLocks noChangeShapeType="1"/>
              </p:cNvSpPr>
              <p:nvPr/>
            </p:nvSpPr>
            <p:spPr bwMode="auto">
              <a:xfrm flipH="1">
                <a:off x="3696" y="2448"/>
                <a:ext cx="48"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9344" name="Line 29"/>
            <p:cNvSpPr>
              <a:spLocks noChangeShapeType="1"/>
            </p:cNvSpPr>
            <p:nvPr/>
          </p:nvSpPr>
          <p:spPr bwMode="auto">
            <a:xfrm>
              <a:off x="4970" y="2784"/>
              <a:ext cx="0" cy="1115"/>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90</a:t>
            </a:fld>
            <a:endParaRPr lang="en-US"/>
          </a:p>
        </p:txBody>
      </p:sp>
    </p:spTree>
    <p:extLst>
      <p:ext uri="{BB962C8B-B14F-4D97-AF65-F5344CB8AC3E}">
        <p14:creationId xmlns:p14="http://schemas.microsoft.com/office/powerpoint/2010/main" val="4192946578"/>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p:txBody>
          <a:bodyPr/>
          <a:lstStyle/>
          <a:p>
            <a:r>
              <a:rPr lang="en-US" sz="2800" dirty="0" err="1"/>
              <a:t>Postconditions</a:t>
            </a:r>
            <a:endParaRPr lang="en-US" sz="2800" dirty="0"/>
          </a:p>
        </p:txBody>
      </p:sp>
      <p:sp>
        <p:nvSpPr>
          <p:cNvPr id="100358" name="Rectangle 3"/>
          <p:cNvSpPr>
            <a:spLocks noGrp="1" noChangeArrowheads="1"/>
          </p:cNvSpPr>
          <p:nvPr>
            <p:ph type="body" idx="1"/>
          </p:nvPr>
        </p:nvSpPr>
        <p:spPr/>
        <p:txBody>
          <a:bodyPr/>
          <a:lstStyle/>
          <a:p>
            <a:r>
              <a:rPr lang="en-US" sz="2000" dirty="0"/>
              <a:t>Describe the state of the system at the end of the use case</a:t>
            </a:r>
          </a:p>
          <a:p>
            <a:pPr lvl="1"/>
            <a:r>
              <a:rPr lang="en-US" sz="2000" dirty="0"/>
              <a:t>Use when the system state is a precondition to another use case, or when the possible use case outcomes are not obvious to use case readers</a:t>
            </a:r>
          </a:p>
          <a:p>
            <a:pPr lvl="1"/>
            <a:r>
              <a:rPr lang="en-US" sz="2000" dirty="0"/>
              <a:t>Should never refer to other, subsequent use cases</a:t>
            </a:r>
          </a:p>
          <a:p>
            <a:pPr lvl="1"/>
            <a:r>
              <a:rPr lang="en-US" sz="2000" dirty="0"/>
              <a:t>Should be stated clearly and should be easily verifiable</a:t>
            </a:r>
          </a:p>
          <a:p>
            <a:r>
              <a:rPr lang="en-US" sz="2000" dirty="0"/>
              <a:t>Optional: Use only if needed for clarification</a:t>
            </a:r>
          </a:p>
          <a:p>
            <a:r>
              <a:rPr lang="en-US" sz="2000" dirty="0"/>
              <a:t>Example: </a:t>
            </a:r>
          </a:p>
          <a:p>
            <a:pPr lvl="1"/>
            <a:r>
              <a:rPr lang="en-US" sz="2000" dirty="0"/>
              <a:t>	Register for Courses use case</a:t>
            </a:r>
          </a:p>
          <a:p>
            <a:pPr lvl="1"/>
            <a:r>
              <a:rPr lang="en-US" sz="2000" dirty="0"/>
              <a:t>	</a:t>
            </a:r>
            <a:r>
              <a:rPr lang="en-US" sz="2000" dirty="0" err="1"/>
              <a:t>Postcondition</a:t>
            </a:r>
            <a:r>
              <a:rPr lang="en-US" sz="2000" dirty="0"/>
              <a:t>: At the end of this </a:t>
            </a:r>
            <a:br>
              <a:rPr lang="en-US" sz="2000" dirty="0"/>
            </a:br>
            <a:r>
              <a:rPr lang="en-US" sz="2000" dirty="0"/>
              <a:t>use case either the student has been </a:t>
            </a:r>
            <a:br>
              <a:rPr lang="en-US" sz="2000" dirty="0"/>
            </a:br>
            <a:r>
              <a:rPr lang="en-US" sz="2000" dirty="0"/>
              <a:t>enrolled in courses, or registering was </a:t>
            </a:r>
            <a:br>
              <a:rPr lang="en-US" sz="2000" dirty="0"/>
            </a:br>
            <a:r>
              <a:rPr lang="en-US" sz="2000" dirty="0"/>
              <a:t>unsuccessful and no changes have been made to the student schedules or course enrollments</a:t>
            </a:r>
          </a:p>
        </p:txBody>
      </p:sp>
      <p:grpSp>
        <p:nvGrpSpPr>
          <p:cNvPr id="100359" name="Group 4"/>
          <p:cNvGrpSpPr>
            <a:grpSpLocks/>
          </p:cNvGrpSpPr>
          <p:nvPr/>
        </p:nvGrpSpPr>
        <p:grpSpPr bwMode="auto">
          <a:xfrm>
            <a:off x="6934200" y="3733800"/>
            <a:ext cx="1884363" cy="2073275"/>
            <a:chOff x="4333" y="2630"/>
            <a:chExt cx="1187" cy="1306"/>
          </a:xfrm>
        </p:grpSpPr>
        <p:grpSp>
          <p:nvGrpSpPr>
            <p:cNvPr id="100360" name="Group 5"/>
            <p:cNvGrpSpPr>
              <a:grpSpLocks/>
            </p:cNvGrpSpPr>
            <p:nvPr/>
          </p:nvGrpSpPr>
          <p:grpSpPr bwMode="auto">
            <a:xfrm>
              <a:off x="5169" y="2991"/>
              <a:ext cx="349" cy="328"/>
              <a:chOff x="4512" y="1729"/>
              <a:chExt cx="528" cy="479"/>
            </a:xfrm>
          </p:grpSpPr>
          <p:sp>
            <p:nvSpPr>
              <p:cNvPr id="100382" name="Arc 6"/>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383" name="Line 7"/>
              <p:cNvSpPr>
                <a:spLocks noChangeShapeType="1"/>
              </p:cNvSpPr>
              <p:nvPr/>
            </p:nvSpPr>
            <p:spPr bwMode="auto">
              <a:xfrm>
                <a:off x="4800" y="2112"/>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384" name="Line 8"/>
              <p:cNvSpPr>
                <a:spLocks noChangeShapeType="1"/>
              </p:cNvSpPr>
              <p:nvPr/>
            </p:nvSpPr>
            <p:spPr bwMode="auto">
              <a:xfrm>
                <a:off x="4848" y="2160"/>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385" name="Line 9"/>
              <p:cNvSpPr>
                <a:spLocks noChangeShapeType="1"/>
              </p:cNvSpPr>
              <p:nvPr/>
            </p:nvSpPr>
            <p:spPr bwMode="auto">
              <a:xfrm>
                <a:off x="4896" y="2208"/>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0361" name="Group 10"/>
            <p:cNvGrpSpPr>
              <a:grpSpLocks/>
            </p:cNvGrpSpPr>
            <p:nvPr/>
          </p:nvGrpSpPr>
          <p:grpSpPr bwMode="auto">
            <a:xfrm>
              <a:off x="4345" y="2860"/>
              <a:ext cx="349" cy="328"/>
              <a:chOff x="3264" y="1537"/>
              <a:chExt cx="529" cy="479"/>
            </a:xfrm>
          </p:grpSpPr>
          <p:sp>
            <p:nvSpPr>
              <p:cNvPr id="100378" name="Arc 11"/>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379" name="Line 12"/>
              <p:cNvSpPr>
                <a:spLocks noChangeShapeType="1"/>
              </p:cNvSpPr>
              <p:nvPr/>
            </p:nvSpPr>
            <p:spPr bwMode="auto">
              <a:xfrm flipH="1">
                <a:off x="3264" y="1920"/>
                <a:ext cx="240"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380" name="Line 13"/>
              <p:cNvSpPr>
                <a:spLocks noChangeShapeType="1"/>
              </p:cNvSpPr>
              <p:nvPr/>
            </p:nvSpPr>
            <p:spPr bwMode="auto">
              <a:xfrm flipH="1">
                <a:off x="3312" y="1968"/>
                <a:ext cx="144"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381" name="Line 14"/>
              <p:cNvSpPr>
                <a:spLocks noChangeShapeType="1"/>
              </p:cNvSpPr>
              <p:nvPr/>
            </p:nvSpPr>
            <p:spPr bwMode="auto">
              <a:xfrm flipH="1">
                <a:off x="3360" y="2016"/>
                <a:ext cx="48" cy="0"/>
              </a:xfrm>
              <a:prstGeom prst="line">
                <a:avLst/>
              </a:prstGeom>
              <a:noFill/>
              <a:ln w="508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0362" name="Group 15"/>
            <p:cNvGrpSpPr>
              <a:grpSpLocks/>
            </p:cNvGrpSpPr>
            <p:nvPr/>
          </p:nvGrpSpPr>
          <p:grpSpPr bwMode="auto">
            <a:xfrm>
              <a:off x="4947" y="2860"/>
              <a:ext cx="223" cy="230"/>
              <a:chOff x="4973" y="2744"/>
              <a:chExt cx="223" cy="230"/>
            </a:xfrm>
          </p:grpSpPr>
          <p:sp>
            <p:nvSpPr>
              <p:cNvPr id="100376" name="Arc 16"/>
              <p:cNvSpPr>
                <a:spLocks/>
              </p:cNvSpPr>
              <p:nvPr/>
            </p:nvSpPr>
            <p:spPr bwMode="auto">
              <a:xfrm>
                <a:off x="4973" y="2744"/>
                <a:ext cx="223" cy="131"/>
              </a:xfrm>
              <a:custGeom>
                <a:avLst/>
                <a:gdLst>
                  <a:gd name="T0" fmla="*/ 0 w 21664"/>
                  <a:gd name="T1" fmla="*/ 0 h 21600"/>
                  <a:gd name="T2" fmla="*/ 223 w 21664"/>
                  <a:gd name="T3" fmla="*/ 131 h 21600"/>
                  <a:gd name="T4" fmla="*/ 1 w 21664"/>
                  <a:gd name="T5" fmla="*/ 131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377" name="Arc 17"/>
              <p:cNvSpPr>
                <a:spLocks/>
              </p:cNvSpPr>
              <p:nvPr/>
            </p:nvSpPr>
            <p:spPr bwMode="auto">
              <a:xfrm rot="10800000">
                <a:off x="4974" y="2843"/>
                <a:ext cx="222" cy="131"/>
              </a:xfrm>
              <a:custGeom>
                <a:avLst/>
                <a:gdLst>
                  <a:gd name="T0" fmla="*/ 0 w 21600"/>
                  <a:gd name="T1" fmla="*/ 131 h 21497"/>
                  <a:gd name="T2" fmla="*/ 200 w 21600"/>
                  <a:gd name="T3" fmla="*/ 0 h 21497"/>
                  <a:gd name="T4" fmla="*/ 222 w 21600"/>
                  <a:gd name="T5" fmla="*/ 131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50800" cap="rnd">
                <a:solidFill>
                  <a:schemeClr val="tx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00363" name="Group 18"/>
            <p:cNvGrpSpPr>
              <a:grpSpLocks/>
            </p:cNvGrpSpPr>
            <p:nvPr/>
          </p:nvGrpSpPr>
          <p:grpSpPr bwMode="auto">
            <a:xfrm>
              <a:off x="4694" y="2729"/>
              <a:ext cx="222" cy="294"/>
              <a:chOff x="4720" y="2613"/>
              <a:chExt cx="222" cy="294"/>
            </a:xfrm>
          </p:grpSpPr>
          <p:sp>
            <p:nvSpPr>
              <p:cNvPr id="100374" name="Arc 19"/>
              <p:cNvSpPr>
                <a:spLocks/>
              </p:cNvSpPr>
              <p:nvPr/>
            </p:nvSpPr>
            <p:spPr bwMode="auto">
              <a:xfrm rot="10800000">
                <a:off x="4720" y="2757"/>
                <a:ext cx="221" cy="150"/>
              </a:xfrm>
              <a:custGeom>
                <a:avLst/>
                <a:gdLst>
                  <a:gd name="T0" fmla="*/ 0 w 21600"/>
                  <a:gd name="T1" fmla="*/ 0 h 21600"/>
                  <a:gd name="T2" fmla="*/ 221 w 21600"/>
                  <a:gd name="T3" fmla="*/ 150 h 21600"/>
                  <a:gd name="T4" fmla="*/ 0 w 21600"/>
                  <a:gd name="T5" fmla="*/ 1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375" name="Arc 20"/>
              <p:cNvSpPr>
                <a:spLocks/>
              </p:cNvSpPr>
              <p:nvPr/>
            </p:nvSpPr>
            <p:spPr bwMode="auto">
              <a:xfrm>
                <a:off x="4721" y="2613"/>
                <a:ext cx="221" cy="149"/>
              </a:xfrm>
              <a:custGeom>
                <a:avLst/>
                <a:gdLst>
                  <a:gd name="T0" fmla="*/ 0 w 21600"/>
                  <a:gd name="T1" fmla="*/ 149 h 21496"/>
                  <a:gd name="T2" fmla="*/ 199 w 21600"/>
                  <a:gd name="T3" fmla="*/ 0 h 21496"/>
                  <a:gd name="T4" fmla="*/ 221 w 21600"/>
                  <a:gd name="T5" fmla="*/ 149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50800" cap="rnd">
                <a:solidFill>
                  <a:schemeClr val="accent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00364" name="Group 21"/>
            <p:cNvGrpSpPr>
              <a:grpSpLocks/>
            </p:cNvGrpSpPr>
            <p:nvPr/>
          </p:nvGrpSpPr>
          <p:grpSpPr bwMode="auto">
            <a:xfrm>
              <a:off x="4567" y="3155"/>
              <a:ext cx="349" cy="328"/>
              <a:chOff x="3600" y="1969"/>
              <a:chExt cx="529" cy="479"/>
            </a:xfrm>
          </p:grpSpPr>
          <p:sp>
            <p:nvSpPr>
              <p:cNvPr id="100370" name="Arc 22"/>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508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371" name="Line 23"/>
              <p:cNvSpPr>
                <a:spLocks noChangeShapeType="1"/>
              </p:cNvSpPr>
              <p:nvPr/>
            </p:nvSpPr>
            <p:spPr bwMode="auto">
              <a:xfrm flipH="1">
                <a:off x="3600" y="2352"/>
                <a:ext cx="240"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372" name="Line 24"/>
              <p:cNvSpPr>
                <a:spLocks noChangeShapeType="1"/>
              </p:cNvSpPr>
              <p:nvPr/>
            </p:nvSpPr>
            <p:spPr bwMode="auto">
              <a:xfrm flipH="1">
                <a:off x="3648" y="2400"/>
                <a:ext cx="144"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373" name="Line 25"/>
              <p:cNvSpPr>
                <a:spLocks noChangeShapeType="1"/>
              </p:cNvSpPr>
              <p:nvPr/>
            </p:nvSpPr>
            <p:spPr bwMode="auto">
              <a:xfrm flipH="1">
                <a:off x="3696" y="2448"/>
                <a:ext cx="48"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0365" name="AutoShape 26"/>
            <p:cNvSpPr>
              <a:spLocks noChangeArrowheads="1"/>
            </p:cNvSpPr>
            <p:nvPr/>
          </p:nvSpPr>
          <p:spPr bwMode="auto">
            <a:xfrm>
              <a:off x="4557" y="3520"/>
              <a:ext cx="167" cy="167"/>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0366" name="AutoShape 27"/>
            <p:cNvSpPr>
              <a:spLocks noChangeArrowheads="1"/>
            </p:cNvSpPr>
            <p:nvPr/>
          </p:nvSpPr>
          <p:spPr bwMode="auto">
            <a:xfrm>
              <a:off x="4869" y="3769"/>
              <a:ext cx="167" cy="167"/>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0367" name="AutoShape 28"/>
            <p:cNvSpPr>
              <a:spLocks noChangeArrowheads="1"/>
            </p:cNvSpPr>
            <p:nvPr/>
          </p:nvSpPr>
          <p:spPr bwMode="auto">
            <a:xfrm>
              <a:off x="4333" y="3221"/>
              <a:ext cx="167" cy="167"/>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0368" name="AutoShape 29"/>
            <p:cNvSpPr>
              <a:spLocks noChangeArrowheads="1"/>
            </p:cNvSpPr>
            <p:nvPr/>
          </p:nvSpPr>
          <p:spPr bwMode="auto">
            <a:xfrm>
              <a:off x="5353" y="3353"/>
              <a:ext cx="167" cy="167"/>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0369" name="Line 30"/>
            <p:cNvSpPr>
              <a:spLocks noChangeShapeType="1"/>
            </p:cNvSpPr>
            <p:nvPr/>
          </p:nvSpPr>
          <p:spPr bwMode="auto">
            <a:xfrm>
              <a:off x="4947" y="2630"/>
              <a:ext cx="0" cy="1115"/>
            </a:xfrm>
            <a:prstGeom prst="line">
              <a:avLst/>
            </a:prstGeom>
            <a:noFill/>
            <a:ln w="762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Slide Number Placeholder 1"/>
          <p:cNvSpPr>
            <a:spLocks noGrp="1"/>
          </p:cNvSpPr>
          <p:nvPr>
            <p:ph type="sldNum" sz="quarter" idx="12"/>
          </p:nvPr>
        </p:nvSpPr>
        <p:spPr/>
        <p:txBody>
          <a:bodyPr/>
          <a:lstStyle/>
          <a:p>
            <a:fld id="{DED05017-923D-480E-B02E-B52739184DCA}" type="slidenum">
              <a:rPr lang="en-US" smtClean="0"/>
              <a:pPr/>
              <a:t>91</a:t>
            </a:fld>
            <a:endParaRPr lang="en-US"/>
          </a:p>
        </p:txBody>
      </p:sp>
    </p:spTree>
    <p:extLst>
      <p:ext uri="{BB962C8B-B14F-4D97-AF65-F5344CB8AC3E}">
        <p14:creationId xmlns:p14="http://schemas.microsoft.com/office/powerpoint/2010/main" val="106674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81" name="Group 2"/>
          <p:cNvGrpSpPr>
            <a:grpSpLocks/>
          </p:cNvGrpSpPr>
          <p:nvPr/>
        </p:nvGrpSpPr>
        <p:grpSpPr bwMode="auto">
          <a:xfrm>
            <a:off x="6569075" y="3055938"/>
            <a:ext cx="415925" cy="388937"/>
            <a:chOff x="4512" y="1729"/>
            <a:chExt cx="528" cy="479"/>
          </a:xfrm>
        </p:grpSpPr>
        <p:sp>
          <p:nvSpPr>
            <p:cNvPr id="101446" name="Arc 3"/>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381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47" name="Line 4"/>
            <p:cNvSpPr>
              <a:spLocks noChangeShapeType="1"/>
            </p:cNvSpPr>
            <p:nvPr/>
          </p:nvSpPr>
          <p:spPr bwMode="auto">
            <a:xfrm>
              <a:off x="4800" y="2112"/>
              <a:ext cx="240"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48" name="Line 5"/>
            <p:cNvSpPr>
              <a:spLocks noChangeShapeType="1"/>
            </p:cNvSpPr>
            <p:nvPr/>
          </p:nvSpPr>
          <p:spPr bwMode="auto">
            <a:xfrm>
              <a:off x="4848" y="2160"/>
              <a:ext cx="144"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49" name="Line 6"/>
            <p:cNvSpPr>
              <a:spLocks noChangeShapeType="1"/>
            </p:cNvSpPr>
            <p:nvPr/>
          </p:nvSpPr>
          <p:spPr bwMode="auto">
            <a:xfrm>
              <a:off x="4896" y="2208"/>
              <a:ext cx="48"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82" name="Group 7"/>
          <p:cNvGrpSpPr>
            <a:grpSpLocks/>
          </p:cNvGrpSpPr>
          <p:nvPr/>
        </p:nvGrpSpPr>
        <p:grpSpPr bwMode="auto">
          <a:xfrm>
            <a:off x="5584825" y="2898775"/>
            <a:ext cx="417513" cy="390525"/>
            <a:chOff x="3264" y="1537"/>
            <a:chExt cx="529" cy="479"/>
          </a:xfrm>
        </p:grpSpPr>
        <p:sp>
          <p:nvSpPr>
            <p:cNvPr id="101442" name="Arc 8"/>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381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43" name="Line 9"/>
            <p:cNvSpPr>
              <a:spLocks noChangeShapeType="1"/>
            </p:cNvSpPr>
            <p:nvPr/>
          </p:nvSpPr>
          <p:spPr bwMode="auto">
            <a:xfrm flipH="1">
              <a:off x="3264" y="1920"/>
              <a:ext cx="240"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44" name="Line 10"/>
            <p:cNvSpPr>
              <a:spLocks noChangeShapeType="1"/>
            </p:cNvSpPr>
            <p:nvPr/>
          </p:nvSpPr>
          <p:spPr bwMode="auto">
            <a:xfrm flipH="1">
              <a:off x="3312" y="1968"/>
              <a:ext cx="144"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45" name="Line 11"/>
            <p:cNvSpPr>
              <a:spLocks noChangeShapeType="1"/>
            </p:cNvSpPr>
            <p:nvPr/>
          </p:nvSpPr>
          <p:spPr bwMode="auto">
            <a:xfrm flipH="1">
              <a:off x="3360" y="2016"/>
              <a:ext cx="48"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83" name="Group 12"/>
          <p:cNvGrpSpPr>
            <a:grpSpLocks/>
          </p:cNvGrpSpPr>
          <p:nvPr/>
        </p:nvGrpSpPr>
        <p:grpSpPr bwMode="auto">
          <a:xfrm>
            <a:off x="6002338" y="2743200"/>
            <a:ext cx="265112" cy="350838"/>
            <a:chOff x="1351" y="1843"/>
            <a:chExt cx="167" cy="221"/>
          </a:xfrm>
        </p:grpSpPr>
        <p:sp>
          <p:nvSpPr>
            <p:cNvPr id="101440" name="Arc 13"/>
            <p:cNvSpPr>
              <a:spLocks/>
            </p:cNvSpPr>
            <p:nvPr/>
          </p:nvSpPr>
          <p:spPr bwMode="auto">
            <a:xfrm rot="10800000">
              <a:off x="1351" y="1951"/>
              <a:ext cx="167" cy="113"/>
            </a:xfrm>
            <a:custGeom>
              <a:avLst/>
              <a:gdLst>
                <a:gd name="T0" fmla="*/ 0 w 21600"/>
                <a:gd name="T1" fmla="*/ 0 h 21600"/>
                <a:gd name="T2" fmla="*/ 167 w 21600"/>
                <a:gd name="T3" fmla="*/ 113 h 21600"/>
                <a:gd name="T4" fmla="*/ 0 w 21600"/>
                <a:gd name="T5" fmla="*/ 11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cap="rnd">
              <a:solidFill>
                <a:schemeClr val="accent2"/>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41" name="Arc 14"/>
            <p:cNvSpPr>
              <a:spLocks/>
            </p:cNvSpPr>
            <p:nvPr/>
          </p:nvSpPr>
          <p:spPr bwMode="auto">
            <a:xfrm>
              <a:off x="1351" y="1843"/>
              <a:ext cx="167" cy="112"/>
            </a:xfrm>
            <a:custGeom>
              <a:avLst/>
              <a:gdLst>
                <a:gd name="T0" fmla="*/ 0 w 21600"/>
                <a:gd name="T1" fmla="*/ 112 h 21496"/>
                <a:gd name="T2" fmla="*/ 151 w 21600"/>
                <a:gd name="T3" fmla="*/ 0 h 21496"/>
                <a:gd name="T4" fmla="*/ 167 w 21600"/>
                <a:gd name="T5" fmla="*/ 112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38100" cap="rnd">
              <a:solidFill>
                <a:schemeClr val="accent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01384" name="Group 15"/>
          <p:cNvGrpSpPr>
            <a:grpSpLocks/>
          </p:cNvGrpSpPr>
          <p:nvPr/>
        </p:nvGrpSpPr>
        <p:grpSpPr bwMode="auto">
          <a:xfrm>
            <a:off x="5849938" y="3251200"/>
            <a:ext cx="417512" cy="388938"/>
            <a:chOff x="3600" y="1969"/>
            <a:chExt cx="529" cy="479"/>
          </a:xfrm>
        </p:grpSpPr>
        <p:sp>
          <p:nvSpPr>
            <p:cNvPr id="101436" name="Arc 16"/>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37" name="Line 17"/>
            <p:cNvSpPr>
              <a:spLocks noChangeShapeType="1"/>
            </p:cNvSpPr>
            <p:nvPr/>
          </p:nvSpPr>
          <p:spPr bwMode="auto">
            <a:xfrm flipH="1">
              <a:off x="3600" y="2352"/>
              <a:ext cx="240" cy="0"/>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38" name="Line 18"/>
            <p:cNvSpPr>
              <a:spLocks noChangeShapeType="1"/>
            </p:cNvSpPr>
            <p:nvPr/>
          </p:nvSpPr>
          <p:spPr bwMode="auto">
            <a:xfrm flipH="1">
              <a:off x="3648" y="2400"/>
              <a:ext cx="144" cy="0"/>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39" name="Line 19"/>
            <p:cNvSpPr>
              <a:spLocks noChangeShapeType="1"/>
            </p:cNvSpPr>
            <p:nvPr/>
          </p:nvSpPr>
          <p:spPr bwMode="auto">
            <a:xfrm flipH="1">
              <a:off x="3696" y="2448"/>
              <a:ext cx="48" cy="0"/>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1385" name="AutoShape 20"/>
          <p:cNvSpPr>
            <a:spLocks noChangeArrowheads="1"/>
          </p:cNvSpPr>
          <p:nvPr/>
        </p:nvSpPr>
        <p:spPr bwMode="auto">
          <a:xfrm>
            <a:off x="6200775" y="2417763"/>
            <a:ext cx="200025" cy="198437"/>
          </a:xfrm>
          <a:prstGeom prst="flowChartConnector">
            <a:avLst/>
          </a:prstGeom>
          <a:solidFill>
            <a:srgbClr val="FF9933"/>
          </a:solidFill>
          <a:ln w="28575">
            <a:solidFill>
              <a:srgbClr val="FFFFCC"/>
            </a:solidFill>
            <a:round/>
            <a:headEnd/>
            <a:tailEnd/>
          </a:ln>
        </p:spPr>
        <p:txBody>
          <a:bodyPr wrap="none" anchor="ctr"/>
          <a:lstStyle/>
          <a:p>
            <a:endParaRPr lang="en-US"/>
          </a:p>
        </p:txBody>
      </p:sp>
      <p:sp>
        <p:nvSpPr>
          <p:cNvPr id="101386" name="Line 21"/>
          <p:cNvSpPr>
            <a:spLocks noChangeShapeType="1"/>
          </p:cNvSpPr>
          <p:nvPr/>
        </p:nvSpPr>
        <p:spPr bwMode="auto">
          <a:xfrm>
            <a:off x="6303963" y="2625725"/>
            <a:ext cx="0" cy="132715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01387" name="Group 22"/>
          <p:cNvGrpSpPr>
            <a:grpSpLocks/>
          </p:cNvGrpSpPr>
          <p:nvPr/>
        </p:nvGrpSpPr>
        <p:grpSpPr bwMode="auto">
          <a:xfrm>
            <a:off x="6303963" y="2898775"/>
            <a:ext cx="266700" cy="274638"/>
            <a:chOff x="1541" y="1941"/>
            <a:chExt cx="168" cy="173"/>
          </a:xfrm>
        </p:grpSpPr>
        <p:sp>
          <p:nvSpPr>
            <p:cNvPr id="101434" name="Arc 23"/>
            <p:cNvSpPr>
              <a:spLocks/>
            </p:cNvSpPr>
            <p:nvPr/>
          </p:nvSpPr>
          <p:spPr bwMode="auto">
            <a:xfrm>
              <a:off x="1541" y="1941"/>
              <a:ext cx="168" cy="99"/>
            </a:xfrm>
            <a:custGeom>
              <a:avLst/>
              <a:gdLst>
                <a:gd name="T0" fmla="*/ 0 w 21664"/>
                <a:gd name="T1" fmla="*/ 0 h 21600"/>
                <a:gd name="T2" fmla="*/ 168 w 21664"/>
                <a:gd name="T3" fmla="*/ 99 h 21600"/>
                <a:gd name="T4" fmla="*/ 0 w 21664"/>
                <a:gd name="T5" fmla="*/ 99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38100" cap="rnd">
              <a:solidFill>
                <a:schemeClr val="tx2"/>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35" name="Arc 24"/>
            <p:cNvSpPr>
              <a:spLocks/>
            </p:cNvSpPr>
            <p:nvPr/>
          </p:nvSpPr>
          <p:spPr bwMode="auto">
            <a:xfrm rot="10800000">
              <a:off x="1541" y="2016"/>
              <a:ext cx="168" cy="98"/>
            </a:xfrm>
            <a:custGeom>
              <a:avLst/>
              <a:gdLst>
                <a:gd name="T0" fmla="*/ 0 w 21600"/>
                <a:gd name="T1" fmla="*/ 98 h 21497"/>
                <a:gd name="T2" fmla="*/ 152 w 21600"/>
                <a:gd name="T3" fmla="*/ 0 h 21497"/>
                <a:gd name="T4" fmla="*/ 168 w 21600"/>
                <a:gd name="T5" fmla="*/ 98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38100" cap="rnd">
              <a:solidFill>
                <a:schemeClr val="tx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01388" name="Oval 25"/>
          <p:cNvSpPr>
            <a:spLocks noChangeArrowheads="1"/>
          </p:cNvSpPr>
          <p:nvPr/>
        </p:nvSpPr>
        <p:spPr bwMode="auto">
          <a:xfrm>
            <a:off x="4800600" y="2255838"/>
            <a:ext cx="3009900" cy="1782762"/>
          </a:xfrm>
          <a:prstGeom prst="ellipse">
            <a:avLst/>
          </a:prstGeom>
          <a:noFill/>
          <a:ln w="38100">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a:solidFill>
                <a:schemeClr val="tx1"/>
              </a:solidFill>
            </a:endParaRPr>
          </a:p>
        </p:txBody>
      </p:sp>
      <p:sp>
        <p:nvSpPr>
          <p:cNvPr id="714778" name="Rectangle 26"/>
          <p:cNvSpPr>
            <a:spLocks noGrp="1" noChangeArrowheads="1"/>
          </p:cNvSpPr>
          <p:nvPr>
            <p:ph type="title"/>
          </p:nvPr>
        </p:nvSpPr>
        <p:spPr/>
        <p:txBody>
          <a:bodyPr/>
          <a:lstStyle/>
          <a:p>
            <a:pPr eaLnBrk="1" hangingPunct="1">
              <a:defRPr/>
            </a:pPr>
            <a:r>
              <a:rPr lang="en-US" sz="2800" dirty="0"/>
              <a:t>Sequence use cases with pre</a:t>
            </a:r>
            <a:r>
              <a:rPr lang="en-US" sz="2800" dirty="0">
                <a:solidFill>
                  <a:schemeClr val="accent2"/>
                </a:solidFill>
              </a:rPr>
              <a:t>-</a:t>
            </a:r>
            <a:r>
              <a:rPr lang="en-US" sz="2800" dirty="0"/>
              <a:t> and </a:t>
            </a:r>
            <a:r>
              <a:rPr lang="en-US" sz="2800" dirty="0" err="1"/>
              <a:t>postconditions</a:t>
            </a:r>
            <a:endParaRPr lang="en-US" sz="2800" dirty="0"/>
          </a:p>
        </p:txBody>
      </p:sp>
      <p:sp>
        <p:nvSpPr>
          <p:cNvPr id="101390" name="Rectangle 27"/>
          <p:cNvSpPr>
            <a:spLocks noGrp="1" noChangeArrowheads="1"/>
          </p:cNvSpPr>
          <p:nvPr>
            <p:ph type="body" idx="1"/>
          </p:nvPr>
        </p:nvSpPr>
        <p:spPr>
          <a:xfrm>
            <a:off x="1290638" y="4795838"/>
            <a:ext cx="6716712" cy="1011237"/>
          </a:xfrm>
        </p:spPr>
        <p:txBody>
          <a:bodyPr/>
          <a:lstStyle/>
          <a:p>
            <a:pPr marL="0" indent="0" eaLnBrk="1" hangingPunct="1">
              <a:lnSpc>
                <a:spcPct val="100000"/>
              </a:lnSpc>
              <a:buFont typeface="Wingdings" pitchFamily="2" charset="2"/>
              <a:buNone/>
            </a:pPr>
            <a:r>
              <a:rPr lang="en-US" sz="2000" dirty="0"/>
              <a:t>Use cases do </a:t>
            </a:r>
            <a:r>
              <a:rPr lang="en-US" sz="2000" b="1" dirty="0"/>
              <a:t>not</a:t>
            </a:r>
            <a:r>
              <a:rPr lang="en-US" sz="2000" dirty="0"/>
              <a:t> interact with each other.</a:t>
            </a:r>
            <a:br>
              <a:rPr lang="en-US" sz="2000" dirty="0"/>
            </a:br>
            <a:r>
              <a:rPr lang="en-US" sz="2000" dirty="0"/>
              <a:t>However, a </a:t>
            </a:r>
            <a:r>
              <a:rPr lang="en-US" sz="2000" dirty="0" err="1"/>
              <a:t>postcondition</a:t>
            </a:r>
            <a:r>
              <a:rPr lang="en-US" sz="2000" dirty="0"/>
              <a:t> for one use case </a:t>
            </a:r>
            <a:br>
              <a:rPr lang="en-US" sz="2000" dirty="0"/>
            </a:br>
            <a:r>
              <a:rPr lang="en-US" sz="2000" dirty="0"/>
              <a:t>can be the same as the precondition for another.</a:t>
            </a:r>
          </a:p>
        </p:txBody>
      </p:sp>
      <p:grpSp>
        <p:nvGrpSpPr>
          <p:cNvPr id="101391" name="Group 28"/>
          <p:cNvGrpSpPr>
            <a:grpSpLocks noChangeAspect="1"/>
          </p:cNvGrpSpPr>
          <p:nvPr/>
        </p:nvGrpSpPr>
        <p:grpSpPr bwMode="auto">
          <a:xfrm>
            <a:off x="304800" y="1524000"/>
            <a:ext cx="608013" cy="892175"/>
            <a:chOff x="7654" y="3380"/>
            <a:chExt cx="554" cy="754"/>
          </a:xfrm>
        </p:grpSpPr>
        <p:sp>
          <p:nvSpPr>
            <p:cNvPr id="101430" name="Oval 29"/>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431" name="Line 30"/>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2" name="Line 31"/>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3" name="Freeform 32"/>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01392" name="Group 33"/>
          <p:cNvGrpSpPr>
            <a:grpSpLocks noChangeAspect="1"/>
          </p:cNvGrpSpPr>
          <p:nvPr/>
        </p:nvGrpSpPr>
        <p:grpSpPr bwMode="auto">
          <a:xfrm>
            <a:off x="8305800" y="1676400"/>
            <a:ext cx="608013" cy="892175"/>
            <a:chOff x="7654" y="3380"/>
            <a:chExt cx="554" cy="754"/>
          </a:xfrm>
        </p:grpSpPr>
        <p:sp>
          <p:nvSpPr>
            <p:cNvPr id="101426" name="Oval 34"/>
            <p:cNvSpPr>
              <a:spLocks noChangeAspect="1"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427" name="Line 35"/>
            <p:cNvSpPr>
              <a:spLocks noChangeAspect="1"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8" name="Line 36"/>
            <p:cNvSpPr>
              <a:spLocks noChangeAspect="1"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9" name="Freeform 37"/>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1393" name="Line 38"/>
          <p:cNvSpPr>
            <a:spLocks noChangeShapeType="1"/>
          </p:cNvSpPr>
          <p:nvPr/>
        </p:nvSpPr>
        <p:spPr bwMode="auto">
          <a:xfrm>
            <a:off x="762000" y="1981200"/>
            <a:ext cx="609600" cy="457200"/>
          </a:xfrm>
          <a:prstGeom prst="line">
            <a:avLst/>
          </a:prstGeom>
          <a:noFill/>
          <a:ln w="2857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sp>
        <p:nvSpPr>
          <p:cNvPr id="101394" name="Line 39"/>
          <p:cNvSpPr>
            <a:spLocks noChangeShapeType="1"/>
          </p:cNvSpPr>
          <p:nvPr/>
        </p:nvSpPr>
        <p:spPr bwMode="auto">
          <a:xfrm flipH="1">
            <a:off x="7772400" y="2133600"/>
            <a:ext cx="609600" cy="457200"/>
          </a:xfrm>
          <a:prstGeom prst="line">
            <a:avLst/>
          </a:prstGeom>
          <a:noFill/>
          <a:ln w="28575">
            <a:solidFill>
              <a:schemeClr val="tx1"/>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01395" name="Group 40"/>
          <p:cNvGrpSpPr>
            <a:grpSpLocks/>
          </p:cNvGrpSpPr>
          <p:nvPr/>
        </p:nvGrpSpPr>
        <p:grpSpPr bwMode="auto">
          <a:xfrm>
            <a:off x="2932113" y="2713038"/>
            <a:ext cx="415925" cy="388937"/>
            <a:chOff x="4512" y="1729"/>
            <a:chExt cx="528" cy="479"/>
          </a:xfrm>
        </p:grpSpPr>
        <p:sp>
          <p:nvSpPr>
            <p:cNvPr id="101422" name="Arc 41"/>
            <p:cNvSpPr>
              <a:spLocks/>
            </p:cNvSpPr>
            <p:nvPr/>
          </p:nvSpPr>
          <p:spPr bwMode="auto">
            <a:xfrm>
              <a:off x="4512" y="1729"/>
              <a:ext cx="433" cy="384"/>
            </a:xfrm>
            <a:custGeom>
              <a:avLst/>
              <a:gdLst>
                <a:gd name="T0" fmla="*/ 0 w 21650"/>
                <a:gd name="T1" fmla="*/ 0 h 21600"/>
                <a:gd name="T2" fmla="*/ 433 w 21650"/>
                <a:gd name="T3" fmla="*/ 384 h 21600"/>
                <a:gd name="T4" fmla="*/ 1 w 21650"/>
                <a:gd name="T5" fmla="*/ 384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close/>
                </a:path>
              </a:pathLst>
            </a:custGeom>
            <a:noFill/>
            <a:ln w="381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23" name="Line 42"/>
            <p:cNvSpPr>
              <a:spLocks noChangeShapeType="1"/>
            </p:cNvSpPr>
            <p:nvPr/>
          </p:nvSpPr>
          <p:spPr bwMode="auto">
            <a:xfrm>
              <a:off x="4800" y="2112"/>
              <a:ext cx="240"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24" name="Line 43"/>
            <p:cNvSpPr>
              <a:spLocks noChangeShapeType="1"/>
            </p:cNvSpPr>
            <p:nvPr/>
          </p:nvSpPr>
          <p:spPr bwMode="auto">
            <a:xfrm>
              <a:off x="4848" y="2160"/>
              <a:ext cx="144"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25" name="Line 44"/>
            <p:cNvSpPr>
              <a:spLocks noChangeShapeType="1"/>
            </p:cNvSpPr>
            <p:nvPr/>
          </p:nvSpPr>
          <p:spPr bwMode="auto">
            <a:xfrm>
              <a:off x="4896" y="2208"/>
              <a:ext cx="48"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96" name="Group 45"/>
          <p:cNvGrpSpPr>
            <a:grpSpLocks/>
          </p:cNvGrpSpPr>
          <p:nvPr/>
        </p:nvGrpSpPr>
        <p:grpSpPr bwMode="auto">
          <a:xfrm>
            <a:off x="1947863" y="2555875"/>
            <a:ext cx="417512" cy="390525"/>
            <a:chOff x="3264" y="1537"/>
            <a:chExt cx="529" cy="479"/>
          </a:xfrm>
        </p:grpSpPr>
        <p:sp>
          <p:nvSpPr>
            <p:cNvPr id="101418" name="Arc 46"/>
            <p:cNvSpPr>
              <a:spLocks/>
            </p:cNvSpPr>
            <p:nvPr/>
          </p:nvSpPr>
          <p:spPr bwMode="auto">
            <a:xfrm>
              <a:off x="3361" y="1537"/>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38100" cap="rnd">
              <a:solidFill>
                <a:srgbClr val="9999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19" name="Line 47"/>
            <p:cNvSpPr>
              <a:spLocks noChangeShapeType="1"/>
            </p:cNvSpPr>
            <p:nvPr/>
          </p:nvSpPr>
          <p:spPr bwMode="auto">
            <a:xfrm flipH="1">
              <a:off x="3264" y="1920"/>
              <a:ext cx="240"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20" name="Line 48"/>
            <p:cNvSpPr>
              <a:spLocks noChangeShapeType="1"/>
            </p:cNvSpPr>
            <p:nvPr/>
          </p:nvSpPr>
          <p:spPr bwMode="auto">
            <a:xfrm flipH="1">
              <a:off x="3312" y="1968"/>
              <a:ext cx="144"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21" name="Line 49"/>
            <p:cNvSpPr>
              <a:spLocks noChangeShapeType="1"/>
            </p:cNvSpPr>
            <p:nvPr/>
          </p:nvSpPr>
          <p:spPr bwMode="auto">
            <a:xfrm flipH="1">
              <a:off x="3360" y="2016"/>
              <a:ext cx="48" cy="0"/>
            </a:xfrm>
            <a:prstGeom prst="line">
              <a:avLst/>
            </a:prstGeom>
            <a:noFill/>
            <a:ln w="38100">
              <a:solidFill>
                <a:srgbClr val="99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97" name="Group 50"/>
          <p:cNvGrpSpPr>
            <a:grpSpLocks/>
          </p:cNvGrpSpPr>
          <p:nvPr/>
        </p:nvGrpSpPr>
        <p:grpSpPr bwMode="auto">
          <a:xfrm>
            <a:off x="2365375" y="2400300"/>
            <a:ext cx="265113" cy="350838"/>
            <a:chOff x="1351" y="1843"/>
            <a:chExt cx="167" cy="221"/>
          </a:xfrm>
        </p:grpSpPr>
        <p:sp>
          <p:nvSpPr>
            <p:cNvPr id="101416" name="Arc 51"/>
            <p:cNvSpPr>
              <a:spLocks/>
            </p:cNvSpPr>
            <p:nvPr/>
          </p:nvSpPr>
          <p:spPr bwMode="auto">
            <a:xfrm rot="10800000">
              <a:off x="1351" y="1951"/>
              <a:ext cx="167" cy="113"/>
            </a:xfrm>
            <a:custGeom>
              <a:avLst/>
              <a:gdLst>
                <a:gd name="T0" fmla="*/ 0 w 21600"/>
                <a:gd name="T1" fmla="*/ 0 h 21600"/>
                <a:gd name="T2" fmla="*/ 167 w 21600"/>
                <a:gd name="T3" fmla="*/ 113 h 21600"/>
                <a:gd name="T4" fmla="*/ 0 w 21600"/>
                <a:gd name="T5" fmla="*/ 11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cap="rnd">
              <a:solidFill>
                <a:schemeClr val="accent2"/>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17" name="Arc 52"/>
            <p:cNvSpPr>
              <a:spLocks/>
            </p:cNvSpPr>
            <p:nvPr/>
          </p:nvSpPr>
          <p:spPr bwMode="auto">
            <a:xfrm>
              <a:off x="1351" y="1843"/>
              <a:ext cx="167" cy="112"/>
            </a:xfrm>
            <a:custGeom>
              <a:avLst/>
              <a:gdLst>
                <a:gd name="T0" fmla="*/ 0 w 21600"/>
                <a:gd name="T1" fmla="*/ 112 h 21496"/>
                <a:gd name="T2" fmla="*/ 151 w 21600"/>
                <a:gd name="T3" fmla="*/ 0 h 21496"/>
                <a:gd name="T4" fmla="*/ 167 w 21600"/>
                <a:gd name="T5" fmla="*/ 112 h 21496"/>
                <a:gd name="T6" fmla="*/ 0 60000 65536"/>
                <a:gd name="T7" fmla="*/ 0 60000 65536"/>
                <a:gd name="T8" fmla="*/ 0 60000 65536"/>
                <a:gd name="T9" fmla="*/ 0 w 21600"/>
                <a:gd name="T10" fmla="*/ 0 h 21496"/>
                <a:gd name="T11" fmla="*/ 21600 w 21600"/>
                <a:gd name="T12" fmla="*/ 21496 h 21496"/>
              </a:gdLst>
              <a:ahLst/>
              <a:cxnLst>
                <a:cxn ang="T6">
                  <a:pos x="T0" y="T1"/>
                </a:cxn>
                <a:cxn ang="T7">
                  <a:pos x="T2" y="T3"/>
                </a:cxn>
                <a:cxn ang="T8">
                  <a:pos x="T4" y="T5"/>
                </a:cxn>
              </a:cxnLst>
              <a:rect l="T9" t="T10" r="T11" b="T12"/>
              <a:pathLst>
                <a:path w="21600" h="21496" fill="none" extrusionOk="0">
                  <a:moveTo>
                    <a:pt x="0" y="21496"/>
                  </a:moveTo>
                  <a:cubicBezTo>
                    <a:pt x="0" y="10388"/>
                    <a:pt x="8424" y="1091"/>
                    <a:pt x="19479" y="0"/>
                  </a:cubicBezTo>
                </a:path>
                <a:path w="21600" h="21496" stroke="0" extrusionOk="0">
                  <a:moveTo>
                    <a:pt x="0" y="21496"/>
                  </a:moveTo>
                  <a:cubicBezTo>
                    <a:pt x="0" y="10388"/>
                    <a:pt x="8424" y="1091"/>
                    <a:pt x="19479" y="0"/>
                  </a:cubicBezTo>
                  <a:lnTo>
                    <a:pt x="21600" y="21496"/>
                  </a:lnTo>
                  <a:close/>
                </a:path>
              </a:pathLst>
            </a:custGeom>
            <a:noFill/>
            <a:ln w="38100" cap="rnd">
              <a:solidFill>
                <a:schemeClr val="accent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01398" name="Group 53"/>
          <p:cNvGrpSpPr>
            <a:grpSpLocks/>
          </p:cNvGrpSpPr>
          <p:nvPr/>
        </p:nvGrpSpPr>
        <p:grpSpPr bwMode="auto">
          <a:xfrm>
            <a:off x="2212975" y="2908300"/>
            <a:ext cx="417513" cy="388938"/>
            <a:chOff x="3600" y="1969"/>
            <a:chExt cx="529" cy="479"/>
          </a:xfrm>
        </p:grpSpPr>
        <p:sp>
          <p:nvSpPr>
            <p:cNvPr id="101412" name="Arc 54"/>
            <p:cNvSpPr>
              <a:spLocks/>
            </p:cNvSpPr>
            <p:nvPr/>
          </p:nvSpPr>
          <p:spPr bwMode="auto">
            <a:xfrm>
              <a:off x="3697" y="1969"/>
              <a:ext cx="432" cy="384"/>
            </a:xfrm>
            <a:custGeom>
              <a:avLst/>
              <a:gdLst>
                <a:gd name="T0" fmla="*/ 0 w 21600"/>
                <a:gd name="T1" fmla="*/ 384 h 21600"/>
                <a:gd name="T2" fmla="*/ 431 w 21600"/>
                <a:gd name="T3" fmla="*/ 0 h 21600"/>
                <a:gd name="T4" fmla="*/ 432 w 21600"/>
                <a:gd name="T5" fmla="*/ 38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13" name="Line 55"/>
            <p:cNvSpPr>
              <a:spLocks noChangeShapeType="1"/>
            </p:cNvSpPr>
            <p:nvPr/>
          </p:nvSpPr>
          <p:spPr bwMode="auto">
            <a:xfrm flipH="1">
              <a:off x="3600" y="2352"/>
              <a:ext cx="240" cy="0"/>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14" name="Line 56"/>
            <p:cNvSpPr>
              <a:spLocks noChangeShapeType="1"/>
            </p:cNvSpPr>
            <p:nvPr/>
          </p:nvSpPr>
          <p:spPr bwMode="auto">
            <a:xfrm flipH="1">
              <a:off x="3648" y="2400"/>
              <a:ext cx="144" cy="0"/>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1415" name="Line 57"/>
            <p:cNvSpPr>
              <a:spLocks noChangeShapeType="1"/>
            </p:cNvSpPr>
            <p:nvPr/>
          </p:nvSpPr>
          <p:spPr bwMode="auto">
            <a:xfrm flipH="1">
              <a:off x="3696" y="2448"/>
              <a:ext cx="48" cy="0"/>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1399" name="AutoShape 58"/>
          <p:cNvSpPr>
            <a:spLocks noChangeArrowheads="1"/>
          </p:cNvSpPr>
          <p:nvPr/>
        </p:nvSpPr>
        <p:spPr bwMode="auto">
          <a:xfrm>
            <a:off x="2201863" y="3341688"/>
            <a:ext cx="198437" cy="198437"/>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1400" name="AutoShape 59"/>
          <p:cNvSpPr>
            <a:spLocks noChangeArrowheads="1"/>
          </p:cNvSpPr>
          <p:nvPr/>
        </p:nvSpPr>
        <p:spPr bwMode="auto">
          <a:xfrm>
            <a:off x="2573338" y="3638550"/>
            <a:ext cx="200025" cy="198438"/>
          </a:xfrm>
          <a:prstGeom prst="flowChartConnector">
            <a:avLst/>
          </a:prstGeom>
          <a:solidFill>
            <a:srgbClr val="FF9933"/>
          </a:solidFill>
          <a:ln w="28575">
            <a:solidFill>
              <a:srgbClr val="FFFFCC"/>
            </a:solidFill>
            <a:round/>
            <a:headEnd/>
            <a:tailEnd/>
          </a:ln>
        </p:spPr>
        <p:txBody>
          <a:bodyPr wrap="none" anchor="ctr"/>
          <a:lstStyle/>
          <a:p>
            <a:endParaRPr lang="en-US"/>
          </a:p>
        </p:txBody>
      </p:sp>
      <p:sp>
        <p:nvSpPr>
          <p:cNvPr id="101401" name="AutoShape 60"/>
          <p:cNvSpPr>
            <a:spLocks noChangeArrowheads="1"/>
          </p:cNvSpPr>
          <p:nvPr/>
        </p:nvSpPr>
        <p:spPr bwMode="auto">
          <a:xfrm>
            <a:off x="1933575" y="2986088"/>
            <a:ext cx="200025" cy="198437"/>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1402" name="AutoShape 61"/>
          <p:cNvSpPr>
            <a:spLocks noChangeArrowheads="1"/>
          </p:cNvSpPr>
          <p:nvPr/>
        </p:nvSpPr>
        <p:spPr bwMode="auto">
          <a:xfrm>
            <a:off x="3151188" y="3143250"/>
            <a:ext cx="200025" cy="198438"/>
          </a:xfrm>
          <a:prstGeom prst="flowChartConnector">
            <a:avLst/>
          </a:prstGeom>
          <a:solidFill>
            <a:schemeClr val="hlink"/>
          </a:solidFill>
          <a:ln w="28575">
            <a:solidFill>
              <a:srgbClr val="FFFFCC"/>
            </a:solidFill>
            <a:round/>
            <a:headEnd/>
            <a:tailEnd/>
          </a:ln>
        </p:spPr>
        <p:txBody>
          <a:bodyPr wrap="none" anchor="ctr"/>
          <a:lstStyle/>
          <a:p>
            <a:endParaRPr lang="en-US"/>
          </a:p>
        </p:txBody>
      </p:sp>
      <p:sp>
        <p:nvSpPr>
          <p:cNvPr id="101403" name="Line 62"/>
          <p:cNvSpPr>
            <a:spLocks noChangeShapeType="1"/>
          </p:cNvSpPr>
          <p:nvPr/>
        </p:nvSpPr>
        <p:spPr bwMode="auto">
          <a:xfrm>
            <a:off x="2667000" y="2282825"/>
            <a:ext cx="0" cy="132715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01404" name="Group 63"/>
          <p:cNvGrpSpPr>
            <a:grpSpLocks/>
          </p:cNvGrpSpPr>
          <p:nvPr/>
        </p:nvGrpSpPr>
        <p:grpSpPr bwMode="auto">
          <a:xfrm>
            <a:off x="2667000" y="2555875"/>
            <a:ext cx="266700" cy="274638"/>
            <a:chOff x="1541" y="1941"/>
            <a:chExt cx="168" cy="173"/>
          </a:xfrm>
        </p:grpSpPr>
        <p:sp>
          <p:nvSpPr>
            <p:cNvPr id="101410" name="Arc 64"/>
            <p:cNvSpPr>
              <a:spLocks/>
            </p:cNvSpPr>
            <p:nvPr/>
          </p:nvSpPr>
          <p:spPr bwMode="auto">
            <a:xfrm>
              <a:off x="1541" y="1941"/>
              <a:ext cx="168" cy="99"/>
            </a:xfrm>
            <a:custGeom>
              <a:avLst/>
              <a:gdLst>
                <a:gd name="T0" fmla="*/ 0 w 21664"/>
                <a:gd name="T1" fmla="*/ 0 h 21600"/>
                <a:gd name="T2" fmla="*/ 168 w 21664"/>
                <a:gd name="T3" fmla="*/ 99 h 21600"/>
                <a:gd name="T4" fmla="*/ 0 w 21664"/>
                <a:gd name="T5" fmla="*/ 99 h 21600"/>
                <a:gd name="T6" fmla="*/ 0 60000 65536"/>
                <a:gd name="T7" fmla="*/ 0 60000 65536"/>
                <a:gd name="T8" fmla="*/ 0 60000 65536"/>
                <a:gd name="T9" fmla="*/ 0 w 21664"/>
                <a:gd name="T10" fmla="*/ 0 h 21600"/>
                <a:gd name="T11" fmla="*/ 21664 w 21664"/>
                <a:gd name="T12" fmla="*/ 21600 h 21600"/>
              </a:gdLst>
              <a:ahLst/>
              <a:cxnLst>
                <a:cxn ang="T6">
                  <a:pos x="T0" y="T1"/>
                </a:cxn>
                <a:cxn ang="T7">
                  <a:pos x="T2" y="T3"/>
                </a:cxn>
                <a:cxn ang="T8">
                  <a:pos x="T4" y="T5"/>
                </a:cxn>
              </a:cxnLst>
              <a:rect l="T9" t="T10" r="T11" b="T12"/>
              <a:pathLst>
                <a:path w="21664" h="21600" fill="none" extrusionOk="0">
                  <a:moveTo>
                    <a:pt x="0" y="0"/>
                  </a:moveTo>
                  <a:cubicBezTo>
                    <a:pt x="21" y="0"/>
                    <a:pt x="42" y="-1"/>
                    <a:pt x="64" y="0"/>
                  </a:cubicBezTo>
                  <a:cubicBezTo>
                    <a:pt x="11993" y="0"/>
                    <a:pt x="21664" y="9670"/>
                    <a:pt x="21664" y="21600"/>
                  </a:cubicBezTo>
                </a:path>
                <a:path w="21664" h="21600" stroke="0" extrusionOk="0">
                  <a:moveTo>
                    <a:pt x="0" y="0"/>
                  </a:moveTo>
                  <a:cubicBezTo>
                    <a:pt x="21" y="0"/>
                    <a:pt x="42" y="-1"/>
                    <a:pt x="64" y="0"/>
                  </a:cubicBezTo>
                  <a:cubicBezTo>
                    <a:pt x="11993" y="0"/>
                    <a:pt x="21664" y="9670"/>
                    <a:pt x="21664" y="21600"/>
                  </a:cubicBezTo>
                  <a:lnTo>
                    <a:pt x="64" y="21600"/>
                  </a:lnTo>
                  <a:close/>
                </a:path>
              </a:pathLst>
            </a:custGeom>
            <a:noFill/>
            <a:ln w="38100" cap="rnd">
              <a:solidFill>
                <a:schemeClr val="tx2"/>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11" name="Arc 65"/>
            <p:cNvSpPr>
              <a:spLocks/>
            </p:cNvSpPr>
            <p:nvPr/>
          </p:nvSpPr>
          <p:spPr bwMode="auto">
            <a:xfrm rot="10800000">
              <a:off x="1541" y="2016"/>
              <a:ext cx="168" cy="98"/>
            </a:xfrm>
            <a:custGeom>
              <a:avLst/>
              <a:gdLst>
                <a:gd name="T0" fmla="*/ 0 w 21600"/>
                <a:gd name="T1" fmla="*/ 98 h 21497"/>
                <a:gd name="T2" fmla="*/ 152 w 21600"/>
                <a:gd name="T3" fmla="*/ 0 h 21497"/>
                <a:gd name="T4" fmla="*/ 168 w 21600"/>
                <a:gd name="T5" fmla="*/ 98 h 21497"/>
                <a:gd name="T6" fmla="*/ 0 60000 65536"/>
                <a:gd name="T7" fmla="*/ 0 60000 65536"/>
                <a:gd name="T8" fmla="*/ 0 60000 65536"/>
                <a:gd name="T9" fmla="*/ 0 w 21600"/>
                <a:gd name="T10" fmla="*/ 0 h 21497"/>
                <a:gd name="T11" fmla="*/ 21600 w 21600"/>
                <a:gd name="T12" fmla="*/ 21497 h 21497"/>
              </a:gdLst>
              <a:ahLst/>
              <a:cxnLst>
                <a:cxn ang="T6">
                  <a:pos x="T0" y="T1"/>
                </a:cxn>
                <a:cxn ang="T7">
                  <a:pos x="T2" y="T3"/>
                </a:cxn>
                <a:cxn ang="T8">
                  <a:pos x="T4" y="T5"/>
                </a:cxn>
              </a:cxnLst>
              <a:rect l="T9" t="T10" r="T11" b="T12"/>
              <a:pathLst>
                <a:path w="21600" h="21497" fill="none" extrusionOk="0">
                  <a:moveTo>
                    <a:pt x="0" y="21497"/>
                  </a:moveTo>
                  <a:cubicBezTo>
                    <a:pt x="0" y="10385"/>
                    <a:pt x="8430" y="1086"/>
                    <a:pt x="19489" y="0"/>
                  </a:cubicBezTo>
                </a:path>
                <a:path w="21600" h="21497" stroke="0" extrusionOk="0">
                  <a:moveTo>
                    <a:pt x="0" y="21497"/>
                  </a:moveTo>
                  <a:cubicBezTo>
                    <a:pt x="0" y="10385"/>
                    <a:pt x="8430" y="1086"/>
                    <a:pt x="19489" y="0"/>
                  </a:cubicBezTo>
                  <a:lnTo>
                    <a:pt x="21600" y="21497"/>
                  </a:lnTo>
                  <a:close/>
                </a:path>
              </a:pathLst>
            </a:custGeom>
            <a:noFill/>
            <a:ln w="38100" cap="rnd">
              <a:solidFill>
                <a:schemeClr val="tx2"/>
              </a:solidFill>
              <a:round/>
              <a:headEnd type="none" w="sm" len="sm"/>
              <a:tailEnd type="stealth" w="med"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01405" name="Oval 66"/>
          <p:cNvSpPr>
            <a:spLocks noChangeArrowheads="1"/>
          </p:cNvSpPr>
          <p:nvPr/>
        </p:nvSpPr>
        <p:spPr bwMode="auto">
          <a:xfrm>
            <a:off x="1181100" y="2197100"/>
            <a:ext cx="3009900" cy="1782763"/>
          </a:xfrm>
          <a:prstGeom prst="ellipse">
            <a:avLst/>
          </a:prstGeom>
          <a:noFill/>
          <a:ln w="38100">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sz="2400">
              <a:solidFill>
                <a:schemeClr val="tx1"/>
              </a:solidFill>
            </a:endParaRPr>
          </a:p>
        </p:txBody>
      </p:sp>
      <p:sp>
        <p:nvSpPr>
          <p:cNvPr id="101406" name="Oval 67"/>
          <p:cNvSpPr>
            <a:spLocks noChangeArrowheads="1"/>
          </p:cNvSpPr>
          <p:nvPr/>
        </p:nvSpPr>
        <p:spPr bwMode="auto">
          <a:xfrm>
            <a:off x="2362200" y="3595688"/>
            <a:ext cx="609600" cy="381000"/>
          </a:xfrm>
          <a:prstGeom prst="ellipse">
            <a:avLst/>
          </a:prstGeom>
          <a:noFill/>
          <a:ln w="28575">
            <a:solidFill>
              <a:srgbClr val="FF99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07" name="Oval 68"/>
          <p:cNvSpPr>
            <a:spLocks noChangeArrowheads="1"/>
          </p:cNvSpPr>
          <p:nvPr/>
        </p:nvSpPr>
        <p:spPr bwMode="auto">
          <a:xfrm>
            <a:off x="6019800" y="2282825"/>
            <a:ext cx="609600" cy="381000"/>
          </a:xfrm>
          <a:prstGeom prst="ellipse">
            <a:avLst/>
          </a:prstGeom>
          <a:noFill/>
          <a:ln w="28575">
            <a:solidFill>
              <a:srgbClr val="FF993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408" name="Text Box 69"/>
          <p:cNvSpPr txBox="1">
            <a:spLocks noChangeArrowheads="1"/>
          </p:cNvSpPr>
          <p:nvPr/>
        </p:nvSpPr>
        <p:spPr bwMode="auto">
          <a:xfrm>
            <a:off x="1676400" y="1524000"/>
            <a:ext cx="1828800" cy="4667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400">
                <a:solidFill>
                  <a:schemeClr val="tx1"/>
                </a:solidFill>
                <a:latin typeface="Arial" pitchFamily="34" charset="0"/>
              </a:rPr>
              <a:t>Use case 1</a:t>
            </a:r>
          </a:p>
        </p:txBody>
      </p:sp>
      <p:sp>
        <p:nvSpPr>
          <p:cNvPr id="101409" name="Text Box 70"/>
          <p:cNvSpPr txBox="1">
            <a:spLocks noChangeArrowheads="1"/>
          </p:cNvSpPr>
          <p:nvPr/>
        </p:nvSpPr>
        <p:spPr bwMode="auto">
          <a:xfrm>
            <a:off x="5486400" y="1524000"/>
            <a:ext cx="1828800" cy="4667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eaLnBrk="1" hangingPunct="1">
              <a:spcBef>
                <a:spcPct val="50000"/>
              </a:spcBef>
            </a:pPr>
            <a:r>
              <a:rPr lang="en-US" sz="2400">
                <a:solidFill>
                  <a:schemeClr val="tx1"/>
                </a:solidFill>
                <a:latin typeface="Arial" pitchFamily="34" charset="0"/>
              </a:rPr>
              <a:t>Use case 2</a:t>
            </a:r>
          </a:p>
        </p:txBody>
      </p:sp>
      <p:sp>
        <p:nvSpPr>
          <p:cNvPr id="2" name="Slide Number Placeholder 1"/>
          <p:cNvSpPr>
            <a:spLocks noGrp="1"/>
          </p:cNvSpPr>
          <p:nvPr>
            <p:ph type="sldNum" sz="quarter" idx="12"/>
          </p:nvPr>
        </p:nvSpPr>
        <p:spPr/>
        <p:txBody>
          <a:bodyPr/>
          <a:lstStyle/>
          <a:p>
            <a:fld id="{DED05017-923D-480E-B02E-B52739184DCA}" type="slidenum">
              <a:rPr lang="en-US" smtClean="0"/>
              <a:pPr/>
              <a:t>92</a:t>
            </a:fld>
            <a:endParaRPr lang="en-US"/>
          </a:p>
        </p:txBody>
      </p:sp>
    </p:spTree>
    <p:extLst>
      <p:ext uri="{BB962C8B-B14F-4D97-AF65-F5344CB8AC3E}">
        <p14:creationId xmlns:p14="http://schemas.microsoft.com/office/powerpoint/2010/main" val="2757560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p:txBody>
          <a:bodyPr/>
          <a:lstStyle/>
          <a:p>
            <a:r>
              <a:rPr lang="en-US" sz="2800" dirty="0"/>
              <a:t>Other use case properties</a:t>
            </a:r>
          </a:p>
        </p:txBody>
      </p:sp>
      <p:sp>
        <p:nvSpPr>
          <p:cNvPr id="102406" name="Rectangle 3"/>
          <p:cNvSpPr>
            <a:spLocks noGrp="1" noChangeArrowheads="1"/>
          </p:cNvSpPr>
          <p:nvPr>
            <p:ph type="body" idx="1"/>
          </p:nvPr>
        </p:nvSpPr>
        <p:spPr/>
        <p:txBody>
          <a:bodyPr/>
          <a:lstStyle/>
          <a:p>
            <a:r>
              <a:rPr lang="en-US" sz="2000" dirty="0"/>
              <a:t>Special requirements</a:t>
            </a:r>
          </a:p>
          <a:p>
            <a:pPr lvl="1"/>
            <a:r>
              <a:rPr lang="en-US" sz="2000" dirty="0"/>
              <a:t>Related to this use case, not covered in flow of events</a:t>
            </a:r>
          </a:p>
          <a:p>
            <a:pPr lvl="1"/>
            <a:r>
              <a:rPr lang="en-US" sz="2000" dirty="0"/>
              <a:t>Usually nonfunctional requirements, data, and business rules</a:t>
            </a:r>
          </a:p>
          <a:p>
            <a:r>
              <a:rPr lang="en-US" sz="2000" dirty="0"/>
              <a:t>Extension points</a:t>
            </a:r>
          </a:p>
          <a:p>
            <a:pPr lvl="1"/>
            <a:r>
              <a:rPr lang="en-US" sz="2000" dirty="0"/>
              <a:t>Name a set of places in the flow of events where extending behavior can be inserted</a:t>
            </a:r>
          </a:p>
          <a:p>
            <a:r>
              <a:rPr lang="en-US" sz="2000" dirty="0"/>
              <a:t>Additional information</a:t>
            </a:r>
          </a:p>
          <a:p>
            <a:pPr lvl="1"/>
            <a:r>
              <a:rPr lang="en-US" sz="2000" dirty="0"/>
              <a:t>Any additional information required to clarify the use case</a:t>
            </a:r>
          </a:p>
        </p:txBody>
      </p:sp>
      <p:sp>
        <p:nvSpPr>
          <p:cNvPr id="2" name="Slide Number Placeholder 1"/>
          <p:cNvSpPr>
            <a:spLocks noGrp="1"/>
          </p:cNvSpPr>
          <p:nvPr>
            <p:ph type="sldNum" sz="quarter" idx="12"/>
          </p:nvPr>
        </p:nvSpPr>
        <p:spPr/>
        <p:txBody>
          <a:bodyPr/>
          <a:lstStyle/>
          <a:p>
            <a:fld id="{DED05017-923D-480E-B02E-B52739184DCA}" type="slidenum">
              <a:rPr lang="en-US" smtClean="0"/>
              <a:pPr/>
              <a:t>93</a:t>
            </a:fld>
            <a:endParaRPr lang="en-US"/>
          </a:p>
        </p:txBody>
      </p:sp>
    </p:spTree>
    <p:extLst>
      <p:ext uri="{BB962C8B-B14F-4D97-AF65-F5344CB8AC3E}">
        <p14:creationId xmlns:p14="http://schemas.microsoft.com/office/powerpoint/2010/main" val="21523171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Grp="1" noChangeArrowheads="1"/>
          </p:cNvSpPr>
          <p:nvPr>
            <p:ph type="title"/>
          </p:nvPr>
        </p:nvSpPr>
        <p:spPr/>
        <p:txBody>
          <a:bodyPr/>
          <a:lstStyle/>
          <a:p>
            <a:pPr eaLnBrk="1" hangingPunct="1">
              <a:defRPr/>
            </a:pPr>
            <a:r>
              <a:rPr lang="en-US" sz="2800" dirty="0"/>
              <a:t>RUP style summary</a:t>
            </a:r>
          </a:p>
        </p:txBody>
      </p:sp>
      <p:sp>
        <p:nvSpPr>
          <p:cNvPr id="103430" name="Rectangle 3"/>
          <p:cNvSpPr>
            <a:spLocks noGrp="1" noChangeArrowheads="1"/>
          </p:cNvSpPr>
          <p:nvPr>
            <p:ph type="body" sz="half" idx="1"/>
          </p:nvPr>
        </p:nvSpPr>
        <p:spPr>
          <a:xfrm>
            <a:off x="184150" y="1300163"/>
            <a:ext cx="4311650" cy="5329237"/>
          </a:xfrm>
        </p:spPr>
        <p:txBody>
          <a:bodyPr/>
          <a:lstStyle/>
          <a:p>
            <a:pPr marL="230188" indent="-230188" eaLnBrk="1" hangingPunct="1"/>
            <a:r>
              <a:rPr lang="en-US" sz="2000" dirty="0"/>
              <a:t>Basic flow</a:t>
            </a:r>
          </a:p>
          <a:p>
            <a:pPr marL="682625" lvl="1" indent="-338138" eaLnBrk="1" hangingPunct="1"/>
            <a:r>
              <a:rPr lang="en-US" sz="1800" dirty="0"/>
              <a:t>Steps are numbered and named</a:t>
            </a:r>
          </a:p>
          <a:p>
            <a:pPr marL="682625" lvl="1" indent="-338138" eaLnBrk="1" hangingPunct="1"/>
            <a:r>
              <a:rPr lang="en-US" sz="1800" dirty="0"/>
              <a:t>Steps do not reference alternative flows</a:t>
            </a:r>
          </a:p>
          <a:p>
            <a:pPr marL="682625" lvl="1" indent="-338138" eaLnBrk="1" hangingPunct="1"/>
            <a:r>
              <a:rPr lang="en-US" sz="1800" dirty="0"/>
              <a:t>Shows the main actor succeeding in that actor’s main goal</a:t>
            </a:r>
          </a:p>
          <a:p>
            <a:pPr marL="230188" indent="-230188" eaLnBrk="1" hangingPunct="1"/>
            <a:r>
              <a:rPr lang="en-US" sz="2000" dirty="0"/>
              <a:t>Alternative flows</a:t>
            </a:r>
          </a:p>
          <a:p>
            <a:pPr marL="682625" lvl="1" indent="-338138" eaLnBrk="1" hangingPunct="1"/>
            <a:r>
              <a:rPr lang="en-US" sz="1800" dirty="0"/>
              <a:t>Have names</a:t>
            </a:r>
          </a:p>
          <a:p>
            <a:pPr marL="682625" lvl="1" indent="-338138" eaLnBrk="1" hangingPunct="1"/>
            <a:r>
              <a:rPr lang="en-US" sz="1800" dirty="0"/>
              <a:t>May have steps</a:t>
            </a:r>
          </a:p>
        </p:txBody>
      </p:sp>
      <p:pic>
        <p:nvPicPr>
          <p:cNvPr id="103431"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498975" y="1906588"/>
            <a:ext cx="4106863" cy="3689350"/>
          </a:xfrm>
          <a:noFill/>
          <a:ln>
            <a:solidFill>
              <a:schemeClr val="tx1"/>
            </a:solidFill>
            <a:miter lim="800000"/>
            <a:headEnd/>
            <a:tailEnd/>
          </a:ln>
        </p:spPr>
      </p:pic>
      <p:sp>
        <p:nvSpPr>
          <p:cNvPr id="103432" name="Text Box 5"/>
          <p:cNvSpPr txBox="1">
            <a:spLocks noChangeArrowheads="1"/>
          </p:cNvSpPr>
          <p:nvPr/>
        </p:nvSpPr>
        <p:spPr bwMode="auto">
          <a:xfrm>
            <a:off x="4876800" y="914400"/>
            <a:ext cx="3581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eaLnBrk="1" hangingPunct="1">
              <a:spcBef>
                <a:spcPct val="50000"/>
              </a:spcBef>
            </a:pPr>
            <a:r>
              <a:rPr lang="en-US" sz="1800" b="1">
                <a:solidFill>
                  <a:schemeClr val="tx1"/>
                </a:solidFill>
                <a:latin typeface="Arial" pitchFamily="34" charset="0"/>
              </a:rPr>
              <a:t>RUP Use-Case Specification Template</a:t>
            </a:r>
          </a:p>
        </p:txBody>
      </p:sp>
      <p:sp>
        <p:nvSpPr>
          <p:cNvPr id="2" name="Slide Number Placeholder 1"/>
          <p:cNvSpPr>
            <a:spLocks noGrp="1"/>
          </p:cNvSpPr>
          <p:nvPr>
            <p:ph type="sldNum" sz="quarter" idx="12"/>
          </p:nvPr>
        </p:nvSpPr>
        <p:spPr/>
        <p:txBody>
          <a:bodyPr/>
          <a:lstStyle/>
          <a:p>
            <a:pPr>
              <a:defRPr/>
            </a:pPr>
            <a:fld id="{DBF0D3E2-D141-4F40-B95C-01950E48E834}" type="slidenum">
              <a:rPr lang="en-US" smtClean="0"/>
              <a:pPr>
                <a:defRPr/>
              </a:pPr>
              <a:t>94</a:t>
            </a:fld>
            <a:endParaRPr lang="en-US"/>
          </a:p>
        </p:txBody>
      </p:sp>
    </p:spTree>
    <p:extLst>
      <p:ext uri="{BB962C8B-B14F-4D97-AF65-F5344CB8AC3E}">
        <p14:creationId xmlns:p14="http://schemas.microsoft.com/office/powerpoint/2010/main" val="1023093750"/>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946" name="Rectangle 2"/>
          <p:cNvSpPr>
            <a:spLocks noGrp="1" noChangeArrowheads="1"/>
          </p:cNvSpPr>
          <p:nvPr>
            <p:ph type="title"/>
          </p:nvPr>
        </p:nvSpPr>
        <p:spPr/>
        <p:txBody>
          <a:bodyPr/>
          <a:lstStyle/>
          <a:p>
            <a:pPr eaLnBrk="1" hangingPunct="1">
              <a:defRPr/>
            </a:pPr>
            <a:r>
              <a:rPr lang="en-US" sz="2800" dirty="0"/>
              <a:t>Use case checkpoints</a:t>
            </a:r>
          </a:p>
        </p:txBody>
      </p:sp>
      <p:sp>
        <p:nvSpPr>
          <p:cNvPr id="104454" name="Rectangle 3"/>
          <p:cNvSpPr>
            <a:spLocks noGrp="1" noChangeArrowheads="1"/>
          </p:cNvSpPr>
          <p:nvPr>
            <p:ph type="body" idx="1"/>
          </p:nvPr>
        </p:nvSpPr>
        <p:spPr>
          <a:xfrm>
            <a:off x="90488" y="1371600"/>
            <a:ext cx="8958262" cy="5257800"/>
          </a:xfrm>
        </p:spPr>
        <p:txBody>
          <a:bodyPr/>
          <a:lstStyle/>
          <a:p>
            <a:pPr marL="339725" indent="-339725" eaLnBrk="1" fontAlgn="t" hangingPunct="1">
              <a:lnSpc>
                <a:spcPct val="100000"/>
              </a:lnSpc>
              <a:buFont typeface="Wingdings" pitchFamily="2" charset="2"/>
              <a:buChar char="ü"/>
            </a:pPr>
            <a:r>
              <a:rPr lang="en-US" sz="2000" dirty="0"/>
              <a:t>The actor interactions and exchanged information is clear</a:t>
            </a:r>
          </a:p>
          <a:p>
            <a:pPr marL="339725" indent="-339725" eaLnBrk="1" fontAlgn="t" hangingPunct="1">
              <a:lnSpc>
                <a:spcPct val="100000"/>
              </a:lnSpc>
              <a:buFont typeface="Wingdings" pitchFamily="2" charset="2"/>
              <a:buChar char="ü"/>
            </a:pPr>
            <a:r>
              <a:rPr lang="en-US" sz="2000" dirty="0"/>
              <a:t>The communication sequence between actor and use case conforms to the user's expectations</a:t>
            </a:r>
          </a:p>
          <a:p>
            <a:pPr marL="339725" indent="-339725" eaLnBrk="1" fontAlgn="t" hangingPunct="1">
              <a:lnSpc>
                <a:spcPct val="100000"/>
              </a:lnSpc>
              <a:buFont typeface="Wingdings" pitchFamily="2" charset="2"/>
              <a:buChar char="ü"/>
            </a:pPr>
            <a:r>
              <a:rPr lang="en-US" sz="2000" dirty="0"/>
              <a:t>How and when the use case's flow of events starts and ends is clear </a:t>
            </a:r>
          </a:p>
          <a:p>
            <a:pPr marL="339725" indent="-339725" eaLnBrk="1" fontAlgn="t" hangingPunct="1">
              <a:lnSpc>
                <a:spcPct val="100000"/>
              </a:lnSpc>
              <a:buFont typeface="Wingdings" pitchFamily="2" charset="2"/>
              <a:buChar char="ü"/>
            </a:pPr>
            <a:r>
              <a:rPr lang="en-US" sz="2000" dirty="0"/>
              <a:t>The </a:t>
            </a:r>
            <a:r>
              <a:rPr lang="en-US" sz="2000" dirty="0" err="1"/>
              <a:t>subflow</a:t>
            </a:r>
            <a:r>
              <a:rPr lang="en-US" sz="2000" dirty="0"/>
              <a:t> in a use case is modeled accurately</a:t>
            </a:r>
          </a:p>
          <a:p>
            <a:pPr marL="339725" indent="-339725" eaLnBrk="1" fontAlgn="t" hangingPunct="1">
              <a:lnSpc>
                <a:spcPct val="100000"/>
              </a:lnSpc>
              <a:buFont typeface="Wingdings" pitchFamily="2" charset="2"/>
              <a:buChar char="ü"/>
            </a:pPr>
            <a:r>
              <a:rPr lang="en-US" sz="2000" dirty="0"/>
              <a:t>The basic flow achieves an observable result for one or more actors</a:t>
            </a:r>
          </a:p>
        </p:txBody>
      </p:sp>
      <p:sp>
        <p:nvSpPr>
          <p:cNvPr id="2" name="Slide Number Placeholder 1"/>
          <p:cNvSpPr>
            <a:spLocks noGrp="1"/>
          </p:cNvSpPr>
          <p:nvPr>
            <p:ph type="sldNum" sz="quarter" idx="12"/>
          </p:nvPr>
        </p:nvSpPr>
        <p:spPr/>
        <p:txBody>
          <a:bodyPr/>
          <a:lstStyle/>
          <a:p>
            <a:fld id="{DED05017-923D-480E-B02E-B52739184DCA}" type="slidenum">
              <a:rPr lang="en-US" smtClean="0"/>
              <a:pPr/>
              <a:t>95</a:t>
            </a:fld>
            <a:endParaRPr lang="en-US"/>
          </a:p>
        </p:txBody>
      </p:sp>
    </p:spTree>
    <p:custDataLst>
      <p:tags r:id="rId1"/>
    </p:custDataLst>
    <p:extLst>
      <p:ext uri="{BB962C8B-B14F-4D97-AF65-F5344CB8AC3E}">
        <p14:creationId xmlns:p14="http://schemas.microsoft.com/office/powerpoint/2010/main" val="1306764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p:txBody>
          <a:bodyPr/>
          <a:lstStyle/>
          <a:p>
            <a:pPr eaLnBrk="1" hangingPunct="1">
              <a:defRPr/>
            </a:pPr>
            <a:r>
              <a:rPr lang="en-US" sz="2800" dirty="0"/>
              <a:t>Review</a:t>
            </a:r>
          </a:p>
        </p:txBody>
      </p:sp>
      <p:sp>
        <p:nvSpPr>
          <p:cNvPr id="105478" name="Rectangle 3"/>
          <p:cNvSpPr>
            <a:spLocks noGrp="1" noChangeArrowheads="1"/>
          </p:cNvSpPr>
          <p:nvPr>
            <p:ph type="body" idx="1"/>
          </p:nvPr>
        </p:nvSpPr>
        <p:spPr/>
        <p:txBody>
          <a:bodyPr/>
          <a:lstStyle/>
          <a:p>
            <a:pPr marL="230188" indent="-230188" eaLnBrk="1" hangingPunct="1"/>
            <a:r>
              <a:rPr lang="en-US" sz="2000" dirty="0"/>
              <a:t>What are the steps to detailing a use case?</a:t>
            </a:r>
          </a:p>
          <a:p>
            <a:pPr marL="230188" indent="-230188" eaLnBrk="1" hangingPunct="1"/>
            <a:r>
              <a:rPr lang="en-US" sz="2000" dirty="0"/>
              <a:t>Give a few examples of best practices in phrasing use case steps?</a:t>
            </a:r>
          </a:p>
          <a:p>
            <a:pPr marL="230188" indent="-230188" eaLnBrk="1" hangingPunct="1"/>
            <a:r>
              <a:rPr lang="en-US" sz="2000" dirty="0"/>
              <a:t>What is a </a:t>
            </a:r>
            <a:r>
              <a:rPr lang="en-US" sz="2000" dirty="0" err="1"/>
              <a:t>subflow</a:t>
            </a:r>
            <a:r>
              <a:rPr lang="en-US" sz="2000" dirty="0"/>
              <a:t>, and when should you use one?</a:t>
            </a:r>
          </a:p>
          <a:p>
            <a:pPr marL="230188" indent="-230188" eaLnBrk="1" hangingPunct="1"/>
            <a:r>
              <a:rPr lang="en-US" sz="2000" dirty="0"/>
              <a:t>What are pre- and </a:t>
            </a:r>
            <a:r>
              <a:rPr lang="en-US" sz="2000" dirty="0" err="1"/>
              <a:t>postconditions</a:t>
            </a:r>
            <a:r>
              <a:rPr lang="en-US" sz="2000" dirty="0"/>
              <a:t>, and when should you use them?</a:t>
            </a:r>
          </a:p>
          <a:p>
            <a:pPr marL="230188" indent="-230188" eaLnBrk="1" hangingPunct="1"/>
            <a:endParaRPr lang="en-US" sz="2000" dirty="0"/>
          </a:p>
        </p:txBody>
      </p:sp>
      <p:sp>
        <p:nvSpPr>
          <p:cNvPr id="2" name="Slide Number Placeholder 1"/>
          <p:cNvSpPr>
            <a:spLocks noGrp="1"/>
          </p:cNvSpPr>
          <p:nvPr>
            <p:ph type="sldNum" sz="quarter" idx="12"/>
          </p:nvPr>
        </p:nvSpPr>
        <p:spPr/>
        <p:txBody>
          <a:bodyPr/>
          <a:lstStyle/>
          <a:p>
            <a:fld id="{DED05017-923D-480E-B02E-B52739184DCA}" type="slidenum">
              <a:rPr lang="en-US" smtClean="0"/>
              <a:pPr/>
              <a:t>96</a:t>
            </a:fld>
            <a:endParaRPr lang="en-US"/>
          </a:p>
        </p:txBody>
      </p:sp>
    </p:spTree>
    <p:extLst>
      <p:ext uri="{BB962C8B-B14F-4D97-AF65-F5344CB8AC3E}">
        <p14:creationId xmlns:p14="http://schemas.microsoft.com/office/powerpoint/2010/main" val="2906132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501" name="Rectangle 2"/>
          <p:cNvSpPr>
            <a:spLocks noChangeArrowheads="1"/>
          </p:cNvSpPr>
          <p:nvPr/>
        </p:nvSpPr>
        <p:spPr bwMode="auto">
          <a:xfrm>
            <a:off x="247650" y="1211263"/>
            <a:ext cx="4184650" cy="5189537"/>
          </a:xfrm>
          <a:prstGeom prst="rect">
            <a:avLst/>
          </a:prstGeom>
          <a:solidFill>
            <a:srgbClr val="CCCCCC"/>
          </a:solidFill>
          <a:ln w="9525">
            <a:solidFill>
              <a:schemeClr val="tx1"/>
            </a:solidFill>
            <a:miter lim="800000"/>
            <a:headEnd type="none" w="sm" len="sm"/>
            <a:tailEnd/>
          </a:ln>
        </p:spPr>
        <p:txBody>
          <a:bodyPr wrap="none" anchor="ctr"/>
          <a:lstStyle/>
          <a:p>
            <a:endParaRPr lang="en-US"/>
          </a:p>
        </p:txBody>
      </p:sp>
      <p:sp>
        <p:nvSpPr>
          <p:cNvPr id="106502" name="Rectangle 3"/>
          <p:cNvSpPr>
            <a:spLocks noChangeArrowheads="1"/>
          </p:cNvSpPr>
          <p:nvPr/>
        </p:nvSpPr>
        <p:spPr bwMode="auto">
          <a:xfrm>
            <a:off x="4737100" y="1211263"/>
            <a:ext cx="4184650" cy="5189537"/>
          </a:xfrm>
          <a:prstGeom prst="rect">
            <a:avLst/>
          </a:prstGeom>
          <a:solidFill>
            <a:srgbClr val="8DB3FF"/>
          </a:solidFill>
          <a:ln w="9525">
            <a:solidFill>
              <a:schemeClr val="tx1"/>
            </a:solidFill>
            <a:miter lim="800000"/>
            <a:headEnd type="none" w="sm" len="sm"/>
            <a:tailEnd/>
          </a:ln>
        </p:spPr>
        <p:txBody>
          <a:bodyPr wrap="none" anchor="ctr"/>
          <a:lstStyle/>
          <a:p>
            <a:endParaRPr lang="en-US"/>
          </a:p>
        </p:txBody>
      </p:sp>
      <p:sp>
        <p:nvSpPr>
          <p:cNvPr id="587780" name="Rectangle 4"/>
          <p:cNvSpPr>
            <a:spLocks noGrp="1" noChangeArrowheads="1"/>
          </p:cNvSpPr>
          <p:nvPr>
            <p:ph type="title"/>
          </p:nvPr>
        </p:nvSpPr>
        <p:spPr>
          <a:xfrm>
            <a:off x="1049338" y="188913"/>
            <a:ext cx="7904162" cy="501650"/>
          </a:xfrm>
        </p:spPr>
        <p:txBody>
          <a:bodyPr/>
          <a:lstStyle/>
          <a:p>
            <a:pPr eaLnBrk="1" hangingPunct="1">
              <a:defRPr/>
            </a:pPr>
            <a:r>
              <a:rPr lang="en-US" sz="2800" dirty="0"/>
              <a:t>Guidelines for when to use </a:t>
            </a:r>
            <a:r>
              <a:rPr lang="en-US" sz="2800" dirty="0" err="1"/>
              <a:t>Use</a:t>
            </a:r>
            <a:r>
              <a:rPr lang="en-US" sz="2800" dirty="0"/>
              <a:t> cases</a:t>
            </a:r>
          </a:p>
        </p:txBody>
      </p:sp>
      <p:sp>
        <p:nvSpPr>
          <p:cNvPr id="106504" name="Text Box 5"/>
          <p:cNvSpPr txBox="1">
            <a:spLocks noChangeArrowheads="1"/>
          </p:cNvSpPr>
          <p:nvPr/>
        </p:nvSpPr>
        <p:spPr bwMode="auto">
          <a:xfrm>
            <a:off x="304800" y="1371600"/>
            <a:ext cx="4059238"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231775" indent="-231775" eaLnBrk="0" hangingPunct="0">
              <a:defRPr sz="1600">
                <a:solidFill>
                  <a:schemeClr val="tx2"/>
                </a:solidFill>
                <a:latin typeface="Times New Roman" pitchFamily="18" charset="0"/>
              </a:defRPr>
            </a:lvl1pPr>
            <a:lvl2pPr marL="739775" indent="-282575"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b="1">
                <a:solidFill>
                  <a:schemeClr val="tx1"/>
                </a:solidFill>
                <a:latin typeface="Arial" pitchFamily="34" charset="0"/>
              </a:rPr>
              <a:t>Good candidate</a:t>
            </a:r>
          </a:p>
          <a:p>
            <a:pPr algn="ctr"/>
            <a:endParaRPr lang="en-US" sz="2400" b="1">
              <a:solidFill>
                <a:schemeClr val="tx1"/>
              </a:solidFill>
              <a:latin typeface="Arial" pitchFamily="34" charset="0"/>
            </a:endParaRPr>
          </a:p>
          <a:p>
            <a:pPr>
              <a:buFontTx/>
              <a:buChar char="•"/>
            </a:pPr>
            <a:r>
              <a:rPr lang="en-US" sz="2400">
                <a:solidFill>
                  <a:schemeClr val="tx1"/>
                </a:solidFill>
                <a:latin typeface="Arial" pitchFamily="34" charset="0"/>
              </a:rPr>
              <a:t>System with behaviors that can be captured using a sequence of actions</a:t>
            </a:r>
          </a:p>
          <a:p>
            <a:pPr lvl="1">
              <a:buFontTx/>
              <a:buChar char="•"/>
            </a:pPr>
            <a:r>
              <a:rPr lang="en-US" sz="2400" i="1">
                <a:solidFill>
                  <a:schemeClr val="tx1"/>
                </a:solidFill>
                <a:latin typeface="Arial" pitchFamily="34" charset="0"/>
              </a:rPr>
              <a:t>Example:</a:t>
            </a:r>
            <a:r>
              <a:rPr lang="en-US" sz="2400">
                <a:solidFill>
                  <a:schemeClr val="tx1"/>
                </a:solidFill>
                <a:latin typeface="Arial" pitchFamily="34" charset="0"/>
              </a:rPr>
              <a:t> </a:t>
            </a:r>
            <a:br>
              <a:rPr lang="en-US" sz="2400">
                <a:solidFill>
                  <a:schemeClr val="tx1"/>
                </a:solidFill>
                <a:latin typeface="Arial" pitchFamily="34" charset="0"/>
              </a:rPr>
            </a:br>
            <a:r>
              <a:rPr lang="en-US" sz="2400">
                <a:solidFill>
                  <a:schemeClr val="tx1"/>
                </a:solidFill>
                <a:latin typeface="Arial" pitchFamily="34" charset="0"/>
              </a:rPr>
              <a:t>Telephone switch</a:t>
            </a:r>
          </a:p>
          <a:p>
            <a:pPr>
              <a:buFontTx/>
              <a:buChar char="•"/>
            </a:pPr>
            <a:r>
              <a:rPr lang="en-US" sz="2400">
                <a:solidFill>
                  <a:schemeClr val="tx1"/>
                </a:solidFill>
                <a:latin typeface="Arial" pitchFamily="34" charset="0"/>
              </a:rPr>
              <a:t>System with a lot of externally observable behavior</a:t>
            </a:r>
          </a:p>
          <a:p>
            <a:pPr lvl="1">
              <a:buFontTx/>
              <a:buChar char="•"/>
            </a:pPr>
            <a:r>
              <a:rPr lang="en-US" sz="2400" i="1">
                <a:solidFill>
                  <a:schemeClr val="tx1"/>
                </a:solidFill>
                <a:latin typeface="Arial" pitchFamily="34" charset="0"/>
              </a:rPr>
              <a:t>Example:</a:t>
            </a:r>
            <a:r>
              <a:rPr lang="en-US" sz="2400">
                <a:solidFill>
                  <a:schemeClr val="tx1"/>
                </a:solidFill>
                <a:latin typeface="Arial" pitchFamily="34" charset="0"/>
              </a:rPr>
              <a:t> </a:t>
            </a:r>
            <a:br>
              <a:rPr lang="en-US" sz="2400">
                <a:solidFill>
                  <a:schemeClr val="tx1"/>
                </a:solidFill>
                <a:latin typeface="Arial" pitchFamily="34" charset="0"/>
              </a:rPr>
            </a:br>
            <a:r>
              <a:rPr lang="en-US" sz="2400">
                <a:solidFill>
                  <a:schemeClr val="tx1"/>
                </a:solidFill>
                <a:latin typeface="Arial" pitchFamily="34" charset="0"/>
              </a:rPr>
              <a:t>Course Registration System </a:t>
            </a:r>
          </a:p>
          <a:p>
            <a:pPr lvl="1">
              <a:buFontTx/>
              <a:buChar char="•"/>
            </a:pPr>
            <a:endParaRPr lang="en-US" sz="2400">
              <a:solidFill>
                <a:schemeClr val="tx1"/>
              </a:solidFill>
              <a:latin typeface="Arial" pitchFamily="34" charset="0"/>
            </a:endParaRPr>
          </a:p>
        </p:txBody>
      </p:sp>
      <p:sp>
        <p:nvSpPr>
          <p:cNvPr id="106505" name="Text Box 6"/>
          <p:cNvSpPr txBox="1">
            <a:spLocks noChangeArrowheads="1"/>
          </p:cNvSpPr>
          <p:nvPr/>
        </p:nvSpPr>
        <p:spPr bwMode="auto">
          <a:xfrm>
            <a:off x="4876800" y="1295400"/>
            <a:ext cx="396240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231775" indent="-231775" eaLnBrk="0" hangingPunct="0">
              <a:defRPr sz="1600">
                <a:solidFill>
                  <a:schemeClr val="tx2"/>
                </a:solidFill>
                <a:latin typeface="Times New Roman" pitchFamily="18" charset="0"/>
              </a:defRPr>
            </a:lvl1pPr>
            <a:lvl2pPr marL="682625" indent="-225425"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400" b="1">
                <a:solidFill>
                  <a:schemeClr val="tx1"/>
                </a:solidFill>
                <a:latin typeface="Arial" pitchFamily="34" charset="0"/>
              </a:rPr>
              <a:t>Not a good candidate</a:t>
            </a:r>
          </a:p>
          <a:p>
            <a:pPr algn="ctr"/>
            <a:endParaRPr lang="en-US" sz="2400" b="1">
              <a:solidFill>
                <a:schemeClr val="tx1"/>
              </a:solidFill>
              <a:latin typeface="Arial" pitchFamily="34" charset="0"/>
            </a:endParaRPr>
          </a:p>
          <a:p>
            <a:pPr>
              <a:buFontTx/>
              <a:buChar char="•"/>
            </a:pPr>
            <a:r>
              <a:rPr lang="en-US" sz="2400">
                <a:solidFill>
                  <a:schemeClr val="tx1"/>
                </a:solidFill>
                <a:latin typeface="Arial" pitchFamily="34" charset="0"/>
              </a:rPr>
              <a:t>System with behaviors that cannot be captured using a sequence of actions</a:t>
            </a:r>
          </a:p>
          <a:p>
            <a:pPr lvl="1">
              <a:buFontTx/>
              <a:buChar char="•"/>
            </a:pPr>
            <a:r>
              <a:rPr lang="en-US" sz="2400" i="1">
                <a:solidFill>
                  <a:schemeClr val="tx1"/>
                </a:solidFill>
                <a:latin typeface="Arial" pitchFamily="34" charset="0"/>
              </a:rPr>
              <a:t>Example:</a:t>
            </a:r>
            <a:r>
              <a:rPr lang="en-US" sz="2400">
                <a:solidFill>
                  <a:schemeClr val="tx1"/>
                </a:solidFill>
                <a:latin typeface="Arial" pitchFamily="34" charset="0"/>
              </a:rPr>
              <a:t> </a:t>
            </a:r>
            <a:br>
              <a:rPr lang="en-US" sz="2400">
                <a:solidFill>
                  <a:schemeClr val="tx1"/>
                </a:solidFill>
                <a:latin typeface="Arial" pitchFamily="34" charset="0"/>
              </a:rPr>
            </a:br>
            <a:r>
              <a:rPr lang="en-US" sz="2400">
                <a:solidFill>
                  <a:schemeClr val="tx1"/>
                </a:solidFill>
                <a:latin typeface="Arial" pitchFamily="34" charset="0"/>
              </a:rPr>
              <a:t>Data-warehouse system</a:t>
            </a:r>
          </a:p>
        </p:txBody>
      </p:sp>
      <p:sp>
        <p:nvSpPr>
          <p:cNvPr id="2" name="Slide Number Placeholder 1"/>
          <p:cNvSpPr>
            <a:spLocks noGrp="1"/>
          </p:cNvSpPr>
          <p:nvPr>
            <p:ph type="sldNum" sz="quarter" idx="12"/>
          </p:nvPr>
        </p:nvSpPr>
        <p:spPr/>
        <p:txBody>
          <a:bodyPr/>
          <a:lstStyle/>
          <a:p>
            <a:fld id="{DED05017-923D-480E-B02E-B52739184DCA}" type="slidenum">
              <a:rPr lang="en-US" smtClean="0"/>
              <a:pPr/>
              <a:t>97</a:t>
            </a:fld>
            <a:endParaRPr lang="en-US"/>
          </a:p>
        </p:txBody>
      </p:sp>
    </p:spTree>
    <p:extLst>
      <p:ext uri="{BB962C8B-B14F-4D97-AF65-F5344CB8AC3E}">
        <p14:creationId xmlns:p14="http://schemas.microsoft.com/office/powerpoint/2010/main" val="291084776"/>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p:txBody>
          <a:bodyPr/>
          <a:lstStyle/>
          <a:p>
            <a:pPr eaLnBrk="1" hangingPunct="1">
              <a:defRPr/>
            </a:pPr>
            <a:r>
              <a:rPr lang="en-US" sz="2800" dirty="0"/>
              <a:t>What is NOT a use case</a:t>
            </a:r>
          </a:p>
        </p:txBody>
      </p:sp>
      <p:sp>
        <p:nvSpPr>
          <p:cNvPr id="107526" name="Rectangle 3"/>
          <p:cNvSpPr>
            <a:spLocks noGrp="1" noChangeArrowheads="1"/>
          </p:cNvSpPr>
          <p:nvPr>
            <p:ph type="body" idx="1"/>
          </p:nvPr>
        </p:nvSpPr>
        <p:spPr/>
        <p:txBody>
          <a:bodyPr/>
          <a:lstStyle/>
          <a:p>
            <a:pPr marL="230188" indent="-230188" eaLnBrk="1" hangingPunct="1">
              <a:lnSpc>
                <a:spcPct val="100000"/>
              </a:lnSpc>
            </a:pPr>
            <a:r>
              <a:rPr lang="en-US" sz="2000" dirty="0"/>
              <a:t>Functional decomposition</a:t>
            </a:r>
          </a:p>
          <a:p>
            <a:pPr marL="230188" indent="-230188" eaLnBrk="1" hangingPunct="1">
              <a:lnSpc>
                <a:spcPct val="100000"/>
              </a:lnSpc>
            </a:pPr>
            <a:r>
              <a:rPr lang="en-US" sz="2000" dirty="0"/>
              <a:t>User interface specification</a:t>
            </a:r>
          </a:p>
          <a:p>
            <a:pPr marL="230188" indent="-230188" eaLnBrk="1" hangingPunct="1">
              <a:lnSpc>
                <a:spcPct val="100000"/>
              </a:lnSpc>
            </a:pPr>
            <a:r>
              <a:rPr lang="en-US" sz="2000" dirty="0"/>
              <a:t>System design specifications</a:t>
            </a:r>
          </a:p>
          <a:p>
            <a:pPr marL="230188" indent="-230188" eaLnBrk="1" hangingPunct="1">
              <a:lnSpc>
                <a:spcPct val="100000"/>
              </a:lnSpc>
              <a:buFont typeface="Wingdings" pitchFamily="2" charset="2"/>
              <a:buNone/>
            </a:pPr>
            <a:endParaRPr lang="en-US" sz="2000" dirty="0"/>
          </a:p>
        </p:txBody>
      </p:sp>
      <p:sp>
        <p:nvSpPr>
          <p:cNvPr id="2" name="Slide Number Placeholder 1"/>
          <p:cNvSpPr>
            <a:spLocks noGrp="1"/>
          </p:cNvSpPr>
          <p:nvPr>
            <p:ph type="sldNum" sz="quarter" idx="12"/>
          </p:nvPr>
        </p:nvSpPr>
        <p:spPr/>
        <p:txBody>
          <a:bodyPr/>
          <a:lstStyle/>
          <a:p>
            <a:fld id="{DED05017-923D-480E-B02E-B52739184DCA}" type="slidenum">
              <a:rPr lang="en-US" smtClean="0"/>
              <a:pPr/>
              <a:t>98</a:t>
            </a:fld>
            <a:endParaRPr lang="en-US"/>
          </a:p>
        </p:txBody>
      </p:sp>
    </p:spTree>
    <p:extLst>
      <p:ext uri="{BB962C8B-B14F-4D97-AF65-F5344CB8AC3E}">
        <p14:creationId xmlns:p14="http://schemas.microsoft.com/office/powerpoint/2010/main" val="127544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t>Functional Decomposition</a:t>
            </a:r>
            <a:endParaRPr lang="en-US" dirty="0"/>
          </a:p>
        </p:txBody>
      </p:sp>
      <p:sp>
        <p:nvSpPr>
          <p:cNvPr id="108550" name="Rectangle 3"/>
          <p:cNvSpPr>
            <a:spLocks noGrp="1" noChangeArrowheads="1"/>
          </p:cNvSpPr>
          <p:nvPr>
            <p:ph type="body" idx="1"/>
          </p:nvPr>
        </p:nvSpPr>
        <p:spPr/>
        <p:txBody>
          <a:bodyPr/>
          <a:lstStyle/>
          <a:p>
            <a:r>
              <a:rPr lang="en-US" sz="2000" dirty="0"/>
              <a:t>Is breaking down a problem into small, isolated parts. </a:t>
            </a:r>
          </a:p>
          <a:p>
            <a:pPr lvl="1"/>
            <a:r>
              <a:rPr lang="en-US" sz="2000" dirty="0"/>
              <a:t>The parts work together to provide the functionality of the system.</a:t>
            </a:r>
          </a:p>
          <a:p>
            <a:pPr lvl="2"/>
            <a:r>
              <a:rPr lang="en-US" dirty="0"/>
              <a:t>Often do not make sense in isolation.</a:t>
            </a:r>
          </a:p>
          <a:p>
            <a:r>
              <a:rPr lang="en-US" sz="2000" dirty="0"/>
              <a:t>Use cases: </a:t>
            </a:r>
          </a:p>
          <a:p>
            <a:pPr lvl="1"/>
            <a:r>
              <a:rPr lang="en-US" sz="2000" dirty="0"/>
              <a:t>Are NOT functional decomposition.</a:t>
            </a:r>
          </a:p>
          <a:p>
            <a:pPr lvl="1"/>
            <a:r>
              <a:rPr lang="en-US" sz="2000" dirty="0"/>
              <a:t>Keep the functionality together to describe a complete use of the system.</a:t>
            </a:r>
          </a:p>
          <a:p>
            <a:pPr lvl="1"/>
            <a:r>
              <a:rPr lang="en-US" sz="2000" dirty="0"/>
              <a:t>Provide context.</a:t>
            </a:r>
          </a:p>
        </p:txBody>
      </p:sp>
      <p:sp>
        <p:nvSpPr>
          <p:cNvPr id="2" name="Slide Number Placeholder 1"/>
          <p:cNvSpPr>
            <a:spLocks noGrp="1"/>
          </p:cNvSpPr>
          <p:nvPr>
            <p:ph type="sldNum" sz="quarter" idx="12"/>
          </p:nvPr>
        </p:nvSpPr>
        <p:spPr/>
        <p:txBody>
          <a:bodyPr/>
          <a:lstStyle/>
          <a:p>
            <a:fld id="{DED05017-923D-480E-B02E-B52739184DCA}" type="slidenum">
              <a:rPr lang="en-US" smtClean="0"/>
              <a:pPr/>
              <a:t>99</a:t>
            </a:fld>
            <a:endParaRPr lang="en-US"/>
          </a:p>
        </p:txBody>
      </p:sp>
    </p:spTree>
    <p:extLst>
      <p:ext uri="{BB962C8B-B14F-4D97-AF65-F5344CB8AC3E}">
        <p14:creationId xmlns:p14="http://schemas.microsoft.com/office/powerpoint/2010/main" val="3037641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eaLnBrk="1" hangingPunct="1">
              <a:defRPr/>
            </a:pPr>
            <a:r>
              <a:rPr lang="en-US" sz="2800" dirty="0"/>
              <a:t>Functional Decomposition: An Example</a:t>
            </a:r>
          </a:p>
        </p:txBody>
      </p:sp>
      <p:sp>
        <p:nvSpPr>
          <p:cNvPr id="109574" name="Oval 3"/>
          <p:cNvSpPr>
            <a:spLocks noChangeArrowheads="1"/>
          </p:cNvSpPr>
          <p:nvPr/>
        </p:nvSpPr>
        <p:spPr bwMode="auto">
          <a:xfrm>
            <a:off x="723900" y="2693988"/>
            <a:ext cx="1606550" cy="590550"/>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Enter PIN</a:t>
            </a:r>
          </a:p>
        </p:txBody>
      </p:sp>
      <p:sp>
        <p:nvSpPr>
          <p:cNvPr id="109575" name="Oval 4"/>
          <p:cNvSpPr>
            <a:spLocks noChangeArrowheads="1"/>
          </p:cNvSpPr>
          <p:nvPr/>
        </p:nvSpPr>
        <p:spPr bwMode="auto">
          <a:xfrm>
            <a:off x="663575" y="1446213"/>
            <a:ext cx="1803400" cy="590550"/>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Insert Card</a:t>
            </a:r>
          </a:p>
        </p:txBody>
      </p:sp>
      <p:sp>
        <p:nvSpPr>
          <p:cNvPr id="109576" name="Oval 5"/>
          <p:cNvSpPr>
            <a:spLocks noChangeArrowheads="1"/>
          </p:cNvSpPr>
          <p:nvPr/>
        </p:nvSpPr>
        <p:spPr bwMode="auto">
          <a:xfrm>
            <a:off x="5895975" y="4705350"/>
            <a:ext cx="2933700" cy="746125"/>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Select “From” Account</a:t>
            </a:r>
          </a:p>
        </p:txBody>
      </p:sp>
      <p:sp>
        <p:nvSpPr>
          <p:cNvPr id="109577" name="Oval 6"/>
          <p:cNvSpPr>
            <a:spLocks noChangeArrowheads="1"/>
          </p:cNvSpPr>
          <p:nvPr/>
        </p:nvSpPr>
        <p:spPr bwMode="auto">
          <a:xfrm>
            <a:off x="6484938" y="3827463"/>
            <a:ext cx="2181225" cy="590550"/>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Enter Amount</a:t>
            </a:r>
          </a:p>
        </p:txBody>
      </p:sp>
      <p:sp>
        <p:nvSpPr>
          <p:cNvPr id="109578" name="Oval 7"/>
          <p:cNvSpPr>
            <a:spLocks noChangeArrowheads="1"/>
          </p:cNvSpPr>
          <p:nvPr/>
        </p:nvSpPr>
        <p:spPr bwMode="auto">
          <a:xfrm>
            <a:off x="660400" y="5205413"/>
            <a:ext cx="2973388" cy="650875"/>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Select Withdraw Cash</a:t>
            </a:r>
          </a:p>
        </p:txBody>
      </p:sp>
      <p:grpSp>
        <p:nvGrpSpPr>
          <p:cNvPr id="109579" name="Group 8"/>
          <p:cNvGrpSpPr>
            <a:grpSpLocks noChangeAspect="1"/>
          </p:cNvGrpSpPr>
          <p:nvPr/>
        </p:nvGrpSpPr>
        <p:grpSpPr bwMode="auto">
          <a:xfrm>
            <a:off x="4176713" y="3200400"/>
            <a:ext cx="482600" cy="692150"/>
            <a:chOff x="7654" y="3380"/>
            <a:chExt cx="554" cy="754"/>
          </a:xfrm>
        </p:grpSpPr>
        <p:sp>
          <p:nvSpPr>
            <p:cNvPr id="109601" name="Oval 9"/>
            <p:cNvSpPr>
              <a:spLocks noChangeAspect="1" noChangeArrowheads="1"/>
            </p:cNvSpPr>
            <p:nvPr/>
          </p:nvSpPr>
          <p:spPr bwMode="auto">
            <a:xfrm>
              <a:off x="7805" y="3380"/>
              <a:ext cx="253" cy="248"/>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109602" name="Line 10"/>
            <p:cNvSpPr>
              <a:spLocks noChangeAspect="1" noChangeShapeType="1"/>
            </p:cNvSpPr>
            <p:nvPr/>
          </p:nvSpPr>
          <p:spPr bwMode="auto">
            <a:xfrm>
              <a:off x="7931" y="3630"/>
              <a:ext cx="1" cy="2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9603" name="Line 11"/>
            <p:cNvSpPr>
              <a:spLocks noChangeAspect="1" noChangeShapeType="1"/>
            </p:cNvSpPr>
            <p:nvPr/>
          </p:nvSpPr>
          <p:spPr bwMode="auto">
            <a:xfrm>
              <a:off x="7731" y="3695"/>
              <a:ext cx="40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9604" name="Freeform 12"/>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grpSp>
      <p:sp>
        <p:nvSpPr>
          <p:cNvPr id="109580" name="Text Box 13"/>
          <p:cNvSpPr txBox="1">
            <a:spLocks noChangeArrowheads="1"/>
          </p:cNvSpPr>
          <p:nvPr/>
        </p:nvSpPr>
        <p:spPr bwMode="auto">
          <a:xfrm>
            <a:off x="3795713" y="3811588"/>
            <a:ext cx="1328890" cy="4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r>
              <a:rPr lang="en-US" sz="2000" dirty="0">
                <a:solidFill>
                  <a:srgbClr val="000000"/>
                </a:solidFill>
                <a:latin typeface="+mj-lt"/>
              </a:rPr>
              <a:t>Customer</a:t>
            </a:r>
          </a:p>
        </p:txBody>
      </p:sp>
      <p:sp>
        <p:nvSpPr>
          <p:cNvPr id="109581" name="Oval 14"/>
          <p:cNvSpPr>
            <a:spLocks noChangeArrowheads="1"/>
          </p:cNvSpPr>
          <p:nvPr/>
        </p:nvSpPr>
        <p:spPr bwMode="auto">
          <a:xfrm>
            <a:off x="4011613" y="5797550"/>
            <a:ext cx="3148012" cy="679450"/>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Select Account Balance</a:t>
            </a:r>
          </a:p>
        </p:txBody>
      </p:sp>
      <p:sp>
        <p:nvSpPr>
          <p:cNvPr id="109582" name="Oval 15"/>
          <p:cNvSpPr>
            <a:spLocks noChangeArrowheads="1"/>
          </p:cNvSpPr>
          <p:nvPr/>
        </p:nvSpPr>
        <p:spPr bwMode="auto">
          <a:xfrm>
            <a:off x="328613" y="3652838"/>
            <a:ext cx="2638425" cy="679450"/>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dirty="0">
                <a:solidFill>
                  <a:srgbClr val="000000"/>
                </a:solidFill>
              </a:rPr>
              <a:t>Select Transfer Funds</a:t>
            </a:r>
          </a:p>
        </p:txBody>
      </p:sp>
      <p:sp>
        <p:nvSpPr>
          <p:cNvPr id="109583" name="Oval 16"/>
          <p:cNvSpPr>
            <a:spLocks noChangeArrowheads="1"/>
          </p:cNvSpPr>
          <p:nvPr/>
        </p:nvSpPr>
        <p:spPr bwMode="auto">
          <a:xfrm>
            <a:off x="5797550" y="2667000"/>
            <a:ext cx="3041650" cy="750888"/>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Select “To” Account</a:t>
            </a:r>
          </a:p>
        </p:txBody>
      </p:sp>
      <p:sp>
        <p:nvSpPr>
          <p:cNvPr id="109584" name="Line 17"/>
          <p:cNvSpPr>
            <a:spLocks noChangeShapeType="1"/>
          </p:cNvSpPr>
          <p:nvPr/>
        </p:nvSpPr>
        <p:spPr bwMode="auto">
          <a:xfrm flipH="1" flipV="1">
            <a:off x="2428875" y="1905000"/>
            <a:ext cx="1752600" cy="1228725"/>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85" name="Line 18"/>
          <p:cNvSpPr>
            <a:spLocks noChangeShapeType="1"/>
          </p:cNvSpPr>
          <p:nvPr/>
        </p:nvSpPr>
        <p:spPr bwMode="auto">
          <a:xfrm flipH="1" flipV="1">
            <a:off x="2428875" y="3057525"/>
            <a:ext cx="1685925" cy="36195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86" name="Line 19"/>
          <p:cNvSpPr>
            <a:spLocks noChangeShapeType="1"/>
          </p:cNvSpPr>
          <p:nvPr/>
        </p:nvSpPr>
        <p:spPr bwMode="auto">
          <a:xfrm flipH="1">
            <a:off x="3028950" y="3686175"/>
            <a:ext cx="1057275" cy="409575"/>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87" name="Line 20"/>
          <p:cNvSpPr>
            <a:spLocks noChangeShapeType="1"/>
          </p:cNvSpPr>
          <p:nvPr/>
        </p:nvSpPr>
        <p:spPr bwMode="auto">
          <a:xfrm flipH="1">
            <a:off x="3146425" y="4219575"/>
            <a:ext cx="977900" cy="109220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88" name="Line 21"/>
          <p:cNvSpPr>
            <a:spLocks noChangeShapeType="1"/>
          </p:cNvSpPr>
          <p:nvPr/>
        </p:nvSpPr>
        <p:spPr bwMode="auto">
          <a:xfrm>
            <a:off x="4514850" y="4238625"/>
            <a:ext cx="638175" cy="1514475"/>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89" name="Line 22"/>
          <p:cNvSpPr>
            <a:spLocks noChangeShapeType="1"/>
          </p:cNvSpPr>
          <p:nvPr/>
        </p:nvSpPr>
        <p:spPr bwMode="auto">
          <a:xfrm>
            <a:off x="4962525" y="4162425"/>
            <a:ext cx="942975" cy="942975"/>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90" name="Line 23"/>
          <p:cNvSpPr>
            <a:spLocks noChangeShapeType="1"/>
          </p:cNvSpPr>
          <p:nvPr/>
        </p:nvSpPr>
        <p:spPr bwMode="auto">
          <a:xfrm>
            <a:off x="4724400" y="3619500"/>
            <a:ext cx="1714500" cy="447675"/>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91" name="Line 24"/>
          <p:cNvSpPr>
            <a:spLocks noChangeShapeType="1"/>
          </p:cNvSpPr>
          <p:nvPr/>
        </p:nvSpPr>
        <p:spPr bwMode="auto">
          <a:xfrm flipV="1">
            <a:off x="4724400" y="3114675"/>
            <a:ext cx="1047750" cy="276225"/>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grpSp>
        <p:nvGrpSpPr>
          <p:cNvPr id="109592" name="Group 25"/>
          <p:cNvGrpSpPr>
            <a:grpSpLocks noChangeAspect="1"/>
          </p:cNvGrpSpPr>
          <p:nvPr/>
        </p:nvGrpSpPr>
        <p:grpSpPr bwMode="auto">
          <a:xfrm>
            <a:off x="7853363" y="1152525"/>
            <a:ext cx="482600" cy="692150"/>
            <a:chOff x="7654" y="3380"/>
            <a:chExt cx="554" cy="754"/>
          </a:xfrm>
        </p:grpSpPr>
        <p:sp>
          <p:nvSpPr>
            <p:cNvPr id="109597" name="Oval 26"/>
            <p:cNvSpPr>
              <a:spLocks noChangeAspect="1" noChangeArrowheads="1"/>
            </p:cNvSpPr>
            <p:nvPr/>
          </p:nvSpPr>
          <p:spPr bwMode="auto">
            <a:xfrm>
              <a:off x="7805" y="3380"/>
              <a:ext cx="253" cy="248"/>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109598" name="Line 27"/>
            <p:cNvSpPr>
              <a:spLocks noChangeAspect="1" noChangeShapeType="1"/>
            </p:cNvSpPr>
            <p:nvPr/>
          </p:nvSpPr>
          <p:spPr bwMode="auto">
            <a:xfrm>
              <a:off x="7931" y="3630"/>
              <a:ext cx="1" cy="2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9599" name="Line 28"/>
            <p:cNvSpPr>
              <a:spLocks noChangeAspect="1" noChangeShapeType="1"/>
            </p:cNvSpPr>
            <p:nvPr/>
          </p:nvSpPr>
          <p:spPr bwMode="auto">
            <a:xfrm>
              <a:off x="7731" y="3695"/>
              <a:ext cx="40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9600" name="Freeform 29"/>
            <p:cNvSpPr>
              <a:spLocks noChangeAspect="1"/>
            </p:cNvSpPr>
            <p:nvPr/>
          </p:nvSpPr>
          <p:spPr bwMode="auto">
            <a:xfrm>
              <a:off x="7654" y="3862"/>
              <a:ext cx="554" cy="272"/>
            </a:xfrm>
            <a:custGeom>
              <a:avLst/>
              <a:gdLst>
                <a:gd name="T0" fmla="*/ 0 w 108"/>
                <a:gd name="T1" fmla="*/ 54 h 54"/>
                <a:gd name="T2" fmla="*/ 54 w 108"/>
                <a:gd name="T3" fmla="*/ 0 h 54"/>
                <a:gd name="T4" fmla="*/ 108 w 108"/>
                <a:gd name="T5" fmla="*/ 54 h 54"/>
                <a:gd name="T6" fmla="*/ 0 60000 65536"/>
                <a:gd name="T7" fmla="*/ 0 60000 65536"/>
                <a:gd name="T8" fmla="*/ 0 60000 65536"/>
                <a:gd name="T9" fmla="*/ 0 w 108"/>
                <a:gd name="T10" fmla="*/ 0 h 54"/>
                <a:gd name="T11" fmla="*/ 108 w 108"/>
                <a:gd name="T12" fmla="*/ 54 h 54"/>
              </a:gdLst>
              <a:ahLst/>
              <a:cxnLst>
                <a:cxn ang="T6">
                  <a:pos x="T0" y="T1"/>
                </a:cxn>
                <a:cxn ang="T7">
                  <a:pos x="T2" y="T3"/>
                </a:cxn>
                <a:cxn ang="T8">
                  <a:pos x="T4" y="T5"/>
                </a:cxn>
              </a:cxnLst>
              <a:rect l="T9" t="T10" r="T11" b="T12"/>
              <a:pathLst>
                <a:path w="108" h="54">
                  <a:moveTo>
                    <a:pt x="0" y="54"/>
                  </a:moveTo>
                  <a:lnTo>
                    <a:pt x="54" y="0"/>
                  </a:lnTo>
                  <a:lnTo>
                    <a:pt x="108" y="54"/>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grpSp>
      <p:sp>
        <p:nvSpPr>
          <p:cNvPr id="109593" name="Text Box 30"/>
          <p:cNvSpPr txBox="1">
            <a:spLocks noChangeArrowheads="1"/>
          </p:cNvSpPr>
          <p:nvPr/>
        </p:nvSpPr>
        <p:spPr bwMode="auto">
          <a:xfrm>
            <a:off x="7243763" y="1824038"/>
            <a:ext cx="17399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1600">
                <a:solidFill>
                  <a:schemeClr val="tx2"/>
                </a:solidFill>
                <a:latin typeface="Times New Roman" pitchFamily="18" charset="0"/>
              </a:defRPr>
            </a:lvl1pPr>
            <a:lvl2pPr marL="742950" indent="-285750" eaLnBrk="0" hangingPunct="0">
              <a:defRPr sz="1600">
                <a:solidFill>
                  <a:schemeClr val="tx2"/>
                </a:solidFill>
                <a:latin typeface="Times New Roman" pitchFamily="18" charset="0"/>
              </a:defRPr>
            </a:lvl2pPr>
            <a:lvl3pPr marL="1143000" indent="-228600" eaLnBrk="0" hangingPunct="0">
              <a:defRPr sz="1600">
                <a:solidFill>
                  <a:schemeClr val="tx2"/>
                </a:solidFill>
                <a:latin typeface="Times New Roman" pitchFamily="18" charset="0"/>
              </a:defRPr>
            </a:lvl3pPr>
            <a:lvl4pPr marL="1600200" indent="-228600" eaLnBrk="0" hangingPunct="0">
              <a:defRPr sz="1600">
                <a:solidFill>
                  <a:schemeClr val="tx2"/>
                </a:solidFill>
                <a:latin typeface="Times New Roman" pitchFamily="18" charset="0"/>
              </a:defRPr>
            </a:lvl4pPr>
            <a:lvl5pPr marL="2057400" indent="-228600" eaLnBrk="0" hangingPunct="0">
              <a:defRPr sz="1600">
                <a:solidFill>
                  <a:schemeClr val="tx2"/>
                </a:solidFill>
                <a:latin typeface="Times New Roman" pitchFamily="18" charset="0"/>
              </a:defRPr>
            </a:lvl5pPr>
            <a:lvl6pPr marL="2514600" indent="-228600" eaLnBrk="0" fontAlgn="base" hangingPunct="0">
              <a:spcBef>
                <a:spcPct val="0"/>
              </a:spcBef>
              <a:spcAft>
                <a:spcPct val="0"/>
              </a:spcAft>
              <a:defRPr sz="1600">
                <a:solidFill>
                  <a:schemeClr val="tx2"/>
                </a:solidFill>
                <a:latin typeface="Times New Roman" pitchFamily="18" charset="0"/>
              </a:defRPr>
            </a:lvl6pPr>
            <a:lvl7pPr marL="2971800" indent="-228600" eaLnBrk="0" fontAlgn="base" hangingPunct="0">
              <a:spcBef>
                <a:spcPct val="0"/>
              </a:spcBef>
              <a:spcAft>
                <a:spcPct val="0"/>
              </a:spcAft>
              <a:defRPr sz="1600">
                <a:solidFill>
                  <a:schemeClr val="tx2"/>
                </a:solidFill>
                <a:latin typeface="Times New Roman" pitchFamily="18" charset="0"/>
              </a:defRPr>
            </a:lvl7pPr>
            <a:lvl8pPr marL="3429000" indent="-228600" eaLnBrk="0" fontAlgn="base" hangingPunct="0">
              <a:spcBef>
                <a:spcPct val="0"/>
              </a:spcBef>
              <a:spcAft>
                <a:spcPct val="0"/>
              </a:spcAft>
              <a:defRPr sz="1600">
                <a:solidFill>
                  <a:schemeClr val="tx2"/>
                </a:solidFill>
                <a:latin typeface="Times New Roman" pitchFamily="18" charset="0"/>
              </a:defRPr>
            </a:lvl8pPr>
            <a:lvl9pPr marL="3886200" indent="-228600" eaLnBrk="0" fontAlgn="base" hangingPunct="0">
              <a:spcBef>
                <a:spcPct val="0"/>
              </a:spcBef>
              <a:spcAft>
                <a:spcPct val="0"/>
              </a:spcAft>
              <a:defRPr sz="1600">
                <a:solidFill>
                  <a:schemeClr val="tx2"/>
                </a:solidFill>
                <a:latin typeface="Times New Roman" pitchFamily="18" charset="0"/>
              </a:defRPr>
            </a:lvl9pPr>
          </a:lstStyle>
          <a:p>
            <a:pPr algn="ctr"/>
            <a:r>
              <a:rPr lang="en-US" sz="2000" dirty="0">
                <a:solidFill>
                  <a:srgbClr val="000000"/>
                </a:solidFill>
                <a:latin typeface="+mj-lt"/>
              </a:rPr>
              <a:t>Bank Consortium</a:t>
            </a:r>
          </a:p>
        </p:txBody>
      </p:sp>
      <p:sp>
        <p:nvSpPr>
          <p:cNvPr id="109594" name="Oval 31"/>
          <p:cNvSpPr>
            <a:spLocks noChangeArrowheads="1"/>
          </p:cNvSpPr>
          <p:nvPr/>
        </p:nvSpPr>
        <p:spPr bwMode="auto">
          <a:xfrm>
            <a:off x="3352800" y="1298575"/>
            <a:ext cx="2536825" cy="661988"/>
          </a:xfrm>
          <a:prstGeom prst="ellipse">
            <a:avLst/>
          </a:prstGeom>
          <a:solidFill>
            <a:srgbClr val="C0C0C0"/>
          </a:solidFill>
          <a:ln w="28575">
            <a:solidFill>
              <a:schemeClr val="tx1"/>
            </a:solidFill>
            <a:round/>
            <a:headEnd/>
            <a:tailEnd/>
          </a:ln>
        </p:spPr>
        <p:txBody>
          <a:bodyPr wrap="none" lIns="92075" tIns="46038" rIns="92075" bIns="137160" anchor="ctr"/>
          <a:lstStyle/>
          <a:p>
            <a:pPr algn="ctr" eaLnBrk="0" hangingPunct="0">
              <a:spcBef>
                <a:spcPts val="1000"/>
              </a:spcBef>
            </a:pPr>
            <a:r>
              <a:rPr lang="en-US" sz="1800" b="1">
                <a:solidFill>
                  <a:srgbClr val="000000"/>
                </a:solidFill>
              </a:rPr>
              <a:t>Process Transaction</a:t>
            </a:r>
          </a:p>
        </p:txBody>
      </p:sp>
      <p:sp>
        <p:nvSpPr>
          <p:cNvPr id="109595" name="Line 32"/>
          <p:cNvSpPr>
            <a:spLocks noChangeShapeType="1"/>
          </p:cNvSpPr>
          <p:nvPr/>
        </p:nvSpPr>
        <p:spPr bwMode="auto">
          <a:xfrm flipV="1">
            <a:off x="4486275" y="2124075"/>
            <a:ext cx="0" cy="95250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109596" name="Line 33"/>
          <p:cNvSpPr>
            <a:spLocks noChangeShapeType="1"/>
          </p:cNvSpPr>
          <p:nvPr/>
        </p:nvSpPr>
        <p:spPr bwMode="auto">
          <a:xfrm flipV="1">
            <a:off x="6105525" y="1638300"/>
            <a:ext cx="1619250"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137160">
            <a:spAutoFit/>
          </a:bodyPr>
          <a:lstStyle/>
          <a:p>
            <a:endParaRPr lang="en-US">
              <a:solidFill>
                <a:srgbClr val="000000"/>
              </a:solidFill>
            </a:endParaRPr>
          </a:p>
        </p:txBody>
      </p:sp>
      <p:sp>
        <p:nvSpPr>
          <p:cNvPr id="2" name="Slide Number Placeholder 1"/>
          <p:cNvSpPr>
            <a:spLocks noGrp="1"/>
          </p:cNvSpPr>
          <p:nvPr>
            <p:ph type="sldNum" sz="quarter" idx="12"/>
          </p:nvPr>
        </p:nvSpPr>
        <p:spPr/>
        <p:txBody>
          <a:bodyPr/>
          <a:lstStyle/>
          <a:p>
            <a:fld id="{27392B6C-813E-42DE-A59C-034281A964AB}" type="slidenum">
              <a:rPr lang="en-US" smtClean="0"/>
              <a:pPr/>
              <a:t>100</a:t>
            </a:fld>
            <a:endParaRPr lang="en-US"/>
          </a:p>
        </p:txBody>
      </p:sp>
    </p:spTree>
    <p:extLst>
      <p:ext uri="{BB962C8B-B14F-4D97-AF65-F5344CB8AC3E}">
        <p14:creationId xmlns:p14="http://schemas.microsoft.com/office/powerpoint/2010/main" val="7199781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en-US" sz="2800" dirty="0"/>
              <a:t>Avoid Functional Decomposition</a:t>
            </a:r>
          </a:p>
        </p:txBody>
      </p:sp>
      <p:sp>
        <p:nvSpPr>
          <p:cNvPr id="110598" name="Rectangle 3"/>
          <p:cNvSpPr>
            <a:spLocks noGrp="1" noChangeArrowheads="1"/>
          </p:cNvSpPr>
          <p:nvPr>
            <p:ph type="body" sz="half" idx="1"/>
          </p:nvPr>
        </p:nvSpPr>
        <p:spPr>
          <a:xfrm>
            <a:off x="361950" y="1371600"/>
            <a:ext cx="4168775" cy="5043488"/>
          </a:xfrm>
        </p:spPr>
        <p:txBody>
          <a:bodyPr/>
          <a:lstStyle/>
          <a:p>
            <a:pPr marL="339725" indent="-339725" eaLnBrk="1" hangingPunct="1">
              <a:buFont typeface="Wingdings" pitchFamily="2" charset="2"/>
              <a:buNone/>
            </a:pPr>
            <a:r>
              <a:rPr lang="en-US" sz="2000"/>
              <a:t>Symptoms</a:t>
            </a:r>
            <a:endParaRPr lang="en-US" sz="2400"/>
          </a:p>
          <a:p>
            <a:pPr marL="682625" lvl="1" indent="-228600" eaLnBrk="1" hangingPunct="1"/>
            <a:r>
              <a:rPr lang="en-US" sz="1800"/>
              <a:t>Very small use cases</a:t>
            </a:r>
          </a:p>
          <a:p>
            <a:pPr marL="682625" lvl="1" indent="-228600" eaLnBrk="1" hangingPunct="1"/>
            <a:r>
              <a:rPr lang="en-US" sz="1800"/>
              <a:t>Too many use cases</a:t>
            </a:r>
          </a:p>
          <a:p>
            <a:pPr marL="682625" lvl="1" indent="-228600" eaLnBrk="1" hangingPunct="1"/>
            <a:r>
              <a:rPr lang="en-US" sz="1800"/>
              <a:t>Uses cases with no result of value</a:t>
            </a:r>
          </a:p>
          <a:p>
            <a:pPr marL="682625" lvl="1" indent="-228600" eaLnBrk="1" hangingPunct="1"/>
            <a:r>
              <a:rPr lang="en-US" sz="1800"/>
              <a:t>Names with low-level operations </a:t>
            </a:r>
          </a:p>
          <a:p>
            <a:pPr marL="1025525" lvl="2" eaLnBrk="1" hangingPunct="1">
              <a:lnSpc>
                <a:spcPct val="87000"/>
              </a:lnSpc>
            </a:pPr>
            <a:r>
              <a:rPr lang="en-US" sz="1400"/>
              <a:t>“Operation” + “object” </a:t>
            </a:r>
          </a:p>
          <a:p>
            <a:pPr marL="1025525" lvl="2" eaLnBrk="1" hangingPunct="1">
              <a:lnSpc>
                <a:spcPct val="87000"/>
              </a:lnSpc>
            </a:pPr>
            <a:r>
              <a:rPr lang="en-US" sz="1400"/>
              <a:t>“Function” + “data” </a:t>
            </a:r>
          </a:p>
          <a:p>
            <a:pPr marL="1025525" lvl="2" eaLnBrk="1" hangingPunct="1">
              <a:lnSpc>
                <a:spcPct val="87000"/>
              </a:lnSpc>
            </a:pPr>
            <a:r>
              <a:rPr lang="en-US" sz="1400"/>
              <a:t>Example: “Insert Card”</a:t>
            </a:r>
          </a:p>
          <a:p>
            <a:pPr marL="682625" lvl="1" indent="-228600" eaLnBrk="1" hangingPunct="1"/>
            <a:r>
              <a:rPr lang="en-US" sz="1800"/>
              <a:t>Difficulty understanding the overall model</a:t>
            </a:r>
          </a:p>
        </p:txBody>
      </p:sp>
      <p:sp>
        <p:nvSpPr>
          <p:cNvPr id="110599" name="Rectangle 4"/>
          <p:cNvSpPr>
            <a:spLocks noGrp="1" noChangeArrowheads="1"/>
          </p:cNvSpPr>
          <p:nvPr>
            <p:ph type="body" sz="half" idx="2"/>
          </p:nvPr>
        </p:nvSpPr>
        <p:spPr>
          <a:xfrm>
            <a:off x="4683125" y="1371600"/>
            <a:ext cx="4168775" cy="5105400"/>
          </a:xfrm>
        </p:spPr>
        <p:txBody>
          <a:bodyPr/>
          <a:lstStyle/>
          <a:p>
            <a:pPr marL="339725" indent="-339725">
              <a:spcBef>
                <a:spcPct val="40000"/>
              </a:spcBef>
              <a:buClrTx/>
              <a:buFontTx/>
              <a:buNone/>
            </a:pPr>
            <a:r>
              <a:rPr lang="en-US" sz="2000"/>
              <a:t>Corrective Actions   </a:t>
            </a:r>
            <a:endParaRPr lang="en-US" sz="1600"/>
          </a:p>
          <a:p>
            <a:pPr marL="682625" lvl="1" indent="-228600">
              <a:lnSpc>
                <a:spcPts val="2000"/>
              </a:lnSpc>
              <a:spcBef>
                <a:spcPts val="900"/>
              </a:spcBef>
              <a:buClrTx/>
              <a:buSzPct val="85000"/>
            </a:pPr>
            <a:r>
              <a:rPr lang="en-US" sz="1800"/>
              <a:t>Search for larger context</a:t>
            </a:r>
          </a:p>
          <a:p>
            <a:pPr marL="909638" lvl="2" indent="-112713">
              <a:lnSpc>
                <a:spcPts val="2000"/>
              </a:lnSpc>
              <a:spcBef>
                <a:spcPts val="900"/>
              </a:spcBef>
              <a:buClrTx/>
              <a:buFontTx/>
              <a:buNone/>
            </a:pPr>
            <a:r>
              <a:rPr lang="en-US" sz="1600"/>
              <a:t>“Why are you building this system?”</a:t>
            </a:r>
          </a:p>
          <a:p>
            <a:pPr marL="682625" lvl="1" indent="-228600">
              <a:lnSpc>
                <a:spcPts val="2000"/>
              </a:lnSpc>
              <a:spcBef>
                <a:spcPts val="900"/>
              </a:spcBef>
              <a:buClrTx/>
              <a:buSzPct val="85000"/>
            </a:pPr>
            <a:r>
              <a:rPr lang="en-US" sz="1800"/>
              <a:t>Put yourself in user’s role</a:t>
            </a:r>
          </a:p>
          <a:p>
            <a:pPr marL="909638" lvl="2" indent="-112713">
              <a:lnSpc>
                <a:spcPts val="2000"/>
              </a:lnSpc>
              <a:spcBef>
                <a:spcPts val="900"/>
              </a:spcBef>
              <a:buClrTx/>
              <a:buFontTx/>
              <a:buNone/>
            </a:pPr>
            <a:r>
              <a:rPr lang="en-US" sz="1600"/>
              <a:t>“What does the user want to achieve?”</a:t>
            </a:r>
          </a:p>
          <a:p>
            <a:pPr marL="909638" lvl="2" indent="-112713">
              <a:lnSpc>
                <a:spcPts val="2000"/>
              </a:lnSpc>
              <a:spcBef>
                <a:spcPts val="900"/>
              </a:spcBef>
              <a:buClrTx/>
              <a:buFontTx/>
              <a:buNone/>
            </a:pPr>
            <a:r>
              <a:rPr lang="en-US" sz="1600"/>
              <a:t>“Whose goal does this use case satisfy?”</a:t>
            </a:r>
          </a:p>
          <a:p>
            <a:pPr marL="909638" lvl="2" indent="-112713">
              <a:lnSpc>
                <a:spcPts val="2000"/>
              </a:lnSpc>
              <a:spcBef>
                <a:spcPts val="900"/>
              </a:spcBef>
              <a:buClrTx/>
              <a:buFontTx/>
              <a:buNone/>
            </a:pPr>
            <a:r>
              <a:rPr lang="en-US" sz="1600"/>
              <a:t>“What value does this use case add?”</a:t>
            </a:r>
          </a:p>
          <a:p>
            <a:pPr marL="909638" lvl="2" indent="-112713">
              <a:lnSpc>
                <a:spcPts val="2000"/>
              </a:lnSpc>
              <a:spcBef>
                <a:spcPts val="900"/>
              </a:spcBef>
              <a:buClrTx/>
              <a:buFontTx/>
              <a:buNone/>
            </a:pPr>
            <a:r>
              <a:rPr lang="en-US" sz="1600"/>
              <a:t>“What is the story behind this use case?”</a:t>
            </a:r>
          </a:p>
        </p:txBody>
      </p:sp>
      <p:sp>
        <p:nvSpPr>
          <p:cNvPr id="2" name="Slide Number Placeholder 1"/>
          <p:cNvSpPr>
            <a:spLocks noGrp="1"/>
          </p:cNvSpPr>
          <p:nvPr>
            <p:ph type="sldNum" sz="quarter" idx="12"/>
          </p:nvPr>
        </p:nvSpPr>
        <p:spPr/>
        <p:txBody>
          <a:bodyPr/>
          <a:lstStyle/>
          <a:p>
            <a:fld id="{F1FB5BBA-1566-418C-A412-9831C24F915D}" type="slidenum">
              <a:rPr lang="en-US" smtClean="0"/>
              <a:pPr/>
              <a:t>101</a:t>
            </a:fld>
            <a:endParaRPr lang="en-US"/>
          </a:p>
        </p:txBody>
      </p:sp>
    </p:spTree>
    <p:extLst>
      <p:ext uri="{BB962C8B-B14F-4D97-AF65-F5344CB8AC3E}">
        <p14:creationId xmlns:p14="http://schemas.microsoft.com/office/powerpoint/2010/main" val="32354261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OC" val="Objectives"/>
</p:tagLst>
</file>

<file path=ppt/tags/tag2.xml><?xml version="1.0" encoding="utf-8"?>
<p:tagLst xmlns:a="http://schemas.openxmlformats.org/drawingml/2006/main" xmlns:r="http://schemas.openxmlformats.org/officeDocument/2006/relationships" xmlns:p="http://schemas.openxmlformats.org/presentationml/2006/main">
  <p:tag name="TOC" val="Actor"/>
</p:tagLst>
</file>

<file path=ppt/tags/tag3.xml><?xml version="1.0" encoding="utf-8"?>
<p:tagLst xmlns:a="http://schemas.openxmlformats.org/drawingml/2006/main" xmlns:r="http://schemas.openxmlformats.org/officeDocument/2006/relationships" xmlns:p="http://schemas.openxmlformats.org/presentationml/2006/main">
  <p:tag name="TOC" val="Benefits of use cases"/>
</p:tagLst>
</file>

<file path=ppt/tags/tag4.xml><?xml version="1.0" encoding="utf-8"?>
<p:tagLst xmlns:a="http://schemas.openxmlformats.org/drawingml/2006/main" xmlns:r="http://schemas.openxmlformats.org/officeDocument/2006/relationships" xmlns:p="http://schemas.openxmlformats.org/presentationml/2006/main">
  <p:tag name="TOC" val="Use cases and the requirements management process"/>
</p:tagLst>
</file>

<file path=ppt/tags/tag5.xml><?xml version="1.0" encoding="utf-8"?>
<p:tagLst xmlns:a="http://schemas.openxmlformats.org/drawingml/2006/main" xmlns:r="http://schemas.openxmlformats.org/officeDocument/2006/relationships" xmlns:p="http://schemas.openxmlformats.org/presentationml/2006/main">
  <p:tag name="TOC" val="Objectives"/>
</p:tagLst>
</file>

<file path=ppt/tags/tag6.xml><?xml version="1.0" encoding="utf-8"?>
<p:tagLst xmlns:a="http://schemas.openxmlformats.org/drawingml/2006/main" xmlns:r="http://schemas.openxmlformats.org/officeDocument/2006/relationships" xmlns:p="http://schemas.openxmlformats.org/presentationml/2006/main">
  <p:tag name="TOC" val="Process of writing use cases"/>
</p:tagLst>
</file>

<file path=ppt/tags/tag7.xml><?xml version="1.0" encoding="utf-8"?>
<p:tagLst xmlns:a="http://schemas.openxmlformats.org/drawingml/2006/main" xmlns:r="http://schemas.openxmlformats.org/officeDocument/2006/relationships" xmlns:p="http://schemas.openxmlformats.org/presentationml/2006/main">
  <p:tag name="TOC" val=""/>
</p:tagLst>
</file>

<file path=ppt/tags/tag8.xml><?xml version="1.0" encoding="utf-8"?>
<p:tagLst xmlns:a="http://schemas.openxmlformats.org/drawingml/2006/main" xmlns:r="http://schemas.openxmlformats.org/officeDocument/2006/relationships" xmlns:p="http://schemas.openxmlformats.org/presentationml/2006/main">
  <p:tag name="TOC" val="Checkpoints for actors"/>
</p:tagLst>
</file>

<file path=ppt/tags/tag9.xml><?xml version="1.0" encoding="utf-8"?>
<p:tagLst xmlns:a="http://schemas.openxmlformats.org/drawingml/2006/main" xmlns:r="http://schemas.openxmlformats.org/officeDocument/2006/relationships" xmlns:p="http://schemas.openxmlformats.org/presentationml/2006/main">
  <p:tag name="TOC" val="Checkpoints for use cases"/>
</p:tagLst>
</file>

<file path=ppt/tags/tag10.xml><?xml version="1.0" encoding="utf-8"?>
<p:tagLst xmlns:a="http://schemas.openxmlformats.org/drawingml/2006/main" xmlns:r="http://schemas.openxmlformats.org/officeDocument/2006/relationships" xmlns:p="http://schemas.openxmlformats.org/presentationml/2006/main">
  <p:tag name="TOC" val="Exercise 2 Finding actors and use cases"/>
</p:tagLst>
</file>

<file path=ppt/tags/tag11.xml><?xml version="1.0" encoding="utf-8"?>
<p:tagLst xmlns:a="http://schemas.openxmlformats.org/drawingml/2006/main" xmlns:r="http://schemas.openxmlformats.org/officeDocument/2006/relationships" xmlns:p="http://schemas.openxmlformats.org/presentationml/2006/main">
  <p:tag name="TOC" val="Outline each use case"/>
</p:tagLst>
</file>

<file path=ppt/tags/tag12.xml><?xml version="1.0" encoding="utf-8"?>
<p:tagLst xmlns:a="http://schemas.openxmlformats.org/drawingml/2006/main" xmlns:r="http://schemas.openxmlformats.org/officeDocument/2006/relationships" xmlns:p="http://schemas.openxmlformats.org/presentationml/2006/main">
  <p:tag name="TOC" val="Flows of events"/>
</p:tagLst>
</file>

<file path=ppt/tags/tag13.xml><?xml version="1.0" encoding="utf-8"?>
<p:tagLst xmlns:a="http://schemas.openxmlformats.org/drawingml/2006/main" xmlns:r="http://schemas.openxmlformats.org/officeDocument/2006/relationships" xmlns:p="http://schemas.openxmlformats.org/presentationml/2006/main">
  <p:tag name="TOC" val="Outline the flows of events "/>
</p:tagLst>
</file>

<file path=ppt/tags/tag14.xml><?xml version="1.0" encoding="utf-8"?>
<p:tagLst xmlns:a="http://schemas.openxmlformats.org/drawingml/2006/main" xmlns:r="http://schemas.openxmlformats.org/officeDocument/2006/relationships" xmlns:p="http://schemas.openxmlformats.org/presentationml/2006/main">
  <p:tag name="TOC" val="What is a scenario?"/>
</p:tagLst>
</file>

<file path=ppt/tags/tag15.xml><?xml version="1.0" encoding="utf-8"?>
<p:tagLst xmlns:a="http://schemas.openxmlformats.org/drawingml/2006/main" xmlns:r="http://schemas.openxmlformats.org/officeDocument/2006/relationships" xmlns:p="http://schemas.openxmlformats.org/presentationml/2006/main">
  <p:tag name="TOC" val="Checkpoints for use cases"/>
</p:tagLst>
</file>

<file path=ppt/tags/tag16.xml><?xml version="1.0" encoding="utf-8"?>
<p:tagLst xmlns:a="http://schemas.openxmlformats.org/drawingml/2006/main" xmlns:r="http://schemas.openxmlformats.org/officeDocument/2006/relationships" xmlns:p="http://schemas.openxmlformats.org/presentationml/2006/main">
  <p:tag name="TOC" val="Exercise 3 Outlining use cases"/>
</p:tagLst>
</file>

<file path=ppt/tags/tag17.xml><?xml version="1.0" encoding="utf-8"?>
<p:tagLst xmlns:a="http://schemas.openxmlformats.org/drawingml/2006/main" xmlns:r="http://schemas.openxmlformats.org/officeDocument/2006/relationships" xmlns:p="http://schemas.openxmlformats.org/presentationml/2006/main">
  <p:tag name="TOC" val="Subflows"/>
</p:tagLst>
</file>

<file path=ppt/tags/tag18.xml><?xml version="1.0" encoding="utf-8"?>
<p:tagLst xmlns:a="http://schemas.openxmlformats.org/drawingml/2006/main" xmlns:r="http://schemas.openxmlformats.org/officeDocument/2006/relationships" xmlns:p="http://schemas.openxmlformats.org/presentationml/2006/main">
  <p:tag name="TOC" val="Use case checkpoints"/>
</p:tagLst>
</file>

<file path=ppt/theme/theme1.xml><?xml version="1.0" encoding="utf-8"?>
<a:theme xmlns:a="http://schemas.openxmlformats.org/drawingml/2006/main" name="1_ms01_1">
  <a:themeElements>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1_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clrMap bg1="lt1" tx1="dk1" bg2="lt2" tx2="dk2" accent1="accent1" accent2="accent2" accent3="accent3" accent4="accent4" accent5="accent5" accent6="accent6" hlink="hlink" folHlink="folHlink"/>
    </a:extraClrScheme>
    <a:extraClrScheme>
      <a:clrScheme name="1_ms01_1 2">
        <a:dk1>
          <a:srgbClr val="0E5D92"/>
        </a:dk1>
        <a:lt1>
          <a:srgbClr val="FFFFFF"/>
        </a:lt1>
        <a:dk2>
          <a:srgbClr val="137C9D"/>
        </a:dk2>
        <a:lt2>
          <a:srgbClr val="C0C0C0"/>
        </a:lt2>
        <a:accent1>
          <a:srgbClr val="35AACF"/>
        </a:accent1>
        <a:accent2>
          <a:srgbClr val="75CDB2"/>
        </a:accent2>
        <a:accent3>
          <a:srgbClr val="FFFFFF"/>
        </a:accent3>
        <a:accent4>
          <a:srgbClr val="0A4E7C"/>
        </a:accent4>
        <a:accent5>
          <a:srgbClr val="AED2E4"/>
        </a:accent5>
        <a:accent6>
          <a:srgbClr val="69BAA1"/>
        </a:accent6>
        <a:hlink>
          <a:srgbClr val="E8C86E"/>
        </a:hlink>
        <a:folHlink>
          <a:srgbClr val="1E68D6"/>
        </a:folHlink>
      </a:clrScheme>
      <a:clrMap bg1="lt1" tx1="dk1" bg2="lt2" tx2="dk2" accent1="accent1" accent2="accent2" accent3="accent3" accent4="accent4" accent5="accent5" accent6="accent6" hlink="hlink" folHlink="folHlink"/>
    </a:extraClrScheme>
    <a:extraClrScheme>
      <a:clrScheme name="1_ms01_1 3">
        <a:dk1>
          <a:srgbClr val="164D60"/>
        </a:dk1>
        <a:lt1>
          <a:srgbClr val="FFFFFF"/>
        </a:lt1>
        <a:dk2>
          <a:srgbClr val="2A8486"/>
        </a:dk2>
        <a:lt2>
          <a:srgbClr val="C0C0C0"/>
        </a:lt2>
        <a:accent1>
          <a:srgbClr val="48BC77"/>
        </a:accent1>
        <a:accent2>
          <a:srgbClr val="ECCA4C"/>
        </a:accent2>
        <a:accent3>
          <a:srgbClr val="FFFFFF"/>
        </a:accent3>
        <a:accent4>
          <a:srgbClr val="114051"/>
        </a:accent4>
        <a:accent5>
          <a:srgbClr val="B1DABD"/>
        </a:accent5>
        <a:accent6>
          <a:srgbClr val="D6B744"/>
        </a:accent6>
        <a:hlink>
          <a:srgbClr val="3191E9"/>
        </a:hlink>
        <a:folHlink>
          <a:srgbClr val="E3694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 presentation slides with animation</Template>
  <TotalTime>3031</TotalTime>
  <Words>16311</Words>
  <Application>Microsoft Office PowerPoint</Application>
  <PresentationFormat>On-screen Show (4:3)</PresentationFormat>
  <Paragraphs>1469</Paragraphs>
  <Slides>101</Slides>
  <Notes>101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101</vt:i4>
      </vt:variant>
    </vt:vector>
  </HeadingPairs>
  <TitlesOfParts>
    <vt:vector size="113" baseType="lpstr">
      <vt:lpstr>Arial</vt:lpstr>
      <vt:lpstr>Arial Narrow</vt:lpstr>
      <vt:lpstr>Symbol</vt:lpstr>
      <vt:lpstr>Times New Roman</vt:lpstr>
      <vt:lpstr>Webdings</vt:lpstr>
      <vt:lpstr>Wingdings</vt:lpstr>
      <vt:lpstr>Wingdings 2</vt:lpstr>
      <vt:lpstr>ZapfHumnst BT</vt:lpstr>
      <vt:lpstr>1_ms01_1</vt:lpstr>
      <vt:lpstr>Photo Editor Photo</vt:lpstr>
      <vt:lpstr>CorelDRAW 6.0</vt:lpstr>
      <vt:lpstr>VISIO</vt:lpstr>
      <vt:lpstr>Requirement Modeling</vt:lpstr>
      <vt:lpstr>Introduction to Requirement Process</vt:lpstr>
      <vt:lpstr>Definitions</vt:lpstr>
      <vt:lpstr>What Do Software Requirements Specify?</vt:lpstr>
      <vt:lpstr>UML in Context of Requirement Modeling</vt:lpstr>
      <vt:lpstr>Use-case Modeling</vt:lpstr>
      <vt:lpstr>Objectives</vt:lpstr>
      <vt:lpstr>Use cases involve a shift in thinking</vt:lpstr>
      <vt:lpstr>What Is Use-Case Modeling?</vt:lpstr>
      <vt:lpstr>A Use-Case Model is Mostly Text</vt:lpstr>
      <vt:lpstr>Major Use-Case Modeling Elements</vt:lpstr>
      <vt:lpstr>Actor</vt:lpstr>
      <vt:lpstr>What Is a Use Case?</vt:lpstr>
      <vt:lpstr>Use cases contain software requirements</vt:lpstr>
      <vt:lpstr>Capture a use-case model</vt:lpstr>
      <vt:lpstr>Use-case specification</vt:lpstr>
      <vt:lpstr>Use-case diagram</vt:lpstr>
      <vt:lpstr>Use cases drive software development</vt:lpstr>
      <vt:lpstr>Benefits of use cases</vt:lpstr>
      <vt:lpstr>Who should care about use cases?</vt:lpstr>
      <vt:lpstr>Requirements management process</vt:lpstr>
      <vt:lpstr>Review</vt:lpstr>
      <vt:lpstr>Use-case Model</vt:lpstr>
      <vt:lpstr>Objectives</vt:lpstr>
      <vt:lpstr>Process of writing use cases</vt:lpstr>
      <vt:lpstr>Process of writing use cases (cont.)</vt:lpstr>
      <vt:lpstr>Process of writing use cases</vt:lpstr>
      <vt:lpstr>Actors and the system boundary </vt:lpstr>
      <vt:lpstr>Actors and roles</vt:lpstr>
      <vt:lpstr>Find actors</vt:lpstr>
      <vt:lpstr>Name the actor</vt:lpstr>
      <vt:lpstr>Describe the actor</vt:lpstr>
      <vt:lpstr>Review</vt:lpstr>
      <vt:lpstr>Process of writing use cases</vt:lpstr>
      <vt:lpstr>Find use cases</vt:lpstr>
      <vt:lpstr>Find use cases (cont.)</vt:lpstr>
      <vt:lpstr>Is Log in  a use case?</vt:lpstr>
      <vt:lpstr>CRUD Use Cases </vt:lpstr>
      <vt:lpstr>Name the use case</vt:lpstr>
      <vt:lpstr>Describe a use case (text description)</vt:lpstr>
      <vt:lpstr>Checkpoints for actors</vt:lpstr>
      <vt:lpstr>Checkpoints for use cases</vt:lpstr>
      <vt:lpstr>Checkpoints for use cases (cont.)</vt:lpstr>
      <vt:lpstr>Use-case diagrams: communicates-association</vt:lpstr>
      <vt:lpstr>Each communicates-association is a whole dialog</vt:lpstr>
      <vt:lpstr>Use-case diagram example</vt:lpstr>
      <vt:lpstr>Review</vt:lpstr>
      <vt:lpstr>Relating Use-case</vt:lpstr>
      <vt:lpstr>Relating Use Cases</vt:lpstr>
      <vt:lpstr>Includes</vt:lpstr>
      <vt:lpstr>Includes (continued)</vt:lpstr>
      <vt:lpstr>Includes (continued)</vt:lpstr>
      <vt:lpstr>Extends</vt:lpstr>
      <vt:lpstr>Extends (continued)</vt:lpstr>
      <vt:lpstr>Extends (continued)</vt:lpstr>
      <vt:lpstr>Extends (continued)</vt:lpstr>
      <vt:lpstr>Generalization-Specialization</vt:lpstr>
      <vt:lpstr>Generalization-Specialization (continued)</vt:lpstr>
      <vt:lpstr>Generalization-Specialization (continued)</vt:lpstr>
      <vt:lpstr>Exercise 2: Finding actors and use cases</vt:lpstr>
      <vt:lpstr>Process of writing use cases</vt:lpstr>
      <vt:lpstr>Outline each use case</vt:lpstr>
      <vt:lpstr>Why outline use cases?</vt:lpstr>
      <vt:lpstr>Flows of events (basic and alternative)</vt:lpstr>
      <vt:lpstr>Outline the flows of events </vt:lpstr>
      <vt:lpstr>Step-by-step outline: Register for Courses</vt:lpstr>
      <vt:lpstr>What is a use-case scenario?</vt:lpstr>
      <vt:lpstr>Why capture use-case scenarios?</vt:lpstr>
      <vt:lpstr>How to capture use-case scenarios</vt:lpstr>
      <vt:lpstr>Outline: Register for Courses</vt:lpstr>
      <vt:lpstr>Checkpoints for use cases</vt:lpstr>
      <vt:lpstr>Collect additional requirements</vt:lpstr>
      <vt:lpstr>What Is an Activity Diagram?</vt:lpstr>
      <vt:lpstr>What Is an Activity?</vt:lpstr>
      <vt:lpstr>Example: Activity Diagram</vt:lpstr>
      <vt:lpstr>Review</vt:lpstr>
      <vt:lpstr>Exercise 3: Outlining use cases</vt:lpstr>
      <vt:lpstr>Process of writing use cases</vt:lpstr>
      <vt:lpstr>Detail a use case </vt:lpstr>
      <vt:lpstr>Use case style</vt:lpstr>
      <vt:lpstr>Detail the basic flow of events</vt:lpstr>
      <vt:lpstr>Phrasing of steps</vt:lpstr>
      <vt:lpstr>Structure the use-case flows</vt:lpstr>
      <vt:lpstr>Cross-referencing using a label</vt:lpstr>
      <vt:lpstr>Review: Flows of events (basic and alternative)</vt:lpstr>
      <vt:lpstr>Detail of Alternative Flows</vt:lpstr>
      <vt:lpstr>Visualize behavior</vt:lpstr>
      <vt:lpstr>Subflows</vt:lpstr>
      <vt:lpstr>Example subflow</vt:lpstr>
      <vt:lpstr>Preconditions</vt:lpstr>
      <vt:lpstr>Postconditions</vt:lpstr>
      <vt:lpstr>Sequence use cases with pre- and postconditions</vt:lpstr>
      <vt:lpstr>Other use case properties</vt:lpstr>
      <vt:lpstr>RUP style summary</vt:lpstr>
      <vt:lpstr>Use case checkpoints</vt:lpstr>
      <vt:lpstr>Review</vt:lpstr>
      <vt:lpstr>Guidelines for when to use Use cases</vt:lpstr>
      <vt:lpstr>What is NOT a use case</vt:lpstr>
      <vt:lpstr>Functional Decomposition</vt:lpstr>
      <vt:lpstr>Functional Decomposition: An Example</vt:lpstr>
      <vt:lpstr>Avoid Functional Decomposition</vt:lpstr>
    </vt:vector>
  </TitlesOfParts>
  <Company>University of Natural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Tran Minh Triet</dc:creator>
  <cp:lastModifiedBy>Minh-Triet TRAN</cp:lastModifiedBy>
  <cp:revision>249</cp:revision>
  <dcterms:created xsi:type="dcterms:W3CDTF">2006-05-28T09:28:45Z</dcterms:created>
  <dcterms:modified xsi:type="dcterms:W3CDTF">2016-09-17T16:16:22Z</dcterms:modified>
</cp:coreProperties>
</file>