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3.bin"/>
  <Override ContentType="application/vnd.openxmlformats-officedocument.oleObject" PartName="/ppt/embeddings/oleObject6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7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officedocument.oleObject" PartName="/ppt/embeddings/oleObject8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jUQEE5ddvn1spC1S+H6wZBP6sG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8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5:notes"/>
          <p:cNvSpPr txBox="1"/>
          <p:nvPr/>
        </p:nvSpPr>
        <p:spPr>
          <a:xfrm>
            <a:off x="288926" y="1173163"/>
            <a:ext cx="2073275" cy="11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Rose, you cannot underline the class scope operation and attribute names, but you can use an attribute and operation stereotype (e.g., &lt;&lt;class&gt;&gt;) to denote class scope attributes and operations on a diagram. 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879600" y="833438"/>
            <a:ext cx="5384700" cy="3029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2581276" y="4165600"/>
            <a:ext cx="3971925" cy="3938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879600" y="833438"/>
            <a:ext cx="5384700" cy="3029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2581276" y="4165600"/>
            <a:ext cx="3971925" cy="3938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/>
          <p:nvPr/>
        </p:nvSpPr>
        <p:spPr>
          <a:xfrm>
            <a:off x="0" y="0"/>
            <a:ext cx="9144000" cy="386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7"/>
          <p:cNvSpPr/>
          <p:nvPr/>
        </p:nvSpPr>
        <p:spPr>
          <a:xfrm>
            <a:off x="1262063" y="0"/>
            <a:ext cx="2362200" cy="37149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2A59B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7"/>
          <p:cNvSpPr/>
          <p:nvPr/>
        </p:nvSpPr>
        <p:spPr>
          <a:xfrm>
            <a:off x="304800" y="1800225"/>
            <a:ext cx="8458200" cy="8286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7"/>
          <p:cNvSpPr txBox="1"/>
          <p:nvPr>
            <p:ph type="ctrTitle"/>
          </p:nvPr>
        </p:nvSpPr>
        <p:spPr>
          <a:xfrm>
            <a:off x="457200" y="1943100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" type="subTitle"/>
          </p:nvPr>
        </p:nvSpPr>
        <p:spPr>
          <a:xfrm>
            <a:off x="1828800" y="2800350"/>
            <a:ext cx="586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?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0" type="dt"/>
          </p:nvPr>
        </p:nvSpPr>
        <p:spPr>
          <a:xfrm>
            <a:off x="457200" y="4800600"/>
            <a:ext cx="2133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1" type="ftr"/>
          </p:nvPr>
        </p:nvSpPr>
        <p:spPr>
          <a:xfrm>
            <a:off x="3124200" y="4800600"/>
            <a:ext cx="2895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6553200" y="4800600"/>
            <a:ext cx="2133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" name="Google Shape;3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618185"/>
            <a:ext cx="1258888" cy="1078706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7"/>
          <p:cNvSpPr/>
          <p:nvPr/>
        </p:nvSpPr>
        <p:spPr>
          <a:xfrm>
            <a:off x="1276350" y="3706416"/>
            <a:ext cx="7867800" cy="1632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7"/>
          <p:cNvSpPr/>
          <p:nvPr/>
        </p:nvSpPr>
        <p:spPr>
          <a:xfrm>
            <a:off x="304800" y="228600"/>
            <a:ext cx="8534400" cy="3257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7"/>
          <p:cNvSpPr/>
          <p:nvPr/>
        </p:nvSpPr>
        <p:spPr>
          <a:xfrm>
            <a:off x="7391400" y="685800"/>
            <a:ext cx="1600200" cy="10860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7"/>
          <p:cNvSpPr/>
          <p:nvPr/>
        </p:nvSpPr>
        <p:spPr>
          <a:xfrm>
            <a:off x="8305800" y="0"/>
            <a:ext cx="76200" cy="13146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  <a:defRPr/>
            </a:lvl1pPr>
            <a:lvl2pPr indent="-2857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29718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9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" type="body"/>
          </p:nvPr>
        </p:nvSpPr>
        <p:spPr>
          <a:xfrm>
            <a:off x="457200" y="1028700"/>
            <a:ext cx="4038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Char char="❖"/>
              <a:defRPr sz="2800"/>
            </a:lvl1pPr>
            <a:lvl2pPr indent="-3048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?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29718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9pPr>
          </a:lstStyle>
          <a:p/>
        </p:txBody>
      </p:sp>
      <p:sp>
        <p:nvSpPr>
          <p:cNvPr id="52" name="Google Shape;52;p30"/>
          <p:cNvSpPr txBox="1"/>
          <p:nvPr>
            <p:ph idx="2" type="body"/>
          </p:nvPr>
        </p:nvSpPr>
        <p:spPr>
          <a:xfrm>
            <a:off x="4648200" y="1028700"/>
            <a:ext cx="4038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Char char="❖"/>
              <a:defRPr sz="2800"/>
            </a:lvl1pPr>
            <a:lvl2pPr indent="-3048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?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29718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9pPr>
          </a:lstStyle>
          <a:p/>
        </p:txBody>
      </p:sp>
      <p:sp>
        <p:nvSpPr>
          <p:cNvPr id="53" name="Google Shape;53;p30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1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  <a:defRPr sz="2400"/>
            </a:lvl1pPr>
            <a:lvl2pPr indent="-2921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28956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Char char="?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9pPr>
          </a:lstStyle>
          <a:p/>
        </p:txBody>
      </p:sp>
      <p:sp>
        <p:nvSpPr>
          <p:cNvPr id="60" name="Google Shape;60;p31"/>
          <p:cNvSpPr txBox="1"/>
          <p:nvPr>
            <p:ph idx="3" type="body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31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  <a:defRPr sz="2400"/>
            </a:lvl1pPr>
            <a:lvl2pPr indent="-2921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28956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Char char="?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❖"/>
              <a:defRPr sz="3200"/>
            </a:lvl1pPr>
            <a:lvl2pPr indent="-3175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00"/>
              <a:buChar char="?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?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9pPr>
          </a:lstStyle>
          <a:p/>
        </p:txBody>
      </p:sp>
      <p:sp>
        <p:nvSpPr>
          <p:cNvPr id="77" name="Google Shape;77;p34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34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5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5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35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5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6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6"/>
          <p:cNvSpPr txBox="1"/>
          <p:nvPr>
            <p:ph idx="1" type="body"/>
          </p:nvPr>
        </p:nvSpPr>
        <p:spPr>
          <a:xfrm rot="5400000">
            <a:off x="2687250" y="-1201350"/>
            <a:ext cx="3769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  <a:defRPr/>
            </a:lvl1pPr>
            <a:lvl2pPr indent="-2857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29718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91" name="Google Shape;91;p36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6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6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7"/>
          <p:cNvSpPr txBox="1"/>
          <p:nvPr>
            <p:ph type="title"/>
          </p:nvPr>
        </p:nvSpPr>
        <p:spPr>
          <a:xfrm rot="5400000">
            <a:off x="5336400" y="1447781"/>
            <a:ext cx="4643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idx="1" type="body"/>
          </p:nvPr>
        </p:nvSpPr>
        <p:spPr>
          <a:xfrm rot="5400000">
            <a:off x="1145400" y="-533419"/>
            <a:ext cx="46434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  <a:defRPr/>
            </a:lvl1pPr>
            <a:lvl2pPr indent="-2857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29718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97" name="Google Shape;97;p37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7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7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chemeClr val="lt1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/>
          <p:nvPr/>
        </p:nvSpPr>
        <p:spPr>
          <a:xfrm>
            <a:off x="0" y="7144"/>
            <a:ext cx="9144000" cy="7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6"/>
          <p:cNvSpPr/>
          <p:nvPr/>
        </p:nvSpPr>
        <p:spPr>
          <a:xfrm>
            <a:off x="1447800" y="0"/>
            <a:ext cx="7696200" cy="65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6"/>
          <p:cNvSpPr/>
          <p:nvPr/>
        </p:nvSpPr>
        <p:spPr>
          <a:xfrm>
            <a:off x="0" y="119063"/>
            <a:ext cx="9144000" cy="452400"/>
          </a:xfrm>
          <a:prstGeom prst="rect">
            <a:avLst/>
          </a:prstGeom>
          <a:gradFill>
            <a:gsLst>
              <a:gs pos="0">
                <a:srgbClr val="224894"/>
              </a:gs>
              <a:gs pos="100000">
                <a:schemeClr val="accent1"/>
              </a:gs>
            </a:gsLst>
            <a:lin ang="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6"/>
          <p:cNvSpPr/>
          <p:nvPr/>
        </p:nvSpPr>
        <p:spPr>
          <a:xfrm>
            <a:off x="0" y="857250"/>
            <a:ext cx="228600" cy="4286400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6"/>
          <p:cNvSpPr/>
          <p:nvPr/>
        </p:nvSpPr>
        <p:spPr>
          <a:xfrm>
            <a:off x="8686800" y="0"/>
            <a:ext cx="76200" cy="4572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6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❖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🞇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🞇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6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6"/>
          <p:cNvSpPr/>
          <p:nvPr/>
        </p:nvSpPr>
        <p:spPr>
          <a:xfrm>
            <a:off x="0" y="0"/>
            <a:ext cx="1447800" cy="80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43013" cy="77866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6"/>
          <p:cNvSpPr/>
          <p:nvPr/>
        </p:nvSpPr>
        <p:spPr>
          <a:xfrm>
            <a:off x="0" y="776288"/>
            <a:ext cx="1447800" cy="1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6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5.bin"/><Relationship Id="rId5" Type="http://schemas.openxmlformats.org/officeDocument/2006/relationships/oleObject" Target="../embeddings/oleObject5.bin"/><Relationship Id="rId6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6.bin"/><Relationship Id="rId5" Type="http://schemas.openxmlformats.org/officeDocument/2006/relationships/oleObject" Target="../embeddings/oleObject6.bin"/><Relationship Id="rId6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7.bin"/><Relationship Id="rId5" Type="http://schemas.openxmlformats.org/officeDocument/2006/relationships/oleObject" Target="../embeddings/oleObject7.bin"/><Relationship Id="rId6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vmlDrawing" Target="../drawings/vmlDrawing8.vml"/><Relationship Id="rId4" Type="http://schemas.openxmlformats.org/officeDocument/2006/relationships/oleObject" Target="../embeddings/oleObject8.bin"/><Relationship Id="rId5" Type="http://schemas.openxmlformats.org/officeDocument/2006/relationships/oleObject" Target="../embeddings/oleObject8.bin"/><Relationship Id="rId6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457200" y="1943100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/>
              <a:t>Static Analysis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4147296" y="2686050"/>
            <a:ext cx="472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Assoc. Prof. TRAN Minh Triet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Department of Software Engineering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3838252" y="4343400"/>
            <a:ext cx="5305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B1C0FF"/>
                </a:solidFill>
                <a:latin typeface="Arial"/>
                <a:ea typeface="Arial"/>
                <a:cs typeface="Arial"/>
                <a:sym typeface="Arial"/>
              </a:rPr>
              <a:t>Software Analysis and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2388454" y="287348"/>
            <a:ext cx="4367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Science, VNU-HCM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Faculty of Information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087467"/>
            <a:ext cx="1151109" cy="904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Reference</a:t>
            </a:r>
            <a:endParaRPr/>
          </a:p>
        </p:txBody>
      </p:sp>
      <p:sp>
        <p:nvSpPr>
          <p:cNvPr id="115" name="Google Shape;115;p2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lang="en-US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“Mastering Object-Oriented Analysis and Design with UML 2.0”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IBM Software Group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3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Revision: Object Oriented Programming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1143000" y="1485900"/>
            <a:ext cx="1752600" cy="457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3"/>
          <p:cNvGrpSpPr/>
          <p:nvPr/>
        </p:nvGrpSpPr>
        <p:grpSpPr>
          <a:xfrm>
            <a:off x="5715000" y="1485900"/>
            <a:ext cx="2209800" cy="1371600"/>
            <a:chOff x="624" y="1872"/>
            <a:chExt cx="1104" cy="1152"/>
          </a:xfrm>
        </p:grpSpPr>
        <p:sp>
          <p:nvSpPr>
            <p:cNvPr id="125" name="Google Shape;125;p3"/>
            <p:cNvSpPr/>
            <p:nvPr/>
          </p:nvSpPr>
          <p:spPr>
            <a:xfrm>
              <a:off x="624" y="1872"/>
              <a:ext cx="1104" cy="384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Class name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624" y="2640"/>
              <a:ext cx="1104" cy="384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Methods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624" y="2256"/>
              <a:ext cx="1104" cy="384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Attributes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3"/>
          <p:cNvSpPr txBox="1"/>
          <p:nvPr/>
        </p:nvSpPr>
        <p:spPr>
          <a:xfrm>
            <a:off x="901700" y="1028700"/>
            <a:ext cx="160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4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Visibility: Public/Protected/Private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09600" y="1143000"/>
            <a:ext cx="4879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		</a:t>
            </a:r>
            <a:r>
              <a:rPr b="0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attributes/methods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09600" y="1714500"/>
            <a:ext cx="5076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		</a:t>
            </a:r>
            <a:r>
              <a:rPr b="0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Private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attributes/methods</a:t>
            </a:r>
            <a:endParaRPr b="0" i="0" sz="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09600" y="1428750"/>
            <a:ext cx="7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		</a:t>
            </a:r>
            <a:r>
              <a:rPr b="0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protected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attributes/methods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4"/>
          <p:cNvGrpSpPr/>
          <p:nvPr/>
        </p:nvGrpSpPr>
        <p:grpSpPr>
          <a:xfrm>
            <a:off x="1371600" y="3036094"/>
            <a:ext cx="7883525" cy="1993106"/>
            <a:chOff x="555" y="1776"/>
            <a:chExt cx="4966" cy="1674"/>
          </a:xfrm>
        </p:grpSpPr>
        <p:sp>
          <p:nvSpPr>
            <p:cNvPr id="139" name="Google Shape;139;p4"/>
            <p:cNvSpPr/>
            <p:nvPr/>
          </p:nvSpPr>
          <p:spPr>
            <a:xfrm>
              <a:off x="2158" y="3162"/>
              <a:ext cx="197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40" name="Google Shape;140;p4"/>
            <p:cNvGrpSpPr/>
            <p:nvPr/>
          </p:nvGrpSpPr>
          <p:grpSpPr>
            <a:xfrm>
              <a:off x="2002" y="1776"/>
              <a:ext cx="1889" cy="1600"/>
              <a:chOff x="1792" y="2128"/>
              <a:chExt cx="1744" cy="1600"/>
            </a:xfrm>
          </p:grpSpPr>
          <p:sp>
            <p:nvSpPr>
              <p:cNvPr id="141" name="Google Shape;141;p4"/>
              <p:cNvSpPr/>
              <p:nvPr/>
            </p:nvSpPr>
            <p:spPr>
              <a:xfrm>
                <a:off x="1792" y="2128"/>
                <a:ext cx="1744" cy="1600"/>
              </a:xfrm>
              <a:prstGeom prst="ellipse">
                <a:avLst/>
              </a:prstGeom>
              <a:solidFill>
                <a:srgbClr val="0000FF"/>
              </a:solidFill>
              <a:ln cap="flat" cmpd="sng" w="508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2010" y="2310"/>
                <a:ext cx="1309" cy="1217"/>
              </a:xfrm>
              <a:prstGeom prst="ellipse">
                <a:avLst/>
              </a:prstGeom>
              <a:solidFill>
                <a:srgbClr val="FFFF00"/>
              </a:solidFill>
              <a:ln cap="flat" cmpd="sng" w="508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2271" y="2576"/>
                <a:ext cx="786" cy="707"/>
              </a:xfrm>
              <a:prstGeom prst="ellipse">
                <a:avLst/>
              </a:prstGeom>
              <a:solidFill>
                <a:srgbClr val="FF9900"/>
              </a:solidFill>
              <a:ln cap="flat" cmpd="sng" w="508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2620" y="2805"/>
                <a:ext cx="91" cy="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8100" lIns="77775" spcFirstLastPara="1" rIns="77775" wrap="square" tIns="381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1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45" name="Google Shape;145;p4"/>
            <p:cNvSpPr/>
            <p:nvPr/>
          </p:nvSpPr>
          <p:spPr>
            <a:xfrm>
              <a:off x="555" y="2992"/>
              <a:ext cx="923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Public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" name="Google Shape;146;p4"/>
            <p:cNvCxnSpPr/>
            <p:nvPr/>
          </p:nvCxnSpPr>
          <p:spPr>
            <a:xfrm flipH="1" rot="10034182">
              <a:off x="1406" y="2945"/>
              <a:ext cx="818" cy="8"/>
            </a:xfrm>
            <a:prstGeom prst="straightConnector1">
              <a:avLst/>
            </a:prstGeom>
            <a:noFill/>
            <a:ln cap="flat" cmpd="sng" w="50800">
              <a:solidFill>
                <a:srgbClr val="FF99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rotWithShape="0" algn="ctr" dir="2700000" dist="35921">
                <a:schemeClr val="lt2"/>
              </a:outerShdw>
            </a:effectLst>
          </p:spPr>
        </p:cxnSp>
        <p:sp>
          <p:nvSpPr>
            <p:cNvPr id="147" name="Google Shape;147;p4"/>
            <p:cNvSpPr/>
            <p:nvPr/>
          </p:nvSpPr>
          <p:spPr>
            <a:xfrm>
              <a:off x="4537" y="2466"/>
              <a:ext cx="984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Protected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" name="Google Shape;148;p4"/>
            <p:cNvCxnSpPr/>
            <p:nvPr/>
          </p:nvCxnSpPr>
          <p:spPr>
            <a:xfrm flipH="1">
              <a:off x="3439" y="2642"/>
              <a:ext cx="965" cy="9"/>
            </a:xfrm>
            <a:prstGeom prst="straightConnector1">
              <a:avLst/>
            </a:prstGeom>
            <a:noFill/>
            <a:ln cap="flat" cmpd="sng" w="50800">
              <a:solidFill>
                <a:srgbClr val="FF99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rotWithShape="0" algn="ctr" dir="2700000" dist="35921">
                <a:schemeClr val="lt2"/>
              </a:outerShdw>
            </a:effectLst>
          </p:spPr>
        </p:cxnSp>
        <p:cxnSp>
          <p:nvCxnSpPr>
            <p:cNvPr id="149" name="Google Shape;149;p4"/>
            <p:cNvCxnSpPr/>
            <p:nvPr/>
          </p:nvCxnSpPr>
          <p:spPr>
            <a:xfrm rot="9348342">
              <a:off x="2965" y="2196"/>
              <a:ext cx="1163" cy="11"/>
            </a:xfrm>
            <a:prstGeom prst="straightConnector1">
              <a:avLst/>
            </a:prstGeom>
            <a:noFill/>
            <a:ln cap="flat" cmpd="sng" w="50800">
              <a:solidFill>
                <a:srgbClr val="FF99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rotWithShape="0" algn="ctr" dir="2700000" dist="35921">
                <a:schemeClr val="lt2"/>
              </a:outerShdw>
            </a:effectLst>
          </p:spPr>
        </p:cxnSp>
        <p:sp>
          <p:nvSpPr>
            <p:cNvPr id="150" name="Google Shape;150;p4"/>
            <p:cNvSpPr txBox="1"/>
            <p:nvPr/>
          </p:nvSpPr>
          <p:spPr>
            <a:xfrm>
              <a:off x="4193" y="184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Private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4"/>
          <p:cNvGrpSpPr/>
          <p:nvPr/>
        </p:nvGrpSpPr>
        <p:grpSpPr>
          <a:xfrm>
            <a:off x="609600" y="2465785"/>
            <a:ext cx="2501900" cy="1763315"/>
            <a:chOff x="1728" y="2194"/>
            <a:chExt cx="1986" cy="1481"/>
          </a:xfrm>
        </p:grpSpPr>
        <p:grpSp>
          <p:nvGrpSpPr>
            <p:cNvPr id="152" name="Google Shape;152;p4"/>
            <p:cNvGrpSpPr/>
            <p:nvPr/>
          </p:nvGrpSpPr>
          <p:grpSpPr>
            <a:xfrm>
              <a:off x="1728" y="2195"/>
              <a:ext cx="1986" cy="1480"/>
              <a:chOff x="1518" y="1636"/>
              <a:chExt cx="1986" cy="1480"/>
            </a:xfrm>
          </p:grpSpPr>
          <p:sp>
            <p:nvSpPr>
              <p:cNvPr id="153" name="Google Shape;153;p4"/>
              <p:cNvSpPr/>
              <p:nvPr/>
            </p:nvSpPr>
            <p:spPr>
              <a:xfrm>
                <a:off x="1522" y="1636"/>
                <a:ext cx="1978" cy="148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4" name="Google Shape;154;p4"/>
              <p:cNvCxnSpPr/>
              <p:nvPr/>
            </p:nvCxnSpPr>
            <p:spPr>
              <a:xfrm>
                <a:off x="1518" y="1862"/>
                <a:ext cx="198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5" name="Google Shape;155;p4"/>
              <p:cNvCxnSpPr/>
              <p:nvPr/>
            </p:nvCxnSpPr>
            <p:spPr>
              <a:xfrm>
                <a:off x="1518" y="2326"/>
                <a:ext cx="198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56" name="Google Shape;156;p4"/>
            <p:cNvSpPr/>
            <p:nvPr/>
          </p:nvSpPr>
          <p:spPr>
            <a:xfrm>
              <a:off x="2534" y="2194"/>
              <a:ext cx="537" cy="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1775" y="2404"/>
              <a:ext cx="1479" cy="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privateAttribute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1775" y="2592"/>
              <a:ext cx="1691" cy="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# protectedAttribute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1775" y="2967"/>
              <a:ext cx="1095" cy="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+publicOp()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1775" y="3155"/>
              <a:ext cx="1363" cy="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# protectedOp()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1775" y="3347"/>
              <a:ext cx="1151" cy="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privateOp()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9" name="Google Shape;169;p5"/>
          <p:cNvGrpSpPr/>
          <p:nvPr/>
        </p:nvGrpSpPr>
        <p:grpSpPr>
          <a:xfrm>
            <a:off x="2667000" y="1543050"/>
            <a:ext cx="3124200" cy="1846660"/>
            <a:chOff x="1472" y="2289"/>
            <a:chExt cx="2800" cy="1551"/>
          </a:xfrm>
        </p:grpSpPr>
        <p:sp>
          <p:nvSpPr>
            <p:cNvPr id="170" name="Google Shape;170;p5"/>
            <p:cNvSpPr/>
            <p:nvPr/>
          </p:nvSpPr>
          <p:spPr>
            <a:xfrm>
              <a:off x="1484" y="2289"/>
              <a:ext cx="2782" cy="155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1" name="Google Shape;171;p5"/>
            <p:cNvCxnSpPr/>
            <p:nvPr/>
          </p:nvCxnSpPr>
          <p:spPr>
            <a:xfrm>
              <a:off x="1472" y="2640"/>
              <a:ext cx="279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5"/>
            <p:cNvCxnSpPr/>
            <p:nvPr/>
          </p:nvCxnSpPr>
          <p:spPr>
            <a:xfrm>
              <a:off x="1478" y="3221"/>
              <a:ext cx="279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3" name="Google Shape;173;p5"/>
            <p:cNvSpPr/>
            <p:nvPr/>
          </p:nvSpPr>
          <p:spPr>
            <a:xfrm>
              <a:off x="2585" y="2298"/>
              <a:ext cx="65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</a:t>
              </a:r>
              <a:endParaRPr b="1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532" y="2640"/>
              <a:ext cx="2377" cy="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</a:t>
              </a:r>
              <a:r>
                <a:rPr b="0" i="0" lang="en-US" sz="1900" u="sng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classifierScopeAttribute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532" y="3221"/>
              <a:ext cx="2480" cy="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sng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classifierScopeOperation</a:t>
              </a: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532" y="2880"/>
              <a:ext cx="2305" cy="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instanceScopeAttribute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1532" y="3461"/>
              <a:ext cx="2407" cy="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instanceScopeOperation()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5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Scope</a:t>
            </a:r>
            <a:endParaRPr/>
          </a:p>
        </p:txBody>
      </p:sp>
      <p:sp>
        <p:nvSpPr>
          <p:cNvPr id="179" name="Google Shape;179;p5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</a:pPr>
            <a:r>
              <a:rPr lang="en-US" sz="1800"/>
              <a:t>Number of instances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Example</a:t>
            </a:r>
            <a:endParaRPr/>
          </a:p>
        </p:txBody>
      </p:sp>
      <p:sp>
        <p:nvSpPr>
          <p:cNvPr id="186" name="Google Shape;186;p6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1143000" y="1314450"/>
            <a:ext cx="6600825" cy="2434828"/>
            <a:chOff x="1060" y="768"/>
            <a:chExt cx="4158" cy="2237"/>
          </a:xfrm>
        </p:grpSpPr>
        <p:sp>
          <p:nvSpPr>
            <p:cNvPr id="188" name="Google Shape;188;p6"/>
            <p:cNvSpPr/>
            <p:nvPr/>
          </p:nvSpPr>
          <p:spPr>
            <a:xfrm>
              <a:off x="1060" y="768"/>
              <a:ext cx="4158" cy="2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2896" y="970"/>
              <a:ext cx="416" cy="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Student</a:t>
              </a:r>
              <a:endParaRPr b="0" i="0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1060" y="1133"/>
              <a:ext cx="4158" cy="1872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1060" y="1941"/>
              <a:ext cx="4158" cy="1064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1092" y="1181"/>
              <a:ext cx="373" cy="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name</a:t>
              </a:r>
              <a:endParaRPr b="0" i="0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1092" y="1358"/>
              <a:ext cx="486" cy="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address</a:t>
              </a:r>
              <a:endParaRPr b="0" i="0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1092" y="1698"/>
              <a:ext cx="1008" cy="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</a:t>
              </a:r>
              <a:r>
                <a:rPr b="0" i="0" lang="en-US" sz="1700" u="sng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nextAvailID : int</a:t>
              </a:r>
              <a:endParaRPr b="0" i="0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1092" y="2053"/>
              <a:ext cx="3491" cy="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addSchedule(theSchedule : Schedule, forSemester : Semester)</a:t>
              </a:r>
              <a:endParaRPr b="0" i="0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1092" y="2231"/>
              <a:ext cx="2729" cy="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getSchedule(forSemester : Semester) : Schedule</a:t>
              </a:r>
              <a:endParaRPr b="0" i="0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1092" y="2407"/>
              <a:ext cx="3588" cy="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hasPrerequisites(forCourseOffering : CourseOffering) : boolean</a:t>
              </a:r>
              <a:endParaRPr b="0" i="0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1092" y="2584"/>
              <a:ext cx="3066" cy="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# passed(theCourseOffering : CourseOffering) : boolean</a:t>
              </a:r>
              <a:endParaRPr b="0" i="0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1092" y="2762"/>
              <a:ext cx="1326" cy="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</a:t>
              </a:r>
              <a:r>
                <a:rPr b="0" i="0" lang="en-US" sz="1700" u="sng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getNextAvailID() : int</a:t>
              </a:r>
              <a:endParaRPr b="0" i="0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2799" y="793"/>
              <a:ext cx="1" cy="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1092" y="1535"/>
              <a:ext cx="615" cy="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studentID</a:t>
              </a:r>
              <a:endParaRPr b="0" i="0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Hints</a:t>
            </a:r>
            <a:endParaRPr/>
          </a:p>
        </p:txBody>
      </p:sp>
      <p:sp>
        <p:nvSpPr>
          <p:cNvPr id="207" name="Google Shape;207;p7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8" name="Google Shape;208;p7"/>
          <p:cNvGrpSpPr/>
          <p:nvPr/>
        </p:nvGrpSpPr>
        <p:grpSpPr>
          <a:xfrm>
            <a:off x="1219200" y="1600200"/>
            <a:ext cx="2209800" cy="1371600"/>
            <a:chOff x="624" y="1872"/>
            <a:chExt cx="1104" cy="1152"/>
          </a:xfrm>
        </p:grpSpPr>
        <p:sp>
          <p:nvSpPr>
            <p:cNvPr id="209" name="Google Shape;209;p7"/>
            <p:cNvSpPr/>
            <p:nvPr/>
          </p:nvSpPr>
          <p:spPr>
            <a:xfrm>
              <a:off x="624" y="1872"/>
              <a:ext cx="1104" cy="384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Class name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624" y="2640"/>
              <a:ext cx="1104" cy="384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Methods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624" y="2256"/>
              <a:ext cx="1104" cy="384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Attributes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7"/>
          <p:cNvSpPr/>
          <p:nvPr/>
        </p:nvSpPr>
        <p:spPr>
          <a:xfrm>
            <a:off x="4343400" y="1028700"/>
            <a:ext cx="4800600" cy="800100"/>
          </a:xfrm>
          <a:prstGeom prst="wedgeRoundRectCallout">
            <a:avLst>
              <a:gd fmla="val -72852" name="adj1"/>
              <a:gd fmla="val 50894" name="adj2"/>
              <a:gd fmla="val 16667" name="adj3"/>
            </a:avLst>
          </a:prstGeom>
          <a:gradFill>
            <a:gsLst>
              <a:gs pos="0">
                <a:schemeClr val="accent1"/>
              </a:gs>
              <a:gs pos="100000">
                <a:srgbClr val="224894"/>
              </a:gs>
            </a:gsLst>
            <a:lin ang="5400000" scaled="0"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Regular: regular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Italic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abstract class/Interface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Underlined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object (not a class)</a:t>
            </a:r>
            <a:endParaRPr b="0" i="0" sz="1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343400" y="2000250"/>
            <a:ext cx="4800600" cy="800100"/>
          </a:xfrm>
          <a:prstGeom prst="wedgeRoundRectCallout">
            <a:avLst>
              <a:gd fmla="val -75264" name="adj1"/>
              <a:gd fmla="val -6995" name="adj2"/>
              <a:gd fmla="val 16667" name="adj3"/>
            </a:avLst>
          </a:prstGeom>
          <a:gradFill>
            <a:gsLst>
              <a:gs pos="0">
                <a:srgbClr val="FF0303"/>
              </a:gs>
              <a:gs pos="100000">
                <a:srgbClr val="B30202"/>
              </a:gs>
            </a:gsLst>
            <a:lin ang="5400000" scaled="0"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Regular: regular attribute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Italic</a:t>
            </a:r>
            <a:r>
              <a:rPr b="0" i="0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: not applicable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Underlinedi</a:t>
            </a:r>
            <a:r>
              <a:rPr b="0" i="0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: static attribute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419600" y="2914650"/>
            <a:ext cx="4724400" cy="800100"/>
          </a:xfrm>
          <a:prstGeom prst="wedgeRoundRectCallout">
            <a:avLst>
              <a:gd fmla="val -75569" name="adj1"/>
              <a:gd fmla="val -73662" name="adj2"/>
              <a:gd fmla="val 16667" name="adj3"/>
            </a:avLst>
          </a:prstGeom>
          <a:gradFill>
            <a:gsLst>
              <a:gs pos="0">
                <a:srgbClr val="008000"/>
              </a:gs>
              <a:gs pos="100000">
                <a:srgbClr val="005A00"/>
              </a:gs>
            </a:gsLst>
            <a:lin ang="5400000" scaled="0"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Regular: regular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Italic</a:t>
            </a:r>
            <a:r>
              <a:rPr b="0" i="0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: virtual/override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Underlinedi</a:t>
            </a:r>
            <a:r>
              <a:rPr b="0" i="0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: static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Example</a:t>
            </a:r>
            <a:endParaRPr/>
          </a:p>
        </p:txBody>
      </p:sp>
      <p:sp>
        <p:nvSpPr>
          <p:cNvPr id="220" name="Google Shape;220;p8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21" name="Google Shape;221;p8"/>
          <p:cNvGraphicFramePr/>
          <p:nvPr/>
        </p:nvGraphicFramePr>
        <p:xfrm>
          <a:off x="685800" y="571500"/>
          <a:ext cx="5848351" cy="4471987"/>
        </p:xfrm>
        <a:graphic>
          <a:graphicData uri="http://schemas.openxmlformats.org/presentationml/2006/ole">
            <mc:AlternateContent>
              <mc:Choice Requires="v">
                <p:oleObj r:id="rId4" imgH="4471987" imgW="5848351" progId="Visio.Drawing.11" spid="_x0000_s1">
                  <p:embed/>
                </p:oleObj>
              </mc:Choice>
              <mc:Fallback>
                <p:oleObj r:id="rId5" imgH="4471987" imgW="5848351" progId="Visio.Drawing.11">
                  <p:embed/>
                  <p:pic>
                    <p:nvPicPr>
                      <p:cNvPr id="221" name="Google Shape;221;p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5800" y="571500"/>
                        <a:ext cx="5848351" cy="447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9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Relationships between classes</a:t>
            </a:r>
            <a:endParaRPr/>
          </a:p>
        </p:txBody>
      </p:sp>
      <p:sp>
        <p:nvSpPr>
          <p:cNvPr id="228" name="Google Shape;228;p9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Generalization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chemeClr val="accent1"/>
                </a:solidFill>
              </a:rPr>
              <a:t>ClassB</a:t>
            </a:r>
            <a:r>
              <a:rPr lang="en-US" sz="2000"/>
              <a:t> inherits </a:t>
            </a:r>
            <a:r>
              <a:rPr lang="en-US" sz="2000">
                <a:solidFill>
                  <a:srgbClr val="F48D10"/>
                </a:solidFill>
              </a:rPr>
              <a:t>ClassA</a:t>
            </a:r>
            <a:endParaRPr sz="2000">
              <a:solidFill>
                <a:srgbClr val="F48D1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chemeClr val="accent1"/>
                </a:solidFill>
              </a:rPr>
              <a:t>ClassB</a:t>
            </a:r>
            <a:r>
              <a:rPr lang="en-US" sz="2000"/>
              <a:t> is a special case of </a:t>
            </a:r>
            <a:r>
              <a:rPr lang="en-US" sz="2000">
                <a:solidFill>
                  <a:srgbClr val="F48D10"/>
                </a:solidFill>
              </a:rPr>
              <a:t>ClassA</a:t>
            </a:r>
            <a:endParaRPr sz="2000">
              <a:solidFill>
                <a:srgbClr val="F48D1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rgbClr val="F48D10"/>
                </a:solidFill>
              </a:rPr>
              <a:t>ClassA</a:t>
            </a:r>
            <a:r>
              <a:rPr lang="en-US" sz="2000"/>
              <a:t> is a general case of </a:t>
            </a:r>
            <a:r>
              <a:rPr lang="en-US" sz="2000">
                <a:solidFill>
                  <a:schemeClr val="accent1"/>
                </a:solidFill>
              </a:rPr>
              <a:t>ClassB</a:t>
            </a:r>
            <a:endParaRPr sz="2000">
              <a:solidFill>
                <a:schemeClr val="accent1"/>
              </a:solidFill>
            </a:endParaRPr>
          </a:p>
        </p:txBody>
      </p:sp>
      <p:graphicFrame>
        <p:nvGraphicFramePr>
          <p:cNvPr id="229" name="Google Shape;229;p9"/>
          <p:cNvGraphicFramePr/>
          <p:nvPr/>
        </p:nvGraphicFramePr>
        <p:xfrm>
          <a:off x="4564062" y="1388269"/>
          <a:ext cx="1891904" cy="1583530"/>
        </p:xfrm>
        <a:graphic>
          <a:graphicData uri="http://schemas.openxmlformats.org/presentationml/2006/ole">
            <mc:AlternateContent>
              <mc:Choice Requires="v">
                <p:oleObj r:id="rId4" imgH="1583530" imgW="1891904" progId="Visio.Drawing.11" spid="_x0000_s1">
                  <p:embed/>
                </p:oleObj>
              </mc:Choice>
              <mc:Fallback>
                <p:oleObj r:id="rId5" imgH="1583530" imgW="1891904" progId="Visio.Drawing.11">
                  <p:embed/>
                  <p:pic>
                    <p:nvPicPr>
                      <p:cNvPr id="229" name="Google Shape;229;p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564062" y="1388269"/>
                        <a:ext cx="1891904" cy="1583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10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Relationships between classes</a:t>
            </a:r>
            <a:endParaRPr/>
          </a:p>
        </p:txBody>
      </p:sp>
      <p:sp>
        <p:nvSpPr>
          <p:cNvPr id="236" name="Google Shape;236;p10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Association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There is an attribute of </a:t>
            </a:r>
            <a:r>
              <a:rPr lang="en-US" sz="2000">
                <a:solidFill>
                  <a:schemeClr val="accent1"/>
                </a:solidFill>
              </a:rPr>
              <a:t>ClassB  </a:t>
            </a:r>
            <a:r>
              <a:rPr lang="en-US" sz="2000"/>
              <a:t>in </a:t>
            </a:r>
            <a:r>
              <a:rPr lang="en-US" sz="2000">
                <a:solidFill>
                  <a:srgbClr val="F48D10"/>
                </a:solidFill>
              </a:rPr>
              <a:t>ClassA</a:t>
            </a:r>
            <a:endParaRPr sz="2000">
              <a:solidFill>
                <a:schemeClr val="accent1"/>
              </a:solidFill>
            </a:endParaRPr>
          </a:p>
          <a:p>
            <a:pPr indent="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</a:pPr>
            <a:r>
              <a:rPr lang="en-US" sz="2000"/>
              <a:t>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There is an attribute of </a:t>
            </a:r>
            <a:r>
              <a:rPr lang="en-US" sz="2000">
                <a:solidFill>
                  <a:srgbClr val="F48D10"/>
                </a:solidFill>
              </a:rPr>
              <a:t>ClassA </a:t>
            </a:r>
            <a:r>
              <a:rPr lang="en-US" sz="2000"/>
              <a:t>in </a:t>
            </a:r>
            <a:r>
              <a:rPr lang="en-US" sz="2000">
                <a:solidFill>
                  <a:schemeClr val="accent1"/>
                </a:solidFill>
              </a:rPr>
              <a:t>ClassB</a:t>
            </a:r>
            <a:endParaRPr sz="2000"/>
          </a:p>
          <a:p>
            <a:pPr indent="-2222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2000"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The attribute can be represented as a single variable, an array, a pointer, etc</a:t>
            </a:r>
            <a:endParaRPr sz="2000">
              <a:solidFill>
                <a:schemeClr val="accent1"/>
              </a:solidFill>
            </a:endParaRPr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Example:?</a:t>
            </a:r>
            <a:endParaRPr/>
          </a:p>
          <a:p>
            <a:pPr indent="-2222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2000"/>
          </a:p>
        </p:txBody>
      </p:sp>
      <p:graphicFrame>
        <p:nvGraphicFramePr>
          <p:cNvPr id="237" name="Google Shape;237;p10"/>
          <p:cNvGraphicFramePr/>
          <p:nvPr/>
        </p:nvGraphicFramePr>
        <p:xfrm>
          <a:off x="1143000" y="1604963"/>
          <a:ext cx="5175648" cy="452438"/>
        </p:xfrm>
        <a:graphic>
          <a:graphicData uri="http://schemas.openxmlformats.org/presentationml/2006/ole">
            <mc:AlternateContent>
              <mc:Choice Requires="v">
                <p:oleObj r:id="rId4" imgH="452438" imgW="5175648" progId="Visio.Drawing.11" spid="_x0000_s1">
                  <p:embed/>
                </p:oleObj>
              </mc:Choice>
              <mc:Fallback>
                <p:oleObj r:id="rId5" imgH="452438" imgW="5175648" progId="Visio.Drawing.11">
                  <p:embed/>
                  <p:pic>
                    <p:nvPicPr>
                      <p:cNvPr id="237" name="Google Shape;237;p1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143000" y="1604963"/>
                        <a:ext cx="5175648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11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Relationships between classes</a:t>
            </a:r>
            <a:endParaRPr sz="2400"/>
          </a:p>
        </p:txBody>
      </p:sp>
      <p:sp>
        <p:nvSpPr>
          <p:cNvPr id="244" name="Google Shape;244;p11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Aggregation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There is an association relationship between </a:t>
            </a:r>
            <a:r>
              <a:rPr lang="en-US" sz="2000">
                <a:solidFill>
                  <a:srgbClr val="F48D10"/>
                </a:solidFill>
              </a:rPr>
              <a:t>ClassA</a:t>
            </a:r>
            <a:r>
              <a:rPr lang="en-US" sz="2000"/>
              <a:t> and </a:t>
            </a:r>
            <a:r>
              <a:rPr lang="en-US" sz="2000">
                <a:solidFill>
                  <a:schemeClr val="accent1"/>
                </a:solidFill>
              </a:rPr>
              <a:t>ClassB</a:t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More details?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chemeClr val="accent1"/>
                </a:solidFill>
              </a:rPr>
              <a:t>ClassB</a:t>
            </a:r>
            <a:r>
              <a:rPr lang="en-US" sz="2000"/>
              <a:t> is a part of </a:t>
            </a:r>
            <a:r>
              <a:rPr lang="en-US" sz="2000">
                <a:solidFill>
                  <a:srgbClr val="F48D10"/>
                </a:solidFill>
              </a:rPr>
              <a:t>ClassA</a:t>
            </a:r>
            <a:endParaRPr sz="2000">
              <a:solidFill>
                <a:schemeClr val="accent1"/>
              </a:solidFill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rgbClr val="FF0303"/>
                </a:solidFill>
              </a:rPr>
              <a:t>ObjectX</a:t>
            </a:r>
            <a:r>
              <a:rPr lang="en-US" sz="2000"/>
              <a:t> of </a:t>
            </a:r>
            <a:r>
              <a:rPr lang="en-US" sz="2000">
                <a:solidFill>
                  <a:srgbClr val="F48D10"/>
                </a:solidFill>
              </a:rPr>
              <a:t>ClassA</a:t>
            </a:r>
            <a:r>
              <a:rPr lang="en-US" sz="2000"/>
              <a:t> is destroyed then </a:t>
            </a:r>
            <a:r>
              <a:rPr lang="en-US" sz="2000">
                <a:solidFill>
                  <a:srgbClr val="008000"/>
                </a:solidFill>
              </a:rPr>
              <a:t>ObjectY</a:t>
            </a:r>
            <a:r>
              <a:rPr lang="en-US" sz="2000"/>
              <a:t> of </a:t>
            </a:r>
            <a:r>
              <a:rPr lang="en-US" sz="2000">
                <a:solidFill>
                  <a:schemeClr val="accent1"/>
                </a:solidFill>
              </a:rPr>
              <a:t>ClassB </a:t>
            </a:r>
            <a:r>
              <a:rPr lang="en-US" sz="2000"/>
              <a:t>(belongs to </a:t>
            </a:r>
            <a:r>
              <a:rPr lang="en-US" sz="2000">
                <a:solidFill>
                  <a:srgbClr val="FF0303"/>
                </a:solidFill>
              </a:rPr>
              <a:t>ObjectX</a:t>
            </a:r>
            <a:r>
              <a:rPr lang="en-US" sz="2000"/>
              <a:t>) </a:t>
            </a:r>
            <a:r>
              <a:rPr lang="en-US" sz="2000" u="sng"/>
              <a:t>may have a chance to “survive”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Example:?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chemeClr val="accent1"/>
              </a:solidFill>
            </a:endParaRPr>
          </a:p>
        </p:txBody>
      </p:sp>
      <p:graphicFrame>
        <p:nvGraphicFramePr>
          <p:cNvPr id="245" name="Google Shape;245;p11"/>
          <p:cNvGraphicFramePr/>
          <p:nvPr/>
        </p:nvGraphicFramePr>
        <p:xfrm>
          <a:off x="1752600" y="1604962"/>
          <a:ext cx="4764885" cy="452437"/>
        </p:xfrm>
        <a:graphic>
          <a:graphicData uri="http://schemas.openxmlformats.org/presentationml/2006/ole">
            <mc:AlternateContent>
              <mc:Choice Requires="v">
                <p:oleObj r:id="rId4" imgH="452437" imgW="4764885" progId="Visio.Drawing.11" spid="_x0000_s1">
                  <p:embed/>
                </p:oleObj>
              </mc:Choice>
              <mc:Fallback>
                <p:oleObj r:id="rId5" imgH="452437" imgW="4764885" progId="Visio.Drawing.11">
                  <p:embed/>
                  <p:pic>
                    <p:nvPicPr>
                      <p:cNvPr id="245" name="Google Shape;245;p1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752600" y="1604962"/>
                        <a:ext cx="476488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12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Relationships between classes</a:t>
            </a:r>
            <a:endParaRPr sz="2400"/>
          </a:p>
        </p:txBody>
      </p:sp>
      <p:sp>
        <p:nvSpPr>
          <p:cNvPr id="252" name="Google Shape;252;p12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Composition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There is an association relationship between </a:t>
            </a:r>
            <a:r>
              <a:rPr lang="en-US" sz="2000">
                <a:solidFill>
                  <a:srgbClr val="F48D10"/>
                </a:solidFill>
              </a:rPr>
              <a:t>ClassA</a:t>
            </a:r>
            <a:r>
              <a:rPr lang="en-US" sz="2000"/>
              <a:t> and </a:t>
            </a:r>
            <a:r>
              <a:rPr lang="en-US" sz="2000">
                <a:solidFill>
                  <a:schemeClr val="accent1"/>
                </a:solidFill>
              </a:rPr>
              <a:t>ClassB</a:t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More details?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chemeClr val="accent1"/>
                </a:solidFill>
              </a:rPr>
              <a:t>ClassB</a:t>
            </a:r>
            <a:r>
              <a:rPr lang="en-US" sz="2000"/>
              <a:t> is a part of </a:t>
            </a:r>
            <a:r>
              <a:rPr lang="en-US" sz="2000">
                <a:solidFill>
                  <a:srgbClr val="F48D10"/>
                </a:solidFill>
              </a:rPr>
              <a:t>ClassA</a:t>
            </a:r>
            <a:endParaRPr sz="2000">
              <a:solidFill>
                <a:schemeClr val="accent1"/>
              </a:solidFill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rgbClr val="FF0303"/>
                </a:solidFill>
              </a:rPr>
              <a:t>ObjectX</a:t>
            </a:r>
            <a:r>
              <a:rPr lang="en-US" sz="2000"/>
              <a:t> of </a:t>
            </a:r>
            <a:r>
              <a:rPr lang="en-US" sz="2000">
                <a:solidFill>
                  <a:srgbClr val="F48D10"/>
                </a:solidFill>
              </a:rPr>
              <a:t>ClassA</a:t>
            </a:r>
            <a:r>
              <a:rPr lang="en-US" sz="2000"/>
              <a:t> is destroyed then </a:t>
            </a:r>
            <a:r>
              <a:rPr lang="en-US" sz="2000">
                <a:solidFill>
                  <a:srgbClr val="008000"/>
                </a:solidFill>
              </a:rPr>
              <a:t>ObjectY</a:t>
            </a:r>
            <a:r>
              <a:rPr lang="en-US" sz="2000"/>
              <a:t> of </a:t>
            </a:r>
            <a:r>
              <a:rPr lang="en-US" sz="2000">
                <a:solidFill>
                  <a:schemeClr val="accent1"/>
                </a:solidFill>
              </a:rPr>
              <a:t>ClassB </a:t>
            </a:r>
            <a:r>
              <a:rPr lang="en-US" sz="2000"/>
              <a:t>(belongs to </a:t>
            </a:r>
            <a:r>
              <a:rPr lang="en-US" sz="2000">
                <a:solidFill>
                  <a:srgbClr val="FF0303"/>
                </a:solidFill>
              </a:rPr>
              <a:t>ObjectX</a:t>
            </a:r>
            <a:r>
              <a:rPr lang="en-US" sz="2000"/>
              <a:t>) </a:t>
            </a:r>
            <a:r>
              <a:rPr lang="en-US" sz="2000" u="sng"/>
              <a:t>must be destroyed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Example:?</a:t>
            </a:r>
            <a:endParaRPr sz="2000">
              <a:solidFill>
                <a:schemeClr val="accent1"/>
              </a:solidFill>
            </a:endParaRPr>
          </a:p>
        </p:txBody>
      </p:sp>
      <p:graphicFrame>
        <p:nvGraphicFramePr>
          <p:cNvPr id="253" name="Google Shape;253;p12"/>
          <p:cNvGraphicFramePr/>
          <p:nvPr/>
        </p:nvGraphicFramePr>
        <p:xfrm>
          <a:off x="1752600" y="1604962"/>
          <a:ext cx="4764885" cy="452437"/>
        </p:xfrm>
        <a:graphic>
          <a:graphicData uri="http://schemas.openxmlformats.org/presentationml/2006/ole">
            <mc:AlternateContent>
              <mc:Choice Requires="v">
                <p:oleObj r:id="rId4" imgH="452437" imgW="4764885" progId="Visio.Drawing.11" spid="_x0000_s1">
                  <p:embed/>
                </p:oleObj>
              </mc:Choice>
              <mc:Fallback>
                <p:oleObj r:id="rId5" imgH="452437" imgW="4764885" progId="Visio.Drawing.11">
                  <p:embed/>
                  <p:pic>
                    <p:nvPicPr>
                      <p:cNvPr id="253" name="Google Shape;253;p1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752600" y="1604962"/>
                        <a:ext cx="476488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" name="Google Shape;254;p12"/>
          <p:cNvSpPr/>
          <p:nvPr/>
        </p:nvSpPr>
        <p:spPr>
          <a:xfrm>
            <a:off x="4267200" y="1771650"/>
            <a:ext cx="304800" cy="114300"/>
          </a:xfrm>
          <a:prstGeom prst="diamond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13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Relationships between classes</a:t>
            </a:r>
            <a:endParaRPr sz="2400"/>
          </a:p>
        </p:txBody>
      </p:sp>
      <p:sp>
        <p:nvSpPr>
          <p:cNvPr id="261" name="Google Shape;261;p13"/>
          <p:cNvSpPr txBox="1"/>
          <p:nvPr>
            <p:ph idx="1" type="body"/>
          </p:nvPr>
        </p:nvSpPr>
        <p:spPr>
          <a:xfrm>
            <a:off x="457200" y="1028700"/>
            <a:ext cx="86868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Direction  of a relationship (Association, Aggregation, Composition)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Uni-directional relationship : </a:t>
            </a:r>
            <a:r>
              <a:rPr lang="en-US" sz="2000" u="sng">
                <a:solidFill>
                  <a:srgbClr val="FF0303"/>
                </a:solidFill>
              </a:rPr>
              <a:t>most of </a:t>
            </a:r>
            <a:r>
              <a:rPr lang="en-US" sz="2000"/>
              <a:t>the function calls between objects of ClassA and Class B follow the direction of the relationship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Undirectional relationship: there is no arrow head of the relationship</a:t>
            </a:r>
            <a:endParaRPr/>
          </a:p>
        </p:txBody>
      </p:sp>
      <p:graphicFrame>
        <p:nvGraphicFramePr>
          <p:cNvPr id="262" name="Google Shape;262;p13"/>
          <p:cNvGraphicFramePr/>
          <p:nvPr/>
        </p:nvGraphicFramePr>
        <p:xfrm>
          <a:off x="1752600" y="1485900"/>
          <a:ext cx="4764885" cy="452437"/>
        </p:xfrm>
        <a:graphic>
          <a:graphicData uri="http://schemas.openxmlformats.org/presentationml/2006/ole">
            <mc:AlternateContent>
              <mc:Choice Requires="v">
                <p:oleObj r:id="rId4" imgH="452437" imgW="4764885" progId="Visio.Drawing.11" spid="_x0000_s1">
                  <p:embed/>
                </p:oleObj>
              </mc:Choice>
              <mc:Fallback>
                <p:oleObj r:id="rId5" imgH="452437" imgW="4764885" progId="Visio.Drawing.11">
                  <p:embed/>
                  <p:pic>
                    <p:nvPicPr>
                      <p:cNvPr id="262" name="Google Shape;262;p1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752600" y="1485900"/>
                        <a:ext cx="476488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14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Relationships between classes</a:t>
            </a:r>
            <a:endParaRPr sz="2400"/>
          </a:p>
        </p:txBody>
      </p:sp>
      <p:sp>
        <p:nvSpPr>
          <p:cNvPr id="269" name="Google Shape;269;p14"/>
          <p:cNvSpPr txBox="1"/>
          <p:nvPr>
            <p:ph idx="1" type="body"/>
          </p:nvPr>
        </p:nvSpPr>
        <p:spPr>
          <a:xfrm>
            <a:off x="457200" y="1028700"/>
            <a:ext cx="86868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Multiplicity (Association, Aggregation, Composition)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Semantic?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Example: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1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1..*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0..*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*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1, 3, 5..9</a:t>
            </a:r>
            <a:endParaRPr/>
          </a:p>
        </p:txBody>
      </p:sp>
      <p:graphicFrame>
        <p:nvGraphicFramePr>
          <p:cNvPr id="270" name="Google Shape;270;p14"/>
          <p:cNvGraphicFramePr/>
          <p:nvPr/>
        </p:nvGraphicFramePr>
        <p:xfrm>
          <a:off x="1858963" y="1257300"/>
          <a:ext cx="4777980" cy="541734"/>
        </p:xfrm>
        <a:graphic>
          <a:graphicData uri="http://schemas.openxmlformats.org/presentationml/2006/ole">
            <mc:AlternateContent>
              <mc:Choice Requires="v">
                <p:oleObj r:id="rId4" imgH="541734" imgW="4777980" progId="Visio.Drawing.11" spid="_x0000_s1">
                  <p:embed/>
                </p:oleObj>
              </mc:Choice>
              <mc:Fallback>
                <p:oleObj r:id="rId5" imgH="541734" imgW="4777980" progId="Visio.Drawing.11">
                  <p:embed/>
                  <p:pic>
                    <p:nvPicPr>
                      <p:cNvPr id="270" name="Google Shape;270;p1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858963" y="1257300"/>
                        <a:ext cx="4777980" cy="541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15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Relationships between classes</a:t>
            </a:r>
            <a:endParaRPr sz="2400"/>
          </a:p>
        </p:txBody>
      </p:sp>
      <p:sp>
        <p:nvSpPr>
          <p:cNvPr id="277" name="Google Shape;277;p15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Dependency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There is no association relationship between ClassA and ClassB</a:t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ClassA “depends” on ClassB</a:t>
            </a:r>
            <a:endParaRPr sz="2000"/>
          </a:p>
        </p:txBody>
      </p:sp>
      <p:graphicFrame>
        <p:nvGraphicFramePr>
          <p:cNvPr id="278" name="Google Shape;278;p15"/>
          <p:cNvGraphicFramePr/>
          <p:nvPr/>
        </p:nvGraphicFramePr>
        <p:xfrm>
          <a:off x="1752600" y="1657350"/>
          <a:ext cx="4764885" cy="452437"/>
        </p:xfrm>
        <a:graphic>
          <a:graphicData uri="http://schemas.openxmlformats.org/presentationml/2006/ole">
            <mc:AlternateContent>
              <mc:Choice Requires="v">
                <p:oleObj r:id="rId4" imgH="452437" imgW="4764885" progId="Visio.Drawing.11" spid="_x0000_s1">
                  <p:embed/>
                </p:oleObj>
              </mc:Choice>
              <mc:Fallback>
                <p:oleObj r:id="rId5" imgH="452437" imgW="4764885" progId="Visio.Drawing.11">
                  <p:embed/>
                  <p:pic>
                    <p:nvPicPr>
                      <p:cNvPr id="278" name="Google Shape;278;p1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752600" y="1657350"/>
                        <a:ext cx="476488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" name="Google Shape;279;p15"/>
          <p:cNvSpPr txBox="1"/>
          <p:nvPr/>
        </p:nvSpPr>
        <p:spPr>
          <a:xfrm>
            <a:off x="381000" y="3314700"/>
            <a:ext cx="1905000" cy="203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void    F(B   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5"/>
          <p:cNvSpPr txBox="1"/>
          <p:nvPr/>
        </p:nvSpPr>
        <p:spPr>
          <a:xfrm>
            <a:off x="2514600" y="3314700"/>
            <a:ext cx="1905000" cy="203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B    F()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4648200" y="3314700"/>
            <a:ext cx="1905000" cy="203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void    F()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B   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5"/>
          <p:cNvSpPr txBox="1"/>
          <p:nvPr/>
        </p:nvSpPr>
        <p:spPr>
          <a:xfrm>
            <a:off x="6781800" y="3338513"/>
            <a:ext cx="1905000" cy="831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303"/>
                </a:solidFill>
                <a:latin typeface="Arial"/>
                <a:ea typeface="Arial"/>
                <a:cs typeface="Arial"/>
                <a:sym typeface="Arial"/>
              </a:rPr>
              <a:t>Global 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303"/>
                </a:solidFill>
                <a:latin typeface="Arial"/>
                <a:ea typeface="Arial"/>
                <a:cs typeface="Arial"/>
                <a:sym typeface="Arial"/>
              </a:rPr>
              <a:t>Static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303"/>
                </a:solidFill>
                <a:latin typeface="Arial"/>
                <a:ea typeface="Arial"/>
                <a:cs typeface="Arial"/>
                <a:sym typeface="Arial"/>
              </a:rPr>
              <a:t>Static attribute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5"/>
          <p:cNvSpPr txBox="1"/>
          <p:nvPr/>
        </p:nvSpPr>
        <p:spPr>
          <a:xfrm>
            <a:off x="228600" y="3039666"/>
            <a:ext cx="181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303"/>
                </a:solidFill>
                <a:latin typeface="Arial"/>
                <a:ea typeface="Arial"/>
                <a:cs typeface="Arial"/>
                <a:sym typeface="Arial"/>
              </a:rPr>
              <a:t>Input parameter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5"/>
          <p:cNvSpPr txBox="1"/>
          <p:nvPr/>
        </p:nvSpPr>
        <p:spPr>
          <a:xfrm>
            <a:off x="2667000" y="3039666"/>
            <a:ext cx="17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303"/>
                </a:solidFill>
                <a:latin typeface="Arial"/>
                <a:ea typeface="Arial"/>
                <a:cs typeface="Arial"/>
                <a:sym typeface="Arial"/>
              </a:rPr>
              <a:t>Returned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4870450" y="3039666"/>
            <a:ext cx="16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303"/>
                </a:solidFill>
                <a:latin typeface="Arial"/>
                <a:ea typeface="Arial"/>
                <a:cs typeface="Arial"/>
                <a:sym typeface="Arial"/>
              </a:rPr>
              <a:t>Local 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 txBox="1"/>
          <p:nvPr>
            <p:ph type="ctrTitle"/>
          </p:nvPr>
        </p:nvSpPr>
        <p:spPr>
          <a:xfrm>
            <a:off x="457200" y="1943100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(Analysis) Class Diagram</a:t>
            </a:r>
            <a:endParaRPr/>
          </a:p>
        </p:txBody>
      </p:sp>
      <p:sp>
        <p:nvSpPr>
          <p:cNvPr id="291" name="Google Shape;291;p16"/>
          <p:cNvSpPr txBox="1"/>
          <p:nvPr>
            <p:ph idx="1" type="subTitle"/>
          </p:nvPr>
        </p:nvSpPr>
        <p:spPr>
          <a:xfrm>
            <a:off x="1828800" y="2800350"/>
            <a:ext cx="586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92" name="Google Shape;292;p16"/>
          <p:cNvSpPr txBox="1"/>
          <p:nvPr>
            <p:ph idx="12" type="sldNum"/>
          </p:nvPr>
        </p:nvSpPr>
        <p:spPr>
          <a:xfrm>
            <a:off x="6553200" y="4902994"/>
            <a:ext cx="2133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7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List of class candidates</a:t>
            </a:r>
            <a:endParaRPr/>
          </a:p>
        </p:txBody>
      </p:sp>
      <p:sp>
        <p:nvSpPr>
          <p:cNvPr id="299" name="Google Shape;299;p17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303"/>
              </a:buClr>
              <a:buSzPts val="2000"/>
              <a:buChar char="❖"/>
            </a:pPr>
            <a:r>
              <a:rPr lang="en-US" sz="2000">
                <a:solidFill>
                  <a:srgbClr val="FF0303"/>
                </a:solidFill>
              </a:rPr>
              <a:t>How can we recognize a class (and its name)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chemeClr val="accent1"/>
                </a:solidFill>
              </a:rPr>
              <a:t>Identifier</a:t>
            </a:r>
            <a:endParaRPr sz="2000"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chemeClr val="accent1"/>
                </a:solidFill>
              </a:rPr>
              <a:t>Life cycle</a:t>
            </a:r>
            <a:r>
              <a:rPr lang="en-US" sz="2000"/>
              <a:t>: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chemeClr val="accent1"/>
                </a:solidFill>
              </a:rPr>
              <a:t>Relative independence</a:t>
            </a:r>
            <a:endParaRPr sz="2000"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…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303"/>
              </a:buClr>
              <a:buSzPts val="2000"/>
              <a:buChar char="❖"/>
            </a:pPr>
            <a:r>
              <a:rPr lang="en-US" sz="2000">
                <a:solidFill>
                  <a:srgbClr val="FF0303"/>
                </a:solidFill>
              </a:rPr>
              <a:t>Hints</a:t>
            </a:r>
            <a:r>
              <a:rPr lang="en-US" sz="2000"/>
              <a:t>: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People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Thing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Organization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Place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Time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Concept…</a:t>
            </a:r>
            <a:endParaRPr/>
          </a:p>
          <a:p>
            <a:pPr indent="-190500" lvl="0" marL="34290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❖"/>
            </a:pPr>
            <a:r>
              <a:rPr lang="en-US" sz="2000">
                <a:solidFill>
                  <a:srgbClr val="FF0000"/>
                </a:solidFill>
              </a:rPr>
              <a:t>A class name is usually a noun or a noun phrase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8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List of class candidates</a:t>
            </a:r>
            <a:endParaRPr sz="2400"/>
          </a:p>
        </p:txBody>
      </p:sp>
      <p:sp>
        <p:nvSpPr>
          <p:cNvPr id="306" name="Google Shape;306;p18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List of class candidates</a:t>
            </a:r>
            <a:endParaRPr/>
          </a:p>
        </p:txBody>
      </p:sp>
      <p:sp>
        <p:nvSpPr>
          <p:cNvPr id="307" name="Google Shape;307;p18"/>
          <p:cNvSpPr/>
          <p:nvPr/>
        </p:nvSpPr>
        <p:spPr>
          <a:xfrm>
            <a:off x="2209800" y="1600200"/>
            <a:ext cx="2667000" cy="3429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224894"/>
              </a:gs>
            </a:gsLst>
            <a:lin ang="5400000" scaled="0"/>
          </a:gra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Proposed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381000" y="2286000"/>
            <a:ext cx="2667000" cy="3429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878787"/>
              </a:gs>
            </a:gsLst>
            <a:lin ang="5400000" scaled="0"/>
          </a:gra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 a valid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3657600" y="2286000"/>
            <a:ext cx="2667000" cy="3429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224894"/>
              </a:gs>
            </a:gsLst>
            <a:lin ang="5400000" scaled="0"/>
          </a:gra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valid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5105400" y="3028950"/>
            <a:ext cx="2667000" cy="3429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224894"/>
              </a:gs>
            </a:gsLst>
            <a:lin ang="5400000" scaled="0"/>
          </a:gra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Relevant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2286000" y="3028950"/>
            <a:ext cx="2667000" cy="3429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878787"/>
              </a:gs>
            </a:gsLst>
            <a:lin ang="5400000" scaled="0"/>
          </a:gra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Irrelevant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6400800" y="3714750"/>
            <a:ext cx="2667000" cy="342900"/>
          </a:xfrm>
          <a:prstGeom prst="rect">
            <a:avLst/>
          </a:prstGeom>
          <a:gradFill>
            <a:gsLst>
              <a:gs pos="0">
                <a:srgbClr val="FF0303"/>
              </a:gs>
              <a:gs pos="100000">
                <a:srgbClr val="760101"/>
              </a:gs>
            </a:gsLst>
            <a:lin ang="5400000" scaled="0"/>
          </a:gradFill>
          <a:ln cap="flat" cmpd="sng" w="9525">
            <a:solidFill>
              <a:srgbClr val="FF030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main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3657600" y="3714750"/>
            <a:ext cx="2667000" cy="342900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lin ang="540000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subordinate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18"/>
          <p:cNvCxnSpPr>
            <a:stCxn id="307" idx="2"/>
            <a:endCxn id="308" idx="0"/>
          </p:cNvCxnSpPr>
          <p:nvPr/>
        </p:nvCxnSpPr>
        <p:spPr>
          <a:xfrm flipH="1">
            <a:off x="1714500" y="1943100"/>
            <a:ext cx="1828800" cy="342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p18"/>
          <p:cNvCxnSpPr>
            <a:stCxn id="307" idx="2"/>
            <a:endCxn id="309" idx="0"/>
          </p:cNvCxnSpPr>
          <p:nvPr/>
        </p:nvCxnSpPr>
        <p:spPr>
          <a:xfrm>
            <a:off x="3543300" y="1943100"/>
            <a:ext cx="1447800" cy="342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" name="Google Shape;316;p18"/>
          <p:cNvCxnSpPr>
            <a:stCxn id="309" idx="2"/>
            <a:endCxn id="311" idx="0"/>
          </p:cNvCxnSpPr>
          <p:nvPr/>
        </p:nvCxnSpPr>
        <p:spPr>
          <a:xfrm flipH="1">
            <a:off x="3619500" y="2628900"/>
            <a:ext cx="1371600" cy="400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7" name="Google Shape;317;p18"/>
          <p:cNvCxnSpPr>
            <a:stCxn id="309" idx="2"/>
            <a:endCxn id="310" idx="0"/>
          </p:cNvCxnSpPr>
          <p:nvPr/>
        </p:nvCxnSpPr>
        <p:spPr>
          <a:xfrm>
            <a:off x="4991100" y="2628900"/>
            <a:ext cx="1447800" cy="400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" name="Google Shape;318;p18"/>
          <p:cNvCxnSpPr>
            <a:stCxn id="310" idx="2"/>
            <a:endCxn id="313" idx="0"/>
          </p:cNvCxnSpPr>
          <p:nvPr/>
        </p:nvCxnSpPr>
        <p:spPr>
          <a:xfrm flipH="1">
            <a:off x="4991100" y="3371850"/>
            <a:ext cx="1447800" cy="342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p18"/>
          <p:cNvCxnSpPr>
            <a:stCxn id="310" idx="2"/>
            <a:endCxn id="312" idx="0"/>
          </p:cNvCxnSpPr>
          <p:nvPr/>
        </p:nvCxnSpPr>
        <p:spPr>
          <a:xfrm>
            <a:off x="6438900" y="3371850"/>
            <a:ext cx="1295400" cy="342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9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Example</a:t>
            </a:r>
            <a:endParaRPr/>
          </a:p>
        </p:txBody>
      </p:sp>
      <p:sp>
        <p:nvSpPr>
          <p:cNvPr id="326" name="Google Shape;326;p19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Context: A high school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303"/>
              </a:buClr>
              <a:buSzPts val="2000"/>
              <a:buChar char="❖"/>
            </a:pPr>
            <a:r>
              <a:rPr lang="en-US" sz="2000">
                <a:solidFill>
                  <a:srgbClr val="FF0303"/>
                </a:solidFill>
              </a:rPr>
              <a:t>Class or not a class?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List of class candidates: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Student		Department	Number of periods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Teacher		Board of 	Schedule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Course		Class		Academic transcript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Student’s parent	Room		Semester	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GPA		Academic Year	Type of student	…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0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Example</a:t>
            </a:r>
            <a:endParaRPr/>
          </a:p>
        </p:txBody>
      </p:sp>
      <p:sp>
        <p:nvSpPr>
          <p:cNvPr id="333" name="Google Shape;333;p20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303"/>
              </a:buClr>
              <a:buSzPts val="2000"/>
              <a:buChar char="❖"/>
            </a:pPr>
            <a:r>
              <a:rPr lang="en-US" sz="2000">
                <a:solidFill>
                  <a:srgbClr val="FF0303"/>
                </a:solidFill>
              </a:rPr>
              <a:t>Relavent/irrelavent?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rgbClr val="008000"/>
                </a:solidFill>
              </a:rPr>
              <a:t>Student Management System: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Student, Teacher, Course, Class, Student’s Parent, Semester, Academic Year…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rgbClr val="008000"/>
                </a:solidFill>
              </a:rPr>
              <a:t>Teacher Management System 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Teacher, Department, Course, Class, Semester, Academic Year 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rgbClr val="008000"/>
                </a:solidFill>
              </a:rPr>
              <a:t>Timetabling System 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Teacher, Course, Class, Room, Semester, Academic Year…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1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Example</a:t>
            </a:r>
            <a:endParaRPr/>
          </a:p>
        </p:txBody>
      </p:sp>
      <p:sp>
        <p:nvSpPr>
          <p:cNvPr id="340" name="Google Shape;340;p21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303"/>
              </a:buClr>
              <a:buSzPts val="2000"/>
              <a:buChar char="❖"/>
            </a:pPr>
            <a:r>
              <a:rPr lang="en-US" sz="2000">
                <a:solidFill>
                  <a:srgbClr val="FF0303"/>
                </a:solidFill>
              </a:rPr>
              <a:t>Main class/subordinate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rgbClr val="008000"/>
                </a:solidFill>
              </a:rPr>
              <a:t>Student Management System: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Student, </a:t>
            </a:r>
            <a:r>
              <a:rPr lang="en-US" sz="2000">
                <a:solidFill>
                  <a:srgbClr val="A5A5A5"/>
                </a:solidFill>
              </a:rPr>
              <a:t>Teacher</a:t>
            </a:r>
            <a:r>
              <a:rPr lang="en-US" sz="2000"/>
              <a:t>, Course, Class, </a:t>
            </a:r>
            <a:r>
              <a:rPr lang="en-US" sz="2000">
                <a:solidFill>
                  <a:srgbClr val="A5A5A5"/>
                </a:solidFill>
              </a:rPr>
              <a:t>Student’s Parent</a:t>
            </a:r>
            <a:r>
              <a:rPr lang="en-US" sz="2000"/>
              <a:t>, </a:t>
            </a:r>
            <a:r>
              <a:rPr lang="en-US" sz="2000">
                <a:solidFill>
                  <a:srgbClr val="A5A5A5"/>
                </a:solidFill>
              </a:rPr>
              <a:t>Semester, Academic Year…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rgbClr val="008000"/>
                </a:solidFill>
              </a:rPr>
              <a:t>Teacher Management System 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Teacher, </a:t>
            </a:r>
            <a:r>
              <a:rPr lang="en-US" sz="2000">
                <a:solidFill>
                  <a:srgbClr val="A5A5A5"/>
                </a:solidFill>
              </a:rPr>
              <a:t>Department,</a:t>
            </a:r>
            <a:r>
              <a:rPr lang="en-US" sz="2000"/>
              <a:t> Course, Class, </a:t>
            </a:r>
            <a:r>
              <a:rPr lang="en-US" sz="2000">
                <a:solidFill>
                  <a:srgbClr val="A5A5A5"/>
                </a:solidFill>
              </a:rPr>
              <a:t>Semester, Academic Year 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rgbClr val="008000"/>
                </a:solidFill>
              </a:rPr>
              <a:t>Timetabling System 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Teacher, Course, Class, Room, </a:t>
            </a:r>
            <a:r>
              <a:rPr lang="en-US" sz="2000">
                <a:solidFill>
                  <a:srgbClr val="A5A5A5"/>
                </a:solidFill>
              </a:rPr>
              <a:t>Semester, Academic Year…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2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List of possible relationships</a:t>
            </a:r>
            <a:endParaRPr/>
          </a:p>
        </p:txBody>
      </p:sp>
      <p:sp>
        <p:nvSpPr>
          <p:cNvPr id="347" name="Google Shape;347;p22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❖"/>
            </a:pPr>
            <a:r>
              <a:rPr lang="en-US" sz="2000">
                <a:solidFill>
                  <a:schemeClr val="accent1"/>
                </a:solidFill>
              </a:rPr>
              <a:t>Criteria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Verb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Dependency between objects of the same class or different classes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❖"/>
            </a:pPr>
            <a:r>
              <a:rPr lang="en-US" sz="2000">
                <a:solidFill>
                  <a:schemeClr val="accent1"/>
                </a:solidFill>
              </a:rPr>
              <a:t>Hints: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rgbClr val="008000"/>
                </a:solidFill>
              </a:rPr>
              <a:t>Current/temporary relationship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rgbClr val="008000"/>
                </a:solidFill>
              </a:rPr>
              <a:t>Relationship within the whole life cycle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3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How to develop a class diagram?</a:t>
            </a:r>
            <a:endParaRPr/>
          </a:p>
        </p:txBody>
      </p:sp>
      <p:sp>
        <p:nvSpPr>
          <p:cNvPr id="354" name="Google Shape;354;p23"/>
          <p:cNvSpPr txBox="1"/>
          <p:nvPr>
            <p:ph idx="1" type="body"/>
          </p:nvPr>
        </p:nvSpPr>
        <p:spPr>
          <a:xfrm>
            <a:off x="457200" y="1028700"/>
            <a:ext cx="83820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Step 1: Identify </a:t>
            </a:r>
            <a:r>
              <a:rPr lang="en-US" sz="2000">
                <a:solidFill>
                  <a:schemeClr val="accent1"/>
                </a:solidFill>
              </a:rPr>
              <a:t>classes, </a:t>
            </a:r>
            <a:r>
              <a:rPr lang="en-US" sz="2000">
                <a:solidFill>
                  <a:srgbClr val="008000"/>
                </a:solidFill>
              </a:rPr>
              <a:t>relationships, </a:t>
            </a:r>
            <a:r>
              <a:rPr lang="en-US" sz="2000">
                <a:solidFill>
                  <a:srgbClr val="F48D10"/>
                </a:solidFill>
              </a:rPr>
              <a:t>attributes and methods (responsibility)</a:t>
            </a:r>
            <a:r>
              <a:rPr lang="en-US" sz="2000"/>
              <a:t> </a:t>
            </a:r>
            <a:r>
              <a:rPr lang="en-US" sz="2000" u="sng">
                <a:solidFill>
                  <a:srgbClr val="FF0303"/>
                </a:solidFill>
              </a:rPr>
              <a:t>directly from software requirement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Step 2: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If a class contains </a:t>
            </a:r>
            <a:r>
              <a:rPr lang="en-US" sz="2000">
                <a:solidFill>
                  <a:srgbClr val="FF0000"/>
                </a:solidFill>
              </a:rPr>
              <a:t>an attribute with a complex structure</a:t>
            </a:r>
            <a:r>
              <a:rPr lang="en-US" sz="2000"/>
              <a:t> or there are </a:t>
            </a:r>
            <a:r>
              <a:rPr lang="en-US" sz="2000">
                <a:solidFill>
                  <a:schemeClr val="accent1"/>
                </a:solidFill>
              </a:rPr>
              <a:t>several attributes with strong relationships and a clear semantic</a:t>
            </a:r>
            <a:r>
              <a:rPr lang="en-US" sz="2000"/>
              <a:t>, </a:t>
            </a:r>
            <a:r>
              <a:rPr b="1" lang="en-US" sz="2000" u="sng">
                <a:solidFill>
                  <a:srgbClr val="FF0000"/>
                </a:solidFill>
              </a:rPr>
              <a:t>create</a:t>
            </a:r>
            <a:r>
              <a:rPr lang="en-US" sz="2000"/>
              <a:t> a new </a:t>
            </a:r>
            <a:r>
              <a:rPr lang="en-US" sz="2000">
                <a:solidFill>
                  <a:srgbClr val="008000"/>
                </a:solidFill>
              </a:rPr>
              <a:t>subordinate class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 u="sng">
              <a:solidFill>
                <a:srgbClr val="FF030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How to develop a class diagram?</a:t>
            </a:r>
            <a:endParaRPr sz="2400"/>
          </a:p>
        </p:txBody>
      </p:sp>
      <p:sp>
        <p:nvSpPr>
          <p:cNvPr id="361" name="Google Shape;361;p24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Step 3: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3.1. </a:t>
            </a:r>
            <a:r>
              <a:rPr b="1" lang="en-US" sz="2000" u="sng">
                <a:solidFill>
                  <a:srgbClr val="FF0303"/>
                </a:solidFill>
              </a:rPr>
              <a:t>Multiple</a:t>
            </a:r>
            <a:r>
              <a:rPr lang="en-US" sz="2000"/>
              <a:t> classes with </a:t>
            </a:r>
            <a:r>
              <a:rPr lang="en-US" sz="2000">
                <a:solidFill>
                  <a:srgbClr val="0000FF"/>
                </a:solidFill>
              </a:rPr>
              <a:t>similarities</a:t>
            </a:r>
            <a:r>
              <a:rPr lang="en-US" sz="2000"/>
              <a:t> (common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	🡺 </a:t>
            </a:r>
            <a:r>
              <a:rPr b="1" lang="en-US" sz="2000" u="sng">
                <a:solidFill>
                  <a:srgbClr val="FF0303"/>
                </a:solidFill>
              </a:rPr>
              <a:t>Create</a:t>
            </a:r>
            <a:r>
              <a:rPr lang="en-US" sz="2000"/>
              <a:t> </a:t>
            </a:r>
            <a:r>
              <a:rPr lang="en-US" sz="2000">
                <a:solidFill>
                  <a:srgbClr val="0000FF"/>
                </a:solidFill>
              </a:rPr>
              <a:t>a new abstraction (a new class) </a:t>
            </a:r>
            <a:r>
              <a:rPr lang="en-US" sz="2000"/>
              <a:t>as the generalization of such classes.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t/>
            </a:r>
            <a:endParaRPr sz="2000"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/>
              <a:t>3.2. </a:t>
            </a:r>
            <a:r>
              <a:rPr b="1" lang="en-US" sz="2000" u="sng">
                <a:solidFill>
                  <a:srgbClr val="FF0303"/>
                </a:solidFill>
              </a:rPr>
              <a:t>A class</a:t>
            </a:r>
            <a:r>
              <a:rPr lang="en-US" sz="2000"/>
              <a:t> with an </a:t>
            </a:r>
            <a:r>
              <a:rPr lang="en-US" sz="2000">
                <a:solidFill>
                  <a:srgbClr val="008000"/>
                </a:solidFill>
              </a:rPr>
              <a:t>classification attribute</a:t>
            </a:r>
            <a:r>
              <a:rPr lang="en-US" sz="2000"/>
              <a:t> and the </a:t>
            </a:r>
            <a:r>
              <a:rPr lang="en-US" sz="2000">
                <a:solidFill>
                  <a:srgbClr val="F48D10"/>
                </a:solidFill>
              </a:rPr>
              <a:t>behaviors</a:t>
            </a:r>
            <a:r>
              <a:rPr lang="en-US" sz="2000"/>
              <a:t> of instances in that class </a:t>
            </a:r>
            <a:r>
              <a:rPr lang="en-US" sz="2000" u="sng">
                <a:solidFill>
                  <a:srgbClr val="FF0303"/>
                </a:solidFill>
              </a:rPr>
              <a:t>depend on </a:t>
            </a:r>
            <a:r>
              <a:rPr lang="en-US" sz="2000"/>
              <a:t>the </a:t>
            </a:r>
            <a:r>
              <a:rPr lang="en-US" sz="2000">
                <a:solidFill>
                  <a:srgbClr val="0000FF"/>
                </a:solidFill>
              </a:rPr>
              <a:t>value</a:t>
            </a:r>
            <a:r>
              <a:rPr lang="en-US" sz="2000"/>
              <a:t> of </a:t>
            </a:r>
            <a:r>
              <a:rPr lang="en-US" sz="2000">
                <a:solidFill>
                  <a:srgbClr val="008000"/>
                </a:solidFill>
              </a:rPr>
              <a:t>that attribute</a:t>
            </a:r>
            <a:r>
              <a:rPr lang="en-US" sz="2000"/>
              <a:t>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	🡺 </a:t>
            </a:r>
            <a:r>
              <a:rPr b="1" lang="en-US" sz="2000" u="sng">
                <a:solidFill>
                  <a:srgbClr val="FF0303"/>
                </a:solidFill>
              </a:rPr>
              <a:t>Split</a:t>
            </a:r>
            <a:r>
              <a:rPr lang="en-US" sz="2000"/>
              <a:t> the class into </a:t>
            </a:r>
            <a:r>
              <a:rPr lang="en-US" sz="2000">
                <a:solidFill>
                  <a:srgbClr val="0000FF"/>
                </a:solidFill>
              </a:rPr>
              <a:t>several sub-classes</a:t>
            </a:r>
            <a:r>
              <a:rPr lang="en-US" sz="2000"/>
              <a:t>, each of which corresponds to a subgroup of instances having the </a:t>
            </a:r>
            <a:r>
              <a:rPr lang="en-US" sz="2000">
                <a:solidFill>
                  <a:srgbClr val="0000FF"/>
                </a:solidFill>
              </a:rPr>
              <a:t>same value </a:t>
            </a:r>
            <a:r>
              <a:rPr lang="en-US" sz="2000"/>
              <a:t>of the </a:t>
            </a:r>
            <a:r>
              <a:rPr lang="en-US" sz="2000">
                <a:solidFill>
                  <a:srgbClr val="008000"/>
                </a:solidFill>
              </a:rPr>
              <a:t>classification attribute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5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5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How to develop a class diagram?</a:t>
            </a:r>
            <a:endParaRPr sz="2400"/>
          </a:p>
        </p:txBody>
      </p:sp>
      <p:sp>
        <p:nvSpPr>
          <p:cNvPr id="368" name="Google Shape;368;p25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Step 4: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rgbClr val="FF0303"/>
                </a:solidFill>
              </a:rPr>
              <a:t>Modify </a:t>
            </a:r>
            <a:r>
              <a:rPr lang="en-US" sz="2000">
                <a:solidFill>
                  <a:srgbClr val="0000FF"/>
                </a:solidFill>
              </a:rPr>
              <a:t>relationships </a:t>
            </a:r>
            <a:r>
              <a:rPr lang="en-US" sz="2000"/>
              <a:t>between classes</a:t>
            </a:r>
            <a:endParaRPr sz="2000">
              <a:solidFill>
                <a:srgbClr val="008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Step 5: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?"/>
            </a:pPr>
            <a:r>
              <a:rPr lang="en-US" sz="2000">
                <a:solidFill>
                  <a:srgbClr val="FF0303"/>
                </a:solidFill>
              </a:rPr>
              <a:t>Refine</a:t>
            </a:r>
            <a:r>
              <a:rPr lang="en-US" sz="2000"/>
              <a:t> the class diagram (personal experience required)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ms01_1">
  <a:themeElements>
    <a:clrScheme name="1_ms01_1 1">
      <a:dk1>
        <a:srgbClr val="1A1A70"/>
      </a:dk1>
      <a:lt1>
        <a:srgbClr val="FFFFFF"/>
      </a:lt1>
      <a:dk2>
        <a:srgbClr val="12449E"/>
      </a:dk2>
      <a:lt2>
        <a:srgbClr val="C0C0C0"/>
      </a:lt2>
      <a:accent1>
        <a:srgbClr val="3167D3"/>
      </a:accent1>
      <a:accent2>
        <a:srgbClr val="87A3E9"/>
      </a:accent2>
      <a:accent3>
        <a:srgbClr val="FFFFFF"/>
      </a:accent3>
      <a:accent4>
        <a:srgbClr val="14145F"/>
      </a:accent4>
      <a:accent5>
        <a:srgbClr val="ADB8E6"/>
      </a:accent5>
      <a:accent6>
        <a:srgbClr val="7A93D3"/>
      </a:accent6>
      <a:hlink>
        <a:srgbClr val="90B54D"/>
      </a:hlink>
      <a:folHlink>
        <a:srgbClr val="F6A2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2006-05-28T09:28:45Z</dcterms:created>
  <dc:creator>Tran Minh Triet</dc:creator>
</cp:coreProperties>
</file>