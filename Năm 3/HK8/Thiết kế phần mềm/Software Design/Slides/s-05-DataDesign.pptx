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pa+Q5Khp4iIAsafEPn7gLc7+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000DD9-EF57-4B32-9CCB-F47BD3FF4C5A}">
  <a:tblStyle styleId="{21000DD9-EF57-4B32-9CCB-F47BD3FF4C5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/>
          <p:nvPr/>
        </p:nvSpPr>
        <p:spPr>
          <a:xfrm>
            <a:off x="0" y="0"/>
            <a:ext cx="9144000" cy="386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6"/>
          <p:cNvSpPr/>
          <p:nvPr/>
        </p:nvSpPr>
        <p:spPr>
          <a:xfrm>
            <a:off x="1262063" y="0"/>
            <a:ext cx="2362200" cy="3714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rgbClr val="2A59B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6"/>
          <p:cNvSpPr/>
          <p:nvPr/>
        </p:nvSpPr>
        <p:spPr>
          <a:xfrm>
            <a:off x="304800" y="1800225"/>
            <a:ext cx="8458200" cy="828600"/>
          </a:xfrm>
          <a:prstGeom prst="rect">
            <a:avLst/>
          </a:prstGeom>
          <a:gradFill>
            <a:gsLst>
              <a:gs pos="0">
                <a:schemeClr val="dk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6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b="1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0" type="dt"/>
          </p:nvPr>
        </p:nvSpPr>
        <p:spPr>
          <a:xfrm>
            <a:off x="457200" y="4800600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1" type="ftr"/>
          </p:nvPr>
        </p:nvSpPr>
        <p:spPr>
          <a:xfrm>
            <a:off x="3124200" y="4800600"/>
            <a:ext cx="2895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2" type="sldNum"/>
          </p:nvPr>
        </p:nvSpPr>
        <p:spPr>
          <a:xfrm>
            <a:off x="6553200" y="4800600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" name="Google Shape;3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618185"/>
            <a:ext cx="1258888" cy="1078706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6"/>
          <p:cNvSpPr/>
          <p:nvPr/>
        </p:nvSpPr>
        <p:spPr>
          <a:xfrm>
            <a:off x="1276350" y="3706416"/>
            <a:ext cx="7867800" cy="163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6"/>
          <p:cNvSpPr/>
          <p:nvPr/>
        </p:nvSpPr>
        <p:spPr>
          <a:xfrm>
            <a:off x="304800" y="228600"/>
            <a:ext cx="8534400" cy="32577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6"/>
          <p:cNvSpPr/>
          <p:nvPr/>
        </p:nvSpPr>
        <p:spPr>
          <a:xfrm>
            <a:off x="7391400" y="685800"/>
            <a:ext cx="1600200" cy="10860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6"/>
          <p:cNvSpPr/>
          <p:nvPr/>
        </p:nvSpPr>
        <p:spPr>
          <a:xfrm>
            <a:off x="8305800" y="0"/>
            <a:ext cx="76200" cy="13146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" type="body"/>
          </p:nvPr>
        </p:nvSpPr>
        <p:spPr>
          <a:xfrm>
            <a:off x="457200" y="1028700"/>
            <a:ext cx="4038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🞇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9pPr>
          </a:lstStyle>
          <a:p/>
        </p:txBody>
      </p:sp>
      <p:sp>
        <p:nvSpPr>
          <p:cNvPr id="52" name="Google Shape;52;p29"/>
          <p:cNvSpPr txBox="1"/>
          <p:nvPr>
            <p:ph idx="2" type="body"/>
          </p:nvPr>
        </p:nvSpPr>
        <p:spPr>
          <a:xfrm>
            <a:off x="4648200" y="1028700"/>
            <a:ext cx="4038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Char char="❖"/>
              <a:defRPr sz="2800"/>
            </a:lvl1pPr>
            <a:lvl2pPr indent="-304800" lvl="1" marL="914400" algn="l">
              <a:spcBef>
                <a:spcPts val="480"/>
              </a:spcBef>
              <a:spcAft>
                <a:spcPts val="0"/>
              </a:spcAft>
              <a:buSzPts val="1200"/>
              <a:buChar char="🞇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 sz="1800"/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0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🞇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289560" lvl="3" marL="1828800" algn="l">
              <a:spcBef>
                <a:spcPts val="320"/>
              </a:spcBef>
              <a:spcAft>
                <a:spcPts val="0"/>
              </a:spcAft>
              <a:buSzPts val="960"/>
              <a:buChar char="🞇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60" name="Google Shape;60;p30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96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0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  <a:defRPr sz="2400"/>
            </a:lvl1pPr>
            <a:lvl2pPr indent="-292100" lvl="1" marL="914400" algn="l">
              <a:spcBef>
                <a:spcPts val="400"/>
              </a:spcBef>
              <a:spcAft>
                <a:spcPts val="0"/>
              </a:spcAft>
              <a:buSzPts val="1000"/>
              <a:buChar char="🞇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289560" lvl="3" marL="1828800" algn="l">
              <a:spcBef>
                <a:spcPts val="320"/>
              </a:spcBef>
              <a:spcAft>
                <a:spcPts val="0"/>
              </a:spcAft>
              <a:buSzPts val="960"/>
              <a:buChar char="🞇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Char char="▪"/>
              <a:defRPr sz="1600"/>
            </a:lvl9pPr>
          </a:lstStyle>
          <a:p/>
        </p:txBody>
      </p:sp>
      <p:sp>
        <p:nvSpPr>
          <p:cNvPr id="62" name="Google Shape;62;p30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❖"/>
              <a:defRPr sz="3200"/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SzPts val="1400"/>
              <a:buChar char="🞇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04800" lvl="3" marL="1828800" algn="l">
              <a:spcBef>
                <a:spcPts val="400"/>
              </a:spcBef>
              <a:spcAft>
                <a:spcPts val="0"/>
              </a:spcAft>
              <a:buSzPts val="1200"/>
              <a:buChar char="🞇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▪"/>
              <a:defRPr sz="2000"/>
            </a:lvl9pPr>
          </a:lstStyle>
          <a:p/>
        </p:txBody>
      </p:sp>
      <p:sp>
        <p:nvSpPr>
          <p:cNvPr id="77" name="Google Shape;77;p33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8" name="Google Shape;78;p33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4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4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" type="body"/>
          </p:nvPr>
        </p:nvSpPr>
        <p:spPr>
          <a:xfrm rot="5400000">
            <a:off x="2687250" y="-1201350"/>
            <a:ext cx="3769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5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 rot="5400000">
            <a:off x="5336400" y="1447781"/>
            <a:ext cx="4643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1145400" y="-533419"/>
            <a:ext cx="46434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7"/>
          <p:cNvSpPr txBox="1"/>
          <p:nvPr>
            <p:ph type="title"/>
          </p:nvPr>
        </p:nvSpPr>
        <p:spPr>
          <a:xfrm>
            <a:off x="1049338" y="141685"/>
            <a:ext cx="7910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7"/>
          <p:cNvSpPr txBox="1"/>
          <p:nvPr>
            <p:ph idx="1" type="body"/>
          </p:nvPr>
        </p:nvSpPr>
        <p:spPr>
          <a:xfrm>
            <a:off x="184150" y="789385"/>
            <a:ext cx="4311600" cy="3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2" type="body"/>
          </p:nvPr>
        </p:nvSpPr>
        <p:spPr>
          <a:xfrm>
            <a:off x="4648200" y="789385"/>
            <a:ext cx="4311600" cy="3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❖"/>
              <a:defRPr/>
            </a:lvl1pPr>
            <a:lvl2pPr indent="-285750" lvl="1" marL="914400" algn="l">
              <a:spcBef>
                <a:spcPts val="360"/>
              </a:spcBef>
              <a:spcAft>
                <a:spcPts val="0"/>
              </a:spcAft>
              <a:buSzPts val="900"/>
              <a:buChar char="🞇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🞇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▪"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0" y="7144"/>
            <a:ext cx="9144000" cy="7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1447800" y="0"/>
            <a:ext cx="7696200" cy="659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5"/>
          <p:cNvSpPr/>
          <p:nvPr/>
        </p:nvSpPr>
        <p:spPr>
          <a:xfrm>
            <a:off x="0" y="119063"/>
            <a:ext cx="9144000" cy="452400"/>
          </a:xfrm>
          <a:prstGeom prst="rect">
            <a:avLst/>
          </a:prstGeom>
          <a:gradFill>
            <a:gsLst>
              <a:gs pos="0">
                <a:srgbClr val="224894"/>
              </a:gs>
              <a:gs pos="100000">
                <a:schemeClr val="accent1"/>
              </a:gs>
            </a:gsLst>
            <a:lin ang="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5"/>
          <p:cNvSpPr/>
          <p:nvPr/>
        </p:nvSpPr>
        <p:spPr>
          <a:xfrm>
            <a:off x="0" y="857250"/>
            <a:ext cx="228600" cy="4286400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5"/>
          <p:cNvSpPr/>
          <p:nvPr/>
        </p:nvSpPr>
        <p:spPr>
          <a:xfrm>
            <a:off x="8686800" y="0"/>
            <a:ext cx="76200" cy="457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5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❖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🞇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718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🞇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4891088"/>
            <a:ext cx="2895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sz="14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/>
          <p:nvPr/>
        </p:nvSpPr>
        <p:spPr>
          <a:xfrm>
            <a:off x="0" y="0"/>
            <a:ext cx="1447800" cy="80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43013" cy="77866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5"/>
          <p:cNvSpPr/>
          <p:nvPr/>
        </p:nvSpPr>
        <p:spPr>
          <a:xfrm>
            <a:off x="0" y="776288"/>
            <a:ext cx="1447800" cy="1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/>
              <a:t>Data Design</a:t>
            </a:r>
            <a:endParaRPr/>
          </a:p>
        </p:txBody>
      </p:sp>
      <p:sp>
        <p:nvSpPr>
          <p:cNvPr id="112" name="Google Shape;112;p1"/>
          <p:cNvSpPr/>
          <p:nvPr/>
        </p:nvSpPr>
        <p:spPr>
          <a:xfrm>
            <a:off x="4147296" y="2686050"/>
            <a:ext cx="472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Assoc. Prof. TRAN Minh Triet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Software Engineering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3838252" y="4343400"/>
            <a:ext cx="5305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1C0FF"/>
                </a:solidFill>
                <a:latin typeface="Arial"/>
                <a:ea typeface="Arial"/>
                <a:cs typeface="Arial"/>
                <a:sym typeface="Arial"/>
              </a:rPr>
              <a:t>Software Analysis and Design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2388454" y="287348"/>
            <a:ext cx="4367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Science, VNU-HCM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Faculty of Information Technology</a:t>
            </a:r>
            <a:endParaRPr/>
          </a:p>
        </p:txBody>
      </p:sp>
      <p:pic>
        <p:nvPicPr>
          <p:cNvPr id="115" name="Google Shape;1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087467"/>
            <a:ext cx="1151109" cy="90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Relational Database?</a:t>
            </a:r>
            <a:endParaRPr/>
          </a:p>
        </p:txBody>
      </p:sp>
      <p:sp>
        <p:nvSpPr>
          <p:cNvPr id="121" name="Google Shape;121;p2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>
            <p:ph idx="12" type="sldNum"/>
          </p:nvPr>
        </p:nvSpPr>
        <p:spPr>
          <a:xfrm>
            <a:off x="6553200" y="4902994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#1</a:t>
            </a:r>
            <a:endParaRPr/>
          </a:p>
        </p:txBody>
      </p:sp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❖"/>
            </a:pPr>
            <a:r>
              <a:rPr lang="en-US">
                <a:solidFill>
                  <a:schemeClr val="accent1"/>
                </a:solidFill>
              </a:rPr>
              <a:t>A class </a:t>
            </a:r>
            <a:r>
              <a:rPr lang="en-US"/>
              <a:t>is mapped to </a:t>
            </a:r>
            <a:r>
              <a:rPr lang="en-US" sz="2400">
                <a:solidFill>
                  <a:srgbClr val="FF0000"/>
                </a:solidFill>
              </a:rPr>
              <a:t>a table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6705600" y="17145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2438400" y="3028950"/>
            <a:ext cx="3200400" cy="211455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791200" y="3429000"/>
            <a:ext cx="3200400" cy="125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4"/>
          <p:cNvGrpSpPr/>
          <p:nvPr/>
        </p:nvGrpSpPr>
        <p:grpSpPr>
          <a:xfrm>
            <a:off x="5943600" y="3486150"/>
            <a:ext cx="2819400" cy="1528763"/>
            <a:chOff x="3648" y="3168"/>
            <a:chExt cx="1776" cy="1284"/>
          </a:xfrm>
        </p:grpSpPr>
        <p:sp>
          <p:nvSpPr>
            <p:cNvPr id="138" name="Google Shape;138;p4"/>
            <p:cNvSpPr/>
            <p:nvPr/>
          </p:nvSpPr>
          <p:spPr>
            <a:xfrm>
              <a:off x="3648" y="31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4848" y="31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140" name="Google Shape;140;p4"/>
            <p:cNvCxnSpPr/>
            <p:nvPr/>
          </p:nvCxnSpPr>
          <p:spPr>
            <a:xfrm rot="10800000">
              <a:off x="4224" y="3408"/>
              <a:ext cx="624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41" name="Google Shape;141;p4"/>
            <p:cNvSpPr txBox="1"/>
            <p:nvPr/>
          </p:nvSpPr>
          <p:spPr>
            <a:xfrm>
              <a:off x="3744" y="3552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4743" y="3552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4224" y="3264"/>
              <a:ext cx="624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  <p:sp>
        <p:nvSpPr>
          <p:cNvPr id="144" name="Google Shape;144;p4"/>
          <p:cNvSpPr/>
          <p:nvPr/>
        </p:nvSpPr>
        <p:spPr>
          <a:xfrm>
            <a:off x="5791200" y="2114550"/>
            <a:ext cx="3200400" cy="125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791200" y="800100"/>
            <a:ext cx="3200400" cy="125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4"/>
          <p:cNvGrpSpPr/>
          <p:nvPr/>
        </p:nvGrpSpPr>
        <p:grpSpPr>
          <a:xfrm>
            <a:off x="5943600" y="914400"/>
            <a:ext cx="3086100" cy="1528763"/>
            <a:chOff x="3552" y="768"/>
            <a:chExt cx="1944" cy="1284"/>
          </a:xfrm>
        </p:grpSpPr>
        <p:sp>
          <p:nvSpPr>
            <p:cNvPr id="147" name="Google Shape;147;p4"/>
            <p:cNvSpPr/>
            <p:nvPr/>
          </p:nvSpPr>
          <p:spPr>
            <a:xfrm>
              <a:off x="35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47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149" name="Google Shape;149;p4"/>
            <p:cNvCxnSpPr>
              <a:stCxn id="148" idx="1"/>
              <a:endCxn id="147" idx="3"/>
            </p:cNvCxnSpPr>
            <p:nvPr/>
          </p:nvCxnSpPr>
          <p:spPr>
            <a:xfrm rot="10800000">
              <a:off x="4152" y="93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0" name="Google Shape;150;p4"/>
            <p:cNvSpPr txBox="1"/>
            <p:nvPr/>
          </p:nvSpPr>
          <p:spPr>
            <a:xfrm>
              <a:off x="3648" y="11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4896" y="1152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152" name="Google Shape;152;p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#2</a:t>
            </a:r>
            <a:endParaRPr/>
          </a:p>
        </p:txBody>
      </p:sp>
      <p:sp>
        <p:nvSpPr>
          <p:cNvPr id="154" name="Google Shape;154;p4"/>
          <p:cNvSpPr txBox="1"/>
          <p:nvPr>
            <p:ph idx="1" type="body"/>
          </p:nvPr>
        </p:nvSpPr>
        <p:spPr>
          <a:xfrm>
            <a:off x="457200" y="1028700"/>
            <a:ext cx="412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One-to-one relationship</a:t>
            </a:r>
            <a:endParaRPr sz="2400"/>
          </a:p>
        </p:txBody>
      </p:sp>
      <p:grpSp>
        <p:nvGrpSpPr>
          <p:cNvPr id="155" name="Google Shape;155;p4"/>
          <p:cNvGrpSpPr/>
          <p:nvPr/>
        </p:nvGrpSpPr>
        <p:grpSpPr>
          <a:xfrm>
            <a:off x="685800" y="1543050"/>
            <a:ext cx="2819400" cy="446485"/>
            <a:chOff x="432" y="1305"/>
            <a:chExt cx="1776" cy="375"/>
          </a:xfrm>
        </p:grpSpPr>
        <p:sp>
          <p:nvSpPr>
            <p:cNvPr id="156" name="Google Shape;156;p4"/>
            <p:cNvSpPr/>
            <p:nvPr/>
          </p:nvSpPr>
          <p:spPr>
            <a:xfrm>
              <a:off x="432" y="1344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1632" y="1344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158" name="Google Shape;158;p4"/>
            <p:cNvCxnSpPr>
              <a:stCxn id="156" idx="3"/>
              <a:endCxn id="157" idx="1"/>
            </p:cNvCxnSpPr>
            <p:nvPr/>
          </p:nvCxnSpPr>
          <p:spPr>
            <a:xfrm>
              <a:off x="1008" y="151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" name="Google Shape;159;p4"/>
            <p:cNvSpPr txBox="1"/>
            <p:nvPr/>
          </p:nvSpPr>
          <p:spPr>
            <a:xfrm>
              <a:off x="1004" y="13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1460" y="13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61" name="Google Shape;161;p4"/>
          <p:cNvSpPr/>
          <p:nvPr/>
        </p:nvSpPr>
        <p:spPr>
          <a:xfrm>
            <a:off x="228600" y="800100"/>
            <a:ext cx="4051300" cy="1762125"/>
          </a:xfrm>
          <a:custGeom>
            <a:rect b="b" l="l" r="r" t="t"/>
            <a:pathLst>
              <a:path extrusionOk="0" h="1480" w="2552">
                <a:moveTo>
                  <a:pt x="2352" y="0"/>
                </a:moveTo>
                <a:cubicBezTo>
                  <a:pt x="2452" y="508"/>
                  <a:pt x="2552" y="1016"/>
                  <a:pt x="2160" y="1248"/>
                </a:cubicBezTo>
                <a:cubicBezTo>
                  <a:pt x="1768" y="1480"/>
                  <a:pt x="884" y="1436"/>
                  <a:pt x="0" y="1392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 rot="-665623">
            <a:off x="4273089" y="1082286"/>
            <a:ext cx="826341" cy="292884"/>
          </a:xfrm>
          <a:prstGeom prst="rightArrow">
            <a:avLst>
              <a:gd fmla="val 50000" name="adj1"/>
              <a:gd fmla="val 55000" name="adj2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 rot="980582">
            <a:off x="4127165" y="1707366"/>
            <a:ext cx="813469" cy="300032"/>
          </a:xfrm>
          <a:prstGeom prst="rightArrow">
            <a:avLst>
              <a:gd fmla="val 50000" name="adj1"/>
              <a:gd fmla="val 55000" name="adj2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 rot="2110602">
            <a:off x="3931530" y="2204798"/>
            <a:ext cx="747266" cy="333869"/>
          </a:xfrm>
          <a:prstGeom prst="rightArrow">
            <a:avLst>
              <a:gd fmla="val 50000" name="adj1"/>
              <a:gd fmla="val 55000" name="adj2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4"/>
          <p:cNvGrpSpPr/>
          <p:nvPr/>
        </p:nvGrpSpPr>
        <p:grpSpPr>
          <a:xfrm>
            <a:off x="5943600" y="2227659"/>
            <a:ext cx="2857500" cy="1528754"/>
            <a:chOff x="3552" y="1968"/>
            <a:chExt cx="1800" cy="1284"/>
          </a:xfrm>
        </p:grpSpPr>
        <p:sp>
          <p:nvSpPr>
            <p:cNvPr id="166" name="Google Shape;166;p4"/>
            <p:cNvSpPr/>
            <p:nvPr/>
          </p:nvSpPr>
          <p:spPr>
            <a:xfrm>
              <a:off x="3552" y="19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4752" y="19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168" name="Google Shape;168;p4"/>
            <p:cNvCxnSpPr>
              <a:stCxn id="167" idx="1"/>
              <a:endCxn id="166" idx="3"/>
            </p:cNvCxnSpPr>
            <p:nvPr/>
          </p:nvCxnSpPr>
          <p:spPr>
            <a:xfrm rot="10800000">
              <a:off x="4152" y="213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sp>
          <p:nvSpPr>
            <p:cNvPr id="169" name="Google Shape;169;p4"/>
            <p:cNvSpPr txBox="1"/>
            <p:nvPr/>
          </p:nvSpPr>
          <p:spPr>
            <a:xfrm>
              <a:off x="3648" y="2352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0" name="Google Shape;170;p4"/>
            <p:cNvSpPr txBox="1"/>
            <p:nvPr/>
          </p:nvSpPr>
          <p:spPr>
            <a:xfrm>
              <a:off x="4752" y="23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171" name="Google Shape;171;p4"/>
          <p:cNvGrpSpPr/>
          <p:nvPr/>
        </p:nvGrpSpPr>
        <p:grpSpPr>
          <a:xfrm>
            <a:off x="2590800" y="3143250"/>
            <a:ext cx="2819400" cy="1171575"/>
            <a:chOff x="384" y="2208"/>
            <a:chExt cx="1776" cy="984"/>
          </a:xfrm>
        </p:grpSpPr>
        <p:sp>
          <p:nvSpPr>
            <p:cNvPr id="172" name="Google Shape;172;p4"/>
            <p:cNvSpPr/>
            <p:nvPr/>
          </p:nvSpPr>
          <p:spPr>
            <a:xfrm>
              <a:off x="384" y="220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1584" y="220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74" name="Google Shape;174;p4"/>
            <p:cNvSpPr txBox="1"/>
            <p:nvPr/>
          </p:nvSpPr>
          <p:spPr>
            <a:xfrm>
              <a:off x="480" y="259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1560" y="259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cxnSp>
          <p:nvCxnSpPr>
            <p:cNvPr id="176" name="Google Shape;176;p4"/>
            <p:cNvCxnSpPr>
              <a:stCxn id="172" idx="3"/>
              <a:endCxn id="173" idx="1"/>
            </p:cNvCxnSpPr>
            <p:nvPr/>
          </p:nvCxnSpPr>
          <p:spPr>
            <a:xfrm>
              <a:off x="960" y="237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  <p:grpSp>
        <p:nvGrpSpPr>
          <p:cNvPr id="177" name="Google Shape;177;p4"/>
          <p:cNvGrpSpPr/>
          <p:nvPr/>
        </p:nvGrpSpPr>
        <p:grpSpPr>
          <a:xfrm>
            <a:off x="304800" y="3429000"/>
            <a:ext cx="2057400" cy="1257300"/>
            <a:chOff x="96" y="2880"/>
            <a:chExt cx="1296" cy="1056"/>
          </a:xfrm>
        </p:grpSpPr>
        <p:sp>
          <p:nvSpPr>
            <p:cNvPr id="178" name="Google Shape;178;p4"/>
            <p:cNvSpPr/>
            <p:nvPr/>
          </p:nvSpPr>
          <p:spPr>
            <a:xfrm>
              <a:off x="144" y="2928"/>
              <a:ext cx="1152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96" y="2880"/>
              <a:ext cx="1296" cy="1056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4"/>
          <p:cNvSpPr/>
          <p:nvPr/>
        </p:nvSpPr>
        <p:spPr>
          <a:xfrm rot="5400000">
            <a:off x="1019100" y="2695650"/>
            <a:ext cx="628800" cy="381000"/>
          </a:xfrm>
          <a:prstGeom prst="rightArrow">
            <a:avLst>
              <a:gd fmla="val 50000" name="adj1"/>
              <a:gd fmla="val 55000" name="adj2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 rot="3731436">
            <a:off x="3212830" y="2529868"/>
            <a:ext cx="661048" cy="369531"/>
          </a:xfrm>
          <a:prstGeom prst="rightArrow">
            <a:avLst>
              <a:gd fmla="val 50000" name="adj1"/>
              <a:gd fmla="val 55000" name="adj2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4"/>
          <p:cNvGrpSpPr/>
          <p:nvPr/>
        </p:nvGrpSpPr>
        <p:grpSpPr>
          <a:xfrm>
            <a:off x="2590800" y="4148138"/>
            <a:ext cx="2899652" cy="1171587"/>
            <a:chOff x="384" y="2208"/>
            <a:chExt cx="1827" cy="984"/>
          </a:xfrm>
        </p:grpSpPr>
        <p:sp>
          <p:nvSpPr>
            <p:cNvPr id="183" name="Google Shape;183;p4"/>
            <p:cNvSpPr/>
            <p:nvPr/>
          </p:nvSpPr>
          <p:spPr>
            <a:xfrm>
              <a:off x="384" y="220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1584" y="220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85" name="Google Shape;185;p4"/>
            <p:cNvSpPr txBox="1"/>
            <p:nvPr/>
          </p:nvSpPr>
          <p:spPr>
            <a:xfrm>
              <a:off x="480" y="259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1611" y="259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cxnSp>
          <p:nvCxnSpPr>
            <p:cNvPr id="187" name="Google Shape;187;p4"/>
            <p:cNvCxnSpPr>
              <a:stCxn id="183" idx="3"/>
              <a:endCxn id="184" idx="1"/>
            </p:cNvCxnSpPr>
            <p:nvPr/>
          </p:nvCxnSpPr>
          <p:spPr>
            <a:xfrm>
              <a:off x="960" y="237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sp>
        <p:nvSpPr>
          <p:cNvPr id="188" name="Google Shape;188;p4"/>
          <p:cNvSpPr txBox="1"/>
          <p:nvPr/>
        </p:nvSpPr>
        <p:spPr>
          <a:xfrm>
            <a:off x="6019800" y="45720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#3</a:t>
            </a:r>
            <a:endParaRPr/>
          </a:p>
        </p:txBody>
      </p:sp>
      <p:sp>
        <p:nvSpPr>
          <p:cNvPr id="195" name="Google Shape;195;p5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One-to-many relationship</a:t>
            </a:r>
            <a:endParaRPr sz="2400"/>
          </a:p>
        </p:txBody>
      </p:sp>
      <p:grpSp>
        <p:nvGrpSpPr>
          <p:cNvPr id="196" name="Google Shape;196;p5"/>
          <p:cNvGrpSpPr/>
          <p:nvPr/>
        </p:nvGrpSpPr>
        <p:grpSpPr>
          <a:xfrm>
            <a:off x="685800" y="1543050"/>
            <a:ext cx="2819400" cy="446485"/>
            <a:chOff x="432" y="1305"/>
            <a:chExt cx="1776" cy="375"/>
          </a:xfrm>
        </p:grpSpPr>
        <p:sp>
          <p:nvSpPr>
            <p:cNvPr id="197" name="Google Shape;197;p5"/>
            <p:cNvSpPr/>
            <p:nvPr/>
          </p:nvSpPr>
          <p:spPr>
            <a:xfrm>
              <a:off x="432" y="1344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1632" y="1344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199" name="Google Shape;199;p5"/>
            <p:cNvCxnSpPr>
              <a:stCxn id="197" idx="3"/>
              <a:endCxn id="198" idx="1"/>
            </p:cNvCxnSpPr>
            <p:nvPr/>
          </p:nvCxnSpPr>
          <p:spPr>
            <a:xfrm>
              <a:off x="1008" y="151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" name="Google Shape;200;p5"/>
            <p:cNvSpPr txBox="1"/>
            <p:nvPr/>
          </p:nvSpPr>
          <p:spPr>
            <a:xfrm>
              <a:off x="1004" y="13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01" name="Google Shape;201;p5"/>
            <p:cNvSpPr txBox="1"/>
            <p:nvPr/>
          </p:nvSpPr>
          <p:spPr>
            <a:xfrm>
              <a:off x="1460" y="13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/>
            </a:p>
          </p:txBody>
        </p:sp>
      </p:grpSp>
      <p:grpSp>
        <p:nvGrpSpPr>
          <p:cNvPr id="202" name="Google Shape;202;p5"/>
          <p:cNvGrpSpPr/>
          <p:nvPr/>
        </p:nvGrpSpPr>
        <p:grpSpPr>
          <a:xfrm>
            <a:off x="5638800" y="1599000"/>
            <a:ext cx="3048000" cy="1528778"/>
            <a:chOff x="3552" y="768"/>
            <a:chExt cx="1776" cy="1284"/>
          </a:xfrm>
        </p:grpSpPr>
        <p:sp>
          <p:nvSpPr>
            <p:cNvPr id="203" name="Google Shape;203;p5"/>
            <p:cNvSpPr/>
            <p:nvPr/>
          </p:nvSpPr>
          <p:spPr>
            <a:xfrm>
              <a:off x="35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47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205" name="Google Shape;205;p5"/>
            <p:cNvCxnSpPr>
              <a:stCxn id="204" idx="1"/>
              <a:endCxn id="203" idx="3"/>
            </p:cNvCxnSpPr>
            <p:nvPr/>
          </p:nvCxnSpPr>
          <p:spPr>
            <a:xfrm rot="10800000">
              <a:off x="4152" y="93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06" name="Google Shape;206;p5"/>
            <p:cNvSpPr txBox="1"/>
            <p:nvPr/>
          </p:nvSpPr>
          <p:spPr>
            <a:xfrm>
              <a:off x="3648" y="11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07" name="Google Shape;207;p5"/>
            <p:cNvSpPr txBox="1"/>
            <p:nvPr/>
          </p:nvSpPr>
          <p:spPr>
            <a:xfrm>
              <a:off x="4620" y="1152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208" name="Google Shape;208;p5"/>
          <p:cNvSpPr txBox="1"/>
          <p:nvPr/>
        </p:nvSpPr>
        <p:spPr>
          <a:xfrm>
            <a:off x="2362200" y="268605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57200" y="857250"/>
            <a:ext cx="4178300" cy="1676400"/>
          </a:xfrm>
          <a:custGeom>
            <a:rect b="b" l="l" r="r" t="t"/>
            <a:pathLst>
              <a:path extrusionOk="0" h="1408" w="2632">
                <a:moveTo>
                  <a:pt x="2544" y="0"/>
                </a:moveTo>
                <a:cubicBezTo>
                  <a:pt x="2588" y="496"/>
                  <a:pt x="2632" y="992"/>
                  <a:pt x="2208" y="1200"/>
                </a:cubicBezTo>
                <a:cubicBezTo>
                  <a:pt x="1784" y="1408"/>
                  <a:pt x="892" y="1328"/>
                  <a:pt x="0" y="124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#4</a:t>
            </a:r>
            <a:endParaRPr/>
          </a:p>
        </p:txBody>
      </p:sp>
      <p:sp>
        <p:nvSpPr>
          <p:cNvPr id="216" name="Google Shape;216;p6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Many-to-many relationship</a:t>
            </a:r>
            <a:endParaRPr sz="2400"/>
          </a:p>
        </p:txBody>
      </p:sp>
      <p:grpSp>
        <p:nvGrpSpPr>
          <p:cNvPr id="217" name="Google Shape;217;p6"/>
          <p:cNvGrpSpPr/>
          <p:nvPr/>
        </p:nvGrpSpPr>
        <p:grpSpPr>
          <a:xfrm>
            <a:off x="685800" y="1543050"/>
            <a:ext cx="2819400" cy="446485"/>
            <a:chOff x="432" y="1305"/>
            <a:chExt cx="1776" cy="375"/>
          </a:xfrm>
        </p:grpSpPr>
        <p:sp>
          <p:nvSpPr>
            <p:cNvPr id="218" name="Google Shape;218;p6"/>
            <p:cNvSpPr/>
            <p:nvPr/>
          </p:nvSpPr>
          <p:spPr>
            <a:xfrm>
              <a:off x="432" y="1344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1632" y="1344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220" name="Google Shape;220;p6"/>
            <p:cNvCxnSpPr>
              <a:stCxn id="218" idx="3"/>
              <a:endCxn id="219" idx="1"/>
            </p:cNvCxnSpPr>
            <p:nvPr/>
          </p:nvCxnSpPr>
          <p:spPr>
            <a:xfrm>
              <a:off x="1008" y="1512"/>
              <a:ext cx="6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" name="Google Shape;221;p6"/>
            <p:cNvSpPr txBox="1"/>
            <p:nvPr/>
          </p:nvSpPr>
          <p:spPr>
            <a:xfrm>
              <a:off x="1004" y="13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    </a:t>
              </a:r>
              <a:r>
                <a:rPr b="1"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1460" y="1305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*</a:t>
              </a:r>
              <a:endParaRPr/>
            </a:p>
          </p:txBody>
        </p:sp>
      </p:grpSp>
      <p:grpSp>
        <p:nvGrpSpPr>
          <p:cNvPr id="223" name="Google Shape;223;p6"/>
          <p:cNvGrpSpPr/>
          <p:nvPr/>
        </p:nvGrpSpPr>
        <p:grpSpPr>
          <a:xfrm>
            <a:off x="4572000" y="1599010"/>
            <a:ext cx="4076700" cy="1585903"/>
            <a:chOff x="2784" y="768"/>
            <a:chExt cx="2568" cy="1332"/>
          </a:xfrm>
        </p:grpSpPr>
        <p:sp>
          <p:nvSpPr>
            <p:cNvPr id="224" name="Google Shape;224;p6"/>
            <p:cNvSpPr/>
            <p:nvPr/>
          </p:nvSpPr>
          <p:spPr>
            <a:xfrm>
              <a:off x="2784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3744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cxnSp>
          <p:nvCxnSpPr>
            <p:cNvPr id="226" name="Google Shape;226;p6"/>
            <p:cNvCxnSpPr>
              <a:stCxn id="225" idx="1"/>
              <a:endCxn id="224" idx="3"/>
            </p:cNvCxnSpPr>
            <p:nvPr/>
          </p:nvCxnSpPr>
          <p:spPr>
            <a:xfrm rot="10800000">
              <a:off x="3444" y="936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7" name="Google Shape;227;p6"/>
            <p:cNvSpPr txBox="1"/>
            <p:nvPr/>
          </p:nvSpPr>
          <p:spPr>
            <a:xfrm>
              <a:off x="2889" y="11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28" name="Google Shape;228;p6"/>
            <p:cNvSpPr txBox="1"/>
            <p:nvPr/>
          </p:nvSpPr>
          <p:spPr>
            <a:xfrm>
              <a:off x="4752" y="11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47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230" name="Google Shape;230;p6"/>
            <p:cNvCxnSpPr>
              <a:stCxn id="225" idx="3"/>
              <a:endCxn id="229" idx="1"/>
            </p:cNvCxnSpPr>
            <p:nvPr/>
          </p:nvCxnSpPr>
          <p:spPr>
            <a:xfrm>
              <a:off x="4320" y="936"/>
              <a:ext cx="3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31" name="Google Shape;231;p6"/>
            <p:cNvSpPr txBox="1"/>
            <p:nvPr/>
          </p:nvSpPr>
          <p:spPr>
            <a:xfrm>
              <a:off x="3665" y="1200"/>
              <a:ext cx="9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MB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232" name="Google Shape;232;p6"/>
          <p:cNvSpPr/>
          <p:nvPr/>
        </p:nvSpPr>
        <p:spPr>
          <a:xfrm>
            <a:off x="457200" y="857250"/>
            <a:ext cx="4178300" cy="1676400"/>
          </a:xfrm>
          <a:custGeom>
            <a:rect b="b" l="l" r="r" t="t"/>
            <a:pathLst>
              <a:path extrusionOk="0" h="1408" w="2632">
                <a:moveTo>
                  <a:pt x="2544" y="0"/>
                </a:moveTo>
                <a:cubicBezTo>
                  <a:pt x="2588" y="496"/>
                  <a:pt x="2632" y="992"/>
                  <a:pt x="2208" y="1200"/>
                </a:cubicBezTo>
                <a:cubicBezTo>
                  <a:pt x="1784" y="1408"/>
                  <a:pt x="892" y="1328"/>
                  <a:pt x="0" y="1248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2362200" y="268605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#5</a:t>
            </a:r>
            <a:endParaRPr/>
          </a:p>
        </p:txBody>
      </p:sp>
      <p:sp>
        <p:nvSpPr>
          <p:cNvPr id="240" name="Google Shape;240;p7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Generalization</a:t>
            </a:r>
            <a:endParaRPr sz="2400"/>
          </a:p>
        </p:txBody>
      </p:sp>
      <p:sp>
        <p:nvSpPr>
          <p:cNvPr id="241" name="Google Shape;241;p7"/>
          <p:cNvSpPr/>
          <p:nvPr/>
        </p:nvSpPr>
        <p:spPr>
          <a:xfrm>
            <a:off x="4445000" y="1143000"/>
            <a:ext cx="9144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6045200" y="1143000"/>
            <a:ext cx="9144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4191000" y="1600200"/>
            <a:ext cx="15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z)</a:t>
            </a:r>
            <a:endParaRPr/>
          </a:p>
        </p:txBody>
      </p:sp>
      <p:grpSp>
        <p:nvGrpSpPr>
          <p:cNvPr id="244" name="Google Shape;244;p7"/>
          <p:cNvGrpSpPr/>
          <p:nvPr/>
        </p:nvGrpSpPr>
        <p:grpSpPr>
          <a:xfrm>
            <a:off x="533400" y="1714500"/>
            <a:ext cx="3048000" cy="2343150"/>
            <a:chOff x="336" y="1440"/>
            <a:chExt cx="1920" cy="1968"/>
          </a:xfrm>
        </p:grpSpPr>
        <p:grpSp>
          <p:nvGrpSpPr>
            <p:cNvPr id="245" name="Google Shape;245;p7"/>
            <p:cNvGrpSpPr/>
            <p:nvPr/>
          </p:nvGrpSpPr>
          <p:grpSpPr>
            <a:xfrm>
              <a:off x="960" y="1440"/>
              <a:ext cx="900" cy="864"/>
              <a:chOff x="1056" y="1488"/>
              <a:chExt cx="900" cy="864"/>
            </a:xfrm>
          </p:grpSpPr>
          <p:sp>
            <p:nvSpPr>
              <p:cNvPr id="246" name="Google Shape;246;p7"/>
              <p:cNvSpPr/>
              <p:nvPr/>
            </p:nvSpPr>
            <p:spPr>
              <a:xfrm>
                <a:off x="1056" y="1488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1056" y="1680"/>
                <a:ext cx="900" cy="6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 x</a:t>
                </a:r>
                <a:endParaRPr sz="8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# y</a:t>
                </a:r>
                <a:endParaRPr sz="8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 z</a:t>
                </a:r>
                <a:endParaRPr sz="800"/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1056" y="2208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7"/>
            <p:cNvGrpSpPr/>
            <p:nvPr/>
          </p:nvGrpSpPr>
          <p:grpSpPr>
            <a:xfrm>
              <a:off x="336" y="2736"/>
              <a:ext cx="576" cy="672"/>
              <a:chOff x="336" y="2736"/>
              <a:chExt cx="576" cy="672"/>
            </a:xfrm>
          </p:grpSpPr>
          <p:sp>
            <p:nvSpPr>
              <p:cNvPr id="250" name="Google Shape;250;p7"/>
              <p:cNvSpPr/>
              <p:nvPr/>
            </p:nvSpPr>
            <p:spPr>
              <a:xfrm>
                <a:off x="336" y="2736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336" y="2928"/>
                <a:ext cx="576" cy="33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# t</a:t>
                </a:r>
                <a:endParaRPr sz="8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# u</a:t>
                </a:r>
                <a:endParaRPr sz="800"/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336" y="3264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7"/>
            <p:cNvGrpSpPr/>
            <p:nvPr/>
          </p:nvGrpSpPr>
          <p:grpSpPr>
            <a:xfrm>
              <a:off x="1680" y="2736"/>
              <a:ext cx="576" cy="672"/>
              <a:chOff x="1680" y="2736"/>
              <a:chExt cx="576" cy="672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1680" y="2736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1680" y="2928"/>
                <a:ext cx="576" cy="33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  <a:sym typeface="Arial"/>
                  </a:rPr>
                  <a:t>-v</a:t>
                </a:r>
                <a:endParaRPr/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1680" y="3264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57" name="Google Shape;257;p7"/>
            <p:cNvCxnSpPr>
              <a:stCxn id="250" idx="0"/>
              <a:endCxn id="254" idx="0"/>
            </p:cNvCxnSpPr>
            <p:nvPr/>
          </p:nvCxnSpPr>
          <p:spPr>
            <a:xfrm rot="10800000">
              <a:off x="1224" y="2136"/>
              <a:ext cx="0" cy="1200"/>
            </a:xfrm>
            <a:prstGeom prst="bentConnector3">
              <a:avLst>
                <a:gd fmla="val -273486693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58" name="Google Shape;258;p7"/>
            <p:cNvCxnSpPr/>
            <p:nvPr/>
          </p:nvCxnSpPr>
          <p:spPr>
            <a:xfrm rot="10800000">
              <a:off x="1278" y="244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9" name="Google Shape;259;p7"/>
            <p:cNvSpPr/>
            <p:nvPr/>
          </p:nvSpPr>
          <p:spPr>
            <a:xfrm>
              <a:off x="1200" y="2304"/>
              <a:ext cx="144" cy="192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7"/>
          <p:cNvSpPr/>
          <p:nvPr/>
        </p:nvSpPr>
        <p:spPr>
          <a:xfrm>
            <a:off x="7620000" y="1143000"/>
            <a:ext cx="9144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5708650" y="1600200"/>
            <a:ext cx="17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MB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t, u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7473950" y="1600200"/>
            <a:ext cx="15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3486200" y="1893525"/>
            <a:ext cx="6032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Simple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 Hard to see the relationships between entities of A, B, C</a:t>
            </a:r>
            <a:endParaRPr sz="1100"/>
          </a:p>
          <a:p>
            <a:pPr indent="-9525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500"/>
              <a:buFont typeface="Arial"/>
              <a:buChar char="-"/>
            </a:pPr>
            <a:r>
              <a:rPr lang="en-US" sz="15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Hard to process general queries  </a:t>
            </a:r>
            <a:endParaRPr sz="1100"/>
          </a:p>
        </p:txBody>
      </p:sp>
      <p:sp>
        <p:nvSpPr>
          <p:cNvPr id="264" name="Google Shape;264;p7"/>
          <p:cNvSpPr/>
          <p:nvPr/>
        </p:nvSpPr>
        <p:spPr>
          <a:xfrm>
            <a:off x="609600" y="971550"/>
            <a:ext cx="4203700" cy="3600450"/>
          </a:xfrm>
          <a:custGeom>
            <a:rect b="b" l="l" r="r" t="t"/>
            <a:pathLst>
              <a:path extrusionOk="0" h="3024" w="2648">
                <a:moveTo>
                  <a:pt x="2112" y="0"/>
                </a:moveTo>
                <a:cubicBezTo>
                  <a:pt x="1804" y="320"/>
                  <a:pt x="1496" y="640"/>
                  <a:pt x="1536" y="960"/>
                </a:cubicBezTo>
                <a:cubicBezTo>
                  <a:pt x="1576" y="1280"/>
                  <a:pt x="2232" y="1600"/>
                  <a:pt x="2352" y="1920"/>
                </a:cubicBezTo>
                <a:cubicBezTo>
                  <a:pt x="2472" y="2240"/>
                  <a:pt x="2648" y="2736"/>
                  <a:pt x="2256" y="2880"/>
                </a:cubicBezTo>
                <a:cubicBezTo>
                  <a:pt x="1864" y="3024"/>
                  <a:pt x="384" y="2816"/>
                  <a:pt x="0" y="278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477000" y="302895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#5</a:t>
            </a:r>
            <a:endParaRPr/>
          </a:p>
        </p:txBody>
      </p:sp>
      <p:sp>
        <p:nvSpPr>
          <p:cNvPr id="272" name="Google Shape;272;p8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Generalization</a:t>
            </a:r>
            <a:endParaRPr sz="2400"/>
          </a:p>
        </p:txBody>
      </p:sp>
      <p:grpSp>
        <p:nvGrpSpPr>
          <p:cNvPr id="273" name="Google Shape;273;p8"/>
          <p:cNvGrpSpPr/>
          <p:nvPr/>
        </p:nvGrpSpPr>
        <p:grpSpPr>
          <a:xfrm>
            <a:off x="533400" y="1714500"/>
            <a:ext cx="3048000" cy="2343150"/>
            <a:chOff x="336" y="1440"/>
            <a:chExt cx="1920" cy="1968"/>
          </a:xfrm>
        </p:grpSpPr>
        <p:grpSp>
          <p:nvGrpSpPr>
            <p:cNvPr id="274" name="Google Shape;274;p8"/>
            <p:cNvGrpSpPr/>
            <p:nvPr/>
          </p:nvGrpSpPr>
          <p:grpSpPr>
            <a:xfrm>
              <a:off x="960" y="1440"/>
              <a:ext cx="576" cy="864"/>
              <a:chOff x="1056" y="1488"/>
              <a:chExt cx="576" cy="864"/>
            </a:xfrm>
          </p:grpSpPr>
          <p:sp>
            <p:nvSpPr>
              <p:cNvPr id="275" name="Google Shape;275;p8"/>
              <p:cNvSpPr/>
              <p:nvPr/>
            </p:nvSpPr>
            <p:spPr>
              <a:xfrm>
                <a:off x="1056" y="1488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1056" y="1680"/>
                <a:ext cx="576" cy="528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 x</a:t>
                </a:r>
                <a:endParaRPr sz="11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# y</a:t>
                </a:r>
                <a:endParaRPr sz="11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 z</a:t>
                </a:r>
                <a:endParaRPr sz="1100"/>
              </a:p>
            </p:txBody>
          </p:sp>
          <p:sp>
            <p:nvSpPr>
              <p:cNvPr id="277" name="Google Shape;277;p8"/>
              <p:cNvSpPr/>
              <p:nvPr/>
            </p:nvSpPr>
            <p:spPr>
              <a:xfrm>
                <a:off x="1056" y="2208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8"/>
            <p:cNvGrpSpPr/>
            <p:nvPr/>
          </p:nvGrpSpPr>
          <p:grpSpPr>
            <a:xfrm>
              <a:off x="336" y="2736"/>
              <a:ext cx="576" cy="672"/>
              <a:chOff x="336" y="2736"/>
              <a:chExt cx="576" cy="672"/>
            </a:xfrm>
          </p:grpSpPr>
          <p:sp>
            <p:nvSpPr>
              <p:cNvPr id="279" name="Google Shape;279;p8"/>
              <p:cNvSpPr/>
              <p:nvPr/>
            </p:nvSpPr>
            <p:spPr>
              <a:xfrm>
                <a:off x="336" y="2736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336" y="2928"/>
                <a:ext cx="576" cy="33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# t</a:t>
                </a:r>
                <a:endParaRPr sz="11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# u</a:t>
                </a:r>
                <a:endParaRPr sz="1100"/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336" y="3264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2" name="Google Shape;282;p8"/>
            <p:cNvGrpSpPr/>
            <p:nvPr/>
          </p:nvGrpSpPr>
          <p:grpSpPr>
            <a:xfrm>
              <a:off x="1680" y="2736"/>
              <a:ext cx="576" cy="672"/>
              <a:chOff x="1680" y="2736"/>
              <a:chExt cx="576" cy="672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1680" y="2736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/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1680" y="2928"/>
                <a:ext cx="576" cy="33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  <a:sym typeface="Arial"/>
                  </a:rPr>
                  <a:t>-v</a:t>
                </a:r>
                <a:endParaRPr/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1680" y="3264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86" name="Google Shape;286;p8"/>
            <p:cNvCxnSpPr>
              <a:stCxn id="279" idx="0"/>
              <a:endCxn id="283" idx="0"/>
            </p:cNvCxnSpPr>
            <p:nvPr/>
          </p:nvCxnSpPr>
          <p:spPr>
            <a:xfrm rot="10800000">
              <a:off x="1224" y="2136"/>
              <a:ext cx="0" cy="1200"/>
            </a:xfrm>
            <a:prstGeom prst="bentConnector3">
              <a:avLst>
                <a:gd fmla="val -273486693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87" name="Google Shape;287;p8"/>
            <p:cNvCxnSpPr/>
            <p:nvPr/>
          </p:nvCxnSpPr>
          <p:spPr>
            <a:xfrm rot="10800000">
              <a:off x="1278" y="244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8" name="Google Shape;288;p8"/>
            <p:cNvSpPr/>
            <p:nvPr/>
          </p:nvSpPr>
          <p:spPr>
            <a:xfrm>
              <a:off x="1200" y="2304"/>
              <a:ext cx="144" cy="192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p8"/>
          <p:cNvSpPr txBox="1"/>
          <p:nvPr/>
        </p:nvSpPr>
        <p:spPr>
          <a:xfrm>
            <a:off x="3276600" y="1885950"/>
            <a:ext cx="4908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Overview of all entities of different subtypes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 Waste of storage</a:t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5029200" y="982266"/>
            <a:ext cx="26670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4995464" y="1439466"/>
            <a:ext cx="271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Type, x, y, z, t, u, v)</a:t>
            </a:r>
            <a:endParaRPr/>
          </a:p>
        </p:txBody>
      </p:sp>
      <p:graphicFrame>
        <p:nvGraphicFramePr>
          <p:cNvPr id="292" name="Google Shape;292;p8"/>
          <p:cNvGraphicFramePr/>
          <p:nvPr/>
        </p:nvGraphicFramePr>
        <p:xfrm>
          <a:off x="4600575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{21000DD9-EF57-4B32-9CCB-F47BD3FF4C5A}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3" name="Google Shape;293;p8"/>
          <p:cNvSpPr/>
          <p:nvPr/>
        </p:nvSpPr>
        <p:spPr>
          <a:xfrm>
            <a:off x="381000" y="971550"/>
            <a:ext cx="4203700" cy="3600450"/>
          </a:xfrm>
          <a:custGeom>
            <a:rect b="b" l="l" r="r" t="t"/>
            <a:pathLst>
              <a:path extrusionOk="0" h="3024" w="2648">
                <a:moveTo>
                  <a:pt x="2112" y="0"/>
                </a:moveTo>
                <a:cubicBezTo>
                  <a:pt x="1804" y="320"/>
                  <a:pt x="1496" y="640"/>
                  <a:pt x="1536" y="960"/>
                </a:cubicBezTo>
                <a:cubicBezTo>
                  <a:pt x="1576" y="1280"/>
                  <a:pt x="2232" y="1600"/>
                  <a:pt x="2352" y="1920"/>
                </a:cubicBezTo>
                <a:cubicBezTo>
                  <a:pt x="2472" y="2240"/>
                  <a:pt x="2648" y="2736"/>
                  <a:pt x="2256" y="2880"/>
                </a:cubicBezTo>
                <a:cubicBezTo>
                  <a:pt x="1864" y="3024"/>
                  <a:pt x="384" y="2816"/>
                  <a:pt x="0" y="278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5943600" y="42291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#5</a:t>
            </a:r>
            <a:endParaRPr/>
          </a:p>
        </p:txBody>
      </p:sp>
      <p:sp>
        <p:nvSpPr>
          <p:cNvPr id="301" name="Google Shape;301;p9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Generalization</a:t>
            </a:r>
            <a:endParaRPr sz="2400"/>
          </a:p>
        </p:txBody>
      </p:sp>
      <p:grpSp>
        <p:nvGrpSpPr>
          <p:cNvPr id="302" name="Google Shape;302;p9"/>
          <p:cNvGrpSpPr/>
          <p:nvPr/>
        </p:nvGrpSpPr>
        <p:grpSpPr>
          <a:xfrm>
            <a:off x="533400" y="1714500"/>
            <a:ext cx="3048000" cy="2343150"/>
            <a:chOff x="336" y="1440"/>
            <a:chExt cx="1920" cy="1968"/>
          </a:xfrm>
        </p:grpSpPr>
        <p:grpSp>
          <p:nvGrpSpPr>
            <p:cNvPr id="303" name="Google Shape;303;p9"/>
            <p:cNvGrpSpPr/>
            <p:nvPr/>
          </p:nvGrpSpPr>
          <p:grpSpPr>
            <a:xfrm>
              <a:off x="960" y="1440"/>
              <a:ext cx="576" cy="864"/>
              <a:chOff x="1056" y="1488"/>
              <a:chExt cx="576" cy="864"/>
            </a:xfrm>
          </p:grpSpPr>
          <p:sp>
            <p:nvSpPr>
              <p:cNvPr id="304" name="Google Shape;304;p9"/>
              <p:cNvSpPr/>
              <p:nvPr/>
            </p:nvSpPr>
            <p:spPr>
              <a:xfrm>
                <a:off x="1056" y="1488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/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>
                <a:off x="1056" y="1680"/>
                <a:ext cx="576" cy="528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 x</a:t>
                </a:r>
                <a:endParaRPr sz="11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# y</a:t>
                </a:r>
                <a:endParaRPr sz="11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 z</a:t>
                </a:r>
                <a:endParaRPr sz="1100"/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>
                <a:off x="1056" y="2208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7" name="Google Shape;307;p9"/>
            <p:cNvGrpSpPr/>
            <p:nvPr/>
          </p:nvGrpSpPr>
          <p:grpSpPr>
            <a:xfrm>
              <a:off x="336" y="2736"/>
              <a:ext cx="576" cy="672"/>
              <a:chOff x="336" y="2736"/>
              <a:chExt cx="576" cy="672"/>
            </a:xfrm>
          </p:grpSpPr>
          <p:sp>
            <p:nvSpPr>
              <p:cNvPr id="308" name="Google Shape;308;p9"/>
              <p:cNvSpPr/>
              <p:nvPr/>
            </p:nvSpPr>
            <p:spPr>
              <a:xfrm>
                <a:off x="336" y="2736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>
                <a:off x="336" y="2928"/>
                <a:ext cx="576" cy="33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# t</a:t>
                </a:r>
                <a:endParaRPr sz="1000"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>
                    <a:solidFill>
                      <a:srgbClr val="008000"/>
                    </a:solidFill>
                    <a:latin typeface="Arial"/>
                    <a:ea typeface="Arial"/>
                    <a:cs typeface="Arial"/>
                    <a:sym typeface="Arial"/>
                  </a:rPr>
                  <a:t># u</a:t>
                </a:r>
                <a:endParaRPr sz="1000"/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>
                <a:off x="336" y="3264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1" name="Google Shape;311;p9"/>
            <p:cNvGrpSpPr/>
            <p:nvPr/>
          </p:nvGrpSpPr>
          <p:grpSpPr>
            <a:xfrm>
              <a:off x="1680" y="2736"/>
              <a:ext cx="576" cy="672"/>
              <a:chOff x="1680" y="2736"/>
              <a:chExt cx="576" cy="672"/>
            </a:xfrm>
          </p:grpSpPr>
          <p:sp>
            <p:nvSpPr>
              <p:cNvPr id="312" name="Google Shape;312;p9"/>
              <p:cNvSpPr/>
              <p:nvPr/>
            </p:nvSpPr>
            <p:spPr>
              <a:xfrm>
                <a:off x="1680" y="2736"/>
                <a:ext cx="576" cy="192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/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1680" y="2928"/>
                <a:ext cx="576" cy="336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  <a:sym typeface="Arial"/>
                  </a:rPr>
                  <a:t>-v</a:t>
                </a:r>
                <a:endParaRPr/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1680" y="3264"/>
                <a:ext cx="576" cy="144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15" name="Google Shape;315;p9"/>
            <p:cNvCxnSpPr>
              <a:stCxn id="308" idx="0"/>
              <a:endCxn id="312" idx="0"/>
            </p:cNvCxnSpPr>
            <p:nvPr/>
          </p:nvCxnSpPr>
          <p:spPr>
            <a:xfrm rot="10800000">
              <a:off x="1224" y="2136"/>
              <a:ext cx="0" cy="1200"/>
            </a:xfrm>
            <a:prstGeom prst="bentConnector3">
              <a:avLst>
                <a:gd fmla="val -273486693" name="adj1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 rot="10800000">
              <a:off x="1278" y="2448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7" name="Google Shape;317;p9"/>
            <p:cNvSpPr/>
            <p:nvPr/>
          </p:nvSpPr>
          <p:spPr>
            <a:xfrm>
              <a:off x="1200" y="2304"/>
              <a:ext cx="144" cy="192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9"/>
          <p:cNvSpPr/>
          <p:nvPr/>
        </p:nvSpPr>
        <p:spPr>
          <a:xfrm>
            <a:off x="381000" y="971550"/>
            <a:ext cx="4203700" cy="3600450"/>
          </a:xfrm>
          <a:custGeom>
            <a:rect b="b" l="l" r="r" t="t"/>
            <a:pathLst>
              <a:path extrusionOk="0" h="3024" w="2648">
                <a:moveTo>
                  <a:pt x="2112" y="0"/>
                </a:moveTo>
                <a:cubicBezTo>
                  <a:pt x="1804" y="320"/>
                  <a:pt x="1496" y="640"/>
                  <a:pt x="1536" y="960"/>
                </a:cubicBezTo>
                <a:cubicBezTo>
                  <a:pt x="1576" y="1280"/>
                  <a:pt x="2232" y="1600"/>
                  <a:pt x="2352" y="1920"/>
                </a:cubicBezTo>
                <a:cubicBezTo>
                  <a:pt x="2472" y="2240"/>
                  <a:pt x="2648" y="2736"/>
                  <a:pt x="2256" y="2880"/>
                </a:cubicBezTo>
                <a:cubicBezTo>
                  <a:pt x="1864" y="3024"/>
                  <a:pt x="384" y="2816"/>
                  <a:pt x="0" y="278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867400" y="1143000"/>
            <a:ext cx="11175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Common_A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267200" y="2171700"/>
            <a:ext cx="9144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X_B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5425422" y="1600200"/>
            <a:ext cx="223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Common_A(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x, 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7543800" y="2171700"/>
            <a:ext cx="9144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X_C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4191139" y="2628900"/>
            <a:ext cx="141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X_B(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t, u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7494069" y="2628900"/>
            <a:ext cx="122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X_C(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4756150" y="3427810"/>
            <a:ext cx="269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Efficient storage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 Overview of all entities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 Complexity</a:t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5943600" y="2171700"/>
            <a:ext cx="914400" cy="40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X_A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5944731" y="2628900"/>
            <a:ext cx="12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X_B(</a:t>
            </a:r>
            <a:r>
              <a:rPr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z)</a:t>
            </a:r>
            <a:endParaRPr/>
          </a:p>
        </p:txBody>
      </p:sp>
      <p:cxnSp>
        <p:nvCxnSpPr>
          <p:cNvPr id="328" name="Google Shape;328;p9"/>
          <p:cNvCxnSpPr>
            <a:stCxn id="320" idx="0"/>
            <a:endCxn id="319" idx="1"/>
          </p:cNvCxnSpPr>
          <p:nvPr/>
        </p:nvCxnSpPr>
        <p:spPr>
          <a:xfrm flipH="1" rot="10800000">
            <a:off x="4724400" y="1343100"/>
            <a:ext cx="1143000" cy="8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9"/>
          <p:cNvCxnSpPr>
            <a:stCxn id="326" idx="0"/>
            <a:endCxn id="319" idx="2"/>
          </p:cNvCxnSpPr>
          <p:nvPr/>
        </p:nvCxnSpPr>
        <p:spPr>
          <a:xfrm flipH="1" rot="10800000">
            <a:off x="6400800" y="1543200"/>
            <a:ext cx="25500" cy="628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9"/>
          <p:cNvCxnSpPr>
            <a:stCxn id="322" idx="0"/>
            <a:endCxn id="319" idx="3"/>
          </p:cNvCxnSpPr>
          <p:nvPr/>
        </p:nvCxnSpPr>
        <p:spPr>
          <a:xfrm rot="10800000">
            <a:off x="6984900" y="1343100"/>
            <a:ext cx="1016100" cy="8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1" name="Google Shape;331;p9"/>
          <p:cNvSpPr txBox="1"/>
          <p:nvPr/>
        </p:nvSpPr>
        <p:spPr>
          <a:xfrm>
            <a:off x="5410200" y="440055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152400" y="1828800"/>
            <a:ext cx="5575300" cy="3228975"/>
          </a:xfrm>
          <a:custGeom>
            <a:rect b="b" l="l" r="r" t="t"/>
            <a:pathLst>
              <a:path extrusionOk="0" h="2712" w="3512">
                <a:moveTo>
                  <a:pt x="2496" y="0"/>
                </a:moveTo>
                <a:cubicBezTo>
                  <a:pt x="2368" y="136"/>
                  <a:pt x="2240" y="272"/>
                  <a:pt x="2256" y="384"/>
                </a:cubicBezTo>
                <a:cubicBezTo>
                  <a:pt x="2272" y="496"/>
                  <a:pt x="2552" y="568"/>
                  <a:pt x="2592" y="672"/>
                </a:cubicBezTo>
                <a:cubicBezTo>
                  <a:pt x="2632" y="776"/>
                  <a:pt x="2416" y="904"/>
                  <a:pt x="2496" y="1008"/>
                </a:cubicBezTo>
                <a:cubicBezTo>
                  <a:pt x="2576" y="1112"/>
                  <a:pt x="2960" y="1184"/>
                  <a:pt x="3072" y="1296"/>
                </a:cubicBezTo>
                <a:cubicBezTo>
                  <a:pt x="3184" y="1408"/>
                  <a:pt x="3112" y="1576"/>
                  <a:pt x="3168" y="1680"/>
                </a:cubicBezTo>
                <a:cubicBezTo>
                  <a:pt x="3224" y="1784"/>
                  <a:pt x="3416" y="1800"/>
                  <a:pt x="3408" y="1920"/>
                </a:cubicBezTo>
                <a:cubicBezTo>
                  <a:pt x="3400" y="2040"/>
                  <a:pt x="3120" y="2272"/>
                  <a:pt x="3120" y="2400"/>
                </a:cubicBezTo>
                <a:cubicBezTo>
                  <a:pt x="3120" y="2528"/>
                  <a:pt x="3512" y="2664"/>
                  <a:pt x="3408" y="2688"/>
                </a:cubicBezTo>
                <a:cubicBezTo>
                  <a:pt x="3304" y="2712"/>
                  <a:pt x="2816" y="2544"/>
                  <a:pt x="2496" y="2544"/>
                </a:cubicBezTo>
                <a:cubicBezTo>
                  <a:pt x="2176" y="2544"/>
                  <a:pt x="1696" y="2712"/>
                  <a:pt x="1488" y="2688"/>
                </a:cubicBezTo>
                <a:cubicBezTo>
                  <a:pt x="1280" y="2664"/>
                  <a:pt x="1384" y="2424"/>
                  <a:pt x="1248" y="2400"/>
                </a:cubicBezTo>
                <a:cubicBezTo>
                  <a:pt x="1112" y="2376"/>
                  <a:pt x="784" y="2584"/>
                  <a:pt x="672" y="2544"/>
                </a:cubicBezTo>
                <a:cubicBezTo>
                  <a:pt x="560" y="2504"/>
                  <a:pt x="664" y="2192"/>
                  <a:pt x="576" y="2160"/>
                </a:cubicBezTo>
                <a:cubicBezTo>
                  <a:pt x="488" y="2128"/>
                  <a:pt x="216" y="2400"/>
                  <a:pt x="144" y="2352"/>
                </a:cubicBezTo>
                <a:cubicBezTo>
                  <a:pt x="72" y="2304"/>
                  <a:pt x="168" y="1952"/>
                  <a:pt x="144" y="1872"/>
                </a:cubicBezTo>
                <a:cubicBezTo>
                  <a:pt x="120" y="1792"/>
                  <a:pt x="60" y="1832"/>
                  <a:pt x="0" y="1872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#6</a:t>
            </a:r>
            <a:endParaRPr/>
          </a:p>
        </p:txBody>
      </p:sp>
      <p:sp>
        <p:nvSpPr>
          <p:cNvPr id="339" name="Google Shape;339;p10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A class with a </a:t>
            </a:r>
            <a:r>
              <a:rPr lang="en-US" sz="2400">
                <a:solidFill>
                  <a:schemeClr val="accent1"/>
                </a:solidFill>
              </a:rPr>
              <a:t>structured attribute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1219200" y="2116925"/>
            <a:ext cx="2133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2514600" y="4133850"/>
            <a:ext cx="2514600" cy="914400"/>
          </a:xfrm>
          <a:prstGeom prst="wedgeRectCallout">
            <a:avLst>
              <a:gd fmla="val -65343" name="adj1"/>
              <a:gd fmla="val -105338" name="adj2"/>
            </a:avLst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 of B: </a:t>
            </a: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Attribute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Attribute 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10"/>
          <p:cNvGrpSpPr/>
          <p:nvPr/>
        </p:nvGrpSpPr>
        <p:grpSpPr>
          <a:xfrm>
            <a:off x="5638800" y="2114550"/>
            <a:ext cx="3195637" cy="1885950"/>
            <a:chOff x="3552" y="768"/>
            <a:chExt cx="2013" cy="1584"/>
          </a:xfrm>
        </p:grpSpPr>
        <p:sp>
          <p:nvSpPr>
            <p:cNvPr id="343" name="Google Shape;343;p10"/>
            <p:cNvSpPr/>
            <p:nvPr/>
          </p:nvSpPr>
          <p:spPr>
            <a:xfrm>
              <a:off x="35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47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345" name="Google Shape;345;p10"/>
            <p:cNvCxnSpPr>
              <a:stCxn id="344" idx="1"/>
              <a:endCxn id="343" idx="3"/>
            </p:cNvCxnSpPr>
            <p:nvPr/>
          </p:nvCxnSpPr>
          <p:spPr>
            <a:xfrm rot="10800000">
              <a:off x="4152" y="93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46" name="Google Shape;346;p10"/>
            <p:cNvSpPr txBox="1"/>
            <p:nvPr/>
          </p:nvSpPr>
          <p:spPr>
            <a:xfrm>
              <a:off x="3648" y="11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347" name="Google Shape;347;p10"/>
            <p:cNvSpPr txBox="1"/>
            <p:nvPr/>
          </p:nvSpPr>
          <p:spPr>
            <a:xfrm>
              <a:off x="4665" y="1152"/>
              <a:ext cx="9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Attribute1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Attribute2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sp>
        <p:nvSpPr>
          <p:cNvPr id="348" name="Google Shape;348;p10"/>
          <p:cNvSpPr txBox="1"/>
          <p:nvPr/>
        </p:nvSpPr>
        <p:spPr>
          <a:xfrm>
            <a:off x="5900738" y="411480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#7</a:t>
            </a:r>
            <a:endParaRPr/>
          </a:p>
        </p:txBody>
      </p:sp>
      <p:sp>
        <p:nvSpPr>
          <p:cNvPr id="355" name="Google Shape;355;p11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A class with an attribute as an </a:t>
            </a:r>
            <a:r>
              <a:rPr lang="en-US">
                <a:solidFill>
                  <a:schemeClr val="accent1"/>
                </a:solidFill>
              </a:rPr>
              <a:t>array/set/bag/list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1219200" y="2116931"/>
            <a:ext cx="19050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24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[]      x;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-76200" y="1828800"/>
            <a:ext cx="5575300" cy="3228975"/>
          </a:xfrm>
          <a:custGeom>
            <a:rect b="b" l="l" r="r" t="t"/>
            <a:pathLst>
              <a:path extrusionOk="0" h="2712" w="3512">
                <a:moveTo>
                  <a:pt x="2496" y="0"/>
                </a:moveTo>
                <a:cubicBezTo>
                  <a:pt x="2368" y="136"/>
                  <a:pt x="2240" y="272"/>
                  <a:pt x="2256" y="384"/>
                </a:cubicBezTo>
                <a:cubicBezTo>
                  <a:pt x="2272" y="496"/>
                  <a:pt x="2552" y="568"/>
                  <a:pt x="2592" y="672"/>
                </a:cubicBezTo>
                <a:cubicBezTo>
                  <a:pt x="2632" y="776"/>
                  <a:pt x="2416" y="904"/>
                  <a:pt x="2496" y="1008"/>
                </a:cubicBezTo>
                <a:cubicBezTo>
                  <a:pt x="2576" y="1112"/>
                  <a:pt x="2960" y="1184"/>
                  <a:pt x="3072" y="1296"/>
                </a:cubicBezTo>
                <a:cubicBezTo>
                  <a:pt x="3184" y="1408"/>
                  <a:pt x="3112" y="1576"/>
                  <a:pt x="3168" y="1680"/>
                </a:cubicBezTo>
                <a:cubicBezTo>
                  <a:pt x="3224" y="1784"/>
                  <a:pt x="3416" y="1800"/>
                  <a:pt x="3408" y="1920"/>
                </a:cubicBezTo>
                <a:cubicBezTo>
                  <a:pt x="3400" y="2040"/>
                  <a:pt x="3120" y="2272"/>
                  <a:pt x="3120" y="2400"/>
                </a:cubicBezTo>
                <a:cubicBezTo>
                  <a:pt x="3120" y="2528"/>
                  <a:pt x="3512" y="2664"/>
                  <a:pt x="3408" y="2688"/>
                </a:cubicBezTo>
                <a:cubicBezTo>
                  <a:pt x="3304" y="2712"/>
                  <a:pt x="2816" y="2544"/>
                  <a:pt x="2496" y="2544"/>
                </a:cubicBezTo>
                <a:cubicBezTo>
                  <a:pt x="2176" y="2544"/>
                  <a:pt x="1696" y="2712"/>
                  <a:pt x="1488" y="2688"/>
                </a:cubicBezTo>
                <a:cubicBezTo>
                  <a:pt x="1280" y="2664"/>
                  <a:pt x="1384" y="2424"/>
                  <a:pt x="1248" y="2400"/>
                </a:cubicBezTo>
                <a:cubicBezTo>
                  <a:pt x="1112" y="2376"/>
                  <a:pt x="784" y="2584"/>
                  <a:pt x="672" y="2544"/>
                </a:cubicBezTo>
                <a:cubicBezTo>
                  <a:pt x="560" y="2504"/>
                  <a:pt x="664" y="2192"/>
                  <a:pt x="576" y="2160"/>
                </a:cubicBezTo>
                <a:cubicBezTo>
                  <a:pt x="488" y="2128"/>
                  <a:pt x="216" y="2400"/>
                  <a:pt x="144" y="2352"/>
                </a:cubicBezTo>
                <a:cubicBezTo>
                  <a:pt x="72" y="2304"/>
                  <a:pt x="168" y="1952"/>
                  <a:pt x="144" y="1872"/>
                </a:cubicBezTo>
                <a:cubicBezTo>
                  <a:pt x="120" y="1792"/>
                  <a:pt x="60" y="1832"/>
                  <a:pt x="0" y="1872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5824538" y="440055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9" name="Google Shape;359;p11"/>
          <p:cNvGrpSpPr/>
          <p:nvPr/>
        </p:nvGrpSpPr>
        <p:grpSpPr>
          <a:xfrm>
            <a:off x="5638800" y="2114550"/>
            <a:ext cx="2857500" cy="1528763"/>
            <a:chOff x="3552" y="768"/>
            <a:chExt cx="1800" cy="1284"/>
          </a:xfrm>
        </p:grpSpPr>
        <p:sp>
          <p:nvSpPr>
            <p:cNvPr id="360" name="Google Shape;360;p11"/>
            <p:cNvSpPr/>
            <p:nvPr/>
          </p:nvSpPr>
          <p:spPr>
            <a:xfrm>
              <a:off x="35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4752" y="768"/>
              <a:ext cx="576" cy="336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cxnSp>
          <p:nvCxnSpPr>
            <p:cNvPr id="362" name="Google Shape;362;p11"/>
            <p:cNvCxnSpPr>
              <a:stCxn id="361" idx="1"/>
              <a:endCxn id="360" idx="3"/>
            </p:cNvCxnSpPr>
            <p:nvPr/>
          </p:nvCxnSpPr>
          <p:spPr>
            <a:xfrm rot="10800000">
              <a:off x="4152" y="936"/>
              <a:ext cx="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63" name="Google Shape;363;p11"/>
            <p:cNvSpPr txBox="1"/>
            <p:nvPr/>
          </p:nvSpPr>
          <p:spPr>
            <a:xfrm>
              <a:off x="3648" y="1152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 u="sng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364" name="Google Shape;364;p11"/>
            <p:cNvSpPr txBox="1"/>
            <p:nvPr/>
          </p:nvSpPr>
          <p:spPr>
            <a:xfrm>
              <a:off x="4752" y="1152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MA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#8</a:t>
            </a:r>
            <a:endParaRPr/>
          </a:p>
        </p:txBody>
      </p:sp>
      <p:sp>
        <p:nvSpPr>
          <p:cNvPr id="371" name="Google Shape;371;p12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❖"/>
            </a:pPr>
            <a:r>
              <a:rPr lang="en-US">
                <a:solidFill>
                  <a:schemeClr val="accent1"/>
                </a:solidFill>
              </a:rPr>
              <a:t>Discrete values</a:t>
            </a:r>
            <a:r>
              <a:rPr lang="en-US" sz="2400"/>
              <a:t>: </a:t>
            </a:r>
            <a:r>
              <a:rPr lang="en-US" sz="2400">
                <a:solidFill>
                  <a:srgbClr val="FF0000"/>
                </a:solidFill>
              </a:rPr>
              <a:t>Create a new table for a list of categories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1219200" y="1543050"/>
            <a:ext cx="2260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🖎</a:t>
            </a: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Examples?</a:t>
            </a:r>
            <a:endParaRPr sz="2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#9</a:t>
            </a:r>
            <a:endParaRPr/>
          </a:p>
        </p:txBody>
      </p:sp>
      <p:sp>
        <p:nvSpPr>
          <p:cNvPr id="379" name="Google Shape;379;p13"/>
          <p:cNvSpPr txBox="1"/>
          <p:nvPr>
            <p:ph idx="1" type="body"/>
          </p:nvPr>
        </p:nvSpPr>
        <p:spPr>
          <a:xfrm>
            <a:off x="457200" y="10287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Parameters</a:t>
            </a:r>
            <a:endParaRPr sz="24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Char char="🞇"/>
            </a:pPr>
            <a:r>
              <a:rPr lang="en-US" sz="2000" u="sng"/>
              <a:t>Type 1</a:t>
            </a:r>
            <a:endParaRPr sz="2000" u="sng"/>
          </a:p>
        </p:txBody>
      </p:sp>
      <p:graphicFrame>
        <p:nvGraphicFramePr>
          <p:cNvPr id="380" name="Google Shape;380;p13"/>
          <p:cNvGraphicFramePr/>
          <p:nvPr/>
        </p:nvGraphicFramePr>
        <p:xfrm>
          <a:off x="1831975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{21000DD9-EF57-4B32-9CCB-F47BD3FF4C5A}</a:tableStyleId>
              </a:tblPr>
              <a:tblGrid>
                <a:gridCol w="777875"/>
                <a:gridCol w="1427175"/>
                <a:gridCol w="1427150"/>
                <a:gridCol w="1219200"/>
                <a:gridCol w="1470025"/>
              </a:tblGrid>
              <a:tr h="29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PK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Param#1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Param#2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Param#N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" name="Google Shape;381;p13"/>
          <p:cNvSpPr txBox="1"/>
          <p:nvPr/>
        </p:nvSpPr>
        <p:spPr>
          <a:xfrm>
            <a:off x="533400" y="3337322"/>
            <a:ext cx="69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382" name="Google Shape;382;p13"/>
          <p:cNvSpPr txBox="1"/>
          <p:nvPr/>
        </p:nvSpPr>
        <p:spPr>
          <a:xfrm>
            <a:off x="1219200" y="3486150"/>
            <a:ext cx="2776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 a new parameter?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Disable a parameter?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533400" y="2686050"/>
            <a:ext cx="8749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Each parameter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corresponds to </a:t>
            </a:r>
            <a:r>
              <a:rPr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 column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Parameters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2000" u="sng">
                <a:solidFill>
                  <a:srgbClr val="F48D10"/>
                </a:solidFill>
                <a:latin typeface="Arial"/>
                <a:ea typeface="Arial"/>
                <a:cs typeface="Arial"/>
                <a:sym typeface="Arial"/>
              </a:rPr>
              <a:t>only one record (row)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store the current values of parameters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Rule #9</a:t>
            </a:r>
            <a:endParaRPr/>
          </a:p>
        </p:txBody>
      </p:sp>
      <p:sp>
        <p:nvSpPr>
          <p:cNvPr id="390" name="Google Shape;390;p14"/>
          <p:cNvSpPr txBox="1"/>
          <p:nvPr>
            <p:ph idx="1" type="body"/>
          </p:nvPr>
        </p:nvSpPr>
        <p:spPr>
          <a:xfrm>
            <a:off x="457200" y="10287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Parameters</a:t>
            </a:r>
            <a:endParaRPr sz="24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Char char="🞇"/>
            </a:pPr>
            <a:r>
              <a:rPr lang="en-US" sz="2000" u="sng"/>
              <a:t>Type 2</a:t>
            </a:r>
            <a:endParaRPr sz="2000" u="sng"/>
          </a:p>
        </p:txBody>
      </p:sp>
      <p:graphicFrame>
        <p:nvGraphicFramePr>
          <p:cNvPr id="391" name="Google Shape;391;p14"/>
          <p:cNvGraphicFramePr/>
          <p:nvPr/>
        </p:nvGraphicFramePr>
        <p:xfrm>
          <a:off x="1138238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{21000DD9-EF57-4B32-9CCB-F47BD3FF4C5A}</a:tableStyleId>
              </a:tblPr>
              <a:tblGrid>
                <a:gridCol w="1497000"/>
                <a:gridCol w="1719275"/>
                <a:gridCol w="803850"/>
                <a:gridCol w="876300"/>
                <a:gridCol w="1771650"/>
              </a:tblGrid>
              <a:tr h="29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ParamID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ParamName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Value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Noto Sans Symbols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…</a:t>
                      </a:r>
                      <a:endParaRPr sz="1100"/>
                    </a:p>
                  </a:txBody>
                  <a:tcPr marT="34275" marB="3427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2" name="Google Shape;392;p14"/>
          <p:cNvSpPr txBox="1"/>
          <p:nvPr/>
        </p:nvSpPr>
        <p:spPr>
          <a:xfrm>
            <a:off x="533400" y="3680222"/>
            <a:ext cx="692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sp>
        <p:nvSpPr>
          <p:cNvPr id="393" name="Google Shape;393;p14"/>
          <p:cNvSpPr txBox="1"/>
          <p:nvPr/>
        </p:nvSpPr>
        <p:spPr>
          <a:xfrm>
            <a:off x="1219200" y="3931444"/>
            <a:ext cx="2776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Add a new parameter?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Disable a parameter?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5410200" y="1085850"/>
            <a:ext cx="1447800" cy="628800"/>
          </a:xfrm>
          <a:prstGeom prst="wedgeRoundRectCallout">
            <a:avLst>
              <a:gd fmla="val -25218" name="adj1"/>
              <a:gd fmla="val 81630" name="adj2"/>
              <a:gd fmla="val 16667" name="adj3"/>
            </a:avLst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Stored 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string</a:t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533400" y="2686050"/>
            <a:ext cx="8682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Each parameter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single record (row)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Parameters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The current value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a parameter is stored </a:t>
            </a:r>
            <a:r>
              <a:rPr lang="en-US" sz="2000">
                <a:solidFill>
                  <a:srgbClr val="F48D10"/>
                </a:solidFill>
                <a:latin typeface="Arial"/>
                <a:ea typeface="Arial"/>
                <a:cs typeface="Arial"/>
                <a:sym typeface="Arial"/>
              </a:rPr>
              <a:t>as a string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 values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stored as strings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the application must </a:t>
            </a:r>
            <a:r>
              <a:rPr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“interpret”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exactly the current values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parameters.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as XML?</a:t>
            </a:r>
            <a:endParaRPr/>
          </a:p>
        </p:txBody>
      </p:sp>
      <p:sp>
        <p:nvSpPr>
          <p:cNvPr id="401" name="Google Shape;401;p15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 txBox="1"/>
          <p:nvPr>
            <p:ph idx="12" type="sldNum"/>
          </p:nvPr>
        </p:nvSpPr>
        <p:spPr>
          <a:xfrm>
            <a:off x="6553200" y="4902994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HTML vs XML</a:t>
            </a:r>
            <a:endParaRPr/>
          </a:p>
        </p:txBody>
      </p:sp>
      <p:sp>
        <p:nvSpPr>
          <p:cNvPr id="408" name="Google Shape;408;p16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7375" y="1275160"/>
            <a:ext cx="4071937" cy="2861071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6"/>
          <p:cNvSpPr txBox="1"/>
          <p:nvPr/>
        </p:nvSpPr>
        <p:spPr>
          <a:xfrm>
            <a:off x="2514600" y="4226719"/>
            <a:ext cx="54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specifies how to display/present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HTML</a:t>
            </a:r>
            <a:endParaRPr/>
          </a:p>
        </p:txBody>
      </p:sp>
      <p:sp>
        <p:nvSpPr>
          <p:cNvPr id="417" name="Google Shape;417;p17"/>
          <p:cNvSpPr txBox="1"/>
          <p:nvPr>
            <p:ph idx="1" type="body"/>
          </p:nvPr>
        </p:nvSpPr>
        <p:spPr>
          <a:xfrm>
            <a:off x="457200" y="1028700"/>
            <a:ext cx="82296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h1</a:t>
            </a:r>
            <a:r>
              <a:rPr lang="en-US" sz="2000"/>
              <a:t>&gt; Bibliography &lt;/</a:t>
            </a:r>
            <a:r>
              <a:rPr lang="en-US" sz="2000">
                <a:solidFill>
                  <a:srgbClr val="006600"/>
                </a:solidFill>
              </a:rPr>
              <a:t>h1</a:t>
            </a:r>
            <a:r>
              <a:rPr lang="en-US" sz="2000"/>
              <a:t>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p</a:t>
            </a:r>
            <a:r>
              <a:rPr lang="en-US" sz="2000"/>
              <a:t>&gt; &lt;</a:t>
            </a:r>
            <a:r>
              <a:rPr lang="en-US" sz="2000">
                <a:solidFill>
                  <a:srgbClr val="006600"/>
                </a:solidFill>
              </a:rPr>
              <a:t>i</a:t>
            </a:r>
            <a:r>
              <a:rPr lang="en-US" sz="2000"/>
              <a:t>&gt; Foundations of Databases &lt;/</a:t>
            </a:r>
            <a:r>
              <a:rPr lang="en-US" sz="2000">
                <a:solidFill>
                  <a:srgbClr val="006600"/>
                </a:solidFill>
              </a:rPr>
              <a:t>i</a:t>
            </a:r>
            <a:r>
              <a:rPr lang="en-US" sz="2000"/>
              <a:t>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      Abiteboul, Hull, Vianu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      &lt;br&gt; Addison Wesley, 1995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p</a:t>
            </a:r>
            <a:r>
              <a:rPr lang="en-US" sz="2000"/>
              <a:t>&gt; &lt;</a:t>
            </a:r>
            <a:r>
              <a:rPr lang="en-US" sz="2000">
                <a:solidFill>
                  <a:srgbClr val="006600"/>
                </a:solidFill>
              </a:rPr>
              <a:t>i</a:t>
            </a:r>
            <a:r>
              <a:rPr lang="en-US" sz="2000"/>
              <a:t>&gt; Data on the Web &lt;/</a:t>
            </a:r>
            <a:r>
              <a:rPr lang="en-US" sz="2000">
                <a:solidFill>
                  <a:srgbClr val="006600"/>
                </a:solidFill>
              </a:rPr>
              <a:t>i</a:t>
            </a:r>
            <a:r>
              <a:rPr lang="en-US" sz="2000"/>
              <a:t>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      Abiteoul, Buneman, Suciu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      &lt;</a:t>
            </a:r>
            <a:r>
              <a:rPr lang="en-US" sz="2000">
                <a:solidFill>
                  <a:srgbClr val="006600"/>
                </a:solidFill>
              </a:rPr>
              <a:t>br</a:t>
            </a:r>
            <a:r>
              <a:rPr lang="en-US" sz="2000"/>
              <a:t>&gt; Morgan Kaufmann, 1999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8"/>
          <p:cNvSpPr txBox="1"/>
          <p:nvPr>
            <p:ph idx="1" type="body"/>
          </p:nvPr>
        </p:nvSpPr>
        <p:spPr>
          <a:xfrm>
            <a:off x="685800" y="1314450"/>
            <a:ext cx="6629100" cy="3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bibliography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&lt;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   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 Foundations… &lt;/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Abiteboul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Hull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Vianu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publisher</a:t>
            </a:r>
            <a:r>
              <a:rPr lang="en-US" sz="2000"/>
              <a:t>&gt; Addison Wesley &lt;/</a:t>
            </a:r>
            <a:r>
              <a:rPr lang="en-US" sz="2000">
                <a:solidFill>
                  <a:srgbClr val="006600"/>
                </a:solidFill>
              </a:rPr>
              <a:t>publisher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 1995 &lt;/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&lt;/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…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&lt;/</a:t>
            </a:r>
            <a:r>
              <a:rPr lang="en-US" sz="2000">
                <a:solidFill>
                  <a:srgbClr val="006600"/>
                </a:solidFill>
              </a:rPr>
              <a:t>bibliography</a:t>
            </a:r>
            <a:r>
              <a:rPr lang="en-US" sz="2000"/>
              <a:t>&gt;</a:t>
            </a:r>
            <a:endParaRPr/>
          </a:p>
        </p:txBody>
      </p:sp>
      <p:sp>
        <p:nvSpPr>
          <p:cNvPr id="424" name="Google Shape;424;p18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XML</a:t>
            </a:r>
            <a:endParaRPr/>
          </a:p>
        </p:txBody>
      </p:sp>
      <p:sp>
        <p:nvSpPr>
          <p:cNvPr id="425" name="Google Shape;425;p18"/>
          <p:cNvSpPr txBox="1"/>
          <p:nvPr/>
        </p:nvSpPr>
        <p:spPr>
          <a:xfrm>
            <a:off x="4614985" y="4514850"/>
            <a:ext cx="31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XML specifies content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9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XML</a:t>
            </a:r>
            <a:endParaRPr/>
          </a:p>
        </p:txBody>
      </p:sp>
      <p:grpSp>
        <p:nvGrpSpPr>
          <p:cNvPr id="432" name="Google Shape;432;p19"/>
          <p:cNvGrpSpPr/>
          <p:nvPr/>
        </p:nvGrpSpPr>
        <p:grpSpPr>
          <a:xfrm>
            <a:off x="762000" y="800100"/>
            <a:ext cx="4495800" cy="2686050"/>
            <a:chOff x="480" y="672"/>
            <a:chExt cx="2832" cy="2256"/>
          </a:xfrm>
        </p:grpSpPr>
        <p:grpSp>
          <p:nvGrpSpPr>
            <p:cNvPr id="433" name="Google Shape;433;p19"/>
            <p:cNvGrpSpPr/>
            <p:nvPr/>
          </p:nvGrpSpPr>
          <p:grpSpPr>
            <a:xfrm>
              <a:off x="480" y="1134"/>
              <a:ext cx="1920" cy="1794"/>
              <a:chOff x="480" y="1134"/>
              <a:chExt cx="1920" cy="1794"/>
            </a:xfrm>
          </p:grpSpPr>
          <p:sp>
            <p:nvSpPr>
              <p:cNvPr id="434" name="Google Shape;434;p19"/>
              <p:cNvSpPr/>
              <p:nvPr/>
            </p:nvSpPr>
            <p:spPr>
              <a:xfrm>
                <a:off x="1536" y="1584"/>
                <a:ext cx="528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864" y="1344"/>
                <a:ext cx="528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1536" y="1824"/>
                <a:ext cx="720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1536" y="2064"/>
                <a:ext cx="720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1527" y="2283"/>
                <a:ext cx="720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1536" y="2514"/>
                <a:ext cx="864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1536" y="2736"/>
                <a:ext cx="576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480" y="1134"/>
                <a:ext cx="1008" cy="192"/>
              </a:xfrm>
              <a:prstGeom prst="rect">
                <a:avLst/>
              </a:prstGeom>
              <a:solidFill>
                <a:srgbClr val="FFFF00">
                  <a:alpha val="4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" name="Google Shape;442;p19"/>
            <p:cNvSpPr/>
            <p:nvPr/>
          </p:nvSpPr>
          <p:spPr>
            <a:xfrm>
              <a:off x="1632" y="672"/>
              <a:ext cx="1680" cy="1200"/>
            </a:xfrm>
            <a:prstGeom prst="irregularSeal1">
              <a:avLst/>
            </a:prstGeom>
            <a:gradFill>
              <a:gsLst>
                <a:gs pos="0">
                  <a:srgbClr val="FFFF00"/>
                </a:gs>
                <a:gs pos="100000">
                  <a:srgbClr val="FFFFF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 tag</a:t>
              </a:r>
              <a:endParaRPr/>
            </a:p>
          </p:txBody>
        </p:sp>
      </p:grpSp>
      <p:grpSp>
        <p:nvGrpSpPr>
          <p:cNvPr id="443" name="Google Shape;443;p19"/>
          <p:cNvGrpSpPr/>
          <p:nvPr/>
        </p:nvGrpSpPr>
        <p:grpSpPr>
          <a:xfrm>
            <a:off x="762000" y="1885950"/>
            <a:ext cx="8382000" cy="3371850"/>
            <a:chOff x="480" y="1584"/>
            <a:chExt cx="5280" cy="2832"/>
          </a:xfrm>
        </p:grpSpPr>
        <p:grpSp>
          <p:nvGrpSpPr>
            <p:cNvPr id="444" name="Google Shape;444;p19"/>
            <p:cNvGrpSpPr/>
            <p:nvPr/>
          </p:nvGrpSpPr>
          <p:grpSpPr>
            <a:xfrm>
              <a:off x="480" y="1584"/>
              <a:ext cx="4080" cy="2016"/>
              <a:chOff x="480" y="1584"/>
              <a:chExt cx="4080" cy="2016"/>
            </a:xfrm>
          </p:grpSpPr>
          <p:sp>
            <p:nvSpPr>
              <p:cNvPr id="445" name="Google Shape;445;p19"/>
              <p:cNvSpPr/>
              <p:nvPr/>
            </p:nvSpPr>
            <p:spPr>
              <a:xfrm>
                <a:off x="3120" y="1584"/>
                <a:ext cx="480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2937" y="1806"/>
                <a:ext cx="759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2553" y="2034"/>
                <a:ext cx="759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2688" y="2274"/>
                <a:ext cx="720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3600" y="2496"/>
                <a:ext cx="960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2496" y="2736"/>
                <a:ext cx="624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834" y="2967"/>
                <a:ext cx="606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480" y="3408"/>
                <a:ext cx="1056" cy="192"/>
              </a:xfrm>
              <a:prstGeom prst="rect">
                <a:avLst/>
              </a:prstGeom>
              <a:solidFill>
                <a:schemeClr val="accent2">
                  <a:alpha val="49803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3" name="Google Shape;453;p19"/>
            <p:cNvSpPr/>
            <p:nvPr/>
          </p:nvSpPr>
          <p:spPr>
            <a:xfrm>
              <a:off x="3168" y="2496"/>
              <a:ext cx="2592" cy="1920"/>
            </a:xfrm>
            <a:prstGeom prst="irregularSeal1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End tag</a:t>
              </a:r>
              <a:endParaRPr/>
            </a:p>
          </p:txBody>
        </p:sp>
      </p:grpSp>
      <p:sp>
        <p:nvSpPr>
          <p:cNvPr id="454" name="Google Shape;454;p19"/>
          <p:cNvSpPr txBox="1"/>
          <p:nvPr>
            <p:ph idx="1" type="body"/>
          </p:nvPr>
        </p:nvSpPr>
        <p:spPr>
          <a:xfrm>
            <a:off x="685800" y="1314450"/>
            <a:ext cx="65850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bibliography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&lt;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   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 Foundations… &lt;/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Abiteboul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Hull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Vianu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publisher</a:t>
            </a:r>
            <a:r>
              <a:rPr lang="en-US" sz="2000"/>
              <a:t>&gt; Addison Wesley &lt;/</a:t>
            </a:r>
            <a:r>
              <a:rPr lang="en-US" sz="2000">
                <a:solidFill>
                  <a:srgbClr val="006600"/>
                </a:solidFill>
              </a:rPr>
              <a:t>publisher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 1995 &lt;/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&lt;/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…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&lt;/</a:t>
            </a:r>
            <a:r>
              <a:rPr lang="en-US" sz="2000">
                <a:solidFill>
                  <a:srgbClr val="006600"/>
                </a:solidFill>
              </a:rPr>
              <a:t>bibliography</a:t>
            </a:r>
            <a:r>
              <a:rPr lang="en-US" sz="2000"/>
              <a:t>&gt;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609600" y="1314450"/>
            <a:ext cx="7010400" cy="30291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0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XML</a:t>
            </a:r>
            <a:endParaRPr/>
          </a:p>
        </p:txBody>
      </p:sp>
      <p:sp>
        <p:nvSpPr>
          <p:cNvPr id="462" name="Google Shape;462;p20"/>
          <p:cNvSpPr txBox="1"/>
          <p:nvPr>
            <p:ph idx="1" type="body"/>
          </p:nvPr>
        </p:nvSpPr>
        <p:spPr>
          <a:xfrm>
            <a:off x="685800" y="1314450"/>
            <a:ext cx="65850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bibliography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&lt;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   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 Foundations… &lt;/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Abiteboul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Hull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Vianu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publisher</a:t>
            </a:r>
            <a:r>
              <a:rPr lang="en-US" sz="2000"/>
              <a:t>&gt; Addison Wesley &lt;/</a:t>
            </a:r>
            <a:r>
              <a:rPr lang="en-US" sz="2000">
                <a:solidFill>
                  <a:srgbClr val="006600"/>
                </a:solidFill>
              </a:rPr>
              <a:t>publisher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                &lt;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 1995 &lt;/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&lt;/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None/>
            </a:pPr>
            <a:r>
              <a:rPr lang="en-US" sz="2000"/>
              <a:t>  …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&lt;/</a:t>
            </a:r>
            <a:r>
              <a:rPr lang="en-US" sz="2000">
                <a:solidFill>
                  <a:srgbClr val="006600"/>
                </a:solidFill>
              </a:rPr>
              <a:t>bibliography</a:t>
            </a:r>
            <a:r>
              <a:rPr lang="en-US" sz="2000"/>
              <a:t>&gt;</a:t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609600" y="1600200"/>
            <a:ext cx="7010400" cy="2286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609600" y="1885950"/>
            <a:ext cx="70104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609600" y="2171700"/>
            <a:ext cx="70104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609600" y="2457450"/>
            <a:ext cx="70104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609600" y="2743200"/>
            <a:ext cx="70104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609600" y="3028950"/>
            <a:ext cx="70104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609600" y="3314700"/>
            <a:ext cx="70104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1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Basic Concepts on XML</a:t>
            </a:r>
            <a:endParaRPr/>
          </a:p>
        </p:txBody>
      </p:sp>
      <p:sp>
        <p:nvSpPr>
          <p:cNvPr id="476" name="Google Shape;476;p21"/>
          <p:cNvSpPr txBox="1"/>
          <p:nvPr>
            <p:ph idx="1" type="body"/>
          </p:nvPr>
        </p:nvSpPr>
        <p:spPr>
          <a:xfrm>
            <a:off x="414338" y="1314450"/>
            <a:ext cx="71031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tag: </a:t>
            </a:r>
            <a:r>
              <a:rPr lang="en-US" sz="2400">
                <a:solidFill>
                  <a:srgbClr val="006600"/>
                </a:solidFill>
              </a:rPr>
              <a:t>book</a:t>
            </a:r>
            <a:r>
              <a:rPr lang="en-US" sz="2400"/>
              <a:t>, </a:t>
            </a:r>
            <a:r>
              <a:rPr lang="en-US" sz="2400">
                <a:solidFill>
                  <a:srgbClr val="006600"/>
                </a:solidFill>
              </a:rPr>
              <a:t>title</a:t>
            </a:r>
            <a:r>
              <a:rPr lang="en-US" sz="2400"/>
              <a:t>, </a:t>
            </a:r>
            <a:r>
              <a:rPr lang="en-US" sz="2400">
                <a:solidFill>
                  <a:srgbClr val="006600"/>
                </a:solidFill>
              </a:rPr>
              <a:t>author</a:t>
            </a:r>
            <a:r>
              <a:rPr lang="en-US" sz="2400"/>
              <a:t>, …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start tag: &lt;</a:t>
            </a:r>
            <a:r>
              <a:rPr lang="en-US" sz="2400">
                <a:solidFill>
                  <a:srgbClr val="006600"/>
                </a:solidFill>
              </a:rPr>
              <a:t>book</a:t>
            </a:r>
            <a:r>
              <a:rPr lang="en-US" sz="2400"/>
              <a:t>&gt;,  end tag: &lt;/</a:t>
            </a:r>
            <a:r>
              <a:rPr lang="en-US" sz="2400">
                <a:solidFill>
                  <a:srgbClr val="006600"/>
                </a:solidFill>
              </a:rPr>
              <a:t>book</a:t>
            </a:r>
            <a:r>
              <a:rPr lang="en-US" sz="2400"/>
              <a:t>&gt;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element: &lt;</a:t>
            </a:r>
            <a:r>
              <a:rPr lang="en-US" sz="2400">
                <a:solidFill>
                  <a:srgbClr val="006600"/>
                </a:solidFill>
              </a:rPr>
              <a:t>book</a:t>
            </a:r>
            <a:r>
              <a:rPr lang="en-US" sz="2400"/>
              <a:t>&gt;…&lt;</a:t>
            </a:r>
            <a:r>
              <a:rPr lang="en-US" sz="2400">
                <a:solidFill>
                  <a:srgbClr val="006600"/>
                </a:solidFill>
              </a:rPr>
              <a:t>book</a:t>
            </a:r>
            <a:r>
              <a:rPr lang="en-US" sz="2400"/>
              <a:t>&gt;,&lt;</a:t>
            </a:r>
            <a:r>
              <a:rPr lang="en-US" sz="2400">
                <a:solidFill>
                  <a:srgbClr val="006600"/>
                </a:solidFill>
              </a:rPr>
              <a:t>author</a:t>
            </a:r>
            <a:r>
              <a:rPr lang="en-US" sz="2400"/>
              <a:t>&gt;…&lt;/</a:t>
            </a:r>
            <a:r>
              <a:rPr lang="en-US" sz="2400">
                <a:solidFill>
                  <a:srgbClr val="006600"/>
                </a:solidFill>
              </a:rPr>
              <a:t>author</a:t>
            </a:r>
            <a:r>
              <a:rPr lang="en-US" sz="2400"/>
              <a:t>&gt;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Nested element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Empty element : &lt;</a:t>
            </a:r>
            <a:r>
              <a:rPr lang="en-US" sz="2400">
                <a:solidFill>
                  <a:srgbClr val="006600"/>
                </a:solidFill>
              </a:rPr>
              <a:t>red</a:t>
            </a:r>
            <a:r>
              <a:rPr lang="en-US" sz="2400"/>
              <a:t>&gt;&lt;/</a:t>
            </a:r>
            <a:r>
              <a:rPr lang="en-US" sz="2400">
                <a:solidFill>
                  <a:srgbClr val="006600"/>
                </a:solidFill>
              </a:rPr>
              <a:t>red</a:t>
            </a:r>
            <a:r>
              <a:rPr lang="en-US" sz="2400"/>
              <a:t>&gt; hay &lt;</a:t>
            </a:r>
            <a:r>
              <a:rPr lang="en-US" sz="2400">
                <a:solidFill>
                  <a:srgbClr val="006600"/>
                </a:solidFill>
              </a:rPr>
              <a:t>red</a:t>
            </a:r>
            <a:r>
              <a:rPr lang="en-US" sz="2400"/>
              <a:t>/&gt;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❖"/>
            </a:pPr>
            <a:r>
              <a:rPr lang="en-US" sz="2400"/>
              <a:t>Each XML document has a unique </a:t>
            </a:r>
            <a:r>
              <a:rPr i="1" lang="en-US" sz="2400"/>
              <a:t>root element</a:t>
            </a:r>
            <a:endParaRPr sz="2400"/>
          </a:p>
        </p:txBody>
      </p:sp>
      <p:sp>
        <p:nvSpPr>
          <p:cNvPr id="477" name="Google Shape;477;p21"/>
          <p:cNvSpPr txBox="1"/>
          <p:nvPr/>
        </p:nvSpPr>
        <p:spPr>
          <a:xfrm>
            <a:off x="498475" y="3257550"/>
            <a:ext cx="841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Well formed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document?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XML: Attribute</a:t>
            </a:r>
            <a:endParaRPr/>
          </a:p>
        </p:txBody>
      </p:sp>
      <p:sp>
        <p:nvSpPr>
          <p:cNvPr id="484" name="Google Shape;484;p22"/>
          <p:cNvSpPr txBox="1"/>
          <p:nvPr>
            <p:ph idx="1" type="body"/>
          </p:nvPr>
        </p:nvSpPr>
        <p:spPr>
          <a:xfrm>
            <a:off x="685800" y="1485900"/>
            <a:ext cx="49953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 </a:t>
            </a:r>
            <a:r>
              <a:rPr lang="en-US" sz="2000">
                <a:solidFill>
                  <a:srgbClr val="CC3300"/>
                </a:solidFill>
              </a:rPr>
              <a:t>price</a:t>
            </a:r>
            <a:r>
              <a:rPr lang="en-US" sz="2000"/>
              <a:t> = “55” </a:t>
            </a:r>
            <a:r>
              <a:rPr lang="en-US" sz="2000">
                <a:solidFill>
                  <a:srgbClr val="CC3300"/>
                </a:solidFill>
              </a:rPr>
              <a:t>currency</a:t>
            </a:r>
            <a:r>
              <a:rPr lang="en-US" sz="2000"/>
              <a:t> = “USD”&gt;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&lt;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 Foundations of Databases &lt;/</a:t>
            </a:r>
            <a:r>
              <a:rPr lang="en-US" sz="2000">
                <a:solidFill>
                  <a:srgbClr val="006600"/>
                </a:solidFill>
              </a:rPr>
              <a:t>title</a:t>
            </a:r>
            <a:r>
              <a:rPr lang="en-US" sz="2000"/>
              <a:t>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&lt;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 Abiteboul &lt;/</a:t>
            </a:r>
            <a:r>
              <a:rPr lang="en-US" sz="2000">
                <a:solidFill>
                  <a:srgbClr val="006600"/>
                </a:solidFill>
              </a:rPr>
              <a:t>author</a:t>
            </a:r>
            <a:r>
              <a:rPr lang="en-US" sz="2000"/>
              <a:t>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 …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   &lt;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 1995 &lt;/</a:t>
            </a:r>
            <a:r>
              <a:rPr lang="en-US" sz="2000">
                <a:solidFill>
                  <a:srgbClr val="006600"/>
                </a:solidFill>
              </a:rPr>
              <a:t>year</a:t>
            </a:r>
            <a:r>
              <a:rPr lang="en-US" sz="2000"/>
              <a:t>&gt;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lang="en-US" sz="2000"/>
              <a:t>&lt;/</a:t>
            </a:r>
            <a:r>
              <a:rPr lang="en-US" sz="2000">
                <a:solidFill>
                  <a:srgbClr val="006600"/>
                </a:solidFill>
              </a:rPr>
              <a:t>book</a:t>
            </a:r>
            <a:r>
              <a:rPr lang="en-US" sz="2000"/>
              <a:t>&gt;</a:t>
            </a:r>
            <a:endParaRPr/>
          </a:p>
        </p:txBody>
      </p:sp>
      <p:sp>
        <p:nvSpPr>
          <p:cNvPr id="485" name="Google Shape;485;p22"/>
          <p:cNvSpPr/>
          <p:nvPr/>
        </p:nvSpPr>
        <p:spPr>
          <a:xfrm>
            <a:off x="1662113" y="1521619"/>
            <a:ext cx="4038600" cy="2859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3"/>
          <p:cNvSpPr txBox="1"/>
          <p:nvPr>
            <p:ph type="ctrTitle"/>
          </p:nvPr>
        </p:nvSpPr>
        <p:spPr>
          <a:xfrm>
            <a:off x="457200" y="19431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Relational Database vs XML</a:t>
            </a:r>
            <a:endParaRPr/>
          </a:p>
        </p:txBody>
      </p:sp>
      <p:sp>
        <p:nvSpPr>
          <p:cNvPr id="491" name="Google Shape;491;p23"/>
          <p:cNvSpPr txBox="1"/>
          <p:nvPr>
            <p:ph idx="1" type="subTitle"/>
          </p:nvPr>
        </p:nvSpPr>
        <p:spPr>
          <a:xfrm>
            <a:off x="1828800" y="2800350"/>
            <a:ext cx="586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92" name="Google Shape;492;p23"/>
          <p:cNvSpPr txBox="1"/>
          <p:nvPr>
            <p:ph idx="12" type="sldNum"/>
          </p:nvPr>
        </p:nvSpPr>
        <p:spPr>
          <a:xfrm>
            <a:off x="6553200" y="4902994"/>
            <a:ext cx="2133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70C0"/>
                </a:solidFill>
              </a:rPr>
              <a:t>‹#›</a:t>
            </a:fld>
            <a:endParaRPr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 txBox="1"/>
          <p:nvPr>
            <p:ph type="title"/>
          </p:nvPr>
        </p:nvSpPr>
        <p:spPr>
          <a:xfrm>
            <a:off x="1447800" y="154781"/>
            <a:ext cx="685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In-class Discussion</a:t>
            </a:r>
            <a:endParaRPr/>
          </a:p>
        </p:txBody>
      </p:sp>
      <p:sp>
        <p:nvSpPr>
          <p:cNvPr id="498" name="Google Shape;498;p24"/>
          <p:cNvSpPr txBox="1"/>
          <p:nvPr>
            <p:ph idx="12" type="sldNum"/>
          </p:nvPr>
        </p:nvSpPr>
        <p:spPr>
          <a:xfrm>
            <a:off x="6553200" y="4891088"/>
            <a:ext cx="21336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9" name="Google Shape;499;p24"/>
          <p:cNvSpPr txBox="1"/>
          <p:nvPr/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Relational Database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be used in…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XML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/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be used in…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24"/>
          <p:cNvCxnSpPr/>
          <p:nvPr/>
        </p:nvCxnSpPr>
        <p:spPr>
          <a:xfrm>
            <a:off x="4572000" y="1143000"/>
            <a:ext cx="0" cy="3372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02" name="Google Shape;502;p24"/>
          <p:cNvSpPr/>
          <p:nvPr/>
        </p:nvSpPr>
        <p:spPr>
          <a:xfrm>
            <a:off x="6248400" y="1543050"/>
            <a:ext cx="2895588" cy="2285982"/>
          </a:xfrm>
          <a:prstGeom prst="irregularSeal1">
            <a:avLst/>
          </a:prstGeom>
          <a:gradFill>
            <a:gsLst>
              <a:gs pos="0">
                <a:srgbClr val="FFFF00"/>
              </a:gs>
              <a:gs pos="100000">
                <a:srgbClr val="FFFFFF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ms01_1">
  <a:themeElements>
    <a:clrScheme name="1_ms01_1 1">
      <a:dk1>
        <a:srgbClr val="1A1A70"/>
      </a:dk1>
      <a:lt1>
        <a:srgbClr val="FFFFFF"/>
      </a:lt1>
      <a:dk2>
        <a:srgbClr val="12449E"/>
      </a:dk2>
      <a:lt2>
        <a:srgbClr val="C0C0C0"/>
      </a:lt2>
      <a:accent1>
        <a:srgbClr val="3167D3"/>
      </a:accent1>
      <a:accent2>
        <a:srgbClr val="87A3E9"/>
      </a:accent2>
      <a:accent3>
        <a:srgbClr val="FFFFFF"/>
      </a:accent3>
      <a:accent4>
        <a:srgbClr val="14145F"/>
      </a:accent4>
      <a:accent5>
        <a:srgbClr val="ADB8E6"/>
      </a:accent5>
      <a:accent6>
        <a:srgbClr val="7A93D3"/>
      </a:accent6>
      <a:hlink>
        <a:srgbClr val="90B54D"/>
      </a:hlink>
      <a:folHlink>
        <a:srgbClr val="F6A2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2006-05-28T09:28:45Z</dcterms:created>
  <dc:creator>Tran Minh Triet</dc:creator>
</cp:coreProperties>
</file>