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Amatic SC"/>
      <p:regular r:id="rId24"/>
      <p:bold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Source Code Pr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AmaticSC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regular.fntdata"/><Relationship Id="rId25" Type="http://schemas.openxmlformats.org/officeDocument/2006/relationships/font" Target="fonts/AmaticSC-bold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urceCodePro-bold.fntdata"/><Relationship Id="rId30" Type="http://schemas.openxmlformats.org/officeDocument/2006/relationships/font" Target="fonts/SourceCodePro-regular.fntdata"/><Relationship Id="rId11" Type="http://schemas.openxmlformats.org/officeDocument/2006/relationships/slide" Target="slides/slide6.xml"/><Relationship Id="rId33" Type="http://schemas.openxmlformats.org/officeDocument/2006/relationships/font" Target="fonts/SourceCodePro-boldItalic.fntdata"/><Relationship Id="rId10" Type="http://schemas.openxmlformats.org/officeDocument/2006/relationships/slide" Target="slides/slide5.xml"/><Relationship Id="rId32" Type="http://schemas.openxmlformats.org/officeDocument/2006/relationships/font" Target="fonts/SourceCodePr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37466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37466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fd6c40b89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fd6c40b89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fd6c40b89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fd6c40b89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fd6c40b89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fd6c40b89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fd6c40b89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fd6c40b89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fd6c40b89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fd6c40b89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fd6c40b89_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fd6c40b89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fd6c40b89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fd6c40b89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fd6c40b89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fd6c40b89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fd6c40b89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fd6c40b89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fd6c40b89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fd6c40b89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fd6c40b89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fd6c40b89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fd6c40b89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fd6c40b89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https://nndkhoa.github.io/software-design-docs/D05/architecture.html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https://learning.oreilly.com/library/view/software-architecture-patterns/9781098134280/ch02.html#idm46088525263056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https://learning.oreilly.com/library/view/fundamentals-of-software/9781098175504/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en" sz="4300">
                <a:solidFill>
                  <a:srgbClr val="3D3B4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Architecture Classification</a:t>
            </a:r>
            <a:endParaRPr sz="4300">
              <a:solidFill>
                <a:srgbClr val="3D3B4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2350">
                <a:solidFill>
                  <a:srgbClr val="3D3B4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Monolithic Architectures</a:t>
            </a:r>
            <a:endParaRPr b="1" sz="2350">
              <a:solidFill>
                <a:srgbClr val="3D3B4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2350">
                <a:solidFill>
                  <a:srgbClr val="3D3B4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Distributed Architectures</a:t>
            </a:r>
            <a:endParaRPr b="1" sz="2350">
              <a:solidFill>
                <a:srgbClr val="3D3B4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028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5319"/>
              <a:buFont typeface="Calibri"/>
              <a:buChar char="-"/>
            </a:pPr>
            <a:r>
              <a:rPr b="1" lang="en" sz="2350">
                <a:solidFill>
                  <a:srgbClr val="3D3B4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Monolithic Architectures                        </a:t>
            </a:r>
            <a:r>
              <a:rPr lang="en" sz="2350">
                <a:solidFill>
                  <a:srgbClr val="3D3B4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Distributed Architectures</a:t>
            </a:r>
            <a:endParaRPr sz="2350">
              <a:solidFill>
                <a:srgbClr val="3D3B4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90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B49"/>
              </a:buClr>
              <a:buSzPct val="100000"/>
              <a:buFont typeface="Times New Roman"/>
              <a:buChar char="-"/>
            </a:pPr>
            <a:r>
              <a:t/>
            </a:r>
            <a:endParaRPr sz="2350">
              <a:solidFill>
                <a:srgbClr val="3D3B4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750" y="889500"/>
            <a:ext cx="3805551" cy="361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3" y="947750"/>
            <a:ext cx="359901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en" sz="4300">
                <a:solidFill>
                  <a:srgbClr val="3D3B4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Architecture Partitioning</a:t>
            </a:r>
            <a:endParaRPr sz="4300">
              <a:solidFill>
                <a:srgbClr val="3D3B4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2350">
                <a:solidFill>
                  <a:srgbClr val="3D3B4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Technical Partitioning</a:t>
            </a:r>
            <a:endParaRPr b="1" sz="2350">
              <a:solidFill>
                <a:srgbClr val="3D3B4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2350">
                <a:solidFill>
                  <a:srgbClr val="3D3B4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Domain Partitioning</a:t>
            </a:r>
            <a:endParaRPr b="1" sz="2350">
              <a:solidFill>
                <a:srgbClr val="3D3B4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87" y="0"/>
            <a:ext cx="390072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9855" y="0"/>
            <a:ext cx="420244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patterns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MVC vs MVP vs MVVM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CQRS (</a:t>
            </a:r>
            <a:r>
              <a:rPr i="1" lang="en" sz="1200">
                <a:solidFill>
                  <a:srgbClr val="3D3B4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Command-Query-Responsibility-Segregation)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2300">
                <a:solidFill>
                  <a:srgbClr val="181C1F"/>
                </a:solidFill>
                <a:latin typeface="Roboto"/>
                <a:ea typeface="Roboto"/>
                <a:cs typeface="Roboto"/>
                <a:sym typeface="Roboto"/>
              </a:rPr>
              <a:t>Hexagonal </a:t>
            </a:r>
            <a:r>
              <a:rPr lang="en" sz="2300">
                <a:solidFill>
                  <a:srgbClr val="181C1F"/>
                </a:solidFill>
                <a:latin typeface="Roboto"/>
                <a:ea typeface="Roboto"/>
                <a:cs typeface="Roboto"/>
                <a:sym typeface="Roboto"/>
              </a:rPr>
              <a:t>Architecture </a:t>
            </a:r>
            <a:r>
              <a:rPr lang="en" sz="2300">
                <a:solidFill>
                  <a:srgbClr val="181C1F"/>
                </a:solidFill>
                <a:latin typeface="Roboto"/>
                <a:ea typeface="Roboto"/>
                <a:cs typeface="Roboto"/>
                <a:sym typeface="Roboto"/>
              </a:rPr>
              <a:t>vs Clean </a:t>
            </a:r>
            <a:r>
              <a:rPr lang="en" sz="2300">
                <a:solidFill>
                  <a:srgbClr val="181C1F"/>
                </a:solidFill>
                <a:latin typeface="Roboto"/>
                <a:ea typeface="Roboto"/>
                <a:cs typeface="Roboto"/>
                <a:sym typeface="Roboto"/>
              </a:rPr>
              <a:t>Architecture </a:t>
            </a:r>
            <a:r>
              <a:rPr lang="en" sz="2300">
                <a:solidFill>
                  <a:srgbClr val="181C1F"/>
                </a:solidFill>
                <a:latin typeface="Roboto"/>
                <a:ea typeface="Roboto"/>
                <a:cs typeface="Roboto"/>
                <a:sym typeface="Roboto"/>
              </a:rPr>
              <a:t>vs Onion Architecture</a:t>
            </a:r>
            <a:endParaRPr sz="2300">
              <a:solidFill>
                <a:srgbClr val="181C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-"/>
            </a:pPr>
            <a:r>
              <a:t/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CQRS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Commands, which handle state-changing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operations such as insert, update, and delete.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Queries, which retrieve data 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without modifying the system state.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451" y="666750"/>
            <a:ext cx="4969126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CQRS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00" y="1093850"/>
            <a:ext cx="762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Hexagonal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0" y="1458484"/>
            <a:ext cx="9144001" cy="2880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Hexagonal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575" y="1282150"/>
            <a:ext cx="7025179" cy="328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Onion ARCHITECTURE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450" y="1048500"/>
            <a:ext cx="6804501" cy="447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ARCHITECTURE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574" y="936050"/>
            <a:ext cx="5728649" cy="42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720" y="0"/>
            <a:ext cx="417456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