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4" roundtripDataSignature="AMtx7mgp2vAPbjLJtOYOd8f2YY9U+SRX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8DFEAD-01D9-4BE2-B48C-D7FB6EAE1FFC}">
  <a:tblStyle styleId="{018DFEAD-01D9-4BE2-B48C-D7FB6EAE1F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 name="Google Shape;11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19" name="Google Shape;119;p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20" name="Google Shape;120;p3:notes"/>
          <p:cNvSpPr txBox="1"/>
          <p:nvPr/>
        </p:nvSpPr>
        <p:spPr>
          <a:xfrm>
            <a:off x="584200" y="1203325"/>
            <a:ext cx="1962150" cy="59340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800">
                <a:solidFill>
                  <a:schemeClr val="dk2"/>
                </a:solidFill>
                <a:latin typeface="Arial"/>
                <a:ea typeface="Arial"/>
                <a:cs typeface="Arial"/>
                <a:sym typeface="Arial"/>
              </a:rPr>
              <a:t>To document a Use-Case Realization:</a:t>
            </a:r>
            <a:endParaRPr/>
          </a:p>
          <a:p>
            <a:pPr indent="-114300" lvl="0" marL="0" marR="0" rtl="0" algn="l">
              <a:lnSpc>
                <a:spcPct val="90000"/>
              </a:lnSpc>
              <a:spcBef>
                <a:spcPts val="900"/>
              </a:spcBef>
              <a:spcAft>
                <a:spcPts val="0"/>
              </a:spcAft>
              <a:buClr>
                <a:schemeClr val="dk2"/>
              </a:buClr>
              <a:buSzPts val="1800"/>
              <a:buFont typeface="Arial"/>
              <a:buChar char="•"/>
            </a:pPr>
            <a:r>
              <a:rPr lang="en-US" sz="1800">
                <a:solidFill>
                  <a:schemeClr val="dk2"/>
                </a:solidFill>
                <a:latin typeface="Arial"/>
                <a:ea typeface="Arial"/>
                <a:cs typeface="Arial"/>
                <a:sym typeface="Arial"/>
              </a:rPr>
              <a:t> Create a separate Use-Case Realization package in the Logical View package.</a:t>
            </a:r>
            <a:endParaRPr/>
          </a:p>
          <a:p>
            <a:pPr indent="-114300" lvl="0" marL="0" marR="0" rtl="0" algn="l">
              <a:lnSpc>
                <a:spcPct val="90000"/>
              </a:lnSpc>
              <a:spcBef>
                <a:spcPts val="900"/>
              </a:spcBef>
              <a:spcAft>
                <a:spcPts val="0"/>
              </a:spcAft>
              <a:buClr>
                <a:schemeClr val="dk2"/>
              </a:buClr>
              <a:buSzPts val="1800"/>
              <a:buFont typeface="Arial"/>
              <a:buChar char="•"/>
            </a:pPr>
            <a:r>
              <a:rPr lang="en-US" sz="1800">
                <a:solidFill>
                  <a:schemeClr val="dk2"/>
                </a:solidFill>
                <a:latin typeface="Arial"/>
                <a:ea typeface="Arial"/>
                <a:cs typeface="Arial"/>
                <a:sym typeface="Arial"/>
              </a:rPr>
              <a:t> In the new Use-Case Realization package, create a separate package for each use case that will be realized.</a:t>
            </a:r>
            <a:endParaRPr/>
          </a:p>
          <a:p>
            <a:pPr indent="-114300" lvl="0" marL="0" marR="0" rtl="0" algn="l">
              <a:lnSpc>
                <a:spcPct val="90000"/>
              </a:lnSpc>
              <a:spcBef>
                <a:spcPts val="900"/>
              </a:spcBef>
              <a:spcAft>
                <a:spcPts val="0"/>
              </a:spcAft>
              <a:buClr>
                <a:schemeClr val="dk2"/>
              </a:buClr>
              <a:buSzPts val="1800"/>
              <a:buFont typeface="Arial"/>
              <a:buChar char="•"/>
            </a:pPr>
            <a:r>
              <a:rPr lang="en-US" sz="1800">
                <a:solidFill>
                  <a:schemeClr val="dk2"/>
                </a:solidFill>
                <a:latin typeface="Arial"/>
                <a:ea typeface="Arial"/>
                <a:cs typeface="Arial"/>
                <a:sym typeface="Arial"/>
              </a:rPr>
              <a:t> In the newly created package, add another use case with exactly the same name to act as the placeholder for the original use case and stereotype it as &lt;&lt;realization&gt;&gt;.</a:t>
            </a:r>
            <a:br>
              <a:rPr lang="en-US" sz="1800">
                <a:solidFill>
                  <a:schemeClr val="dk2"/>
                </a:solidFill>
                <a:latin typeface="Arial"/>
                <a:ea typeface="Arial"/>
                <a:cs typeface="Arial"/>
                <a:sym typeface="Arial"/>
              </a:rPr>
            </a:br>
            <a:endParaRPr sz="1800">
              <a:solidFill>
                <a:schemeClr val="dk2"/>
              </a:solidFill>
              <a:latin typeface="Arial"/>
              <a:ea typeface="Arial"/>
              <a:cs typeface="Arial"/>
              <a:sym typeface="Arial"/>
            </a:endParaRPr>
          </a:p>
          <a:p>
            <a:pPr indent="-114300" lvl="0" marL="0" marR="0" rtl="0" algn="l">
              <a:lnSpc>
                <a:spcPct val="90000"/>
              </a:lnSpc>
              <a:spcBef>
                <a:spcPts val="900"/>
              </a:spcBef>
              <a:spcAft>
                <a:spcPts val="0"/>
              </a:spcAft>
              <a:buClr>
                <a:schemeClr val="dk2"/>
              </a:buClr>
              <a:buSzPts val="1800"/>
              <a:buFont typeface="Arial"/>
              <a:buChar char="•"/>
            </a:pPr>
            <a:r>
              <a:rPr lang="en-US" sz="1800">
                <a:solidFill>
                  <a:schemeClr val="dk2"/>
                </a:solidFill>
                <a:latin typeface="Arial"/>
                <a:ea typeface="Arial"/>
                <a:cs typeface="Arial"/>
                <a:sym typeface="Arial"/>
              </a:rPr>
              <a:t> “Attach” all Interaction and class diagrams to the Use-Case Realization.  </a:t>
            </a:r>
            <a:r>
              <a:rPr lang="en-US" sz="1800">
                <a:solidFill>
                  <a:schemeClr val="dk1"/>
                </a:solidFill>
                <a:latin typeface="Arial"/>
                <a:ea typeface="Arial"/>
                <a:cs typeface="Arial"/>
                <a:sym typeface="Arial"/>
              </a:rPr>
              <a:t>It is recommended that you name the Interaction diagrams "&lt;use-case name&gt; - &lt;flow type&gt;". This naming convention simplifies future tracing of objects to the Use-Case Realization that they participate in.</a:t>
            </a:r>
            <a:endParaRPr sz="1800">
              <a:solidFill>
                <a:schemeClr val="dk2"/>
              </a:solidFill>
              <a:latin typeface="Arial"/>
              <a:ea typeface="Arial"/>
              <a:cs typeface="Arial"/>
              <a:sym typeface="Arial"/>
            </a:endParaRPr>
          </a:p>
          <a:p>
            <a:pPr indent="-114300" lvl="0" marL="0" marR="0" rtl="0" algn="l">
              <a:lnSpc>
                <a:spcPct val="90000"/>
              </a:lnSpc>
              <a:spcBef>
                <a:spcPts val="900"/>
              </a:spcBef>
              <a:spcAft>
                <a:spcPts val="0"/>
              </a:spcAft>
              <a:buClr>
                <a:schemeClr val="dk1"/>
              </a:buClr>
              <a:buSzPts val="1800"/>
              <a:buFont typeface="Arial"/>
              <a:buChar char="•"/>
            </a:pPr>
            <a:r>
              <a:rPr lang="en-US" sz="1800">
                <a:solidFill>
                  <a:schemeClr val="dk1"/>
                </a:solidFill>
                <a:latin typeface="Arial"/>
                <a:ea typeface="Arial"/>
                <a:cs typeface="Arial"/>
                <a:sym typeface="Arial"/>
              </a:rPr>
              <a:t> The traceability between a Use-Case Realization and the corresponding use case is done by dragging and dropping the use case and the realization into a class diagram called “Traceabilities,” owned by the “Use-Case Realization” package.  Draw a unidirectional association from the realization to the use case and set its stereotype to &lt;&lt;realizes&gt;&gt;.  </a:t>
            </a:r>
            <a:endParaRPr/>
          </a:p>
        </p:txBody>
      </p:sp>
      <p:sp>
        <p:nvSpPr>
          <p:cNvPr id="121" name="Google Shape;121;p3: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2" name="Google Shape;122;p3: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As discussed in the Analysis and Design Overview module, a Use-Case Realization describes how a particular use case is realized within the Design Model in terms of collaborating objects. A Use-Case Realization in the Design Model can be traced to a use case in the Use-Case Model. A realization relationship is drawn from the Use-Case Realization to the use case it realizes.</a:t>
            </a:r>
            <a:endParaRPr/>
          </a:p>
          <a:p>
            <a:pPr indent="0" lvl="0" marL="0" rtl="0" algn="l">
              <a:spcBef>
                <a:spcPts val="300"/>
              </a:spcBef>
              <a:spcAft>
                <a:spcPts val="0"/>
              </a:spcAft>
              <a:buNone/>
            </a:pPr>
            <a:r>
              <a:rPr lang="en-US" sz="1000">
                <a:latin typeface="Arial"/>
                <a:ea typeface="Arial"/>
                <a:cs typeface="Arial"/>
                <a:sym typeface="Arial"/>
              </a:rPr>
              <a:t>A Use-Case Realization is one possible realization of a use case. A Use-Case Realization can be represented using a set of diagrams (the number and type may vary by project).</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Interaction diagrams (Sequence and/or Communication diagrams) can be used to describe how the use case is realized in terms of collaborating objects. These diagrams model the detailed collaborations of the Use-Case Realization.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Class diagrams can be used to describe the classes that participate in the realization of the use case, as well as their supporting relationships. These diagrams model the context of the Use-Case Realization.</a:t>
            </a:r>
            <a:endParaRPr/>
          </a:p>
          <a:p>
            <a:pPr indent="0" lvl="0" marL="0" rtl="0" algn="l">
              <a:spcBef>
                <a:spcPts val="300"/>
              </a:spcBef>
              <a:spcAft>
                <a:spcPts val="0"/>
              </a:spcAft>
              <a:buNone/>
            </a:pPr>
            <a:r>
              <a:rPr lang="en-US" sz="1000">
                <a:latin typeface="Arial"/>
                <a:ea typeface="Arial"/>
                <a:cs typeface="Arial"/>
                <a:sym typeface="Arial"/>
              </a:rPr>
              <a:t>During analysis activities (</a:t>
            </a:r>
            <a:r>
              <a:rPr b="1" lang="en-US" sz="1000">
                <a:latin typeface="Arial"/>
                <a:ea typeface="Arial"/>
                <a:cs typeface="Arial"/>
                <a:sym typeface="Arial"/>
              </a:rPr>
              <a:t>Use-Case Analysis</a:t>
            </a:r>
            <a:r>
              <a:rPr lang="en-US" sz="1000">
                <a:latin typeface="Arial"/>
                <a:ea typeface="Arial"/>
                <a:cs typeface="Arial"/>
                <a:sym typeface="Arial"/>
              </a:rPr>
              <a:t>), the Use-Case Realization diagrams are outlined. In subsequent design activities (Use-Case Design), these diagrams are refined and updated according to more formal class interface definitions. </a:t>
            </a:r>
            <a:endParaRPr/>
          </a:p>
          <a:p>
            <a:pPr indent="0" lvl="0" marL="0" rtl="0" algn="l">
              <a:spcBef>
                <a:spcPts val="300"/>
              </a:spcBef>
              <a:spcAft>
                <a:spcPts val="0"/>
              </a:spcAft>
              <a:buNone/>
            </a:pPr>
            <a:r>
              <a:rPr lang="en-US" sz="1000">
                <a:latin typeface="Arial"/>
                <a:ea typeface="Arial"/>
                <a:cs typeface="Arial"/>
                <a:sym typeface="Arial"/>
              </a:rPr>
              <a:t>A designer is responsible for the integrity of the Use-Case Realization. He or she must coordinate with the designers responsible for the classes and relationships employed in the Use-Case Realization.  The Use-Case Realization can be used by class designers to understand the class’s role in the use case and how the class interacts with other classes.  This information can be used to determine or refine the class responsibilities and interfaces.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228" name="Google Shape;228;p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229" name="Google Shape;229;p4:notes"/>
          <p:cNvSpPr txBox="1"/>
          <p:nvPr/>
        </p:nvSpPr>
        <p:spPr>
          <a:xfrm>
            <a:off x="584200" y="1206500"/>
            <a:ext cx="1881188" cy="4816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Some of the work done in analysis is thrown away. This isn’t bad, since you need to play with the ideas to see what works and what doesn’t, but expect that much of the work done during analysis is a kind of “structured doodling.” The biggest mistakes happen when people assign too much value to the early results of analysis.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need to define analysis classes in UML terms creates a sense that they are more formal than they are. An instructor once referred to analysis classes as “CRC-like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cards, on which you can scribble anything you want in the margins.”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This course concentrates on the development of a Design Model. Maintaining a separate Analysis Model would require some modifications to the presented activities, the discussion of which is out of the scope of this course.</a:t>
            </a:r>
            <a:endParaRPr/>
          </a:p>
        </p:txBody>
      </p:sp>
      <p:sp>
        <p:nvSpPr>
          <p:cNvPr id="230" name="Google Shape;230;p4:notes"/>
          <p:cNvSpPr/>
          <p:nvPr>
            <p:ph idx="3" type="sldImg"/>
          </p:nvPr>
        </p:nvSpPr>
        <p:spPr>
          <a:xfrm>
            <a:off x="1882775" y="81756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31" name="Google Shape;231;p4: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Finding a candidate set of roles is the first step in the transformation of the system from a mere statement of required behavior to a description of how the system will work.</a:t>
            </a:r>
            <a:endParaRPr/>
          </a:p>
          <a:p>
            <a:pPr indent="0" lvl="0" marL="0" rtl="0" algn="l">
              <a:spcBef>
                <a:spcPts val="300"/>
              </a:spcBef>
              <a:spcAft>
                <a:spcPts val="0"/>
              </a:spcAft>
              <a:buNone/>
            </a:pPr>
            <a:r>
              <a:rPr lang="en-US" sz="1000">
                <a:latin typeface="Arial"/>
                <a:ea typeface="Arial"/>
                <a:cs typeface="Arial"/>
                <a:sym typeface="Arial"/>
              </a:rPr>
              <a:t>The analysis classes, taken together, represent an early conceptual model of the system. This conceptual model evolves quickly and remains fluid for some time as different representations and their implications are explored. Formal documentation can impede this process, so be careful how much energy you expend on maintaining this “mode”’ in a formal sense; you can waste a lot of time polishing a model that is largely expendable. Analysis classes rarely survive into the design unchanged. Many of them represent whole collaborations of objects, often encapsulated by subsystems.</a:t>
            </a:r>
            <a:endParaRPr/>
          </a:p>
          <a:p>
            <a:pPr indent="0" lvl="0" marL="0" rtl="0" algn="l">
              <a:spcBef>
                <a:spcPts val="300"/>
              </a:spcBef>
              <a:spcAft>
                <a:spcPts val="0"/>
              </a:spcAft>
              <a:buNone/>
            </a:pPr>
            <a:r>
              <a:rPr lang="en-US" sz="1000">
                <a:latin typeface="Arial"/>
                <a:ea typeface="Arial"/>
                <a:cs typeface="Arial"/>
                <a:sym typeface="Arial"/>
              </a:rPr>
              <a:t>Analysis classes are “proto-classes,” which are essentially "clumps of behavior." These analysis classes are early conjectures of the composition of the system; they rarely survive intact into Implementation. Many of the analysis classes morph into something else later (subsystems, components, split classes, or combined classes). They provide you with a way of capturing the required behaviors in a form that we can use to explore the behavior and composition of the system. Analysis classes allow us to "play" with the distribution of responsibilities, re-allocating as necessary.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346" name="Google Shape;346;p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347" name="Google Shape;347;p5:notes"/>
          <p:cNvSpPr txBox="1"/>
          <p:nvPr/>
        </p:nvSpPr>
        <p:spPr>
          <a:xfrm>
            <a:off x="584200" y="1206500"/>
            <a:ext cx="1798638" cy="1539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Do you find classes or objects first? Some people naturally think in abstractions. They find classes first. Others think concretely. They find objects first and then abstract these objects into classes.</a:t>
            </a:r>
            <a:endParaRPr/>
          </a:p>
          <a:p>
            <a:pPr indent="0" lvl="0" marL="0" marR="0" rtl="0" algn="l">
              <a:spcBef>
                <a:spcPts val="900"/>
              </a:spcBef>
              <a:spcAft>
                <a:spcPts val="0"/>
              </a:spcAft>
              <a:buNone/>
            </a:pPr>
            <a:r>
              <a:t/>
            </a:r>
            <a:endParaRPr sz="1800">
              <a:solidFill>
                <a:schemeClr val="dk1"/>
              </a:solidFill>
              <a:latin typeface="Arial"/>
              <a:ea typeface="Arial"/>
              <a:cs typeface="Arial"/>
              <a:sym typeface="Arial"/>
            </a:endParaRPr>
          </a:p>
        </p:txBody>
      </p:sp>
      <p:sp>
        <p:nvSpPr>
          <p:cNvPr id="348" name="Google Shape;348;p5: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49" name="Google Shape;349;p5: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The technique for finding analysis classes described in this module uses three different perspectives of the system to drive the identification of candidate classes. These three perspectives are:</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boundary between the system and its actors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information the system uses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control logic of the system </a:t>
            </a:r>
            <a:endParaRPr/>
          </a:p>
          <a:p>
            <a:pPr indent="0" lvl="0" marL="0" rtl="0" algn="l">
              <a:spcBef>
                <a:spcPts val="300"/>
              </a:spcBef>
              <a:spcAft>
                <a:spcPts val="0"/>
              </a:spcAft>
              <a:buNone/>
            </a:pPr>
            <a:r>
              <a:rPr lang="en-US" sz="1000">
                <a:latin typeface="Arial"/>
                <a:ea typeface="Arial"/>
                <a:cs typeface="Arial"/>
                <a:sym typeface="Arial"/>
              </a:rPr>
              <a:t>The use of stereotypes to represent these perspectives (for example, boundary, control, and entity) results in a more robust model because they isolate those things most likely to change in a system: the interface/environment, the control flow, and the key system entities.  These stereotypes are conveniences used during Analysis that disappear in Design.</a:t>
            </a:r>
            <a:endParaRPr/>
          </a:p>
          <a:p>
            <a:pPr indent="0" lvl="0" marL="0" rtl="0" algn="l">
              <a:spcBef>
                <a:spcPts val="300"/>
              </a:spcBef>
              <a:spcAft>
                <a:spcPts val="0"/>
              </a:spcAft>
              <a:buNone/>
            </a:pPr>
            <a:r>
              <a:rPr lang="en-US" sz="1000">
                <a:latin typeface="Arial"/>
                <a:ea typeface="Arial"/>
                <a:cs typeface="Arial"/>
                <a:sym typeface="Arial"/>
              </a:rPr>
              <a:t>Identification of classes means just that: They should be identified, named, and described briefly in a few sentences.</a:t>
            </a:r>
            <a:endParaRPr/>
          </a:p>
          <a:p>
            <a:pPr indent="0" lvl="0" marL="0" rtl="0" algn="l">
              <a:spcBef>
                <a:spcPts val="300"/>
              </a:spcBef>
              <a:spcAft>
                <a:spcPts val="0"/>
              </a:spcAft>
              <a:buNone/>
            </a:pPr>
            <a:r>
              <a:rPr lang="en-US" sz="1000">
                <a:latin typeface="Arial"/>
                <a:ea typeface="Arial"/>
                <a:cs typeface="Arial"/>
                <a:sym typeface="Arial"/>
              </a:rPr>
              <a:t>The different stereotypes are discussed in more detail throughout this module.</a:t>
            </a:r>
            <a:endParaRPr/>
          </a:p>
          <a:p>
            <a:pPr indent="0" lvl="0" marL="0" rtl="0" algn="l">
              <a:spcBef>
                <a:spcPts val="300"/>
              </a:spcBef>
              <a:spcAft>
                <a:spcPts val="0"/>
              </a:spcAft>
              <a:buNone/>
            </a:pPr>
            <a:r>
              <a:t/>
            </a:r>
            <a:endParaRPr sz="1000">
              <a:latin typeface="Arial"/>
              <a:ea typeface="Arial"/>
              <a:cs typeface="Arial"/>
              <a:sym typeface="Arial"/>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405" name="Google Shape;405;p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406" name="Google Shape;406;p6:notes"/>
          <p:cNvSpPr txBox="1"/>
          <p:nvPr/>
        </p:nvSpPr>
        <p:spPr>
          <a:xfrm>
            <a:off x="584200" y="1206500"/>
            <a:ext cx="1897063" cy="6416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Entity classes are derived from the domain of the system. Boundary and control classes are ideal classes that are needed to describe the use cases inside the system.</a:t>
            </a:r>
            <a:endParaRPr/>
          </a:p>
          <a:p>
            <a:pPr indent="0" lvl="0" marL="0" marR="0" rtl="0" algn="l">
              <a:spcBef>
                <a:spcPts val="900"/>
              </a:spcBef>
              <a:spcAft>
                <a:spcPts val="0"/>
              </a:spcAft>
              <a:buNone/>
            </a:pPr>
            <a:r>
              <a:rPr lang="en-US" sz="1800">
                <a:solidFill>
                  <a:schemeClr val="dk2"/>
                </a:solidFill>
                <a:latin typeface="Arial"/>
                <a:ea typeface="Arial"/>
                <a:cs typeface="Arial"/>
                <a:sym typeface="Arial"/>
              </a:rPr>
              <a:t>Introducing the concepts of boundary and control classes in Analysis and utilizing their canned responsibilities has provided a little of a  “cook book” approach that some designers have been asking for. However, these class stereotypes can be misused.  Proper usage of these concepts will be discussed on later slides.</a:t>
            </a:r>
            <a:endParaRPr/>
          </a:p>
          <a:p>
            <a:pPr indent="0" lvl="0" marL="0" marR="0" rtl="0" algn="l">
              <a:spcBef>
                <a:spcPts val="900"/>
              </a:spcBef>
              <a:spcAft>
                <a:spcPts val="0"/>
              </a:spcAft>
              <a:buNone/>
            </a:pPr>
            <a:r>
              <a:rPr lang="en-US" sz="1800">
                <a:solidFill>
                  <a:schemeClr val="dk2"/>
                </a:solidFill>
                <a:latin typeface="Arial"/>
                <a:ea typeface="Arial"/>
                <a:cs typeface="Arial"/>
                <a:sym typeface="Arial"/>
              </a:rPr>
              <a:t>The purpose of the distinction between the different types of analysis classes is to think about the roles objects play, and to make sure the behavior is allocated according to the forces that cause objects to change. Once these forces have been considered and a good class decomposition has been developed, the distinction is no longer really useful.</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All analysis classes do not have to have a stereotype.  Just use the analysis class stereotypes when they help you.  Don't feel that every analysis class you identify must have a stereotype (but make sure you qualify its existence).</a:t>
            </a:r>
            <a:endParaRPr/>
          </a:p>
        </p:txBody>
      </p:sp>
      <p:sp>
        <p:nvSpPr>
          <p:cNvPr id="407" name="Google Shape;407;p6: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8" name="Google Shape;408;p6: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Analysis classes represent an early conceptual model for “things in the system that have responsibilities and behavior.” Analysis classes are used to capture a “first-draft” rough-cut of the Object Model of the system.</a:t>
            </a:r>
            <a:endParaRPr/>
          </a:p>
          <a:p>
            <a:pPr indent="0" lvl="0" marL="0" rtl="0" algn="l">
              <a:spcBef>
                <a:spcPts val="300"/>
              </a:spcBef>
              <a:spcAft>
                <a:spcPts val="0"/>
              </a:spcAft>
              <a:buNone/>
            </a:pPr>
            <a:r>
              <a:rPr lang="en-US" sz="1000">
                <a:latin typeface="Arial"/>
                <a:ea typeface="Arial"/>
                <a:cs typeface="Arial"/>
                <a:sym typeface="Arial"/>
              </a:rPr>
              <a:t>Analysis classes handle primarily functional requirements. They model objects from the problem domain. Analysis classes can be used to represent "the objects we want the system to support" without making a decision about how much of them to support with hardware and how much with software. </a:t>
            </a:r>
            <a:endParaRPr/>
          </a:p>
          <a:p>
            <a:pPr indent="0" lvl="0" marL="0" rtl="0" algn="l">
              <a:spcBef>
                <a:spcPts val="300"/>
              </a:spcBef>
              <a:spcAft>
                <a:spcPts val="0"/>
              </a:spcAft>
              <a:buNone/>
            </a:pPr>
            <a:r>
              <a:rPr lang="en-US" sz="1000">
                <a:latin typeface="Arial"/>
                <a:ea typeface="Arial"/>
                <a:cs typeface="Arial"/>
                <a:sym typeface="Arial"/>
              </a:rPr>
              <a:t>Three aspects of the system are likely to change: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boundary between the system and its actors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information the system uses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control logic of the system  </a:t>
            </a:r>
            <a:endParaRPr/>
          </a:p>
          <a:p>
            <a:pPr indent="0" lvl="0" marL="0" rtl="0" algn="l">
              <a:spcBef>
                <a:spcPts val="300"/>
              </a:spcBef>
              <a:spcAft>
                <a:spcPts val="0"/>
              </a:spcAft>
              <a:buNone/>
            </a:pPr>
            <a:r>
              <a:rPr lang="en-US" sz="1000">
                <a:latin typeface="Arial"/>
                <a:ea typeface="Arial"/>
                <a:cs typeface="Arial"/>
                <a:sym typeface="Arial"/>
              </a:rPr>
              <a:t>In an effort to isolate the parts of the system that will change, the following types of analysis classes are identified with a “canned” set of responsibilities: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Boundary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Entity</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Control</a:t>
            </a:r>
            <a:endParaRPr/>
          </a:p>
          <a:p>
            <a:pPr indent="0" lvl="0" marL="0" rtl="0" algn="l">
              <a:spcBef>
                <a:spcPts val="300"/>
              </a:spcBef>
              <a:spcAft>
                <a:spcPts val="0"/>
              </a:spcAft>
              <a:buNone/>
            </a:pPr>
            <a:r>
              <a:rPr lang="en-US" sz="1000">
                <a:latin typeface="Arial"/>
                <a:ea typeface="Arial"/>
                <a:cs typeface="Arial"/>
                <a:sym typeface="Arial"/>
              </a:rPr>
              <a:t>Stereotypes may be defined for each type. These distinctions are used during Analysis, but disappear in Design.  </a:t>
            </a:r>
            <a:endParaRPr/>
          </a:p>
          <a:p>
            <a:pPr indent="0" lvl="0" marL="0" rtl="0" algn="l">
              <a:spcBef>
                <a:spcPts val="300"/>
              </a:spcBef>
              <a:spcAft>
                <a:spcPts val="0"/>
              </a:spcAft>
              <a:buNone/>
            </a:pPr>
            <a:r>
              <a:rPr lang="en-US" sz="1000">
                <a:latin typeface="Arial"/>
                <a:ea typeface="Arial"/>
                <a:cs typeface="Arial"/>
                <a:sym typeface="Arial"/>
              </a:rPr>
              <a:t>The different types of analysis classes can be represented using different icons or with the name of the stereotype in guillemets (&lt;&lt; &gt;&gt;): &lt;&lt;boundary&gt;&gt;, &lt;&lt; control&gt;&gt;, &lt;&lt;entity&gt;&gt;.</a:t>
            </a:r>
            <a:endParaRPr/>
          </a:p>
          <a:p>
            <a:pPr indent="0" lvl="0" marL="0" rtl="0" algn="l">
              <a:spcBef>
                <a:spcPts val="300"/>
              </a:spcBef>
              <a:spcAft>
                <a:spcPts val="0"/>
              </a:spcAft>
              <a:buNone/>
            </a:pPr>
            <a:r>
              <a:rPr lang="en-US" sz="1000">
                <a:latin typeface="Arial"/>
                <a:ea typeface="Arial"/>
                <a:cs typeface="Arial"/>
                <a:sym typeface="Arial"/>
              </a:rPr>
              <a:t>Each of these types of analysis classes are discussed on the following slides.</a:t>
            </a:r>
            <a:endParaRPr/>
          </a:p>
          <a:p>
            <a:pPr indent="0" lvl="0" marL="0" rtl="0" algn="l">
              <a:spcBef>
                <a:spcPts val="300"/>
              </a:spcBef>
              <a:spcAft>
                <a:spcPts val="0"/>
              </a:spcAft>
              <a:buNone/>
            </a:pPr>
            <a:r>
              <a:t/>
            </a:r>
            <a:endParaRPr sz="1000">
              <a:latin typeface="Arial"/>
              <a:ea typeface="Arial"/>
              <a:cs typeface="Arial"/>
              <a:sym typeface="Arial"/>
            </a:endParaRPr>
          </a:p>
          <a:p>
            <a:pPr indent="0" lvl="0" marL="0" rtl="0" algn="l">
              <a:spcBef>
                <a:spcPts val="300"/>
              </a:spcBef>
              <a:spcAft>
                <a:spcPts val="0"/>
              </a:spcAft>
              <a:buNone/>
            </a:pPr>
            <a:r>
              <a:t/>
            </a:r>
            <a:endParaRPr sz="1000">
              <a:latin typeface="Arial"/>
              <a:ea typeface="Arial"/>
              <a:cs typeface="Arial"/>
              <a:sym typeface="Arial"/>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473" name="Google Shape;473;p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474" name="Google Shape;474;p7:notes"/>
          <p:cNvSpPr txBox="1"/>
          <p:nvPr/>
        </p:nvSpPr>
        <p:spPr>
          <a:xfrm>
            <a:off x="390525" y="1141413"/>
            <a:ext cx="1878013" cy="6381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75" name="Google Shape;475;p7: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76" name="Google Shape;476;p7: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 boundary class intermediates between the interface and something outside the system. Boundary classes insulate the system from changes in the surroundings (for example, changes in interfaces to other systems and changes in user requirements), keeping these changes from affecting the rest of the system.</a:t>
            </a:r>
            <a:endParaRPr/>
          </a:p>
          <a:p>
            <a:pPr indent="0" lvl="0" marL="0" rtl="0" algn="l">
              <a:spcBef>
                <a:spcPts val="300"/>
              </a:spcBef>
              <a:spcAft>
                <a:spcPts val="0"/>
              </a:spcAft>
              <a:buNone/>
            </a:pPr>
            <a:r>
              <a:rPr lang="en-US" sz="1000">
                <a:latin typeface="Arial"/>
                <a:ea typeface="Arial"/>
                <a:cs typeface="Arial"/>
                <a:sym typeface="Arial"/>
              </a:rPr>
              <a:t>A system can have several types of boundary classes: </a:t>
            </a:r>
            <a:endParaRPr/>
          </a:p>
          <a:p>
            <a:pPr indent="-114300" lvl="1" marL="228600" rtl="0" algn="l">
              <a:spcBef>
                <a:spcPts val="300"/>
              </a:spcBef>
              <a:spcAft>
                <a:spcPts val="0"/>
              </a:spcAft>
              <a:buClr>
                <a:schemeClr val="dk1"/>
              </a:buClr>
              <a:buSzPts val="1000"/>
              <a:buFont typeface="Arial"/>
              <a:buChar char="•"/>
            </a:pPr>
            <a:r>
              <a:rPr b="1" lang="en-US" sz="1000">
                <a:latin typeface="Arial"/>
                <a:ea typeface="Arial"/>
                <a:cs typeface="Arial"/>
                <a:sym typeface="Arial"/>
              </a:rPr>
              <a:t>User interface classes</a:t>
            </a:r>
            <a:r>
              <a:rPr lang="en-US" sz="1000">
                <a:latin typeface="Arial"/>
                <a:ea typeface="Arial"/>
                <a:cs typeface="Arial"/>
                <a:sym typeface="Arial"/>
              </a:rPr>
              <a:t>—Classes that intermediate communication with human users of the system.</a:t>
            </a:r>
            <a:endParaRPr/>
          </a:p>
          <a:p>
            <a:pPr indent="-114300" lvl="1" marL="228600" rtl="0" algn="l">
              <a:spcBef>
                <a:spcPts val="300"/>
              </a:spcBef>
              <a:spcAft>
                <a:spcPts val="0"/>
              </a:spcAft>
              <a:buClr>
                <a:schemeClr val="dk1"/>
              </a:buClr>
              <a:buSzPts val="1000"/>
              <a:buFont typeface="Arial"/>
              <a:buChar char="•"/>
            </a:pPr>
            <a:r>
              <a:rPr b="1" lang="en-US" sz="1000">
                <a:latin typeface="Arial"/>
                <a:ea typeface="Arial"/>
                <a:cs typeface="Arial"/>
                <a:sym typeface="Arial"/>
              </a:rPr>
              <a:t>System interface classes</a:t>
            </a:r>
            <a:r>
              <a:rPr lang="en-US" sz="1000">
                <a:latin typeface="Arial"/>
                <a:ea typeface="Arial"/>
                <a:cs typeface="Arial"/>
                <a:sym typeface="Arial"/>
              </a:rPr>
              <a:t>—Classes that intermediate communication with other systems. A boundary class that communicates with an external system is responsible for managing the dialog with the external system; it provides the interface to that system for the system being built.</a:t>
            </a:r>
            <a:endParaRPr/>
          </a:p>
          <a:p>
            <a:pPr indent="-114300" lvl="1" marL="228600" rtl="0" algn="l">
              <a:spcBef>
                <a:spcPts val="300"/>
              </a:spcBef>
              <a:spcAft>
                <a:spcPts val="0"/>
              </a:spcAft>
              <a:buClr>
                <a:schemeClr val="dk1"/>
              </a:buClr>
              <a:buSzPts val="1000"/>
              <a:buFont typeface="Arial"/>
              <a:buChar char="•"/>
            </a:pPr>
            <a:r>
              <a:rPr b="1" lang="en-US" sz="1000">
                <a:latin typeface="Arial"/>
                <a:ea typeface="Arial"/>
                <a:cs typeface="Arial"/>
                <a:sym typeface="Arial"/>
              </a:rPr>
              <a:t>Device interface classes</a:t>
            </a:r>
            <a:r>
              <a:rPr lang="en-US" sz="1000">
                <a:latin typeface="Arial"/>
                <a:ea typeface="Arial"/>
                <a:cs typeface="Arial"/>
                <a:sym typeface="Arial"/>
              </a:rPr>
              <a:t>—Classes that provide the interface to devices which detect external events.  These boundary classes capture the responsibilities of the device or sensor.</a:t>
            </a:r>
            <a:endParaRPr/>
          </a:p>
          <a:p>
            <a:pPr indent="0" lvl="0" marL="0" rtl="0" algn="l">
              <a:spcBef>
                <a:spcPts val="300"/>
              </a:spcBef>
              <a:spcAft>
                <a:spcPts val="0"/>
              </a:spcAft>
              <a:buNone/>
            </a:pPr>
            <a:r>
              <a:rPr lang="en-US" sz="1000">
                <a:latin typeface="Arial"/>
                <a:ea typeface="Arial"/>
                <a:cs typeface="Arial"/>
                <a:sym typeface="Arial"/>
              </a:rPr>
              <a:t>One recommendation for the initial identification of boundary classes is one boundary class per actor/use-case pair.</a:t>
            </a:r>
            <a:endParaRPr/>
          </a:p>
          <a:p>
            <a:pPr indent="0" lvl="0" marL="0" rtl="0" algn="l">
              <a:spcBef>
                <a:spcPts val="300"/>
              </a:spcBef>
              <a:spcAft>
                <a:spcPts val="0"/>
              </a:spcAft>
              <a:buNone/>
            </a:pPr>
            <a:r>
              <a:t/>
            </a:r>
            <a:endParaRPr sz="1000">
              <a:latin typeface="Arial"/>
              <a:ea typeface="Arial"/>
              <a:cs typeface="Arial"/>
              <a:sym typeface="Arial"/>
            </a:endParaRPr>
          </a:p>
          <a:p>
            <a:pPr indent="0" lvl="0" marL="0" rtl="0" algn="l">
              <a:spcBef>
                <a:spcPts val="300"/>
              </a:spcBef>
              <a:spcAft>
                <a:spcPts val="0"/>
              </a:spcAft>
              <a:buNone/>
            </a:pPr>
            <a:r>
              <a:rPr lang="en-US" sz="1000">
                <a:latin typeface="Arial"/>
                <a:ea typeface="Arial"/>
                <a:cs typeface="Arial"/>
                <a:sym typeface="Arial"/>
              </a:rPr>
              <a:t>	</a:t>
            </a:r>
            <a:endParaRPr/>
          </a:p>
          <a:p>
            <a:pPr indent="0" lvl="0" marL="0" rtl="0" algn="l">
              <a:spcBef>
                <a:spcPts val="300"/>
              </a:spcBef>
              <a:spcAft>
                <a:spcPts val="0"/>
              </a:spcAft>
              <a:buNone/>
            </a:pPr>
            <a:r>
              <a:t/>
            </a:r>
            <a:endParaRPr sz="1000">
              <a:latin typeface="Arial"/>
              <a:ea typeface="Arial"/>
              <a:cs typeface="Arial"/>
              <a:sym typeface="Arial"/>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490" name="Google Shape;490;p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491" name="Google Shape;491;p8: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92" name="Google Shape;492;p8: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 boundary class is used to model interaction between the system's surroundings and its inner workings. Such interaction involves transforming and translating events and noting changes in the system presentation (such as the interface). </a:t>
            </a:r>
            <a:endParaRPr/>
          </a:p>
          <a:p>
            <a:pPr indent="0" lvl="0" marL="0" rtl="0" algn="l">
              <a:spcBef>
                <a:spcPts val="300"/>
              </a:spcBef>
              <a:spcAft>
                <a:spcPts val="0"/>
              </a:spcAft>
              <a:buNone/>
            </a:pPr>
            <a:r>
              <a:rPr lang="en-US" sz="1000">
                <a:latin typeface="Arial"/>
                <a:ea typeface="Arial"/>
                <a:cs typeface="Arial"/>
                <a:sym typeface="Arial"/>
              </a:rPr>
              <a:t>Boundary classes model the parts of the system that depend on its surroundings. They make it easier to understand the system because they clarify the system's boundaries and aid design by providing a good point of departure for identifying related services. For example, if you identify a printer interface early in the design, you will realize that you must also model the formatting of printouts. </a:t>
            </a:r>
            <a:endParaRPr/>
          </a:p>
          <a:p>
            <a:pPr indent="0" lvl="0" marL="0" rtl="0" algn="l">
              <a:spcBef>
                <a:spcPts val="300"/>
              </a:spcBef>
              <a:spcAft>
                <a:spcPts val="0"/>
              </a:spcAft>
              <a:buNone/>
            </a:pPr>
            <a:r>
              <a:rPr lang="en-US" sz="1000">
                <a:latin typeface="Arial"/>
                <a:ea typeface="Arial"/>
                <a:cs typeface="Arial"/>
                <a:sym typeface="Arial"/>
              </a:rPr>
              <a:t>Because boundary classes are used between actors and the working of the internal system (actors can only communicate with boundary classes), they insulate external forces from internal mechanisms and vice versa. Thus, changing the GUI or communication protocol should mean changing only the boundary classes, not the entity and control classes. </a:t>
            </a:r>
            <a:endParaRPr/>
          </a:p>
          <a:p>
            <a:pPr indent="0" lvl="0" marL="0" rtl="0" algn="l">
              <a:spcBef>
                <a:spcPts val="300"/>
              </a:spcBef>
              <a:spcAft>
                <a:spcPts val="0"/>
              </a:spcAft>
              <a:buNone/>
            </a:pPr>
            <a:r>
              <a:rPr lang="en-US" sz="1000">
                <a:latin typeface="Arial"/>
                <a:ea typeface="Arial"/>
                <a:cs typeface="Arial"/>
                <a:sym typeface="Arial"/>
              </a:rPr>
              <a:t>A boundary object (an instance of a boundary class) can outlive a use-case instance if, for example, it must appear on a screen between the performance of two use cases. Normally, however, boundary objects live only as long as the use-case instance.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550" name="Google Shape;550;p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551" name="Google Shape;551;p9: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52" name="Google Shape;552;p9: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The goal of Analysis is to form a good picture of how the system is composed, not to design every last detail. In other words, identify boundary classes only for phenomena in the system or for things mentioned in the flow of events of the Use-Case Realization.</a:t>
            </a:r>
            <a:endParaRPr/>
          </a:p>
          <a:p>
            <a:pPr indent="0" lvl="0" marL="0" rtl="0" algn="l">
              <a:spcBef>
                <a:spcPts val="300"/>
              </a:spcBef>
              <a:spcAft>
                <a:spcPts val="0"/>
              </a:spcAft>
              <a:buNone/>
            </a:pPr>
            <a:r>
              <a:rPr lang="en-US" sz="1000">
                <a:latin typeface="Arial"/>
                <a:ea typeface="Arial"/>
                <a:cs typeface="Arial"/>
                <a:sym typeface="Arial"/>
              </a:rPr>
              <a:t>Consider the source for all external events and make sure there is a way for the system to detect these events.</a:t>
            </a:r>
            <a:endParaRPr/>
          </a:p>
          <a:p>
            <a:pPr indent="0" lvl="0" marL="0" rtl="0" algn="l">
              <a:spcBef>
                <a:spcPts val="300"/>
              </a:spcBef>
              <a:spcAft>
                <a:spcPts val="0"/>
              </a:spcAft>
              <a:buNone/>
            </a:pPr>
            <a:r>
              <a:rPr lang="en-US" sz="1000">
                <a:latin typeface="Arial"/>
                <a:ea typeface="Arial"/>
                <a:cs typeface="Arial"/>
                <a:sym typeface="Arial"/>
              </a:rPr>
              <a:t>One recommendation for the initial identification of boundary classes is one boundary class per actor/use-case pair. This class can be viewed as having responsibility for coordinating the interaction with the actor. This may be refined as a more detailed analysis is performed. This is particularly true for window-based GUI applications where there is typically one boundary class for each window, or one for each dialog box. </a:t>
            </a:r>
            <a:endParaRPr/>
          </a:p>
          <a:p>
            <a:pPr indent="0" lvl="0" marL="0" rtl="0" algn="l">
              <a:spcBef>
                <a:spcPts val="300"/>
              </a:spcBef>
              <a:spcAft>
                <a:spcPts val="0"/>
              </a:spcAft>
              <a:buNone/>
            </a:pPr>
            <a:r>
              <a:rPr lang="en-US" sz="1000">
                <a:latin typeface="Arial"/>
                <a:ea typeface="Arial"/>
                <a:cs typeface="Arial"/>
                <a:sym typeface="Arial"/>
              </a:rPr>
              <a:t>In the above example:</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RegisterForCoursesForm contains a Student's "schedule-in-progress."  It displays a list of Course Offerings for the current semester from which the Student may select courses to be added to his or her Schedule.</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CourseCatalogSystem interfaces with the legacy system that provides the unabridged catalog of all courses offered by the university.  This class replaces the CourseCatalog abstraction originally identified in Architectural Analysis.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591" name="Google Shape;591;p1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592" name="Google Shape;592;p10: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93" name="Google Shape;593;p10: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When identifying and describing analysis classes, be careful not to spend too much time on the details.  Analysis classes are meant to be a first cut at the abstractions of the system. They help to clarify the understanding of the problem to be solved and represent an attempt at an idealized solution (Analysis has been called “idealized Design”).</a:t>
            </a:r>
            <a:endParaRPr/>
          </a:p>
          <a:p>
            <a:pPr indent="0" lvl="0" marL="0" rtl="0" algn="l">
              <a:spcBef>
                <a:spcPts val="300"/>
              </a:spcBef>
              <a:spcAft>
                <a:spcPts val="0"/>
              </a:spcAft>
              <a:buNone/>
            </a:pPr>
            <a:r>
              <a:rPr b="1" lang="en-US" sz="1000">
                <a:latin typeface="Arial"/>
                <a:ea typeface="Arial"/>
                <a:cs typeface="Arial"/>
                <a:sym typeface="Arial"/>
              </a:rPr>
              <a:t>User Interface Classes</a:t>
            </a:r>
            <a:r>
              <a:rPr lang="en-US" sz="1000">
                <a:latin typeface="Arial"/>
                <a:ea typeface="Arial"/>
                <a:cs typeface="Arial"/>
                <a:sym typeface="Arial"/>
              </a:rPr>
              <a:t>: Boundary classes may be used as “holding places” for GUI classes.  The objective is not to do GUI design in this analysis, but to isolate all environment-dependent behavior.  The expansion, refinement and replacement of these boundary classes with actual user-interface classes (probably derived from purchased UI libraries) is a very important activity of Class Design and will be discussed in the Class Design module. Sketches or screen captures from a user-interface prototype may have been used during the Requirements discipline to illustrate the behavior and appearance of the boundary classes.  These may be associated with a boundary class.  However, only model the key abstractions of the system; do not model every button, list, and widget in the GUI. </a:t>
            </a:r>
            <a:endParaRPr/>
          </a:p>
          <a:p>
            <a:pPr indent="0" lvl="0" marL="0" rtl="0" algn="l">
              <a:spcBef>
                <a:spcPts val="300"/>
              </a:spcBef>
              <a:spcAft>
                <a:spcPts val="0"/>
              </a:spcAft>
              <a:buNone/>
            </a:pPr>
            <a:r>
              <a:rPr b="1" lang="en-US" sz="1000">
                <a:latin typeface="Arial"/>
                <a:ea typeface="Arial"/>
                <a:cs typeface="Arial"/>
                <a:sym typeface="Arial"/>
              </a:rPr>
              <a:t>System and Device Interface Classes</a:t>
            </a:r>
            <a:r>
              <a:rPr lang="en-US" sz="1000">
                <a:latin typeface="Arial"/>
                <a:ea typeface="Arial"/>
                <a:cs typeface="Arial"/>
                <a:sym typeface="Arial"/>
              </a:rPr>
              <a:t>: If the interface to an existing system or device is already well-defined, the boundary class responsibilities should be derived directly from the interface definition.   If there is a working communication with the external system or device, make note of it for later reference during design.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601" name="Google Shape;601;p1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602" name="Google Shape;602;p11:notes"/>
          <p:cNvSpPr txBox="1"/>
          <p:nvPr/>
        </p:nvSpPr>
        <p:spPr>
          <a:xfrm>
            <a:off x="584200" y="1206500"/>
            <a:ext cx="1955800" cy="60547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00">
                <a:solidFill>
                  <a:schemeClr val="dk1"/>
                </a:solidFill>
                <a:latin typeface="Arial"/>
                <a:ea typeface="Arial"/>
                <a:cs typeface="Arial"/>
                <a:sym typeface="Arial"/>
              </a:rPr>
              <a:t>Typical examples of entity classes in a banking system are Account and Customer. In a network-handling system, examples are Node and Link. </a:t>
            </a:r>
            <a:endParaRPr/>
          </a:p>
          <a:p>
            <a:pPr indent="0" lvl="0" marL="0" marR="0" rtl="0" algn="l">
              <a:lnSpc>
                <a:spcPct val="90000"/>
              </a:lnSpc>
              <a:spcBef>
                <a:spcPts val="0"/>
              </a:spcBef>
              <a:spcAft>
                <a:spcPts val="0"/>
              </a:spcAft>
              <a:buNone/>
            </a:pPr>
            <a:r>
              <a:t/>
            </a:r>
            <a:endParaRPr sz="1000">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lang="en-US" sz="1000">
                <a:solidFill>
                  <a:schemeClr val="dk1"/>
                </a:solidFill>
                <a:latin typeface="Arial"/>
                <a:ea typeface="Arial"/>
                <a:cs typeface="Arial"/>
                <a:sym typeface="Arial"/>
              </a:rPr>
              <a:t>Some entity classes may be modeled attributes.  The use of attributes versus separate classes will be discussed later in this module.  Keep in mind the key OO concept of encapsulation. Entity classes are not just data and structure.  They also contain responsibilities.</a:t>
            </a:r>
            <a:endParaRPr/>
          </a:p>
          <a:p>
            <a:pPr indent="0" lvl="0" marL="0" marR="0" rtl="0" algn="l">
              <a:lnSpc>
                <a:spcPct val="90000"/>
              </a:lnSpc>
              <a:spcBef>
                <a:spcPts val="500"/>
              </a:spcBef>
              <a:spcAft>
                <a:spcPts val="0"/>
              </a:spcAft>
              <a:buNone/>
            </a:pPr>
            <a:r>
              <a:rPr lang="en-US" sz="1000">
                <a:solidFill>
                  <a:schemeClr val="dk1"/>
                </a:solidFill>
                <a:latin typeface="Arial"/>
                <a:ea typeface="Arial"/>
                <a:cs typeface="Arial"/>
                <a:sym typeface="Arial"/>
              </a:rPr>
              <a:t>To reduce confusion for those cases where you need to model information about an actor within the system, you may want to define a naming convention for naming the system classes that hold actor information. If we had an Employee class that we needed to retain information for, some possibilities would include:</a:t>
            </a:r>
            <a:endParaRPr/>
          </a:p>
          <a:p>
            <a:pPr indent="-63500" lvl="1" marL="171450" marR="0" rtl="0" algn="l">
              <a:lnSpc>
                <a:spcPct val="90000"/>
              </a:lnSpc>
              <a:spcBef>
                <a:spcPts val="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Employee and Employee (that is, same name)</a:t>
            </a:r>
            <a:endParaRPr/>
          </a:p>
          <a:p>
            <a:pPr indent="-63500" lvl="1" marL="171450" marR="0" rtl="0" algn="l">
              <a:lnSpc>
                <a:spcPct val="90000"/>
              </a:lnSpc>
              <a:spcBef>
                <a:spcPts val="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Employee and EmployeeInfo</a:t>
            </a:r>
            <a:endParaRPr/>
          </a:p>
          <a:p>
            <a:pPr indent="-63500" lvl="1" marL="171450" marR="0" rtl="0" algn="l">
              <a:lnSpc>
                <a:spcPct val="90000"/>
              </a:lnSpc>
              <a:spcBef>
                <a:spcPts val="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Employee Actor and Employee</a:t>
            </a:r>
            <a:endParaRPr/>
          </a:p>
          <a:p>
            <a:pPr indent="-63500" lvl="1" marL="171450" marR="0" rtl="0" algn="l">
              <a:lnSpc>
                <a:spcPct val="90000"/>
              </a:lnSpc>
              <a:spcBef>
                <a:spcPts val="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Employee Actor and EmployeeInfo</a:t>
            </a:r>
            <a:endParaRPr/>
          </a:p>
          <a:p>
            <a:pPr indent="0" lvl="0" marL="0" marR="0" rtl="0" algn="l">
              <a:lnSpc>
                <a:spcPct val="90000"/>
              </a:lnSpc>
              <a:spcBef>
                <a:spcPts val="500"/>
              </a:spcBef>
              <a:spcAft>
                <a:spcPts val="0"/>
              </a:spcAft>
              <a:buNone/>
            </a:pPr>
            <a:r>
              <a:rPr lang="en-US" sz="1000">
                <a:solidFill>
                  <a:schemeClr val="dk1"/>
                </a:solidFill>
                <a:latin typeface="Arial"/>
                <a:ea typeface="Arial"/>
                <a:cs typeface="Arial"/>
                <a:sym typeface="Arial"/>
              </a:rPr>
              <a:t>If you find “Employee Actor” not very user-friendly, you can also try “EmployeeUser.”</a:t>
            </a:r>
            <a:endParaRPr/>
          </a:p>
          <a:p>
            <a:pPr indent="0" lvl="0" marL="0" marR="0" rtl="0" algn="l">
              <a:lnSpc>
                <a:spcPct val="90000"/>
              </a:lnSpc>
              <a:spcBef>
                <a:spcPts val="500"/>
              </a:spcBef>
              <a:spcAft>
                <a:spcPts val="0"/>
              </a:spcAft>
              <a:buNone/>
            </a:pPr>
            <a:r>
              <a:rPr lang="en-US" sz="1000">
                <a:solidFill>
                  <a:schemeClr val="dk1"/>
                </a:solidFill>
                <a:latin typeface="Arial"/>
                <a:ea typeface="Arial"/>
                <a:cs typeface="Arial"/>
                <a:sym typeface="Arial"/>
              </a:rPr>
              <a:t>As another option, instead of appending “info” to the class name, try “session” or “profile”.</a:t>
            </a:r>
            <a:endParaRPr/>
          </a:p>
        </p:txBody>
      </p:sp>
      <p:sp>
        <p:nvSpPr>
          <p:cNvPr id="603" name="Google Shape;603;p11: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04" name="Google Shape;604;p11: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Entity objects represent the key concepts of the system being developed. Entity classes provide another point of view from which to understand the system, because they show the logical data structure. Knowing the data structure can help you understand what the system is supposed to offer its users.</a:t>
            </a:r>
            <a:endParaRPr/>
          </a:p>
          <a:p>
            <a:pPr indent="0" lvl="0" marL="0" rtl="0" algn="l">
              <a:spcBef>
                <a:spcPts val="300"/>
              </a:spcBef>
              <a:spcAft>
                <a:spcPts val="0"/>
              </a:spcAft>
              <a:buNone/>
            </a:pPr>
            <a:r>
              <a:rPr lang="en-US" sz="1000">
                <a:latin typeface="Arial"/>
                <a:ea typeface="Arial"/>
                <a:cs typeface="Arial"/>
                <a:sym typeface="Arial"/>
              </a:rPr>
              <a:t>Frequent sources of inspiration for entity classes are the:</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Glossary (developed during requirements)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Business-Domain Model (developed during business modeling, if business modeling has been performed)</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Use-case flow of events (developed during requirements)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Key abstractions (identified in Architectural Analysis)</a:t>
            </a:r>
            <a:endParaRPr/>
          </a:p>
          <a:p>
            <a:pPr indent="0" lvl="0" marL="0" rtl="0" algn="l">
              <a:spcBef>
                <a:spcPts val="300"/>
              </a:spcBef>
              <a:spcAft>
                <a:spcPts val="0"/>
              </a:spcAft>
              <a:buNone/>
            </a:pPr>
            <a:r>
              <a:rPr lang="en-US" sz="1000">
                <a:latin typeface="Arial"/>
                <a:ea typeface="Arial"/>
                <a:cs typeface="Arial"/>
                <a:sym typeface="Arial"/>
              </a:rPr>
              <a:t>As mentioned earlier, sometimes there is a need to model information about an actor within the system. This is not the same as modeling the actor (actors are external. by definition). In this case, the information about the actor is modeled as an entity class. These classes are sometimes called “surrogates or proxies.”</a:t>
            </a:r>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699" name="Google Shape;699;p1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700" name="Google Shape;700;p12: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01" name="Google Shape;701;p12: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Entity classes represent stores of information in the system. They are typically used to represent the key concepts that the system manages. Entity objects (instances of entity classes) are used to hold and update information about some phenomenon, such as an event, a person, or a real-life object. They are usually persistent, having attributes and relationships needed for a long period, sometimes for the lifetime of the system. </a:t>
            </a:r>
            <a:endParaRPr/>
          </a:p>
          <a:p>
            <a:pPr indent="0" lvl="0" marL="0" rtl="0" algn="l">
              <a:spcBef>
                <a:spcPts val="300"/>
              </a:spcBef>
              <a:spcAft>
                <a:spcPts val="0"/>
              </a:spcAft>
              <a:buNone/>
            </a:pPr>
            <a:r>
              <a:rPr lang="en-US" sz="1000">
                <a:latin typeface="Arial"/>
                <a:ea typeface="Arial"/>
                <a:cs typeface="Arial"/>
                <a:sym typeface="Arial"/>
              </a:rPr>
              <a:t>The main responsibilities of entity classes are to store and manage information in the system. </a:t>
            </a:r>
            <a:endParaRPr/>
          </a:p>
          <a:p>
            <a:pPr indent="0" lvl="0" marL="0" rtl="0" algn="l">
              <a:spcBef>
                <a:spcPts val="300"/>
              </a:spcBef>
              <a:spcAft>
                <a:spcPts val="0"/>
              </a:spcAft>
              <a:buNone/>
            </a:pPr>
            <a:r>
              <a:rPr lang="en-US" sz="1000">
                <a:latin typeface="Arial"/>
                <a:ea typeface="Arial"/>
                <a:cs typeface="Arial"/>
                <a:sym typeface="Arial"/>
              </a:rPr>
              <a:t>An entity object is usually not specific to one Use-Case Realization and sometimes it is not even specific to the system itself. The values of its attributes and relationships are often given by an actor. An entity object may also be needed to help perform internal system tasks. Entity objects can have behavior as complicated as that of other object stereotypes. However, unlike other objects, this behavior is strongly related to the phenomenon the entity object represents. Entity objects are independent of the environment (the actors).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753" name="Google Shape;753;p1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754" name="Google Shape;754;p13: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55" name="Google Shape;755;p13: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Taking the use-case flow of events as input, underline the noun phrases in the flow of events. These form the initial candidate list of analysis classes.  </a:t>
            </a:r>
            <a:endParaRPr/>
          </a:p>
          <a:p>
            <a:pPr indent="0" lvl="0" marL="0" rtl="0" algn="l">
              <a:spcBef>
                <a:spcPts val="300"/>
              </a:spcBef>
              <a:spcAft>
                <a:spcPts val="0"/>
              </a:spcAft>
              <a:buNone/>
            </a:pPr>
            <a:r>
              <a:rPr lang="en-US" sz="1000">
                <a:latin typeface="Arial"/>
                <a:ea typeface="Arial"/>
                <a:cs typeface="Arial"/>
                <a:sym typeface="Arial"/>
              </a:rPr>
              <a:t>Next, go through a series of filtering steps where some candidate classes are eliminated. This is necessary due to the ambiguity of the English language. The result of the filtering exercise is a refined list of candidate entity classes. While the filtering approach does add some structure to what could be an ad-hoc means of identifying classes, people generally filter as they go rather than blindly accepting all nouns and then filtering.</a:t>
            </a:r>
            <a:endParaRPr/>
          </a:p>
        </p:txBody>
      </p:sp>
      <p:sp>
        <p:nvSpPr>
          <p:cNvPr id="756" name="Google Shape;756;p13:notes"/>
          <p:cNvSpPr txBox="1"/>
          <p:nvPr/>
        </p:nvSpPr>
        <p:spPr>
          <a:xfrm>
            <a:off x="584200" y="1209675"/>
            <a:ext cx="1905000" cy="6858000"/>
          </a:xfrm>
          <a:prstGeom prst="rect">
            <a:avLst/>
          </a:prstGeom>
          <a:noFill/>
          <a:ln>
            <a:noFill/>
          </a:ln>
        </p:spPr>
        <p:txBody>
          <a:bodyPr anchorCtr="0" anchor="t" bIns="53975" lIns="107950" spcFirstLastPara="1" rIns="107950" wrap="square" tIns="53975">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If your students are new at this, you might want to go through an explicit “noun filtering” exercise with them, rather than just showing them the entity classes on this slide. (That is, go through the Register for Courses use case and underline the nouns, filtering out the ones that are not applicable for classes.)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763" name="Google Shape;763;p1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764" name="Google Shape;764;p14: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65" name="Google Shape;765;p14: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The following are the definitions for each of the classes shown in the above diagram:</a:t>
            </a:r>
            <a:endParaRPr/>
          </a:p>
          <a:p>
            <a:pPr indent="0" lvl="0" marL="0" rtl="0" algn="l">
              <a:spcBef>
                <a:spcPts val="300"/>
              </a:spcBef>
              <a:spcAft>
                <a:spcPts val="0"/>
              </a:spcAft>
              <a:buNone/>
            </a:pPr>
            <a:r>
              <a:rPr b="1" lang="en-US" sz="1000">
                <a:latin typeface="Arial"/>
                <a:ea typeface="Arial"/>
                <a:cs typeface="Arial"/>
                <a:sym typeface="Arial"/>
              </a:rPr>
              <a:t>CourseOffering</a:t>
            </a:r>
            <a:r>
              <a:rPr lang="en-US" sz="1000">
                <a:latin typeface="Arial"/>
                <a:ea typeface="Arial"/>
                <a:cs typeface="Arial"/>
                <a:sym typeface="Arial"/>
              </a:rPr>
              <a:t>: A specific offering for a course, including days of the week and times.</a:t>
            </a:r>
            <a:endParaRPr/>
          </a:p>
          <a:p>
            <a:pPr indent="0" lvl="0" marL="0" rtl="0" algn="l">
              <a:spcBef>
                <a:spcPts val="300"/>
              </a:spcBef>
              <a:spcAft>
                <a:spcPts val="0"/>
              </a:spcAft>
              <a:buNone/>
            </a:pPr>
            <a:r>
              <a:rPr b="1" lang="en-US" sz="1000">
                <a:latin typeface="Arial"/>
                <a:ea typeface="Arial"/>
                <a:cs typeface="Arial"/>
                <a:sym typeface="Arial"/>
              </a:rPr>
              <a:t>Schedule</a:t>
            </a:r>
            <a:r>
              <a:rPr lang="en-US" sz="1000">
                <a:latin typeface="Arial"/>
                <a:ea typeface="Arial"/>
                <a:cs typeface="Arial"/>
                <a:sym typeface="Arial"/>
              </a:rPr>
              <a:t>: The courses a student has selected for the current semester.</a:t>
            </a:r>
            <a:endParaRPr/>
          </a:p>
          <a:p>
            <a:pPr indent="0" lvl="0" marL="0" rtl="0" algn="l">
              <a:spcBef>
                <a:spcPts val="300"/>
              </a:spcBef>
              <a:spcAft>
                <a:spcPts val="0"/>
              </a:spcAft>
              <a:buNone/>
            </a:pPr>
            <a:r>
              <a:rPr b="1" lang="en-US" sz="1000">
                <a:latin typeface="Arial"/>
                <a:ea typeface="Arial"/>
                <a:cs typeface="Arial"/>
                <a:sym typeface="Arial"/>
              </a:rPr>
              <a:t>Student</a:t>
            </a:r>
            <a:r>
              <a:rPr lang="en-US" sz="1000">
                <a:latin typeface="Arial"/>
                <a:ea typeface="Arial"/>
                <a:cs typeface="Arial"/>
                <a:sym typeface="Arial"/>
              </a:rPr>
              <a:t>: A person enrolled in classes at the university.</a:t>
            </a:r>
            <a:endParaRPr/>
          </a:p>
          <a:p>
            <a:pPr indent="0" lvl="0" marL="0" rtl="0" algn="l">
              <a:spcBef>
                <a:spcPts val="300"/>
              </a:spcBef>
              <a:spcAft>
                <a:spcPts val="0"/>
              </a:spcAft>
              <a:buNone/>
            </a:pPr>
            <a:r>
              <a:rPr lang="en-US" sz="1000">
                <a:latin typeface="Arial"/>
                <a:ea typeface="Arial"/>
                <a:cs typeface="Arial"/>
                <a:sym typeface="Arial"/>
              </a:rPr>
              <a:t>As mentioned earlier, sometimes there is a need to model information about an actor within the system. This is not the same as modeling the actor. (Actors are external by definition.) These classes are sometimes called “surrogates”.</a:t>
            </a:r>
            <a:endParaRPr/>
          </a:p>
          <a:p>
            <a:pPr indent="0" lvl="0" marL="0" rtl="0" algn="l">
              <a:spcBef>
                <a:spcPts val="300"/>
              </a:spcBef>
              <a:spcAft>
                <a:spcPts val="0"/>
              </a:spcAft>
              <a:buNone/>
            </a:pPr>
            <a:r>
              <a:rPr lang="en-US" sz="1000">
                <a:latin typeface="Arial"/>
                <a:ea typeface="Arial"/>
                <a:cs typeface="Arial"/>
                <a:sym typeface="Arial"/>
              </a:rPr>
              <a:t>For example, a course registration system maintains information about the student that is independent of the fact that the student also plays a role as an actor in the system. This information about the student is stored in a “Student” class that is completely independent of the “actor” role the student plays. The Student class will exist whether or not the student is an actor to the system.</a:t>
            </a:r>
            <a:endParaRPr/>
          </a:p>
          <a:p>
            <a:pPr indent="0" lvl="0" marL="0" rtl="0" algn="l">
              <a:spcBef>
                <a:spcPts val="300"/>
              </a:spcBef>
              <a:spcAft>
                <a:spcPts val="0"/>
              </a:spcAft>
              <a:buNone/>
            </a:pPr>
            <a:r>
              <a:t/>
            </a:r>
            <a:endParaRPr sz="1000">
              <a:latin typeface="Arial"/>
              <a:ea typeface="Arial"/>
              <a:cs typeface="Arial"/>
              <a:sym typeface="Arial"/>
            </a:endParaRPr>
          </a:p>
        </p:txBody>
      </p:sp>
      <p:sp>
        <p:nvSpPr>
          <p:cNvPr id="766" name="Google Shape;766;p14:notes"/>
          <p:cNvSpPr txBox="1"/>
          <p:nvPr/>
        </p:nvSpPr>
        <p:spPr>
          <a:xfrm>
            <a:off x="584200" y="1209675"/>
            <a:ext cx="1905000" cy="6858000"/>
          </a:xfrm>
          <a:prstGeom prst="rect">
            <a:avLst/>
          </a:prstGeom>
          <a:noFill/>
          <a:ln>
            <a:noFill/>
          </a:ln>
        </p:spPr>
        <p:txBody>
          <a:bodyPr anchorCtr="0" anchor="t" bIns="53975" lIns="107950" spcFirstLastPara="1" rIns="107950" wrap="square" tIns="53975">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If you choose to walk your students through a sample noun-filtering exercise, these are the entity classes that they should discover.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785" name="Google Shape;785;p1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786" name="Google Shape;786;p15:notes"/>
          <p:cNvSpPr txBox="1"/>
          <p:nvPr/>
        </p:nvSpPr>
        <p:spPr>
          <a:xfrm>
            <a:off x="584200" y="1206500"/>
            <a:ext cx="1897063" cy="4892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One recommendation for the initial identification of control classes is one control class per use case. This may be refined as a more detailed analysis is performed.</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Control classes are to be used to isolate use-case-specific responsibilities/behavior, not to be “do-all, be-all” classes. Control classes contain behavior that doesn’t belong in entity and boundary classes.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Stress that the control classes know how to “orchestrate and delegate.” They don’t do everything, but they know the order in which things should be done.  In many cases, these control classes are “designed away” in Class Design (for example, may become methods in UI classes). In Analysis, however, they allow the analyst to allocate that use-case-specific behavior and move on.</a:t>
            </a:r>
            <a:endParaRPr/>
          </a:p>
          <a:p>
            <a:pPr indent="0" lvl="0" marL="0" marR="0" rtl="0" algn="l">
              <a:spcBef>
                <a:spcPts val="900"/>
              </a:spcBef>
              <a:spcAft>
                <a:spcPts val="0"/>
              </a:spcAft>
              <a:buNone/>
            </a:pPr>
            <a:r>
              <a:t/>
            </a:r>
            <a:endParaRPr sz="1800">
              <a:solidFill>
                <a:schemeClr val="dk1"/>
              </a:solidFill>
              <a:latin typeface="Arial"/>
              <a:ea typeface="Arial"/>
              <a:cs typeface="Arial"/>
              <a:sym typeface="Arial"/>
            </a:endParaRPr>
          </a:p>
        </p:txBody>
      </p:sp>
      <p:sp>
        <p:nvSpPr>
          <p:cNvPr id="787" name="Google Shape;787;p15: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88" name="Google Shape;788;p15: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Control classes provide coordinating behavior in the system. The system can perform some use cases without control classes by using just entity and boundary classes. This is particularly true for use cases that involve only the simple manipulation of stored information.  More complex use cases generally require one or more control classes to coordinate the behavior of other objects in the system. Examples of control classes include transaction managers, resource coordinators, and error handlers. </a:t>
            </a:r>
            <a:endParaRPr/>
          </a:p>
          <a:p>
            <a:pPr indent="0" lvl="0" marL="0" rtl="0" algn="l">
              <a:spcBef>
                <a:spcPts val="300"/>
              </a:spcBef>
              <a:spcAft>
                <a:spcPts val="0"/>
              </a:spcAft>
              <a:buNone/>
            </a:pPr>
            <a:r>
              <a:rPr lang="en-US" sz="1000">
                <a:latin typeface="Arial"/>
                <a:ea typeface="Arial"/>
                <a:cs typeface="Arial"/>
                <a:sym typeface="Arial"/>
              </a:rPr>
              <a:t>Control classes effectively decouple boundary and entity objects from one another, making the system more tolerant of changes in the system boundary. They also decouple the use-case specific behavior from the entity objects, making them more reusable across use cases and systems.</a:t>
            </a:r>
            <a:endParaRPr/>
          </a:p>
          <a:p>
            <a:pPr indent="0" lvl="0" marL="0" rtl="0" algn="l">
              <a:spcBef>
                <a:spcPts val="300"/>
              </a:spcBef>
              <a:spcAft>
                <a:spcPts val="0"/>
              </a:spcAft>
              <a:buNone/>
            </a:pPr>
            <a:r>
              <a:rPr lang="en-US" sz="1000">
                <a:latin typeface="Arial"/>
                <a:ea typeface="Arial"/>
                <a:cs typeface="Arial"/>
                <a:sym typeface="Arial"/>
              </a:rPr>
              <a:t>Control classes provide behavior that: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Is surroundings-independent (does not change when the surroundings change).</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Defines control logic (order between events) and transactions within a use case.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Changes little if the internal structure or behavior of the entity classes changes.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Uses or sets the contents of several entity classes, and therefore needs to coordinate the behavior of these entity classes.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Is not performed in the same way every time it is activated (flow of events features several states).</a:t>
            </a:r>
            <a:endParaRPr/>
          </a:p>
          <a:p>
            <a:pPr indent="0" lvl="0" marL="0" rtl="0" algn="l">
              <a:spcBef>
                <a:spcPts val="300"/>
              </a:spcBef>
              <a:spcAft>
                <a:spcPts val="0"/>
              </a:spcAft>
              <a:buNone/>
            </a:pPr>
            <a:r>
              <a:rPr lang="en-US" sz="1000">
                <a:latin typeface="Arial"/>
                <a:ea typeface="Arial"/>
                <a:cs typeface="Arial"/>
                <a:sym typeface="Arial"/>
              </a:rPr>
              <a:t>Although complex use cases may need more than one control class it is recommended, for the initial identification of control classes, that only one control class be created per use case.</a:t>
            </a:r>
            <a:endParaRPr sz="10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1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824" name="Google Shape;824;p1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825" name="Google Shape;825;p16: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26" name="Google Shape;826;p16: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 control class is a class used to model control behavior specific to one or more use cases. Control objects (instances of control classes) often control other objects, so their behavior is of the coordinating type. Control classes encapsulate use-case-specific behavior. </a:t>
            </a:r>
            <a:endParaRPr/>
          </a:p>
          <a:p>
            <a:pPr indent="0" lvl="0" marL="0" rtl="0" algn="l">
              <a:spcBef>
                <a:spcPts val="300"/>
              </a:spcBef>
              <a:spcAft>
                <a:spcPts val="0"/>
              </a:spcAft>
              <a:buNone/>
            </a:pPr>
            <a:r>
              <a:rPr lang="en-US" sz="1000">
                <a:latin typeface="Arial"/>
                <a:ea typeface="Arial"/>
                <a:cs typeface="Arial"/>
                <a:sym typeface="Arial"/>
              </a:rPr>
              <a:t>The behavior of a control object is closely related to the realization of a specific use case. In many scenarios, you might even say that the control objects "run" the Use-Case Realizations. However, some control objects can participate in more than one Use-Case Realization if the use-case tasks are strongly related. Furthermore, several control objects of different control classes can participate in one use case. Not all use cases require a control object. For example, if the flow of events in a use case is related to one entity object, a boundary object may realize the use case in cooperation with the entity object. You can start by identifying one control class per Use-Case Realization, and then refine this as more Use-Case Realizations are identified, and commonality is discovered. </a:t>
            </a:r>
            <a:endParaRPr/>
          </a:p>
          <a:p>
            <a:pPr indent="0" lvl="0" marL="0" rtl="0" algn="l">
              <a:spcBef>
                <a:spcPts val="300"/>
              </a:spcBef>
              <a:spcAft>
                <a:spcPts val="0"/>
              </a:spcAft>
              <a:buNone/>
            </a:pPr>
            <a:r>
              <a:rPr lang="en-US" sz="1000">
                <a:latin typeface="Arial"/>
                <a:ea typeface="Arial"/>
                <a:cs typeface="Arial"/>
                <a:sym typeface="Arial"/>
              </a:rPr>
              <a:t>Control classes can contribute to understanding the system, because they represent the dynamics of the system, handling the main tasks and control flows.</a:t>
            </a:r>
            <a:endParaRPr/>
          </a:p>
          <a:p>
            <a:pPr indent="0" lvl="0" marL="0" rtl="0" algn="l">
              <a:spcBef>
                <a:spcPts val="300"/>
              </a:spcBef>
              <a:spcAft>
                <a:spcPts val="0"/>
              </a:spcAft>
              <a:buNone/>
            </a:pPr>
            <a:r>
              <a:rPr lang="en-US" sz="1000">
                <a:latin typeface="Arial"/>
                <a:ea typeface="Arial"/>
                <a:cs typeface="Arial"/>
                <a:sym typeface="Arial"/>
              </a:rPr>
              <a:t>When the system performs the use case, a control object is created. Control objects usually die when their corresponding use case has been performed.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878" name="Google Shape;878;p1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879" name="Google Shape;879;p17: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880" name="Google Shape;880;p17: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One recommendation is to identify one control class per use case.  However, this can become more than one use case as analysis continues.  Remember that more complex use cases generally require one or more control cases. Each control class is responsible for orchestrating/controlling the processing that implements the functionality described in the associated use case.</a:t>
            </a:r>
            <a:endParaRPr/>
          </a:p>
          <a:p>
            <a:pPr indent="0" lvl="0" marL="0" rtl="0" algn="l">
              <a:spcBef>
                <a:spcPts val="300"/>
              </a:spcBef>
              <a:spcAft>
                <a:spcPts val="0"/>
              </a:spcAft>
              <a:buNone/>
            </a:pPr>
            <a:r>
              <a:rPr lang="en-US" sz="1000">
                <a:latin typeface="Arial"/>
                <a:ea typeface="Arial"/>
                <a:cs typeface="Arial"/>
                <a:sym typeface="Arial"/>
              </a:rPr>
              <a:t>In the above example, the RegistrationController &lt;&lt;control&gt;&gt; class has been defined to orchestrate the Register for Courses processing within the system.</a:t>
            </a:r>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1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909" name="Google Shape;909;p1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910" name="Google Shape;910;p18:notes"/>
          <p:cNvSpPr txBox="1"/>
          <p:nvPr/>
        </p:nvSpPr>
        <p:spPr>
          <a:xfrm>
            <a:off x="584200" y="1206500"/>
            <a:ext cx="1874838" cy="1235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This slide is a summary of all the other example slides for this step.</a:t>
            </a:r>
            <a:endParaRPr/>
          </a:p>
          <a:p>
            <a:pPr indent="0" lvl="0" marL="0" marR="0" rtl="0" algn="l">
              <a:spcBef>
                <a:spcPts val="900"/>
              </a:spcBef>
              <a:spcAft>
                <a:spcPts val="0"/>
              </a:spcAft>
              <a:buNone/>
            </a:pPr>
            <a:r>
              <a:rPr lang="en-US" sz="1800">
                <a:solidFill>
                  <a:srgbClr val="000000"/>
                </a:solidFill>
                <a:latin typeface="Arial"/>
                <a:ea typeface="Arial"/>
                <a:cs typeface="Arial"/>
                <a:sym typeface="Arial"/>
              </a:rPr>
              <a:t>The Part-Time Student and Full-Time Student classes have been omitted from the diagram for clarity.</a:t>
            </a:r>
            <a:endParaRPr/>
          </a:p>
        </p:txBody>
      </p:sp>
      <p:sp>
        <p:nvSpPr>
          <p:cNvPr id="911" name="Google Shape;911;p18: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12" name="Google Shape;912;p18: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For each Use-Case Realization, there is one or more class diagrams depicting its participating classes, along with their relationships.  These diagrams help to ensure that there is consistency in the use-case implementation across subsystem boundaries. Such class diagrams have been called “View of Participating Classes” diagrams (VOPC, for short).</a:t>
            </a:r>
            <a:endParaRPr/>
          </a:p>
          <a:p>
            <a:pPr indent="0" lvl="0" marL="0" rtl="0" algn="l">
              <a:spcBef>
                <a:spcPts val="300"/>
              </a:spcBef>
              <a:spcAft>
                <a:spcPts val="0"/>
              </a:spcAft>
              <a:buNone/>
            </a:pPr>
            <a:r>
              <a:rPr lang="en-US" sz="1000">
                <a:latin typeface="Arial"/>
                <a:ea typeface="Arial"/>
                <a:cs typeface="Arial"/>
                <a:sym typeface="Arial"/>
              </a:rPr>
              <a:t>The diagram on this slide shows the classes participating in the “Register for Courses” use case. Class relationships will be discussed later in this module.]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1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964" name="Google Shape;964;p1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965" name="Google Shape;965;p19:notes"/>
          <p:cNvSpPr txBox="1"/>
          <p:nvPr/>
        </p:nvSpPr>
        <p:spPr>
          <a:xfrm>
            <a:off x="584200" y="1206500"/>
            <a:ext cx="1882775" cy="5108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This is where the initial Use-Case Realizations are developed.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When identifying analysis classes and allocating use-case responsibilities, keep in mind these recommendations: One control class per use case; one boundary class per actor/use-case pair.</a:t>
            </a:r>
            <a:endParaRPr/>
          </a:p>
          <a:p>
            <a:pPr indent="0" lvl="0" marL="0" marR="0" rtl="0" algn="l">
              <a:spcBef>
                <a:spcPts val="500"/>
              </a:spcBef>
              <a:spcAft>
                <a:spcPts val="0"/>
              </a:spcAft>
              <a:buNone/>
            </a:pPr>
            <a:r>
              <a:rPr lang="en-US" sz="1800">
                <a:solidFill>
                  <a:schemeClr val="dk1"/>
                </a:solidFill>
                <a:latin typeface="Arial"/>
                <a:ea typeface="Arial"/>
                <a:cs typeface="Arial"/>
                <a:sym typeface="Arial"/>
              </a:rPr>
              <a:t>You can create an Interaction diagram for each variant of a use case's flow of events.</a:t>
            </a:r>
            <a:endParaRPr/>
          </a:p>
          <a:p>
            <a:pPr indent="0" lvl="0" marL="0" marR="0" rtl="0" algn="l">
              <a:spcBef>
                <a:spcPts val="1000"/>
              </a:spcBef>
              <a:spcAft>
                <a:spcPts val="0"/>
              </a:spcAft>
              <a:buNone/>
            </a:pPr>
            <a:r>
              <a:rPr lang="en-US" sz="1800">
                <a:solidFill>
                  <a:schemeClr val="dk1"/>
                </a:solidFill>
                <a:latin typeface="Arial"/>
                <a:ea typeface="Arial"/>
                <a:cs typeface="Arial"/>
                <a:sym typeface="Arial"/>
              </a:rPr>
              <a:t>The Rational Unified Process recommends the use of Communication diagrams in Analysis. This is discussed in more detail on a later slide.</a:t>
            </a:r>
            <a:endParaRPr/>
          </a:p>
          <a:p>
            <a:pPr indent="0" lvl="0" marL="0" marR="0" rtl="0" algn="l">
              <a:spcBef>
                <a:spcPts val="1000"/>
              </a:spcBef>
              <a:spcAft>
                <a:spcPts val="0"/>
              </a:spcAft>
              <a:buNone/>
            </a:pPr>
            <a:r>
              <a:rPr lang="en-US" sz="1800">
                <a:solidFill>
                  <a:schemeClr val="dk1"/>
                </a:solidFill>
                <a:latin typeface="Arial"/>
                <a:ea typeface="Arial"/>
                <a:cs typeface="Arial"/>
                <a:sym typeface="Arial"/>
              </a:rPr>
              <a:t>Business Modeling is addressed in the Rational Unified Process in the “Business Modeling” discipline.</a:t>
            </a:r>
            <a:endParaRPr/>
          </a:p>
          <a:p>
            <a:pPr indent="0" lvl="0" marL="0" marR="0" rtl="0" algn="l">
              <a:spcBef>
                <a:spcPts val="1000"/>
              </a:spcBef>
              <a:spcAft>
                <a:spcPts val="0"/>
              </a:spcAft>
              <a:buNone/>
            </a:pPr>
            <a:r>
              <a:rPr lang="en-US" sz="1800">
                <a:solidFill>
                  <a:schemeClr val="dk1"/>
                </a:solidFill>
                <a:latin typeface="Arial"/>
                <a:ea typeface="Arial"/>
                <a:cs typeface="Arial"/>
                <a:sym typeface="Arial"/>
              </a:rPr>
              <a:t>You are done with Use-Case Analysis when you have allocated all the use-case responsibilities to something (for example, analysis classes).</a:t>
            </a:r>
            <a:endParaRPr/>
          </a:p>
        </p:txBody>
      </p:sp>
      <p:sp>
        <p:nvSpPr>
          <p:cNvPr id="966" name="Google Shape;966;p19: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67" name="Google Shape;967;p19: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You can identify analysis classes responsible for the required behavior by stepping through the flow of events of the use case.  In the previous step, we outlined some classes. Now it is time to see exactly where they are applied in the use-case flow of events.</a:t>
            </a:r>
            <a:endParaRPr/>
          </a:p>
          <a:p>
            <a:pPr indent="0" lvl="0" marL="0" rtl="0" algn="l">
              <a:spcBef>
                <a:spcPts val="300"/>
              </a:spcBef>
              <a:spcAft>
                <a:spcPts val="0"/>
              </a:spcAft>
              <a:buNone/>
            </a:pPr>
            <a:r>
              <a:rPr lang="en-US" sz="1000">
                <a:latin typeface="Arial"/>
                <a:ea typeface="Arial"/>
                <a:cs typeface="Arial"/>
                <a:sym typeface="Arial"/>
              </a:rPr>
              <a:t>In addition to the identified analysis classes, the Interaction diagram should show interactions of the system with its actors. The interactions should begin with an actor, since an actor always invokes the use case. If you have several actor instances in the same diagram, try keeping them in the periphery of that diagram.</a:t>
            </a:r>
            <a:endParaRPr/>
          </a:p>
          <a:p>
            <a:pPr indent="0" lvl="0" marL="0" rtl="0" algn="l">
              <a:spcBef>
                <a:spcPts val="300"/>
              </a:spcBef>
              <a:spcAft>
                <a:spcPts val="0"/>
              </a:spcAft>
              <a:buNone/>
            </a:pPr>
            <a:r>
              <a:rPr lang="en-US" sz="1000">
                <a:latin typeface="Arial"/>
                <a:ea typeface="Arial"/>
                <a:cs typeface="Arial"/>
                <a:sym typeface="Arial"/>
              </a:rPr>
              <a:t>Interactions </a:t>
            </a:r>
            <a:r>
              <a:rPr i="1" lang="en-US" sz="1000">
                <a:latin typeface="Arial"/>
                <a:ea typeface="Arial"/>
                <a:cs typeface="Arial"/>
                <a:sym typeface="Arial"/>
              </a:rPr>
              <a:t>between</a:t>
            </a:r>
            <a:r>
              <a:rPr lang="en-US" sz="1000">
                <a:latin typeface="Arial"/>
                <a:ea typeface="Arial"/>
                <a:cs typeface="Arial"/>
                <a:sym typeface="Arial"/>
              </a:rPr>
              <a:t> actors should </a:t>
            </a:r>
            <a:r>
              <a:rPr i="1" lang="en-US" sz="1000">
                <a:latin typeface="Arial"/>
                <a:ea typeface="Arial"/>
                <a:cs typeface="Arial"/>
                <a:sym typeface="Arial"/>
              </a:rPr>
              <a:t>not</a:t>
            </a:r>
            <a:r>
              <a:rPr lang="en-US" sz="1000">
                <a:latin typeface="Arial"/>
                <a:ea typeface="Arial"/>
                <a:cs typeface="Arial"/>
                <a:sym typeface="Arial"/>
              </a:rPr>
              <a:t> be modeled. By definition, actors are external, and are out of scope of the system being developed. Thus, you do not include interactions between actors in your system model.  If you need to model interactions between entities that are external to the system that you are developing (for example, the interactions between a customer and an order agent for an order-processing system), those interactions are best included in a Business Model that drives the System Model.</a:t>
            </a:r>
            <a:endParaRPr/>
          </a:p>
          <a:p>
            <a:pPr indent="0" lvl="0" marL="0" rtl="0" algn="l">
              <a:spcBef>
                <a:spcPts val="300"/>
              </a:spcBef>
              <a:spcAft>
                <a:spcPts val="0"/>
              </a:spcAft>
              <a:buNone/>
            </a:pPr>
            <a:r>
              <a:rPr lang="en-US" sz="1000">
                <a:latin typeface="Arial"/>
                <a:ea typeface="Arial"/>
                <a:cs typeface="Arial"/>
                <a:sym typeface="Arial"/>
              </a:rPr>
              <a:t>Guidelines for how to distribute behavior to classes are described on the next slide.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2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066" name="Google Shape;1066;p2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067" name="Google Shape;1067;p20: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68" name="Google Shape;1068;p20: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The allocation of responsibilities in analysis is a crucial and sometimes difficult activity. These three stereotypes make the process easier by providing a set of canned responsibilities that can be used to build a robust system. These predefined responsibilities isolate the parts of the system that are most likely to change: the interface (boundary classes), the use-case flow of events (control classes), and the persistent data (entity classes). </a:t>
            </a:r>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075" name="Google Shape;1075;p2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076" name="Google Shape;1076;p21: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77" name="Google Shape;1077;p21: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 driving influence on where a responsibility should go is the location of the data needed to perform the operation.</a:t>
            </a:r>
            <a:endParaRPr/>
          </a:p>
          <a:p>
            <a:pPr indent="0" lvl="0" marL="0" rtl="0" algn="l">
              <a:spcBef>
                <a:spcPts val="300"/>
              </a:spcBef>
              <a:spcAft>
                <a:spcPts val="0"/>
              </a:spcAft>
              <a:buNone/>
            </a:pPr>
            <a:r>
              <a:rPr lang="en-US" sz="1000">
                <a:latin typeface="Arial"/>
                <a:ea typeface="Arial"/>
                <a:cs typeface="Arial"/>
                <a:sym typeface="Arial"/>
              </a:rPr>
              <a:t>The best case is that there is one class that has all the information needed to perform the responsibility. In that case, the responsibility goes with the data (after all, that is one of the tenets of OO — data and operations together).</a:t>
            </a:r>
            <a:endParaRPr/>
          </a:p>
          <a:p>
            <a:pPr indent="0" lvl="0" marL="0" rtl="0" algn="l">
              <a:spcBef>
                <a:spcPts val="300"/>
              </a:spcBef>
              <a:spcAft>
                <a:spcPts val="0"/>
              </a:spcAft>
              <a:buNone/>
            </a:pPr>
            <a:r>
              <a:rPr lang="en-US" sz="1000">
                <a:latin typeface="Arial"/>
                <a:ea typeface="Arial"/>
                <a:cs typeface="Arial"/>
                <a:sym typeface="Arial"/>
              </a:rPr>
              <a:t>If this is not the case, the responsibility may need to be allocated to a “third party” class that has access to the information needed to perform the responsibility. Classes and/or relationships might need to be created to make this happen. Be careful when adding relationships — all relationships should be consistent with the abstractions they connect. Do not just add relationships to support the implementation without considering the overall effect on the model. Class relationships will be discussed later in this module.</a:t>
            </a:r>
            <a:endParaRPr/>
          </a:p>
          <a:p>
            <a:pPr indent="0" lvl="0" marL="0" rtl="0" algn="l">
              <a:spcBef>
                <a:spcPts val="300"/>
              </a:spcBef>
              <a:spcAft>
                <a:spcPts val="0"/>
              </a:spcAft>
              <a:buNone/>
            </a:pPr>
            <a:r>
              <a:rPr lang="en-US" sz="1000">
                <a:latin typeface="Arial"/>
                <a:ea typeface="Arial"/>
                <a:cs typeface="Arial"/>
                <a:sym typeface="Arial"/>
              </a:rPr>
              <a:t>When a new behavior is identified, check to see if there is an existing class that has similar responsibilities, reusing classes where possible. You should create new classes only when you are sure that there is no existing object that can perform the behavior. </a:t>
            </a:r>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2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084" name="Google Shape;1084;p2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085" name="Google Shape;1085;p22:notes"/>
          <p:cNvSpPr txBox="1"/>
          <p:nvPr/>
        </p:nvSpPr>
        <p:spPr>
          <a:xfrm>
            <a:off x="584200" y="1206500"/>
            <a:ext cx="1973263" cy="4664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 message from one object to another indicates that the responsibility modeled by the message has been allocated to the receiving object’s class. A message can be unassigned, meaning that its name is a temporary string that describes the overall meaning of the message and is not the name of an operation of the receiving object.You can later assign the message by specifying the operation of the message's destination object. The specified operation will then replace the name of the message. Class operations are not formally defined until Class Design.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Note: To reduce information overload, we intentionally did not include all of the possible UML detail that can be used on Sequence diagrams.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A note can be attached to a particular message, so the note moves with the message.</a:t>
            </a:r>
            <a:endParaRPr/>
          </a:p>
        </p:txBody>
      </p:sp>
      <p:sp>
        <p:nvSpPr>
          <p:cNvPr id="1086" name="Google Shape;1086;p22: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87" name="Google Shape;1087;p22: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lnSpc>
                <a:spcPct val="77000"/>
              </a:lnSpc>
              <a:spcBef>
                <a:spcPts val="0"/>
              </a:spcBef>
              <a:spcAft>
                <a:spcPts val="0"/>
              </a:spcAft>
              <a:buNone/>
            </a:pPr>
            <a:r>
              <a:rPr lang="en-US" sz="1000">
                <a:latin typeface="Arial"/>
                <a:ea typeface="Arial"/>
                <a:cs typeface="Arial"/>
                <a:sym typeface="Arial"/>
              </a:rPr>
              <a:t>A Sequence diagram describes a pattern of interaction among objects, arranged in a chronological order. It shows the objects participating in the interaction and the messages they send.</a:t>
            </a:r>
            <a:endParaRPr/>
          </a:p>
          <a:p>
            <a:pPr indent="0" lvl="0" marL="0" rtl="0" algn="l">
              <a:lnSpc>
                <a:spcPct val="77000"/>
              </a:lnSpc>
              <a:spcBef>
                <a:spcPts val="300"/>
              </a:spcBef>
              <a:spcAft>
                <a:spcPts val="0"/>
              </a:spcAft>
              <a:buNone/>
            </a:pPr>
            <a:r>
              <a:rPr lang="en-US" sz="1000">
                <a:latin typeface="Arial"/>
                <a:ea typeface="Arial"/>
                <a:cs typeface="Arial"/>
                <a:sym typeface="Arial"/>
              </a:rPr>
              <a:t>An </a:t>
            </a:r>
            <a:r>
              <a:rPr b="1" lang="en-US" sz="1000">
                <a:latin typeface="Arial"/>
                <a:ea typeface="Arial"/>
                <a:cs typeface="Arial"/>
                <a:sym typeface="Arial"/>
              </a:rPr>
              <a:t>object</a:t>
            </a:r>
            <a:r>
              <a:rPr lang="en-US" sz="1000">
                <a:latin typeface="Arial"/>
                <a:ea typeface="Arial"/>
                <a:cs typeface="Arial"/>
                <a:sym typeface="Arial"/>
              </a:rPr>
              <a:t> is shown as a vertical dashed line called the "lifeline." The lifeline represents the existence of the object at a particular time.  An object symbol is drawn at the head of the lifeline, and shows the name of the object and its class separated by a colon and underlined.  </a:t>
            </a:r>
            <a:endParaRPr/>
          </a:p>
          <a:p>
            <a:pPr indent="0" lvl="0" marL="0" rtl="0" algn="l">
              <a:lnSpc>
                <a:spcPct val="77000"/>
              </a:lnSpc>
              <a:spcBef>
                <a:spcPts val="300"/>
              </a:spcBef>
              <a:spcAft>
                <a:spcPts val="0"/>
              </a:spcAft>
              <a:buNone/>
            </a:pPr>
            <a:r>
              <a:rPr lang="en-US" sz="1000">
                <a:latin typeface="Arial"/>
                <a:ea typeface="Arial"/>
                <a:cs typeface="Arial"/>
                <a:sym typeface="Arial"/>
              </a:rPr>
              <a:t>A </a:t>
            </a:r>
            <a:r>
              <a:rPr b="1" lang="en-US" sz="1000">
                <a:latin typeface="Arial"/>
                <a:ea typeface="Arial"/>
                <a:cs typeface="Arial"/>
                <a:sym typeface="Arial"/>
              </a:rPr>
              <a:t>message</a:t>
            </a:r>
            <a:r>
              <a:rPr lang="en-US" sz="1000">
                <a:latin typeface="Arial"/>
                <a:ea typeface="Arial"/>
                <a:cs typeface="Arial"/>
                <a:sym typeface="Arial"/>
              </a:rPr>
              <a:t> is a communication between objects that conveys information with the expectation that activity will result. A message is shown as a horizontal solid arrow from the lifeline of one object to the lifeline of another object. For a reflexive message, the arrow starts and finishes on the same lifeline. The arrow is labeled with the name of the message and its parameters. The arrow may also be labeled with a sequence number. </a:t>
            </a:r>
            <a:endParaRPr/>
          </a:p>
          <a:p>
            <a:pPr indent="0" lvl="0" marL="0" rtl="0" algn="l">
              <a:lnSpc>
                <a:spcPct val="77000"/>
              </a:lnSpc>
              <a:spcBef>
                <a:spcPts val="300"/>
              </a:spcBef>
              <a:spcAft>
                <a:spcPts val="0"/>
              </a:spcAft>
              <a:buNone/>
            </a:pPr>
            <a:r>
              <a:rPr b="1" lang="en-US" sz="1000">
                <a:latin typeface="Arial"/>
                <a:ea typeface="Arial"/>
                <a:cs typeface="Arial"/>
                <a:sym typeface="Arial"/>
              </a:rPr>
              <a:t>Execution Occurrence</a:t>
            </a:r>
            <a:r>
              <a:rPr lang="en-US" sz="1000">
                <a:latin typeface="Arial"/>
                <a:ea typeface="Arial"/>
                <a:cs typeface="Arial"/>
                <a:sym typeface="Arial"/>
              </a:rPr>
              <a:t> represents the relative time that the flow of control is focused in an object, thereby representing the time an object is directing messages.  Execution occurrence is shown as narrow rectangles on object lifelines. </a:t>
            </a:r>
            <a:endParaRPr/>
          </a:p>
          <a:p>
            <a:pPr indent="0" lvl="0" marL="0" rtl="0" algn="l">
              <a:lnSpc>
                <a:spcPct val="77000"/>
              </a:lnSpc>
              <a:spcBef>
                <a:spcPts val="300"/>
              </a:spcBef>
              <a:spcAft>
                <a:spcPts val="0"/>
              </a:spcAft>
              <a:buNone/>
            </a:pPr>
            <a:r>
              <a:rPr b="1" lang="en-US" sz="1000">
                <a:latin typeface="Arial"/>
                <a:ea typeface="Arial"/>
                <a:cs typeface="Arial"/>
                <a:sym typeface="Arial"/>
              </a:rPr>
              <a:t>Event Occurrence</a:t>
            </a:r>
            <a:r>
              <a:rPr lang="en-US" sz="1000">
                <a:latin typeface="Arial"/>
                <a:ea typeface="Arial"/>
                <a:cs typeface="Arial"/>
                <a:sym typeface="Arial"/>
              </a:rPr>
              <a:t> represents the sending or receipt of messages. </a:t>
            </a:r>
            <a:endParaRPr/>
          </a:p>
          <a:p>
            <a:pPr indent="0" lvl="0" marL="0" rtl="0" algn="l">
              <a:lnSpc>
                <a:spcPct val="77000"/>
              </a:lnSpc>
              <a:spcBef>
                <a:spcPts val="300"/>
              </a:spcBef>
              <a:spcAft>
                <a:spcPts val="0"/>
              </a:spcAft>
              <a:buNone/>
            </a:pPr>
            <a:r>
              <a:rPr b="1" lang="en-US" sz="1000">
                <a:latin typeface="Arial"/>
                <a:ea typeface="Arial"/>
                <a:cs typeface="Arial"/>
                <a:sym typeface="Arial"/>
              </a:rPr>
              <a:t>Interaction Occurrence</a:t>
            </a:r>
            <a:r>
              <a:rPr lang="en-US" sz="1000">
                <a:latin typeface="Arial"/>
                <a:ea typeface="Arial"/>
                <a:cs typeface="Arial"/>
                <a:sym typeface="Arial"/>
              </a:rPr>
              <a:t> is a reference to an interaction within the definition of another interaction.</a:t>
            </a:r>
            <a:endParaRPr/>
          </a:p>
          <a:p>
            <a:pPr indent="0" lvl="0" marL="0" rtl="0" algn="l">
              <a:lnSpc>
                <a:spcPct val="77000"/>
              </a:lnSpc>
              <a:spcBef>
                <a:spcPts val="300"/>
              </a:spcBef>
              <a:spcAft>
                <a:spcPts val="0"/>
              </a:spcAft>
              <a:buNone/>
            </a:pPr>
            <a:r>
              <a:rPr b="1" lang="en-US" sz="1000">
                <a:latin typeface="Arial"/>
                <a:ea typeface="Arial"/>
                <a:cs typeface="Arial"/>
                <a:sym typeface="Arial"/>
              </a:rPr>
              <a:t>Hierarchical numbering</a:t>
            </a:r>
            <a:r>
              <a:rPr lang="en-US" sz="1000">
                <a:latin typeface="Arial"/>
                <a:ea typeface="Arial"/>
                <a:cs typeface="Arial"/>
                <a:sym typeface="Arial"/>
              </a:rPr>
              <a:t> bases all messages on a dependent message.  The dependent message is the message whose execution occurrence the other messages originate in.  For example,  message 1.1 depends on message 1.</a:t>
            </a:r>
            <a:endParaRPr/>
          </a:p>
          <a:p>
            <a:pPr indent="0" lvl="0" marL="0" rtl="0" algn="l">
              <a:lnSpc>
                <a:spcPct val="77000"/>
              </a:lnSpc>
              <a:spcBef>
                <a:spcPts val="300"/>
              </a:spcBef>
              <a:spcAft>
                <a:spcPts val="0"/>
              </a:spcAft>
              <a:buNone/>
            </a:pPr>
            <a:r>
              <a:rPr b="1" lang="en-US" sz="1000">
                <a:latin typeface="Arial"/>
                <a:ea typeface="Arial"/>
                <a:cs typeface="Arial"/>
                <a:sym typeface="Arial"/>
              </a:rPr>
              <a:t>Notes</a:t>
            </a:r>
            <a:r>
              <a:rPr lang="en-US" sz="1000">
                <a:latin typeface="Arial"/>
                <a:ea typeface="Arial"/>
                <a:cs typeface="Arial"/>
                <a:sym typeface="Arial"/>
              </a:rPr>
              <a:t> describe the flow of events textually.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2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139" name="Google Shape;1139;p2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140" name="Google Shape;1140;p23: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141" name="Google Shape;1141;p23: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The above example shows the object interactions to support the Create a Schedule sub-flow of the Register for Courses use case.  Some of the rationale for responsibility allocation is as follows: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RegisterForCoursesForm knows what data it needs to display and how to display it. It does not know where to go to get it. That is one of the RegistrationController’s responsibilities.</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Only the RegisterForCoursesForm interacts with the Student actor.</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Only the CourseCatalogSystem class interacts with the external legacy Course Catalog System.</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Note the inclusion of the actors. This is important as the diagram explicitly models what elements communicate with the “outside world.” </a:t>
            </a:r>
            <a:endParaRPr/>
          </a:p>
        </p:txBody>
      </p:sp>
      <p:sp>
        <p:nvSpPr>
          <p:cNvPr id="1142" name="Google Shape;1142;p23:notes"/>
          <p:cNvSpPr txBox="1"/>
          <p:nvPr/>
        </p:nvSpPr>
        <p:spPr>
          <a:xfrm>
            <a:off x="584200" y="1206500"/>
            <a:ext cx="1905000" cy="49085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Be sure to walk through this Interaction diagram, emphasizing the responsibility allocation. Emphasize the application of the guidelines provided earlier.</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Another option is to NOT show this slide immediately and to build the Interaction diagram interactively with the students on the white board, demonstrating proper allocation of responsibility.  When finished, you can compare the results with this slide.</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Note the use of “//” as the first two characters of the message name. This naming convention indicates that the operation is being used to describe the responsibilities of the analysis class and that these “analysis” operations WILL PROBABLY change/evolve in design.</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Be sure to mention the sequence diagrams that are referenced on the bottom of the graphic.</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2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232" name="Google Shape;1232;p2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233" name="Google Shape;1233;p24: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34" name="Google Shape;1234;p24: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 Communication diagram describes a pattern of interaction among objects. It shows the objects participating in the interaction by their links to each other and the messages that they send to each other. </a:t>
            </a:r>
            <a:endParaRPr/>
          </a:p>
          <a:p>
            <a:pPr indent="0" lvl="0" marL="0" rtl="0" algn="l">
              <a:spcBef>
                <a:spcPts val="300"/>
              </a:spcBef>
              <a:spcAft>
                <a:spcPts val="0"/>
              </a:spcAft>
              <a:buNone/>
            </a:pPr>
            <a:r>
              <a:rPr lang="en-US" sz="1000">
                <a:latin typeface="Arial"/>
                <a:ea typeface="Arial"/>
                <a:cs typeface="Arial"/>
                <a:sym typeface="Arial"/>
              </a:rPr>
              <a:t>An </a:t>
            </a:r>
            <a:r>
              <a:rPr b="1" lang="en-US" sz="1000">
                <a:latin typeface="Arial"/>
                <a:ea typeface="Arial"/>
                <a:cs typeface="Arial"/>
                <a:sym typeface="Arial"/>
              </a:rPr>
              <a:t>object</a:t>
            </a:r>
            <a:r>
              <a:rPr lang="en-US" sz="1000">
                <a:latin typeface="Arial"/>
                <a:ea typeface="Arial"/>
                <a:cs typeface="Arial"/>
                <a:sym typeface="Arial"/>
              </a:rPr>
              <a:t> is represented in one of three ways: </a:t>
            </a:r>
            <a:endParaRPr/>
          </a:p>
          <a:p>
            <a:pPr indent="-114300" lvl="1" marL="228600" rtl="0" algn="l">
              <a:spcBef>
                <a:spcPts val="300"/>
              </a:spcBef>
              <a:spcAft>
                <a:spcPts val="0"/>
              </a:spcAft>
              <a:buClr>
                <a:schemeClr val="dk1"/>
              </a:buClr>
              <a:buSzPts val="1000"/>
              <a:buFont typeface="Arial"/>
              <a:buChar char="•"/>
            </a:pPr>
            <a:r>
              <a:rPr lang="en-US" sz="1000" u="sng">
                <a:latin typeface="Arial"/>
                <a:ea typeface="Arial"/>
                <a:cs typeface="Arial"/>
                <a:sym typeface="Arial"/>
              </a:rPr>
              <a:t>Objectname</a:t>
            </a:r>
            <a:r>
              <a:rPr lang="en-US" sz="1000">
                <a:latin typeface="Arial"/>
                <a:ea typeface="Arial"/>
                <a:cs typeface="Arial"/>
                <a:sym typeface="Arial"/>
              </a:rPr>
              <a:t>:</a:t>
            </a:r>
            <a:r>
              <a:rPr lang="en-US" sz="1000" u="sng">
                <a:latin typeface="Arial"/>
                <a:ea typeface="Arial"/>
                <a:cs typeface="Arial"/>
                <a:sym typeface="Arial"/>
              </a:rPr>
              <a:t>Classname</a:t>
            </a:r>
            <a:endParaRPr sz="1000">
              <a:latin typeface="Arial"/>
              <a:ea typeface="Arial"/>
              <a:cs typeface="Arial"/>
              <a:sym typeface="Arial"/>
            </a:endParaRPr>
          </a:p>
          <a:p>
            <a:pPr indent="-114300" lvl="1" marL="228600" rtl="0" algn="l">
              <a:spcBef>
                <a:spcPts val="300"/>
              </a:spcBef>
              <a:spcAft>
                <a:spcPts val="0"/>
              </a:spcAft>
              <a:buClr>
                <a:schemeClr val="dk1"/>
              </a:buClr>
              <a:buSzPts val="1000"/>
              <a:buFont typeface="Arial"/>
              <a:buChar char="•"/>
            </a:pPr>
            <a:r>
              <a:rPr lang="en-US" sz="1000" u="sng">
                <a:latin typeface="Arial"/>
                <a:ea typeface="Arial"/>
                <a:cs typeface="Arial"/>
                <a:sym typeface="Arial"/>
              </a:rPr>
              <a:t>ObjectName</a:t>
            </a:r>
            <a:endParaRPr sz="1000">
              <a:latin typeface="Arial"/>
              <a:ea typeface="Arial"/>
              <a:cs typeface="Arial"/>
              <a:sym typeface="Arial"/>
            </a:endParaRPr>
          </a:p>
          <a:p>
            <a:pPr indent="-114300" lvl="1" marL="228600" rtl="0" algn="l">
              <a:spcBef>
                <a:spcPts val="300"/>
              </a:spcBef>
              <a:spcAft>
                <a:spcPts val="0"/>
              </a:spcAft>
              <a:buClr>
                <a:schemeClr val="dk1"/>
              </a:buClr>
              <a:buSzPts val="1000"/>
              <a:buFont typeface="Arial"/>
              <a:buChar char="•"/>
            </a:pPr>
            <a:r>
              <a:rPr lang="en-US" sz="1000" u="sng">
                <a:latin typeface="Arial"/>
                <a:ea typeface="Arial"/>
                <a:cs typeface="Arial"/>
                <a:sym typeface="Arial"/>
              </a:rPr>
              <a:t>:ClassName</a:t>
            </a:r>
            <a:endParaRPr sz="1000">
              <a:latin typeface="Arial"/>
              <a:ea typeface="Arial"/>
              <a:cs typeface="Arial"/>
              <a:sym typeface="Arial"/>
            </a:endParaRPr>
          </a:p>
          <a:p>
            <a:pPr indent="0" lvl="0" marL="0" rtl="0" algn="l">
              <a:spcBef>
                <a:spcPts val="300"/>
              </a:spcBef>
              <a:spcAft>
                <a:spcPts val="0"/>
              </a:spcAft>
              <a:buNone/>
            </a:pPr>
            <a:r>
              <a:rPr lang="en-US" sz="1000">
                <a:latin typeface="Arial"/>
                <a:ea typeface="Arial"/>
                <a:cs typeface="Arial"/>
                <a:sym typeface="Arial"/>
              </a:rPr>
              <a:t>A </a:t>
            </a:r>
            <a:r>
              <a:rPr b="1" lang="en-US" sz="1000">
                <a:latin typeface="Arial"/>
                <a:ea typeface="Arial"/>
                <a:cs typeface="Arial"/>
                <a:sym typeface="Arial"/>
              </a:rPr>
              <a:t>link</a:t>
            </a:r>
            <a:r>
              <a:rPr lang="en-US" sz="1000">
                <a:latin typeface="Arial"/>
                <a:ea typeface="Arial"/>
                <a:cs typeface="Arial"/>
                <a:sym typeface="Arial"/>
              </a:rPr>
              <a:t> is a relationship between objects that can be used to send messages. In Communication diagrams, a link is shown as a solid line between two objects. An object interacts with, or navigates to, other objects through its links to these objects. A link is defined as an instance of an association.	</a:t>
            </a:r>
            <a:endParaRPr/>
          </a:p>
          <a:p>
            <a:pPr indent="0" lvl="0" marL="0" rtl="0" algn="l">
              <a:spcBef>
                <a:spcPts val="300"/>
              </a:spcBef>
              <a:spcAft>
                <a:spcPts val="0"/>
              </a:spcAft>
              <a:buNone/>
            </a:pPr>
            <a:r>
              <a:rPr lang="en-US" sz="1000">
                <a:latin typeface="Arial"/>
                <a:ea typeface="Arial"/>
                <a:cs typeface="Arial"/>
                <a:sym typeface="Arial"/>
              </a:rPr>
              <a:t>A </a:t>
            </a:r>
            <a:r>
              <a:rPr b="1" lang="en-US" sz="1000">
                <a:latin typeface="Arial"/>
                <a:ea typeface="Arial"/>
                <a:cs typeface="Arial"/>
                <a:sym typeface="Arial"/>
              </a:rPr>
              <a:t>message</a:t>
            </a:r>
            <a:r>
              <a:rPr lang="en-US" sz="1000">
                <a:latin typeface="Arial"/>
                <a:ea typeface="Arial"/>
                <a:cs typeface="Arial"/>
                <a:sym typeface="Arial"/>
              </a:rPr>
              <a:t> is a communication between objects that conveys information with the expectation that activity will result. In Communication diagrams, a message is shown as a labeled arrow placed near a link. This means that the link is used to transport or otherwise implement the delivery of the message to the target object. The arrow points along the link in the direction of the target object (the one that receives the message). The arrow is labeled with the name of the message and its parameters. The arrow may also be labeled with a sequence number to show the sequence of the message in the overall interaction. Sequence numbers are often used in Communication diagrams because they are the only way of describing the relative sequencing of messages.  A message can be unassigned, meaning that its name is a temporary string that describes the overall meaning of the message. You can later assign the message by specifying the operation of the message's destination object. The specified operation will then replace the name of the message. </a:t>
            </a:r>
            <a:endParaRPr/>
          </a:p>
        </p:txBody>
      </p:sp>
      <p:sp>
        <p:nvSpPr>
          <p:cNvPr id="1235" name="Google Shape;1235;p24:notes"/>
          <p:cNvSpPr txBox="1"/>
          <p:nvPr/>
        </p:nvSpPr>
        <p:spPr>
          <a:xfrm>
            <a:off x="584200" y="1206500"/>
            <a:ext cx="1897063" cy="2378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 message from one object to another indicates that the responsibility modeled by the message has been allocated to the receiving object’s class.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Note: Class operations are not formally defined until Class Design.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A comparison of Communication diagrams and Sequence diagrams is provided on a later slide.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2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258" name="Google Shape;1258;p2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259" name="Google Shape;1259;p25: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60" name="Google Shape;1260;p25: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The above example shows the collaboration of objects to support the Register for Courses use case, Create a Schedule subflow. It is the “Communication diagram equivalent” of the Sequence diagram shown earlier.</a:t>
            </a:r>
            <a:endParaRPr/>
          </a:p>
        </p:txBody>
      </p:sp>
      <p:sp>
        <p:nvSpPr>
          <p:cNvPr id="1261" name="Google Shape;1261;p25:notes"/>
          <p:cNvSpPr txBox="1"/>
          <p:nvPr/>
        </p:nvSpPr>
        <p:spPr>
          <a:xfrm>
            <a:off x="584200" y="1206500"/>
            <a:ext cx="1905000" cy="20891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Point out how the Communication diagram makes it easy to see the patterns of collaboration among participating objects.  For example, boundary class instances are “on the edge,” control class instances are “in the middle,” and entity class instances are “toward the bottom.”  This reflects the roles of these class instances, as described earlier.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2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301" name="Google Shape;1301;p2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302" name="Google Shape;1302;p26:notes"/>
          <p:cNvSpPr txBox="1"/>
          <p:nvPr/>
        </p:nvSpPr>
        <p:spPr>
          <a:xfrm>
            <a:off x="584200" y="1206500"/>
            <a:ext cx="1897063" cy="50450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If you want an optional flow, or any flow that you consider important, to be especially noticeable, you can use a separate Interaction diagram, but you should refer to this view in the sequence of the basic flow of events.</a:t>
            </a:r>
            <a:endParaRPr/>
          </a:p>
          <a:p>
            <a:pPr indent="0" lvl="0" marL="0" marR="0" rtl="0" algn="l">
              <a:spcBef>
                <a:spcPts val="90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diagramming of use-case flows of events versus individual scenarios ensures better coverage of the requirements. If I have an Interaction diagram per flow, then there is a better chance that I have identified all classes participating in the use-case flow. Whereas, if I have diagrammed some subset of the scenarios (no one diagrams them all — like total path coverage in testing), I might be missing some (unless the rule is that I must cover all flows of a use case in my scenarios).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Such an approach means that your Interaction diagrams may very well have conditional statements and looping.  </a:t>
            </a:r>
            <a:endParaRPr/>
          </a:p>
        </p:txBody>
      </p:sp>
      <p:sp>
        <p:nvSpPr>
          <p:cNvPr id="1303" name="Google Shape;1303;p26: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04" name="Google Shape;1304;p26: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Model most of the flow of events to make sure that all requirements on the operations of the participating classes are identified. Start with describing the basic flow, which is the most common or most important flow of events. Then describe variants such as exceptional flows. You do not have to describe all the flow of events, as long as you employ and exemplify all operations of the participating objects.  Very trivial flows can be omitted, such as those that concern only one object.  </a:t>
            </a:r>
            <a:endParaRPr/>
          </a:p>
          <a:p>
            <a:pPr indent="0" lvl="0" marL="0" rtl="0" algn="l">
              <a:spcBef>
                <a:spcPts val="300"/>
              </a:spcBef>
              <a:spcAft>
                <a:spcPts val="0"/>
              </a:spcAft>
              <a:buNone/>
            </a:pPr>
            <a:r>
              <a:rPr lang="en-US" sz="1000">
                <a:latin typeface="Arial"/>
                <a:ea typeface="Arial"/>
                <a:cs typeface="Arial"/>
                <a:sym typeface="Arial"/>
              </a:rPr>
              <a:t>Examples of exceptional flows include the following: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Error handling. What should the system do if an error is encountered?</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Time-out handling. If the user does not reply within a certain period, the use case should take some special measures.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Handling of erroneous input to the objects that participate in the use case (for example, incorrect user input).</a:t>
            </a:r>
            <a:endParaRPr/>
          </a:p>
          <a:p>
            <a:pPr indent="0" lvl="0" marL="0" rtl="0" algn="l">
              <a:spcBef>
                <a:spcPts val="300"/>
              </a:spcBef>
              <a:spcAft>
                <a:spcPts val="0"/>
              </a:spcAft>
              <a:buNone/>
            </a:pPr>
            <a:r>
              <a:rPr lang="en-US" sz="1000">
                <a:latin typeface="Arial"/>
                <a:ea typeface="Arial"/>
                <a:cs typeface="Arial"/>
                <a:sym typeface="Arial"/>
              </a:rPr>
              <a:t>Examples of optional flows include the following:</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actor decides-from a number of options — what the system is to do next.</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subsequent flow of events depends on the value of stored attributes or relationships.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The subsequent flow of events depends on the type of data to be processed.</a:t>
            </a:r>
            <a:endParaRPr/>
          </a:p>
          <a:p>
            <a:pPr indent="0" lvl="0" marL="0" rtl="0" algn="l">
              <a:spcBef>
                <a:spcPts val="300"/>
              </a:spcBef>
              <a:spcAft>
                <a:spcPts val="0"/>
              </a:spcAft>
              <a:buNone/>
            </a:pPr>
            <a:r>
              <a:rPr lang="en-US" sz="1000">
                <a:latin typeface="Arial"/>
                <a:ea typeface="Arial"/>
                <a:cs typeface="Arial"/>
                <a:sym typeface="Arial"/>
              </a:rPr>
              <a:t>You can use either Communication or Sequence diagrams.</a:t>
            </a:r>
            <a:endParaRPr/>
          </a:p>
          <a:p>
            <a:pPr indent="0" lvl="0" marL="0" rtl="0" algn="l">
              <a:spcBef>
                <a:spcPts val="300"/>
              </a:spcBef>
              <a:spcAft>
                <a:spcPts val="0"/>
              </a:spcAft>
              <a:buNone/>
            </a:pPr>
            <a:r>
              <a:t/>
            </a:r>
            <a:endParaRPr sz="1000">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2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w/ UML 2.0 – Instructor Notes</a:t>
            </a:r>
            <a:endParaRPr/>
          </a:p>
        </p:txBody>
      </p:sp>
      <p:sp>
        <p:nvSpPr>
          <p:cNvPr id="1414" name="Google Shape;1414;p2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6 - Use-Case Analysis</a:t>
            </a:r>
            <a:endParaRPr>
              <a:latin typeface="Arial"/>
              <a:ea typeface="Arial"/>
              <a:cs typeface="Arial"/>
              <a:sym typeface="Arial"/>
            </a:endParaRPr>
          </a:p>
        </p:txBody>
      </p:sp>
      <p:sp>
        <p:nvSpPr>
          <p:cNvPr id="1415" name="Google Shape;1415;p27:notes"/>
          <p:cNvSpPr txBox="1"/>
          <p:nvPr/>
        </p:nvSpPr>
        <p:spPr>
          <a:xfrm>
            <a:off x="584200" y="1206500"/>
            <a:ext cx="1879600" cy="437515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choice of Sequence or Communication diagrams is a personal choice. This course does not recommend one over the other but describes the advantages of each.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For brainstorming, some find the Communication diagram easier — a closer visual representation of CRC cards.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The students should use whichever diagram they like best; however, you may want to recommend that they ultimately create the Communication diagram in support of finding relationships between the associated classes. Note: RUP recommends that Communication diagrams be used in Analysis and that Sequence diagrams be used in Design.  Communication diagrams get pretty unwieldy in Design.  </a:t>
            </a:r>
            <a:endParaRPr/>
          </a:p>
        </p:txBody>
      </p:sp>
      <p:sp>
        <p:nvSpPr>
          <p:cNvPr id="1416" name="Google Shape;1416;p27:notes"/>
          <p:cNvSpPr/>
          <p:nvPr>
            <p:ph idx="3" type="sldImg"/>
          </p:nvPr>
        </p:nvSpPr>
        <p:spPr>
          <a:xfrm>
            <a:off x="1892300" y="836613"/>
            <a:ext cx="5410200" cy="30432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417" name="Google Shape;1417;p27:notes"/>
          <p:cNvSpPr txBox="1"/>
          <p:nvPr>
            <p:ph idx="1" type="body"/>
          </p:nvPr>
        </p:nvSpPr>
        <p:spPr>
          <a:xfrm>
            <a:off x="2549525" y="4113213"/>
            <a:ext cx="4076700" cy="3956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Sequence diagrams and Communication diagrams express similar information, but show it in different ways. </a:t>
            </a:r>
            <a:endParaRPr/>
          </a:p>
          <a:p>
            <a:pPr indent="0" lvl="0" marL="0" rtl="0" algn="l">
              <a:spcBef>
                <a:spcPts val="300"/>
              </a:spcBef>
              <a:spcAft>
                <a:spcPts val="0"/>
              </a:spcAft>
              <a:buNone/>
            </a:pPr>
            <a:r>
              <a:rPr b="1" lang="en-US" sz="1000">
                <a:latin typeface="Arial"/>
                <a:ea typeface="Arial"/>
                <a:cs typeface="Arial"/>
                <a:sym typeface="Arial"/>
              </a:rPr>
              <a:t>Communication diagrams</a:t>
            </a:r>
            <a:r>
              <a:rPr lang="en-US" sz="1000">
                <a:latin typeface="Arial"/>
                <a:ea typeface="Arial"/>
                <a:cs typeface="Arial"/>
                <a:sym typeface="Arial"/>
              </a:rPr>
              <a:t> emphasize the structural collaboration of a society of objects and provide a clearer picture of the patterns of relationships and control that exist amongst the objects participating in a use case. Communication diagrams show more structural information (that is, the relationships among objects).  Communication diagrams are better for understanding all the effects on a given object and for procedural design.</a:t>
            </a:r>
            <a:endParaRPr/>
          </a:p>
          <a:p>
            <a:pPr indent="0" lvl="0" marL="0" rtl="0" algn="l">
              <a:spcBef>
                <a:spcPts val="300"/>
              </a:spcBef>
              <a:spcAft>
                <a:spcPts val="0"/>
              </a:spcAft>
              <a:buNone/>
            </a:pPr>
            <a:r>
              <a:rPr b="1" lang="en-US" sz="1000">
                <a:latin typeface="Arial"/>
                <a:ea typeface="Arial"/>
                <a:cs typeface="Arial"/>
                <a:sym typeface="Arial"/>
              </a:rPr>
              <a:t>Sequence diagrams</a:t>
            </a:r>
            <a:r>
              <a:rPr lang="en-US" sz="1000">
                <a:latin typeface="Arial"/>
                <a:ea typeface="Arial"/>
                <a:cs typeface="Arial"/>
                <a:sym typeface="Arial"/>
              </a:rPr>
              <a:t> show the explicit sequence of messages and are better for real-time specifications and for complex scenarios.  A Sequence diagram includes chronological sequences, but does not include object relationships. Sequence numbers are often omitted in Sequence diagrams, in which the physical location of the arrow shows the relative sequence. On Sequence diagrams, the time dimension is easier to read, operations and parameters are easier to present, and a larger number of objects are easier to manage than in Communication diagrams.</a:t>
            </a:r>
            <a:endParaRPr/>
          </a:p>
          <a:p>
            <a:pPr indent="0" lvl="0" marL="0" rtl="0" algn="l">
              <a:spcBef>
                <a:spcPts val="300"/>
              </a:spcBef>
              <a:spcAft>
                <a:spcPts val="0"/>
              </a:spcAft>
              <a:buNone/>
            </a:pPr>
            <a:r>
              <a:rPr lang="en-US" sz="1000">
                <a:latin typeface="Arial"/>
                <a:ea typeface="Arial"/>
                <a:cs typeface="Arial"/>
                <a:sym typeface="Arial"/>
              </a:rPr>
              <a:t>Both Sequence and Communication diagrams allow you to capture semantics of the use-case flow of events; they help identify objects, classes, interactions, and responsibilities; and they help validate the architecture.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29"/>
          <p:cNvSpPr/>
          <p:nvPr/>
        </p:nvSpPr>
        <p:spPr>
          <a:xfrm>
            <a:off x="0" y="0"/>
            <a:ext cx="9144000" cy="3868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29"/>
          <p:cNvSpPr/>
          <p:nvPr/>
        </p:nvSpPr>
        <p:spPr>
          <a:xfrm>
            <a:off x="1262063" y="0"/>
            <a:ext cx="2362200" cy="3714900"/>
          </a:xfrm>
          <a:prstGeom prst="rect">
            <a:avLst/>
          </a:prstGeom>
          <a:gradFill>
            <a:gsLst>
              <a:gs pos="0">
                <a:schemeClr val="accent1"/>
              </a:gs>
              <a:gs pos="100000">
                <a:srgbClr val="2A59B6"/>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29"/>
          <p:cNvSpPr/>
          <p:nvPr/>
        </p:nvSpPr>
        <p:spPr>
          <a:xfrm>
            <a:off x="304800" y="1800225"/>
            <a:ext cx="8458200" cy="828600"/>
          </a:xfrm>
          <a:prstGeom prst="rect">
            <a:avLst/>
          </a:prstGeom>
          <a:gradFill>
            <a:gsLst>
              <a:gs pos="0">
                <a:schemeClr val="dk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29"/>
          <p:cNvSpPr txBox="1"/>
          <p:nvPr>
            <p:ph type="ctrTitle"/>
          </p:nvPr>
        </p:nvSpPr>
        <p:spPr>
          <a:xfrm>
            <a:off x="457200" y="1943100"/>
            <a:ext cx="8229600" cy="514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4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29"/>
          <p:cNvSpPr txBox="1"/>
          <p:nvPr>
            <p:ph idx="1" type="subTitle"/>
          </p:nvPr>
        </p:nvSpPr>
        <p:spPr>
          <a:xfrm>
            <a:off x="1828800" y="2800350"/>
            <a:ext cx="5867400" cy="3429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lt1"/>
              </a:buClr>
              <a:buSzPts val="2400"/>
              <a:buFont typeface="Noto Sans Symbols"/>
              <a:buNone/>
              <a:defRPr b="1">
                <a:solidFill>
                  <a:schemeClr val="lt1"/>
                </a:solidFill>
              </a:defRPr>
            </a:lvl1pPr>
            <a:lvl2pPr lvl="1" algn="l">
              <a:spcBef>
                <a:spcPts val="360"/>
              </a:spcBef>
              <a:spcAft>
                <a:spcPts val="0"/>
              </a:spcAft>
              <a:buSzPts val="900"/>
              <a:buChar char="🞇"/>
              <a:defRPr/>
            </a:lvl2pPr>
            <a:lvl3pPr lvl="2" algn="l">
              <a:spcBef>
                <a:spcPts val="360"/>
              </a:spcBef>
              <a:spcAft>
                <a:spcPts val="0"/>
              </a:spcAft>
              <a:buSzPts val="1800"/>
              <a:buChar char="▪"/>
              <a:defRPr/>
            </a:lvl3pPr>
            <a:lvl4pPr lvl="3" algn="l">
              <a:spcBef>
                <a:spcPts val="360"/>
              </a:spcBef>
              <a:spcAft>
                <a:spcPts val="0"/>
              </a:spcAft>
              <a:buSzPts val="1080"/>
              <a:buChar char="🞇"/>
              <a:defRPr/>
            </a:lvl4pPr>
            <a:lvl5pPr lvl="4" algn="l">
              <a:spcBef>
                <a:spcPts val="360"/>
              </a:spcBef>
              <a:spcAft>
                <a:spcPts val="0"/>
              </a:spcAft>
              <a:buClr>
                <a:srgbClr val="000000"/>
              </a:buClr>
              <a:buSzPts val="1800"/>
              <a:buChar char="▪"/>
              <a:defRPr/>
            </a:lvl5pPr>
            <a:lvl6pPr lvl="5" algn="l">
              <a:spcBef>
                <a:spcPts val="360"/>
              </a:spcBef>
              <a:spcAft>
                <a:spcPts val="0"/>
              </a:spcAft>
              <a:buClr>
                <a:srgbClr val="000000"/>
              </a:buClr>
              <a:buSzPts val="1800"/>
              <a:buChar char="▪"/>
              <a:defRPr/>
            </a:lvl6pPr>
            <a:lvl7pPr lvl="6" algn="l">
              <a:spcBef>
                <a:spcPts val="360"/>
              </a:spcBef>
              <a:spcAft>
                <a:spcPts val="0"/>
              </a:spcAft>
              <a:buClr>
                <a:srgbClr val="000000"/>
              </a:buClr>
              <a:buSzPts val="1800"/>
              <a:buChar char="▪"/>
              <a:defRPr/>
            </a:lvl7pPr>
            <a:lvl8pPr lvl="7" algn="l">
              <a:spcBef>
                <a:spcPts val="360"/>
              </a:spcBef>
              <a:spcAft>
                <a:spcPts val="0"/>
              </a:spcAft>
              <a:buClr>
                <a:srgbClr val="000000"/>
              </a:buClr>
              <a:buSzPts val="1800"/>
              <a:buChar char="▪"/>
              <a:defRPr/>
            </a:lvl8pPr>
            <a:lvl9pPr lvl="8" algn="l">
              <a:spcBef>
                <a:spcPts val="360"/>
              </a:spcBef>
              <a:spcAft>
                <a:spcPts val="0"/>
              </a:spcAft>
              <a:buClr>
                <a:srgbClr val="000000"/>
              </a:buClr>
              <a:buSzPts val="1800"/>
              <a:buChar char="▪"/>
              <a:defRPr/>
            </a:lvl9pPr>
          </a:lstStyle>
          <a:p/>
        </p:txBody>
      </p:sp>
      <p:sp>
        <p:nvSpPr>
          <p:cNvPr id="29" name="Google Shape;29;p29"/>
          <p:cNvSpPr txBox="1"/>
          <p:nvPr>
            <p:ph idx="10" type="dt"/>
          </p:nvPr>
        </p:nvSpPr>
        <p:spPr>
          <a:xfrm>
            <a:off x="457200" y="4800600"/>
            <a:ext cx="2133600" cy="240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3124200" y="4800600"/>
            <a:ext cx="2895600" cy="240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6553200" y="4800600"/>
            <a:ext cx="2133600" cy="2406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Arial"/>
                <a:ea typeface="Arial"/>
                <a:cs typeface="Arial"/>
                <a:sym typeface="Arial"/>
              </a:defRPr>
            </a:lvl1pPr>
            <a:lvl2pPr indent="0" lvl="1" marL="0" algn="r">
              <a:spcBef>
                <a:spcPts val="0"/>
              </a:spcBef>
              <a:spcAft>
                <a:spcPts val="0"/>
              </a:spcAft>
              <a:buNone/>
              <a:defRPr sz="1400">
                <a:solidFill>
                  <a:schemeClr val="dk1"/>
                </a:solidFill>
                <a:latin typeface="Arial"/>
                <a:ea typeface="Arial"/>
                <a:cs typeface="Arial"/>
                <a:sym typeface="Arial"/>
              </a:defRPr>
            </a:lvl2pPr>
            <a:lvl3pPr indent="0" lvl="2" marL="0" algn="r">
              <a:spcBef>
                <a:spcPts val="0"/>
              </a:spcBef>
              <a:spcAft>
                <a:spcPts val="0"/>
              </a:spcAft>
              <a:buNone/>
              <a:defRPr sz="1400">
                <a:solidFill>
                  <a:schemeClr val="dk1"/>
                </a:solidFill>
                <a:latin typeface="Arial"/>
                <a:ea typeface="Arial"/>
                <a:cs typeface="Arial"/>
                <a:sym typeface="Arial"/>
              </a:defRPr>
            </a:lvl3pPr>
            <a:lvl4pPr indent="0" lvl="3" marL="0" algn="r">
              <a:spcBef>
                <a:spcPts val="0"/>
              </a:spcBef>
              <a:spcAft>
                <a:spcPts val="0"/>
              </a:spcAft>
              <a:buNone/>
              <a:defRPr sz="1400">
                <a:solidFill>
                  <a:schemeClr val="dk1"/>
                </a:solidFill>
                <a:latin typeface="Arial"/>
                <a:ea typeface="Arial"/>
                <a:cs typeface="Arial"/>
                <a:sym typeface="Arial"/>
              </a:defRPr>
            </a:lvl4pPr>
            <a:lvl5pPr indent="0" lvl="4" marL="0" algn="r">
              <a:spcBef>
                <a:spcPts val="0"/>
              </a:spcBef>
              <a:spcAft>
                <a:spcPts val="0"/>
              </a:spcAft>
              <a:buNone/>
              <a:defRPr sz="1400">
                <a:solidFill>
                  <a:schemeClr val="dk1"/>
                </a:solidFill>
                <a:latin typeface="Arial"/>
                <a:ea typeface="Arial"/>
                <a:cs typeface="Arial"/>
                <a:sym typeface="Arial"/>
              </a:defRPr>
            </a:lvl5pPr>
            <a:lvl6pPr indent="0" lvl="5" marL="0" algn="r">
              <a:spcBef>
                <a:spcPts val="0"/>
              </a:spcBef>
              <a:spcAft>
                <a:spcPts val="0"/>
              </a:spcAft>
              <a:buNone/>
              <a:defRPr sz="1400">
                <a:solidFill>
                  <a:schemeClr val="dk1"/>
                </a:solidFill>
                <a:latin typeface="Arial"/>
                <a:ea typeface="Arial"/>
                <a:cs typeface="Arial"/>
                <a:sym typeface="Arial"/>
              </a:defRPr>
            </a:lvl6pPr>
            <a:lvl7pPr indent="0" lvl="6" marL="0" algn="r">
              <a:spcBef>
                <a:spcPts val="0"/>
              </a:spcBef>
              <a:spcAft>
                <a:spcPts val="0"/>
              </a:spcAft>
              <a:buNone/>
              <a:defRPr sz="1400">
                <a:solidFill>
                  <a:schemeClr val="dk1"/>
                </a:solidFill>
                <a:latin typeface="Arial"/>
                <a:ea typeface="Arial"/>
                <a:cs typeface="Arial"/>
                <a:sym typeface="Arial"/>
              </a:defRPr>
            </a:lvl7pPr>
            <a:lvl8pPr indent="0" lvl="7" marL="0" algn="r">
              <a:spcBef>
                <a:spcPts val="0"/>
              </a:spcBef>
              <a:spcAft>
                <a:spcPts val="0"/>
              </a:spcAft>
              <a:buNone/>
              <a:defRPr sz="1400">
                <a:solidFill>
                  <a:schemeClr val="dk1"/>
                </a:solidFill>
                <a:latin typeface="Arial"/>
                <a:ea typeface="Arial"/>
                <a:cs typeface="Arial"/>
                <a:sym typeface="Arial"/>
              </a:defRPr>
            </a:lvl8pPr>
            <a:lvl9pPr indent="0" lvl="8" marL="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2" name="Google Shape;32;p29"/>
          <p:cNvPicPr preferRelativeResize="0"/>
          <p:nvPr/>
        </p:nvPicPr>
        <p:blipFill rotWithShape="1">
          <a:blip r:embed="rId2">
            <a:alphaModFix/>
          </a:blip>
          <a:srcRect b="0" l="0" r="0" t="0"/>
          <a:stretch/>
        </p:blipFill>
        <p:spPr>
          <a:xfrm>
            <a:off x="0" y="2618185"/>
            <a:ext cx="1258888" cy="1078706"/>
          </a:xfrm>
          <a:prstGeom prst="rect">
            <a:avLst/>
          </a:prstGeom>
          <a:noFill/>
          <a:ln>
            <a:noFill/>
          </a:ln>
        </p:spPr>
      </p:pic>
      <p:sp>
        <p:nvSpPr>
          <p:cNvPr id="33" name="Google Shape;33;p29"/>
          <p:cNvSpPr/>
          <p:nvPr/>
        </p:nvSpPr>
        <p:spPr>
          <a:xfrm>
            <a:off x="1276350" y="3706416"/>
            <a:ext cx="7867800" cy="1632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29"/>
          <p:cNvSpPr/>
          <p:nvPr/>
        </p:nvSpPr>
        <p:spPr>
          <a:xfrm>
            <a:off x="304800" y="228600"/>
            <a:ext cx="8534400" cy="3257700"/>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29"/>
          <p:cNvSpPr/>
          <p:nvPr/>
        </p:nvSpPr>
        <p:spPr>
          <a:xfrm>
            <a:off x="7391400" y="685800"/>
            <a:ext cx="1600200" cy="1086000"/>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29"/>
          <p:cNvSpPr/>
          <p:nvPr/>
        </p:nvSpPr>
        <p:spPr>
          <a:xfrm>
            <a:off x="8305800" y="0"/>
            <a:ext cx="76200" cy="13146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500"/>
                                        <p:tgtEl>
                                          <p:spTgt spid="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500"/>
                                        <p:tgtEl>
                                          <p:spTgt spid="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5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0"/>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30"/>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40" name="Google Shape;40;p30"/>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0"/>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0"/>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31"/>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31"/>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1"/>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32"/>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32"/>
          <p:cNvSpPr txBox="1"/>
          <p:nvPr>
            <p:ph idx="1" type="body"/>
          </p:nvPr>
        </p:nvSpPr>
        <p:spPr>
          <a:xfrm>
            <a:off x="457200" y="1028700"/>
            <a:ext cx="4038600" cy="3769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000000"/>
              </a:buClr>
              <a:buSzPts val="2800"/>
              <a:buChar char="❖"/>
              <a:defRPr sz="2800"/>
            </a:lvl1pPr>
            <a:lvl2pPr indent="-304800" lvl="1" marL="914400" algn="l">
              <a:spcBef>
                <a:spcPts val="480"/>
              </a:spcBef>
              <a:spcAft>
                <a:spcPts val="0"/>
              </a:spcAft>
              <a:buSzPts val="1200"/>
              <a:buChar char="🞇"/>
              <a:defRPr sz="2400"/>
            </a:lvl2pPr>
            <a:lvl3pPr indent="-355600" lvl="2" marL="1371600" algn="l">
              <a:spcBef>
                <a:spcPts val="400"/>
              </a:spcBef>
              <a:spcAft>
                <a:spcPts val="0"/>
              </a:spcAft>
              <a:buSzPts val="2000"/>
              <a:buChar char="▪"/>
              <a:defRPr sz="2000"/>
            </a:lvl3pPr>
            <a:lvl4pPr indent="-297180" lvl="3" marL="1828800" algn="l">
              <a:spcBef>
                <a:spcPts val="360"/>
              </a:spcBef>
              <a:spcAft>
                <a:spcPts val="0"/>
              </a:spcAft>
              <a:buSzPts val="108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rgbClr val="000000"/>
              </a:buClr>
              <a:buSzPts val="1800"/>
              <a:buChar char="▪"/>
              <a:defRPr sz="1800"/>
            </a:lvl6pPr>
            <a:lvl7pPr indent="-342900" lvl="6" marL="3200400" algn="l">
              <a:spcBef>
                <a:spcPts val="360"/>
              </a:spcBef>
              <a:spcAft>
                <a:spcPts val="0"/>
              </a:spcAft>
              <a:buClr>
                <a:srgbClr val="000000"/>
              </a:buClr>
              <a:buSzPts val="1800"/>
              <a:buChar char="▪"/>
              <a:defRPr sz="1800"/>
            </a:lvl7pPr>
            <a:lvl8pPr indent="-342900" lvl="7" marL="3657600" algn="l">
              <a:spcBef>
                <a:spcPts val="360"/>
              </a:spcBef>
              <a:spcAft>
                <a:spcPts val="0"/>
              </a:spcAft>
              <a:buClr>
                <a:srgbClr val="000000"/>
              </a:buClr>
              <a:buSzPts val="1800"/>
              <a:buChar char="▪"/>
              <a:defRPr sz="1800"/>
            </a:lvl8pPr>
            <a:lvl9pPr indent="-342900" lvl="8" marL="4114800" algn="l">
              <a:spcBef>
                <a:spcPts val="360"/>
              </a:spcBef>
              <a:spcAft>
                <a:spcPts val="0"/>
              </a:spcAft>
              <a:buClr>
                <a:srgbClr val="000000"/>
              </a:buClr>
              <a:buSzPts val="1800"/>
              <a:buChar char="▪"/>
              <a:defRPr sz="1800"/>
            </a:lvl9pPr>
          </a:lstStyle>
          <a:p/>
        </p:txBody>
      </p:sp>
      <p:sp>
        <p:nvSpPr>
          <p:cNvPr id="51" name="Google Shape;51;p32"/>
          <p:cNvSpPr txBox="1"/>
          <p:nvPr>
            <p:ph idx="2" type="body"/>
          </p:nvPr>
        </p:nvSpPr>
        <p:spPr>
          <a:xfrm>
            <a:off x="4648200" y="1028700"/>
            <a:ext cx="4038600" cy="3769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000000"/>
              </a:buClr>
              <a:buSzPts val="2800"/>
              <a:buChar char="❖"/>
              <a:defRPr sz="2800"/>
            </a:lvl1pPr>
            <a:lvl2pPr indent="-304800" lvl="1" marL="914400" algn="l">
              <a:spcBef>
                <a:spcPts val="480"/>
              </a:spcBef>
              <a:spcAft>
                <a:spcPts val="0"/>
              </a:spcAft>
              <a:buSzPts val="1200"/>
              <a:buChar char="🞇"/>
              <a:defRPr sz="2400"/>
            </a:lvl2pPr>
            <a:lvl3pPr indent="-355600" lvl="2" marL="1371600" algn="l">
              <a:spcBef>
                <a:spcPts val="400"/>
              </a:spcBef>
              <a:spcAft>
                <a:spcPts val="0"/>
              </a:spcAft>
              <a:buSzPts val="2000"/>
              <a:buChar char="▪"/>
              <a:defRPr sz="2000"/>
            </a:lvl3pPr>
            <a:lvl4pPr indent="-297180" lvl="3" marL="1828800" algn="l">
              <a:spcBef>
                <a:spcPts val="360"/>
              </a:spcBef>
              <a:spcAft>
                <a:spcPts val="0"/>
              </a:spcAft>
              <a:buSzPts val="108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rgbClr val="000000"/>
              </a:buClr>
              <a:buSzPts val="1800"/>
              <a:buChar char="▪"/>
              <a:defRPr sz="1800"/>
            </a:lvl6pPr>
            <a:lvl7pPr indent="-342900" lvl="6" marL="3200400" algn="l">
              <a:spcBef>
                <a:spcPts val="360"/>
              </a:spcBef>
              <a:spcAft>
                <a:spcPts val="0"/>
              </a:spcAft>
              <a:buClr>
                <a:srgbClr val="000000"/>
              </a:buClr>
              <a:buSzPts val="1800"/>
              <a:buChar char="▪"/>
              <a:defRPr sz="1800"/>
            </a:lvl7pPr>
            <a:lvl8pPr indent="-342900" lvl="7" marL="3657600" algn="l">
              <a:spcBef>
                <a:spcPts val="360"/>
              </a:spcBef>
              <a:spcAft>
                <a:spcPts val="0"/>
              </a:spcAft>
              <a:buClr>
                <a:srgbClr val="000000"/>
              </a:buClr>
              <a:buSzPts val="1800"/>
              <a:buChar char="▪"/>
              <a:defRPr sz="1800"/>
            </a:lvl8pPr>
            <a:lvl9pPr indent="-342900" lvl="8" marL="4114800" algn="l">
              <a:spcBef>
                <a:spcPts val="360"/>
              </a:spcBef>
              <a:spcAft>
                <a:spcPts val="0"/>
              </a:spcAft>
              <a:buClr>
                <a:srgbClr val="000000"/>
              </a:buClr>
              <a:buSzPts val="1800"/>
              <a:buChar char="▪"/>
              <a:defRPr sz="1800"/>
            </a:lvl9pPr>
          </a:lstStyle>
          <a:p/>
        </p:txBody>
      </p:sp>
      <p:sp>
        <p:nvSpPr>
          <p:cNvPr id="52" name="Google Shape;52;p32"/>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3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3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000000"/>
              </a:buClr>
              <a:buSzPts val="2000"/>
              <a:buNone/>
              <a:defRPr sz="2000"/>
            </a:lvl1pPr>
            <a:lvl2pPr indent="-228600" lvl="1" marL="914400" algn="l">
              <a:spcBef>
                <a:spcPts val="360"/>
              </a:spcBef>
              <a:spcAft>
                <a:spcPts val="0"/>
              </a:spcAft>
              <a:buSzPts val="900"/>
              <a:buNone/>
              <a:defRPr sz="1800"/>
            </a:lvl2pPr>
            <a:lvl3pPr indent="-228600" lvl="2" marL="1371600" algn="l">
              <a:spcBef>
                <a:spcPts val="320"/>
              </a:spcBef>
              <a:spcAft>
                <a:spcPts val="0"/>
              </a:spcAft>
              <a:buSzPts val="1600"/>
              <a:buNone/>
              <a:defRPr sz="1600"/>
            </a:lvl3pPr>
            <a:lvl4pPr indent="-228600" lvl="3" marL="1828800" algn="l">
              <a:spcBef>
                <a:spcPts val="280"/>
              </a:spcBef>
              <a:spcAft>
                <a:spcPts val="0"/>
              </a:spcAft>
              <a:buSzPts val="840"/>
              <a:buNone/>
              <a:defRPr sz="1400"/>
            </a:lvl4pPr>
            <a:lvl5pPr indent="-228600" lvl="4" marL="2286000" algn="l">
              <a:spcBef>
                <a:spcPts val="280"/>
              </a:spcBef>
              <a:spcAft>
                <a:spcPts val="0"/>
              </a:spcAft>
              <a:buClr>
                <a:srgbClr val="000000"/>
              </a:buClr>
              <a:buSzPts val="1400"/>
              <a:buNone/>
              <a:defRPr sz="1400"/>
            </a:lvl5pPr>
            <a:lvl6pPr indent="-228600" lvl="5" marL="2743200" algn="l">
              <a:spcBef>
                <a:spcPts val="280"/>
              </a:spcBef>
              <a:spcAft>
                <a:spcPts val="0"/>
              </a:spcAft>
              <a:buClr>
                <a:srgbClr val="000000"/>
              </a:buClr>
              <a:buSzPts val="1400"/>
              <a:buNone/>
              <a:defRPr sz="1400"/>
            </a:lvl6pPr>
            <a:lvl7pPr indent="-228600" lvl="6" marL="3200400" algn="l">
              <a:spcBef>
                <a:spcPts val="280"/>
              </a:spcBef>
              <a:spcAft>
                <a:spcPts val="0"/>
              </a:spcAft>
              <a:buClr>
                <a:srgbClr val="000000"/>
              </a:buClr>
              <a:buSzPts val="1400"/>
              <a:buNone/>
              <a:defRPr sz="1400"/>
            </a:lvl7pPr>
            <a:lvl8pPr indent="-228600" lvl="7" marL="3657600" algn="l">
              <a:spcBef>
                <a:spcPts val="280"/>
              </a:spcBef>
              <a:spcAft>
                <a:spcPts val="0"/>
              </a:spcAft>
              <a:buClr>
                <a:srgbClr val="000000"/>
              </a:buClr>
              <a:buSzPts val="1400"/>
              <a:buNone/>
              <a:defRPr sz="1400"/>
            </a:lvl8pPr>
            <a:lvl9pPr indent="-228600" lvl="8" marL="4114800" algn="l">
              <a:spcBef>
                <a:spcPts val="280"/>
              </a:spcBef>
              <a:spcAft>
                <a:spcPts val="0"/>
              </a:spcAft>
              <a:buClr>
                <a:srgbClr val="000000"/>
              </a:buClr>
              <a:buSzPts val="1400"/>
              <a:buNone/>
              <a:defRPr sz="1400"/>
            </a:lvl9pPr>
          </a:lstStyle>
          <a:p/>
        </p:txBody>
      </p:sp>
      <p:sp>
        <p:nvSpPr>
          <p:cNvPr id="58" name="Google Shape;58;p33"/>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3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34"/>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SzPts val="1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96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rgbClr val="000000"/>
              </a:buClr>
              <a:buSzPts val="1600"/>
              <a:buNone/>
              <a:defRPr b="1" sz="1600"/>
            </a:lvl6pPr>
            <a:lvl7pPr indent="-228600" lvl="6" marL="3200400" algn="l">
              <a:spcBef>
                <a:spcPts val="320"/>
              </a:spcBef>
              <a:spcAft>
                <a:spcPts val="0"/>
              </a:spcAft>
              <a:buClr>
                <a:srgbClr val="000000"/>
              </a:buClr>
              <a:buSzPts val="1600"/>
              <a:buNone/>
              <a:defRPr b="1" sz="1600"/>
            </a:lvl7pPr>
            <a:lvl8pPr indent="-228600" lvl="7" marL="3657600" algn="l">
              <a:spcBef>
                <a:spcPts val="320"/>
              </a:spcBef>
              <a:spcAft>
                <a:spcPts val="0"/>
              </a:spcAft>
              <a:buClr>
                <a:srgbClr val="000000"/>
              </a:buClr>
              <a:buSzPts val="1600"/>
              <a:buNone/>
              <a:defRPr b="1" sz="1600"/>
            </a:lvl8pPr>
            <a:lvl9pPr indent="-228600" lvl="8" marL="4114800" algn="l">
              <a:spcBef>
                <a:spcPts val="320"/>
              </a:spcBef>
              <a:spcAft>
                <a:spcPts val="0"/>
              </a:spcAft>
              <a:buClr>
                <a:srgbClr val="000000"/>
              </a:buClr>
              <a:buSzPts val="1600"/>
              <a:buNone/>
              <a:defRPr b="1" sz="1600"/>
            </a:lvl9pPr>
          </a:lstStyle>
          <a:p/>
        </p:txBody>
      </p:sp>
      <p:sp>
        <p:nvSpPr>
          <p:cNvPr id="64" name="Google Shape;64;p34"/>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000000"/>
              </a:buClr>
              <a:buSzPts val="2400"/>
              <a:buChar char="❖"/>
              <a:defRPr sz="2400"/>
            </a:lvl1pPr>
            <a:lvl2pPr indent="-292100" lvl="1" marL="914400" algn="l">
              <a:spcBef>
                <a:spcPts val="400"/>
              </a:spcBef>
              <a:spcAft>
                <a:spcPts val="0"/>
              </a:spcAft>
              <a:buSzPts val="1000"/>
              <a:buChar char="🞇"/>
              <a:defRPr sz="2000"/>
            </a:lvl2pPr>
            <a:lvl3pPr indent="-342900" lvl="2" marL="1371600" algn="l">
              <a:spcBef>
                <a:spcPts val="360"/>
              </a:spcBef>
              <a:spcAft>
                <a:spcPts val="0"/>
              </a:spcAft>
              <a:buSzPts val="1800"/>
              <a:buChar char="▪"/>
              <a:defRPr sz="1800"/>
            </a:lvl3pPr>
            <a:lvl4pPr indent="-289560" lvl="3" marL="1828800" algn="l">
              <a:spcBef>
                <a:spcPts val="320"/>
              </a:spcBef>
              <a:spcAft>
                <a:spcPts val="0"/>
              </a:spcAft>
              <a:buSzPts val="96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rgbClr val="000000"/>
              </a:buClr>
              <a:buSzPts val="1600"/>
              <a:buChar char="▪"/>
              <a:defRPr sz="1600"/>
            </a:lvl6pPr>
            <a:lvl7pPr indent="-330200" lvl="6" marL="3200400" algn="l">
              <a:spcBef>
                <a:spcPts val="320"/>
              </a:spcBef>
              <a:spcAft>
                <a:spcPts val="0"/>
              </a:spcAft>
              <a:buClr>
                <a:srgbClr val="000000"/>
              </a:buClr>
              <a:buSzPts val="1600"/>
              <a:buChar char="▪"/>
              <a:defRPr sz="1600"/>
            </a:lvl7pPr>
            <a:lvl8pPr indent="-330200" lvl="7" marL="3657600" algn="l">
              <a:spcBef>
                <a:spcPts val="320"/>
              </a:spcBef>
              <a:spcAft>
                <a:spcPts val="0"/>
              </a:spcAft>
              <a:buClr>
                <a:srgbClr val="000000"/>
              </a:buClr>
              <a:buSzPts val="1600"/>
              <a:buChar char="▪"/>
              <a:defRPr sz="1600"/>
            </a:lvl8pPr>
            <a:lvl9pPr indent="-330200" lvl="8" marL="4114800" algn="l">
              <a:spcBef>
                <a:spcPts val="320"/>
              </a:spcBef>
              <a:spcAft>
                <a:spcPts val="0"/>
              </a:spcAft>
              <a:buClr>
                <a:srgbClr val="000000"/>
              </a:buClr>
              <a:buSzPts val="1600"/>
              <a:buChar char="▪"/>
              <a:defRPr sz="1600"/>
            </a:lvl9pPr>
          </a:lstStyle>
          <a:p/>
        </p:txBody>
      </p:sp>
      <p:sp>
        <p:nvSpPr>
          <p:cNvPr id="65" name="Google Shape;65;p34"/>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SzPts val="1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96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rgbClr val="000000"/>
              </a:buClr>
              <a:buSzPts val="1600"/>
              <a:buNone/>
              <a:defRPr b="1" sz="1600"/>
            </a:lvl6pPr>
            <a:lvl7pPr indent="-228600" lvl="6" marL="3200400" algn="l">
              <a:spcBef>
                <a:spcPts val="320"/>
              </a:spcBef>
              <a:spcAft>
                <a:spcPts val="0"/>
              </a:spcAft>
              <a:buClr>
                <a:srgbClr val="000000"/>
              </a:buClr>
              <a:buSzPts val="1600"/>
              <a:buNone/>
              <a:defRPr b="1" sz="1600"/>
            </a:lvl7pPr>
            <a:lvl8pPr indent="-228600" lvl="7" marL="3657600" algn="l">
              <a:spcBef>
                <a:spcPts val="320"/>
              </a:spcBef>
              <a:spcAft>
                <a:spcPts val="0"/>
              </a:spcAft>
              <a:buClr>
                <a:srgbClr val="000000"/>
              </a:buClr>
              <a:buSzPts val="1600"/>
              <a:buNone/>
              <a:defRPr b="1" sz="1600"/>
            </a:lvl8pPr>
            <a:lvl9pPr indent="-228600" lvl="8" marL="4114800" algn="l">
              <a:spcBef>
                <a:spcPts val="320"/>
              </a:spcBef>
              <a:spcAft>
                <a:spcPts val="0"/>
              </a:spcAft>
              <a:buClr>
                <a:srgbClr val="000000"/>
              </a:buClr>
              <a:buSzPts val="1600"/>
              <a:buNone/>
              <a:defRPr b="1" sz="1600"/>
            </a:lvl9pPr>
          </a:lstStyle>
          <a:p/>
        </p:txBody>
      </p:sp>
      <p:sp>
        <p:nvSpPr>
          <p:cNvPr id="66" name="Google Shape;66;p34"/>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000000"/>
              </a:buClr>
              <a:buSzPts val="2400"/>
              <a:buChar char="❖"/>
              <a:defRPr sz="2400"/>
            </a:lvl1pPr>
            <a:lvl2pPr indent="-292100" lvl="1" marL="914400" algn="l">
              <a:spcBef>
                <a:spcPts val="400"/>
              </a:spcBef>
              <a:spcAft>
                <a:spcPts val="0"/>
              </a:spcAft>
              <a:buSzPts val="1000"/>
              <a:buChar char="🞇"/>
              <a:defRPr sz="2000"/>
            </a:lvl2pPr>
            <a:lvl3pPr indent="-342900" lvl="2" marL="1371600" algn="l">
              <a:spcBef>
                <a:spcPts val="360"/>
              </a:spcBef>
              <a:spcAft>
                <a:spcPts val="0"/>
              </a:spcAft>
              <a:buSzPts val="1800"/>
              <a:buChar char="▪"/>
              <a:defRPr sz="1800"/>
            </a:lvl3pPr>
            <a:lvl4pPr indent="-289560" lvl="3" marL="1828800" algn="l">
              <a:spcBef>
                <a:spcPts val="320"/>
              </a:spcBef>
              <a:spcAft>
                <a:spcPts val="0"/>
              </a:spcAft>
              <a:buSzPts val="96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rgbClr val="000000"/>
              </a:buClr>
              <a:buSzPts val="1600"/>
              <a:buChar char="▪"/>
              <a:defRPr sz="1600"/>
            </a:lvl6pPr>
            <a:lvl7pPr indent="-330200" lvl="6" marL="3200400" algn="l">
              <a:spcBef>
                <a:spcPts val="320"/>
              </a:spcBef>
              <a:spcAft>
                <a:spcPts val="0"/>
              </a:spcAft>
              <a:buClr>
                <a:srgbClr val="000000"/>
              </a:buClr>
              <a:buSzPts val="1600"/>
              <a:buChar char="▪"/>
              <a:defRPr sz="1600"/>
            </a:lvl7pPr>
            <a:lvl8pPr indent="-330200" lvl="7" marL="3657600" algn="l">
              <a:spcBef>
                <a:spcPts val="320"/>
              </a:spcBef>
              <a:spcAft>
                <a:spcPts val="0"/>
              </a:spcAft>
              <a:buClr>
                <a:srgbClr val="000000"/>
              </a:buClr>
              <a:buSzPts val="1600"/>
              <a:buChar char="▪"/>
              <a:defRPr sz="1600"/>
            </a:lvl8pPr>
            <a:lvl9pPr indent="-330200" lvl="8" marL="4114800" algn="l">
              <a:spcBef>
                <a:spcPts val="320"/>
              </a:spcBef>
              <a:spcAft>
                <a:spcPts val="0"/>
              </a:spcAft>
              <a:buClr>
                <a:srgbClr val="000000"/>
              </a:buClr>
              <a:buSzPts val="1600"/>
              <a:buChar char="▪"/>
              <a:defRPr sz="1600"/>
            </a:lvl9pPr>
          </a:lstStyle>
          <a:p/>
        </p:txBody>
      </p:sp>
      <p:sp>
        <p:nvSpPr>
          <p:cNvPr id="67" name="Google Shape;67;p34"/>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4"/>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4"/>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35"/>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36"/>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36"/>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000000"/>
              </a:buClr>
              <a:buSzPts val="3200"/>
              <a:buChar char="❖"/>
              <a:defRPr sz="3200"/>
            </a:lvl1pPr>
            <a:lvl2pPr indent="-317500" lvl="1" marL="914400" algn="l">
              <a:spcBef>
                <a:spcPts val="560"/>
              </a:spcBef>
              <a:spcAft>
                <a:spcPts val="0"/>
              </a:spcAft>
              <a:buSzPts val="1400"/>
              <a:buChar char="🞇"/>
              <a:defRPr sz="2800"/>
            </a:lvl2pPr>
            <a:lvl3pPr indent="-381000" lvl="2" marL="1371600" algn="l">
              <a:spcBef>
                <a:spcPts val="480"/>
              </a:spcBef>
              <a:spcAft>
                <a:spcPts val="0"/>
              </a:spcAft>
              <a:buSzPts val="2400"/>
              <a:buChar char="▪"/>
              <a:defRPr sz="2400"/>
            </a:lvl3pPr>
            <a:lvl4pPr indent="-304800" lvl="3" marL="1828800" algn="l">
              <a:spcBef>
                <a:spcPts val="400"/>
              </a:spcBef>
              <a:spcAft>
                <a:spcPts val="0"/>
              </a:spcAft>
              <a:buSzPts val="1200"/>
              <a:buChar char="🞇"/>
              <a:defRPr sz="2000"/>
            </a:lvl4pPr>
            <a:lvl5pPr indent="-355600" lvl="4" marL="2286000" algn="l">
              <a:spcBef>
                <a:spcPts val="400"/>
              </a:spcBef>
              <a:spcAft>
                <a:spcPts val="0"/>
              </a:spcAft>
              <a:buClr>
                <a:srgbClr val="000000"/>
              </a:buClr>
              <a:buSzPts val="2000"/>
              <a:buChar char="▪"/>
              <a:defRPr sz="2000"/>
            </a:lvl5pPr>
            <a:lvl6pPr indent="-355600" lvl="5" marL="2743200" algn="l">
              <a:spcBef>
                <a:spcPts val="400"/>
              </a:spcBef>
              <a:spcAft>
                <a:spcPts val="0"/>
              </a:spcAft>
              <a:buClr>
                <a:srgbClr val="000000"/>
              </a:buClr>
              <a:buSzPts val="2000"/>
              <a:buChar char="▪"/>
              <a:defRPr sz="2000"/>
            </a:lvl6pPr>
            <a:lvl7pPr indent="-355600" lvl="6" marL="3200400" algn="l">
              <a:spcBef>
                <a:spcPts val="400"/>
              </a:spcBef>
              <a:spcAft>
                <a:spcPts val="0"/>
              </a:spcAft>
              <a:buClr>
                <a:srgbClr val="000000"/>
              </a:buClr>
              <a:buSzPts val="2000"/>
              <a:buChar char="▪"/>
              <a:defRPr sz="2000"/>
            </a:lvl7pPr>
            <a:lvl8pPr indent="-355600" lvl="7" marL="3657600" algn="l">
              <a:spcBef>
                <a:spcPts val="400"/>
              </a:spcBef>
              <a:spcAft>
                <a:spcPts val="0"/>
              </a:spcAft>
              <a:buClr>
                <a:srgbClr val="000000"/>
              </a:buClr>
              <a:buSzPts val="2000"/>
              <a:buChar char="▪"/>
              <a:defRPr sz="2000"/>
            </a:lvl8pPr>
            <a:lvl9pPr indent="-355600" lvl="8" marL="4114800" algn="l">
              <a:spcBef>
                <a:spcPts val="400"/>
              </a:spcBef>
              <a:spcAft>
                <a:spcPts val="0"/>
              </a:spcAft>
              <a:buClr>
                <a:srgbClr val="000000"/>
              </a:buClr>
              <a:buSzPts val="2000"/>
              <a:buChar char="▪"/>
              <a:defRPr sz="2000"/>
            </a:lvl9pPr>
          </a:lstStyle>
          <a:p/>
        </p:txBody>
      </p:sp>
      <p:sp>
        <p:nvSpPr>
          <p:cNvPr id="77" name="Google Shape;77;p36"/>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SzPts val="6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rgbClr val="000000"/>
              </a:buClr>
              <a:buSzPts val="900"/>
              <a:buNone/>
              <a:defRPr sz="900"/>
            </a:lvl6pPr>
            <a:lvl7pPr indent="-228600" lvl="6" marL="3200400" algn="l">
              <a:spcBef>
                <a:spcPts val="180"/>
              </a:spcBef>
              <a:spcAft>
                <a:spcPts val="0"/>
              </a:spcAft>
              <a:buClr>
                <a:srgbClr val="000000"/>
              </a:buClr>
              <a:buSzPts val="900"/>
              <a:buNone/>
              <a:defRPr sz="900"/>
            </a:lvl7pPr>
            <a:lvl8pPr indent="-228600" lvl="7" marL="3657600" algn="l">
              <a:spcBef>
                <a:spcPts val="180"/>
              </a:spcBef>
              <a:spcAft>
                <a:spcPts val="0"/>
              </a:spcAft>
              <a:buClr>
                <a:srgbClr val="000000"/>
              </a:buClr>
              <a:buSzPts val="900"/>
              <a:buNone/>
              <a:defRPr sz="900"/>
            </a:lvl8pPr>
            <a:lvl9pPr indent="-228600" lvl="8" marL="4114800" algn="l">
              <a:spcBef>
                <a:spcPts val="180"/>
              </a:spcBef>
              <a:spcAft>
                <a:spcPts val="0"/>
              </a:spcAft>
              <a:buClr>
                <a:srgbClr val="000000"/>
              </a:buClr>
              <a:buSzPts val="900"/>
              <a:buNone/>
              <a:defRPr sz="900"/>
            </a:lvl9pPr>
          </a:lstStyle>
          <a:p/>
        </p:txBody>
      </p:sp>
      <p:sp>
        <p:nvSpPr>
          <p:cNvPr id="78" name="Google Shape;78;p36"/>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6"/>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37"/>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37"/>
          <p:cNvSpPr/>
          <p:nvPr>
            <p:ph idx="2" type="pic"/>
          </p:nvPr>
        </p:nvSpPr>
        <p:spPr>
          <a:xfrm>
            <a:off x="1792288" y="459581"/>
            <a:ext cx="5486400" cy="3086100"/>
          </a:xfrm>
          <a:prstGeom prst="rect">
            <a:avLst/>
          </a:prstGeom>
          <a:noFill/>
          <a:ln>
            <a:noFill/>
          </a:ln>
        </p:spPr>
      </p:sp>
      <p:sp>
        <p:nvSpPr>
          <p:cNvPr id="84" name="Google Shape;84;p37"/>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SzPts val="6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rgbClr val="000000"/>
              </a:buClr>
              <a:buSzPts val="900"/>
              <a:buNone/>
              <a:defRPr sz="900"/>
            </a:lvl6pPr>
            <a:lvl7pPr indent="-228600" lvl="6" marL="3200400" algn="l">
              <a:spcBef>
                <a:spcPts val="180"/>
              </a:spcBef>
              <a:spcAft>
                <a:spcPts val="0"/>
              </a:spcAft>
              <a:buClr>
                <a:srgbClr val="000000"/>
              </a:buClr>
              <a:buSzPts val="900"/>
              <a:buNone/>
              <a:defRPr sz="900"/>
            </a:lvl7pPr>
            <a:lvl8pPr indent="-228600" lvl="7" marL="3657600" algn="l">
              <a:spcBef>
                <a:spcPts val="180"/>
              </a:spcBef>
              <a:spcAft>
                <a:spcPts val="0"/>
              </a:spcAft>
              <a:buClr>
                <a:srgbClr val="000000"/>
              </a:buClr>
              <a:buSzPts val="900"/>
              <a:buNone/>
              <a:defRPr sz="900"/>
            </a:lvl8pPr>
            <a:lvl9pPr indent="-228600" lvl="8" marL="4114800" algn="l">
              <a:spcBef>
                <a:spcPts val="180"/>
              </a:spcBef>
              <a:spcAft>
                <a:spcPts val="0"/>
              </a:spcAft>
              <a:buClr>
                <a:srgbClr val="000000"/>
              </a:buClr>
              <a:buSzPts val="900"/>
              <a:buNone/>
              <a:defRPr sz="900"/>
            </a:lvl9pPr>
          </a:lstStyle>
          <a:p/>
        </p:txBody>
      </p:sp>
      <p:sp>
        <p:nvSpPr>
          <p:cNvPr id="85" name="Google Shape;85;p37"/>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7"/>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38"/>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38"/>
          <p:cNvSpPr txBox="1"/>
          <p:nvPr>
            <p:ph idx="1" type="body"/>
          </p:nvPr>
        </p:nvSpPr>
        <p:spPr>
          <a:xfrm rot="5400000">
            <a:off x="2687250" y="-1201350"/>
            <a:ext cx="37695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91" name="Google Shape;91;p38"/>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8"/>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8"/>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39"/>
          <p:cNvSpPr txBox="1"/>
          <p:nvPr>
            <p:ph type="title"/>
          </p:nvPr>
        </p:nvSpPr>
        <p:spPr>
          <a:xfrm rot="5400000">
            <a:off x="5336400" y="1447781"/>
            <a:ext cx="4643400"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39"/>
          <p:cNvSpPr txBox="1"/>
          <p:nvPr>
            <p:ph idx="1" type="body"/>
          </p:nvPr>
        </p:nvSpPr>
        <p:spPr>
          <a:xfrm rot="5400000">
            <a:off x="1145400" y="-533419"/>
            <a:ext cx="464340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97" name="Google Shape;97;p39"/>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9"/>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9"/>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lin ang="5400000" scaled="0"/>
        </a:gradFill>
      </p:bgPr>
    </p:bg>
    <p:spTree>
      <p:nvGrpSpPr>
        <p:cNvPr id="9" name="Shape 9"/>
        <p:cNvGrpSpPr/>
        <p:nvPr/>
      </p:nvGrpSpPr>
      <p:grpSpPr>
        <a:xfrm>
          <a:off x="0" y="0"/>
          <a:ext cx="0" cy="0"/>
          <a:chOff x="0" y="0"/>
          <a:chExt cx="0" cy="0"/>
        </a:xfrm>
      </p:grpSpPr>
      <p:sp>
        <p:nvSpPr>
          <p:cNvPr id="10" name="Google Shape;10;p28"/>
          <p:cNvSpPr/>
          <p:nvPr/>
        </p:nvSpPr>
        <p:spPr>
          <a:xfrm>
            <a:off x="0" y="7144"/>
            <a:ext cx="9144000" cy="7716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 name="Google Shape;11;p28"/>
          <p:cNvSpPr/>
          <p:nvPr/>
        </p:nvSpPr>
        <p:spPr>
          <a:xfrm>
            <a:off x="1447800" y="0"/>
            <a:ext cx="7696200" cy="6597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 name="Google Shape;12;p28"/>
          <p:cNvSpPr/>
          <p:nvPr/>
        </p:nvSpPr>
        <p:spPr>
          <a:xfrm>
            <a:off x="0" y="119063"/>
            <a:ext cx="9144000" cy="452400"/>
          </a:xfrm>
          <a:prstGeom prst="rect">
            <a:avLst/>
          </a:prstGeom>
          <a:gradFill>
            <a:gsLst>
              <a:gs pos="0">
                <a:srgbClr val="224894"/>
              </a:gs>
              <a:gs pos="100000">
                <a:schemeClr val="accent1"/>
              </a:gs>
            </a:gsLst>
            <a:lin ang="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 name="Google Shape;13;p28"/>
          <p:cNvSpPr/>
          <p:nvPr/>
        </p:nvSpPr>
        <p:spPr>
          <a:xfrm>
            <a:off x="0" y="857250"/>
            <a:ext cx="228600" cy="4286400"/>
          </a:xfrm>
          <a:prstGeom prst="rect">
            <a:avLst/>
          </a:prstGeom>
          <a:gradFill>
            <a:gsLst>
              <a:gs pos="0">
                <a:schemeClr val="hlink"/>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 name="Google Shape;14;p28"/>
          <p:cNvSpPr/>
          <p:nvPr/>
        </p:nvSpPr>
        <p:spPr>
          <a:xfrm>
            <a:off x="8686800" y="0"/>
            <a:ext cx="76200" cy="4572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28"/>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000000"/>
              </a:buClr>
              <a:buSzPts val="2400"/>
              <a:buFont typeface="Noto Sans Symbols"/>
              <a:buChar char="❖"/>
              <a:defRPr b="0" i="0" sz="2400" u="none" cap="none" strike="noStrike">
                <a:solidFill>
                  <a:srgbClr val="000000"/>
                </a:solidFill>
                <a:latin typeface="Arial"/>
                <a:ea typeface="Arial"/>
                <a:cs typeface="Arial"/>
                <a:sym typeface="Arial"/>
              </a:defRPr>
            </a:lvl1pPr>
            <a:lvl2pPr indent="-304800" lvl="1" marL="914400" marR="0" rtl="0" algn="l">
              <a:spcBef>
                <a:spcPts val="480"/>
              </a:spcBef>
              <a:spcAft>
                <a:spcPts val="0"/>
              </a:spcAft>
              <a:buClr>
                <a:schemeClr val="accent1"/>
              </a:buClr>
              <a:buSzPts val="1200"/>
              <a:buFont typeface="Noto Sans Symbols"/>
              <a:buChar char="🞇"/>
              <a:defRPr b="0" i="0" sz="2400" u="none" cap="none" strike="noStrike">
                <a:solidFill>
                  <a:srgbClr val="000000"/>
                </a:solidFill>
                <a:latin typeface="Arial"/>
                <a:ea typeface="Arial"/>
                <a:cs typeface="Arial"/>
                <a:sym typeface="Arial"/>
              </a:defRPr>
            </a:lvl2pPr>
            <a:lvl3pPr indent="-355600" lvl="2" marL="1371600" marR="0" rtl="0" algn="l">
              <a:spcBef>
                <a:spcPts val="400"/>
              </a:spcBef>
              <a:spcAft>
                <a:spcPts val="0"/>
              </a:spcAft>
              <a:buClr>
                <a:schemeClr val="hlink"/>
              </a:buClr>
              <a:buSzPts val="2000"/>
              <a:buFont typeface="Noto Sans Symbols"/>
              <a:buChar char="▪"/>
              <a:defRPr b="0" i="0" sz="2000" u="none" cap="none" strike="noStrike">
                <a:solidFill>
                  <a:srgbClr val="000000"/>
                </a:solidFill>
                <a:latin typeface="Arial"/>
                <a:ea typeface="Arial"/>
                <a:cs typeface="Arial"/>
                <a:sym typeface="Arial"/>
              </a:defRPr>
            </a:lvl3pPr>
            <a:lvl4pPr indent="-297180" lvl="3" marL="1828800" marR="0" rtl="0" algn="l">
              <a:spcBef>
                <a:spcPts val="360"/>
              </a:spcBef>
              <a:spcAft>
                <a:spcPts val="0"/>
              </a:spcAft>
              <a:buClr>
                <a:schemeClr val="folHlink"/>
              </a:buClr>
              <a:buSzPts val="1080"/>
              <a:buFont typeface="Noto Sans Symbols"/>
              <a:buChar char="🞇"/>
              <a:defRPr b="0" i="0" sz="1800" u="none" cap="none" strike="noStrike">
                <a:solidFill>
                  <a:srgbClr val="000000"/>
                </a:solidFill>
                <a:latin typeface="Arial"/>
                <a:ea typeface="Arial"/>
                <a:cs typeface="Arial"/>
                <a:sym typeface="Arial"/>
              </a:defRPr>
            </a:lvl4pPr>
            <a:lvl5pPr indent="-342900" lvl="4" marL="22860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5pPr>
            <a:lvl6pPr indent="-342900" lvl="5" marL="27432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6pPr>
            <a:lvl7pPr indent="-342900" lvl="6" marL="32004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7pPr>
            <a:lvl8pPr indent="-342900" lvl="7" marL="36576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8pPr>
            <a:lvl9pPr indent="-342900" lvl="8" marL="41148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9pPr>
          </a:lstStyle>
          <a:p/>
        </p:txBody>
      </p:sp>
      <p:sp>
        <p:nvSpPr>
          <p:cNvPr id="16" name="Google Shape;16;p28"/>
          <p:cNvSpPr txBox="1"/>
          <p:nvPr>
            <p:ph idx="10" type="dt"/>
          </p:nvPr>
        </p:nvSpPr>
        <p:spPr>
          <a:xfrm>
            <a:off x="457200" y="4891088"/>
            <a:ext cx="2133600" cy="1833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00">
                <a:solidFill>
                  <a:schemeClr val="accen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28"/>
          <p:cNvSpPr txBox="1"/>
          <p:nvPr>
            <p:ph idx="11" type="ftr"/>
          </p:nvPr>
        </p:nvSpPr>
        <p:spPr>
          <a:xfrm>
            <a:off x="3124200" y="4891088"/>
            <a:ext cx="2895600" cy="1833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400">
                <a:solidFill>
                  <a:schemeClr val="accen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28"/>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sz="1400" u="none">
                <a:solidFill>
                  <a:schemeClr val="accent1"/>
                </a:solidFill>
                <a:latin typeface="Arial"/>
                <a:ea typeface="Arial"/>
                <a:cs typeface="Arial"/>
                <a:sym typeface="Arial"/>
              </a:defRPr>
            </a:lvl1pPr>
            <a:lvl2pPr indent="0" lvl="1" marL="0" marR="0" rtl="0" algn="r">
              <a:spcBef>
                <a:spcPts val="0"/>
              </a:spcBef>
              <a:spcAft>
                <a:spcPts val="0"/>
              </a:spcAft>
              <a:buNone/>
              <a:defRPr b="0" sz="1400" u="none">
                <a:solidFill>
                  <a:schemeClr val="accent1"/>
                </a:solidFill>
                <a:latin typeface="Arial"/>
                <a:ea typeface="Arial"/>
                <a:cs typeface="Arial"/>
                <a:sym typeface="Arial"/>
              </a:defRPr>
            </a:lvl2pPr>
            <a:lvl3pPr indent="0" lvl="2" marL="0" marR="0" rtl="0" algn="r">
              <a:spcBef>
                <a:spcPts val="0"/>
              </a:spcBef>
              <a:spcAft>
                <a:spcPts val="0"/>
              </a:spcAft>
              <a:buNone/>
              <a:defRPr b="0" sz="1400" u="none">
                <a:solidFill>
                  <a:schemeClr val="accent1"/>
                </a:solidFill>
                <a:latin typeface="Arial"/>
                <a:ea typeface="Arial"/>
                <a:cs typeface="Arial"/>
                <a:sym typeface="Arial"/>
              </a:defRPr>
            </a:lvl3pPr>
            <a:lvl4pPr indent="0" lvl="3" marL="0" marR="0" rtl="0" algn="r">
              <a:spcBef>
                <a:spcPts val="0"/>
              </a:spcBef>
              <a:spcAft>
                <a:spcPts val="0"/>
              </a:spcAft>
              <a:buNone/>
              <a:defRPr b="0" sz="1400" u="none">
                <a:solidFill>
                  <a:schemeClr val="accent1"/>
                </a:solidFill>
                <a:latin typeface="Arial"/>
                <a:ea typeface="Arial"/>
                <a:cs typeface="Arial"/>
                <a:sym typeface="Arial"/>
              </a:defRPr>
            </a:lvl4pPr>
            <a:lvl5pPr indent="0" lvl="4" marL="0" marR="0" rtl="0" algn="r">
              <a:spcBef>
                <a:spcPts val="0"/>
              </a:spcBef>
              <a:spcAft>
                <a:spcPts val="0"/>
              </a:spcAft>
              <a:buNone/>
              <a:defRPr b="0" sz="1400" u="none">
                <a:solidFill>
                  <a:schemeClr val="accent1"/>
                </a:solidFill>
                <a:latin typeface="Arial"/>
                <a:ea typeface="Arial"/>
                <a:cs typeface="Arial"/>
                <a:sym typeface="Arial"/>
              </a:defRPr>
            </a:lvl5pPr>
            <a:lvl6pPr indent="0" lvl="5" marL="0" marR="0" rtl="0" algn="r">
              <a:spcBef>
                <a:spcPts val="0"/>
              </a:spcBef>
              <a:spcAft>
                <a:spcPts val="0"/>
              </a:spcAft>
              <a:buNone/>
              <a:defRPr b="0" sz="1400" u="none">
                <a:solidFill>
                  <a:schemeClr val="accent1"/>
                </a:solidFill>
                <a:latin typeface="Arial"/>
                <a:ea typeface="Arial"/>
                <a:cs typeface="Arial"/>
                <a:sym typeface="Arial"/>
              </a:defRPr>
            </a:lvl6pPr>
            <a:lvl7pPr indent="0" lvl="6" marL="0" marR="0" rtl="0" algn="r">
              <a:spcBef>
                <a:spcPts val="0"/>
              </a:spcBef>
              <a:spcAft>
                <a:spcPts val="0"/>
              </a:spcAft>
              <a:buNone/>
              <a:defRPr b="0" sz="1400" u="none">
                <a:solidFill>
                  <a:schemeClr val="accent1"/>
                </a:solidFill>
                <a:latin typeface="Arial"/>
                <a:ea typeface="Arial"/>
                <a:cs typeface="Arial"/>
                <a:sym typeface="Arial"/>
              </a:defRPr>
            </a:lvl7pPr>
            <a:lvl8pPr indent="0" lvl="7" marL="0" marR="0" rtl="0" algn="r">
              <a:spcBef>
                <a:spcPts val="0"/>
              </a:spcBef>
              <a:spcAft>
                <a:spcPts val="0"/>
              </a:spcAft>
              <a:buNone/>
              <a:defRPr b="0" sz="1400" u="none">
                <a:solidFill>
                  <a:schemeClr val="accent1"/>
                </a:solidFill>
                <a:latin typeface="Arial"/>
                <a:ea typeface="Arial"/>
                <a:cs typeface="Arial"/>
                <a:sym typeface="Arial"/>
              </a:defRPr>
            </a:lvl8pPr>
            <a:lvl9pPr indent="0" lvl="8" marL="0" marR="0" rtl="0" algn="r">
              <a:spcBef>
                <a:spcPts val="0"/>
              </a:spcBef>
              <a:spcAft>
                <a:spcPts val="0"/>
              </a:spcAft>
              <a:buNone/>
              <a:defRPr b="0" sz="1400" u="non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8"/>
          <p:cNvSpPr/>
          <p:nvPr/>
        </p:nvSpPr>
        <p:spPr>
          <a:xfrm>
            <a:off x="0" y="0"/>
            <a:ext cx="1447800" cy="8001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0" name="Google Shape;20;p28"/>
          <p:cNvPicPr preferRelativeResize="0"/>
          <p:nvPr/>
        </p:nvPicPr>
        <p:blipFill rotWithShape="1">
          <a:blip r:embed="rId1">
            <a:alphaModFix/>
          </a:blip>
          <a:srcRect b="0" l="0" r="0" t="0"/>
          <a:stretch/>
        </p:blipFill>
        <p:spPr>
          <a:xfrm>
            <a:off x="0" y="0"/>
            <a:ext cx="1243013" cy="778669"/>
          </a:xfrm>
          <a:prstGeom prst="rect">
            <a:avLst/>
          </a:prstGeom>
          <a:noFill/>
          <a:ln>
            <a:noFill/>
          </a:ln>
        </p:spPr>
      </p:pic>
      <p:sp>
        <p:nvSpPr>
          <p:cNvPr id="21" name="Google Shape;21;p28"/>
          <p:cNvSpPr/>
          <p:nvPr/>
        </p:nvSpPr>
        <p:spPr>
          <a:xfrm>
            <a:off x="0" y="776288"/>
            <a:ext cx="1447800" cy="17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28"/>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
                                        </p:tgtEl>
                                        <p:attrNameLst>
                                          <p:attrName>style.visibility</p:attrName>
                                        </p:attrNameLst>
                                      </p:cBhvr>
                                      <p:to>
                                        <p:strVal val="visible"/>
                                      </p:to>
                                    </p:set>
                                    <p:animEffect filter="fade" transition="in">
                                      <p:cBhvr>
                                        <p:cTn dur="500"/>
                                        <p:tgtEl>
                                          <p:spTgt spid="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
                                        </p:tgtEl>
                                        <p:attrNameLst>
                                          <p:attrName>style.visibility</p:attrName>
                                        </p:attrNameLst>
                                      </p:cBhvr>
                                      <p:to>
                                        <p:strVal val="visible"/>
                                      </p:to>
                                    </p:set>
                                    <p:animEffect filter="fade" transition="in">
                                      <p:cBhvr>
                                        <p:cTn dur="500"/>
                                        <p:tgtEl>
                                          <p:spTgt spid="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457200" y="1943100"/>
            <a:ext cx="8229600" cy="514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t>Dynamic Analysis</a:t>
            </a:r>
            <a:endParaRPr/>
          </a:p>
        </p:txBody>
      </p:sp>
      <p:sp>
        <p:nvSpPr>
          <p:cNvPr id="106" name="Google Shape;106;p1"/>
          <p:cNvSpPr/>
          <p:nvPr/>
        </p:nvSpPr>
        <p:spPr>
          <a:xfrm>
            <a:off x="4147296" y="2686050"/>
            <a:ext cx="4724400" cy="342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2000"/>
              <a:buFont typeface="Noto Sans Symbols"/>
              <a:buNone/>
            </a:pPr>
            <a:r>
              <a:rPr b="1" lang="en-US" sz="2000">
                <a:solidFill>
                  <a:srgbClr val="FFFFFF"/>
                </a:solidFill>
                <a:latin typeface="Arial"/>
                <a:ea typeface="Arial"/>
                <a:cs typeface="Arial"/>
                <a:sym typeface="Arial"/>
              </a:rPr>
              <a:t>Assoc. Prof. TRAN Minh Triet</a:t>
            </a:r>
            <a:endParaRPr b="1" sz="2000">
              <a:solidFill>
                <a:srgbClr val="FFFFFF"/>
              </a:solidFill>
              <a:latin typeface="Arial"/>
              <a:ea typeface="Arial"/>
              <a:cs typeface="Arial"/>
              <a:sym typeface="Arial"/>
            </a:endParaRPr>
          </a:p>
          <a:p>
            <a:pPr indent="0" lvl="0" marL="0" marR="0" rtl="0" algn="ctr">
              <a:spcBef>
                <a:spcPts val="400"/>
              </a:spcBef>
              <a:spcAft>
                <a:spcPts val="0"/>
              </a:spcAft>
              <a:buClr>
                <a:srgbClr val="FFFFFF"/>
              </a:buClr>
              <a:buSzPts val="2000"/>
              <a:buFont typeface="Noto Sans Symbols"/>
              <a:buNone/>
            </a:pPr>
            <a:r>
              <a:rPr b="1" lang="en-US" sz="2000">
                <a:solidFill>
                  <a:srgbClr val="FFFFFF"/>
                </a:solidFill>
                <a:latin typeface="Arial"/>
                <a:ea typeface="Arial"/>
                <a:cs typeface="Arial"/>
                <a:sym typeface="Arial"/>
              </a:rPr>
              <a:t>Department of Software Engineering</a:t>
            </a:r>
            <a:endParaRPr sz="2000">
              <a:solidFill>
                <a:srgbClr val="FFFFFF"/>
              </a:solidFill>
              <a:latin typeface="Arial"/>
              <a:ea typeface="Arial"/>
              <a:cs typeface="Arial"/>
              <a:sym typeface="Arial"/>
            </a:endParaRPr>
          </a:p>
        </p:txBody>
      </p:sp>
      <p:sp>
        <p:nvSpPr>
          <p:cNvPr id="107" name="Google Shape;107;p1"/>
          <p:cNvSpPr/>
          <p:nvPr/>
        </p:nvSpPr>
        <p:spPr>
          <a:xfrm>
            <a:off x="3838252" y="4343400"/>
            <a:ext cx="5305800" cy="39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B1C0FF"/>
                </a:solidFill>
                <a:latin typeface="Arial"/>
                <a:ea typeface="Arial"/>
                <a:cs typeface="Arial"/>
                <a:sym typeface="Arial"/>
              </a:rPr>
              <a:t>Software Analysis and Design</a:t>
            </a:r>
            <a:endParaRPr/>
          </a:p>
        </p:txBody>
      </p:sp>
      <p:sp>
        <p:nvSpPr>
          <p:cNvPr id="108" name="Google Shape;108;p1"/>
          <p:cNvSpPr txBox="1"/>
          <p:nvPr/>
        </p:nvSpPr>
        <p:spPr>
          <a:xfrm>
            <a:off x="2388454" y="287348"/>
            <a:ext cx="43671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Arial"/>
                <a:ea typeface="Arial"/>
                <a:cs typeface="Arial"/>
                <a:sym typeface="Arial"/>
              </a:rPr>
              <a:t>University of Science, VNU-HCM</a:t>
            </a:r>
            <a:endParaRPr/>
          </a:p>
          <a:p>
            <a:pPr indent="0" lvl="0" marL="0" marR="0" rtl="0" algn="ctr">
              <a:spcBef>
                <a:spcPts val="0"/>
              </a:spcBef>
              <a:spcAft>
                <a:spcPts val="0"/>
              </a:spcAft>
              <a:buNone/>
            </a:pPr>
            <a:r>
              <a:rPr b="1" lang="en-US" sz="2000">
                <a:solidFill>
                  <a:schemeClr val="lt1"/>
                </a:solidFill>
                <a:latin typeface="Arial"/>
                <a:ea typeface="Arial"/>
                <a:cs typeface="Arial"/>
                <a:sym typeface="Arial"/>
              </a:rPr>
              <a:t>Faculty of Information Technology</a:t>
            </a:r>
            <a:endParaRPr/>
          </a:p>
        </p:txBody>
      </p:sp>
      <p:pic>
        <p:nvPicPr>
          <p:cNvPr id="109" name="Google Shape;109;p1"/>
          <p:cNvPicPr preferRelativeResize="0"/>
          <p:nvPr/>
        </p:nvPicPr>
        <p:blipFill rotWithShape="1">
          <a:blip r:embed="rId3">
            <a:alphaModFix/>
          </a:blip>
          <a:srcRect b="0" l="0" r="0" t="0"/>
          <a:stretch/>
        </p:blipFill>
        <p:spPr>
          <a:xfrm>
            <a:off x="457200" y="4087467"/>
            <a:ext cx="1151109" cy="9042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latin typeface="Arial"/>
                <a:ea typeface="Arial"/>
                <a:cs typeface="Arial"/>
                <a:sym typeface="Arial"/>
              </a:rPr>
              <a:t>Reference</a:t>
            </a:r>
            <a:endParaRPr/>
          </a:p>
        </p:txBody>
      </p:sp>
      <p:sp>
        <p:nvSpPr>
          <p:cNvPr id="115" name="Google Shape;115;p2"/>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accent1"/>
              </a:buClr>
              <a:buSzPts val="2000"/>
              <a:buNone/>
            </a:pPr>
            <a:r>
              <a:rPr lang="en-US" sz="2000">
                <a:solidFill>
                  <a:schemeClr val="accent1"/>
                </a:solidFill>
                <a:latin typeface="Arial"/>
                <a:ea typeface="Arial"/>
                <a:cs typeface="Arial"/>
                <a:sym typeface="Arial"/>
              </a:rPr>
              <a:t>“Mastering Object-Oriented Analysis and Design with UML 2.0”</a:t>
            </a:r>
            <a:endParaRPr/>
          </a:p>
          <a:p>
            <a:pPr indent="0" lvl="0" marL="0" rtl="0" algn="just">
              <a:spcBef>
                <a:spcPts val="360"/>
              </a:spcBef>
              <a:spcAft>
                <a:spcPts val="0"/>
              </a:spcAft>
              <a:buClr>
                <a:srgbClr val="000000"/>
              </a:buClr>
              <a:buSzPts val="1800"/>
              <a:buNone/>
            </a:pPr>
            <a:r>
              <a:rPr lang="en-US" sz="1800">
                <a:latin typeface="Arial"/>
                <a:ea typeface="Arial"/>
                <a:cs typeface="Arial"/>
                <a:sym typeface="Arial"/>
              </a:rPr>
              <a:t>IBM Software Group</a:t>
            </a:r>
            <a:endParaRPr sz="2800">
              <a:latin typeface="Arial"/>
              <a:ea typeface="Arial"/>
              <a:cs typeface="Arial"/>
              <a:sym typeface="Arial"/>
            </a:endParaRPr>
          </a:p>
        </p:txBody>
      </p:sp>
      <p:sp>
        <p:nvSpPr>
          <p:cNvPr id="116" name="Google Shape;116;p2"/>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Use-Case Realization</a:t>
            </a:r>
            <a:endParaRPr/>
          </a:p>
        </p:txBody>
      </p:sp>
      <p:sp>
        <p:nvSpPr>
          <p:cNvPr id="125" name="Google Shape;125;p3"/>
          <p:cNvSpPr/>
          <p:nvPr/>
        </p:nvSpPr>
        <p:spPr>
          <a:xfrm>
            <a:off x="3429000" y="2514600"/>
            <a:ext cx="5338800" cy="2200200"/>
          </a:xfrm>
          <a:prstGeom prst="ellipse">
            <a:avLst/>
          </a:prstGeom>
          <a:noFill/>
          <a:ln cap="flat" cmpd="sng" w="28575">
            <a:solidFill>
              <a:schemeClr val="folHlink"/>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6" name="Google Shape;126;p3"/>
          <p:cNvSpPr/>
          <p:nvPr/>
        </p:nvSpPr>
        <p:spPr>
          <a:xfrm>
            <a:off x="695325" y="2775347"/>
            <a:ext cx="1222500" cy="438300"/>
          </a:xfrm>
          <a:prstGeom prst="ellipse">
            <a:avLst/>
          </a:prstGeom>
          <a:noFill/>
          <a:ln cap="flat" cmpd="sng" w="2857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27" name="Google Shape;127;p3"/>
          <p:cNvGrpSpPr/>
          <p:nvPr/>
        </p:nvGrpSpPr>
        <p:grpSpPr>
          <a:xfrm>
            <a:off x="1325563" y="3213496"/>
            <a:ext cx="846137" cy="1095375"/>
            <a:chOff x="835" y="2408"/>
            <a:chExt cx="533" cy="920"/>
          </a:xfrm>
        </p:grpSpPr>
        <p:sp>
          <p:nvSpPr>
            <p:cNvPr id="128" name="Google Shape;128;p3"/>
            <p:cNvSpPr/>
            <p:nvPr/>
          </p:nvSpPr>
          <p:spPr>
            <a:xfrm>
              <a:off x="835" y="2408"/>
              <a:ext cx="533" cy="9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29" name="Google Shape;129;p3"/>
            <p:cNvCxnSpPr/>
            <p:nvPr/>
          </p:nvCxnSpPr>
          <p:spPr>
            <a:xfrm>
              <a:off x="1190" y="2408"/>
              <a:ext cx="178" cy="184"/>
            </a:xfrm>
            <a:prstGeom prst="straightConnector1">
              <a:avLst/>
            </a:prstGeom>
            <a:noFill/>
            <a:ln cap="flat" cmpd="sng" w="28575">
              <a:solidFill>
                <a:srgbClr val="000000"/>
              </a:solidFill>
              <a:prstDash val="solid"/>
              <a:round/>
              <a:headEnd len="sm" w="sm" type="none"/>
              <a:tailEnd len="sm" w="sm" type="none"/>
            </a:ln>
          </p:spPr>
        </p:cxnSp>
        <p:cxnSp>
          <p:nvCxnSpPr>
            <p:cNvPr id="130" name="Google Shape;130;p3"/>
            <p:cNvCxnSpPr/>
            <p:nvPr/>
          </p:nvCxnSpPr>
          <p:spPr>
            <a:xfrm>
              <a:off x="1190" y="2408"/>
              <a:ext cx="0" cy="184"/>
            </a:xfrm>
            <a:prstGeom prst="straightConnector1">
              <a:avLst/>
            </a:prstGeom>
            <a:noFill/>
            <a:ln cap="flat" cmpd="sng" w="28575">
              <a:solidFill>
                <a:srgbClr val="000000"/>
              </a:solidFill>
              <a:prstDash val="solid"/>
              <a:round/>
              <a:headEnd len="sm" w="sm" type="none"/>
              <a:tailEnd len="sm" w="sm" type="none"/>
            </a:ln>
          </p:spPr>
        </p:cxnSp>
        <p:cxnSp>
          <p:nvCxnSpPr>
            <p:cNvPr id="131" name="Google Shape;131;p3"/>
            <p:cNvCxnSpPr/>
            <p:nvPr/>
          </p:nvCxnSpPr>
          <p:spPr>
            <a:xfrm rot="10800000">
              <a:off x="1190" y="2592"/>
              <a:ext cx="178" cy="0"/>
            </a:xfrm>
            <a:prstGeom prst="straightConnector1">
              <a:avLst/>
            </a:prstGeom>
            <a:noFill/>
            <a:ln cap="flat" cmpd="sng" w="28575">
              <a:solidFill>
                <a:srgbClr val="000000"/>
              </a:solidFill>
              <a:prstDash val="solid"/>
              <a:round/>
              <a:headEnd len="sm" w="sm" type="none"/>
              <a:tailEnd len="sm" w="sm" type="none"/>
            </a:ln>
          </p:spPr>
        </p:cxnSp>
        <p:cxnSp>
          <p:nvCxnSpPr>
            <p:cNvPr id="132" name="Google Shape;132;p3"/>
            <p:cNvCxnSpPr/>
            <p:nvPr/>
          </p:nvCxnSpPr>
          <p:spPr>
            <a:xfrm>
              <a:off x="894" y="2715"/>
              <a:ext cx="415" cy="0"/>
            </a:xfrm>
            <a:prstGeom prst="straightConnector1">
              <a:avLst/>
            </a:prstGeom>
            <a:noFill/>
            <a:ln cap="flat" cmpd="sng" w="28575">
              <a:solidFill>
                <a:srgbClr val="000000"/>
              </a:solidFill>
              <a:prstDash val="solid"/>
              <a:round/>
              <a:headEnd len="sm" w="sm" type="none"/>
              <a:tailEnd len="sm" w="sm" type="none"/>
            </a:ln>
          </p:spPr>
        </p:cxnSp>
        <p:cxnSp>
          <p:nvCxnSpPr>
            <p:cNvPr id="133" name="Google Shape;133;p3"/>
            <p:cNvCxnSpPr/>
            <p:nvPr/>
          </p:nvCxnSpPr>
          <p:spPr>
            <a:xfrm>
              <a:off x="894" y="2776"/>
              <a:ext cx="415" cy="0"/>
            </a:xfrm>
            <a:prstGeom prst="straightConnector1">
              <a:avLst/>
            </a:prstGeom>
            <a:noFill/>
            <a:ln cap="flat" cmpd="sng" w="28575">
              <a:solidFill>
                <a:srgbClr val="000000"/>
              </a:solidFill>
              <a:prstDash val="solid"/>
              <a:round/>
              <a:headEnd len="sm" w="sm" type="none"/>
              <a:tailEnd len="sm" w="sm" type="none"/>
            </a:ln>
          </p:spPr>
        </p:cxnSp>
        <p:cxnSp>
          <p:nvCxnSpPr>
            <p:cNvPr id="134" name="Google Shape;134;p3"/>
            <p:cNvCxnSpPr/>
            <p:nvPr/>
          </p:nvCxnSpPr>
          <p:spPr>
            <a:xfrm>
              <a:off x="894" y="2837"/>
              <a:ext cx="415" cy="0"/>
            </a:xfrm>
            <a:prstGeom prst="straightConnector1">
              <a:avLst/>
            </a:prstGeom>
            <a:noFill/>
            <a:ln cap="flat" cmpd="sng" w="28575">
              <a:solidFill>
                <a:srgbClr val="000000"/>
              </a:solidFill>
              <a:prstDash val="solid"/>
              <a:round/>
              <a:headEnd len="sm" w="sm" type="none"/>
              <a:tailEnd len="sm" w="sm" type="none"/>
            </a:ln>
          </p:spPr>
        </p:cxnSp>
        <p:cxnSp>
          <p:nvCxnSpPr>
            <p:cNvPr id="135" name="Google Shape;135;p3"/>
            <p:cNvCxnSpPr/>
            <p:nvPr/>
          </p:nvCxnSpPr>
          <p:spPr>
            <a:xfrm>
              <a:off x="894" y="2960"/>
              <a:ext cx="415" cy="0"/>
            </a:xfrm>
            <a:prstGeom prst="straightConnector1">
              <a:avLst/>
            </a:prstGeom>
            <a:noFill/>
            <a:ln cap="flat" cmpd="sng" w="28575">
              <a:solidFill>
                <a:srgbClr val="000000"/>
              </a:solidFill>
              <a:prstDash val="solid"/>
              <a:round/>
              <a:headEnd len="sm" w="sm" type="none"/>
              <a:tailEnd len="sm" w="sm" type="none"/>
            </a:ln>
          </p:spPr>
        </p:cxnSp>
        <p:cxnSp>
          <p:nvCxnSpPr>
            <p:cNvPr id="136" name="Google Shape;136;p3"/>
            <p:cNvCxnSpPr/>
            <p:nvPr/>
          </p:nvCxnSpPr>
          <p:spPr>
            <a:xfrm>
              <a:off x="894" y="2899"/>
              <a:ext cx="415" cy="0"/>
            </a:xfrm>
            <a:prstGeom prst="straightConnector1">
              <a:avLst/>
            </a:prstGeom>
            <a:noFill/>
            <a:ln cap="flat" cmpd="sng" w="28575">
              <a:solidFill>
                <a:srgbClr val="000000"/>
              </a:solidFill>
              <a:prstDash val="solid"/>
              <a:round/>
              <a:headEnd len="sm" w="sm" type="none"/>
              <a:tailEnd len="sm" w="sm" type="none"/>
            </a:ln>
          </p:spPr>
        </p:cxnSp>
        <p:cxnSp>
          <p:nvCxnSpPr>
            <p:cNvPr id="137" name="Google Shape;137;p3"/>
            <p:cNvCxnSpPr/>
            <p:nvPr/>
          </p:nvCxnSpPr>
          <p:spPr>
            <a:xfrm>
              <a:off x="894" y="3021"/>
              <a:ext cx="415" cy="0"/>
            </a:xfrm>
            <a:prstGeom prst="straightConnector1">
              <a:avLst/>
            </a:prstGeom>
            <a:noFill/>
            <a:ln cap="flat" cmpd="sng" w="28575">
              <a:solidFill>
                <a:srgbClr val="000000"/>
              </a:solidFill>
              <a:prstDash val="solid"/>
              <a:round/>
              <a:headEnd len="sm" w="sm" type="none"/>
              <a:tailEnd len="sm" w="sm" type="none"/>
            </a:ln>
          </p:spPr>
        </p:cxnSp>
        <p:cxnSp>
          <p:nvCxnSpPr>
            <p:cNvPr id="138" name="Google Shape;138;p3"/>
            <p:cNvCxnSpPr/>
            <p:nvPr/>
          </p:nvCxnSpPr>
          <p:spPr>
            <a:xfrm>
              <a:off x="894" y="3083"/>
              <a:ext cx="415" cy="0"/>
            </a:xfrm>
            <a:prstGeom prst="straightConnector1">
              <a:avLst/>
            </a:prstGeom>
            <a:noFill/>
            <a:ln cap="flat" cmpd="sng" w="28575">
              <a:solidFill>
                <a:srgbClr val="000000"/>
              </a:solidFill>
              <a:prstDash val="solid"/>
              <a:round/>
              <a:headEnd len="sm" w="sm" type="none"/>
              <a:tailEnd len="sm" w="sm" type="none"/>
            </a:ln>
          </p:spPr>
        </p:cxnSp>
        <p:cxnSp>
          <p:nvCxnSpPr>
            <p:cNvPr id="139" name="Google Shape;139;p3"/>
            <p:cNvCxnSpPr/>
            <p:nvPr/>
          </p:nvCxnSpPr>
          <p:spPr>
            <a:xfrm>
              <a:off x="894" y="3144"/>
              <a:ext cx="415" cy="0"/>
            </a:xfrm>
            <a:prstGeom prst="straightConnector1">
              <a:avLst/>
            </a:prstGeom>
            <a:noFill/>
            <a:ln cap="flat" cmpd="sng" w="28575">
              <a:solidFill>
                <a:srgbClr val="000000"/>
              </a:solidFill>
              <a:prstDash val="solid"/>
              <a:round/>
              <a:headEnd len="sm" w="sm" type="none"/>
              <a:tailEnd len="sm" w="sm" type="none"/>
            </a:ln>
          </p:spPr>
        </p:cxnSp>
        <p:cxnSp>
          <p:nvCxnSpPr>
            <p:cNvPr id="140" name="Google Shape;140;p3"/>
            <p:cNvCxnSpPr/>
            <p:nvPr/>
          </p:nvCxnSpPr>
          <p:spPr>
            <a:xfrm>
              <a:off x="894" y="3205"/>
              <a:ext cx="415" cy="0"/>
            </a:xfrm>
            <a:prstGeom prst="straightConnector1">
              <a:avLst/>
            </a:prstGeom>
            <a:noFill/>
            <a:ln cap="flat" cmpd="sng" w="28575">
              <a:solidFill>
                <a:srgbClr val="000000"/>
              </a:solidFill>
              <a:prstDash val="solid"/>
              <a:round/>
              <a:headEnd len="sm" w="sm" type="none"/>
              <a:tailEnd len="sm" w="sm" type="none"/>
            </a:ln>
          </p:spPr>
        </p:cxnSp>
        <p:cxnSp>
          <p:nvCxnSpPr>
            <p:cNvPr id="141" name="Google Shape;141;p3"/>
            <p:cNvCxnSpPr/>
            <p:nvPr/>
          </p:nvCxnSpPr>
          <p:spPr>
            <a:xfrm>
              <a:off x="894" y="3267"/>
              <a:ext cx="415" cy="0"/>
            </a:xfrm>
            <a:prstGeom prst="straightConnector1">
              <a:avLst/>
            </a:prstGeom>
            <a:noFill/>
            <a:ln cap="flat" cmpd="sng" w="28575">
              <a:solidFill>
                <a:srgbClr val="000000"/>
              </a:solidFill>
              <a:prstDash val="solid"/>
              <a:round/>
              <a:headEnd len="sm" w="sm" type="none"/>
              <a:tailEnd len="sm" w="sm" type="none"/>
            </a:ln>
          </p:spPr>
        </p:cxnSp>
        <p:cxnSp>
          <p:nvCxnSpPr>
            <p:cNvPr id="142" name="Google Shape;142;p3"/>
            <p:cNvCxnSpPr/>
            <p:nvPr/>
          </p:nvCxnSpPr>
          <p:spPr>
            <a:xfrm>
              <a:off x="894" y="2653"/>
              <a:ext cx="415" cy="0"/>
            </a:xfrm>
            <a:prstGeom prst="straightConnector1">
              <a:avLst/>
            </a:prstGeom>
            <a:noFill/>
            <a:ln cap="flat" cmpd="sng" w="28575">
              <a:solidFill>
                <a:srgbClr val="000000"/>
              </a:solidFill>
              <a:prstDash val="solid"/>
              <a:round/>
              <a:headEnd len="sm" w="sm" type="none"/>
              <a:tailEnd len="sm" w="sm" type="none"/>
            </a:ln>
          </p:spPr>
        </p:cxnSp>
        <p:cxnSp>
          <p:nvCxnSpPr>
            <p:cNvPr id="143" name="Google Shape;143;p3"/>
            <p:cNvCxnSpPr/>
            <p:nvPr/>
          </p:nvCxnSpPr>
          <p:spPr>
            <a:xfrm>
              <a:off x="894" y="2531"/>
              <a:ext cx="258" cy="0"/>
            </a:xfrm>
            <a:prstGeom prst="straightConnector1">
              <a:avLst/>
            </a:prstGeom>
            <a:noFill/>
            <a:ln cap="flat" cmpd="sng" w="28575">
              <a:solidFill>
                <a:srgbClr val="000000"/>
              </a:solidFill>
              <a:prstDash val="solid"/>
              <a:round/>
              <a:headEnd len="sm" w="sm" type="none"/>
              <a:tailEnd len="sm" w="sm" type="none"/>
            </a:ln>
          </p:spPr>
        </p:cxnSp>
        <p:cxnSp>
          <p:nvCxnSpPr>
            <p:cNvPr id="144" name="Google Shape;144;p3"/>
            <p:cNvCxnSpPr/>
            <p:nvPr/>
          </p:nvCxnSpPr>
          <p:spPr>
            <a:xfrm>
              <a:off x="894" y="2469"/>
              <a:ext cx="258" cy="0"/>
            </a:xfrm>
            <a:prstGeom prst="straightConnector1">
              <a:avLst/>
            </a:prstGeom>
            <a:noFill/>
            <a:ln cap="flat" cmpd="sng" w="28575">
              <a:solidFill>
                <a:srgbClr val="000000"/>
              </a:solidFill>
              <a:prstDash val="solid"/>
              <a:round/>
              <a:headEnd len="sm" w="sm" type="none"/>
              <a:tailEnd len="sm" w="sm" type="none"/>
            </a:ln>
          </p:spPr>
        </p:cxnSp>
        <p:cxnSp>
          <p:nvCxnSpPr>
            <p:cNvPr id="145" name="Google Shape;145;p3"/>
            <p:cNvCxnSpPr/>
            <p:nvPr/>
          </p:nvCxnSpPr>
          <p:spPr>
            <a:xfrm>
              <a:off x="894" y="2592"/>
              <a:ext cx="258" cy="0"/>
            </a:xfrm>
            <a:prstGeom prst="straightConnector1">
              <a:avLst/>
            </a:prstGeom>
            <a:noFill/>
            <a:ln cap="flat" cmpd="sng" w="28575">
              <a:solidFill>
                <a:srgbClr val="000000"/>
              </a:solidFill>
              <a:prstDash val="solid"/>
              <a:round/>
              <a:headEnd len="sm" w="sm" type="none"/>
              <a:tailEnd len="sm" w="sm" type="none"/>
            </a:ln>
          </p:spPr>
        </p:cxnSp>
      </p:grpSp>
      <p:sp>
        <p:nvSpPr>
          <p:cNvPr id="146" name="Google Shape;146;p3"/>
          <p:cNvSpPr txBox="1"/>
          <p:nvPr/>
        </p:nvSpPr>
        <p:spPr>
          <a:xfrm>
            <a:off x="987425" y="4375547"/>
            <a:ext cx="15495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Use Case</a:t>
            </a:r>
            <a:endParaRPr/>
          </a:p>
        </p:txBody>
      </p:sp>
      <p:sp>
        <p:nvSpPr>
          <p:cNvPr id="147" name="Google Shape;147;p3"/>
          <p:cNvSpPr txBox="1"/>
          <p:nvPr/>
        </p:nvSpPr>
        <p:spPr>
          <a:xfrm>
            <a:off x="6029325" y="3421856"/>
            <a:ext cx="2583000" cy="661800"/>
          </a:xfrm>
          <a:prstGeom prst="rect">
            <a:avLst/>
          </a:prstGeom>
          <a:noFill/>
          <a:ln>
            <a:noFill/>
          </a:ln>
        </p:spPr>
        <p:txBody>
          <a:bodyPr anchorCtr="0" anchor="t" bIns="45700" lIns="91425" spcFirstLastPara="1" rIns="91425" wrap="square" tIns="45700">
            <a:spAutoFit/>
          </a:bodyPr>
          <a:lstStyle/>
          <a:p>
            <a:pPr indent="0" lvl="0" marL="0" marR="0" rtl="0" algn="ctr">
              <a:lnSpc>
                <a:spcPct val="105555"/>
              </a:lnSpc>
              <a:spcBef>
                <a:spcPts val="0"/>
              </a:spcBef>
              <a:spcAft>
                <a:spcPts val="0"/>
              </a:spcAft>
              <a:buNone/>
            </a:pPr>
            <a:r>
              <a:rPr lang="en-US" sz="1800">
                <a:solidFill>
                  <a:srgbClr val="000000"/>
                </a:solidFill>
                <a:latin typeface="Arial"/>
                <a:ea typeface="Arial"/>
                <a:cs typeface="Arial"/>
                <a:sym typeface="Arial"/>
              </a:rPr>
              <a:t>Communication Diagrams</a:t>
            </a:r>
            <a:endParaRPr/>
          </a:p>
        </p:txBody>
      </p:sp>
      <p:sp>
        <p:nvSpPr>
          <p:cNvPr id="148" name="Google Shape;148;p3"/>
          <p:cNvSpPr txBox="1"/>
          <p:nvPr/>
        </p:nvSpPr>
        <p:spPr>
          <a:xfrm>
            <a:off x="595313" y="987028"/>
            <a:ext cx="2101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FF0000"/>
                </a:solidFill>
                <a:latin typeface="Arial"/>
                <a:ea typeface="Arial"/>
                <a:cs typeface="Arial"/>
                <a:sym typeface="Arial"/>
              </a:rPr>
              <a:t>Use-Case Model</a:t>
            </a:r>
            <a:endParaRPr/>
          </a:p>
        </p:txBody>
      </p:sp>
      <p:sp>
        <p:nvSpPr>
          <p:cNvPr id="149" name="Google Shape;149;p3"/>
          <p:cNvSpPr txBox="1"/>
          <p:nvPr/>
        </p:nvSpPr>
        <p:spPr>
          <a:xfrm>
            <a:off x="5027613" y="987028"/>
            <a:ext cx="18717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rgbClr val="FF0000"/>
                </a:solidFill>
                <a:latin typeface="Arial"/>
                <a:ea typeface="Arial"/>
                <a:cs typeface="Arial"/>
                <a:sym typeface="Arial"/>
              </a:rPr>
              <a:t>Design Model</a:t>
            </a:r>
            <a:endParaRPr/>
          </a:p>
        </p:txBody>
      </p:sp>
      <p:sp>
        <p:nvSpPr>
          <p:cNvPr id="150" name="Google Shape;150;p3"/>
          <p:cNvSpPr/>
          <p:nvPr/>
        </p:nvSpPr>
        <p:spPr>
          <a:xfrm>
            <a:off x="1069975" y="1432322"/>
            <a:ext cx="990600" cy="342900"/>
          </a:xfrm>
          <a:prstGeom prst="ellipse">
            <a:avLst/>
          </a:prstGeom>
          <a:noFill/>
          <a:ln cap="flat" cmpd="sng" w="2857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1" name="Google Shape;151;p3"/>
          <p:cNvSpPr txBox="1"/>
          <p:nvPr/>
        </p:nvSpPr>
        <p:spPr>
          <a:xfrm>
            <a:off x="973138" y="1800225"/>
            <a:ext cx="1187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Use Case</a:t>
            </a:r>
            <a:endParaRPr/>
          </a:p>
        </p:txBody>
      </p:sp>
      <p:sp>
        <p:nvSpPr>
          <p:cNvPr id="152" name="Google Shape;152;p3"/>
          <p:cNvSpPr/>
          <p:nvPr/>
        </p:nvSpPr>
        <p:spPr>
          <a:xfrm>
            <a:off x="5503863" y="1432322"/>
            <a:ext cx="990600" cy="342900"/>
          </a:xfrm>
          <a:prstGeom prst="ellipse">
            <a:avLst/>
          </a:prstGeom>
          <a:noFill/>
          <a:ln cap="flat" cmpd="sng" w="28575">
            <a:solidFill>
              <a:schemeClr val="folHlink"/>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3" name="Google Shape;153;p3"/>
          <p:cNvSpPr txBox="1"/>
          <p:nvPr/>
        </p:nvSpPr>
        <p:spPr>
          <a:xfrm>
            <a:off x="4803775" y="1800225"/>
            <a:ext cx="2394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Use-Case Realization</a:t>
            </a:r>
            <a:endParaRPr/>
          </a:p>
        </p:txBody>
      </p:sp>
      <p:sp>
        <p:nvSpPr>
          <p:cNvPr id="154" name="Google Shape;154;p3"/>
          <p:cNvSpPr txBox="1"/>
          <p:nvPr/>
        </p:nvSpPr>
        <p:spPr>
          <a:xfrm>
            <a:off x="4057650" y="3571875"/>
            <a:ext cx="1401900" cy="661800"/>
          </a:xfrm>
          <a:prstGeom prst="rect">
            <a:avLst/>
          </a:prstGeom>
          <a:noFill/>
          <a:ln>
            <a:noFill/>
          </a:ln>
        </p:spPr>
        <p:txBody>
          <a:bodyPr anchorCtr="0" anchor="t" bIns="45700" lIns="91425" spcFirstLastPara="1" rIns="91425" wrap="square" tIns="45700">
            <a:spAutoFit/>
          </a:bodyPr>
          <a:lstStyle/>
          <a:p>
            <a:pPr indent="0" lvl="0" marL="0" marR="0" rtl="0" algn="ctr">
              <a:lnSpc>
                <a:spcPct val="105555"/>
              </a:lnSpc>
              <a:spcBef>
                <a:spcPts val="0"/>
              </a:spcBef>
              <a:spcAft>
                <a:spcPts val="0"/>
              </a:spcAft>
              <a:buNone/>
            </a:pPr>
            <a:r>
              <a:rPr lang="en-US" sz="1800">
                <a:solidFill>
                  <a:srgbClr val="000000"/>
                </a:solidFill>
                <a:latin typeface="Arial"/>
                <a:ea typeface="Arial"/>
                <a:cs typeface="Arial"/>
                <a:sym typeface="Arial"/>
              </a:rPr>
              <a:t>Sequence </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Diagrams</a:t>
            </a:r>
            <a:endParaRPr/>
          </a:p>
        </p:txBody>
      </p:sp>
      <p:cxnSp>
        <p:nvCxnSpPr>
          <p:cNvPr id="155" name="Google Shape;155;p3"/>
          <p:cNvCxnSpPr/>
          <p:nvPr/>
        </p:nvCxnSpPr>
        <p:spPr>
          <a:xfrm rot="10800000">
            <a:off x="2276625" y="1603772"/>
            <a:ext cx="3219300" cy="0"/>
          </a:xfrm>
          <a:prstGeom prst="straightConnector1">
            <a:avLst/>
          </a:prstGeom>
          <a:noFill/>
          <a:ln cap="flat" cmpd="sng" w="28575">
            <a:solidFill>
              <a:srgbClr val="000000"/>
            </a:solidFill>
            <a:prstDash val="dash"/>
            <a:round/>
            <a:headEnd len="med" w="med" type="none"/>
            <a:tailEnd len="sm" w="sm" type="none"/>
          </a:ln>
        </p:spPr>
      </p:cxnSp>
      <p:cxnSp>
        <p:nvCxnSpPr>
          <p:cNvPr id="156" name="Google Shape;156;p3"/>
          <p:cNvCxnSpPr/>
          <p:nvPr/>
        </p:nvCxnSpPr>
        <p:spPr>
          <a:xfrm rot="10800000">
            <a:off x="2371650" y="3718321"/>
            <a:ext cx="1038300" cy="0"/>
          </a:xfrm>
          <a:prstGeom prst="straightConnector1">
            <a:avLst/>
          </a:prstGeom>
          <a:noFill/>
          <a:ln cap="flat" cmpd="sng" w="28575">
            <a:solidFill>
              <a:srgbClr val="000000"/>
            </a:solidFill>
            <a:prstDash val="dash"/>
            <a:round/>
            <a:headEnd len="med" w="med" type="none"/>
            <a:tailEnd len="sm" w="sm" type="none"/>
          </a:ln>
        </p:spPr>
      </p:cxnSp>
      <p:sp>
        <p:nvSpPr>
          <p:cNvPr id="157" name="Google Shape;157;p3"/>
          <p:cNvSpPr/>
          <p:nvPr/>
        </p:nvSpPr>
        <p:spPr>
          <a:xfrm rot="-5400000">
            <a:off x="2120726" y="1525734"/>
            <a:ext cx="117900" cy="162000"/>
          </a:xfrm>
          <a:prstGeom prst="triangle">
            <a:avLst>
              <a:gd fmla="val 50000" name="adj"/>
            </a:avLst>
          </a:prstGeom>
          <a:noFill/>
          <a:ln cap="flat" cmpd="sng" w="28575">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txBox="1"/>
          <p:nvPr/>
        </p:nvSpPr>
        <p:spPr>
          <a:xfrm>
            <a:off x="2179631" y="1577267"/>
            <a:ext cx="81000" cy="58800"/>
          </a:xfrm>
          <a:prstGeom prst="rect">
            <a:avLst/>
          </a:prstGeom>
          <a:noFill/>
          <a:ln>
            <a:noFill/>
          </a:ln>
        </p:spPr>
        <p:txBody>
          <a:bodyPr anchorCtr="0" anchor="ctr" bIns="53975" lIns="107950" spcFirstLastPara="1" rIns="107950" wrap="square" tIns="53975">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159" name="Google Shape;159;p3"/>
          <p:cNvSpPr/>
          <p:nvPr/>
        </p:nvSpPr>
        <p:spPr>
          <a:xfrm rot="-5400000">
            <a:off x="2230264" y="3640284"/>
            <a:ext cx="117900" cy="162000"/>
          </a:xfrm>
          <a:prstGeom prst="triangle">
            <a:avLst>
              <a:gd fmla="val 50000" name="adj"/>
            </a:avLst>
          </a:prstGeom>
          <a:noFill/>
          <a:ln cap="flat" cmpd="sng" w="28575">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nvSpPr>
        <p:spPr>
          <a:xfrm>
            <a:off x="2289156" y="3691817"/>
            <a:ext cx="81000" cy="58800"/>
          </a:xfrm>
          <a:prstGeom prst="rect">
            <a:avLst/>
          </a:prstGeom>
          <a:noFill/>
          <a:ln>
            <a:noFill/>
          </a:ln>
        </p:spPr>
        <p:txBody>
          <a:bodyPr anchorCtr="0" anchor="ctr" bIns="53975" lIns="107950" spcFirstLastPara="1" rIns="107950" wrap="square" tIns="53975">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grpSp>
        <p:nvGrpSpPr>
          <p:cNvPr id="161" name="Google Shape;161;p3"/>
          <p:cNvGrpSpPr/>
          <p:nvPr/>
        </p:nvGrpSpPr>
        <p:grpSpPr>
          <a:xfrm>
            <a:off x="4000500" y="2800350"/>
            <a:ext cx="1665288" cy="844153"/>
            <a:chOff x="2520" y="2049"/>
            <a:chExt cx="1049" cy="709"/>
          </a:xfrm>
        </p:grpSpPr>
        <p:grpSp>
          <p:nvGrpSpPr>
            <p:cNvPr id="162" name="Google Shape;162;p3"/>
            <p:cNvGrpSpPr/>
            <p:nvPr/>
          </p:nvGrpSpPr>
          <p:grpSpPr>
            <a:xfrm>
              <a:off x="2520" y="2049"/>
              <a:ext cx="121" cy="162"/>
              <a:chOff x="7654" y="3380"/>
              <a:chExt cx="554" cy="754"/>
            </a:xfrm>
          </p:grpSpPr>
          <p:sp>
            <p:nvSpPr>
              <p:cNvPr id="163" name="Google Shape;163;p3"/>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4" name="Google Shape;164;p3"/>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165" name="Google Shape;165;p3"/>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166" name="Google Shape;166;p3"/>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67" name="Google Shape;167;p3"/>
            <p:cNvCxnSpPr/>
            <p:nvPr/>
          </p:nvCxnSpPr>
          <p:spPr>
            <a:xfrm>
              <a:off x="2576" y="2283"/>
              <a:ext cx="305" cy="0"/>
            </a:xfrm>
            <a:prstGeom prst="straightConnector1">
              <a:avLst/>
            </a:prstGeom>
            <a:noFill/>
            <a:ln cap="flat" cmpd="sng" w="28575">
              <a:solidFill>
                <a:srgbClr val="000000"/>
              </a:solidFill>
              <a:prstDash val="solid"/>
              <a:round/>
              <a:headEnd len="sm" w="sm" type="none"/>
              <a:tailEnd len="med" w="med" type="triangle"/>
            </a:ln>
          </p:spPr>
        </p:cxnSp>
        <p:cxnSp>
          <p:nvCxnSpPr>
            <p:cNvPr id="168" name="Google Shape;168;p3"/>
            <p:cNvCxnSpPr/>
            <p:nvPr/>
          </p:nvCxnSpPr>
          <p:spPr>
            <a:xfrm>
              <a:off x="3195" y="2488"/>
              <a:ext cx="240" cy="0"/>
            </a:xfrm>
            <a:prstGeom prst="straightConnector1">
              <a:avLst/>
            </a:prstGeom>
            <a:noFill/>
            <a:ln cap="flat" cmpd="sng" w="28575">
              <a:solidFill>
                <a:srgbClr val="000000"/>
              </a:solidFill>
              <a:prstDash val="solid"/>
              <a:round/>
              <a:headEnd len="sm" w="sm" type="none"/>
              <a:tailEnd len="med" w="med" type="triangle"/>
            </a:ln>
          </p:spPr>
        </p:cxnSp>
        <p:cxnSp>
          <p:nvCxnSpPr>
            <p:cNvPr id="169" name="Google Shape;169;p3"/>
            <p:cNvCxnSpPr/>
            <p:nvPr/>
          </p:nvCxnSpPr>
          <p:spPr>
            <a:xfrm>
              <a:off x="2902" y="2380"/>
              <a:ext cx="257" cy="0"/>
            </a:xfrm>
            <a:prstGeom prst="straightConnector1">
              <a:avLst/>
            </a:prstGeom>
            <a:noFill/>
            <a:ln cap="flat" cmpd="sng" w="28575">
              <a:solidFill>
                <a:srgbClr val="000000"/>
              </a:solidFill>
              <a:prstDash val="solid"/>
              <a:round/>
              <a:headEnd len="sm" w="sm" type="none"/>
              <a:tailEnd len="med" w="med" type="triangle"/>
            </a:ln>
          </p:spPr>
        </p:cxnSp>
        <p:cxnSp>
          <p:nvCxnSpPr>
            <p:cNvPr id="170" name="Google Shape;170;p3"/>
            <p:cNvCxnSpPr/>
            <p:nvPr/>
          </p:nvCxnSpPr>
          <p:spPr>
            <a:xfrm>
              <a:off x="2578" y="2669"/>
              <a:ext cx="0" cy="89"/>
            </a:xfrm>
            <a:prstGeom prst="straightConnector1">
              <a:avLst/>
            </a:prstGeom>
            <a:noFill/>
            <a:ln cap="flat" cmpd="sng" w="28575">
              <a:solidFill>
                <a:srgbClr val="000000"/>
              </a:solidFill>
              <a:prstDash val="dash"/>
              <a:round/>
              <a:headEnd len="sm" w="sm" type="none"/>
              <a:tailEnd len="sm" w="sm" type="none"/>
            </a:ln>
          </p:spPr>
        </p:cxnSp>
        <p:cxnSp>
          <p:nvCxnSpPr>
            <p:cNvPr id="171" name="Google Shape;171;p3"/>
            <p:cNvCxnSpPr/>
            <p:nvPr/>
          </p:nvCxnSpPr>
          <p:spPr>
            <a:xfrm>
              <a:off x="2885" y="2231"/>
              <a:ext cx="0" cy="57"/>
            </a:xfrm>
            <a:prstGeom prst="straightConnector1">
              <a:avLst/>
            </a:prstGeom>
            <a:noFill/>
            <a:ln cap="flat" cmpd="sng" w="28575">
              <a:solidFill>
                <a:srgbClr val="000000"/>
              </a:solidFill>
              <a:prstDash val="dash"/>
              <a:round/>
              <a:headEnd len="sm" w="sm" type="none"/>
              <a:tailEnd len="sm" w="sm" type="none"/>
            </a:ln>
          </p:spPr>
        </p:cxnSp>
        <p:cxnSp>
          <p:nvCxnSpPr>
            <p:cNvPr id="172" name="Google Shape;172;p3"/>
            <p:cNvCxnSpPr/>
            <p:nvPr/>
          </p:nvCxnSpPr>
          <p:spPr>
            <a:xfrm>
              <a:off x="3168" y="2231"/>
              <a:ext cx="0" cy="152"/>
            </a:xfrm>
            <a:prstGeom prst="straightConnector1">
              <a:avLst/>
            </a:prstGeom>
            <a:noFill/>
            <a:ln cap="flat" cmpd="sng" w="28575">
              <a:solidFill>
                <a:srgbClr val="000000"/>
              </a:solidFill>
              <a:prstDash val="dash"/>
              <a:round/>
              <a:headEnd len="sm" w="sm" type="none"/>
              <a:tailEnd len="sm" w="sm" type="none"/>
            </a:ln>
          </p:spPr>
        </p:cxnSp>
        <p:cxnSp>
          <p:nvCxnSpPr>
            <p:cNvPr id="173" name="Google Shape;173;p3"/>
            <p:cNvCxnSpPr/>
            <p:nvPr/>
          </p:nvCxnSpPr>
          <p:spPr>
            <a:xfrm>
              <a:off x="3445" y="2565"/>
              <a:ext cx="0" cy="191"/>
            </a:xfrm>
            <a:prstGeom prst="straightConnector1">
              <a:avLst/>
            </a:prstGeom>
            <a:noFill/>
            <a:ln cap="flat" cmpd="sng" w="28575">
              <a:solidFill>
                <a:srgbClr val="000000"/>
              </a:solidFill>
              <a:prstDash val="dash"/>
              <a:round/>
              <a:headEnd len="sm" w="sm" type="none"/>
              <a:tailEnd len="sm" w="sm" type="none"/>
            </a:ln>
          </p:spPr>
        </p:cxnSp>
        <p:sp>
          <p:nvSpPr>
            <p:cNvPr id="174" name="Google Shape;174;p3"/>
            <p:cNvSpPr/>
            <p:nvPr/>
          </p:nvSpPr>
          <p:spPr>
            <a:xfrm rot="-5400000">
              <a:off x="2388" y="2454"/>
              <a:ext cx="380" cy="38"/>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5" name="Google Shape;175;p3"/>
            <p:cNvCxnSpPr/>
            <p:nvPr/>
          </p:nvCxnSpPr>
          <p:spPr>
            <a:xfrm>
              <a:off x="2578" y="2230"/>
              <a:ext cx="0" cy="56"/>
            </a:xfrm>
            <a:prstGeom prst="straightConnector1">
              <a:avLst/>
            </a:prstGeom>
            <a:noFill/>
            <a:ln cap="flat" cmpd="sng" w="28575">
              <a:solidFill>
                <a:srgbClr val="000000"/>
              </a:solidFill>
              <a:prstDash val="dash"/>
              <a:round/>
              <a:headEnd len="sm" w="sm" type="none"/>
              <a:tailEnd len="sm" w="sm" type="none"/>
            </a:ln>
          </p:spPr>
        </p:cxnSp>
        <p:sp>
          <p:nvSpPr>
            <p:cNvPr id="176" name="Google Shape;176;p3"/>
            <p:cNvSpPr/>
            <p:nvPr/>
          </p:nvSpPr>
          <p:spPr>
            <a:xfrm rot="-5400000">
              <a:off x="2731" y="2421"/>
              <a:ext cx="306" cy="4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7" name="Google Shape;177;p3"/>
            <p:cNvCxnSpPr/>
            <p:nvPr/>
          </p:nvCxnSpPr>
          <p:spPr>
            <a:xfrm>
              <a:off x="2885" y="2599"/>
              <a:ext cx="0" cy="157"/>
            </a:xfrm>
            <a:prstGeom prst="straightConnector1">
              <a:avLst/>
            </a:prstGeom>
            <a:noFill/>
            <a:ln cap="flat" cmpd="sng" w="28575">
              <a:solidFill>
                <a:srgbClr val="000000"/>
              </a:solidFill>
              <a:prstDash val="dash"/>
              <a:round/>
              <a:headEnd len="sm" w="sm" type="none"/>
              <a:tailEnd len="sm" w="sm" type="none"/>
            </a:ln>
          </p:spPr>
        </p:cxnSp>
        <p:sp>
          <p:nvSpPr>
            <p:cNvPr id="178" name="Google Shape;178;p3"/>
            <p:cNvSpPr/>
            <p:nvPr/>
          </p:nvSpPr>
          <p:spPr>
            <a:xfrm rot="-5400000">
              <a:off x="3082" y="2450"/>
              <a:ext cx="170" cy="4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9" name="Google Shape;179;p3"/>
            <p:cNvCxnSpPr/>
            <p:nvPr/>
          </p:nvCxnSpPr>
          <p:spPr>
            <a:xfrm>
              <a:off x="3167" y="2555"/>
              <a:ext cx="1" cy="200"/>
            </a:xfrm>
            <a:prstGeom prst="straightConnector1">
              <a:avLst/>
            </a:prstGeom>
            <a:noFill/>
            <a:ln cap="flat" cmpd="sng" w="28575">
              <a:solidFill>
                <a:srgbClr val="000000"/>
              </a:solidFill>
              <a:prstDash val="dash"/>
              <a:round/>
              <a:headEnd len="sm" w="sm" type="none"/>
              <a:tailEnd len="sm" w="sm" type="none"/>
            </a:ln>
          </p:spPr>
        </p:cxnSp>
        <p:sp>
          <p:nvSpPr>
            <p:cNvPr id="180" name="Google Shape;180;p3"/>
            <p:cNvSpPr/>
            <p:nvPr/>
          </p:nvSpPr>
          <p:spPr>
            <a:xfrm rot="-5400000">
              <a:off x="3411" y="2508"/>
              <a:ext cx="64" cy="36"/>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81" name="Google Shape;181;p3"/>
            <p:cNvCxnSpPr/>
            <p:nvPr/>
          </p:nvCxnSpPr>
          <p:spPr>
            <a:xfrm>
              <a:off x="3445" y="2231"/>
              <a:ext cx="0" cy="262"/>
            </a:xfrm>
            <a:prstGeom prst="straightConnector1">
              <a:avLst/>
            </a:prstGeom>
            <a:noFill/>
            <a:ln cap="flat" cmpd="sng" w="28575">
              <a:solidFill>
                <a:srgbClr val="000000"/>
              </a:solidFill>
              <a:prstDash val="dash"/>
              <a:round/>
              <a:headEnd len="sm" w="sm" type="none"/>
              <a:tailEnd len="sm" w="sm" type="none"/>
            </a:ln>
          </p:spPr>
        </p:cxnSp>
        <p:sp>
          <p:nvSpPr>
            <p:cNvPr id="182" name="Google Shape;182;p3"/>
            <p:cNvSpPr/>
            <p:nvPr/>
          </p:nvSpPr>
          <p:spPr>
            <a:xfrm>
              <a:off x="3040" y="2086"/>
              <a:ext cx="219" cy="124"/>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3"/>
            <p:cNvSpPr/>
            <p:nvPr/>
          </p:nvSpPr>
          <p:spPr>
            <a:xfrm>
              <a:off x="3290" y="2086"/>
              <a:ext cx="279" cy="124"/>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3"/>
            <p:cNvSpPr/>
            <p:nvPr/>
          </p:nvSpPr>
          <p:spPr>
            <a:xfrm>
              <a:off x="2786" y="2086"/>
              <a:ext cx="220" cy="124"/>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85" name="Google Shape;185;p3"/>
          <p:cNvGrpSpPr/>
          <p:nvPr/>
        </p:nvGrpSpPr>
        <p:grpSpPr>
          <a:xfrm>
            <a:off x="6343650" y="2686050"/>
            <a:ext cx="1474788" cy="735806"/>
            <a:chOff x="3996" y="1914"/>
            <a:chExt cx="929" cy="618"/>
          </a:xfrm>
        </p:grpSpPr>
        <p:grpSp>
          <p:nvGrpSpPr>
            <p:cNvPr id="186" name="Google Shape;186;p3"/>
            <p:cNvGrpSpPr/>
            <p:nvPr/>
          </p:nvGrpSpPr>
          <p:grpSpPr>
            <a:xfrm>
              <a:off x="3996" y="1914"/>
              <a:ext cx="99" cy="148"/>
              <a:chOff x="7654" y="3380"/>
              <a:chExt cx="554" cy="754"/>
            </a:xfrm>
          </p:grpSpPr>
          <p:sp>
            <p:nvSpPr>
              <p:cNvPr id="187" name="Google Shape;187;p3"/>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88" name="Google Shape;188;p3"/>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189" name="Google Shape;189;p3"/>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190" name="Google Shape;190;p3"/>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91" name="Google Shape;191;p3"/>
            <p:cNvCxnSpPr/>
            <p:nvPr/>
          </p:nvCxnSpPr>
          <p:spPr>
            <a:xfrm>
              <a:off x="4061" y="2081"/>
              <a:ext cx="226" cy="261"/>
            </a:xfrm>
            <a:prstGeom prst="straightConnector1">
              <a:avLst/>
            </a:prstGeom>
            <a:noFill/>
            <a:ln cap="flat" cmpd="sng" w="28575">
              <a:solidFill>
                <a:srgbClr val="000000"/>
              </a:solidFill>
              <a:prstDash val="solid"/>
              <a:round/>
              <a:headEnd len="sm" w="sm" type="none"/>
              <a:tailEnd len="med" w="med" type="stealth"/>
            </a:ln>
          </p:spPr>
        </p:cxnSp>
        <p:cxnSp>
          <p:nvCxnSpPr>
            <p:cNvPr id="192" name="Google Shape;192;p3"/>
            <p:cNvCxnSpPr/>
            <p:nvPr/>
          </p:nvCxnSpPr>
          <p:spPr>
            <a:xfrm flipH="1" rot="10800000">
              <a:off x="4107" y="1974"/>
              <a:ext cx="280" cy="36"/>
            </a:xfrm>
            <a:prstGeom prst="straightConnector1">
              <a:avLst/>
            </a:prstGeom>
            <a:noFill/>
            <a:ln cap="flat" cmpd="sng" w="28575">
              <a:solidFill>
                <a:srgbClr val="000000"/>
              </a:solidFill>
              <a:prstDash val="solid"/>
              <a:round/>
              <a:headEnd len="sm" w="sm" type="none"/>
              <a:tailEnd len="med" w="med" type="stealth"/>
            </a:ln>
          </p:spPr>
        </p:cxnSp>
        <p:cxnSp>
          <p:nvCxnSpPr>
            <p:cNvPr id="193" name="Google Shape;193;p3"/>
            <p:cNvCxnSpPr/>
            <p:nvPr/>
          </p:nvCxnSpPr>
          <p:spPr>
            <a:xfrm>
              <a:off x="4357" y="2416"/>
              <a:ext cx="309" cy="66"/>
            </a:xfrm>
            <a:prstGeom prst="straightConnector1">
              <a:avLst/>
            </a:prstGeom>
            <a:noFill/>
            <a:ln cap="flat" cmpd="sng" w="28575">
              <a:solidFill>
                <a:srgbClr val="000000"/>
              </a:solidFill>
              <a:prstDash val="solid"/>
              <a:round/>
              <a:headEnd len="sm" w="sm" type="none"/>
              <a:tailEnd len="med" w="med" type="stealth"/>
            </a:ln>
          </p:spPr>
        </p:cxnSp>
        <p:cxnSp>
          <p:nvCxnSpPr>
            <p:cNvPr id="194" name="Google Shape;194;p3"/>
            <p:cNvCxnSpPr/>
            <p:nvPr/>
          </p:nvCxnSpPr>
          <p:spPr>
            <a:xfrm flipH="1" rot="10800000">
              <a:off x="4357" y="2285"/>
              <a:ext cx="346" cy="107"/>
            </a:xfrm>
            <a:prstGeom prst="straightConnector1">
              <a:avLst/>
            </a:prstGeom>
            <a:noFill/>
            <a:ln cap="flat" cmpd="sng" w="28575">
              <a:solidFill>
                <a:srgbClr val="000000"/>
              </a:solidFill>
              <a:prstDash val="solid"/>
              <a:round/>
              <a:headEnd len="sm" w="sm" type="none"/>
              <a:tailEnd len="med" w="med" type="stealth"/>
            </a:ln>
          </p:spPr>
        </p:cxnSp>
        <p:cxnSp>
          <p:nvCxnSpPr>
            <p:cNvPr id="195" name="Google Shape;195;p3"/>
            <p:cNvCxnSpPr/>
            <p:nvPr/>
          </p:nvCxnSpPr>
          <p:spPr>
            <a:xfrm flipH="1" rot="10800000">
              <a:off x="4783" y="2016"/>
              <a:ext cx="80" cy="203"/>
            </a:xfrm>
            <a:prstGeom prst="straightConnector1">
              <a:avLst/>
            </a:prstGeom>
            <a:noFill/>
            <a:ln cap="flat" cmpd="sng" w="28575">
              <a:solidFill>
                <a:srgbClr val="000000"/>
              </a:solidFill>
              <a:prstDash val="solid"/>
              <a:round/>
              <a:headEnd len="sm" w="sm" type="none"/>
              <a:tailEnd len="med" w="med" type="stealth"/>
            </a:ln>
          </p:spPr>
        </p:cxnSp>
        <p:cxnSp>
          <p:nvCxnSpPr>
            <p:cNvPr id="196" name="Google Shape;196;p3"/>
            <p:cNvCxnSpPr/>
            <p:nvPr/>
          </p:nvCxnSpPr>
          <p:spPr>
            <a:xfrm flipH="1">
              <a:off x="4327" y="2026"/>
              <a:ext cx="148" cy="318"/>
            </a:xfrm>
            <a:prstGeom prst="straightConnector1">
              <a:avLst/>
            </a:prstGeom>
            <a:noFill/>
            <a:ln cap="flat" cmpd="sng" w="28575">
              <a:solidFill>
                <a:srgbClr val="000000"/>
              </a:solidFill>
              <a:prstDash val="solid"/>
              <a:round/>
              <a:headEnd len="sm" w="sm" type="none"/>
              <a:tailEnd len="med" w="med" type="stealth"/>
            </a:ln>
          </p:spPr>
        </p:cxnSp>
        <p:sp>
          <p:nvSpPr>
            <p:cNvPr id="197" name="Google Shape;197;p3"/>
            <p:cNvSpPr/>
            <p:nvPr/>
          </p:nvSpPr>
          <p:spPr>
            <a:xfrm>
              <a:off x="4384" y="1929"/>
              <a:ext cx="121" cy="97"/>
            </a:xfrm>
            <a:prstGeom prst="rect">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3"/>
            <p:cNvSpPr/>
            <p:nvPr/>
          </p:nvSpPr>
          <p:spPr>
            <a:xfrm>
              <a:off x="4233" y="2352"/>
              <a:ext cx="121" cy="98"/>
            </a:xfrm>
            <a:prstGeom prst="rect">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3"/>
            <p:cNvSpPr/>
            <p:nvPr/>
          </p:nvSpPr>
          <p:spPr>
            <a:xfrm>
              <a:off x="4677" y="2434"/>
              <a:ext cx="121" cy="98"/>
            </a:xfrm>
            <a:prstGeom prst="rect">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 name="Google Shape;200;p3"/>
            <p:cNvSpPr/>
            <p:nvPr/>
          </p:nvSpPr>
          <p:spPr>
            <a:xfrm>
              <a:off x="4713" y="2219"/>
              <a:ext cx="121" cy="98"/>
            </a:xfrm>
            <a:prstGeom prst="rect">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3"/>
            <p:cNvSpPr/>
            <p:nvPr/>
          </p:nvSpPr>
          <p:spPr>
            <a:xfrm>
              <a:off x="4804" y="1926"/>
              <a:ext cx="121" cy="98"/>
            </a:xfrm>
            <a:prstGeom prst="rect">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202" name="Google Shape;202;p3"/>
          <p:cNvGrpSpPr/>
          <p:nvPr/>
        </p:nvGrpSpPr>
        <p:grpSpPr>
          <a:xfrm>
            <a:off x="5224463" y="3789759"/>
            <a:ext cx="1905000" cy="978694"/>
            <a:chOff x="3231" y="2968"/>
            <a:chExt cx="1200" cy="822"/>
          </a:xfrm>
        </p:grpSpPr>
        <p:grpSp>
          <p:nvGrpSpPr>
            <p:cNvPr id="203" name="Google Shape;203;p3"/>
            <p:cNvGrpSpPr/>
            <p:nvPr/>
          </p:nvGrpSpPr>
          <p:grpSpPr>
            <a:xfrm>
              <a:off x="3393" y="2968"/>
              <a:ext cx="808" cy="510"/>
              <a:chOff x="1309" y="1073"/>
              <a:chExt cx="1245" cy="765"/>
            </a:xfrm>
          </p:grpSpPr>
          <p:grpSp>
            <p:nvGrpSpPr>
              <p:cNvPr id="204" name="Google Shape;204;p3"/>
              <p:cNvGrpSpPr/>
              <p:nvPr/>
            </p:nvGrpSpPr>
            <p:grpSpPr>
              <a:xfrm>
                <a:off x="1309" y="1232"/>
                <a:ext cx="302" cy="175"/>
                <a:chOff x="144" y="1446"/>
                <a:chExt cx="881" cy="511"/>
              </a:xfrm>
            </p:grpSpPr>
            <p:sp>
              <p:nvSpPr>
                <p:cNvPr id="205" name="Google Shape;205;p3"/>
                <p:cNvSpPr/>
                <p:nvPr/>
              </p:nvSpPr>
              <p:spPr>
                <a:xfrm>
                  <a:off x="144" y="1446"/>
                  <a:ext cx="881" cy="511"/>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06" name="Google Shape;206;p3"/>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207" name="Google Shape;207;p3"/>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208" name="Google Shape;208;p3"/>
              <p:cNvGrpSpPr/>
              <p:nvPr/>
            </p:nvGrpSpPr>
            <p:grpSpPr>
              <a:xfrm>
                <a:off x="1950" y="1073"/>
                <a:ext cx="302" cy="175"/>
                <a:chOff x="144" y="1445"/>
                <a:chExt cx="881" cy="511"/>
              </a:xfrm>
            </p:grpSpPr>
            <p:sp>
              <p:nvSpPr>
                <p:cNvPr id="209" name="Google Shape;209;p3"/>
                <p:cNvSpPr/>
                <p:nvPr/>
              </p:nvSpPr>
              <p:spPr>
                <a:xfrm>
                  <a:off x="144" y="1445"/>
                  <a:ext cx="881" cy="511"/>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10" name="Google Shape;210;p3"/>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211" name="Google Shape;211;p3"/>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212" name="Google Shape;212;p3"/>
              <p:cNvGrpSpPr/>
              <p:nvPr/>
            </p:nvGrpSpPr>
            <p:grpSpPr>
              <a:xfrm>
                <a:off x="1648" y="1663"/>
                <a:ext cx="302" cy="175"/>
                <a:chOff x="144" y="1440"/>
                <a:chExt cx="881" cy="510"/>
              </a:xfrm>
            </p:grpSpPr>
            <p:sp>
              <p:nvSpPr>
                <p:cNvPr id="213" name="Google Shape;213;p3"/>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14" name="Google Shape;214;p3"/>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215" name="Google Shape;215;p3"/>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216" name="Google Shape;216;p3"/>
              <p:cNvGrpSpPr/>
              <p:nvPr/>
            </p:nvGrpSpPr>
            <p:grpSpPr>
              <a:xfrm>
                <a:off x="2252" y="1581"/>
                <a:ext cx="302" cy="175"/>
                <a:chOff x="144" y="1438"/>
                <a:chExt cx="881" cy="510"/>
              </a:xfrm>
            </p:grpSpPr>
            <p:sp>
              <p:nvSpPr>
                <p:cNvPr id="217" name="Google Shape;217;p3"/>
                <p:cNvSpPr/>
                <p:nvPr/>
              </p:nvSpPr>
              <p:spPr>
                <a:xfrm>
                  <a:off x="144" y="1438"/>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18" name="Google Shape;218;p3"/>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219" name="Google Shape;219;p3"/>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cxnSp>
            <p:nvCxnSpPr>
              <p:cNvPr id="220" name="Google Shape;220;p3"/>
              <p:cNvCxnSpPr/>
              <p:nvPr/>
            </p:nvCxnSpPr>
            <p:spPr>
              <a:xfrm rot="10800000">
                <a:off x="1463" y="1406"/>
                <a:ext cx="312" cy="257"/>
              </a:xfrm>
              <a:prstGeom prst="straightConnector1">
                <a:avLst/>
              </a:prstGeom>
              <a:noFill/>
              <a:ln cap="flat" cmpd="sng" w="28575">
                <a:solidFill>
                  <a:srgbClr val="000000"/>
                </a:solidFill>
                <a:prstDash val="solid"/>
                <a:round/>
                <a:headEnd len="sm" w="sm" type="none"/>
                <a:tailEnd len="sm" w="sm" type="none"/>
              </a:ln>
            </p:spPr>
          </p:cxnSp>
          <p:cxnSp>
            <p:nvCxnSpPr>
              <p:cNvPr id="221" name="Google Shape;221;p3"/>
              <p:cNvCxnSpPr/>
              <p:nvPr/>
            </p:nvCxnSpPr>
            <p:spPr>
              <a:xfrm flipH="1" rot="10800000">
                <a:off x="1611" y="1160"/>
                <a:ext cx="339" cy="153"/>
              </a:xfrm>
              <a:prstGeom prst="straightConnector1">
                <a:avLst/>
              </a:prstGeom>
              <a:noFill/>
              <a:ln cap="flat" cmpd="sng" w="28575">
                <a:solidFill>
                  <a:srgbClr val="000000"/>
                </a:solidFill>
                <a:prstDash val="solid"/>
                <a:round/>
                <a:headEnd len="sm" w="sm" type="none"/>
                <a:tailEnd len="sm" w="sm" type="none"/>
              </a:ln>
            </p:spPr>
          </p:cxnSp>
          <p:cxnSp>
            <p:nvCxnSpPr>
              <p:cNvPr id="222" name="Google Shape;222;p3"/>
              <p:cNvCxnSpPr/>
              <p:nvPr/>
            </p:nvCxnSpPr>
            <p:spPr>
              <a:xfrm flipH="1" rot="10800000">
                <a:off x="1950" y="1663"/>
                <a:ext cx="302" cy="82"/>
              </a:xfrm>
              <a:prstGeom prst="straightConnector1">
                <a:avLst/>
              </a:prstGeom>
              <a:noFill/>
              <a:ln cap="flat" cmpd="sng" w="28575">
                <a:solidFill>
                  <a:srgbClr val="000000"/>
                </a:solidFill>
                <a:prstDash val="solid"/>
                <a:round/>
                <a:headEnd len="sm" w="sm" type="none"/>
                <a:tailEnd len="sm" w="sm" type="none"/>
              </a:ln>
            </p:spPr>
          </p:cxnSp>
          <p:cxnSp>
            <p:nvCxnSpPr>
              <p:cNvPr id="223" name="Google Shape;223;p3"/>
              <p:cNvCxnSpPr/>
              <p:nvPr/>
            </p:nvCxnSpPr>
            <p:spPr>
              <a:xfrm flipH="1" rot="10800000">
                <a:off x="1775" y="1247"/>
                <a:ext cx="329" cy="416"/>
              </a:xfrm>
              <a:prstGeom prst="straightConnector1">
                <a:avLst/>
              </a:prstGeom>
              <a:noFill/>
              <a:ln cap="flat" cmpd="sng" w="28575">
                <a:solidFill>
                  <a:srgbClr val="000000"/>
                </a:solidFill>
                <a:prstDash val="solid"/>
                <a:round/>
                <a:headEnd len="sm" w="sm" type="none"/>
                <a:tailEnd len="sm" w="sm" type="none"/>
              </a:ln>
            </p:spPr>
          </p:cxnSp>
        </p:grpSp>
        <p:sp>
          <p:nvSpPr>
            <p:cNvPr id="224" name="Google Shape;224;p3"/>
            <p:cNvSpPr txBox="1"/>
            <p:nvPr/>
          </p:nvSpPr>
          <p:spPr>
            <a:xfrm>
              <a:off x="3231" y="3490"/>
              <a:ext cx="12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Class Diagrams</a:t>
              </a:r>
              <a:endParaRPr/>
            </a:p>
          </p:txBody>
        </p:sp>
      </p:grpSp>
      <p:sp>
        <p:nvSpPr>
          <p:cNvPr id="225" name="Google Shape;225;p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
          <p:cNvSpPr/>
          <p:nvPr/>
        </p:nvSpPr>
        <p:spPr>
          <a:xfrm>
            <a:off x="1908175" y="2466975"/>
            <a:ext cx="536700" cy="342900"/>
          </a:xfrm>
          <a:prstGeom prst="rightArrow">
            <a:avLst>
              <a:gd fmla="val 54759" name="adj1"/>
              <a:gd fmla="val 71992" name="adj2"/>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4" name="Google Shape;234;p4"/>
          <p:cNvSpPr txBox="1"/>
          <p:nvPr/>
        </p:nvSpPr>
        <p:spPr>
          <a:xfrm>
            <a:off x="411185" y="3781425"/>
            <a:ext cx="14397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Use Cases</a:t>
            </a:r>
            <a:endParaRPr/>
          </a:p>
        </p:txBody>
      </p:sp>
      <p:sp>
        <p:nvSpPr>
          <p:cNvPr id="235" name="Google Shape;235;p4"/>
          <p:cNvSpPr txBox="1"/>
          <p:nvPr/>
        </p:nvSpPr>
        <p:spPr>
          <a:xfrm>
            <a:off x="2463677" y="3781425"/>
            <a:ext cx="1141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Analysis</a:t>
            </a:r>
            <a:br>
              <a:rPr lang="en-US" sz="2000">
                <a:solidFill>
                  <a:srgbClr val="000000"/>
                </a:solidFill>
                <a:latin typeface="Arial"/>
                <a:ea typeface="Arial"/>
                <a:cs typeface="Arial"/>
                <a:sym typeface="Arial"/>
              </a:rPr>
            </a:br>
            <a:r>
              <a:rPr lang="en-US" sz="2000">
                <a:solidFill>
                  <a:srgbClr val="000000"/>
                </a:solidFill>
                <a:latin typeface="Arial"/>
                <a:ea typeface="Arial"/>
                <a:cs typeface="Arial"/>
                <a:sym typeface="Arial"/>
              </a:rPr>
              <a:t>Classes</a:t>
            </a:r>
            <a:endParaRPr/>
          </a:p>
        </p:txBody>
      </p:sp>
      <p:sp>
        <p:nvSpPr>
          <p:cNvPr id="236" name="Google Shape;236;p4"/>
          <p:cNvSpPr txBox="1"/>
          <p:nvPr/>
        </p:nvSpPr>
        <p:spPr>
          <a:xfrm>
            <a:off x="6152137" y="3781425"/>
            <a:ext cx="9975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Source</a:t>
            </a:r>
            <a:endParaRPr/>
          </a:p>
          <a:p>
            <a:pPr indent="0" lvl="0" marL="0" marR="0" rtl="0" algn="ctr">
              <a:spcBef>
                <a:spcPts val="0"/>
              </a:spcBef>
              <a:spcAft>
                <a:spcPts val="0"/>
              </a:spcAft>
              <a:buNone/>
            </a:pPr>
            <a:r>
              <a:rPr lang="en-US" sz="2000">
                <a:solidFill>
                  <a:srgbClr val="000000"/>
                </a:solidFill>
                <a:latin typeface="Arial"/>
                <a:ea typeface="Arial"/>
                <a:cs typeface="Arial"/>
                <a:sym typeface="Arial"/>
              </a:rPr>
              <a:t>Code</a:t>
            </a:r>
            <a:endParaRPr/>
          </a:p>
        </p:txBody>
      </p:sp>
      <p:sp>
        <p:nvSpPr>
          <p:cNvPr id="237" name="Google Shape;237;p4"/>
          <p:cNvSpPr txBox="1"/>
          <p:nvPr/>
        </p:nvSpPr>
        <p:spPr>
          <a:xfrm>
            <a:off x="7958295" y="3781425"/>
            <a:ext cx="7554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Exec</a:t>
            </a:r>
            <a:endParaRPr/>
          </a:p>
        </p:txBody>
      </p:sp>
      <p:grpSp>
        <p:nvGrpSpPr>
          <p:cNvPr id="238" name="Google Shape;238;p4"/>
          <p:cNvGrpSpPr/>
          <p:nvPr/>
        </p:nvGrpSpPr>
        <p:grpSpPr>
          <a:xfrm>
            <a:off x="533400" y="2466975"/>
            <a:ext cx="1196975" cy="1200150"/>
            <a:chOff x="446" y="2208"/>
            <a:chExt cx="754" cy="1008"/>
          </a:xfrm>
        </p:grpSpPr>
        <p:sp>
          <p:nvSpPr>
            <p:cNvPr id="239" name="Google Shape;239;p4"/>
            <p:cNvSpPr/>
            <p:nvPr/>
          </p:nvSpPr>
          <p:spPr>
            <a:xfrm>
              <a:off x="446" y="2208"/>
              <a:ext cx="624" cy="288"/>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0" name="Google Shape;240;p4"/>
            <p:cNvSpPr/>
            <p:nvPr/>
          </p:nvSpPr>
          <p:spPr>
            <a:xfrm>
              <a:off x="768" y="2496"/>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41" name="Google Shape;241;p4"/>
            <p:cNvCxnSpPr/>
            <p:nvPr/>
          </p:nvCxnSpPr>
          <p:spPr>
            <a:xfrm>
              <a:off x="1056" y="2496"/>
              <a:ext cx="144" cy="144"/>
            </a:xfrm>
            <a:prstGeom prst="straightConnector1">
              <a:avLst/>
            </a:prstGeom>
            <a:noFill/>
            <a:ln cap="flat" cmpd="sng" w="28575">
              <a:solidFill>
                <a:srgbClr val="000000"/>
              </a:solidFill>
              <a:prstDash val="solid"/>
              <a:round/>
              <a:headEnd len="sm" w="sm" type="none"/>
              <a:tailEnd len="sm" w="sm" type="none"/>
            </a:ln>
          </p:spPr>
        </p:cxnSp>
        <p:cxnSp>
          <p:nvCxnSpPr>
            <p:cNvPr id="242" name="Google Shape;242;p4"/>
            <p:cNvCxnSpPr/>
            <p:nvPr/>
          </p:nvCxnSpPr>
          <p:spPr>
            <a:xfrm>
              <a:off x="1056" y="2496"/>
              <a:ext cx="0" cy="144"/>
            </a:xfrm>
            <a:prstGeom prst="straightConnector1">
              <a:avLst/>
            </a:prstGeom>
            <a:noFill/>
            <a:ln cap="flat" cmpd="sng" w="28575">
              <a:solidFill>
                <a:srgbClr val="000000"/>
              </a:solidFill>
              <a:prstDash val="solid"/>
              <a:round/>
              <a:headEnd len="sm" w="sm" type="none"/>
              <a:tailEnd len="sm" w="sm" type="none"/>
            </a:ln>
          </p:spPr>
        </p:cxnSp>
        <p:cxnSp>
          <p:nvCxnSpPr>
            <p:cNvPr id="243" name="Google Shape;243;p4"/>
            <p:cNvCxnSpPr/>
            <p:nvPr/>
          </p:nvCxnSpPr>
          <p:spPr>
            <a:xfrm rot="10800000">
              <a:off x="1056" y="2640"/>
              <a:ext cx="144" cy="0"/>
            </a:xfrm>
            <a:prstGeom prst="straightConnector1">
              <a:avLst/>
            </a:prstGeom>
            <a:noFill/>
            <a:ln cap="flat" cmpd="sng" w="28575">
              <a:solidFill>
                <a:srgbClr val="000000"/>
              </a:solidFill>
              <a:prstDash val="solid"/>
              <a:round/>
              <a:headEnd len="sm" w="sm" type="none"/>
              <a:tailEnd len="sm" w="sm" type="none"/>
            </a:ln>
          </p:spPr>
        </p:cxnSp>
        <p:cxnSp>
          <p:nvCxnSpPr>
            <p:cNvPr id="244" name="Google Shape;244;p4"/>
            <p:cNvCxnSpPr/>
            <p:nvPr/>
          </p:nvCxnSpPr>
          <p:spPr>
            <a:xfrm>
              <a:off x="816" y="2736"/>
              <a:ext cx="336" cy="0"/>
            </a:xfrm>
            <a:prstGeom prst="straightConnector1">
              <a:avLst/>
            </a:prstGeom>
            <a:noFill/>
            <a:ln cap="flat" cmpd="sng" w="28575">
              <a:solidFill>
                <a:srgbClr val="000000"/>
              </a:solidFill>
              <a:prstDash val="solid"/>
              <a:round/>
              <a:headEnd len="sm" w="sm" type="none"/>
              <a:tailEnd len="sm" w="sm" type="none"/>
            </a:ln>
          </p:spPr>
        </p:cxnSp>
        <p:cxnSp>
          <p:nvCxnSpPr>
            <p:cNvPr id="245" name="Google Shape;245;p4"/>
            <p:cNvCxnSpPr/>
            <p:nvPr/>
          </p:nvCxnSpPr>
          <p:spPr>
            <a:xfrm>
              <a:off x="816" y="2784"/>
              <a:ext cx="336" cy="0"/>
            </a:xfrm>
            <a:prstGeom prst="straightConnector1">
              <a:avLst/>
            </a:prstGeom>
            <a:noFill/>
            <a:ln cap="flat" cmpd="sng" w="28575">
              <a:solidFill>
                <a:srgbClr val="000000"/>
              </a:solidFill>
              <a:prstDash val="solid"/>
              <a:round/>
              <a:headEnd len="sm" w="sm" type="none"/>
              <a:tailEnd len="sm" w="sm" type="none"/>
            </a:ln>
          </p:spPr>
        </p:cxnSp>
        <p:cxnSp>
          <p:nvCxnSpPr>
            <p:cNvPr id="246" name="Google Shape;246;p4"/>
            <p:cNvCxnSpPr/>
            <p:nvPr/>
          </p:nvCxnSpPr>
          <p:spPr>
            <a:xfrm>
              <a:off x="816" y="2832"/>
              <a:ext cx="336" cy="0"/>
            </a:xfrm>
            <a:prstGeom prst="straightConnector1">
              <a:avLst/>
            </a:prstGeom>
            <a:noFill/>
            <a:ln cap="flat" cmpd="sng" w="28575">
              <a:solidFill>
                <a:srgbClr val="000000"/>
              </a:solidFill>
              <a:prstDash val="solid"/>
              <a:round/>
              <a:headEnd len="sm" w="sm" type="none"/>
              <a:tailEnd len="sm" w="sm" type="none"/>
            </a:ln>
          </p:spPr>
        </p:cxnSp>
        <p:cxnSp>
          <p:nvCxnSpPr>
            <p:cNvPr id="247" name="Google Shape;247;p4"/>
            <p:cNvCxnSpPr/>
            <p:nvPr/>
          </p:nvCxnSpPr>
          <p:spPr>
            <a:xfrm>
              <a:off x="816" y="2928"/>
              <a:ext cx="336" cy="0"/>
            </a:xfrm>
            <a:prstGeom prst="straightConnector1">
              <a:avLst/>
            </a:prstGeom>
            <a:noFill/>
            <a:ln cap="flat" cmpd="sng" w="28575">
              <a:solidFill>
                <a:srgbClr val="000000"/>
              </a:solidFill>
              <a:prstDash val="solid"/>
              <a:round/>
              <a:headEnd len="sm" w="sm" type="none"/>
              <a:tailEnd len="sm" w="sm" type="none"/>
            </a:ln>
          </p:spPr>
        </p:cxnSp>
        <p:cxnSp>
          <p:nvCxnSpPr>
            <p:cNvPr id="248" name="Google Shape;248;p4"/>
            <p:cNvCxnSpPr/>
            <p:nvPr/>
          </p:nvCxnSpPr>
          <p:spPr>
            <a:xfrm>
              <a:off x="816" y="2880"/>
              <a:ext cx="336" cy="0"/>
            </a:xfrm>
            <a:prstGeom prst="straightConnector1">
              <a:avLst/>
            </a:prstGeom>
            <a:noFill/>
            <a:ln cap="flat" cmpd="sng" w="28575">
              <a:solidFill>
                <a:srgbClr val="000000"/>
              </a:solidFill>
              <a:prstDash val="solid"/>
              <a:round/>
              <a:headEnd len="sm" w="sm" type="none"/>
              <a:tailEnd len="sm" w="sm" type="none"/>
            </a:ln>
          </p:spPr>
        </p:cxnSp>
        <p:cxnSp>
          <p:nvCxnSpPr>
            <p:cNvPr id="249" name="Google Shape;249;p4"/>
            <p:cNvCxnSpPr/>
            <p:nvPr/>
          </p:nvCxnSpPr>
          <p:spPr>
            <a:xfrm>
              <a:off x="816" y="2976"/>
              <a:ext cx="336" cy="0"/>
            </a:xfrm>
            <a:prstGeom prst="straightConnector1">
              <a:avLst/>
            </a:prstGeom>
            <a:noFill/>
            <a:ln cap="flat" cmpd="sng" w="28575">
              <a:solidFill>
                <a:srgbClr val="000000"/>
              </a:solidFill>
              <a:prstDash val="solid"/>
              <a:round/>
              <a:headEnd len="sm" w="sm" type="none"/>
              <a:tailEnd len="sm" w="sm" type="none"/>
            </a:ln>
          </p:spPr>
        </p:cxnSp>
        <p:cxnSp>
          <p:nvCxnSpPr>
            <p:cNvPr id="250" name="Google Shape;250;p4"/>
            <p:cNvCxnSpPr/>
            <p:nvPr/>
          </p:nvCxnSpPr>
          <p:spPr>
            <a:xfrm>
              <a:off x="816" y="3024"/>
              <a:ext cx="336" cy="0"/>
            </a:xfrm>
            <a:prstGeom prst="straightConnector1">
              <a:avLst/>
            </a:prstGeom>
            <a:noFill/>
            <a:ln cap="flat" cmpd="sng" w="28575">
              <a:solidFill>
                <a:srgbClr val="000000"/>
              </a:solidFill>
              <a:prstDash val="solid"/>
              <a:round/>
              <a:headEnd len="sm" w="sm" type="none"/>
              <a:tailEnd len="sm" w="sm" type="none"/>
            </a:ln>
          </p:spPr>
        </p:cxnSp>
        <p:cxnSp>
          <p:nvCxnSpPr>
            <p:cNvPr id="251" name="Google Shape;251;p4"/>
            <p:cNvCxnSpPr/>
            <p:nvPr/>
          </p:nvCxnSpPr>
          <p:spPr>
            <a:xfrm>
              <a:off x="816" y="3072"/>
              <a:ext cx="336" cy="0"/>
            </a:xfrm>
            <a:prstGeom prst="straightConnector1">
              <a:avLst/>
            </a:prstGeom>
            <a:noFill/>
            <a:ln cap="flat" cmpd="sng" w="28575">
              <a:solidFill>
                <a:srgbClr val="000000"/>
              </a:solidFill>
              <a:prstDash val="solid"/>
              <a:round/>
              <a:headEnd len="sm" w="sm" type="none"/>
              <a:tailEnd len="sm" w="sm" type="none"/>
            </a:ln>
          </p:spPr>
        </p:cxnSp>
        <p:cxnSp>
          <p:nvCxnSpPr>
            <p:cNvPr id="252" name="Google Shape;252;p4"/>
            <p:cNvCxnSpPr/>
            <p:nvPr/>
          </p:nvCxnSpPr>
          <p:spPr>
            <a:xfrm>
              <a:off x="816" y="3120"/>
              <a:ext cx="336" cy="0"/>
            </a:xfrm>
            <a:prstGeom prst="straightConnector1">
              <a:avLst/>
            </a:prstGeom>
            <a:noFill/>
            <a:ln cap="flat" cmpd="sng" w="28575">
              <a:solidFill>
                <a:srgbClr val="000000"/>
              </a:solidFill>
              <a:prstDash val="solid"/>
              <a:round/>
              <a:headEnd len="sm" w="sm" type="none"/>
              <a:tailEnd len="sm" w="sm" type="none"/>
            </a:ln>
          </p:spPr>
        </p:cxnSp>
        <p:cxnSp>
          <p:nvCxnSpPr>
            <p:cNvPr id="253" name="Google Shape;253;p4"/>
            <p:cNvCxnSpPr/>
            <p:nvPr/>
          </p:nvCxnSpPr>
          <p:spPr>
            <a:xfrm>
              <a:off x="816" y="3168"/>
              <a:ext cx="336" cy="0"/>
            </a:xfrm>
            <a:prstGeom prst="straightConnector1">
              <a:avLst/>
            </a:prstGeom>
            <a:noFill/>
            <a:ln cap="flat" cmpd="sng" w="28575">
              <a:solidFill>
                <a:srgbClr val="000000"/>
              </a:solidFill>
              <a:prstDash val="solid"/>
              <a:round/>
              <a:headEnd len="sm" w="sm" type="none"/>
              <a:tailEnd len="sm" w="sm" type="none"/>
            </a:ln>
          </p:spPr>
        </p:cxnSp>
        <p:cxnSp>
          <p:nvCxnSpPr>
            <p:cNvPr id="254" name="Google Shape;254;p4"/>
            <p:cNvCxnSpPr/>
            <p:nvPr/>
          </p:nvCxnSpPr>
          <p:spPr>
            <a:xfrm>
              <a:off x="816" y="2688"/>
              <a:ext cx="336" cy="0"/>
            </a:xfrm>
            <a:prstGeom prst="straightConnector1">
              <a:avLst/>
            </a:prstGeom>
            <a:noFill/>
            <a:ln cap="flat" cmpd="sng" w="28575">
              <a:solidFill>
                <a:srgbClr val="000000"/>
              </a:solidFill>
              <a:prstDash val="solid"/>
              <a:round/>
              <a:headEnd len="sm" w="sm" type="none"/>
              <a:tailEnd len="sm" w="sm" type="none"/>
            </a:ln>
          </p:spPr>
        </p:cxnSp>
        <p:cxnSp>
          <p:nvCxnSpPr>
            <p:cNvPr id="255" name="Google Shape;255;p4"/>
            <p:cNvCxnSpPr/>
            <p:nvPr/>
          </p:nvCxnSpPr>
          <p:spPr>
            <a:xfrm>
              <a:off x="816" y="2592"/>
              <a:ext cx="209" cy="0"/>
            </a:xfrm>
            <a:prstGeom prst="straightConnector1">
              <a:avLst/>
            </a:prstGeom>
            <a:noFill/>
            <a:ln cap="flat" cmpd="sng" w="28575">
              <a:solidFill>
                <a:srgbClr val="000000"/>
              </a:solidFill>
              <a:prstDash val="solid"/>
              <a:round/>
              <a:headEnd len="sm" w="sm" type="none"/>
              <a:tailEnd len="sm" w="sm" type="none"/>
            </a:ln>
          </p:spPr>
        </p:cxnSp>
        <p:cxnSp>
          <p:nvCxnSpPr>
            <p:cNvPr id="256" name="Google Shape;256;p4"/>
            <p:cNvCxnSpPr/>
            <p:nvPr/>
          </p:nvCxnSpPr>
          <p:spPr>
            <a:xfrm>
              <a:off x="816" y="2544"/>
              <a:ext cx="209" cy="0"/>
            </a:xfrm>
            <a:prstGeom prst="straightConnector1">
              <a:avLst/>
            </a:prstGeom>
            <a:noFill/>
            <a:ln cap="flat" cmpd="sng" w="28575">
              <a:solidFill>
                <a:srgbClr val="000000"/>
              </a:solidFill>
              <a:prstDash val="solid"/>
              <a:round/>
              <a:headEnd len="sm" w="sm" type="none"/>
              <a:tailEnd len="sm" w="sm" type="none"/>
            </a:ln>
          </p:spPr>
        </p:cxnSp>
        <p:cxnSp>
          <p:nvCxnSpPr>
            <p:cNvPr id="257" name="Google Shape;257;p4"/>
            <p:cNvCxnSpPr/>
            <p:nvPr/>
          </p:nvCxnSpPr>
          <p:spPr>
            <a:xfrm>
              <a:off x="816" y="2640"/>
              <a:ext cx="209" cy="0"/>
            </a:xfrm>
            <a:prstGeom prst="straightConnector1">
              <a:avLst/>
            </a:prstGeom>
            <a:noFill/>
            <a:ln cap="flat" cmpd="sng" w="28575">
              <a:solidFill>
                <a:srgbClr val="000000"/>
              </a:solidFill>
              <a:prstDash val="solid"/>
              <a:round/>
              <a:headEnd len="sm" w="sm" type="none"/>
              <a:tailEnd len="sm" w="sm" type="none"/>
            </a:ln>
          </p:spPr>
        </p:cxnSp>
      </p:grpSp>
      <p:grpSp>
        <p:nvGrpSpPr>
          <p:cNvPr id="258" name="Google Shape;258;p4"/>
          <p:cNvGrpSpPr/>
          <p:nvPr/>
        </p:nvGrpSpPr>
        <p:grpSpPr>
          <a:xfrm>
            <a:off x="533400" y="1152525"/>
            <a:ext cx="1196975" cy="1200150"/>
            <a:chOff x="446" y="2208"/>
            <a:chExt cx="754" cy="1008"/>
          </a:xfrm>
        </p:grpSpPr>
        <p:sp>
          <p:nvSpPr>
            <p:cNvPr id="259" name="Google Shape;259;p4"/>
            <p:cNvSpPr/>
            <p:nvPr/>
          </p:nvSpPr>
          <p:spPr>
            <a:xfrm>
              <a:off x="446" y="2208"/>
              <a:ext cx="624" cy="288"/>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0" name="Google Shape;260;p4"/>
            <p:cNvSpPr/>
            <p:nvPr/>
          </p:nvSpPr>
          <p:spPr>
            <a:xfrm>
              <a:off x="768" y="2496"/>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61" name="Google Shape;261;p4"/>
            <p:cNvCxnSpPr/>
            <p:nvPr/>
          </p:nvCxnSpPr>
          <p:spPr>
            <a:xfrm>
              <a:off x="1056" y="2496"/>
              <a:ext cx="144" cy="144"/>
            </a:xfrm>
            <a:prstGeom prst="straightConnector1">
              <a:avLst/>
            </a:prstGeom>
            <a:noFill/>
            <a:ln cap="flat" cmpd="sng" w="28575">
              <a:solidFill>
                <a:srgbClr val="000000"/>
              </a:solidFill>
              <a:prstDash val="solid"/>
              <a:round/>
              <a:headEnd len="sm" w="sm" type="none"/>
              <a:tailEnd len="sm" w="sm" type="none"/>
            </a:ln>
          </p:spPr>
        </p:cxnSp>
        <p:cxnSp>
          <p:nvCxnSpPr>
            <p:cNvPr id="262" name="Google Shape;262;p4"/>
            <p:cNvCxnSpPr/>
            <p:nvPr/>
          </p:nvCxnSpPr>
          <p:spPr>
            <a:xfrm>
              <a:off x="1056" y="2496"/>
              <a:ext cx="0" cy="144"/>
            </a:xfrm>
            <a:prstGeom prst="straightConnector1">
              <a:avLst/>
            </a:prstGeom>
            <a:noFill/>
            <a:ln cap="flat" cmpd="sng" w="28575">
              <a:solidFill>
                <a:srgbClr val="000000"/>
              </a:solidFill>
              <a:prstDash val="solid"/>
              <a:round/>
              <a:headEnd len="sm" w="sm" type="none"/>
              <a:tailEnd len="sm" w="sm" type="none"/>
            </a:ln>
          </p:spPr>
        </p:cxnSp>
        <p:cxnSp>
          <p:nvCxnSpPr>
            <p:cNvPr id="263" name="Google Shape;263;p4"/>
            <p:cNvCxnSpPr/>
            <p:nvPr/>
          </p:nvCxnSpPr>
          <p:spPr>
            <a:xfrm rot="10800000">
              <a:off x="1056" y="2640"/>
              <a:ext cx="144" cy="0"/>
            </a:xfrm>
            <a:prstGeom prst="straightConnector1">
              <a:avLst/>
            </a:prstGeom>
            <a:noFill/>
            <a:ln cap="flat" cmpd="sng" w="28575">
              <a:solidFill>
                <a:srgbClr val="000000"/>
              </a:solidFill>
              <a:prstDash val="solid"/>
              <a:round/>
              <a:headEnd len="sm" w="sm" type="none"/>
              <a:tailEnd len="sm" w="sm" type="none"/>
            </a:ln>
          </p:spPr>
        </p:cxnSp>
        <p:cxnSp>
          <p:nvCxnSpPr>
            <p:cNvPr id="264" name="Google Shape;264;p4"/>
            <p:cNvCxnSpPr/>
            <p:nvPr/>
          </p:nvCxnSpPr>
          <p:spPr>
            <a:xfrm>
              <a:off x="816" y="2736"/>
              <a:ext cx="336" cy="0"/>
            </a:xfrm>
            <a:prstGeom prst="straightConnector1">
              <a:avLst/>
            </a:prstGeom>
            <a:noFill/>
            <a:ln cap="flat" cmpd="sng" w="28575">
              <a:solidFill>
                <a:srgbClr val="000000"/>
              </a:solidFill>
              <a:prstDash val="solid"/>
              <a:round/>
              <a:headEnd len="sm" w="sm" type="none"/>
              <a:tailEnd len="sm" w="sm" type="none"/>
            </a:ln>
          </p:spPr>
        </p:cxnSp>
        <p:cxnSp>
          <p:nvCxnSpPr>
            <p:cNvPr id="265" name="Google Shape;265;p4"/>
            <p:cNvCxnSpPr/>
            <p:nvPr/>
          </p:nvCxnSpPr>
          <p:spPr>
            <a:xfrm>
              <a:off x="816" y="2784"/>
              <a:ext cx="336" cy="0"/>
            </a:xfrm>
            <a:prstGeom prst="straightConnector1">
              <a:avLst/>
            </a:prstGeom>
            <a:noFill/>
            <a:ln cap="flat" cmpd="sng" w="28575">
              <a:solidFill>
                <a:srgbClr val="000000"/>
              </a:solidFill>
              <a:prstDash val="solid"/>
              <a:round/>
              <a:headEnd len="sm" w="sm" type="none"/>
              <a:tailEnd len="sm" w="sm" type="none"/>
            </a:ln>
          </p:spPr>
        </p:cxnSp>
        <p:cxnSp>
          <p:nvCxnSpPr>
            <p:cNvPr id="266" name="Google Shape;266;p4"/>
            <p:cNvCxnSpPr/>
            <p:nvPr/>
          </p:nvCxnSpPr>
          <p:spPr>
            <a:xfrm>
              <a:off x="816" y="2832"/>
              <a:ext cx="336" cy="0"/>
            </a:xfrm>
            <a:prstGeom prst="straightConnector1">
              <a:avLst/>
            </a:prstGeom>
            <a:noFill/>
            <a:ln cap="flat" cmpd="sng" w="28575">
              <a:solidFill>
                <a:srgbClr val="000000"/>
              </a:solidFill>
              <a:prstDash val="solid"/>
              <a:round/>
              <a:headEnd len="sm" w="sm" type="none"/>
              <a:tailEnd len="sm" w="sm" type="none"/>
            </a:ln>
          </p:spPr>
        </p:cxnSp>
        <p:cxnSp>
          <p:nvCxnSpPr>
            <p:cNvPr id="267" name="Google Shape;267;p4"/>
            <p:cNvCxnSpPr/>
            <p:nvPr/>
          </p:nvCxnSpPr>
          <p:spPr>
            <a:xfrm>
              <a:off x="816" y="2928"/>
              <a:ext cx="336" cy="0"/>
            </a:xfrm>
            <a:prstGeom prst="straightConnector1">
              <a:avLst/>
            </a:prstGeom>
            <a:noFill/>
            <a:ln cap="flat" cmpd="sng" w="28575">
              <a:solidFill>
                <a:srgbClr val="000000"/>
              </a:solidFill>
              <a:prstDash val="solid"/>
              <a:round/>
              <a:headEnd len="sm" w="sm" type="none"/>
              <a:tailEnd len="sm" w="sm" type="none"/>
            </a:ln>
          </p:spPr>
        </p:cxnSp>
        <p:cxnSp>
          <p:nvCxnSpPr>
            <p:cNvPr id="268" name="Google Shape;268;p4"/>
            <p:cNvCxnSpPr/>
            <p:nvPr/>
          </p:nvCxnSpPr>
          <p:spPr>
            <a:xfrm>
              <a:off x="816" y="2880"/>
              <a:ext cx="336" cy="0"/>
            </a:xfrm>
            <a:prstGeom prst="straightConnector1">
              <a:avLst/>
            </a:prstGeom>
            <a:noFill/>
            <a:ln cap="flat" cmpd="sng" w="28575">
              <a:solidFill>
                <a:srgbClr val="000000"/>
              </a:solidFill>
              <a:prstDash val="solid"/>
              <a:round/>
              <a:headEnd len="sm" w="sm" type="none"/>
              <a:tailEnd len="sm" w="sm" type="none"/>
            </a:ln>
          </p:spPr>
        </p:cxnSp>
        <p:cxnSp>
          <p:nvCxnSpPr>
            <p:cNvPr id="269" name="Google Shape;269;p4"/>
            <p:cNvCxnSpPr/>
            <p:nvPr/>
          </p:nvCxnSpPr>
          <p:spPr>
            <a:xfrm>
              <a:off x="816" y="2976"/>
              <a:ext cx="336" cy="0"/>
            </a:xfrm>
            <a:prstGeom prst="straightConnector1">
              <a:avLst/>
            </a:prstGeom>
            <a:noFill/>
            <a:ln cap="flat" cmpd="sng" w="28575">
              <a:solidFill>
                <a:srgbClr val="000000"/>
              </a:solidFill>
              <a:prstDash val="solid"/>
              <a:round/>
              <a:headEnd len="sm" w="sm" type="none"/>
              <a:tailEnd len="sm" w="sm" type="none"/>
            </a:ln>
          </p:spPr>
        </p:cxnSp>
        <p:cxnSp>
          <p:nvCxnSpPr>
            <p:cNvPr id="270" name="Google Shape;270;p4"/>
            <p:cNvCxnSpPr/>
            <p:nvPr/>
          </p:nvCxnSpPr>
          <p:spPr>
            <a:xfrm>
              <a:off x="816" y="3024"/>
              <a:ext cx="336" cy="0"/>
            </a:xfrm>
            <a:prstGeom prst="straightConnector1">
              <a:avLst/>
            </a:prstGeom>
            <a:noFill/>
            <a:ln cap="flat" cmpd="sng" w="28575">
              <a:solidFill>
                <a:srgbClr val="000000"/>
              </a:solidFill>
              <a:prstDash val="solid"/>
              <a:round/>
              <a:headEnd len="sm" w="sm" type="none"/>
              <a:tailEnd len="sm" w="sm" type="none"/>
            </a:ln>
          </p:spPr>
        </p:cxnSp>
        <p:cxnSp>
          <p:nvCxnSpPr>
            <p:cNvPr id="271" name="Google Shape;271;p4"/>
            <p:cNvCxnSpPr/>
            <p:nvPr/>
          </p:nvCxnSpPr>
          <p:spPr>
            <a:xfrm>
              <a:off x="816" y="3072"/>
              <a:ext cx="336" cy="0"/>
            </a:xfrm>
            <a:prstGeom prst="straightConnector1">
              <a:avLst/>
            </a:prstGeom>
            <a:noFill/>
            <a:ln cap="flat" cmpd="sng" w="28575">
              <a:solidFill>
                <a:srgbClr val="000000"/>
              </a:solidFill>
              <a:prstDash val="solid"/>
              <a:round/>
              <a:headEnd len="sm" w="sm" type="none"/>
              <a:tailEnd len="sm" w="sm" type="none"/>
            </a:ln>
          </p:spPr>
        </p:cxnSp>
        <p:cxnSp>
          <p:nvCxnSpPr>
            <p:cNvPr id="272" name="Google Shape;272;p4"/>
            <p:cNvCxnSpPr/>
            <p:nvPr/>
          </p:nvCxnSpPr>
          <p:spPr>
            <a:xfrm>
              <a:off x="816" y="3120"/>
              <a:ext cx="336" cy="0"/>
            </a:xfrm>
            <a:prstGeom prst="straightConnector1">
              <a:avLst/>
            </a:prstGeom>
            <a:noFill/>
            <a:ln cap="flat" cmpd="sng" w="28575">
              <a:solidFill>
                <a:srgbClr val="000000"/>
              </a:solidFill>
              <a:prstDash val="solid"/>
              <a:round/>
              <a:headEnd len="sm" w="sm" type="none"/>
              <a:tailEnd len="sm" w="sm" type="none"/>
            </a:ln>
          </p:spPr>
        </p:cxnSp>
        <p:cxnSp>
          <p:nvCxnSpPr>
            <p:cNvPr id="273" name="Google Shape;273;p4"/>
            <p:cNvCxnSpPr/>
            <p:nvPr/>
          </p:nvCxnSpPr>
          <p:spPr>
            <a:xfrm>
              <a:off x="816" y="3168"/>
              <a:ext cx="336" cy="0"/>
            </a:xfrm>
            <a:prstGeom prst="straightConnector1">
              <a:avLst/>
            </a:prstGeom>
            <a:noFill/>
            <a:ln cap="flat" cmpd="sng" w="28575">
              <a:solidFill>
                <a:srgbClr val="000000"/>
              </a:solidFill>
              <a:prstDash val="solid"/>
              <a:round/>
              <a:headEnd len="sm" w="sm" type="none"/>
              <a:tailEnd len="sm" w="sm" type="none"/>
            </a:ln>
          </p:spPr>
        </p:cxnSp>
        <p:cxnSp>
          <p:nvCxnSpPr>
            <p:cNvPr id="274" name="Google Shape;274;p4"/>
            <p:cNvCxnSpPr/>
            <p:nvPr/>
          </p:nvCxnSpPr>
          <p:spPr>
            <a:xfrm>
              <a:off x="816" y="2688"/>
              <a:ext cx="336" cy="0"/>
            </a:xfrm>
            <a:prstGeom prst="straightConnector1">
              <a:avLst/>
            </a:prstGeom>
            <a:noFill/>
            <a:ln cap="flat" cmpd="sng" w="28575">
              <a:solidFill>
                <a:srgbClr val="000000"/>
              </a:solidFill>
              <a:prstDash val="solid"/>
              <a:round/>
              <a:headEnd len="sm" w="sm" type="none"/>
              <a:tailEnd len="sm" w="sm" type="none"/>
            </a:ln>
          </p:spPr>
        </p:cxnSp>
        <p:cxnSp>
          <p:nvCxnSpPr>
            <p:cNvPr id="275" name="Google Shape;275;p4"/>
            <p:cNvCxnSpPr/>
            <p:nvPr/>
          </p:nvCxnSpPr>
          <p:spPr>
            <a:xfrm>
              <a:off x="816" y="2592"/>
              <a:ext cx="209" cy="0"/>
            </a:xfrm>
            <a:prstGeom prst="straightConnector1">
              <a:avLst/>
            </a:prstGeom>
            <a:noFill/>
            <a:ln cap="flat" cmpd="sng" w="28575">
              <a:solidFill>
                <a:srgbClr val="000000"/>
              </a:solidFill>
              <a:prstDash val="solid"/>
              <a:round/>
              <a:headEnd len="sm" w="sm" type="none"/>
              <a:tailEnd len="sm" w="sm" type="none"/>
            </a:ln>
          </p:spPr>
        </p:cxnSp>
        <p:cxnSp>
          <p:nvCxnSpPr>
            <p:cNvPr id="276" name="Google Shape;276;p4"/>
            <p:cNvCxnSpPr/>
            <p:nvPr/>
          </p:nvCxnSpPr>
          <p:spPr>
            <a:xfrm>
              <a:off x="816" y="2544"/>
              <a:ext cx="209" cy="0"/>
            </a:xfrm>
            <a:prstGeom prst="straightConnector1">
              <a:avLst/>
            </a:prstGeom>
            <a:noFill/>
            <a:ln cap="flat" cmpd="sng" w="28575">
              <a:solidFill>
                <a:srgbClr val="000000"/>
              </a:solidFill>
              <a:prstDash val="solid"/>
              <a:round/>
              <a:headEnd len="sm" w="sm" type="none"/>
              <a:tailEnd len="sm" w="sm" type="none"/>
            </a:ln>
          </p:spPr>
        </p:cxnSp>
        <p:cxnSp>
          <p:nvCxnSpPr>
            <p:cNvPr id="277" name="Google Shape;277;p4"/>
            <p:cNvCxnSpPr/>
            <p:nvPr/>
          </p:nvCxnSpPr>
          <p:spPr>
            <a:xfrm>
              <a:off x="816" y="2640"/>
              <a:ext cx="209" cy="0"/>
            </a:xfrm>
            <a:prstGeom prst="straightConnector1">
              <a:avLst/>
            </a:prstGeom>
            <a:noFill/>
            <a:ln cap="flat" cmpd="sng" w="28575">
              <a:solidFill>
                <a:srgbClr val="000000"/>
              </a:solidFill>
              <a:prstDash val="solid"/>
              <a:round/>
              <a:headEnd len="sm" w="sm" type="none"/>
              <a:tailEnd len="sm" w="sm" type="none"/>
            </a:ln>
          </p:spPr>
        </p:cxnSp>
      </p:grpSp>
      <p:grpSp>
        <p:nvGrpSpPr>
          <p:cNvPr id="278" name="Google Shape;278;p4"/>
          <p:cNvGrpSpPr/>
          <p:nvPr/>
        </p:nvGrpSpPr>
        <p:grpSpPr>
          <a:xfrm>
            <a:off x="4533900" y="1952625"/>
            <a:ext cx="762000" cy="400050"/>
            <a:chOff x="144" y="1440"/>
            <a:chExt cx="881" cy="510"/>
          </a:xfrm>
        </p:grpSpPr>
        <p:sp>
          <p:nvSpPr>
            <p:cNvPr id="279" name="Google Shape;279;p4"/>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80" name="Google Shape;280;p4"/>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281" name="Google Shape;281;p4"/>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282" name="Google Shape;282;p4"/>
          <p:cNvGrpSpPr/>
          <p:nvPr/>
        </p:nvGrpSpPr>
        <p:grpSpPr>
          <a:xfrm>
            <a:off x="4533900" y="2481263"/>
            <a:ext cx="762000" cy="400050"/>
            <a:chOff x="144" y="1440"/>
            <a:chExt cx="881" cy="510"/>
          </a:xfrm>
        </p:grpSpPr>
        <p:sp>
          <p:nvSpPr>
            <p:cNvPr id="283" name="Google Shape;283;p4"/>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84" name="Google Shape;284;p4"/>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285" name="Google Shape;285;p4"/>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286" name="Google Shape;286;p4"/>
          <p:cNvSpPr/>
          <p:nvPr/>
        </p:nvSpPr>
        <p:spPr>
          <a:xfrm>
            <a:off x="3746500" y="2466975"/>
            <a:ext cx="536700" cy="342900"/>
          </a:xfrm>
          <a:prstGeom prst="rightArrow">
            <a:avLst>
              <a:gd fmla="val 54759" name="adj1"/>
              <a:gd fmla="val 71992" name="adj2"/>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7" name="Google Shape;287;p4"/>
          <p:cNvSpPr/>
          <p:nvPr/>
        </p:nvSpPr>
        <p:spPr>
          <a:xfrm>
            <a:off x="5600700" y="2466975"/>
            <a:ext cx="536700" cy="342900"/>
          </a:xfrm>
          <a:prstGeom prst="rightArrow">
            <a:avLst>
              <a:gd fmla="val 54759" name="adj1"/>
              <a:gd fmla="val 71992" name="adj2"/>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8" name="Google Shape;288;p4"/>
          <p:cNvSpPr/>
          <p:nvPr/>
        </p:nvSpPr>
        <p:spPr>
          <a:xfrm>
            <a:off x="7150100" y="2466975"/>
            <a:ext cx="536700" cy="342900"/>
          </a:xfrm>
          <a:prstGeom prst="rightArrow">
            <a:avLst>
              <a:gd fmla="val 54759" name="adj1"/>
              <a:gd fmla="val 71992" name="adj2"/>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9" name="Google Shape;289;p4"/>
          <p:cNvSpPr txBox="1"/>
          <p:nvPr/>
        </p:nvSpPr>
        <p:spPr>
          <a:xfrm>
            <a:off x="4217322" y="3781425"/>
            <a:ext cx="12540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Arial"/>
                <a:ea typeface="Arial"/>
                <a:cs typeface="Arial"/>
                <a:sym typeface="Arial"/>
              </a:rPr>
              <a:t>Design</a:t>
            </a:r>
            <a:br>
              <a:rPr lang="en-US" sz="2000">
                <a:solidFill>
                  <a:srgbClr val="000000"/>
                </a:solidFill>
                <a:latin typeface="Arial"/>
                <a:ea typeface="Arial"/>
                <a:cs typeface="Arial"/>
                <a:sym typeface="Arial"/>
              </a:rPr>
            </a:br>
            <a:r>
              <a:rPr lang="en-US" sz="2000">
                <a:solidFill>
                  <a:srgbClr val="000000"/>
                </a:solidFill>
                <a:latin typeface="Arial"/>
                <a:ea typeface="Arial"/>
                <a:cs typeface="Arial"/>
                <a:sym typeface="Arial"/>
              </a:rPr>
              <a:t>Elements</a:t>
            </a:r>
            <a:endParaRPr/>
          </a:p>
        </p:txBody>
      </p:sp>
      <p:grpSp>
        <p:nvGrpSpPr>
          <p:cNvPr id="290" name="Google Shape;290;p4"/>
          <p:cNvGrpSpPr/>
          <p:nvPr/>
        </p:nvGrpSpPr>
        <p:grpSpPr>
          <a:xfrm>
            <a:off x="6337300" y="1781175"/>
            <a:ext cx="563563" cy="514350"/>
            <a:chOff x="1776" y="2400"/>
            <a:chExt cx="355" cy="432"/>
          </a:xfrm>
        </p:grpSpPr>
        <p:sp>
          <p:nvSpPr>
            <p:cNvPr id="291" name="Google Shape;291;p4"/>
            <p:cNvSpPr/>
            <p:nvPr/>
          </p:nvSpPr>
          <p:spPr>
            <a:xfrm>
              <a:off x="1776" y="2400"/>
              <a:ext cx="355" cy="432"/>
            </a:xfrm>
            <a:prstGeom prst="flowChartDocumen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92" name="Google Shape;292;p4"/>
            <p:cNvCxnSpPr/>
            <p:nvPr/>
          </p:nvCxnSpPr>
          <p:spPr>
            <a:xfrm>
              <a:off x="1829" y="2448"/>
              <a:ext cx="235" cy="0"/>
            </a:xfrm>
            <a:prstGeom prst="straightConnector1">
              <a:avLst/>
            </a:prstGeom>
            <a:noFill/>
            <a:ln cap="flat" cmpd="sng" w="28575">
              <a:solidFill>
                <a:srgbClr val="000000"/>
              </a:solidFill>
              <a:prstDash val="solid"/>
              <a:round/>
              <a:headEnd len="sm" w="sm" type="none"/>
              <a:tailEnd len="sm" w="sm" type="none"/>
            </a:ln>
          </p:spPr>
        </p:cxnSp>
        <p:cxnSp>
          <p:nvCxnSpPr>
            <p:cNvPr id="293" name="Google Shape;293;p4"/>
            <p:cNvCxnSpPr/>
            <p:nvPr/>
          </p:nvCxnSpPr>
          <p:spPr>
            <a:xfrm>
              <a:off x="1829" y="2496"/>
              <a:ext cx="235" cy="0"/>
            </a:xfrm>
            <a:prstGeom prst="straightConnector1">
              <a:avLst/>
            </a:prstGeom>
            <a:noFill/>
            <a:ln cap="flat" cmpd="sng" w="28575">
              <a:solidFill>
                <a:srgbClr val="000000"/>
              </a:solidFill>
              <a:prstDash val="solid"/>
              <a:round/>
              <a:headEnd len="sm" w="sm" type="none"/>
              <a:tailEnd len="sm" w="sm" type="none"/>
            </a:ln>
          </p:spPr>
        </p:cxnSp>
        <p:cxnSp>
          <p:nvCxnSpPr>
            <p:cNvPr id="294" name="Google Shape;294;p4"/>
            <p:cNvCxnSpPr/>
            <p:nvPr/>
          </p:nvCxnSpPr>
          <p:spPr>
            <a:xfrm>
              <a:off x="1829" y="2544"/>
              <a:ext cx="235" cy="0"/>
            </a:xfrm>
            <a:prstGeom prst="straightConnector1">
              <a:avLst/>
            </a:prstGeom>
            <a:noFill/>
            <a:ln cap="flat" cmpd="sng" w="28575">
              <a:solidFill>
                <a:srgbClr val="000000"/>
              </a:solidFill>
              <a:prstDash val="solid"/>
              <a:round/>
              <a:headEnd len="sm" w="sm" type="none"/>
              <a:tailEnd len="sm" w="sm" type="none"/>
            </a:ln>
          </p:spPr>
        </p:cxnSp>
        <p:cxnSp>
          <p:nvCxnSpPr>
            <p:cNvPr id="295" name="Google Shape;295;p4"/>
            <p:cNvCxnSpPr/>
            <p:nvPr/>
          </p:nvCxnSpPr>
          <p:spPr>
            <a:xfrm>
              <a:off x="1829" y="2592"/>
              <a:ext cx="235" cy="0"/>
            </a:xfrm>
            <a:prstGeom prst="straightConnector1">
              <a:avLst/>
            </a:prstGeom>
            <a:noFill/>
            <a:ln cap="flat" cmpd="sng" w="28575">
              <a:solidFill>
                <a:srgbClr val="000000"/>
              </a:solidFill>
              <a:prstDash val="solid"/>
              <a:round/>
              <a:headEnd len="sm" w="sm" type="none"/>
              <a:tailEnd len="sm" w="sm" type="none"/>
            </a:ln>
          </p:spPr>
        </p:cxnSp>
        <p:cxnSp>
          <p:nvCxnSpPr>
            <p:cNvPr id="296" name="Google Shape;296;p4"/>
            <p:cNvCxnSpPr/>
            <p:nvPr/>
          </p:nvCxnSpPr>
          <p:spPr>
            <a:xfrm>
              <a:off x="1829" y="2640"/>
              <a:ext cx="235" cy="0"/>
            </a:xfrm>
            <a:prstGeom prst="straightConnector1">
              <a:avLst/>
            </a:prstGeom>
            <a:noFill/>
            <a:ln cap="flat" cmpd="sng" w="28575">
              <a:solidFill>
                <a:srgbClr val="000000"/>
              </a:solidFill>
              <a:prstDash val="solid"/>
              <a:round/>
              <a:headEnd len="sm" w="sm" type="none"/>
              <a:tailEnd len="sm" w="sm" type="none"/>
            </a:ln>
          </p:spPr>
        </p:cxnSp>
        <p:cxnSp>
          <p:nvCxnSpPr>
            <p:cNvPr id="297" name="Google Shape;297;p4"/>
            <p:cNvCxnSpPr/>
            <p:nvPr/>
          </p:nvCxnSpPr>
          <p:spPr>
            <a:xfrm>
              <a:off x="1829" y="2688"/>
              <a:ext cx="235" cy="0"/>
            </a:xfrm>
            <a:prstGeom prst="straightConnector1">
              <a:avLst/>
            </a:prstGeom>
            <a:noFill/>
            <a:ln cap="flat" cmpd="sng" w="28575">
              <a:solidFill>
                <a:srgbClr val="000000"/>
              </a:solidFill>
              <a:prstDash val="solid"/>
              <a:round/>
              <a:headEnd len="sm" w="sm" type="none"/>
              <a:tailEnd len="sm" w="sm" type="none"/>
            </a:ln>
          </p:spPr>
        </p:cxnSp>
        <p:cxnSp>
          <p:nvCxnSpPr>
            <p:cNvPr id="298" name="Google Shape;298;p4"/>
            <p:cNvCxnSpPr/>
            <p:nvPr/>
          </p:nvCxnSpPr>
          <p:spPr>
            <a:xfrm>
              <a:off x="1829" y="2736"/>
              <a:ext cx="144" cy="0"/>
            </a:xfrm>
            <a:prstGeom prst="straightConnector1">
              <a:avLst/>
            </a:prstGeom>
            <a:noFill/>
            <a:ln cap="flat" cmpd="sng" w="28575">
              <a:solidFill>
                <a:srgbClr val="000000"/>
              </a:solidFill>
              <a:prstDash val="solid"/>
              <a:round/>
              <a:headEnd len="sm" w="sm" type="none"/>
              <a:tailEnd len="sm" w="sm" type="none"/>
            </a:ln>
          </p:spPr>
        </p:cxnSp>
        <p:cxnSp>
          <p:nvCxnSpPr>
            <p:cNvPr id="299" name="Google Shape;299;p4"/>
            <p:cNvCxnSpPr/>
            <p:nvPr/>
          </p:nvCxnSpPr>
          <p:spPr>
            <a:xfrm>
              <a:off x="1829" y="2784"/>
              <a:ext cx="91" cy="0"/>
            </a:xfrm>
            <a:prstGeom prst="straightConnector1">
              <a:avLst/>
            </a:prstGeom>
            <a:noFill/>
            <a:ln cap="flat" cmpd="sng" w="28575">
              <a:solidFill>
                <a:srgbClr val="000000"/>
              </a:solidFill>
              <a:prstDash val="solid"/>
              <a:round/>
              <a:headEnd len="sm" w="sm" type="none"/>
              <a:tailEnd len="sm" w="sm" type="none"/>
            </a:ln>
          </p:spPr>
        </p:cxnSp>
      </p:grpSp>
      <p:grpSp>
        <p:nvGrpSpPr>
          <p:cNvPr id="300" name="Google Shape;300;p4"/>
          <p:cNvGrpSpPr/>
          <p:nvPr/>
        </p:nvGrpSpPr>
        <p:grpSpPr>
          <a:xfrm>
            <a:off x="6337300" y="2409825"/>
            <a:ext cx="563563" cy="514350"/>
            <a:chOff x="1776" y="2400"/>
            <a:chExt cx="355" cy="432"/>
          </a:xfrm>
        </p:grpSpPr>
        <p:sp>
          <p:nvSpPr>
            <p:cNvPr id="301" name="Google Shape;301;p4"/>
            <p:cNvSpPr/>
            <p:nvPr/>
          </p:nvSpPr>
          <p:spPr>
            <a:xfrm>
              <a:off x="1776" y="2400"/>
              <a:ext cx="355" cy="432"/>
            </a:xfrm>
            <a:prstGeom prst="flowChartDocumen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02" name="Google Shape;302;p4"/>
            <p:cNvCxnSpPr/>
            <p:nvPr/>
          </p:nvCxnSpPr>
          <p:spPr>
            <a:xfrm>
              <a:off x="1829" y="2448"/>
              <a:ext cx="235" cy="0"/>
            </a:xfrm>
            <a:prstGeom prst="straightConnector1">
              <a:avLst/>
            </a:prstGeom>
            <a:noFill/>
            <a:ln cap="flat" cmpd="sng" w="28575">
              <a:solidFill>
                <a:srgbClr val="000000"/>
              </a:solidFill>
              <a:prstDash val="solid"/>
              <a:round/>
              <a:headEnd len="sm" w="sm" type="none"/>
              <a:tailEnd len="sm" w="sm" type="none"/>
            </a:ln>
          </p:spPr>
        </p:cxnSp>
        <p:cxnSp>
          <p:nvCxnSpPr>
            <p:cNvPr id="303" name="Google Shape;303;p4"/>
            <p:cNvCxnSpPr/>
            <p:nvPr/>
          </p:nvCxnSpPr>
          <p:spPr>
            <a:xfrm>
              <a:off x="1829" y="2496"/>
              <a:ext cx="235" cy="0"/>
            </a:xfrm>
            <a:prstGeom prst="straightConnector1">
              <a:avLst/>
            </a:prstGeom>
            <a:noFill/>
            <a:ln cap="flat" cmpd="sng" w="28575">
              <a:solidFill>
                <a:srgbClr val="000000"/>
              </a:solidFill>
              <a:prstDash val="solid"/>
              <a:round/>
              <a:headEnd len="sm" w="sm" type="none"/>
              <a:tailEnd len="sm" w="sm" type="none"/>
            </a:ln>
          </p:spPr>
        </p:cxnSp>
        <p:cxnSp>
          <p:nvCxnSpPr>
            <p:cNvPr id="304" name="Google Shape;304;p4"/>
            <p:cNvCxnSpPr/>
            <p:nvPr/>
          </p:nvCxnSpPr>
          <p:spPr>
            <a:xfrm>
              <a:off x="1829" y="2544"/>
              <a:ext cx="235" cy="0"/>
            </a:xfrm>
            <a:prstGeom prst="straightConnector1">
              <a:avLst/>
            </a:prstGeom>
            <a:noFill/>
            <a:ln cap="flat" cmpd="sng" w="28575">
              <a:solidFill>
                <a:srgbClr val="000000"/>
              </a:solidFill>
              <a:prstDash val="solid"/>
              <a:round/>
              <a:headEnd len="sm" w="sm" type="none"/>
              <a:tailEnd len="sm" w="sm" type="none"/>
            </a:ln>
          </p:spPr>
        </p:cxnSp>
        <p:cxnSp>
          <p:nvCxnSpPr>
            <p:cNvPr id="305" name="Google Shape;305;p4"/>
            <p:cNvCxnSpPr/>
            <p:nvPr/>
          </p:nvCxnSpPr>
          <p:spPr>
            <a:xfrm>
              <a:off x="1829" y="2592"/>
              <a:ext cx="235" cy="0"/>
            </a:xfrm>
            <a:prstGeom prst="straightConnector1">
              <a:avLst/>
            </a:prstGeom>
            <a:noFill/>
            <a:ln cap="flat" cmpd="sng" w="28575">
              <a:solidFill>
                <a:srgbClr val="000000"/>
              </a:solidFill>
              <a:prstDash val="solid"/>
              <a:round/>
              <a:headEnd len="sm" w="sm" type="none"/>
              <a:tailEnd len="sm" w="sm" type="none"/>
            </a:ln>
          </p:spPr>
        </p:cxnSp>
        <p:cxnSp>
          <p:nvCxnSpPr>
            <p:cNvPr id="306" name="Google Shape;306;p4"/>
            <p:cNvCxnSpPr/>
            <p:nvPr/>
          </p:nvCxnSpPr>
          <p:spPr>
            <a:xfrm>
              <a:off x="1829" y="2640"/>
              <a:ext cx="235" cy="0"/>
            </a:xfrm>
            <a:prstGeom prst="straightConnector1">
              <a:avLst/>
            </a:prstGeom>
            <a:noFill/>
            <a:ln cap="flat" cmpd="sng" w="28575">
              <a:solidFill>
                <a:srgbClr val="000000"/>
              </a:solidFill>
              <a:prstDash val="solid"/>
              <a:round/>
              <a:headEnd len="sm" w="sm" type="none"/>
              <a:tailEnd len="sm" w="sm" type="none"/>
            </a:ln>
          </p:spPr>
        </p:cxnSp>
        <p:cxnSp>
          <p:nvCxnSpPr>
            <p:cNvPr id="307" name="Google Shape;307;p4"/>
            <p:cNvCxnSpPr/>
            <p:nvPr/>
          </p:nvCxnSpPr>
          <p:spPr>
            <a:xfrm>
              <a:off x="1829" y="2688"/>
              <a:ext cx="235" cy="0"/>
            </a:xfrm>
            <a:prstGeom prst="straightConnector1">
              <a:avLst/>
            </a:prstGeom>
            <a:noFill/>
            <a:ln cap="flat" cmpd="sng" w="28575">
              <a:solidFill>
                <a:srgbClr val="000000"/>
              </a:solidFill>
              <a:prstDash val="solid"/>
              <a:round/>
              <a:headEnd len="sm" w="sm" type="none"/>
              <a:tailEnd len="sm" w="sm" type="none"/>
            </a:ln>
          </p:spPr>
        </p:cxnSp>
        <p:cxnSp>
          <p:nvCxnSpPr>
            <p:cNvPr id="308" name="Google Shape;308;p4"/>
            <p:cNvCxnSpPr/>
            <p:nvPr/>
          </p:nvCxnSpPr>
          <p:spPr>
            <a:xfrm>
              <a:off x="1829" y="2736"/>
              <a:ext cx="144" cy="0"/>
            </a:xfrm>
            <a:prstGeom prst="straightConnector1">
              <a:avLst/>
            </a:prstGeom>
            <a:noFill/>
            <a:ln cap="flat" cmpd="sng" w="28575">
              <a:solidFill>
                <a:srgbClr val="000000"/>
              </a:solidFill>
              <a:prstDash val="solid"/>
              <a:round/>
              <a:headEnd len="sm" w="sm" type="none"/>
              <a:tailEnd len="sm" w="sm" type="none"/>
            </a:ln>
          </p:spPr>
        </p:cxnSp>
        <p:cxnSp>
          <p:nvCxnSpPr>
            <p:cNvPr id="309" name="Google Shape;309;p4"/>
            <p:cNvCxnSpPr/>
            <p:nvPr/>
          </p:nvCxnSpPr>
          <p:spPr>
            <a:xfrm>
              <a:off x="1829" y="2784"/>
              <a:ext cx="91" cy="0"/>
            </a:xfrm>
            <a:prstGeom prst="straightConnector1">
              <a:avLst/>
            </a:prstGeom>
            <a:noFill/>
            <a:ln cap="flat" cmpd="sng" w="28575">
              <a:solidFill>
                <a:srgbClr val="000000"/>
              </a:solidFill>
              <a:prstDash val="solid"/>
              <a:round/>
              <a:headEnd len="sm" w="sm" type="none"/>
              <a:tailEnd len="sm" w="sm" type="none"/>
            </a:ln>
          </p:spPr>
        </p:cxnSp>
      </p:grpSp>
      <p:grpSp>
        <p:nvGrpSpPr>
          <p:cNvPr id="310" name="Google Shape;310;p4"/>
          <p:cNvGrpSpPr/>
          <p:nvPr/>
        </p:nvGrpSpPr>
        <p:grpSpPr>
          <a:xfrm>
            <a:off x="6337300" y="3095625"/>
            <a:ext cx="563563" cy="514350"/>
            <a:chOff x="1776" y="2400"/>
            <a:chExt cx="355" cy="432"/>
          </a:xfrm>
        </p:grpSpPr>
        <p:sp>
          <p:nvSpPr>
            <p:cNvPr id="311" name="Google Shape;311;p4"/>
            <p:cNvSpPr/>
            <p:nvPr/>
          </p:nvSpPr>
          <p:spPr>
            <a:xfrm>
              <a:off x="1776" y="2400"/>
              <a:ext cx="355" cy="432"/>
            </a:xfrm>
            <a:prstGeom prst="flowChartDocumen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312" name="Google Shape;312;p4"/>
            <p:cNvCxnSpPr/>
            <p:nvPr/>
          </p:nvCxnSpPr>
          <p:spPr>
            <a:xfrm>
              <a:off x="1829" y="2448"/>
              <a:ext cx="235" cy="0"/>
            </a:xfrm>
            <a:prstGeom prst="straightConnector1">
              <a:avLst/>
            </a:prstGeom>
            <a:noFill/>
            <a:ln cap="flat" cmpd="sng" w="28575">
              <a:solidFill>
                <a:srgbClr val="000000"/>
              </a:solidFill>
              <a:prstDash val="solid"/>
              <a:round/>
              <a:headEnd len="sm" w="sm" type="none"/>
              <a:tailEnd len="sm" w="sm" type="none"/>
            </a:ln>
          </p:spPr>
        </p:cxnSp>
        <p:cxnSp>
          <p:nvCxnSpPr>
            <p:cNvPr id="313" name="Google Shape;313;p4"/>
            <p:cNvCxnSpPr/>
            <p:nvPr/>
          </p:nvCxnSpPr>
          <p:spPr>
            <a:xfrm>
              <a:off x="1829" y="2496"/>
              <a:ext cx="235" cy="0"/>
            </a:xfrm>
            <a:prstGeom prst="straightConnector1">
              <a:avLst/>
            </a:prstGeom>
            <a:noFill/>
            <a:ln cap="flat" cmpd="sng" w="28575">
              <a:solidFill>
                <a:srgbClr val="000000"/>
              </a:solidFill>
              <a:prstDash val="solid"/>
              <a:round/>
              <a:headEnd len="sm" w="sm" type="none"/>
              <a:tailEnd len="sm" w="sm" type="none"/>
            </a:ln>
          </p:spPr>
        </p:cxnSp>
        <p:cxnSp>
          <p:nvCxnSpPr>
            <p:cNvPr id="314" name="Google Shape;314;p4"/>
            <p:cNvCxnSpPr/>
            <p:nvPr/>
          </p:nvCxnSpPr>
          <p:spPr>
            <a:xfrm>
              <a:off x="1829" y="2544"/>
              <a:ext cx="235" cy="0"/>
            </a:xfrm>
            <a:prstGeom prst="straightConnector1">
              <a:avLst/>
            </a:prstGeom>
            <a:noFill/>
            <a:ln cap="flat" cmpd="sng" w="28575">
              <a:solidFill>
                <a:srgbClr val="000000"/>
              </a:solidFill>
              <a:prstDash val="solid"/>
              <a:round/>
              <a:headEnd len="sm" w="sm" type="none"/>
              <a:tailEnd len="sm" w="sm" type="none"/>
            </a:ln>
          </p:spPr>
        </p:cxnSp>
        <p:cxnSp>
          <p:nvCxnSpPr>
            <p:cNvPr id="315" name="Google Shape;315;p4"/>
            <p:cNvCxnSpPr/>
            <p:nvPr/>
          </p:nvCxnSpPr>
          <p:spPr>
            <a:xfrm>
              <a:off x="1829" y="2592"/>
              <a:ext cx="235" cy="0"/>
            </a:xfrm>
            <a:prstGeom prst="straightConnector1">
              <a:avLst/>
            </a:prstGeom>
            <a:noFill/>
            <a:ln cap="flat" cmpd="sng" w="28575">
              <a:solidFill>
                <a:srgbClr val="000000"/>
              </a:solidFill>
              <a:prstDash val="solid"/>
              <a:round/>
              <a:headEnd len="sm" w="sm" type="none"/>
              <a:tailEnd len="sm" w="sm" type="none"/>
            </a:ln>
          </p:spPr>
        </p:cxnSp>
        <p:cxnSp>
          <p:nvCxnSpPr>
            <p:cNvPr id="316" name="Google Shape;316;p4"/>
            <p:cNvCxnSpPr/>
            <p:nvPr/>
          </p:nvCxnSpPr>
          <p:spPr>
            <a:xfrm>
              <a:off x="1829" y="2640"/>
              <a:ext cx="235" cy="0"/>
            </a:xfrm>
            <a:prstGeom prst="straightConnector1">
              <a:avLst/>
            </a:prstGeom>
            <a:noFill/>
            <a:ln cap="flat" cmpd="sng" w="28575">
              <a:solidFill>
                <a:srgbClr val="000000"/>
              </a:solidFill>
              <a:prstDash val="solid"/>
              <a:round/>
              <a:headEnd len="sm" w="sm" type="none"/>
              <a:tailEnd len="sm" w="sm" type="none"/>
            </a:ln>
          </p:spPr>
        </p:cxnSp>
        <p:cxnSp>
          <p:nvCxnSpPr>
            <p:cNvPr id="317" name="Google Shape;317;p4"/>
            <p:cNvCxnSpPr/>
            <p:nvPr/>
          </p:nvCxnSpPr>
          <p:spPr>
            <a:xfrm>
              <a:off x="1829" y="2688"/>
              <a:ext cx="235" cy="0"/>
            </a:xfrm>
            <a:prstGeom prst="straightConnector1">
              <a:avLst/>
            </a:prstGeom>
            <a:noFill/>
            <a:ln cap="flat" cmpd="sng" w="28575">
              <a:solidFill>
                <a:srgbClr val="000000"/>
              </a:solidFill>
              <a:prstDash val="solid"/>
              <a:round/>
              <a:headEnd len="sm" w="sm" type="none"/>
              <a:tailEnd len="sm" w="sm" type="none"/>
            </a:ln>
          </p:spPr>
        </p:cxnSp>
        <p:cxnSp>
          <p:nvCxnSpPr>
            <p:cNvPr id="318" name="Google Shape;318;p4"/>
            <p:cNvCxnSpPr/>
            <p:nvPr/>
          </p:nvCxnSpPr>
          <p:spPr>
            <a:xfrm>
              <a:off x="1829" y="2736"/>
              <a:ext cx="144" cy="0"/>
            </a:xfrm>
            <a:prstGeom prst="straightConnector1">
              <a:avLst/>
            </a:prstGeom>
            <a:noFill/>
            <a:ln cap="flat" cmpd="sng" w="28575">
              <a:solidFill>
                <a:srgbClr val="000000"/>
              </a:solidFill>
              <a:prstDash val="solid"/>
              <a:round/>
              <a:headEnd len="sm" w="sm" type="none"/>
              <a:tailEnd len="sm" w="sm" type="none"/>
            </a:ln>
          </p:spPr>
        </p:cxnSp>
        <p:cxnSp>
          <p:nvCxnSpPr>
            <p:cNvPr id="319" name="Google Shape;319;p4"/>
            <p:cNvCxnSpPr/>
            <p:nvPr/>
          </p:nvCxnSpPr>
          <p:spPr>
            <a:xfrm>
              <a:off x="1829" y="2784"/>
              <a:ext cx="91" cy="0"/>
            </a:xfrm>
            <a:prstGeom prst="straightConnector1">
              <a:avLst/>
            </a:prstGeom>
            <a:noFill/>
            <a:ln cap="flat" cmpd="sng" w="28575">
              <a:solidFill>
                <a:srgbClr val="000000"/>
              </a:solidFill>
              <a:prstDash val="solid"/>
              <a:round/>
              <a:headEnd len="sm" w="sm" type="none"/>
              <a:tailEnd len="sm" w="sm" type="none"/>
            </a:ln>
          </p:spPr>
        </p:cxnSp>
      </p:grpSp>
      <p:sp>
        <p:nvSpPr>
          <p:cNvPr id="320" name="Google Shape;320;p4"/>
          <p:cNvSpPr/>
          <p:nvPr/>
        </p:nvSpPr>
        <p:spPr>
          <a:xfrm rot="-5400000">
            <a:off x="1855813" y="2856038"/>
            <a:ext cx="285600" cy="3441600"/>
          </a:xfrm>
          <a:prstGeom prst="leftBrace">
            <a:avLst>
              <a:gd fmla="val 75278" name="adj1"/>
              <a:gd fmla="val 50000" name="adj2"/>
            </a:avLst>
          </a:prstGeom>
          <a:noFill/>
          <a:ln cap="flat" cmpd="sng" w="3810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321" name="Google Shape;321;p4"/>
          <p:cNvGrpSpPr/>
          <p:nvPr/>
        </p:nvGrpSpPr>
        <p:grpSpPr>
          <a:xfrm>
            <a:off x="2590800" y="1895475"/>
            <a:ext cx="762000" cy="400050"/>
            <a:chOff x="144" y="1440"/>
            <a:chExt cx="881" cy="510"/>
          </a:xfrm>
        </p:grpSpPr>
        <p:sp>
          <p:nvSpPr>
            <p:cNvPr id="322" name="Google Shape;322;p4"/>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3" name="Google Shape;323;p4"/>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324" name="Google Shape;324;p4"/>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325" name="Google Shape;325;p4"/>
          <p:cNvGrpSpPr/>
          <p:nvPr/>
        </p:nvGrpSpPr>
        <p:grpSpPr>
          <a:xfrm>
            <a:off x="2590800" y="2409825"/>
            <a:ext cx="762000" cy="400050"/>
            <a:chOff x="144" y="1440"/>
            <a:chExt cx="881" cy="510"/>
          </a:xfrm>
        </p:grpSpPr>
        <p:sp>
          <p:nvSpPr>
            <p:cNvPr id="326" name="Google Shape;326;p4"/>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27" name="Google Shape;327;p4"/>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328" name="Google Shape;328;p4"/>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329" name="Google Shape;329;p4"/>
          <p:cNvGrpSpPr/>
          <p:nvPr/>
        </p:nvGrpSpPr>
        <p:grpSpPr>
          <a:xfrm>
            <a:off x="2590800" y="3008890"/>
            <a:ext cx="762000" cy="230617"/>
            <a:chOff x="144" y="1548"/>
            <a:chExt cx="881" cy="294"/>
          </a:xfrm>
        </p:grpSpPr>
        <p:sp>
          <p:nvSpPr>
            <p:cNvPr id="330" name="Google Shape;330;p4"/>
            <p:cNvSpPr/>
            <p:nvPr/>
          </p:nvSpPr>
          <p:spPr>
            <a:xfrm>
              <a:off x="144" y="1548"/>
              <a:ext cx="0" cy="294"/>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331" name="Google Shape;331;p4"/>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332" name="Google Shape;332;p4"/>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333" name="Google Shape;333;p4"/>
          <p:cNvGrpSpPr/>
          <p:nvPr/>
        </p:nvGrpSpPr>
        <p:grpSpPr>
          <a:xfrm>
            <a:off x="4392613" y="3033712"/>
            <a:ext cx="1006475" cy="514350"/>
            <a:chOff x="1252" y="3089"/>
            <a:chExt cx="1114" cy="758"/>
          </a:xfrm>
        </p:grpSpPr>
        <p:sp>
          <p:nvSpPr>
            <p:cNvPr id="334" name="Google Shape;334;p4"/>
            <p:cNvSpPr/>
            <p:nvPr/>
          </p:nvSpPr>
          <p:spPr>
            <a:xfrm>
              <a:off x="1252" y="3290"/>
              <a:ext cx="1114" cy="557"/>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35" name="Google Shape;335;p4"/>
            <p:cNvSpPr/>
            <p:nvPr/>
          </p:nvSpPr>
          <p:spPr>
            <a:xfrm>
              <a:off x="1252" y="3089"/>
              <a:ext cx="445" cy="201"/>
            </a:xfrm>
            <a:prstGeom prst="rect">
              <a:avLst/>
            </a:prstGeom>
            <a:noFill/>
            <a:ln cap="flat" cmpd="sng" w="285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336" name="Google Shape;336;p4"/>
          <p:cNvSpPr txBox="1"/>
          <p:nvPr/>
        </p:nvSpPr>
        <p:spPr>
          <a:xfrm>
            <a:off x="495300" y="4731544"/>
            <a:ext cx="2971800" cy="4170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2000">
                <a:solidFill>
                  <a:srgbClr val="FF0000"/>
                </a:solidFill>
                <a:latin typeface="Arial"/>
                <a:ea typeface="Arial"/>
                <a:cs typeface="Arial"/>
                <a:sym typeface="Arial"/>
              </a:rPr>
              <a:t>Use-Case Analysis</a:t>
            </a:r>
            <a:endParaRPr/>
          </a:p>
        </p:txBody>
      </p:sp>
      <p:sp>
        <p:nvSpPr>
          <p:cNvPr id="337" name="Google Shape;337;p4"/>
          <p:cNvSpPr txBox="1"/>
          <p:nvPr>
            <p:ph type="title"/>
          </p:nvPr>
        </p:nvSpPr>
        <p:spPr>
          <a:xfrm>
            <a:off x="914400" y="154781"/>
            <a:ext cx="8382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Analysis Classes: A First Step Toward Executables</a:t>
            </a:r>
            <a:endParaRPr/>
          </a:p>
        </p:txBody>
      </p:sp>
      <p:cxnSp>
        <p:nvCxnSpPr>
          <p:cNvPr id="338" name="Google Shape;338;p4"/>
          <p:cNvCxnSpPr/>
          <p:nvPr/>
        </p:nvCxnSpPr>
        <p:spPr>
          <a:xfrm rot="10800000">
            <a:off x="4236925" y="2199085"/>
            <a:ext cx="281100" cy="0"/>
          </a:xfrm>
          <a:prstGeom prst="straightConnector1">
            <a:avLst/>
          </a:prstGeom>
          <a:noFill/>
          <a:ln cap="flat" cmpd="sng" w="28575">
            <a:solidFill>
              <a:srgbClr val="000000"/>
            </a:solidFill>
            <a:prstDash val="solid"/>
            <a:round/>
            <a:headEnd len="sm" w="sm" type="none"/>
            <a:tailEnd len="med" w="med" type="none"/>
          </a:ln>
        </p:spPr>
      </p:cxnSp>
      <p:sp>
        <p:nvSpPr>
          <p:cNvPr id="339" name="Google Shape;339;p4"/>
          <p:cNvSpPr/>
          <p:nvPr/>
        </p:nvSpPr>
        <p:spPr>
          <a:xfrm>
            <a:off x="4017963" y="2108597"/>
            <a:ext cx="228600" cy="171600"/>
          </a:xfrm>
          <a:prstGeom prst="ellipse">
            <a:avLst/>
          </a:prstGeom>
          <a:noFill/>
          <a:ln cap="flat" cmpd="sng" w="28575">
            <a:solidFill>
              <a:srgbClr val="000000"/>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 name="Google Shape;340;p4"/>
          <p:cNvSpPr/>
          <p:nvPr/>
        </p:nvSpPr>
        <p:spPr>
          <a:xfrm>
            <a:off x="7858125" y="1784747"/>
            <a:ext cx="752400" cy="462000"/>
          </a:xfrm>
          <a:prstGeom prst="cube">
            <a:avLst>
              <a:gd fmla="val 25000" name="adj"/>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4"/>
          <p:cNvSpPr/>
          <p:nvPr/>
        </p:nvSpPr>
        <p:spPr>
          <a:xfrm>
            <a:off x="7858125" y="2443163"/>
            <a:ext cx="752400" cy="462000"/>
          </a:xfrm>
          <a:prstGeom prst="cube">
            <a:avLst>
              <a:gd fmla="val 25000" name="adj"/>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2" name="Google Shape;342;p4"/>
          <p:cNvSpPr/>
          <p:nvPr/>
        </p:nvSpPr>
        <p:spPr>
          <a:xfrm>
            <a:off x="7858125" y="3115866"/>
            <a:ext cx="752400" cy="462000"/>
          </a:xfrm>
          <a:prstGeom prst="cube">
            <a:avLst>
              <a:gd fmla="val 25000" name="adj"/>
            </a:avLst>
          </a:prstGeom>
          <a:noFill/>
          <a:ln cap="flat" cmpd="sng" w="28575">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43" name="Google Shape;343;p4"/>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
          <p:cNvSpPr txBox="1"/>
          <p:nvPr>
            <p:ph type="title"/>
          </p:nvPr>
        </p:nvSpPr>
        <p:spPr>
          <a:xfrm>
            <a:off x="1447800" y="154781"/>
            <a:ext cx="7696200" cy="40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800"/>
              <a:t>Find Classes from Use-Case Behavior</a:t>
            </a:r>
            <a:endParaRPr/>
          </a:p>
        </p:txBody>
      </p:sp>
      <p:sp>
        <p:nvSpPr>
          <p:cNvPr id="352" name="Google Shape;352;p5"/>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The complete behavior of a use case has to be distributed to analysis classes</a:t>
            </a:r>
            <a:endParaRPr/>
          </a:p>
        </p:txBody>
      </p:sp>
      <p:grpSp>
        <p:nvGrpSpPr>
          <p:cNvPr id="353" name="Google Shape;353;p5"/>
          <p:cNvGrpSpPr/>
          <p:nvPr/>
        </p:nvGrpSpPr>
        <p:grpSpPr>
          <a:xfrm>
            <a:off x="1449388" y="1885950"/>
            <a:ext cx="5954712" cy="3028950"/>
            <a:chOff x="897" y="1344"/>
            <a:chExt cx="3751" cy="2544"/>
          </a:xfrm>
        </p:grpSpPr>
        <p:grpSp>
          <p:nvGrpSpPr>
            <p:cNvPr id="354" name="Google Shape;354;p5"/>
            <p:cNvGrpSpPr/>
            <p:nvPr/>
          </p:nvGrpSpPr>
          <p:grpSpPr>
            <a:xfrm>
              <a:off x="2160" y="1344"/>
              <a:ext cx="1077" cy="1440"/>
              <a:chOff x="446" y="2208"/>
              <a:chExt cx="754" cy="1008"/>
            </a:xfrm>
          </p:grpSpPr>
          <p:sp>
            <p:nvSpPr>
              <p:cNvPr id="355" name="Google Shape;355;p5"/>
              <p:cNvSpPr/>
              <p:nvPr/>
            </p:nvSpPr>
            <p:spPr>
              <a:xfrm>
                <a:off x="446" y="2208"/>
                <a:ext cx="624" cy="288"/>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6" name="Google Shape;356;p5"/>
              <p:cNvSpPr/>
              <p:nvPr/>
            </p:nvSpPr>
            <p:spPr>
              <a:xfrm>
                <a:off x="768" y="2496"/>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57" name="Google Shape;357;p5"/>
              <p:cNvCxnSpPr/>
              <p:nvPr/>
            </p:nvCxnSpPr>
            <p:spPr>
              <a:xfrm>
                <a:off x="1056" y="2496"/>
                <a:ext cx="144" cy="144"/>
              </a:xfrm>
              <a:prstGeom prst="straightConnector1">
                <a:avLst/>
              </a:prstGeom>
              <a:noFill/>
              <a:ln cap="flat" cmpd="sng" w="28575">
                <a:solidFill>
                  <a:srgbClr val="000000"/>
                </a:solidFill>
                <a:prstDash val="solid"/>
                <a:round/>
                <a:headEnd len="sm" w="sm" type="none"/>
                <a:tailEnd len="sm" w="sm" type="none"/>
              </a:ln>
            </p:spPr>
          </p:cxnSp>
          <p:cxnSp>
            <p:nvCxnSpPr>
              <p:cNvPr id="358" name="Google Shape;358;p5"/>
              <p:cNvCxnSpPr/>
              <p:nvPr/>
            </p:nvCxnSpPr>
            <p:spPr>
              <a:xfrm>
                <a:off x="1056" y="2496"/>
                <a:ext cx="0" cy="144"/>
              </a:xfrm>
              <a:prstGeom prst="straightConnector1">
                <a:avLst/>
              </a:prstGeom>
              <a:noFill/>
              <a:ln cap="flat" cmpd="sng" w="28575">
                <a:solidFill>
                  <a:srgbClr val="000000"/>
                </a:solidFill>
                <a:prstDash val="solid"/>
                <a:round/>
                <a:headEnd len="sm" w="sm" type="none"/>
                <a:tailEnd len="sm" w="sm" type="none"/>
              </a:ln>
            </p:spPr>
          </p:cxnSp>
          <p:cxnSp>
            <p:nvCxnSpPr>
              <p:cNvPr id="359" name="Google Shape;359;p5"/>
              <p:cNvCxnSpPr/>
              <p:nvPr/>
            </p:nvCxnSpPr>
            <p:spPr>
              <a:xfrm rot="10800000">
                <a:off x="1056" y="2640"/>
                <a:ext cx="144" cy="0"/>
              </a:xfrm>
              <a:prstGeom prst="straightConnector1">
                <a:avLst/>
              </a:prstGeom>
              <a:noFill/>
              <a:ln cap="flat" cmpd="sng" w="28575">
                <a:solidFill>
                  <a:srgbClr val="000000"/>
                </a:solidFill>
                <a:prstDash val="solid"/>
                <a:round/>
                <a:headEnd len="sm" w="sm" type="none"/>
                <a:tailEnd len="sm" w="sm" type="none"/>
              </a:ln>
            </p:spPr>
          </p:cxnSp>
          <p:cxnSp>
            <p:nvCxnSpPr>
              <p:cNvPr id="360" name="Google Shape;360;p5"/>
              <p:cNvCxnSpPr/>
              <p:nvPr/>
            </p:nvCxnSpPr>
            <p:spPr>
              <a:xfrm>
                <a:off x="816" y="2736"/>
                <a:ext cx="336" cy="0"/>
              </a:xfrm>
              <a:prstGeom prst="straightConnector1">
                <a:avLst/>
              </a:prstGeom>
              <a:noFill/>
              <a:ln cap="flat" cmpd="sng" w="28575">
                <a:solidFill>
                  <a:srgbClr val="000000"/>
                </a:solidFill>
                <a:prstDash val="solid"/>
                <a:round/>
                <a:headEnd len="sm" w="sm" type="none"/>
                <a:tailEnd len="sm" w="sm" type="none"/>
              </a:ln>
            </p:spPr>
          </p:cxnSp>
          <p:cxnSp>
            <p:nvCxnSpPr>
              <p:cNvPr id="361" name="Google Shape;361;p5"/>
              <p:cNvCxnSpPr/>
              <p:nvPr/>
            </p:nvCxnSpPr>
            <p:spPr>
              <a:xfrm>
                <a:off x="816" y="2784"/>
                <a:ext cx="336" cy="0"/>
              </a:xfrm>
              <a:prstGeom prst="straightConnector1">
                <a:avLst/>
              </a:prstGeom>
              <a:noFill/>
              <a:ln cap="flat" cmpd="sng" w="28575">
                <a:solidFill>
                  <a:srgbClr val="000000"/>
                </a:solidFill>
                <a:prstDash val="solid"/>
                <a:round/>
                <a:headEnd len="sm" w="sm" type="none"/>
                <a:tailEnd len="sm" w="sm" type="none"/>
              </a:ln>
            </p:spPr>
          </p:cxnSp>
          <p:cxnSp>
            <p:nvCxnSpPr>
              <p:cNvPr id="362" name="Google Shape;362;p5"/>
              <p:cNvCxnSpPr/>
              <p:nvPr/>
            </p:nvCxnSpPr>
            <p:spPr>
              <a:xfrm>
                <a:off x="816" y="2832"/>
                <a:ext cx="336" cy="0"/>
              </a:xfrm>
              <a:prstGeom prst="straightConnector1">
                <a:avLst/>
              </a:prstGeom>
              <a:noFill/>
              <a:ln cap="flat" cmpd="sng" w="28575">
                <a:solidFill>
                  <a:srgbClr val="000000"/>
                </a:solidFill>
                <a:prstDash val="solid"/>
                <a:round/>
                <a:headEnd len="sm" w="sm" type="none"/>
                <a:tailEnd len="sm" w="sm" type="none"/>
              </a:ln>
            </p:spPr>
          </p:cxnSp>
          <p:cxnSp>
            <p:nvCxnSpPr>
              <p:cNvPr id="363" name="Google Shape;363;p5"/>
              <p:cNvCxnSpPr/>
              <p:nvPr/>
            </p:nvCxnSpPr>
            <p:spPr>
              <a:xfrm>
                <a:off x="816" y="2928"/>
                <a:ext cx="336" cy="0"/>
              </a:xfrm>
              <a:prstGeom prst="straightConnector1">
                <a:avLst/>
              </a:prstGeom>
              <a:noFill/>
              <a:ln cap="flat" cmpd="sng" w="28575">
                <a:solidFill>
                  <a:srgbClr val="000000"/>
                </a:solidFill>
                <a:prstDash val="solid"/>
                <a:round/>
                <a:headEnd len="sm" w="sm" type="none"/>
                <a:tailEnd len="sm" w="sm" type="none"/>
              </a:ln>
            </p:spPr>
          </p:cxnSp>
          <p:cxnSp>
            <p:nvCxnSpPr>
              <p:cNvPr id="364" name="Google Shape;364;p5"/>
              <p:cNvCxnSpPr/>
              <p:nvPr/>
            </p:nvCxnSpPr>
            <p:spPr>
              <a:xfrm>
                <a:off x="816" y="2880"/>
                <a:ext cx="336" cy="0"/>
              </a:xfrm>
              <a:prstGeom prst="straightConnector1">
                <a:avLst/>
              </a:prstGeom>
              <a:noFill/>
              <a:ln cap="flat" cmpd="sng" w="28575">
                <a:solidFill>
                  <a:srgbClr val="000000"/>
                </a:solidFill>
                <a:prstDash val="solid"/>
                <a:round/>
                <a:headEnd len="sm" w="sm" type="none"/>
                <a:tailEnd len="sm" w="sm" type="none"/>
              </a:ln>
            </p:spPr>
          </p:cxnSp>
          <p:cxnSp>
            <p:nvCxnSpPr>
              <p:cNvPr id="365" name="Google Shape;365;p5"/>
              <p:cNvCxnSpPr/>
              <p:nvPr/>
            </p:nvCxnSpPr>
            <p:spPr>
              <a:xfrm>
                <a:off x="816" y="2976"/>
                <a:ext cx="336" cy="0"/>
              </a:xfrm>
              <a:prstGeom prst="straightConnector1">
                <a:avLst/>
              </a:prstGeom>
              <a:noFill/>
              <a:ln cap="flat" cmpd="sng" w="28575">
                <a:solidFill>
                  <a:srgbClr val="000000"/>
                </a:solidFill>
                <a:prstDash val="solid"/>
                <a:round/>
                <a:headEnd len="sm" w="sm" type="none"/>
                <a:tailEnd len="sm" w="sm" type="none"/>
              </a:ln>
            </p:spPr>
          </p:cxnSp>
          <p:cxnSp>
            <p:nvCxnSpPr>
              <p:cNvPr id="366" name="Google Shape;366;p5"/>
              <p:cNvCxnSpPr/>
              <p:nvPr/>
            </p:nvCxnSpPr>
            <p:spPr>
              <a:xfrm>
                <a:off x="816" y="3024"/>
                <a:ext cx="336" cy="0"/>
              </a:xfrm>
              <a:prstGeom prst="straightConnector1">
                <a:avLst/>
              </a:prstGeom>
              <a:noFill/>
              <a:ln cap="flat" cmpd="sng" w="28575">
                <a:solidFill>
                  <a:srgbClr val="000000"/>
                </a:solidFill>
                <a:prstDash val="solid"/>
                <a:round/>
                <a:headEnd len="sm" w="sm" type="none"/>
                <a:tailEnd len="sm" w="sm" type="none"/>
              </a:ln>
            </p:spPr>
          </p:cxnSp>
          <p:cxnSp>
            <p:nvCxnSpPr>
              <p:cNvPr id="367" name="Google Shape;367;p5"/>
              <p:cNvCxnSpPr/>
              <p:nvPr/>
            </p:nvCxnSpPr>
            <p:spPr>
              <a:xfrm>
                <a:off x="816" y="3072"/>
                <a:ext cx="336" cy="0"/>
              </a:xfrm>
              <a:prstGeom prst="straightConnector1">
                <a:avLst/>
              </a:prstGeom>
              <a:noFill/>
              <a:ln cap="flat" cmpd="sng" w="28575">
                <a:solidFill>
                  <a:srgbClr val="000000"/>
                </a:solidFill>
                <a:prstDash val="solid"/>
                <a:round/>
                <a:headEnd len="sm" w="sm" type="none"/>
                <a:tailEnd len="sm" w="sm" type="none"/>
              </a:ln>
            </p:spPr>
          </p:cxnSp>
          <p:cxnSp>
            <p:nvCxnSpPr>
              <p:cNvPr id="368" name="Google Shape;368;p5"/>
              <p:cNvCxnSpPr/>
              <p:nvPr/>
            </p:nvCxnSpPr>
            <p:spPr>
              <a:xfrm>
                <a:off x="816" y="3120"/>
                <a:ext cx="336" cy="0"/>
              </a:xfrm>
              <a:prstGeom prst="straightConnector1">
                <a:avLst/>
              </a:prstGeom>
              <a:noFill/>
              <a:ln cap="flat" cmpd="sng" w="28575">
                <a:solidFill>
                  <a:srgbClr val="000000"/>
                </a:solidFill>
                <a:prstDash val="solid"/>
                <a:round/>
                <a:headEnd len="sm" w="sm" type="none"/>
                <a:tailEnd len="sm" w="sm" type="none"/>
              </a:ln>
            </p:spPr>
          </p:cxnSp>
          <p:cxnSp>
            <p:nvCxnSpPr>
              <p:cNvPr id="369" name="Google Shape;369;p5"/>
              <p:cNvCxnSpPr/>
              <p:nvPr/>
            </p:nvCxnSpPr>
            <p:spPr>
              <a:xfrm>
                <a:off x="816" y="3168"/>
                <a:ext cx="336" cy="0"/>
              </a:xfrm>
              <a:prstGeom prst="straightConnector1">
                <a:avLst/>
              </a:prstGeom>
              <a:noFill/>
              <a:ln cap="flat" cmpd="sng" w="28575">
                <a:solidFill>
                  <a:srgbClr val="000000"/>
                </a:solidFill>
                <a:prstDash val="solid"/>
                <a:round/>
                <a:headEnd len="sm" w="sm" type="none"/>
                <a:tailEnd len="sm" w="sm" type="none"/>
              </a:ln>
            </p:spPr>
          </p:cxnSp>
          <p:cxnSp>
            <p:nvCxnSpPr>
              <p:cNvPr id="370" name="Google Shape;370;p5"/>
              <p:cNvCxnSpPr/>
              <p:nvPr/>
            </p:nvCxnSpPr>
            <p:spPr>
              <a:xfrm>
                <a:off x="816" y="2688"/>
                <a:ext cx="336" cy="0"/>
              </a:xfrm>
              <a:prstGeom prst="straightConnector1">
                <a:avLst/>
              </a:prstGeom>
              <a:noFill/>
              <a:ln cap="flat" cmpd="sng" w="28575">
                <a:solidFill>
                  <a:srgbClr val="000000"/>
                </a:solidFill>
                <a:prstDash val="solid"/>
                <a:round/>
                <a:headEnd len="sm" w="sm" type="none"/>
                <a:tailEnd len="sm" w="sm" type="none"/>
              </a:ln>
            </p:spPr>
          </p:cxnSp>
          <p:cxnSp>
            <p:nvCxnSpPr>
              <p:cNvPr id="371" name="Google Shape;371;p5"/>
              <p:cNvCxnSpPr/>
              <p:nvPr/>
            </p:nvCxnSpPr>
            <p:spPr>
              <a:xfrm>
                <a:off x="816" y="2592"/>
                <a:ext cx="209" cy="0"/>
              </a:xfrm>
              <a:prstGeom prst="straightConnector1">
                <a:avLst/>
              </a:prstGeom>
              <a:noFill/>
              <a:ln cap="flat" cmpd="sng" w="28575">
                <a:solidFill>
                  <a:srgbClr val="000000"/>
                </a:solidFill>
                <a:prstDash val="solid"/>
                <a:round/>
                <a:headEnd len="sm" w="sm" type="none"/>
                <a:tailEnd len="sm" w="sm" type="none"/>
              </a:ln>
            </p:spPr>
          </p:cxnSp>
          <p:cxnSp>
            <p:nvCxnSpPr>
              <p:cNvPr id="372" name="Google Shape;372;p5"/>
              <p:cNvCxnSpPr/>
              <p:nvPr/>
            </p:nvCxnSpPr>
            <p:spPr>
              <a:xfrm>
                <a:off x="816" y="2544"/>
                <a:ext cx="209" cy="0"/>
              </a:xfrm>
              <a:prstGeom prst="straightConnector1">
                <a:avLst/>
              </a:prstGeom>
              <a:noFill/>
              <a:ln cap="flat" cmpd="sng" w="28575">
                <a:solidFill>
                  <a:srgbClr val="000000"/>
                </a:solidFill>
                <a:prstDash val="solid"/>
                <a:round/>
                <a:headEnd len="sm" w="sm" type="none"/>
                <a:tailEnd len="sm" w="sm" type="none"/>
              </a:ln>
            </p:spPr>
          </p:cxnSp>
          <p:cxnSp>
            <p:nvCxnSpPr>
              <p:cNvPr id="373" name="Google Shape;373;p5"/>
              <p:cNvCxnSpPr/>
              <p:nvPr/>
            </p:nvCxnSpPr>
            <p:spPr>
              <a:xfrm>
                <a:off x="816" y="2640"/>
                <a:ext cx="209" cy="0"/>
              </a:xfrm>
              <a:prstGeom prst="straightConnector1">
                <a:avLst/>
              </a:prstGeom>
              <a:noFill/>
              <a:ln cap="flat" cmpd="sng" w="28575">
                <a:solidFill>
                  <a:srgbClr val="000000"/>
                </a:solidFill>
                <a:prstDash val="solid"/>
                <a:round/>
                <a:headEnd len="sm" w="sm" type="none"/>
                <a:tailEnd len="sm" w="sm" type="none"/>
              </a:ln>
            </p:spPr>
          </p:cxnSp>
        </p:grpSp>
        <p:cxnSp>
          <p:nvCxnSpPr>
            <p:cNvPr id="374" name="Google Shape;374;p5"/>
            <p:cNvCxnSpPr/>
            <p:nvPr/>
          </p:nvCxnSpPr>
          <p:spPr>
            <a:xfrm rot="10800000">
              <a:off x="1784" y="1920"/>
              <a:ext cx="968" cy="0"/>
            </a:xfrm>
            <a:prstGeom prst="straightConnector1">
              <a:avLst/>
            </a:prstGeom>
            <a:noFill/>
            <a:ln cap="flat" cmpd="sng" w="28575">
              <a:solidFill>
                <a:srgbClr val="000000"/>
              </a:solidFill>
              <a:prstDash val="solid"/>
              <a:round/>
              <a:headEnd len="sm" w="sm" type="none"/>
              <a:tailEnd len="lg" w="lg" type="triangle"/>
            </a:ln>
          </p:spPr>
        </p:cxnSp>
        <p:cxnSp>
          <p:nvCxnSpPr>
            <p:cNvPr id="375" name="Google Shape;375;p5"/>
            <p:cNvCxnSpPr/>
            <p:nvPr/>
          </p:nvCxnSpPr>
          <p:spPr>
            <a:xfrm flipH="1" rot="10800000">
              <a:off x="3136" y="2056"/>
              <a:ext cx="784" cy="200"/>
            </a:xfrm>
            <a:prstGeom prst="straightConnector1">
              <a:avLst/>
            </a:prstGeom>
            <a:noFill/>
            <a:ln cap="flat" cmpd="sng" w="28575">
              <a:solidFill>
                <a:srgbClr val="000000"/>
              </a:solidFill>
              <a:prstDash val="solid"/>
              <a:round/>
              <a:headEnd len="sm" w="sm" type="none"/>
              <a:tailEnd len="lg" w="lg" type="triangle"/>
            </a:ln>
          </p:spPr>
        </p:cxnSp>
        <p:cxnSp>
          <p:nvCxnSpPr>
            <p:cNvPr id="376" name="Google Shape;376;p5"/>
            <p:cNvCxnSpPr/>
            <p:nvPr/>
          </p:nvCxnSpPr>
          <p:spPr>
            <a:xfrm>
              <a:off x="2904" y="2592"/>
              <a:ext cx="0" cy="576"/>
            </a:xfrm>
            <a:prstGeom prst="straightConnector1">
              <a:avLst/>
            </a:prstGeom>
            <a:noFill/>
            <a:ln cap="flat" cmpd="sng" w="28575">
              <a:solidFill>
                <a:srgbClr val="000000"/>
              </a:solidFill>
              <a:prstDash val="solid"/>
              <a:round/>
              <a:headEnd len="sm" w="sm" type="none"/>
              <a:tailEnd len="lg" w="lg" type="triangle"/>
            </a:ln>
          </p:spPr>
        </p:cxnSp>
        <p:cxnSp>
          <p:nvCxnSpPr>
            <p:cNvPr id="377" name="Google Shape;377;p5"/>
            <p:cNvCxnSpPr/>
            <p:nvPr/>
          </p:nvCxnSpPr>
          <p:spPr>
            <a:xfrm>
              <a:off x="3136" y="2448"/>
              <a:ext cx="728" cy="440"/>
            </a:xfrm>
            <a:prstGeom prst="straightConnector1">
              <a:avLst/>
            </a:prstGeom>
            <a:noFill/>
            <a:ln cap="flat" cmpd="sng" w="28575">
              <a:solidFill>
                <a:srgbClr val="000000"/>
              </a:solidFill>
              <a:prstDash val="solid"/>
              <a:round/>
              <a:headEnd len="sm" w="sm" type="none"/>
              <a:tailEnd len="lg" w="lg" type="triangle"/>
            </a:ln>
          </p:spPr>
        </p:cxnSp>
        <p:cxnSp>
          <p:nvCxnSpPr>
            <p:cNvPr id="378" name="Google Shape;378;p5"/>
            <p:cNvCxnSpPr/>
            <p:nvPr/>
          </p:nvCxnSpPr>
          <p:spPr>
            <a:xfrm flipH="1">
              <a:off x="1760" y="2080"/>
              <a:ext cx="944" cy="872"/>
            </a:xfrm>
            <a:prstGeom prst="straightConnector1">
              <a:avLst/>
            </a:prstGeom>
            <a:noFill/>
            <a:ln cap="flat" cmpd="sng" w="28575">
              <a:solidFill>
                <a:srgbClr val="000000"/>
              </a:solidFill>
              <a:prstDash val="solid"/>
              <a:round/>
              <a:headEnd len="sm" w="sm" type="none"/>
              <a:tailEnd len="lg" w="lg" type="triangle"/>
            </a:ln>
          </p:spPr>
        </p:cxnSp>
        <p:sp>
          <p:nvSpPr>
            <p:cNvPr id="379" name="Google Shape;379;p5"/>
            <p:cNvSpPr/>
            <p:nvPr/>
          </p:nvSpPr>
          <p:spPr>
            <a:xfrm>
              <a:off x="2688" y="1872"/>
              <a:ext cx="298" cy="99"/>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0" name="Google Shape;380;p5"/>
            <p:cNvSpPr/>
            <p:nvPr/>
          </p:nvSpPr>
          <p:spPr>
            <a:xfrm>
              <a:off x="2688" y="2016"/>
              <a:ext cx="480" cy="96"/>
            </a:xfrm>
            <a:prstGeom prst="rect">
              <a:avLst/>
            </a:prstGeom>
            <a:solidFill>
              <a:srgbClr val="66FF33"/>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1" name="Google Shape;381;p5"/>
            <p:cNvSpPr/>
            <p:nvPr/>
          </p:nvSpPr>
          <p:spPr>
            <a:xfrm>
              <a:off x="2688" y="2208"/>
              <a:ext cx="480" cy="105"/>
            </a:xfrm>
            <a:prstGeom prst="rect">
              <a:avLst/>
            </a:prstGeom>
            <a:solidFill>
              <a:schemeClr val="accent2"/>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2" name="Google Shape;382;p5"/>
            <p:cNvSpPr/>
            <p:nvPr/>
          </p:nvSpPr>
          <p:spPr>
            <a:xfrm>
              <a:off x="2688" y="2400"/>
              <a:ext cx="480" cy="96"/>
            </a:xfrm>
            <a:prstGeom prst="rect">
              <a:avLst/>
            </a:prstGeom>
            <a:solidFill>
              <a:schemeClr val="dk2"/>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3" name="Google Shape;383;p5"/>
            <p:cNvSpPr/>
            <p:nvPr/>
          </p:nvSpPr>
          <p:spPr>
            <a:xfrm>
              <a:off x="2688" y="2592"/>
              <a:ext cx="480" cy="96"/>
            </a:xfrm>
            <a:prstGeom prst="rect">
              <a:avLst/>
            </a:prstGeom>
            <a:solidFill>
              <a:srgbClr val="993366"/>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84" name="Google Shape;384;p5"/>
            <p:cNvGrpSpPr/>
            <p:nvPr/>
          </p:nvGrpSpPr>
          <p:grpSpPr>
            <a:xfrm>
              <a:off x="4040" y="1664"/>
              <a:ext cx="608" cy="624"/>
              <a:chOff x="4192" y="2208"/>
              <a:chExt cx="464" cy="473"/>
            </a:xfrm>
          </p:grpSpPr>
          <p:sp>
            <p:nvSpPr>
              <p:cNvPr id="385" name="Google Shape;385;p5"/>
              <p:cNvSpPr/>
              <p:nvPr/>
            </p:nvSpPr>
            <p:spPr>
              <a:xfrm>
                <a:off x="4192" y="2208"/>
                <a:ext cx="458" cy="466"/>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86" name="Google Shape;386;p5"/>
              <p:cNvCxnSpPr/>
              <p:nvPr/>
            </p:nvCxnSpPr>
            <p:spPr>
              <a:xfrm>
                <a:off x="4198" y="2680"/>
                <a:ext cx="458" cy="1"/>
              </a:xfrm>
              <a:prstGeom prst="straightConnector1">
                <a:avLst/>
              </a:prstGeom>
              <a:noFill/>
              <a:ln cap="flat" cmpd="sng" w="28575">
                <a:solidFill>
                  <a:srgbClr val="000000"/>
                </a:solidFill>
                <a:prstDash val="solid"/>
                <a:round/>
                <a:headEnd len="med" w="med" type="none"/>
                <a:tailEnd len="med" w="med" type="none"/>
              </a:ln>
            </p:spPr>
          </p:cxnSp>
        </p:grpSp>
        <p:grpSp>
          <p:nvGrpSpPr>
            <p:cNvPr id="387" name="Google Shape;387;p5"/>
            <p:cNvGrpSpPr/>
            <p:nvPr/>
          </p:nvGrpSpPr>
          <p:grpSpPr>
            <a:xfrm>
              <a:off x="1160" y="2817"/>
              <a:ext cx="621" cy="639"/>
              <a:chOff x="1019" y="2289"/>
              <a:chExt cx="418" cy="444"/>
            </a:xfrm>
          </p:grpSpPr>
          <p:sp>
            <p:nvSpPr>
              <p:cNvPr id="388" name="Google Shape;388;p5"/>
              <p:cNvSpPr/>
              <p:nvPr/>
            </p:nvSpPr>
            <p:spPr>
              <a:xfrm>
                <a:off x="1019" y="2323"/>
                <a:ext cx="418" cy="410"/>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89" name="Google Shape;389;p5"/>
              <p:cNvCxnSpPr/>
              <p:nvPr/>
            </p:nvCxnSpPr>
            <p:spPr>
              <a:xfrm flipH="1">
                <a:off x="1178" y="2289"/>
                <a:ext cx="92" cy="42"/>
              </a:xfrm>
              <a:prstGeom prst="straightConnector1">
                <a:avLst/>
              </a:prstGeom>
              <a:noFill/>
              <a:ln cap="flat" cmpd="sng" w="28575">
                <a:solidFill>
                  <a:srgbClr val="000000"/>
                </a:solidFill>
                <a:prstDash val="solid"/>
                <a:round/>
                <a:headEnd len="med" w="med" type="none"/>
                <a:tailEnd len="med" w="med" type="none"/>
              </a:ln>
            </p:spPr>
          </p:cxnSp>
          <p:cxnSp>
            <p:nvCxnSpPr>
              <p:cNvPr id="390" name="Google Shape;390;p5"/>
              <p:cNvCxnSpPr/>
              <p:nvPr/>
            </p:nvCxnSpPr>
            <p:spPr>
              <a:xfrm rot="10800000">
                <a:off x="1178" y="2331"/>
                <a:ext cx="92" cy="33"/>
              </a:xfrm>
              <a:prstGeom prst="straightConnector1">
                <a:avLst/>
              </a:prstGeom>
              <a:noFill/>
              <a:ln cap="flat" cmpd="sng" w="28575">
                <a:solidFill>
                  <a:srgbClr val="000000"/>
                </a:solidFill>
                <a:prstDash val="solid"/>
                <a:round/>
                <a:headEnd len="med" w="med" type="none"/>
                <a:tailEnd len="med" w="med" type="none"/>
              </a:ln>
            </p:spPr>
          </p:cxnSp>
        </p:grpSp>
        <p:grpSp>
          <p:nvGrpSpPr>
            <p:cNvPr id="391" name="Google Shape;391;p5"/>
            <p:cNvGrpSpPr/>
            <p:nvPr/>
          </p:nvGrpSpPr>
          <p:grpSpPr>
            <a:xfrm>
              <a:off x="897" y="1688"/>
              <a:ext cx="839" cy="582"/>
              <a:chOff x="753" y="1578"/>
              <a:chExt cx="518" cy="347"/>
            </a:xfrm>
          </p:grpSpPr>
          <p:sp>
            <p:nvSpPr>
              <p:cNvPr id="392" name="Google Shape;392;p5"/>
              <p:cNvSpPr/>
              <p:nvPr/>
            </p:nvSpPr>
            <p:spPr>
              <a:xfrm>
                <a:off x="923" y="1578"/>
                <a:ext cx="348" cy="347"/>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93" name="Google Shape;393;p5"/>
              <p:cNvCxnSpPr/>
              <p:nvPr/>
            </p:nvCxnSpPr>
            <p:spPr>
              <a:xfrm>
                <a:off x="753" y="1663"/>
                <a:ext cx="1" cy="177"/>
              </a:xfrm>
              <a:prstGeom prst="straightConnector1">
                <a:avLst/>
              </a:prstGeom>
              <a:noFill/>
              <a:ln cap="flat" cmpd="sng" w="28575">
                <a:solidFill>
                  <a:srgbClr val="000000"/>
                </a:solidFill>
                <a:prstDash val="solid"/>
                <a:round/>
                <a:headEnd len="med" w="med" type="none"/>
                <a:tailEnd len="med" w="med" type="none"/>
              </a:ln>
            </p:spPr>
          </p:cxnSp>
          <p:cxnSp>
            <p:nvCxnSpPr>
              <p:cNvPr id="394" name="Google Shape;394;p5"/>
              <p:cNvCxnSpPr/>
              <p:nvPr/>
            </p:nvCxnSpPr>
            <p:spPr>
              <a:xfrm>
                <a:off x="753" y="1748"/>
                <a:ext cx="170" cy="1"/>
              </a:xfrm>
              <a:prstGeom prst="straightConnector1">
                <a:avLst/>
              </a:prstGeom>
              <a:noFill/>
              <a:ln cap="flat" cmpd="sng" w="28575">
                <a:solidFill>
                  <a:srgbClr val="000000"/>
                </a:solidFill>
                <a:prstDash val="solid"/>
                <a:round/>
                <a:headEnd len="med" w="med" type="none"/>
                <a:tailEnd len="med" w="med" type="none"/>
              </a:ln>
            </p:spPr>
          </p:cxnSp>
        </p:grpSp>
        <p:grpSp>
          <p:nvGrpSpPr>
            <p:cNvPr id="395" name="Google Shape;395;p5"/>
            <p:cNvGrpSpPr/>
            <p:nvPr/>
          </p:nvGrpSpPr>
          <p:grpSpPr>
            <a:xfrm>
              <a:off x="2591" y="3264"/>
              <a:ext cx="608" cy="624"/>
              <a:chOff x="4192" y="2208"/>
              <a:chExt cx="464" cy="473"/>
            </a:xfrm>
          </p:grpSpPr>
          <p:sp>
            <p:nvSpPr>
              <p:cNvPr id="396" name="Google Shape;396;p5"/>
              <p:cNvSpPr/>
              <p:nvPr/>
            </p:nvSpPr>
            <p:spPr>
              <a:xfrm>
                <a:off x="4192" y="2208"/>
                <a:ext cx="458" cy="466"/>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97" name="Google Shape;397;p5"/>
              <p:cNvCxnSpPr/>
              <p:nvPr/>
            </p:nvCxnSpPr>
            <p:spPr>
              <a:xfrm>
                <a:off x="4198" y="2680"/>
                <a:ext cx="458" cy="1"/>
              </a:xfrm>
              <a:prstGeom prst="straightConnector1">
                <a:avLst/>
              </a:prstGeom>
              <a:noFill/>
              <a:ln cap="flat" cmpd="sng" w="28575">
                <a:solidFill>
                  <a:srgbClr val="000000"/>
                </a:solidFill>
                <a:prstDash val="solid"/>
                <a:round/>
                <a:headEnd len="med" w="med" type="none"/>
                <a:tailEnd len="med" w="med" type="none"/>
              </a:ln>
            </p:spPr>
          </p:cxnSp>
        </p:grpSp>
        <p:grpSp>
          <p:nvGrpSpPr>
            <p:cNvPr id="398" name="Google Shape;398;p5"/>
            <p:cNvGrpSpPr/>
            <p:nvPr/>
          </p:nvGrpSpPr>
          <p:grpSpPr>
            <a:xfrm>
              <a:off x="3777" y="2840"/>
              <a:ext cx="839" cy="582"/>
              <a:chOff x="753" y="1578"/>
              <a:chExt cx="518" cy="347"/>
            </a:xfrm>
          </p:grpSpPr>
          <p:sp>
            <p:nvSpPr>
              <p:cNvPr id="399" name="Google Shape;399;p5"/>
              <p:cNvSpPr/>
              <p:nvPr/>
            </p:nvSpPr>
            <p:spPr>
              <a:xfrm>
                <a:off x="923" y="1578"/>
                <a:ext cx="348" cy="347"/>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00" name="Google Shape;400;p5"/>
              <p:cNvCxnSpPr/>
              <p:nvPr/>
            </p:nvCxnSpPr>
            <p:spPr>
              <a:xfrm>
                <a:off x="753" y="1663"/>
                <a:ext cx="1" cy="177"/>
              </a:xfrm>
              <a:prstGeom prst="straightConnector1">
                <a:avLst/>
              </a:prstGeom>
              <a:noFill/>
              <a:ln cap="flat" cmpd="sng" w="28575">
                <a:solidFill>
                  <a:srgbClr val="000000"/>
                </a:solidFill>
                <a:prstDash val="solid"/>
                <a:round/>
                <a:headEnd len="med" w="med" type="none"/>
                <a:tailEnd len="med" w="med" type="none"/>
              </a:ln>
            </p:spPr>
          </p:cxnSp>
          <p:cxnSp>
            <p:nvCxnSpPr>
              <p:cNvPr id="401" name="Google Shape;401;p5"/>
              <p:cNvCxnSpPr/>
              <p:nvPr/>
            </p:nvCxnSpPr>
            <p:spPr>
              <a:xfrm>
                <a:off x="753" y="1748"/>
                <a:ext cx="170" cy="1"/>
              </a:xfrm>
              <a:prstGeom prst="straightConnector1">
                <a:avLst/>
              </a:prstGeom>
              <a:noFill/>
              <a:ln cap="flat" cmpd="sng" w="28575">
                <a:solidFill>
                  <a:srgbClr val="000000"/>
                </a:solidFill>
                <a:prstDash val="solid"/>
                <a:round/>
                <a:headEnd len="med" w="med" type="none"/>
                <a:tailEnd len="med" w="med" type="none"/>
              </a:ln>
            </p:spPr>
          </p:cxnSp>
        </p:grpSp>
      </p:grpSp>
      <p:sp>
        <p:nvSpPr>
          <p:cNvPr id="402" name="Google Shape;402;p5"/>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What Is an Analysis Class?</a:t>
            </a:r>
            <a:endParaRPr/>
          </a:p>
        </p:txBody>
      </p:sp>
      <p:grpSp>
        <p:nvGrpSpPr>
          <p:cNvPr id="411" name="Google Shape;411;p6"/>
          <p:cNvGrpSpPr/>
          <p:nvPr/>
        </p:nvGrpSpPr>
        <p:grpSpPr>
          <a:xfrm>
            <a:off x="355600" y="1239440"/>
            <a:ext cx="8553451" cy="3737372"/>
            <a:chOff x="224" y="1016"/>
            <a:chExt cx="5388" cy="3139"/>
          </a:xfrm>
        </p:grpSpPr>
        <p:sp>
          <p:nvSpPr>
            <p:cNvPr id="412" name="Google Shape;412;p6"/>
            <p:cNvSpPr txBox="1"/>
            <p:nvPr/>
          </p:nvSpPr>
          <p:spPr>
            <a:xfrm>
              <a:off x="224" y="1632"/>
              <a:ext cx="900" cy="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Arial"/>
                  <a:ea typeface="Arial"/>
                  <a:cs typeface="Arial"/>
                  <a:sym typeface="Arial"/>
                </a:rPr>
                <a:t>System boundary</a:t>
              </a:r>
              <a:endParaRPr/>
            </a:p>
          </p:txBody>
        </p:sp>
        <p:sp>
          <p:nvSpPr>
            <p:cNvPr id="413" name="Google Shape;413;p6"/>
            <p:cNvSpPr txBox="1"/>
            <p:nvPr/>
          </p:nvSpPr>
          <p:spPr>
            <a:xfrm>
              <a:off x="408" y="2691"/>
              <a:ext cx="900" cy="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Arial"/>
                  <a:ea typeface="Arial"/>
                  <a:cs typeface="Arial"/>
                  <a:sym typeface="Arial"/>
                </a:rPr>
                <a:t>Use-case behavior coordination</a:t>
              </a:r>
              <a:endParaRPr/>
            </a:p>
          </p:txBody>
        </p:sp>
        <p:sp>
          <p:nvSpPr>
            <p:cNvPr id="414" name="Google Shape;414;p6"/>
            <p:cNvSpPr txBox="1"/>
            <p:nvPr/>
          </p:nvSpPr>
          <p:spPr>
            <a:xfrm>
              <a:off x="4673" y="1563"/>
              <a:ext cx="900" cy="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Arial"/>
                  <a:ea typeface="Arial"/>
                  <a:cs typeface="Arial"/>
                  <a:sym typeface="Arial"/>
                </a:rPr>
                <a:t>System information</a:t>
              </a:r>
              <a:endParaRPr/>
            </a:p>
          </p:txBody>
        </p:sp>
        <p:sp>
          <p:nvSpPr>
            <p:cNvPr id="415" name="Google Shape;415;p6"/>
            <p:cNvSpPr txBox="1"/>
            <p:nvPr/>
          </p:nvSpPr>
          <p:spPr>
            <a:xfrm>
              <a:off x="816" y="1106"/>
              <a:ext cx="1200" cy="6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&lt;&lt;boundary&gt;&gt;</a:t>
              </a:r>
              <a:endParaRPr/>
            </a:p>
          </p:txBody>
        </p:sp>
        <p:sp>
          <p:nvSpPr>
            <p:cNvPr id="416" name="Google Shape;416;p6"/>
            <p:cNvSpPr/>
            <p:nvPr/>
          </p:nvSpPr>
          <p:spPr>
            <a:xfrm>
              <a:off x="948" y="2240"/>
              <a:ext cx="12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&lt;&lt;control&gt;&gt;</a:t>
              </a:r>
              <a:endParaRPr/>
            </a:p>
          </p:txBody>
        </p:sp>
        <p:sp>
          <p:nvSpPr>
            <p:cNvPr id="417" name="Google Shape;417;p6"/>
            <p:cNvSpPr/>
            <p:nvPr/>
          </p:nvSpPr>
          <p:spPr>
            <a:xfrm>
              <a:off x="3936" y="1080"/>
              <a:ext cx="9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&lt;&lt;entity&gt;&gt;</a:t>
              </a:r>
              <a:endParaRPr/>
            </a:p>
          </p:txBody>
        </p:sp>
        <p:sp>
          <p:nvSpPr>
            <p:cNvPr id="418" name="Google Shape;418;p6"/>
            <p:cNvSpPr txBox="1"/>
            <p:nvPr/>
          </p:nvSpPr>
          <p:spPr>
            <a:xfrm>
              <a:off x="3240" y="3555"/>
              <a:ext cx="900" cy="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Arial"/>
                  <a:ea typeface="Arial"/>
                  <a:cs typeface="Arial"/>
                  <a:sym typeface="Arial"/>
                </a:rPr>
                <a:t>System information</a:t>
              </a:r>
              <a:endParaRPr/>
            </a:p>
          </p:txBody>
        </p:sp>
        <p:sp>
          <p:nvSpPr>
            <p:cNvPr id="419" name="Google Shape;419;p6"/>
            <p:cNvSpPr/>
            <p:nvPr/>
          </p:nvSpPr>
          <p:spPr>
            <a:xfrm>
              <a:off x="2503" y="3032"/>
              <a:ext cx="9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&lt;&lt;entity&gt;&gt;</a:t>
              </a:r>
              <a:endParaRPr/>
            </a:p>
          </p:txBody>
        </p:sp>
        <p:sp>
          <p:nvSpPr>
            <p:cNvPr id="420" name="Google Shape;420;p6"/>
            <p:cNvSpPr txBox="1"/>
            <p:nvPr/>
          </p:nvSpPr>
          <p:spPr>
            <a:xfrm>
              <a:off x="4712" y="2600"/>
              <a:ext cx="900" cy="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0000"/>
                  </a:solidFill>
                  <a:latin typeface="Arial"/>
                  <a:ea typeface="Arial"/>
                  <a:cs typeface="Arial"/>
                  <a:sym typeface="Arial"/>
                </a:rPr>
                <a:t>System boundary</a:t>
              </a:r>
              <a:endParaRPr/>
            </a:p>
          </p:txBody>
        </p:sp>
        <p:sp>
          <p:nvSpPr>
            <p:cNvPr id="421" name="Google Shape;421;p6"/>
            <p:cNvSpPr txBox="1"/>
            <p:nvPr/>
          </p:nvSpPr>
          <p:spPr>
            <a:xfrm>
              <a:off x="3832" y="2274"/>
              <a:ext cx="1200" cy="6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&lt;&lt;boundary&gt;&gt;</a:t>
              </a:r>
              <a:endParaRPr/>
            </a:p>
          </p:txBody>
        </p:sp>
        <p:grpSp>
          <p:nvGrpSpPr>
            <p:cNvPr id="422" name="Google Shape;422;p6"/>
            <p:cNvGrpSpPr/>
            <p:nvPr/>
          </p:nvGrpSpPr>
          <p:grpSpPr>
            <a:xfrm>
              <a:off x="2176" y="1016"/>
              <a:ext cx="1077" cy="1440"/>
              <a:chOff x="446" y="2208"/>
              <a:chExt cx="754" cy="1008"/>
            </a:xfrm>
          </p:grpSpPr>
          <p:sp>
            <p:nvSpPr>
              <p:cNvPr id="423" name="Google Shape;423;p6"/>
              <p:cNvSpPr/>
              <p:nvPr/>
            </p:nvSpPr>
            <p:spPr>
              <a:xfrm>
                <a:off x="446" y="2208"/>
                <a:ext cx="624" cy="288"/>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24" name="Google Shape;424;p6"/>
              <p:cNvSpPr/>
              <p:nvPr/>
            </p:nvSpPr>
            <p:spPr>
              <a:xfrm>
                <a:off x="768" y="2496"/>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25" name="Google Shape;425;p6"/>
              <p:cNvCxnSpPr/>
              <p:nvPr/>
            </p:nvCxnSpPr>
            <p:spPr>
              <a:xfrm>
                <a:off x="1056" y="2496"/>
                <a:ext cx="144" cy="144"/>
              </a:xfrm>
              <a:prstGeom prst="straightConnector1">
                <a:avLst/>
              </a:prstGeom>
              <a:noFill/>
              <a:ln cap="flat" cmpd="sng" w="28575">
                <a:solidFill>
                  <a:srgbClr val="000000"/>
                </a:solidFill>
                <a:prstDash val="solid"/>
                <a:round/>
                <a:headEnd len="sm" w="sm" type="none"/>
                <a:tailEnd len="sm" w="sm" type="none"/>
              </a:ln>
            </p:spPr>
          </p:cxnSp>
          <p:cxnSp>
            <p:nvCxnSpPr>
              <p:cNvPr id="426" name="Google Shape;426;p6"/>
              <p:cNvCxnSpPr/>
              <p:nvPr/>
            </p:nvCxnSpPr>
            <p:spPr>
              <a:xfrm>
                <a:off x="1056" y="2496"/>
                <a:ext cx="0" cy="144"/>
              </a:xfrm>
              <a:prstGeom prst="straightConnector1">
                <a:avLst/>
              </a:prstGeom>
              <a:noFill/>
              <a:ln cap="flat" cmpd="sng" w="28575">
                <a:solidFill>
                  <a:srgbClr val="000000"/>
                </a:solidFill>
                <a:prstDash val="solid"/>
                <a:round/>
                <a:headEnd len="sm" w="sm" type="none"/>
                <a:tailEnd len="sm" w="sm" type="none"/>
              </a:ln>
            </p:spPr>
          </p:cxnSp>
          <p:cxnSp>
            <p:nvCxnSpPr>
              <p:cNvPr id="427" name="Google Shape;427;p6"/>
              <p:cNvCxnSpPr/>
              <p:nvPr/>
            </p:nvCxnSpPr>
            <p:spPr>
              <a:xfrm rot="10800000">
                <a:off x="1056" y="2640"/>
                <a:ext cx="144" cy="0"/>
              </a:xfrm>
              <a:prstGeom prst="straightConnector1">
                <a:avLst/>
              </a:prstGeom>
              <a:noFill/>
              <a:ln cap="flat" cmpd="sng" w="28575">
                <a:solidFill>
                  <a:srgbClr val="000000"/>
                </a:solidFill>
                <a:prstDash val="solid"/>
                <a:round/>
                <a:headEnd len="sm" w="sm" type="none"/>
                <a:tailEnd len="sm" w="sm" type="none"/>
              </a:ln>
            </p:spPr>
          </p:cxnSp>
          <p:cxnSp>
            <p:nvCxnSpPr>
              <p:cNvPr id="428" name="Google Shape;428;p6"/>
              <p:cNvCxnSpPr/>
              <p:nvPr/>
            </p:nvCxnSpPr>
            <p:spPr>
              <a:xfrm>
                <a:off x="816" y="2736"/>
                <a:ext cx="336" cy="0"/>
              </a:xfrm>
              <a:prstGeom prst="straightConnector1">
                <a:avLst/>
              </a:prstGeom>
              <a:noFill/>
              <a:ln cap="flat" cmpd="sng" w="28575">
                <a:solidFill>
                  <a:srgbClr val="000000"/>
                </a:solidFill>
                <a:prstDash val="solid"/>
                <a:round/>
                <a:headEnd len="sm" w="sm" type="none"/>
                <a:tailEnd len="sm" w="sm" type="none"/>
              </a:ln>
            </p:spPr>
          </p:cxnSp>
          <p:cxnSp>
            <p:nvCxnSpPr>
              <p:cNvPr id="429" name="Google Shape;429;p6"/>
              <p:cNvCxnSpPr/>
              <p:nvPr/>
            </p:nvCxnSpPr>
            <p:spPr>
              <a:xfrm>
                <a:off x="816" y="2784"/>
                <a:ext cx="336" cy="0"/>
              </a:xfrm>
              <a:prstGeom prst="straightConnector1">
                <a:avLst/>
              </a:prstGeom>
              <a:noFill/>
              <a:ln cap="flat" cmpd="sng" w="28575">
                <a:solidFill>
                  <a:srgbClr val="000000"/>
                </a:solidFill>
                <a:prstDash val="solid"/>
                <a:round/>
                <a:headEnd len="sm" w="sm" type="none"/>
                <a:tailEnd len="sm" w="sm" type="none"/>
              </a:ln>
            </p:spPr>
          </p:cxnSp>
          <p:cxnSp>
            <p:nvCxnSpPr>
              <p:cNvPr id="430" name="Google Shape;430;p6"/>
              <p:cNvCxnSpPr/>
              <p:nvPr/>
            </p:nvCxnSpPr>
            <p:spPr>
              <a:xfrm>
                <a:off x="816" y="2832"/>
                <a:ext cx="336" cy="0"/>
              </a:xfrm>
              <a:prstGeom prst="straightConnector1">
                <a:avLst/>
              </a:prstGeom>
              <a:noFill/>
              <a:ln cap="flat" cmpd="sng" w="28575">
                <a:solidFill>
                  <a:srgbClr val="000000"/>
                </a:solidFill>
                <a:prstDash val="solid"/>
                <a:round/>
                <a:headEnd len="sm" w="sm" type="none"/>
                <a:tailEnd len="sm" w="sm" type="none"/>
              </a:ln>
            </p:spPr>
          </p:cxnSp>
          <p:cxnSp>
            <p:nvCxnSpPr>
              <p:cNvPr id="431" name="Google Shape;431;p6"/>
              <p:cNvCxnSpPr/>
              <p:nvPr/>
            </p:nvCxnSpPr>
            <p:spPr>
              <a:xfrm>
                <a:off x="816" y="2928"/>
                <a:ext cx="336" cy="0"/>
              </a:xfrm>
              <a:prstGeom prst="straightConnector1">
                <a:avLst/>
              </a:prstGeom>
              <a:noFill/>
              <a:ln cap="flat" cmpd="sng" w="28575">
                <a:solidFill>
                  <a:srgbClr val="000000"/>
                </a:solidFill>
                <a:prstDash val="solid"/>
                <a:round/>
                <a:headEnd len="sm" w="sm" type="none"/>
                <a:tailEnd len="sm" w="sm" type="none"/>
              </a:ln>
            </p:spPr>
          </p:cxnSp>
          <p:cxnSp>
            <p:nvCxnSpPr>
              <p:cNvPr id="432" name="Google Shape;432;p6"/>
              <p:cNvCxnSpPr/>
              <p:nvPr/>
            </p:nvCxnSpPr>
            <p:spPr>
              <a:xfrm>
                <a:off x="816" y="2880"/>
                <a:ext cx="336" cy="0"/>
              </a:xfrm>
              <a:prstGeom prst="straightConnector1">
                <a:avLst/>
              </a:prstGeom>
              <a:noFill/>
              <a:ln cap="flat" cmpd="sng" w="28575">
                <a:solidFill>
                  <a:srgbClr val="000000"/>
                </a:solidFill>
                <a:prstDash val="solid"/>
                <a:round/>
                <a:headEnd len="sm" w="sm" type="none"/>
                <a:tailEnd len="sm" w="sm" type="none"/>
              </a:ln>
            </p:spPr>
          </p:cxnSp>
          <p:cxnSp>
            <p:nvCxnSpPr>
              <p:cNvPr id="433" name="Google Shape;433;p6"/>
              <p:cNvCxnSpPr/>
              <p:nvPr/>
            </p:nvCxnSpPr>
            <p:spPr>
              <a:xfrm>
                <a:off x="816" y="2976"/>
                <a:ext cx="336" cy="0"/>
              </a:xfrm>
              <a:prstGeom prst="straightConnector1">
                <a:avLst/>
              </a:prstGeom>
              <a:noFill/>
              <a:ln cap="flat" cmpd="sng" w="28575">
                <a:solidFill>
                  <a:srgbClr val="000000"/>
                </a:solidFill>
                <a:prstDash val="solid"/>
                <a:round/>
                <a:headEnd len="sm" w="sm" type="none"/>
                <a:tailEnd len="sm" w="sm" type="none"/>
              </a:ln>
            </p:spPr>
          </p:cxnSp>
          <p:cxnSp>
            <p:nvCxnSpPr>
              <p:cNvPr id="434" name="Google Shape;434;p6"/>
              <p:cNvCxnSpPr/>
              <p:nvPr/>
            </p:nvCxnSpPr>
            <p:spPr>
              <a:xfrm>
                <a:off x="816" y="3024"/>
                <a:ext cx="336" cy="0"/>
              </a:xfrm>
              <a:prstGeom prst="straightConnector1">
                <a:avLst/>
              </a:prstGeom>
              <a:noFill/>
              <a:ln cap="flat" cmpd="sng" w="28575">
                <a:solidFill>
                  <a:srgbClr val="000000"/>
                </a:solidFill>
                <a:prstDash val="solid"/>
                <a:round/>
                <a:headEnd len="sm" w="sm" type="none"/>
                <a:tailEnd len="sm" w="sm" type="none"/>
              </a:ln>
            </p:spPr>
          </p:cxnSp>
          <p:cxnSp>
            <p:nvCxnSpPr>
              <p:cNvPr id="435" name="Google Shape;435;p6"/>
              <p:cNvCxnSpPr/>
              <p:nvPr/>
            </p:nvCxnSpPr>
            <p:spPr>
              <a:xfrm>
                <a:off x="816" y="3072"/>
                <a:ext cx="336" cy="0"/>
              </a:xfrm>
              <a:prstGeom prst="straightConnector1">
                <a:avLst/>
              </a:prstGeom>
              <a:noFill/>
              <a:ln cap="flat" cmpd="sng" w="28575">
                <a:solidFill>
                  <a:srgbClr val="000000"/>
                </a:solidFill>
                <a:prstDash val="solid"/>
                <a:round/>
                <a:headEnd len="sm" w="sm" type="none"/>
                <a:tailEnd len="sm" w="sm" type="none"/>
              </a:ln>
            </p:spPr>
          </p:cxnSp>
          <p:cxnSp>
            <p:nvCxnSpPr>
              <p:cNvPr id="436" name="Google Shape;436;p6"/>
              <p:cNvCxnSpPr/>
              <p:nvPr/>
            </p:nvCxnSpPr>
            <p:spPr>
              <a:xfrm>
                <a:off x="816" y="3120"/>
                <a:ext cx="336" cy="0"/>
              </a:xfrm>
              <a:prstGeom prst="straightConnector1">
                <a:avLst/>
              </a:prstGeom>
              <a:noFill/>
              <a:ln cap="flat" cmpd="sng" w="28575">
                <a:solidFill>
                  <a:srgbClr val="000000"/>
                </a:solidFill>
                <a:prstDash val="solid"/>
                <a:round/>
                <a:headEnd len="sm" w="sm" type="none"/>
                <a:tailEnd len="sm" w="sm" type="none"/>
              </a:ln>
            </p:spPr>
          </p:cxnSp>
          <p:cxnSp>
            <p:nvCxnSpPr>
              <p:cNvPr id="437" name="Google Shape;437;p6"/>
              <p:cNvCxnSpPr/>
              <p:nvPr/>
            </p:nvCxnSpPr>
            <p:spPr>
              <a:xfrm>
                <a:off x="816" y="3168"/>
                <a:ext cx="336" cy="0"/>
              </a:xfrm>
              <a:prstGeom prst="straightConnector1">
                <a:avLst/>
              </a:prstGeom>
              <a:noFill/>
              <a:ln cap="flat" cmpd="sng" w="28575">
                <a:solidFill>
                  <a:srgbClr val="000000"/>
                </a:solidFill>
                <a:prstDash val="solid"/>
                <a:round/>
                <a:headEnd len="sm" w="sm" type="none"/>
                <a:tailEnd len="sm" w="sm" type="none"/>
              </a:ln>
            </p:spPr>
          </p:cxnSp>
          <p:cxnSp>
            <p:nvCxnSpPr>
              <p:cNvPr id="438" name="Google Shape;438;p6"/>
              <p:cNvCxnSpPr/>
              <p:nvPr/>
            </p:nvCxnSpPr>
            <p:spPr>
              <a:xfrm>
                <a:off x="816" y="2688"/>
                <a:ext cx="336" cy="0"/>
              </a:xfrm>
              <a:prstGeom prst="straightConnector1">
                <a:avLst/>
              </a:prstGeom>
              <a:noFill/>
              <a:ln cap="flat" cmpd="sng" w="28575">
                <a:solidFill>
                  <a:srgbClr val="000000"/>
                </a:solidFill>
                <a:prstDash val="solid"/>
                <a:round/>
                <a:headEnd len="sm" w="sm" type="none"/>
                <a:tailEnd len="sm" w="sm" type="none"/>
              </a:ln>
            </p:spPr>
          </p:cxnSp>
          <p:cxnSp>
            <p:nvCxnSpPr>
              <p:cNvPr id="439" name="Google Shape;439;p6"/>
              <p:cNvCxnSpPr/>
              <p:nvPr/>
            </p:nvCxnSpPr>
            <p:spPr>
              <a:xfrm>
                <a:off x="816" y="2592"/>
                <a:ext cx="209" cy="0"/>
              </a:xfrm>
              <a:prstGeom prst="straightConnector1">
                <a:avLst/>
              </a:prstGeom>
              <a:noFill/>
              <a:ln cap="flat" cmpd="sng" w="28575">
                <a:solidFill>
                  <a:srgbClr val="000000"/>
                </a:solidFill>
                <a:prstDash val="solid"/>
                <a:round/>
                <a:headEnd len="sm" w="sm" type="none"/>
                <a:tailEnd len="sm" w="sm" type="none"/>
              </a:ln>
            </p:spPr>
          </p:cxnSp>
          <p:cxnSp>
            <p:nvCxnSpPr>
              <p:cNvPr id="440" name="Google Shape;440;p6"/>
              <p:cNvCxnSpPr/>
              <p:nvPr/>
            </p:nvCxnSpPr>
            <p:spPr>
              <a:xfrm>
                <a:off x="816" y="2544"/>
                <a:ext cx="209" cy="0"/>
              </a:xfrm>
              <a:prstGeom prst="straightConnector1">
                <a:avLst/>
              </a:prstGeom>
              <a:noFill/>
              <a:ln cap="flat" cmpd="sng" w="28575">
                <a:solidFill>
                  <a:srgbClr val="000000"/>
                </a:solidFill>
                <a:prstDash val="solid"/>
                <a:round/>
                <a:headEnd len="sm" w="sm" type="none"/>
                <a:tailEnd len="sm" w="sm" type="none"/>
              </a:ln>
            </p:spPr>
          </p:cxnSp>
          <p:cxnSp>
            <p:nvCxnSpPr>
              <p:cNvPr id="441" name="Google Shape;441;p6"/>
              <p:cNvCxnSpPr/>
              <p:nvPr/>
            </p:nvCxnSpPr>
            <p:spPr>
              <a:xfrm>
                <a:off x="816" y="2640"/>
                <a:ext cx="209" cy="0"/>
              </a:xfrm>
              <a:prstGeom prst="straightConnector1">
                <a:avLst/>
              </a:prstGeom>
              <a:noFill/>
              <a:ln cap="flat" cmpd="sng" w="28575">
                <a:solidFill>
                  <a:srgbClr val="000000"/>
                </a:solidFill>
                <a:prstDash val="solid"/>
                <a:round/>
                <a:headEnd len="sm" w="sm" type="none"/>
                <a:tailEnd len="sm" w="sm" type="none"/>
              </a:ln>
            </p:spPr>
          </p:cxnSp>
        </p:grpSp>
        <p:cxnSp>
          <p:nvCxnSpPr>
            <p:cNvPr id="442" name="Google Shape;442;p6"/>
            <p:cNvCxnSpPr/>
            <p:nvPr/>
          </p:nvCxnSpPr>
          <p:spPr>
            <a:xfrm rot="10800000">
              <a:off x="1800" y="1592"/>
              <a:ext cx="968" cy="0"/>
            </a:xfrm>
            <a:prstGeom prst="straightConnector1">
              <a:avLst/>
            </a:prstGeom>
            <a:noFill/>
            <a:ln cap="flat" cmpd="sng" w="28575">
              <a:solidFill>
                <a:srgbClr val="000000"/>
              </a:solidFill>
              <a:prstDash val="solid"/>
              <a:round/>
              <a:headEnd len="sm" w="sm" type="none"/>
              <a:tailEnd len="lg" w="lg" type="triangle"/>
            </a:ln>
          </p:spPr>
        </p:cxnSp>
        <p:cxnSp>
          <p:nvCxnSpPr>
            <p:cNvPr id="443" name="Google Shape;443;p6"/>
            <p:cNvCxnSpPr/>
            <p:nvPr/>
          </p:nvCxnSpPr>
          <p:spPr>
            <a:xfrm flipH="1" rot="10800000">
              <a:off x="3152" y="1728"/>
              <a:ext cx="784" cy="200"/>
            </a:xfrm>
            <a:prstGeom prst="straightConnector1">
              <a:avLst/>
            </a:prstGeom>
            <a:noFill/>
            <a:ln cap="flat" cmpd="sng" w="28575">
              <a:solidFill>
                <a:srgbClr val="000000"/>
              </a:solidFill>
              <a:prstDash val="solid"/>
              <a:round/>
              <a:headEnd len="sm" w="sm" type="none"/>
              <a:tailEnd len="lg" w="lg" type="triangle"/>
            </a:ln>
          </p:spPr>
        </p:cxnSp>
        <p:cxnSp>
          <p:nvCxnSpPr>
            <p:cNvPr id="444" name="Google Shape;444;p6"/>
            <p:cNvCxnSpPr/>
            <p:nvPr/>
          </p:nvCxnSpPr>
          <p:spPr>
            <a:xfrm>
              <a:off x="2920" y="2264"/>
              <a:ext cx="0" cy="752"/>
            </a:xfrm>
            <a:prstGeom prst="straightConnector1">
              <a:avLst/>
            </a:prstGeom>
            <a:noFill/>
            <a:ln cap="flat" cmpd="sng" w="28575">
              <a:solidFill>
                <a:srgbClr val="000000"/>
              </a:solidFill>
              <a:prstDash val="solid"/>
              <a:round/>
              <a:headEnd len="sm" w="sm" type="none"/>
              <a:tailEnd len="lg" w="lg" type="triangle"/>
            </a:ln>
          </p:spPr>
        </p:cxnSp>
        <p:cxnSp>
          <p:nvCxnSpPr>
            <p:cNvPr id="445" name="Google Shape;445;p6"/>
            <p:cNvCxnSpPr/>
            <p:nvPr/>
          </p:nvCxnSpPr>
          <p:spPr>
            <a:xfrm>
              <a:off x="3152" y="2120"/>
              <a:ext cx="728" cy="440"/>
            </a:xfrm>
            <a:prstGeom prst="straightConnector1">
              <a:avLst/>
            </a:prstGeom>
            <a:noFill/>
            <a:ln cap="flat" cmpd="sng" w="28575">
              <a:solidFill>
                <a:srgbClr val="000000"/>
              </a:solidFill>
              <a:prstDash val="solid"/>
              <a:round/>
              <a:headEnd len="sm" w="sm" type="none"/>
              <a:tailEnd len="lg" w="lg" type="triangle"/>
            </a:ln>
          </p:spPr>
        </p:cxnSp>
        <p:cxnSp>
          <p:nvCxnSpPr>
            <p:cNvPr id="446" name="Google Shape;446;p6"/>
            <p:cNvCxnSpPr/>
            <p:nvPr/>
          </p:nvCxnSpPr>
          <p:spPr>
            <a:xfrm flipH="1">
              <a:off x="1776" y="1752"/>
              <a:ext cx="944" cy="872"/>
            </a:xfrm>
            <a:prstGeom prst="straightConnector1">
              <a:avLst/>
            </a:prstGeom>
            <a:noFill/>
            <a:ln cap="flat" cmpd="sng" w="28575">
              <a:solidFill>
                <a:srgbClr val="000000"/>
              </a:solidFill>
              <a:prstDash val="solid"/>
              <a:round/>
              <a:headEnd len="sm" w="sm" type="none"/>
              <a:tailEnd len="lg" w="lg" type="triangle"/>
            </a:ln>
          </p:spPr>
        </p:cxnSp>
        <p:sp>
          <p:nvSpPr>
            <p:cNvPr id="447" name="Google Shape;447;p6"/>
            <p:cNvSpPr/>
            <p:nvPr/>
          </p:nvSpPr>
          <p:spPr>
            <a:xfrm>
              <a:off x="2704" y="1544"/>
              <a:ext cx="298" cy="99"/>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8" name="Google Shape;448;p6"/>
            <p:cNvSpPr/>
            <p:nvPr/>
          </p:nvSpPr>
          <p:spPr>
            <a:xfrm>
              <a:off x="2704" y="1688"/>
              <a:ext cx="480" cy="96"/>
            </a:xfrm>
            <a:prstGeom prst="rect">
              <a:avLst/>
            </a:prstGeom>
            <a:solidFill>
              <a:srgbClr val="66FF33"/>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49" name="Google Shape;449;p6"/>
            <p:cNvSpPr/>
            <p:nvPr/>
          </p:nvSpPr>
          <p:spPr>
            <a:xfrm>
              <a:off x="2704" y="1880"/>
              <a:ext cx="480" cy="105"/>
            </a:xfrm>
            <a:prstGeom prst="rect">
              <a:avLst/>
            </a:prstGeom>
            <a:solidFill>
              <a:schemeClr val="accent2"/>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0" name="Google Shape;450;p6"/>
            <p:cNvSpPr/>
            <p:nvPr/>
          </p:nvSpPr>
          <p:spPr>
            <a:xfrm>
              <a:off x="2704" y="2072"/>
              <a:ext cx="480" cy="96"/>
            </a:xfrm>
            <a:prstGeom prst="rect">
              <a:avLst/>
            </a:prstGeom>
            <a:solidFill>
              <a:schemeClr val="dk2"/>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451" name="Google Shape;451;p6"/>
            <p:cNvSpPr/>
            <p:nvPr/>
          </p:nvSpPr>
          <p:spPr>
            <a:xfrm>
              <a:off x="2704" y="2264"/>
              <a:ext cx="480" cy="96"/>
            </a:xfrm>
            <a:prstGeom prst="rect">
              <a:avLst/>
            </a:prstGeom>
            <a:solidFill>
              <a:srgbClr val="993366"/>
            </a:solid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452" name="Google Shape;452;p6"/>
            <p:cNvGrpSpPr/>
            <p:nvPr/>
          </p:nvGrpSpPr>
          <p:grpSpPr>
            <a:xfrm>
              <a:off x="4056" y="1336"/>
              <a:ext cx="608" cy="624"/>
              <a:chOff x="4192" y="2208"/>
              <a:chExt cx="464" cy="473"/>
            </a:xfrm>
          </p:grpSpPr>
          <p:sp>
            <p:nvSpPr>
              <p:cNvPr id="453" name="Google Shape;453;p6"/>
              <p:cNvSpPr/>
              <p:nvPr/>
            </p:nvSpPr>
            <p:spPr>
              <a:xfrm>
                <a:off x="4192" y="2208"/>
                <a:ext cx="458" cy="466"/>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4" name="Google Shape;454;p6"/>
              <p:cNvCxnSpPr/>
              <p:nvPr/>
            </p:nvCxnSpPr>
            <p:spPr>
              <a:xfrm>
                <a:off x="4198" y="2680"/>
                <a:ext cx="458" cy="1"/>
              </a:xfrm>
              <a:prstGeom prst="straightConnector1">
                <a:avLst/>
              </a:prstGeom>
              <a:noFill/>
              <a:ln cap="flat" cmpd="sng" w="28575">
                <a:solidFill>
                  <a:srgbClr val="000000"/>
                </a:solidFill>
                <a:prstDash val="solid"/>
                <a:round/>
                <a:headEnd len="med" w="med" type="none"/>
                <a:tailEnd len="med" w="med" type="none"/>
              </a:ln>
            </p:spPr>
          </p:cxnSp>
        </p:grpSp>
        <p:grpSp>
          <p:nvGrpSpPr>
            <p:cNvPr id="455" name="Google Shape;455;p6"/>
            <p:cNvGrpSpPr/>
            <p:nvPr/>
          </p:nvGrpSpPr>
          <p:grpSpPr>
            <a:xfrm>
              <a:off x="1176" y="2489"/>
              <a:ext cx="621" cy="639"/>
              <a:chOff x="1019" y="2289"/>
              <a:chExt cx="418" cy="444"/>
            </a:xfrm>
          </p:grpSpPr>
          <p:sp>
            <p:nvSpPr>
              <p:cNvPr id="456" name="Google Shape;456;p6"/>
              <p:cNvSpPr/>
              <p:nvPr/>
            </p:nvSpPr>
            <p:spPr>
              <a:xfrm>
                <a:off x="1019" y="2323"/>
                <a:ext cx="418" cy="410"/>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57" name="Google Shape;457;p6"/>
              <p:cNvCxnSpPr/>
              <p:nvPr/>
            </p:nvCxnSpPr>
            <p:spPr>
              <a:xfrm flipH="1">
                <a:off x="1178" y="2289"/>
                <a:ext cx="92" cy="42"/>
              </a:xfrm>
              <a:prstGeom prst="straightConnector1">
                <a:avLst/>
              </a:prstGeom>
              <a:noFill/>
              <a:ln cap="flat" cmpd="sng" w="28575">
                <a:solidFill>
                  <a:srgbClr val="000000"/>
                </a:solidFill>
                <a:prstDash val="solid"/>
                <a:round/>
                <a:headEnd len="med" w="med" type="none"/>
                <a:tailEnd len="med" w="med" type="none"/>
              </a:ln>
            </p:spPr>
          </p:cxnSp>
          <p:cxnSp>
            <p:nvCxnSpPr>
              <p:cNvPr id="458" name="Google Shape;458;p6"/>
              <p:cNvCxnSpPr/>
              <p:nvPr/>
            </p:nvCxnSpPr>
            <p:spPr>
              <a:xfrm rot="10800000">
                <a:off x="1178" y="2331"/>
                <a:ext cx="92" cy="33"/>
              </a:xfrm>
              <a:prstGeom prst="straightConnector1">
                <a:avLst/>
              </a:prstGeom>
              <a:noFill/>
              <a:ln cap="flat" cmpd="sng" w="28575">
                <a:solidFill>
                  <a:srgbClr val="000000"/>
                </a:solidFill>
                <a:prstDash val="solid"/>
                <a:round/>
                <a:headEnd len="med" w="med" type="none"/>
                <a:tailEnd len="med" w="med" type="none"/>
              </a:ln>
            </p:spPr>
          </p:cxnSp>
        </p:grpSp>
        <p:grpSp>
          <p:nvGrpSpPr>
            <p:cNvPr id="459" name="Google Shape;459;p6"/>
            <p:cNvGrpSpPr/>
            <p:nvPr/>
          </p:nvGrpSpPr>
          <p:grpSpPr>
            <a:xfrm>
              <a:off x="913" y="1360"/>
              <a:ext cx="839" cy="582"/>
              <a:chOff x="753" y="1578"/>
              <a:chExt cx="518" cy="347"/>
            </a:xfrm>
          </p:grpSpPr>
          <p:sp>
            <p:nvSpPr>
              <p:cNvPr id="460" name="Google Shape;460;p6"/>
              <p:cNvSpPr/>
              <p:nvPr/>
            </p:nvSpPr>
            <p:spPr>
              <a:xfrm>
                <a:off x="923" y="1578"/>
                <a:ext cx="348" cy="347"/>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61" name="Google Shape;461;p6"/>
              <p:cNvCxnSpPr/>
              <p:nvPr/>
            </p:nvCxnSpPr>
            <p:spPr>
              <a:xfrm>
                <a:off x="753" y="1663"/>
                <a:ext cx="1" cy="177"/>
              </a:xfrm>
              <a:prstGeom prst="straightConnector1">
                <a:avLst/>
              </a:prstGeom>
              <a:noFill/>
              <a:ln cap="flat" cmpd="sng" w="28575">
                <a:solidFill>
                  <a:srgbClr val="000000"/>
                </a:solidFill>
                <a:prstDash val="solid"/>
                <a:round/>
                <a:headEnd len="med" w="med" type="none"/>
                <a:tailEnd len="med" w="med" type="none"/>
              </a:ln>
            </p:spPr>
          </p:cxnSp>
          <p:cxnSp>
            <p:nvCxnSpPr>
              <p:cNvPr id="462" name="Google Shape;462;p6"/>
              <p:cNvCxnSpPr/>
              <p:nvPr/>
            </p:nvCxnSpPr>
            <p:spPr>
              <a:xfrm>
                <a:off x="753" y="1748"/>
                <a:ext cx="170" cy="1"/>
              </a:xfrm>
              <a:prstGeom prst="straightConnector1">
                <a:avLst/>
              </a:prstGeom>
              <a:noFill/>
              <a:ln cap="flat" cmpd="sng" w="28575">
                <a:solidFill>
                  <a:srgbClr val="000000"/>
                </a:solidFill>
                <a:prstDash val="solid"/>
                <a:round/>
                <a:headEnd len="med" w="med" type="none"/>
                <a:tailEnd len="med" w="med" type="none"/>
              </a:ln>
            </p:spPr>
          </p:cxnSp>
        </p:grpSp>
        <p:grpSp>
          <p:nvGrpSpPr>
            <p:cNvPr id="463" name="Google Shape;463;p6"/>
            <p:cNvGrpSpPr/>
            <p:nvPr/>
          </p:nvGrpSpPr>
          <p:grpSpPr>
            <a:xfrm>
              <a:off x="2607" y="3264"/>
              <a:ext cx="608" cy="624"/>
              <a:chOff x="4192" y="2208"/>
              <a:chExt cx="464" cy="473"/>
            </a:xfrm>
          </p:grpSpPr>
          <p:sp>
            <p:nvSpPr>
              <p:cNvPr id="464" name="Google Shape;464;p6"/>
              <p:cNvSpPr/>
              <p:nvPr/>
            </p:nvSpPr>
            <p:spPr>
              <a:xfrm>
                <a:off x="4192" y="2208"/>
                <a:ext cx="458" cy="466"/>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65" name="Google Shape;465;p6"/>
              <p:cNvCxnSpPr/>
              <p:nvPr/>
            </p:nvCxnSpPr>
            <p:spPr>
              <a:xfrm>
                <a:off x="4198" y="2680"/>
                <a:ext cx="458" cy="1"/>
              </a:xfrm>
              <a:prstGeom prst="straightConnector1">
                <a:avLst/>
              </a:prstGeom>
              <a:noFill/>
              <a:ln cap="flat" cmpd="sng" w="28575">
                <a:solidFill>
                  <a:srgbClr val="000000"/>
                </a:solidFill>
                <a:prstDash val="solid"/>
                <a:round/>
                <a:headEnd len="med" w="med" type="none"/>
                <a:tailEnd len="med" w="med" type="none"/>
              </a:ln>
            </p:spPr>
          </p:cxnSp>
        </p:grpSp>
        <p:grpSp>
          <p:nvGrpSpPr>
            <p:cNvPr id="466" name="Google Shape;466;p6"/>
            <p:cNvGrpSpPr/>
            <p:nvPr/>
          </p:nvGrpSpPr>
          <p:grpSpPr>
            <a:xfrm>
              <a:off x="3793" y="2512"/>
              <a:ext cx="839" cy="582"/>
              <a:chOff x="753" y="1578"/>
              <a:chExt cx="518" cy="347"/>
            </a:xfrm>
          </p:grpSpPr>
          <p:sp>
            <p:nvSpPr>
              <p:cNvPr id="467" name="Google Shape;467;p6"/>
              <p:cNvSpPr/>
              <p:nvPr/>
            </p:nvSpPr>
            <p:spPr>
              <a:xfrm>
                <a:off x="923" y="1578"/>
                <a:ext cx="348" cy="347"/>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468" name="Google Shape;468;p6"/>
              <p:cNvCxnSpPr/>
              <p:nvPr/>
            </p:nvCxnSpPr>
            <p:spPr>
              <a:xfrm>
                <a:off x="753" y="1663"/>
                <a:ext cx="1" cy="177"/>
              </a:xfrm>
              <a:prstGeom prst="straightConnector1">
                <a:avLst/>
              </a:prstGeom>
              <a:noFill/>
              <a:ln cap="flat" cmpd="sng" w="28575">
                <a:solidFill>
                  <a:srgbClr val="000000"/>
                </a:solidFill>
                <a:prstDash val="solid"/>
                <a:round/>
                <a:headEnd len="med" w="med" type="none"/>
                <a:tailEnd len="med" w="med" type="none"/>
              </a:ln>
            </p:spPr>
          </p:cxnSp>
          <p:cxnSp>
            <p:nvCxnSpPr>
              <p:cNvPr id="469" name="Google Shape;469;p6"/>
              <p:cNvCxnSpPr/>
              <p:nvPr/>
            </p:nvCxnSpPr>
            <p:spPr>
              <a:xfrm>
                <a:off x="753" y="1748"/>
                <a:ext cx="170" cy="1"/>
              </a:xfrm>
              <a:prstGeom prst="straightConnector1">
                <a:avLst/>
              </a:prstGeom>
              <a:noFill/>
              <a:ln cap="flat" cmpd="sng" w="28575">
                <a:solidFill>
                  <a:srgbClr val="000000"/>
                </a:solidFill>
                <a:prstDash val="solid"/>
                <a:round/>
                <a:headEnd len="med" w="med" type="none"/>
                <a:tailEnd len="med" w="med" type="none"/>
              </a:ln>
            </p:spPr>
          </p:cxnSp>
        </p:grpSp>
      </p:grpSp>
      <p:sp>
        <p:nvSpPr>
          <p:cNvPr id="470" name="Google Shape;470;p6"/>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
          <p:cNvSpPr txBox="1"/>
          <p:nvPr/>
        </p:nvSpPr>
        <p:spPr>
          <a:xfrm>
            <a:off x="2098675" y="4360069"/>
            <a:ext cx="51816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0000"/>
                </a:solidFill>
                <a:latin typeface="Arial"/>
                <a:ea typeface="Arial"/>
                <a:cs typeface="Arial"/>
                <a:sym typeface="Arial"/>
              </a:rPr>
              <a:t>Environment dependent.</a:t>
            </a:r>
            <a:endParaRPr/>
          </a:p>
        </p:txBody>
      </p:sp>
      <p:sp>
        <p:nvSpPr>
          <p:cNvPr id="479" name="Google Shape;479;p7"/>
          <p:cNvSpPr txBox="1"/>
          <p:nvPr/>
        </p:nvSpPr>
        <p:spPr>
          <a:xfrm>
            <a:off x="1643063" y="3761185"/>
            <a:ext cx="3027300" cy="3861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1800">
                <a:solidFill>
                  <a:srgbClr val="000000"/>
                </a:solidFill>
                <a:latin typeface="Arial"/>
                <a:ea typeface="Arial"/>
                <a:cs typeface="Arial"/>
                <a:sym typeface="Arial"/>
              </a:rPr>
              <a:t>Analysis class stereotype</a:t>
            </a:r>
            <a:endParaRPr/>
          </a:p>
        </p:txBody>
      </p:sp>
      <p:cxnSp>
        <p:nvCxnSpPr>
          <p:cNvPr id="480" name="Google Shape;480;p7"/>
          <p:cNvCxnSpPr/>
          <p:nvPr/>
        </p:nvCxnSpPr>
        <p:spPr>
          <a:xfrm>
            <a:off x="4765675" y="3924300"/>
            <a:ext cx="1143000" cy="0"/>
          </a:xfrm>
          <a:prstGeom prst="straightConnector1">
            <a:avLst/>
          </a:prstGeom>
          <a:noFill/>
          <a:ln cap="flat" cmpd="sng" w="57150">
            <a:solidFill>
              <a:srgbClr val="000000"/>
            </a:solidFill>
            <a:prstDash val="solid"/>
            <a:round/>
            <a:headEnd len="med" w="med" type="none"/>
            <a:tailEnd len="med" w="med" type="triangle"/>
          </a:ln>
        </p:spPr>
      </p:cxnSp>
      <p:sp>
        <p:nvSpPr>
          <p:cNvPr id="481" name="Google Shape;481;p7"/>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What Is a Boundary Class?</a:t>
            </a:r>
            <a:endParaRPr/>
          </a:p>
        </p:txBody>
      </p:sp>
      <p:sp>
        <p:nvSpPr>
          <p:cNvPr id="482" name="Google Shape;482;p7"/>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Intermediates between the interface and something outside the system</a:t>
            </a:r>
            <a:endParaRPr/>
          </a:p>
          <a:p>
            <a:pPr indent="-342900" lvl="0" marL="342900" rtl="0" algn="l">
              <a:spcBef>
                <a:spcPts val="400"/>
              </a:spcBef>
              <a:spcAft>
                <a:spcPts val="0"/>
              </a:spcAft>
              <a:buClr>
                <a:srgbClr val="000000"/>
              </a:buClr>
              <a:buSzPts val="2000"/>
              <a:buChar char="❖"/>
            </a:pPr>
            <a:r>
              <a:rPr lang="en-US" sz="2000"/>
              <a:t>Several Types</a:t>
            </a:r>
            <a:endParaRPr/>
          </a:p>
          <a:p>
            <a:pPr indent="-285750" lvl="1" marL="742950" rtl="0" algn="l">
              <a:spcBef>
                <a:spcPts val="400"/>
              </a:spcBef>
              <a:spcAft>
                <a:spcPts val="0"/>
              </a:spcAft>
              <a:buSzPts val="1000"/>
              <a:buChar char="🞇"/>
            </a:pPr>
            <a:r>
              <a:rPr lang="en-US" sz="2000"/>
              <a:t>User interface classes</a:t>
            </a:r>
            <a:endParaRPr/>
          </a:p>
          <a:p>
            <a:pPr indent="-285750" lvl="1" marL="742950" rtl="0" algn="l">
              <a:spcBef>
                <a:spcPts val="400"/>
              </a:spcBef>
              <a:spcAft>
                <a:spcPts val="0"/>
              </a:spcAft>
              <a:buSzPts val="1000"/>
              <a:buChar char="🞇"/>
            </a:pPr>
            <a:r>
              <a:rPr lang="en-US" sz="2000"/>
              <a:t>System interface classes </a:t>
            </a:r>
            <a:endParaRPr/>
          </a:p>
          <a:p>
            <a:pPr indent="-285750" lvl="1" marL="742950" rtl="0" algn="l">
              <a:spcBef>
                <a:spcPts val="400"/>
              </a:spcBef>
              <a:spcAft>
                <a:spcPts val="0"/>
              </a:spcAft>
              <a:buSzPts val="1000"/>
              <a:buChar char="🞇"/>
            </a:pPr>
            <a:r>
              <a:rPr lang="en-US" sz="2000"/>
              <a:t>Device interface classes</a:t>
            </a:r>
            <a:endParaRPr/>
          </a:p>
          <a:p>
            <a:pPr indent="-342900" lvl="0" marL="342900" rtl="0" algn="l">
              <a:spcBef>
                <a:spcPts val="400"/>
              </a:spcBef>
              <a:spcAft>
                <a:spcPts val="0"/>
              </a:spcAft>
              <a:buClr>
                <a:srgbClr val="000000"/>
              </a:buClr>
              <a:buSzPts val="2000"/>
              <a:buChar char="❖"/>
            </a:pPr>
            <a:r>
              <a:rPr i="1" lang="en-US" sz="2000"/>
              <a:t>One boundary class per actor/use-case pair</a:t>
            </a:r>
            <a:endParaRPr/>
          </a:p>
          <a:p>
            <a:pPr indent="-222250" lvl="1" marL="742950" rtl="0" algn="l">
              <a:spcBef>
                <a:spcPts val="400"/>
              </a:spcBef>
              <a:spcAft>
                <a:spcPts val="0"/>
              </a:spcAft>
              <a:buSzPts val="1000"/>
              <a:buNone/>
            </a:pPr>
            <a:r>
              <a:t/>
            </a:r>
            <a:endParaRPr i="1" sz="2000">
              <a:solidFill>
                <a:srgbClr val="FFFF99"/>
              </a:solidFill>
            </a:endParaRPr>
          </a:p>
        </p:txBody>
      </p:sp>
      <p:grpSp>
        <p:nvGrpSpPr>
          <p:cNvPr id="483" name="Google Shape;483;p7"/>
          <p:cNvGrpSpPr/>
          <p:nvPr/>
        </p:nvGrpSpPr>
        <p:grpSpPr>
          <a:xfrm>
            <a:off x="6253163" y="3526631"/>
            <a:ext cx="1560512" cy="807244"/>
            <a:chOff x="753" y="1578"/>
            <a:chExt cx="518" cy="347"/>
          </a:xfrm>
        </p:grpSpPr>
        <p:sp>
          <p:nvSpPr>
            <p:cNvPr id="484" name="Google Shape;484;p7"/>
            <p:cNvSpPr/>
            <p:nvPr/>
          </p:nvSpPr>
          <p:spPr>
            <a:xfrm>
              <a:off x="923" y="1578"/>
              <a:ext cx="348" cy="347"/>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85" name="Google Shape;485;p7"/>
            <p:cNvCxnSpPr/>
            <p:nvPr/>
          </p:nvCxnSpPr>
          <p:spPr>
            <a:xfrm>
              <a:off x="753" y="1663"/>
              <a:ext cx="1" cy="177"/>
            </a:xfrm>
            <a:prstGeom prst="straightConnector1">
              <a:avLst/>
            </a:prstGeom>
            <a:noFill/>
            <a:ln cap="flat" cmpd="sng" w="38100">
              <a:solidFill>
                <a:srgbClr val="000000"/>
              </a:solidFill>
              <a:prstDash val="solid"/>
              <a:round/>
              <a:headEnd len="med" w="med" type="none"/>
              <a:tailEnd len="med" w="med" type="none"/>
            </a:ln>
          </p:spPr>
        </p:cxnSp>
        <p:cxnSp>
          <p:nvCxnSpPr>
            <p:cNvPr id="486" name="Google Shape;486;p7"/>
            <p:cNvCxnSpPr/>
            <p:nvPr/>
          </p:nvCxnSpPr>
          <p:spPr>
            <a:xfrm>
              <a:off x="753" y="1748"/>
              <a:ext cx="170" cy="1"/>
            </a:xfrm>
            <a:prstGeom prst="straightConnector1">
              <a:avLst/>
            </a:prstGeom>
            <a:noFill/>
            <a:ln cap="flat" cmpd="sng" w="38100">
              <a:solidFill>
                <a:srgbClr val="000000"/>
              </a:solidFill>
              <a:prstDash val="solid"/>
              <a:round/>
              <a:headEnd len="med" w="med" type="none"/>
              <a:tailEnd len="med" w="med" type="none"/>
            </a:ln>
          </p:spPr>
        </p:cxnSp>
      </p:grpSp>
      <p:sp>
        <p:nvSpPr>
          <p:cNvPr id="487" name="Google Shape;487;p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8"/>
          <p:cNvSpPr txBox="1"/>
          <p:nvPr/>
        </p:nvSpPr>
        <p:spPr>
          <a:xfrm>
            <a:off x="393700" y="4335066"/>
            <a:ext cx="8382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0000"/>
                </a:solidFill>
                <a:latin typeface="Arial"/>
                <a:ea typeface="Arial"/>
                <a:cs typeface="Arial"/>
                <a:sym typeface="Arial"/>
              </a:rPr>
              <a:t>Model interaction between the system and its environment.</a:t>
            </a:r>
            <a:endParaRPr/>
          </a:p>
        </p:txBody>
      </p:sp>
      <p:sp>
        <p:nvSpPr>
          <p:cNvPr id="495" name="Google Shape;495;p8"/>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The Role of a Boundary Class</a:t>
            </a:r>
            <a:endParaRPr/>
          </a:p>
        </p:txBody>
      </p:sp>
      <p:grpSp>
        <p:nvGrpSpPr>
          <p:cNvPr id="496" name="Google Shape;496;p8"/>
          <p:cNvGrpSpPr/>
          <p:nvPr/>
        </p:nvGrpSpPr>
        <p:grpSpPr>
          <a:xfrm>
            <a:off x="725488" y="1396604"/>
            <a:ext cx="528637" cy="539353"/>
            <a:chOff x="7654" y="3380"/>
            <a:chExt cx="554" cy="754"/>
          </a:xfrm>
        </p:grpSpPr>
        <p:sp>
          <p:nvSpPr>
            <p:cNvPr id="497" name="Google Shape;497;p8"/>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98" name="Google Shape;498;p8"/>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499" name="Google Shape;499;p8"/>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500" name="Google Shape;500;p8"/>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01" name="Google Shape;501;p8"/>
          <p:cNvSpPr txBox="1"/>
          <p:nvPr/>
        </p:nvSpPr>
        <p:spPr>
          <a:xfrm>
            <a:off x="628650" y="1949050"/>
            <a:ext cx="9399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Actor 1</a:t>
            </a:r>
            <a:endParaRPr/>
          </a:p>
        </p:txBody>
      </p:sp>
      <p:grpSp>
        <p:nvGrpSpPr>
          <p:cNvPr id="502" name="Google Shape;502;p8"/>
          <p:cNvGrpSpPr/>
          <p:nvPr/>
        </p:nvGrpSpPr>
        <p:grpSpPr>
          <a:xfrm>
            <a:off x="7974013" y="1479947"/>
            <a:ext cx="528637" cy="539353"/>
            <a:chOff x="7654" y="3380"/>
            <a:chExt cx="554" cy="754"/>
          </a:xfrm>
        </p:grpSpPr>
        <p:sp>
          <p:nvSpPr>
            <p:cNvPr id="503" name="Google Shape;503;p8"/>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04" name="Google Shape;504;p8"/>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505" name="Google Shape;505;p8"/>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506" name="Google Shape;506;p8"/>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507" name="Google Shape;507;p8"/>
          <p:cNvCxnSpPr/>
          <p:nvPr/>
        </p:nvCxnSpPr>
        <p:spPr>
          <a:xfrm>
            <a:off x="7572375" y="1820466"/>
            <a:ext cx="401700" cy="4800"/>
          </a:xfrm>
          <a:prstGeom prst="straightConnector1">
            <a:avLst/>
          </a:prstGeom>
          <a:noFill/>
          <a:ln cap="flat" cmpd="sng" w="28575">
            <a:solidFill>
              <a:srgbClr val="000000"/>
            </a:solidFill>
            <a:prstDash val="solid"/>
            <a:round/>
            <a:headEnd len="sm" w="sm" type="none"/>
            <a:tailEnd len="sm" w="sm" type="none"/>
          </a:ln>
        </p:spPr>
      </p:cxnSp>
      <p:cxnSp>
        <p:nvCxnSpPr>
          <p:cNvPr id="508" name="Google Shape;508;p8"/>
          <p:cNvCxnSpPr/>
          <p:nvPr/>
        </p:nvCxnSpPr>
        <p:spPr>
          <a:xfrm>
            <a:off x="3705225" y="1781175"/>
            <a:ext cx="250800" cy="1200"/>
          </a:xfrm>
          <a:prstGeom prst="straightConnector1">
            <a:avLst/>
          </a:prstGeom>
          <a:noFill/>
          <a:ln cap="flat" cmpd="sng" w="28575">
            <a:solidFill>
              <a:srgbClr val="000000"/>
            </a:solidFill>
            <a:prstDash val="solid"/>
            <a:round/>
            <a:headEnd len="sm" w="sm" type="none"/>
            <a:tailEnd len="sm" w="sm" type="none"/>
          </a:ln>
        </p:spPr>
      </p:cxnSp>
      <p:cxnSp>
        <p:nvCxnSpPr>
          <p:cNvPr id="509" name="Google Shape;509;p8"/>
          <p:cNvCxnSpPr/>
          <p:nvPr/>
        </p:nvCxnSpPr>
        <p:spPr>
          <a:xfrm flipH="1" rot="10800000">
            <a:off x="3700463" y="2145506"/>
            <a:ext cx="609600" cy="1143000"/>
          </a:xfrm>
          <a:prstGeom prst="straightConnector1">
            <a:avLst/>
          </a:prstGeom>
          <a:noFill/>
          <a:ln cap="flat" cmpd="sng" w="28575">
            <a:solidFill>
              <a:srgbClr val="000000"/>
            </a:solidFill>
            <a:prstDash val="solid"/>
            <a:round/>
            <a:headEnd len="sm" w="sm" type="none"/>
            <a:tailEnd len="sm" w="sm" type="none"/>
          </a:ln>
        </p:spPr>
      </p:cxnSp>
      <p:cxnSp>
        <p:nvCxnSpPr>
          <p:cNvPr id="510" name="Google Shape;510;p8"/>
          <p:cNvCxnSpPr/>
          <p:nvPr/>
        </p:nvCxnSpPr>
        <p:spPr>
          <a:xfrm>
            <a:off x="5232400" y="2146697"/>
            <a:ext cx="754200" cy="1141800"/>
          </a:xfrm>
          <a:prstGeom prst="straightConnector1">
            <a:avLst/>
          </a:prstGeom>
          <a:noFill/>
          <a:ln cap="flat" cmpd="sng" w="28575">
            <a:solidFill>
              <a:srgbClr val="000000"/>
            </a:solidFill>
            <a:prstDash val="solid"/>
            <a:round/>
            <a:headEnd len="sm" w="sm" type="none"/>
            <a:tailEnd len="sm" w="sm" type="none"/>
          </a:ln>
        </p:spPr>
      </p:cxnSp>
      <p:cxnSp>
        <p:nvCxnSpPr>
          <p:cNvPr id="511" name="Google Shape;511;p8"/>
          <p:cNvCxnSpPr/>
          <p:nvPr/>
        </p:nvCxnSpPr>
        <p:spPr>
          <a:xfrm rot="10800000">
            <a:off x="4599138" y="3711179"/>
            <a:ext cx="704700" cy="0"/>
          </a:xfrm>
          <a:prstGeom prst="straightConnector1">
            <a:avLst/>
          </a:prstGeom>
          <a:noFill/>
          <a:ln cap="flat" cmpd="sng" w="28575">
            <a:solidFill>
              <a:srgbClr val="000000"/>
            </a:solidFill>
            <a:prstDash val="solid"/>
            <a:round/>
            <a:headEnd len="sm" w="sm" type="none"/>
            <a:tailEnd len="sm" w="sm" type="none"/>
          </a:ln>
        </p:spPr>
      </p:cxnSp>
      <p:sp>
        <p:nvSpPr>
          <p:cNvPr id="512" name="Google Shape;512;p8"/>
          <p:cNvSpPr/>
          <p:nvPr/>
        </p:nvSpPr>
        <p:spPr>
          <a:xfrm>
            <a:off x="1831975" y="1438275"/>
            <a:ext cx="1803300" cy="1107300"/>
          </a:xfrm>
          <a:prstGeom prst="roundRect">
            <a:avLst>
              <a:gd fmla="val 16667" name="adj"/>
            </a:avLst>
          </a:prstGeom>
          <a:noFill/>
          <a:ln cap="flat" cmpd="sng" w="28575">
            <a:solidFill>
              <a:srgbClr val="000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3" name="Google Shape;513;p8"/>
          <p:cNvSpPr/>
          <p:nvPr/>
        </p:nvSpPr>
        <p:spPr>
          <a:xfrm>
            <a:off x="5765800" y="1485900"/>
            <a:ext cx="1725600" cy="1086000"/>
          </a:xfrm>
          <a:prstGeom prst="roundRect">
            <a:avLst>
              <a:gd fmla="val 16667" name="adj"/>
            </a:avLst>
          </a:prstGeom>
          <a:noFill/>
          <a:ln cap="flat" cmpd="sng" w="28575">
            <a:solidFill>
              <a:srgbClr val="000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14" name="Google Shape;514;p8"/>
          <p:cNvGrpSpPr/>
          <p:nvPr/>
        </p:nvGrpSpPr>
        <p:grpSpPr>
          <a:xfrm>
            <a:off x="2006294" y="1741885"/>
            <a:ext cx="1497547" cy="589359"/>
            <a:chOff x="136" y="1440"/>
            <a:chExt cx="900" cy="510"/>
          </a:xfrm>
        </p:grpSpPr>
        <p:grpSp>
          <p:nvGrpSpPr>
            <p:cNvPr id="515" name="Google Shape;515;p8"/>
            <p:cNvGrpSpPr/>
            <p:nvPr/>
          </p:nvGrpSpPr>
          <p:grpSpPr>
            <a:xfrm>
              <a:off x="144" y="1440"/>
              <a:ext cx="881" cy="510"/>
              <a:chOff x="144" y="1440"/>
              <a:chExt cx="881" cy="510"/>
            </a:xfrm>
          </p:grpSpPr>
          <p:sp>
            <p:nvSpPr>
              <p:cNvPr id="516" name="Google Shape;516;p8"/>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17" name="Google Shape;517;p8"/>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518" name="Google Shape;518;p8"/>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519" name="Google Shape;519;p8"/>
            <p:cNvSpPr txBox="1"/>
            <p:nvPr/>
          </p:nvSpPr>
          <p:spPr>
            <a:xfrm>
              <a:off x="136" y="1477"/>
              <a:ext cx="900" cy="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&lt;&lt;boundary&gt;&gt;</a:t>
              </a:r>
              <a:endParaRPr/>
            </a:p>
          </p:txBody>
        </p:sp>
      </p:grpSp>
      <p:grpSp>
        <p:nvGrpSpPr>
          <p:cNvPr id="520" name="Google Shape;520;p8"/>
          <p:cNvGrpSpPr/>
          <p:nvPr/>
        </p:nvGrpSpPr>
        <p:grpSpPr>
          <a:xfrm>
            <a:off x="4000500" y="1481138"/>
            <a:ext cx="1555750" cy="757238"/>
            <a:chOff x="2632" y="1244"/>
            <a:chExt cx="980" cy="636"/>
          </a:xfrm>
        </p:grpSpPr>
        <p:grpSp>
          <p:nvGrpSpPr>
            <p:cNvPr id="521" name="Google Shape;521;p8"/>
            <p:cNvGrpSpPr/>
            <p:nvPr/>
          </p:nvGrpSpPr>
          <p:grpSpPr>
            <a:xfrm>
              <a:off x="2632" y="1244"/>
              <a:ext cx="924" cy="495"/>
              <a:chOff x="144" y="1440"/>
              <a:chExt cx="881" cy="510"/>
            </a:xfrm>
          </p:grpSpPr>
          <p:sp>
            <p:nvSpPr>
              <p:cNvPr id="522" name="Google Shape;522;p8"/>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23" name="Google Shape;523;p8"/>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524" name="Google Shape;524;p8"/>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525" name="Google Shape;525;p8"/>
            <p:cNvSpPr txBox="1"/>
            <p:nvPr/>
          </p:nvSpPr>
          <p:spPr>
            <a:xfrm>
              <a:off x="2712" y="1280"/>
              <a:ext cx="900" cy="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&lt;&lt;control&gt;&gt;</a:t>
              </a:r>
              <a:endParaRPr/>
            </a:p>
          </p:txBody>
        </p:sp>
      </p:grpSp>
      <p:grpSp>
        <p:nvGrpSpPr>
          <p:cNvPr id="526" name="Google Shape;526;p8"/>
          <p:cNvGrpSpPr/>
          <p:nvPr/>
        </p:nvGrpSpPr>
        <p:grpSpPr>
          <a:xfrm>
            <a:off x="5863919" y="1762125"/>
            <a:ext cx="1497547" cy="589360"/>
            <a:chOff x="136" y="1440"/>
            <a:chExt cx="900" cy="510"/>
          </a:xfrm>
        </p:grpSpPr>
        <p:grpSp>
          <p:nvGrpSpPr>
            <p:cNvPr id="527" name="Google Shape;527;p8"/>
            <p:cNvGrpSpPr/>
            <p:nvPr/>
          </p:nvGrpSpPr>
          <p:grpSpPr>
            <a:xfrm>
              <a:off x="144" y="1440"/>
              <a:ext cx="881" cy="510"/>
              <a:chOff x="144" y="1440"/>
              <a:chExt cx="881" cy="510"/>
            </a:xfrm>
          </p:grpSpPr>
          <p:sp>
            <p:nvSpPr>
              <p:cNvPr id="528" name="Google Shape;528;p8"/>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29" name="Google Shape;529;p8"/>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530" name="Google Shape;530;p8"/>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531" name="Google Shape;531;p8"/>
            <p:cNvSpPr txBox="1"/>
            <p:nvPr/>
          </p:nvSpPr>
          <p:spPr>
            <a:xfrm>
              <a:off x="136" y="1477"/>
              <a:ext cx="900" cy="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&lt;&lt;boundary&gt;&gt;</a:t>
              </a:r>
              <a:endParaRPr/>
            </a:p>
          </p:txBody>
        </p:sp>
      </p:grpSp>
      <p:cxnSp>
        <p:nvCxnSpPr>
          <p:cNvPr id="532" name="Google Shape;532;p8"/>
          <p:cNvCxnSpPr/>
          <p:nvPr/>
        </p:nvCxnSpPr>
        <p:spPr>
          <a:xfrm flipH="1">
            <a:off x="5532525" y="1799035"/>
            <a:ext cx="192000" cy="1200"/>
          </a:xfrm>
          <a:prstGeom prst="straightConnector1">
            <a:avLst/>
          </a:prstGeom>
          <a:noFill/>
          <a:ln cap="flat" cmpd="sng" w="28575">
            <a:solidFill>
              <a:srgbClr val="000000"/>
            </a:solidFill>
            <a:prstDash val="solid"/>
            <a:round/>
            <a:headEnd len="med" w="med" type="none"/>
            <a:tailEnd len="med" w="med" type="none"/>
          </a:ln>
        </p:spPr>
      </p:cxnSp>
      <p:grpSp>
        <p:nvGrpSpPr>
          <p:cNvPr id="533" name="Google Shape;533;p8"/>
          <p:cNvGrpSpPr/>
          <p:nvPr/>
        </p:nvGrpSpPr>
        <p:grpSpPr>
          <a:xfrm>
            <a:off x="3063875" y="3352800"/>
            <a:ext cx="1625600" cy="589360"/>
            <a:chOff x="2042" y="2816"/>
            <a:chExt cx="1024" cy="495"/>
          </a:xfrm>
        </p:grpSpPr>
        <p:grpSp>
          <p:nvGrpSpPr>
            <p:cNvPr id="534" name="Google Shape;534;p8"/>
            <p:cNvGrpSpPr/>
            <p:nvPr/>
          </p:nvGrpSpPr>
          <p:grpSpPr>
            <a:xfrm>
              <a:off x="2042" y="2816"/>
              <a:ext cx="924" cy="495"/>
              <a:chOff x="144" y="1440"/>
              <a:chExt cx="881" cy="510"/>
            </a:xfrm>
          </p:grpSpPr>
          <p:sp>
            <p:nvSpPr>
              <p:cNvPr id="535" name="Google Shape;535;p8"/>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36" name="Google Shape;536;p8"/>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537" name="Google Shape;537;p8"/>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538" name="Google Shape;538;p8"/>
            <p:cNvSpPr txBox="1"/>
            <p:nvPr/>
          </p:nvSpPr>
          <p:spPr>
            <a:xfrm>
              <a:off x="2166" y="2852"/>
              <a:ext cx="900" cy="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&lt;&lt;entity&gt;&gt;</a:t>
              </a:r>
              <a:endParaRPr/>
            </a:p>
          </p:txBody>
        </p:sp>
      </p:grpSp>
      <p:grpSp>
        <p:nvGrpSpPr>
          <p:cNvPr id="539" name="Google Shape;539;p8"/>
          <p:cNvGrpSpPr/>
          <p:nvPr/>
        </p:nvGrpSpPr>
        <p:grpSpPr>
          <a:xfrm>
            <a:off x="5357813" y="3352800"/>
            <a:ext cx="1625612" cy="589360"/>
            <a:chOff x="3487" y="2816"/>
            <a:chExt cx="1024" cy="495"/>
          </a:xfrm>
        </p:grpSpPr>
        <p:grpSp>
          <p:nvGrpSpPr>
            <p:cNvPr id="540" name="Google Shape;540;p8"/>
            <p:cNvGrpSpPr/>
            <p:nvPr/>
          </p:nvGrpSpPr>
          <p:grpSpPr>
            <a:xfrm>
              <a:off x="3487" y="2816"/>
              <a:ext cx="924" cy="495"/>
              <a:chOff x="144" y="1440"/>
              <a:chExt cx="881" cy="510"/>
            </a:xfrm>
          </p:grpSpPr>
          <p:sp>
            <p:nvSpPr>
              <p:cNvPr id="541" name="Google Shape;541;p8"/>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42" name="Google Shape;542;p8"/>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543" name="Google Shape;543;p8"/>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544" name="Google Shape;544;p8"/>
            <p:cNvSpPr txBox="1"/>
            <p:nvPr/>
          </p:nvSpPr>
          <p:spPr>
            <a:xfrm>
              <a:off x="3611" y="2852"/>
              <a:ext cx="900" cy="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&lt;&lt;entity&gt;&gt;</a:t>
              </a:r>
              <a:endParaRPr/>
            </a:p>
          </p:txBody>
        </p:sp>
      </p:grpSp>
      <p:sp>
        <p:nvSpPr>
          <p:cNvPr id="545" name="Google Shape;545;p8"/>
          <p:cNvSpPr txBox="1"/>
          <p:nvPr/>
        </p:nvSpPr>
        <p:spPr>
          <a:xfrm>
            <a:off x="7778750" y="1983575"/>
            <a:ext cx="1130700" cy="3861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Actor 2</a:t>
            </a:r>
            <a:endParaRPr/>
          </a:p>
        </p:txBody>
      </p:sp>
      <p:cxnSp>
        <p:nvCxnSpPr>
          <p:cNvPr id="546" name="Google Shape;546;p8"/>
          <p:cNvCxnSpPr/>
          <p:nvPr/>
        </p:nvCxnSpPr>
        <p:spPr>
          <a:xfrm>
            <a:off x="1311275" y="1791891"/>
            <a:ext cx="401700" cy="4800"/>
          </a:xfrm>
          <a:prstGeom prst="straightConnector1">
            <a:avLst/>
          </a:prstGeom>
          <a:noFill/>
          <a:ln cap="flat" cmpd="sng" w="28575">
            <a:solidFill>
              <a:srgbClr val="000000"/>
            </a:solidFill>
            <a:prstDash val="solid"/>
            <a:round/>
            <a:headEnd len="sm" w="sm" type="none"/>
            <a:tailEnd len="sm" w="sm" type="none"/>
          </a:ln>
        </p:spPr>
      </p:cxnSp>
      <p:sp>
        <p:nvSpPr>
          <p:cNvPr id="547" name="Google Shape;547;p8"/>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grpSp>
        <p:nvGrpSpPr>
          <p:cNvPr id="554" name="Google Shape;554;p9"/>
          <p:cNvGrpSpPr/>
          <p:nvPr/>
        </p:nvGrpSpPr>
        <p:grpSpPr>
          <a:xfrm>
            <a:off x="1524000" y="1428750"/>
            <a:ext cx="2199821" cy="856804"/>
            <a:chOff x="1824" y="1488"/>
            <a:chExt cx="1200" cy="684"/>
          </a:xfrm>
        </p:grpSpPr>
        <p:grpSp>
          <p:nvGrpSpPr>
            <p:cNvPr id="555" name="Google Shape;555;p9"/>
            <p:cNvGrpSpPr/>
            <p:nvPr/>
          </p:nvGrpSpPr>
          <p:grpSpPr>
            <a:xfrm>
              <a:off x="2336" y="1488"/>
              <a:ext cx="320" cy="403"/>
              <a:chOff x="7654" y="3380"/>
              <a:chExt cx="554" cy="754"/>
            </a:xfrm>
          </p:grpSpPr>
          <p:sp>
            <p:nvSpPr>
              <p:cNvPr id="556" name="Google Shape;556;p9"/>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57" name="Google Shape;557;p9"/>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558" name="Google Shape;558;p9"/>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559" name="Google Shape;559;p9"/>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60" name="Google Shape;560;p9"/>
            <p:cNvSpPr txBox="1"/>
            <p:nvPr/>
          </p:nvSpPr>
          <p:spPr>
            <a:xfrm>
              <a:off x="1824" y="1872"/>
              <a:ext cx="12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500">
                  <a:solidFill>
                    <a:srgbClr val="000000"/>
                  </a:solidFill>
                  <a:latin typeface="Arial"/>
                  <a:ea typeface="Arial"/>
                  <a:cs typeface="Arial"/>
                  <a:sym typeface="Arial"/>
                </a:rPr>
                <a:t>Student</a:t>
              </a:r>
              <a:endParaRPr/>
            </a:p>
          </p:txBody>
        </p:sp>
      </p:grpSp>
      <p:cxnSp>
        <p:nvCxnSpPr>
          <p:cNvPr id="561" name="Google Shape;561;p9"/>
          <p:cNvCxnSpPr/>
          <p:nvPr/>
        </p:nvCxnSpPr>
        <p:spPr>
          <a:xfrm>
            <a:off x="4994275" y="1701404"/>
            <a:ext cx="1343100" cy="0"/>
          </a:xfrm>
          <a:prstGeom prst="straightConnector1">
            <a:avLst/>
          </a:prstGeom>
          <a:noFill/>
          <a:ln cap="flat" cmpd="sng" w="28575">
            <a:solidFill>
              <a:srgbClr val="000000"/>
            </a:solidFill>
            <a:prstDash val="solid"/>
            <a:round/>
            <a:headEnd len="med" w="med" type="none"/>
            <a:tailEnd len="med" w="med" type="none"/>
          </a:ln>
        </p:spPr>
      </p:cxnSp>
      <p:grpSp>
        <p:nvGrpSpPr>
          <p:cNvPr id="562" name="Google Shape;562;p9"/>
          <p:cNvGrpSpPr/>
          <p:nvPr/>
        </p:nvGrpSpPr>
        <p:grpSpPr>
          <a:xfrm>
            <a:off x="5499100" y="1438275"/>
            <a:ext cx="2199821" cy="856804"/>
            <a:chOff x="3840" y="1488"/>
            <a:chExt cx="1200" cy="684"/>
          </a:xfrm>
        </p:grpSpPr>
        <p:grpSp>
          <p:nvGrpSpPr>
            <p:cNvPr id="563" name="Google Shape;563;p9"/>
            <p:cNvGrpSpPr/>
            <p:nvPr/>
          </p:nvGrpSpPr>
          <p:grpSpPr>
            <a:xfrm>
              <a:off x="4272" y="1488"/>
              <a:ext cx="320" cy="403"/>
              <a:chOff x="7654" y="3380"/>
              <a:chExt cx="554" cy="754"/>
            </a:xfrm>
          </p:grpSpPr>
          <p:sp>
            <p:nvSpPr>
              <p:cNvPr id="564" name="Google Shape;564;p9"/>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65" name="Google Shape;565;p9"/>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566" name="Google Shape;566;p9"/>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567" name="Google Shape;567;p9"/>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568" name="Google Shape;568;p9"/>
            <p:cNvSpPr txBox="1"/>
            <p:nvPr/>
          </p:nvSpPr>
          <p:spPr>
            <a:xfrm>
              <a:off x="3840" y="1872"/>
              <a:ext cx="12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500">
                  <a:solidFill>
                    <a:srgbClr val="000000"/>
                  </a:solidFill>
                  <a:latin typeface="Arial"/>
                  <a:ea typeface="Arial"/>
                  <a:cs typeface="Arial"/>
                  <a:sym typeface="Arial"/>
                </a:rPr>
                <a:t>Course Catalog</a:t>
              </a:r>
              <a:endParaRPr/>
            </a:p>
          </p:txBody>
        </p:sp>
      </p:grpSp>
      <p:grpSp>
        <p:nvGrpSpPr>
          <p:cNvPr id="569" name="Google Shape;569;p9"/>
          <p:cNvGrpSpPr/>
          <p:nvPr/>
        </p:nvGrpSpPr>
        <p:grpSpPr>
          <a:xfrm>
            <a:off x="3371850" y="1549004"/>
            <a:ext cx="2201130" cy="736550"/>
            <a:chOff x="2784" y="1584"/>
            <a:chExt cx="1200" cy="588"/>
          </a:xfrm>
        </p:grpSpPr>
        <p:sp>
          <p:nvSpPr>
            <p:cNvPr id="570" name="Google Shape;570;p9"/>
            <p:cNvSpPr/>
            <p:nvPr/>
          </p:nvSpPr>
          <p:spPr>
            <a:xfrm>
              <a:off x="3168" y="1584"/>
              <a:ext cx="499" cy="230"/>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1" name="Google Shape;571;p9"/>
            <p:cNvSpPr txBox="1"/>
            <p:nvPr/>
          </p:nvSpPr>
          <p:spPr>
            <a:xfrm>
              <a:off x="2784" y="1872"/>
              <a:ext cx="12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500">
                  <a:solidFill>
                    <a:srgbClr val="000000"/>
                  </a:solidFill>
                  <a:latin typeface="Arial"/>
                  <a:ea typeface="Arial"/>
                  <a:cs typeface="Arial"/>
                  <a:sym typeface="Arial"/>
                </a:rPr>
                <a:t>Register for Courses</a:t>
              </a:r>
              <a:endParaRPr/>
            </a:p>
          </p:txBody>
        </p:sp>
      </p:grpSp>
      <p:cxnSp>
        <p:nvCxnSpPr>
          <p:cNvPr id="572" name="Google Shape;572;p9"/>
          <p:cNvCxnSpPr/>
          <p:nvPr/>
        </p:nvCxnSpPr>
        <p:spPr>
          <a:xfrm>
            <a:off x="3095625" y="1691879"/>
            <a:ext cx="968400" cy="0"/>
          </a:xfrm>
          <a:prstGeom prst="straightConnector1">
            <a:avLst/>
          </a:prstGeom>
          <a:noFill/>
          <a:ln cap="flat" cmpd="sng" w="28575">
            <a:solidFill>
              <a:srgbClr val="000000"/>
            </a:solidFill>
            <a:prstDash val="solid"/>
            <a:round/>
            <a:headEnd len="med" w="med" type="none"/>
            <a:tailEnd len="med" w="med" type="stealth"/>
          </a:ln>
        </p:spPr>
      </p:cxnSp>
      <p:cxnSp>
        <p:nvCxnSpPr>
          <p:cNvPr id="573" name="Google Shape;573;p9"/>
          <p:cNvCxnSpPr/>
          <p:nvPr/>
        </p:nvCxnSpPr>
        <p:spPr>
          <a:xfrm flipH="1">
            <a:off x="2438400" y="1885950"/>
            <a:ext cx="1066800" cy="1143000"/>
          </a:xfrm>
          <a:prstGeom prst="straightConnector1">
            <a:avLst/>
          </a:prstGeom>
          <a:noFill/>
          <a:ln cap="flat" cmpd="sng" w="28575">
            <a:solidFill>
              <a:srgbClr val="000000"/>
            </a:solidFill>
            <a:prstDash val="solid"/>
            <a:round/>
            <a:headEnd len="med" w="med" type="none"/>
            <a:tailEnd len="med" w="med" type="triangle"/>
          </a:ln>
        </p:spPr>
      </p:cxnSp>
      <p:cxnSp>
        <p:nvCxnSpPr>
          <p:cNvPr id="574" name="Google Shape;574;p9"/>
          <p:cNvCxnSpPr/>
          <p:nvPr/>
        </p:nvCxnSpPr>
        <p:spPr>
          <a:xfrm>
            <a:off x="5410200" y="1885950"/>
            <a:ext cx="1066800" cy="1143000"/>
          </a:xfrm>
          <a:prstGeom prst="straightConnector1">
            <a:avLst/>
          </a:prstGeom>
          <a:noFill/>
          <a:ln cap="flat" cmpd="sng" w="28575">
            <a:solidFill>
              <a:srgbClr val="000000"/>
            </a:solidFill>
            <a:prstDash val="solid"/>
            <a:round/>
            <a:headEnd len="med" w="med" type="none"/>
            <a:tailEnd len="med" w="med" type="triangle"/>
          </a:ln>
        </p:spPr>
      </p:cxnSp>
      <p:sp>
        <p:nvSpPr>
          <p:cNvPr id="575" name="Google Shape;575;p9"/>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Finding Boundary Classes</a:t>
            </a:r>
            <a:endParaRPr/>
          </a:p>
        </p:txBody>
      </p:sp>
      <p:sp>
        <p:nvSpPr>
          <p:cNvPr id="576" name="Google Shape;576;p9"/>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One boundary class per actor/use case pair</a:t>
            </a:r>
            <a:endParaRPr/>
          </a:p>
        </p:txBody>
      </p:sp>
      <p:grpSp>
        <p:nvGrpSpPr>
          <p:cNvPr id="577" name="Google Shape;577;p9"/>
          <p:cNvGrpSpPr/>
          <p:nvPr/>
        </p:nvGrpSpPr>
        <p:grpSpPr>
          <a:xfrm>
            <a:off x="990600" y="3086100"/>
            <a:ext cx="2615524" cy="780869"/>
            <a:chOff x="1594" y="2649"/>
            <a:chExt cx="1200" cy="468"/>
          </a:xfrm>
        </p:grpSpPr>
        <p:sp>
          <p:nvSpPr>
            <p:cNvPr id="578" name="Google Shape;578;p9"/>
            <p:cNvSpPr/>
            <p:nvPr/>
          </p:nvSpPr>
          <p:spPr>
            <a:xfrm>
              <a:off x="2012" y="2649"/>
              <a:ext cx="354" cy="347"/>
            </a:xfrm>
            <a:prstGeom prst="ellipse">
              <a:avLst/>
            </a:prstGeom>
            <a:no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79" name="Google Shape;579;p9"/>
            <p:cNvCxnSpPr/>
            <p:nvPr/>
          </p:nvCxnSpPr>
          <p:spPr>
            <a:xfrm>
              <a:off x="1842" y="2734"/>
              <a:ext cx="1" cy="177"/>
            </a:xfrm>
            <a:prstGeom prst="straightConnector1">
              <a:avLst/>
            </a:prstGeom>
            <a:noFill/>
            <a:ln cap="flat" cmpd="sng" w="25400">
              <a:solidFill>
                <a:srgbClr val="000000"/>
              </a:solidFill>
              <a:prstDash val="solid"/>
              <a:round/>
              <a:headEnd len="med" w="med" type="none"/>
              <a:tailEnd len="med" w="med" type="none"/>
            </a:ln>
          </p:spPr>
        </p:cxnSp>
        <p:cxnSp>
          <p:nvCxnSpPr>
            <p:cNvPr id="580" name="Google Shape;580;p9"/>
            <p:cNvCxnSpPr/>
            <p:nvPr/>
          </p:nvCxnSpPr>
          <p:spPr>
            <a:xfrm>
              <a:off x="1849" y="2819"/>
              <a:ext cx="163" cy="1"/>
            </a:xfrm>
            <a:prstGeom prst="straightConnector1">
              <a:avLst/>
            </a:prstGeom>
            <a:noFill/>
            <a:ln cap="flat" cmpd="sng" w="25400">
              <a:solidFill>
                <a:srgbClr val="000000"/>
              </a:solidFill>
              <a:prstDash val="solid"/>
              <a:round/>
              <a:headEnd len="med" w="med" type="none"/>
              <a:tailEnd len="med" w="med" type="none"/>
            </a:ln>
          </p:spPr>
        </p:cxnSp>
        <p:sp>
          <p:nvSpPr>
            <p:cNvPr id="581" name="Google Shape;581;p9"/>
            <p:cNvSpPr/>
            <p:nvPr/>
          </p:nvSpPr>
          <p:spPr>
            <a:xfrm>
              <a:off x="1594" y="3117"/>
              <a:ext cx="1200" cy="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RegisterForCoursesForm</a:t>
              </a:r>
              <a:endParaRPr sz="1600">
                <a:solidFill>
                  <a:srgbClr val="000000"/>
                </a:solidFill>
                <a:latin typeface="Arial"/>
                <a:ea typeface="Arial"/>
                <a:cs typeface="Arial"/>
                <a:sym typeface="Arial"/>
              </a:endParaRPr>
            </a:p>
          </p:txBody>
        </p:sp>
      </p:grpSp>
      <p:grpSp>
        <p:nvGrpSpPr>
          <p:cNvPr id="582" name="Google Shape;582;p9"/>
          <p:cNvGrpSpPr/>
          <p:nvPr/>
        </p:nvGrpSpPr>
        <p:grpSpPr>
          <a:xfrm>
            <a:off x="5589587" y="3143249"/>
            <a:ext cx="2050626" cy="935057"/>
            <a:chOff x="3217" y="2684"/>
            <a:chExt cx="913" cy="582"/>
          </a:xfrm>
        </p:grpSpPr>
        <p:sp>
          <p:nvSpPr>
            <p:cNvPr id="583" name="Google Shape;583;p9"/>
            <p:cNvSpPr/>
            <p:nvPr/>
          </p:nvSpPr>
          <p:spPr>
            <a:xfrm>
              <a:off x="3571" y="2684"/>
              <a:ext cx="347" cy="347"/>
            </a:xfrm>
            <a:prstGeom prst="ellipse">
              <a:avLst/>
            </a:prstGeom>
            <a:no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84" name="Google Shape;584;p9"/>
            <p:cNvCxnSpPr/>
            <p:nvPr/>
          </p:nvCxnSpPr>
          <p:spPr>
            <a:xfrm>
              <a:off x="3401" y="2769"/>
              <a:ext cx="1" cy="177"/>
            </a:xfrm>
            <a:prstGeom prst="straightConnector1">
              <a:avLst/>
            </a:prstGeom>
            <a:noFill/>
            <a:ln cap="flat" cmpd="sng" w="25400">
              <a:solidFill>
                <a:srgbClr val="000000"/>
              </a:solidFill>
              <a:prstDash val="solid"/>
              <a:round/>
              <a:headEnd len="med" w="med" type="none"/>
              <a:tailEnd len="med" w="med" type="none"/>
            </a:ln>
          </p:spPr>
        </p:cxnSp>
        <p:cxnSp>
          <p:nvCxnSpPr>
            <p:cNvPr id="585" name="Google Shape;585;p9"/>
            <p:cNvCxnSpPr/>
            <p:nvPr/>
          </p:nvCxnSpPr>
          <p:spPr>
            <a:xfrm>
              <a:off x="3401" y="2854"/>
              <a:ext cx="170" cy="1"/>
            </a:xfrm>
            <a:prstGeom prst="straightConnector1">
              <a:avLst/>
            </a:prstGeom>
            <a:noFill/>
            <a:ln cap="flat" cmpd="sng" w="25400">
              <a:solidFill>
                <a:srgbClr val="000000"/>
              </a:solidFill>
              <a:prstDash val="solid"/>
              <a:round/>
              <a:headEnd len="med" w="med" type="none"/>
              <a:tailEnd len="med" w="med" type="none"/>
            </a:ln>
          </p:spPr>
        </p:cxnSp>
        <p:sp>
          <p:nvSpPr>
            <p:cNvPr id="586" name="Google Shape;586;p9"/>
            <p:cNvSpPr/>
            <p:nvPr/>
          </p:nvSpPr>
          <p:spPr>
            <a:xfrm>
              <a:off x="3217" y="3151"/>
              <a:ext cx="913" cy="11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CourseCatalogSystem</a:t>
              </a:r>
              <a:endParaRPr sz="1600">
                <a:solidFill>
                  <a:srgbClr val="000000"/>
                </a:solidFill>
                <a:latin typeface="Arial"/>
                <a:ea typeface="Arial"/>
                <a:cs typeface="Arial"/>
                <a:sym typeface="Arial"/>
              </a:endParaRPr>
            </a:p>
          </p:txBody>
        </p:sp>
      </p:grpSp>
      <p:sp>
        <p:nvSpPr>
          <p:cNvPr id="587" name="Google Shape;587;p9"/>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8" name="Google Shape;588;p9"/>
          <p:cNvSpPr txBox="1"/>
          <p:nvPr/>
        </p:nvSpPr>
        <p:spPr>
          <a:xfrm>
            <a:off x="1123913" y="3791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RegisterForCoursesForm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10"/>
          <p:cNvSpPr txBox="1"/>
          <p:nvPr/>
        </p:nvSpPr>
        <p:spPr>
          <a:xfrm>
            <a:off x="1092200" y="4301729"/>
            <a:ext cx="7404000" cy="4170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Concentrate on the responsibilities, not the details!</a:t>
            </a:r>
            <a:endParaRPr/>
          </a:p>
        </p:txBody>
      </p:sp>
      <p:sp>
        <p:nvSpPr>
          <p:cNvPr id="596" name="Google Shape;596;p10"/>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Guidelines: Boundary Class</a:t>
            </a:r>
            <a:endParaRPr/>
          </a:p>
        </p:txBody>
      </p:sp>
      <p:sp>
        <p:nvSpPr>
          <p:cNvPr id="597" name="Google Shape;597;p10"/>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User Interface Classes</a:t>
            </a:r>
            <a:endParaRPr/>
          </a:p>
          <a:p>
            <a:pPr indent="-285750" lvl="1" marL="742950" rtl="0" algn="l">
              <a:spcBef>
                <a:spcPts val="400"/>
              </a:spcBef>
              <a:spcAft>
                <a:spcPts val="0"/>
              </a:spcAft>
              <a:buSzPts val="1000"/>
              <a:buChar char="🞇"/>
            </a:pPr>
            <a:r>
              <a:rPr lang="en-US" sz="2000"/>
              <a:t>Concentrate on what information is presented to the user</a:t>
            </a:r>
            <a:endParaRPr/>
          </a:p>
          <a:p>
            <a:pPr indent="-285750" lvl="1" marL="742950" rtl="0" algn="l">
              <a:spcBef>
                <a:spcPts val="400"/>
              </a:spcBef>
              <a:spcAft>
                <a:spcPts val="0"/>
              </a:spcAft>
              <a:buSzPts val="1000"/>
              <a:buChar char="🞇"/>
            </a:pPr>
            <a:r>
              <a:rPr lang="en-US" sz="2000"/>
              <a:t>Do NOT concentrate on the UI details</a:t>
            </a:r>
            <a:endParaRPr/>
          </a:p>
          <a:p>
            <a:pPr indent="-342900" lvl="0" marL="342900" rtl="0" algn="l">
              <a:spcBef>
                <a:spcPts val="400"/>
              </a:spcBef>
              <a:spcAft>
                <a:spcPts val="0"/>
              </a:spcAft>
              <a:buClr>
                <a:srgbClr val="000000"/>
              </a:buClr>
              <a:buSzPts val="2000"/>
              <a:buChar char="❖"/>
            </a:pPr>
            <a:r>
              <a:rPr lang="en-US" sz="2000"/>
              <a:t>System and Device Interface Classes </a:t>
            </a:r>
            <a:endParaRPr/>
          </a:p>
          <a:p>
            <a:pPr indent="-285750" lvl="1" marL="742950" rtl="0" algn="l">
              <a:spcBef>
                <a:spcPts val="400"/>
              </a:spcBef>
              <a:spcAft>
                <a:spcPts val="0"/>
              </a:spcAft>
              <a:buSzPts val="1000"/>
              <a:buChar char="🞇"/>
            </a:pPr>
            <a:r>
              <a:rPr lang="en-US" sz="2000"/>
              <a:t>Concentrate on what protocols must be defined</a:t>
            </a:r>
            <a:endParaRPr/>
          </a:p>
          <a:p>
            <a:pPr indent="-285750" lvl="1" marL="742950" rtl="0" algn="l">
              <a:spcBef>
                <a:spcPts val="400"/>
              </a:spcBef>
              <a:spcAft>
                <a:spcPts val="0"/>
              </a:spcAft>
              <a:buSzPts val="1000"/>
              <a:buChar char="🞇"/>
            </a:pPr>
            <a:r>
              <a:rPr lang="en-US" sz="2000"/>
              <a:t>Do NOT concentrate on how the protocols will be implemented</a:t>
            </a:r>
            <a:endParaRPr/>
          </a:p>
        </p:txBody>
      </p:sp>
      <p:sp>
        <p:nvSpPr>
          <p:cNvPr id="598" name="Google Shape;598;p10"/>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1"/>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Key abstractions of the system</a:t>
            </a:r>
            <a:endParaRPr/>
          </a:p>
        </p:txBody>
      </p:sp>
      <p:grpSp>
        <p:nvGrpSpPr>
          <p:cNvPr id="607" name="Google Shape;607;p11"/>
          <p:cNvGrpSpPr/>
          <p:nvPr/>
        </p:nvGrpSpPr>
        <p:grpSpPr>
          <a:xfrm>
            <a:off x="3413125" y="3363516"/>
            <a:ext cx="1428750" cy="1223971"/>
            <a:chOff x="1344" y="1008"/>
            <a:chExt cx="900" cy="1028"/>
          </a:xfrm>
        </p:grpSpPr>
        <p:grpSp>
          <p:nvGrpSpPr>
            <p:cNvPr id="608" name="Google Shape;608;p11"/>
            <p:cNvGrpSpPr/>
            <p:nvPr/>
          </p:nvGrpSpPr>
          <p:grpSpPr>
            <a:xfrm>
              <a:off x="1470" y="1008"/>
              <a:ext cx="432" cy="720"/>
              <a:chOff x="1249" y="2496"/>
              <a:chExt cx="432" cy="720"/>
            </a:xfrm>
          </p:grpSpPr>
          <p:sp>
            <p:nvSpPr>
              <p:cNvPr id="609" name="Google Shape;609;p11"/>
              <p:cNvSpPr/>
              <p:nvPr/>
            </p:nvSpPr>
            <p:spPr>
              <a:xfrm>
                <a:off x="1249" y="2496"/>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10" name="Google Shape;610;p11"/>
              <p:cNvCxnSpPr/>
              <p:nvPr/>
            </p:nvCxnSpPr>
            <p:spPr>
              <a:xfrm>
                <a:off x="1537" y="2496"/>
                <a:ext cx="144" cy="144"/>
              </a:xfrm>
              <a:prstGeom prst="straightConnector1">
                <a:avLst/>
              </a:prstGeom>
              <a:noFill/>
              <a:ln cap="flat" cmpd="sng" w="28575">
                <a:solidFill>
                  <a:srgbClr val="000000"/>
                </a:solidFill>
                <a:prstDash val="solid"/>
                <a:round/>
                <a:headEnd len="sm" w="sm" type="none"/>
                <a:tailEnd len="sm" w="sm" type="none"/>
              </a:ln>
            </p:spPr>
          </p:cxnSp>
          <p:cxnSp>
            <p:nvCxnSpPr>
              <p:cNvPr id="611" name="Google Shape;611;p11"/>
              <p:cNvCxnSpPr/>
              <p:nvPr/>
            </p:nvCxnSpPr>
            <p:spPr>
              <a:xfrm>
                <a:off x="1537" y="2496"/>
                <a:ext cx="0" cy="144"/>
              </a:xfrm>
              <a:prstGeom prst="straightConnector1">
                <a:avLst/>
              </a:prstGeom>
              <a:noFill/>
              <a:ln cap="flat" cmpd="sng" w="28575">
                <a:solidFill>
                  <a:srgbClr val="000000"/>
                </a:solidFill>
                <a:prstDash val="solid"/>
                <a:round/>
                <a:headEnd len="sm" w="sm" type="none"/>
                <a:tailEnd len="sm" w="sm" type="none"/>
              </a:ln>
            </p:spPr>
          </p:cxnSp>
          <p:cxnSp>
            <p:nvCxnSpPr>
              <p:cNvPr id="612" name="Google Shape;612;p11"/>
              <p:cNvCxnSpPr/>
              <p:nvPr/>
            </p:nvCxnSpPr>
            <p:spPr>
              <a:xfrm rot="10800000">
                <a:off x="1537" y="2640"/>
                <a:ext cx="144" cy="0"/>
              </a:xfrm>
              <a:prstGeom prst="straightConnector1">
                <a:avLst/>
              </a:prstGeom>
              <a:noFill/>
              <a:ln cap="flat" cmpd="sng" w="28575">
                <a:solidFill>
                  <a:srgbClr val="000000"/>
                </a:solidFill>
                <a:prstDash val="solid"/>
                <a:round/>
                <a:headEnd len="sm" w="sm" type="none"/>
                <a:tailEnd len="sm" w="sm" type="none"/>
              </a:ln>
            </p:spPr>
          </p:cxnSp>
          <p:cxnSp>
            <p:nvCxnSpPr>
              <p:cNvPr id="613" name="Google Shape;613;p11"/>
              <p:cNvCxnSpPr/>
              <p:nvPr/>
            </p:nvCxnSpPr>
            <p:spPr>
              <a:xfrm>
                <a:off x="1297" y="2736"/>
                <a:ext cx="336" cy="0"/>
              </a:xfrm>
              <a:prstGeom prst="straightConnector1">
                <a:avLst/>
              </a:prstGeom>
              <a:noFill/>
              <a:ln cap="flat" cmpd="sng" w="28575">
                <a:solidFill>
                  <a:srgbClr val="000000"/>
                </a:solidFill>
                <a:prstDash val="solid"/>
                <a:round/>
                <a:headEnd len="sm" w="sm" type="none"/>
                <a:tailEnd len="sm" w="sm" type="none"/>
              </a:ln>
            </p:spPr>
          </p:cxnSp>
          <p:cxnSp>
            <p:nvCxnSpPr>
              <p:cNvPr id="614" name="Google Shape;614;p11"/>
              <p:cNvCxnSpPr/>
              <p:nvPr/>
            </p:nvCxnSpPr>
            <p:spPr>
              <a:xfrm>
                <a:off x="1297" y="2784"/>
                <a:ext cx="336" cy="0"/>
              </a:xfrm>
              <a:prstGeom prst="straightConnector1">
                <a:avLst/>
              </a:prstGeom>
              <a:noFill/>
              <a:ln cap="flat" cmpd="sng" w="28575">
                <a:solidFill>
                  <a:srgbClr val="000000"/>
                </a:solidFill>
                <a:prstDash val="solid"/>
                <a:round/>
                <a:headEnd len="sm" w="sm" type="none"/>
                <a:tailEnd len="sm" w="sm" type="none"/>
              </a:ln>
            </p:spPr>
          </p:cxnSp>
          <p:cxnSp>
            <p:nvCxnSpPr>
              <p:cNvPr id="615" name="Google Shape;615;p11"/>
              <p:cNvCxnSpPr/>
              <p:nvPr/>
            </p:nvCxnSpPr>
            <p:spPr>
              <a:xfrm>
                <a:off x="1297" y="2832"/>
                <a:ext cx="336" cy="0"/>
              </a:xfrm>
              <a:prstGeom prst="straightConnector1">
                <a:avLst/>
              </a:prstGeom>
              <a:noFill/>
              <a:ln cap="flat" cmpd="sng" w="28575">
                <a:solidFill>
                  <a:srgbClr val="000000"/>
                </a:solidFill>
                <a:prstDash val="solid"/>
                <a:round/>
                <a:headEnd len="sm" w="sm" type="none"/>
                <a:tailEnd len="sm" w="sm" type="none"/>
              </a:ln>
            </p:spPr>
          </p:cxnSp>
          <p:cxnSp>
            <p:nvCxnSpPr>
              <p:cNvPr id="616" name="Google Shape;616;p11"/>
              <p:cNvCxnSpPr/>
              <p:nvPr/>
            </p:nvCxnSpPr>
            <p:spPr>
              <a:xfrm>
                <a:off x="1297" y="2928"/>
                <a:ext cx="336" cy="0"/>
              </a:xfrm>
              <a:prstGeom prst="straightConnector1">
                <a:avLst/>
              </a:prstGeom>
              <a:noFill/>
              <a:ln cap="flat" cmpd="sng" w="28575">
                <a:solidFill>
                  <a:srgbClr val="000000"/>
                </a:solidFill>
                <a:prstDash val="solid"/>
                <a:round/>
                <a:headEnd len="sm" w="sm" type="none"/>
                <a:tailEnd len="sm" w="sm" type="none"/>
              </a:ln>
            </p:spPr>
          </p:cxnSp>
          <p:cxnSp>
            <p:nvCxnSpPr>
              <p:cNvPr id="617" name="Google Shape;617;p11"/>
              <p:cNvCxnSpPr/>
              <p:nvPr/>
            </p:nvCxnSpPr>
            <p:spPr>
              <a:xfrm>
                <a:off x="1297" y="2880"/>
                <a:ext cx="336" cy="0"/>
              </a:xfrm>
              <a:prstGeom prst="straightConnector1">
                <a:avLst/>
              </a:prstGeom>
              <a:noFill/>
              <a:ln cap="flat" cmpd="sng" w="28575">
                <a:solidFill>
                  <a:srgbClr val="000000"/>
                </a:solidFill>
                <a:prstDash val="solid"/>
                <a:round/>
                <a:headEnd len="sm" w="sm" type="none"/>
                <a:tailEnd len="sm" w="sm" type="none"/>
              </a:ln>
            </p:spPr>
          </p:cxnSp>
          <p:cxnSp>
            <p:nvCxnSpPr>
              <p:cNvPr id="618" name="Google Shape;618;p11"/>
              <p:cNvCxnSpPr/>
              <p:nvPr/>
            </p:nvCxnSpPr>
            <p:spPr>
              <a:xfrm>
                <a:off x="1297" y="2976"/>
                <a:ext cx="336" cy="0"/>
              </a:xfrm>
              <a:prstGeom prst="straightConnector1">
                <a:avLst/>
              </a:prstGeom>
              <a:noFill/>
              <a:ln cap="flat" cmpd="sng" w="28575">
                <a:solidFill>
                  <a:srgbClr val="000000"/>
                </a:solidFill>
                <a:prstDash val="solid"/>
                <a:round/>
                <a:headEnd len="sm" w="sm" type="none"/>
                <a:tailEnd len="sm" w="sm" type="none"/>
              </a:ln>
            </p:spPr>
          </p:cxnSp>
          <p:cxnSp>
            <p:nvCxnSpPr>
              <p:cNvPr id="619" name="Google Shape;619;p11"/>
              <p:cNvCxnSpPr/>
              <p:nvPr/>
            </p:nvCxnSpPr>
            <p:spPr>
              <a:xfrm>
                <a:off x="1297" y="3024"/>
                <a:ext cx="336" cy="0"/>
              </a:xfrm>
              <a:prstGeom prst="straightConnector1">
                <a:avLst/>
              </a:prstGeom>
              <a:noFill/>
              <a:ln cap="flat" cmpd="sng" w="28575">
                <a:solidFill>
                  <a:srgbClr val="000000"/>
                </a:solidFill>
                <a:prstDash val="solid"/>
                <a:round/>
                <a:headEnd len="sm" w="sm" type="none"/>
                <a:tailEnd len="sm" w="sm" type="none"/>
              </a:ln>
            </p:spPr>
          </p:cxnSp>
          <p:cxnSp>
            <p:nvCxnSpPr>
              <p:cNvPr id="620" name="Google Shape;620;p11"/>
              <p:cNvCxnSpPr/>
              <p:nvPr/>
            </p:nvCxnSpPr>
            <p:spPr>
              <a:xfrm>
                <a:off x="1297" y="3072"/>
                <a:ext cx="336" cy="0"/>
              </a:xfrm>
              <a:prstGeom prst="straightConnector1">
                <a:avLst/>
              </a:prstGeom>
              <a:noFill/>
              <a:ln cap="flat" cmpd="sng" w="28575">
                <a:solidFill>
                  <a:srgbClr val="000000"/>
                </a:solidFill>
                <a:prstDash val="solid"/>
                <a:round/>
                <a:headEnd len="sm" w="sm" type="none"/>
                <a:tailEnd len="sm" w="sm" type="none"/>
              </a:ln>
            </p:spPr>
          </p:cxnSp>
          <p:cxnSp>
            <p:nvCxnSpPr>
              <p:cNvPr id="621" name="Google Shape;621;p11"/>
              <p:cNvCxnSpPr/>
              <p:nvPr/>
            </p:nvCxnSpPr>
            <p:spPr>
              <a:xfrm>
                <a:off x="1297" y="3120"/>
                <a:ext cx="336" cy="0"/>
              </a:xfrm>
              <a:prstGeom prst="straightConnector1">
                <a:avLst/>
              </a:prstGeom>
              <a:noFill/>
              <a:ln cap="flat" cmpd="sng" w="28575">
                <a:solidFill>
                  <a:srgbClr val="000000"/>
                </a:solidFill>
                <a:prstDash val="solid"/>
                <a:round/>
                <a:headEnd len="sm" w="sm" type="none"/>
                <a:tailEnd len="sm" w="sm" type="none"/>
              </a:ln>
            </p:spPr>
          </p:cxnSp>
          <p:cxnSp>
            <p:nvCxnSpPr>
              <p:cNvPr id="622" name="Google Shape;622;p11"/>
              <p:cNvCxnSpPr/>
              <p:nvPr/>
            </p:nvCxnSpPr>
            <p:spPr>
              <a:xfrm>
                <a:off x="1297" y="3168"/>
                <a:ext cx="336" cy="0"/>
              </a:xfrm>
              <a:prstGeom prst="straightConnector1">
                <a:avLst/>
              </a:prstGeom>
              <a:noFill/>
              <a:ln cap="flat" cmpd="sng" w="28575">
                <a:solidFill>
                  <a:srgbClr val="000000"/>
                </a:solidFill>
                <a:prstDash val="solid"/>
                <a:round/>
                <a:headEnd len="sm" w="sm" type="none"/>
                <a:tailEnd len="sm" w="sm" type="none"/>
              </a:ln>
            </p:spPr>
          </p:cxnSp>
          <p:cxnSp>
            <p:nvCxnSpPr>
              <p:cNvPr id="623" name="Google Shape;623;p11"/>
              <p:cNvCxnSpPr/>
              <p:nvPr/>
            </p:nvCxnSpPr>
            <p:spPr>
              <a:xfrm>
                <a:off x="1297" y="2688"/>
                <a:ext cx="336" cy="0"/>
              </a:xfrm>
              <a:prstGeom prst="straightConnector1">
                <a:avLst/>
              </a:prstGeom>
              <a:noFill/>
              <a:ln cap="flat" cmpd="sng" w="28575">
                <a:solidFill>
                  <a:srgbClr val="000000"/>
                </a:solidFill>
                <a:prstDash val="solid"/>
                <a:round/>
                <a:headEnd len="sm" w="sm" type="none"/>
                <a:tailEnd len="sm" w="sm" type="none"/>
              </a:ln>
            </p:spPr>
          </p:cxnSp>
          <p:cxnSp>
            <p:nvCxnSpPr>
              <p:cNvPr id="624" name="Google Shape;624;p11"/>
              <p:cNvCxnSpPr/>
              <p:nvPr/>
            </p:nvCxnSpPr>
            <p:spPr>
              <a:xfrm>
                <a:off x="1297" y="2592"/>
                <a:ext cx="209" cy="0"/>
              </a:xfrm>
              <a:prstGeom prst="straightConnector1">
                <a:avLst/>
              </a:prstGeom>
              <a:noFill/>
              <a:ln cap="flat" cmpd="sng" w="28575">
                <a:solidFill>
                  <a:srgbClr val="000000"/>
                </a:solidFill>
                <a:prstDash val="solid"/>
                <a:round/>
                <a:headEnd len="sm" w="sm" type="none"/>
                <a:tailEnd len="sm" w="sm" type="none"/>
              </a:ln>
            </p:spPr>
          </p:cxnSp>
          <p:cxnSp>
            <p:nvCxnSpPr>
              <p:cNvPr id="625" name="Google Shape;625;p11"/>
              <p:cNvCxnSpPr/>
              <p:nvPr/>
            </p:nvCxnSpPr>
            <p:spPr>
              <a:xfrm>
                <a:off x="1297" y="2544"/>
                <a:ext cx="209" cy="0"/>
              </a:xfrm>
              <a:prstGeom prst="straightConnector1">
                <a:avLst/>
              </a:prstGeom>
              <a:noFill/>
              <a:ln cap="flat" cmpd="sng" w="28575">
                <a:solidFill>
                  <a:srgbClr val="000000"/>
                </a:solidFill>
                <a:prstDash val="solid"/>
                <a:round/>
                <a:headEnd len="sm" w="sm" type="none"/>
                <a:tailEnd len="sm" w="sm" type="none"/>
              </a:ln>
            </p:spPr>
          </p:cxnSp>
          <p:cxnSp>
            <p:nvCxnSpPr>
              <p:cNvPr id="626" name="Google Shape;626;p11"/>
              <p:cNvCxnSpPr/>
              <p:nvPr/>
            </p:nvCxnSpPr>
            <p:spPr>
              <a:xfrm>
                <a:off x="1297" y="2640"/>
                <a:ext cx="209" cy="0"/>
              </a:xfrm>
              <a:prstGeom prst="straightConnector1">
                <a:avLst/>
              </a:prstGeom>
              <a:noFill/>
              <a:ln cap="flat" cmpd="sng" w="28575">
                <a:solidFill>
                  <a:srgbClr val="000000"/>
                </a:solidFill>
                <a:prstDash val="solid"/>
                <a:round/>
                <a:headEnd len="sm" w="sm" type="none"/>
                <a:tailEnd len="sm" w="sm" type="none"/>
              </a:ln>
            </p:spPr>
          </p:cxnSp>
        </p:grpSp>
        <p:sp>
          <p:nvSpPr>
            <p:cNvPr id="627" name="Google Shape;627;p11"/>
            <p:cNvSpPr txBox="1"/>
            <p:nvPr/>
          </p:nvSpPr>
          <p:spPr>
            <a:xfrm>
              <a:off x="1344" y="1736"/>
              <a:ext cx="9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Glossary</a:t>
              </a:r>
              <a:endParaRPr/>
            </a:p>
          </p:txBody>
        </p:sp>
      </p:grpSp>
      <p:sp>
        <p:nvSpPr>
          <p:cNvPr id="628" name="Google Shape;628;p11"/>
          <p:cNvSpPr/>
          <p:nvPr/>
        </p:nvSpPr>
        <p:spPr>
          <a:xfrm>
            <a:off x="5575300" y="2926556"/>
            <a:ext cx="787500" cy="400200"/>
          </a:xfrm>
          <a:prstGeom prst="rightArrow">
            <a:avLst>
              <a:gd fmla="val 63093" name="adj1"/>
              <a:gd fmla="val 51188" name="adj2"/>
            </a:avLst>
          </a:prstGeom>
          <a:gradFill>
            <a:gsLst>
              <a:gs pos="0">
                <a:srgbClr val="1244AC"/>
              </a:gs>
              <a:gs pos="80000">
                <a:srgbClr val="175BE3"/>
              </a:gs>
              <a:gs pos="100000">
                <a:srgbClr val="135AE8"/>
              </a:gs>
            </a:gsLst>
            <a:lin ang="16200000" scaled="0"/>
          </a:gradFill>
          <a:ln cap="flat" cmpd="sng" w="9525">
            <a:solidFill>
              <a:srgbClr val="2B62D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629" name="Google Shape;629;p11"/>
          <p:cNvGrpSpPr/>
          <p:nvPr/>
        </p:nvGrpSpPr>
        <p:grpSpPr>
          <a:xfrm>
            <a:off x="2936875" y="1557337"/>
            <a:ext cx="2381250" cy="1675213"/>
            <a:chOff x="1850" y="2290"/>
            <a:chExt cx="1500" cy="1407"/>
          </a:xfrm>
        </p:grpSpPr>
        <p:grpSp>
          <p:nvGrpSpPr>
            <p:cNvPr id="630" name="Google Shape;630;p11"/>
            <p:cNvGrpSpPr/>
            <p:nvPr/>
          </p:nvGrpSpPr>
          <p:grpSpPr>
            <a:xfrm>
              <a:off x="1869" y="2290"/>
              <a:ext cx="1245" cy="766"/>
              <a:chOff x="1309" y="1072"/>
              <a:chExt cx="1245" cy="766"/>
            </a:xfrm>
          </p:grpSpPr>
          <p:grpSp>
            <p:nvGrpSpPr>
              <p:cNvPr id="631" name="Google Shape;631;p11"/>
              <p:cNvGrpSpPr/>
              <p:nvPr/>
            </p:nvGrpSpPr>
            <p:grpSpPr>
              <a:xfrm>
                <a:off x="1309" y="1231"/>
                <a:ext cx="302" cy="175"/>
                <a:chOff x="144" y="1440"/>
                <a:chExt cx="881" cy="510"/>
              </a:xfrm>
            </p:grpSpPr>
            <p:sp>
              <p:nvSpPr>
                <p:cNvPr id="632" name="Google Shape;632;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33" name="Google Shape;633;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34" name="Google Shape;634;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635" name="Google Shape;635;p11"/>
              <p:cNvGrpSpPr/>
              <p:nvPr/>
            </p:nvGrpSpPr>
            <p:grpSpPr>
              <a:xfrm>
                <a:off x="1950" y="1072"/>
                <a:ext cx="302" cy="175"/>
                <a:chOff x="144" y="1440"/>
                <a:chExt cx="881" cy="510"/>
              </a:xfrm>
            </p:grpSpPr>
            <p:sp>
              <p:nvSpPr>
                <p:cNvPr id="636" name="Google Shape;636;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37" name="Google Shape;637;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38" name="Google Shape;638;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639" name="Google Shape;639;p11"/>
              <p:cNvGrpSpPr/>
              <p:nvPr/>
            </p:nvGrpSpPr>
            <p:grpSpPr>
              <a:xfrm>
                <a:off x="1648" y="1663"/>
                <a:ext cx="302" cy="175"/>
                <a:chOff x="144" y="1440"/>
                <a:chExt cx="881" cy="510"/>
              </a:xfrm>
            </p:grpSpPr>
            <p:sp>
              <p:nvSpPr>
                <p:cNvPr id="640" name="Google Shape;640;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41" name="Google Shape;641;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42" name="Google Shape;642;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643" name="Google Shape;643;p11"/>
              <p:cNvGrpSpPr/>
              <p:nvPr/>
            </p:nvGrpSpPr>
            <p:grpSpPr>
              <a:xfrm>
                <a:off x="2252" y="1581"/>
                <a:ext cx="302" cy="175"/>
                <a:chOff x="144" y="1440"/>
                <a:chExt cx="881" cy="510"/>
              </a:xfrm>
            </p:grpSpPr>
            <p:sp>
              <p:nvSpPr>
                <p:cNvPr id="644" name="Google Shape;644;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45" name="Google Shape;645;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46" name="Google Shape;646;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cxnSp>
            <p:nvCxnSpPr>
              <p:cNvPr id="647" name="Google Shape;647;p11"/>
              <p:cNvCxnSpPr/>
              <p:nvPr/>
            </p:nvCxnSpPr>
            <p:spPr>
              <a:xfrm rot="10800000">
                <a:off x="1463" y="1406"/>
                <a:ext cx="312" cy="257"/>
              </a:xfrm>
              <a:prstGeom prst="straightConnector1">
                <a:avLst/>
              </a:prstGeom>
              <a:noFill/>
              <a:ln cap="flat" cmpd="sng" w="28575">
                <a:solidFill>
                  <a:srgbClr val="000000"/>
                </a:solidFill>
                <a:prstDash val="solid"/>
                <a:round/>
                <a:headEnd len="sm" w="sm" type="none"/>
                <a:tailEnd len="sm" w="sm" type="none"/>
              </a:ln>
            </p:spPr>
          </p:cxnSp>
          <p:cxnSp>
            <p:nvCxnSpPr>
              <p:cNvPr id="648" name="Google Shape;648;p11"/>
              <p:cNvCxnSpPr/>
              <p:nvPr/>
            </p:nvCxnSpPr>
            <p:spPr>
              <a:xfrm flipH="1" rot="10800000">
                <a:off x="1611" y="1160"/>
                <a:ext cx="339" cy="153"/>
              </a:xfrm>
              <a:prstGeom prst="straightConnector1">
                <a:avLst/>
              </a:prstGeom>
              <a:noFill/>
              <a:ln cap="flat" cmpd="sng" w="28575">
                <a:solidFill>
                  <a:srgbClr val="000000"/>
                </a:solidFill>
                <a:prstDash val="solid"/>
                <a:round/>
                <a:headEnd len="sm" w="sm" type="none"/>
                <a:tailEnd len="sm" w="sm" type="none"/>
              </a:ln>
            </p:spPr>
          </p:cxnSp>
          <p:cxnSp>
            <p:nvCxnSpPr>
              <p:cNvPr id="649" name="Google Shape;649;p11"/>
              <p:cNvCxnSpPr/>
              <p:nvPr/>
            </p:nvCxnSpPr>
            <p:spPr>
              <a:xfrm flipH="1" rot="10800000">
                <a:off x="1950" y="1663"/>
                <a:ext cx="302" cy="82"/>
              </a:xfrm>
              <a:prstGeom prst="straightConnector1">
                <a:avLst/>
              </a:prstGeom>
              <a:noFill/>
              <a:ln cap="flat" cmpd="sng" w="28575">
                <a:solidFill>
                  <a:srgbClr val="000000"/>
                </a:solidFill>
                <a:prstDash val="solid"/>
                <a:round/>
                <a:headEnd len="sm" w="sm" type="none"/>
                <a:tailEnd len="sm" w="sm" type="none"/>
              </a:ln>
            </p:spPr>
          </p:cxnSp>
          <p:cxnSp>
            <p:nvCxnSpPr>
              <p:cNvPr id="650" name="Google Shape;650;p11"/>
              <p:cNvCxnSpPr/>
              <p:nvPr/>
            </p:nvCxnSpPr>
            <p:spPr>
              <a:xfrm flipH="1" rot="10800000">
                <a:off x="1775" y="1247"/>
                <a:ext cx="329" cy="416"/>
              </a:xfrm>
              <a:prstGeom prst="straightConnector1">
                <a:avLst/>
              </a:prstGeom>
              <a:noFill/>
              <a:ln cap="flat" cmpd="sng" w="28575">
                <a:solidFill>
                  <a:srgbClr val="000000"/>
                </a:solidFill>
                <a:prstDash val="solid"/>
                <a:round/>
                <a:headEnd len="sm" w="sm" type="none"/>
                <a:tailEnd len="sm" w="sm" type="none"/>
              </a:ln>
            </p:spPr>
          </p:cxnSp>
        </p:grpSp>
        <p:sp>
          <p:nvSpPr>
            <p:cNvPr id="651" name="Google Shape;651;p11"/>
            <p:cNvSpPr txBox="1"/>
            <p:nvPr/>
          </p:nvSpPr>
          <p:spPr>
            <a:xfrm>
              <a:off x="1850" y="3097"/>
              <a:ext cx="1500" cy="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Business-Domain </a:t>
              </a:r>
              <a:endParaRPr/>
            </a:p>
            <a:p>
              <a:pPr indent="0" lvl="0" marL="0" marR="0" rtl="0" algn="ctr">
                <a:spcBef>
                  <a:spcPts val="0"/>
                </a:spcBef>
                <a:spcAft>
                  <a:spcPts val="0"/>
                </a:spcAft>
                <a:buNone/>
              </a:pPr>
              <a:r>
                <a:rPr lang="en-US" sz="1800">
                  <a:solidFill>
                    <a:srgbClr val="000000"/>
                  </a:solidFill>
                  <a:latin typeface="Arial"/>
                  <a:ea typeface="Arial"/>
                  <a:cs typeface="Arial"/>
                  <a:sym typeface="Arial"/>
                </a:rPr>
                <a:t>Model</a:t>
              </a:r>
              <a:endParaRPr/>
            </a:p>
          </p:txBody>
        </p:sp>
      </p:grpSp>
      <p:sp>
        <p:nvSpPr>
          <p:cNvPr id="652" name="Google Shape;652;p11"/>
          <p:cNvSpPr txBox="1"/>
          <p:nvPr/>
        </p:nvSpPr>
        <p:spPr>
          <a:xfrm>
            <a:off x="2705100" y="4686300"/>
            <a:ext cx="37719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0000"/>
                </a:solidFill>
                <a:latin typeface="Arial"/>
                <a:ea typeface="Arial"/>
                <a:cs typeface="Arial"/>
                <a:sym typeface="Arial"/>
              </a:rPr>
              <a:t>Environment independent.</a:t>
            </a:r>
            <a:endParaRPr/>
          </a:p>
        </p:txBody>
      </p:sp>
      <p:sp>
        <p:nvSpPr>
          <p:cNvPr id="653" name="Google Shape;653;p11"/>
          <p:cNvSpPr txBox="1"/>
          <p:nvPr/>
        </p:nvSpPr>
        <p:spPr>
          <a:xfrm>
            <a:off x="6680200" y="1583531"/>
            <a:ext cx="1816200" cy="72480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2000">
                <a:solidFill>
                  <a:srgbClr val="000000"/>
                </a:solidFill>
                <a:latin typeface="Arial"/>
                <a:ea typeface="Arial"/>
                <a:cs typeface="Arial"/>
                <a:sym typeface="Arial"/>
              </a:rPr>
              <a:t>Analysis class stereotype</a:t>
            </a:r>
            <a:endParaRPr/>
          </a:p>
        </p:txBody>
      </p:sp>
      <p:cxnSp>
        <p:nvCxnSpPr>
          <p:cNvPr id="654" name="Google Shape;654;p11"/>
          <p:cNvCxnSpPr/>
          <p:nvPr/>
        </p:nvCxnSpPr>
        <p:spPr>
          <a:xfrm>
            <a:off x="7607300" y="2336006"/>
            <a:ext cx="0" cy="324000"/>
          </a:xfrm>
          <a:prstGeom prst="straightConnector1">
            <a:avLst/>
          </a:prstGeom>
          <a:noFill/>
          <a:ln cap="flat" cmpd="sng" w="28575">
            <a:solidFill>
              <a:srgbClr val="000000"/>
            </a:solidFill>
            <a:prstDash val="solid"/>
            <a:round/>
            <a:headEnd len="med" w="med" type="none"/>
            <a:tailEnd len="med" w="med" type="triangle"/>
          </a:ln>
        </p:spPr>
      </p:cxnSp>
      <p:grpSp>
        <p:nvGrpSpPr>
          <p:cNvPr id="655" name="Google Shape;655;p11"/>
          <p:cNvGrpSpPr/>
          <p:nvPr/>
        </p:nvGrpSpPr>
        <p:grpSpPr>
          <a:xfrm>
            <a:off x="982663" y="1500188"/>
            <a:ext cx="1601787" cy="1577578"/>
            <a:chOff x="288" y="1392"/>
            <a:chExt cx="1009" cy="1325"/>
          </a:xfrm>
        </p:grpSpPr>
        <p:grpSp>
          <p:nvGrpSpPr>
            <p:cNvPr id="656" name="Google Shape;656;p11"/>
            <p:cNvGrpSpPr/>
            <p:nvPr/>
          </p:nvGrpSpPr>
          <p:grpSpPr>
            <a:xfrm>
              <a:off x="288" y="1392"/>
              <a:ext cx="754" cy="1008"/>
              <a:chOff x="365" y="2533"/>
              <a:chExt cx="754" cy="1008"/>
            </a:xfrm>
          </p:grpSpPr>
          <p:sp>
            <p:nvSpPr>
              <p:cNvPr id="657" name="Google Shape;657;p11"/>
              <p:cNvSpPr/>
              <p:nvPr/>
            </p:nvSpPr>
            <p:spPr>
              <a:xfrm>
                <a:off x="365" y="2533"/>
                <a:ext cx="624" cy="288"/>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8" name="Google Shape;658;p11"/>
              <p:cNvSpPr/>
              <p:nvPr/>
            </p:nvSpPr>
            <p:spPr>
              <a:xfrm>
                <a:off x="687" y="2821"/>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59" name="Google Shape;659;p11"/>
              <p:cNvCxnSpPr/>
              <p:nvPr/>
            </p:nvCxnSpPr>
            <p:spPr>
              <a:xfrm>
                <a:off x="975" y="2821"/>
                <a:ext cx="144" cy="144"/>
              </a:xfrm>
              <a:prstGeom prst="straightConnector1">
                <a:avLst/>
              </a:prstGeom>
              <a:noFill/>
              <a:ln cap="flat" cmpd="sng" w="28575">
                <a:solidFill>
                  <a:srgbClr val="000000"/>
                </a:solidFill>
                <a:prstDash val="solid"/>
                <a:round/>
                <a:headEnd len="sm" w="sm" type="none"/>
                <a:tailEnd len="sm" w="sm" type="none"/>
              </a:ln>
            </p:spPr>
          </p:cxnSp>
          <p:cxnSp>
            <p:nvCxnSpPr>
              <p:cNvPr id="660" name="Google Shape;660;p11"/>
              <p:cNvCxnSpPr/>
              <p:nvPr/>
            </p:nvCxnSpPr>
            <p:spPr>
              <a:xfrm>
                <a:off x="975" y="2821"/>
                <a:ext cx="0" cy="144"/>
              </a:xfrm>
              <a:prstGeom prst="straightConnector1">
                <a:avLst/>
              </a:prstGeom>
              <a:noFill/>
              <a:ln cap="flat" cmpd="sng" w="28575">
                <a:solidFill>
                  <a:srgbClr val="000000"/>
                </a:solidFill>
                <a:prstDash val="solid"/>
                <a:round/>
                <a:headEnd len="sm" w="sm" type="none"/>
                <a:tailEnd len="sm" w="sm" type="none"/>
              </a:ln>
            </p:spPr>
          </p:cxnSp>
          <p:cxnSp>
            <p:nvCxnSpPr>
              <p:cNvPr id="661" name="Google Shape;661;p11"/>
              <p:cNvCxnSpPr/>
              <p:nvPr/>
            </p:nvCxnSpPr>
            <p:spPr>
              <a:xfrm rot="10800000">
                <a:off x="975" y="2965"/>
                <a:ext cx="144" cy="0"/>
              </a:xfrm>
              <a:prstGeom prst="straightConnector1">
                <a:avLst/>
              </a:prstGeom>
              <a:noFill/>
              <a:ln cap="flat" cmpd="sng" w="28575">
                <a:solidFill>
                  <a:srgbClr val="000000"/>
                </a:solidFill>
                <a:prstDash val="solid"/>
                <a:round/>
                <a:headEnd len="sm" w="sm" type="none"/>
                <a:tailEnd len="sm" w="sm" type="none"/>
              </a:ln>
            </p:spPr>
          </p:cxnSp>
          <p:cxnSp>
            <p:nvCxnSpPr>
              <p:cNvPr id="662" name="Google Shape;662;p11"/>
              <p:cNvCxnSpPr/>
              <p:nvPr/>
            </p:nvCxnSpPr>
            <p:spPr>
              <a:xfrm>
                <a:off x="735" y="3061"/>
                <a:ext cx="336" cy="0"/>
              </a:xfrm>
              <a:prstGeom prst="straightConnector1">
                <a:avLst/>
              </a:prstGeom>
              <a:noFill/>
              <a:ln cap="flat" cmpd="sng" w="28575">
                <a:solidFill>
                  <a:srgbClr val="000000"/>
                </a:solidFill>
                <a:prstDash val="solid"/>
                <a:round/>
                <a:headEnd len="sm" w="sm" type="none"/>
                <a:tailEnd len="sm" w="sm" type="none"/>
              </a:ln>
            </p:spPr>
          </p:cxnSp>
          <p:cxnSp>
            <p:nvCxnSpPr>
              <p:cNvPr id="663" name="Google Shape;663;p11"/>
              <p:cNvCxnSpPr/>
              <p:nvPr/>
            </p:nvCxnSpPr>
            <p:spPr>
              <a:xfrm>
                <a:off x="735" y="3109"/>
                <a:ext cx="336" cy="0"/>
              </a:xfrm>
              <a:prstGeom prst="straightConnector1">
                <a:avLst/>
              </a:prstGeom>
              <a:noFill/>
              <a:ln cap="flat" cmpd="sng" w="28575">
                <a:solidFill>
                  <a:srgbClr val="000000"/>
                </a:solidFill>
                <a:prstDash val="solid"/>
                <a:round/>
                <a:headEnd len="sm" w="sm" type="none"/>
                <a:tailEnd len="sm" w="sm" type="none"/>
              </a:ln>
            </p:spPr>
          </p:cxnSp>
          <p:cxnSp>
            <p:nvCxnSpPr>
              <p:cNvPr id="664" name="Google Shape;664;p11"/>
              <p:cNvCxnSpPr/>
              <p:nvPr/>
            </p:nvCxnSpPr>
            <p:spPr>
              <a:xfrm>
                <a:off x="735" y="3157"/>
                <a:ext cx="336" cy="0"/>
              </a:xfrm>
              <a:prstGeom prst="straightConnector1">
                <a:avLst/>
              </a:prstGeom>
              <a:noFill/>
              <a:ln cap="flat" cmpd="sng" w="28575">
                <a:solidFill>
                  <a:srgbClr val="000000"/>
                </a:solidFill>
                <a:prstDash val="solid"/>
                <a:round/>
                <a:headEnd len="sm" w="sm" type="none"/>
                <a:tailEnd len="sm" w="sm" type="none"/>
              </a:ln>
            </p:spPr>
          </p:cxnSp>
          <p:cxnSp>
            <p:nvCxnSpPr>
              <p:cNvPr id="665" name="Google Shape;665;p11"/>
              <p:cNvCxnSpPr/>
              <p:nvPr/>
            </p:nvCxnSpPr>
            <p:spPr>
              <a:xfrm>
                <a:off x="735" y="3253"/>
                <a:ext cx="336" cy="0"/>
              </a:xfrm>
              <a:prstGeom prst="straightConnector1">
                <a:avLst/>
              </a:prstGeom>
              <a:noFill/>
              <a:ln cap="flat" cmpd="sng" w="28575">
                <a:solidFill>
                  <a:srgbClr val="000000"/>
                </a:solidFill>
                <a:prstDash val="solid"/>
                <a:round/>
                <a:headEnd len="sm" w="sm" type="none"/>
                <a:tailEnd len="sm" w="sm" type="none"/>
              </a:ln>
            </p:spPr>
          </p:cxnSp>
          <p:cxnSp>
            <p:nvCxnSpPr>
              <p:cNvPr id="666" name="Google Shape;666;p11"/>
              <p:cNvCxnSpPr/>
              <p:nvPr/>
            </p:nvCxnSpPr>
            <p:spPr>
              <a:xfrm>
                <a:off x="735" y="3205"/>
                <a:ext cx="336" cy="0"/>
              </a:xfrm>
              <a:prstGeom prst="straightConnector1">
                <a:avLst/>
              </a:prstGeom>
              <a:noFill/>
              <a:ln cap="flat" cmpd="sng" w="28575">
                <a:solidFill>
                  <a:srgbClr val="000000"/>
                </a:solidFill>
                <a:prstDash val="solid"/>
                <a:round/>
                <a:headEnd len="sm" w="sm" type="none"/>
                <a:tailEnd len="sm" w="sm" type="none"/>
              </a:ln>
            </p:spPr>
          </p:cxnSp>
          <p:cxnSp>
            <p:nvCxnSpPr>
              <p:cNvPr id="667" name="Google Shape;667;p11"/>
              <p:cNvCxnSpPr/>
              <p:nvPr/>
            </p:nvCxnSpPr>
            <p:spPr>
              <a:xfrm>
                <a:off x="735" y="3301"/>
                <a:ext cx="336" cy="0"/>
              </a:xfrm>
              <a:prstGeom prst="straightConnector1">
                <a:avLst/>
              </a:prstGeom>
              <a:noFill/>
              <a:ln cap="flat" cmpd="sng" w="28575">
                <a:solidFill>
                  <a:srgbClr val="000000"/>
                </a:solidFill>
                <a:prstDash val="solid"/>
                <a:round/>
                <a:headEnd len="sm" w="sm" type="none"/>
                <a:tailEnd len="sm" w="sm" type="none"/>
              </a:ln>
            </p:spPr>
          </p:cxnSp>
          <p:cxnSp>
            <p:nvCxnSpPr>
              <p:cNvPr id="668" name="Google Shape;668;p11"/>
              <p:cNvCxnSpPr/>
              <p:nvPr/>
            </p:nvCxnSpPr>
            <p:spPr>
              <a:xfrm>
                <a:off x="735" y="3349"/>
                <a:ext cx="336" cy="0"/>
              </a:xfrm>
              <a:prstGeom prst="straightConnector1">
                <a:avLst/>
              </a:prstGeom>
              <a:noFill/>
              <a:ln cap="flat" cmpd="sng" w="28575">
                <a:solidFill>
                  <a:srgbClr val="000000"/>
                </a:solidFill>
                <a:prstDash val="solid"/>
                <a:round/>
                <a:headEnd len="sm" w="sm" type="none"/>
                <a:tailEnd len="sm" w="sm" type="none"/>
              </a:ln>
            </p:spPr>
          </p:cxnSp>
          <p:cxnSp>
            <p:nvCxnSpPr>
              <p:cNvPr id="669" name="Google Shape;669;p11"/>
              <p:cNvCxnSpPr/>
              <p:nvPr/>
            </p:nvCxnSpPr>
            <p:spPr>
              <a:xfrm>
                <a:off x="735" y="3397"/>
                <a:ext cx="336" cy="0"/>
              </a:xfrm>
              <a:prstGeom prst="straightConnector1">
                <a:avLst/>
              </a:prstGeom>
              <a:noFill/>
              <a:ln cap="flat" cmpd="sng" w="28575">
                <a:solidFill>
                  <a:srgbClr val="000000"/>
                </a:solidFill>
                <a:prstDash val="solid"/>
                <a:round/>
                <a:headEnd len="sm" w="sm" type="none"/>
                <a:tailEnd len="sm" w="sm" type="none"/>
              </a:ln>
            </p:spPr>
          </p:cxnSp>
          <p:cxnSp>
            <p:nvCxnSpPr>
              <p:cNvPr id="670" name="Google Shape;670;p11"/>
              <p:cNvCxnSpPr/>
              <p:nvPr/>
            </p:nvCxnSpPr>
            <p:spPr>
              <a:xfrm>
                <a:off x="735" y="3445"/>
                <a:ext cx="336" cy="0"/>
              </a:xfrm>
              <a:prstGeom prst="straightConnector1">
                <a:avLst/>
              </a:prstGeom>
              <a:noFill/>
              <a:ln cap="flat" cmpd="sng" w="28575">
                <a:solidFill>
                  <a:srgbClr val="000000"/>
                </a:solidFill>
                <a:prstDash val="solid"/>
                <a:round/>
                <a:headEnd len="sm" w="sm" type="none"/>
                <a:tailEnd len="sm" w="sm" type="none"/>
              </a:ln>
            </p:spPr>
          </p:cxnSp>
          <p:cxnSp>
            <p:nvCxnSpPr>
              <p:cNvPr id="671" name="Google Shape;671;p11"/>
              <p:cNvCxnSpPr/>
              <p:nvPr/>
            </p:nvCxnSpPr>
            <p:spPr>
              <a:xfrm>
                <a:off x="735" y="3493"/>
                <a:ext cx="336" cy="0"/>
              </a:xfrm>
              <a:prstGeom prst="straightConnector1">
                <a:avLst/>
              </a:prstGeom>
              <a:noFill/>
              <a:ln cap="flat" cmpd="sng" w="28575">
                <a:solidFill>
                  <a:srgbClr val="000000"/>
                </a:solidFill>
                <a:prstDash val="solid"/>
                <a:round/>
                <a:headEnd len="sm" w="sm" type="none"/>
                <a:tailEnd len="sm" w="sm" type="none"/>
              </a:ln>
            </p:spPr>
          </p:cxnSp>
          <p:cxnSp>
            <p:nvCxnSpPr>
              <p:cNvPr id="672" name="Google Shape;672;p11"/>
              <p:cNvCxnSpPr/>
              <p:nvPr/>
            </p:nvCxnSpPr>
            <p:spPr>
              <a:xfrm>
                <a:off x="735" y="3013"/>
                <a:ext cx="336" cy="0"/>
              </a:xfrm>
              <a:prstGeom prst="straightConnector1">
                <a:avLst/>
              </a:prstGeom>
              <a:noFill/>
              <a:ln cap="flat" cmpd="sng" w="28575">
                <a:solidFill>
                  <a:srgbClr val="000000"/>
                </a:solidFill>
                <a:prstDash val="solid"/>
                <a:round/>
                <a:headEnd len="sm" w="sm" type="none"/>
                <a:tailEnd len="sm" w="sm" type="none"/>
              </a:ln>
            </p:spPr>
          </p:cxnSp>
          <p:cxnSp>
            <p:nvCxnSpPr>
              <p:cNvPr id="673" name="Google Shape;673;p11"/>
              <p:cNvCxnSpPr/>
              <p:nvPr/>
            </p:nvCxnSpPr>
            <p:spPr>
              <a:xfrm>
                <a:off x="735" y="2917"/>
                <a:ext cx="209" cy="0"/>
              </a:xfrm>
              <a:prstGeom prst="straightConnector1">
                <a:avLst/>
              </a:prstGeom>
              <a:noFill/>
              <a:ln cap="flat" cmpd="sng" w="28575">
                <a:solidFill>
                  <a:srgbClr val="000000"/>
                </a:solidFill>
                <a:prstDash val="solid"/>
                <a:round/>
                <a:headEnd len="sm" w="sm" type="none"/>
                <a:tailEnd len="sm" w="sm" type="none"/>
              </a:ln>
            </p:spPr>
          </p:cxnSp>
          <p:cxnSp>
            <p:nvCxnSpPr>
              <p:cNvPr id="674" name="Google Shape;674;p11"/>
              <p:cNvCxnSpPr/>
              <p:nvPr/>
            </p:nvCxnSpPr>
            <p:spPr>
              <a:xfrm>
                <a:off x="735" y="2869"/>
                <a:ext cx="209" cy="0"/>
              </a:xfrm>
              <a:prstGeom prst="straightConnector1">
                <a:avLst/>
              </a:prstGeom>
              <a:noFill/>
              <a:ln cap="flat" cmpd="sng" w="28575">
                <a:solidFill>
                  <a:srgbClr val="000000"/>
                </a:solidFill>
                <a:prstDash val="solid"/>
                <a:round/>
                <a:headEnd len="sm" w="sm" type="none"/>
                <a:tailEnd len="sm" w="sm" type="none"/>
              </a:ln>
            </p:spPr>
          </p:cxnSp>
          <p:cxnSp>
            <p:nvCxnSpPr>
              <p:cNvPr id="675" name="Google Shape;675;p11"/>
              <p:cNvCxnSpPr/>
              <p:nvPr/>
            </p:nvCxnSpPr>
            <p:spPr>
              <a:xfrm>
                <a:off x="735" y="2965"/>
                <a:ext cx="209" cy="0"/>
              </a:xfrm>
              <a:prstGeom prst="straightConnector1">
                <a:avLst/>
              </a:prstGeom>
              <a:noFill/>
              <a:ln cap="flat" cmpd="sng" w="28575">
                <a:solidFill>
                  <a:srgbClr val="000000"/>
                </a:solidFill>
                <a:prstDash val="solid"/>
                <a:round/>
                <a:headEnd len="sm" w="sm" type="none"/>
                <a:tailEnd len="sm" w="sm" type="none"/>
              </a:ln>
            </p:spPr>
          </p:cxnSp>
        </p:grpSp>
        <p:sp>
          <p:nvSpPr>
            <p:cNvPr id="676" name="Google Shape;676;p11"/>
            <p:cNvSpPr txBox="1"/>
            <p:nvPr/>
          </p:nvSpPr>
          <p:spPr>
            <a:xfrm>
              <a:off x="397" y="2417"/>
              <a:ext cx="9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Use Case</a:t>
              </a:r>
              <a:endParaRPr/>
            </a:p>
          </p:txBody>
        </p:sp>
      </p:grpSp>
      <p:grpSp>
        <p:nvGrpSpPr>
          <p:cNvPr id="677" name="Google Shape;677;p11"/>
          <p:cNvGrpSpPr/>
          <p:nvPr/>
        </p:nvGrpSpPr>
        <p:grpSpPr>
          <a:xfrm>
            <a:off x="493713" y="3211116"/>
            <a:ext cx="2381250" cy="1515665"/>
            <a:chOff x="151" y="2783"/>
            <a:chExt cx="1500" cy="1273"/>
          </a:xfrm>
        </p:grpSpPr>
        <p:grpSp>
          <p:nvGrpSpPr>
            <p:cNvPr id="678" name="Google Shape;678;p11"/>
            <p:cNvGrpSpPr/>
            <p:nvPr/>
          </p:nvGrpSpPr>
          <p:grpSpPr>
            <a:xfrm>
              <a:off x="469" y="2783"/>
              <a:ext cx="937" cy="641"/>
              <a:chOff x="55" y="2944"/>
              <a:chExt cx="937" cy="641"/>
            </a:xfrm>
          </p:grpSpPr>
          <p:grpSp>
            <p:nvGrpSpPr>
              <p:cNvPr id="679" name="Google Shape;679;p11"/>
              <p:cNvGrpSpPr/>
              <p:nvPr/>
            </p:nvGrpSpPr>
            <p:grpSpPr>
              <a:xfrm>
                <a:off x="228" y="2944"/>
                <a:ext cx="382" cy="257"/>
                <a:chOff x="144" y="1440"/>
                <a:chExt cx="881" cy="510"/>
              </a:xfrm>
            </p:grpSpPr>
            <p:sp>
              <p:nvSpPr>
                <p:cNvPr id="680" name="Google Shape;680;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81" name="Google Shape;681;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82" name="Google Shape;682;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683" name="Google Shape;683;p11"/>
              <p:cNvGrpSpPr/>
              <p:nvPr/>
            </p:nvGrpSpPr>
            <p:grpSpPr>
              <a:xfrm>
                <a:off x="610" y="3283"/>
                <a:ext cx="382" cy="257"/>
                <a:chOff x="144" y="1440"/>
                <a:chExt cx="881" cy="510"/>
              </a:xfrm>
            </p:grpSpPr>
            <p:sp>
              <p:nvSpPr>
                <p:cNvPr id="684" name="Google Shape;684;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85" name="Google Shape;685;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86" name="Google Shape;686;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nvGrpSpPr>
              <p:cNvPr id="687" name="Google Shape;687;p11"/>
              <p:cNvGrpSpPr/>
              <p:nvPr/>
            </p:nvGrpSpPr>
            <p:grpSpPr>
              <a:xfrm>
                <a:off x="55" y="3328"/>
                <a:ext cx="382" cy="257"/>
                <a:chOff x="144" y="1440"/>
                <a:chExt cx="881" cy="510"/>
              </a:xfrm>
            </p:grpSpPr>
            <p:sp>
              <p:nvSpPr>
                <p:cNvPr id="688" name="Google Shape;688;p11"/>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89" name="Google Shape;689;p11"/>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690" name="Google Shape;690;p11"/>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grpSp>
        <p:sp>
          <p:nvSpPr>
            <p:cNvPr id="691" name="Google Shape;691;p11"/>
            <p:cNvSpPr txBox="1"/>
            <p:nvPr/>
          </p:nvSpPr>
          <p:spPr>
            <a:xfrm>
              <a:off x="151" y="3456"/>
              <a:ext cx="1500" cy="60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Architectural Analysis Abstractions</a:t>
              </a:r>
              <a:endParaRPr/>
            </a:p>
          </p:txBody>
        </p:sp>
      </p:grpSp>
      <p:sp>
        <p:nvSpPr>
          <p:cNvPr id="692" name="Google Shape;692;p11"/>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What Is an Entity Class?</a:t>
            </a:r>
            <a:endParaRPr/>
          </a:p>
        </p:txBody>
      </p:sp>
      <p:grpSp>
        <p:nvGrpSpPr>
          <p:cNvPr id="693" name="Google Shape;693;p11"/>
          <p:cNvGrpSpPr/>
          <p:nvPr/>
        </p:nvGrpSpPr>
        <p:grpSpPr>
          <a:xfrm>
            <a:off x="7150100" y="2755106"/>
            <a:ext cx="965200" cy="742950"/>
            <a:chOff x="4192" y="2208"/>
            <a:chExt cx="464" cy="473"/>
          </a:xfrm>
        </p:grpSpPr>
        <p:sp>
          <p:nvSpPr>
            <p:cNvPr id="694" name="Google Shape;694;p11"/>
            <p:cNvSpPr/>
            <p:nvPr/>
          </p:nvSpPr>
          <p:spPr>
            <a:xfrm>
              <a:off x="4192" y="2208"/>
              <a:ext cx="458" cy="46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95" name="Google Shape;695;p11"/>
            <p:cNvCxnSpPr/>
            <p:nvPr/>
          </p:nvCxnSpPr>
          <p:spPr>
            <a:xfrm>
              <a:off x="4198" y="2680"/>
              <a:ext cx="458" cy="1"/>
            </a:xfrm>
            <a:prstGeom prst="straightConnector1">
              <a:avLst/>
            </a:prstGeom>
            <a:noFill/>
            <a:ln cap="flat" cmpd="sng" w="38100">
              <a:solidFill>
                <a:srgbClr val="000000"/>
              </a:solidFill>
              <a:prstDash val="solid"/>
              <a:round/>
              <a:headEnd len="med" w="med" type="none"/>
              <a:tailEnd len="med" w="med" type="none"/>
            </a:ln>
          </p:spPr>
        </p:cxnSp>
      </p:grpSp>
      <p:sp>
        <p:nvSpPr>
          <p:cNvPr id="696" name="Google Shape;696;p11"/>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2"/>
          <p:cNvSpPr/>
          <p:nvPr/>
        </p:nvSpPr>
        <p:spPr>
          <a:xfrm>
            <a:off x="2797175" y="3181350"/>
            <a:ext cx="4292700" cy="916800"/>
          </a:xfrm>
          <a:prstGeom prst="roundRect">
            <a:avLst>
              <a:gd fmla="val 16667" name="adj"/>
            </a:avLst>
          </a:prstGeom>
          <a:noFill/>
          <a:ln cap="flat" cmpd="sng" w="28575">
            <a:solidFill>
              <a:srgbClr val="0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4" name="Google Shape;704;p12"/>
          <p:cNvSpPr txBox="1"/>
          <p:nvPr/>
        </p:nvSpPr>
        <p:spPr>
          <a:xfrm>
            <a:off x="990600" y="4393406"/>
            <a:ext cx="74676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0000"/>
                </a:solidFill>
                <a:latin typeface="Arial"/>
                <a:ea typeface="Arial"/>
                <a:cs typeface="Arial"/>
                <a:sym typeface="Arial"/>
              </a:rPr>
              <a:t>Store and manage information in the system.</a:t>
            </a:r>
            <a:endParaRPr/>
          </a:p>
        </p:txBody>
      </p:sp>
      <p:sp>
        <p:nvSpPr>
          <p:cNvPr id="705" name="Google Shape;705;p12"/>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The Role of an Entity Class</a:t>
            </a:r>
            <a:endParaRPr/>
          </a:p>
        </p:txBody>
      </p:sp>
      <p:grpSp>
        <p:nvGrpSpPr>
          <p:cNvPr id="706" name="Google Shape;706;p12"/>
          <p:cNvGrpSpPr/>
          <p:nvPr/>
        </p:nvGrpSpPr>
        <p:grpSpPr>
          <a:xfrm>
            <a:off x="725488" y="1396604"/>
            <a:ext cx="528637" cy="539353"/>
            <a:chOff x="7654" y="3380"/>
            <a:chExt cx="554" cy="754"/>
          </a:xfrm>
        </p:grpSpPr>
        <p:sp>
          <p:nvSpPr>
            <p:cNvPr id="707" name="Google Shape;707;p12"/>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08" name="Google Shape;708;p12"/>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709" name="Google Shape;709;p12"/>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710" name="Google Shape;710;p12"/>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11" name="Google Shape;711;p12"/>
          <p:cNvSpPr txBox="1"/>
          <p:nvPr/>
        </p:nvSpPr>
        <p:spPr>
          <a:xfrm>
            <a:off x="628650" y="1949050"/>
            <a:ext cx="8763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Actor 1</a:t>
            </a:r>
            <a:endParaRPr/>
          </a:p>
        </p:txBody>
      </p:sp>
      <p:grpSp>
        <p:nvGrpSpPr>
          <p:cNvPr id="712" name="Google Shape;712;p12"/>
          <p:cNvGrpSpPr/>
          <p:nvPr/>
        </p:nvGrpSpPr>
        <p:grpSpPr>
          <a:xfrm>
            <a:off x="7974013" y="1479947"/>
            <a:ext cx="528637" cy="539353"/>
            <a:chOff x="7654" y="3380"/>
            <a:chExt cx="554" cy="754"/>
          </a:xfrm>
        </p:grpSpPr>
        <p:sp>
          <p:nvSpPr>
            <p:cNvPr id="713" name="Google Shape;713;p12"/>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14" name="Google Shape;714;p12"/>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715" name="Google Shape;715;p12"/>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716" name="Google Shape;716;p12"/>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717" name="Google Shape;717;p12"/>
          <p:cNvCxnSpPr/>
          <p:nvPr/>
        </p:nvCxnSpPr>
        <p:spPr>
          <a:xfrm>
            <a:off x="7369175" y="1818085"/>
            <a:ext cx="604800" cy="7200"/>
          </a:xfrm>
          <a:prstGeom prst="straightConnector1">
            <a:avLst/>
          </a:prstGeom>
          <a:noFill/>
          <a:ln cap="flat" cmpd="sng" w="28575">
            <a:solidFill>
              <a:srgbClr val="000000"/>
            </a:solidFill>
            <a:prstDash val="solid"/>
            <a:round/>
            <a:headEnd len="sm" w="sm" type="none"/>
            <a:tailEnd len="sm" w="sm" type="none"/>
          </a:ln>
        </p:spPr>
      </p:cxnSp>
      <p:cxnSp>
        <p:nvCxnSpPr>
          <p:cNvPr id="718" name="Google Shape;718;p12"/>
          <p:cNvCxnSpPr/>
          <p:nvPr/>
        </p:nvCxnSpPr>
        <p:spPr>
          <a:xfrm>
            <a:off x="3514725" y="1779985"/>
            <a:ext cx="441300" cy="2400"/>
          </a:xfrm>
          <a:prstGeom prst="straightConnector1">
            <a:avLst/>
          </a:prstGeom>
          <a:noFill/>
          <a:ln cap="flat" cmpd="sng" w="28575">
            <a:solidFill>
              <a:srgbClr val="000000"/>
            </a:solidFill>
            <a:prstDash val="solid"/>
            <a:round/>
            <a:headEnd len="sm" w="sm" type="none"/>
            <a:tailEnd len="sm" w="sm" type="none"/>
          </a:ln>
        </p:spPr>
      </p:cxnSp>
      <p:cxnSp>
        <p:nvCxnSpPr>
          <p:cNvPr id="719" name="Google Shape;719;p12"/>
          <p:cNvCxnSpPr/>
          <p:nvPr/>
        </p:nvCxnSpPr>
        <p:spPr>
          <a:xfrm flipH="1" rot="10800000">
            <a:off x="3700463" y="2145506"/>
            <a:ext cx="609600" cy="1143000"/>
          </a:xfrm>
          <a:prstGeom prst="straightConnector1">
            <a:avLst/>
          </a:prstGeom>
          <a:noFill/>
          <a:ln cap="flat" cmpd="sng" w="28575">
            <a:solidFill>
              <a:srgbClr val="000000"/>
            </a:solidFill>
            <a:prstDash val="solid"/>
            <a:round/>
            <a:headEnd len="sm" w="sm" type="none"/>
            <a:tailEnd len="sm" w="sm" type="none"/>
          </a:ln>
        </p:spPr>
      </p:cxnSp>
      <p:cxnSp>
        <p:nvCxnSpPr>
          <p:cNvPr id="720" name="Google Shape;720;p12"/>
          <p:cNvCxnSpPr/>
          <p:nvPr/>
        </p:nvCxnSpPr>
        <p:spPr>
          <a:xfrm>
            <a:off x="5232400" y="2146697"/>
            <a:ext cx="754200" cy="1141800"/>
          </a:xfrm>
          <a:prstGeom prst="straightConnector1">
            <a:avLst/>
          </a:prstGeom>
          <a:noFill/>
          <a:ln cap="flat" cmpd="sng" w="28575">
            <a:solidFill>
              <a:srgbClr val="000000"/>
            </a:solidFill>
            <a:prstDash val="solid"/>
            <a:round/>
            <a:headEnd len="sm" w="sm" type="none"/>
            <a:tailEnd len="sm" w="sm" type="none"/>
          </a:ln>
        </p:spPr>
      </p:cxnSp>
      <p:cxnSp>
        <p:nvCxnSpPr>
          <p:cNvPr id="721" name="Google Shape;721;p12"/>
          <p:cNvCxnSpPr/>
          <p:nvPr/>
        </p:nvCxnSpPr>
        <p:spPr>
          <a:xfrm rot="10800000">
            <a:off x="4599138" y="3711179"/>
            <a:ext cx="704700" cy="0"/>
          </a:xfrm>
          <a:prstGeom prst="straightConnector1">
            <a:avLst/>
          </a:prstGeom>
          <a:noFill/>
          <a:ln cap="flat" cmpd="sng" w="28575">
            <a:solidFill>
              <a:srgbClr val="000000"/>
            </a:solidFill>
            <a:prstDash val="solid"/>
            <a:round/>
            <a:headEnd len="sm" w="sm" type="none"/>
            <a:tailEnd len="sm" w="sm" type="none"/>
          </a:ln>
        </p:spPr>
      </p:cxnSp>
      <p:grpSp>
        <p:nvGrpSpPr>
          <p:cNvPr id="722" name="Google Shape;722;p12"/>
          <p:cNvGrpSpPr/>
          <p:nvPr/>
        </p:nvGrpSpPr>
        <p:grpSpPr>
          <a:xfrm>
            <a:off x="2019300" y="1741885"/>
            <a:ext cx="1466850" cy="589359"/>
            <a:chOff x="144" y="1440"/>
            <a:chExt cx="881" cy="510"/>
          </a:xfrm>
        </p:grpSpPr>
        <p:sp>
          <p:nvSpPr>
            <p:cNvPr id="723" name="Google Shape;723;p12"/>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24" name="Google Shape;724;p12"/>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725" name="Google Shape;725;p12"/>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726" name="Google Shape;726;p12"/>
          <p:cNvSpPr txBox="1"/>
          <p:nvPr/>
        </p:nvSpPr>
        <p:spPr>
          <a:xfrm>
            <a:off x="2012950" y="1784750"/>
            <a:ext cx="16875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&lt;&lt;boundary&gt;&gt;</a:t>
            </a:r>
            <a:endParaRPr/>
          </a:p>
        </p:txBody>
      </p:sp>
      <p:grpSp>
        <p:nvGrpSpPr>
          <p:cNvPr id="727" name="Google Shape;727;p12"/>
          <p:cNvGrpSpPr/>
          <p:nvPr/>
        </p:nvGrpSpPr>
        <p:grpSpPr>
          <a:xfrm>
            <a:off x="4000500" y="1481138"/>
            <a:ext cx="1466850" cy="589360"/>
            <a:chOff x="144" y="1440"/>
            <a:chExt cx="881" cy="510"/>
          </a:xfrm>
        </p:grpSpPr>
        <p:sp>
          <p:nvSpPr>
            <p:cNvPr id="728" name="Google Shape;728;p12"/>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29" name="Google Shape;729;p12"/>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730" name="Google Shape;730;p12"/>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731" name="Google Shape;731;p12"/>
          <p:cNvSpPr txBox="1"/>
          <p:nvPr/>
        </p:nvSpPr>
        <p:spPr>
          <a:xfrm>
            <a:off x="4051300" y="1524000"/>
            <a:ext cx="14859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&lt;&lt;control&gt;&gt;</a:t>
            </a:r>
            <a:endParaRPr/>
          </a:p>
        </p:txBody>
      </p:sp>
      <p:grpSp>
        <p:nvGrpSpPr>
          <p:cNvPr id="732" name="Google Shape;732;p12"/>
          <p:cNvGrpSpPr/>
          <p:nvPr/>
        </p:nvGrpSpPr>
        <p:grpSpPr>
          <a:xfrm>
            <a:off x="5876925" y="1762125"/>
            <a:ext cx="1466850" cy="589360"/>
            <a:chOff x="144" y="1440"/>
            <a:chExt cx="881" cy="510"/>
          </a:xfrm>
        </p:grpSpPr>
        <p:sp>
          <p:nvSpPr>
            <p:cNvPr id="733" name="Google Shape;733;p12"/>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34" name="Google Shape;734;p12"/>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735" name="Google Shape;735;p12"/>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736" name="Google Shape;736;p12"/>
          <p:cNvSpPr txBox="1"/>
          <p:nvPr/>
        </p:nvSpPr>
        <p:spPr>
          <a:xfrm>
            <a:off x="5794375" y="1805000"/>
            <a:ext cx="16875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&lt;&lt;boundary&gt;&gt;</a:t>
            </a:r>
            <a:endParaRPr/>
          </a:p>
        </p:txBody>
      </p:sp>
      <p:cxnSp>
        <p:nvCxnSpPr>
          <p:cNvPr id="737" name="Google Shape;737;p12"/>
          <p:cNvCxnSpPr/>
          <p:nvPr/>
        </p:nvCxnSpPr>
        <p:spPr>
          <a:xfrm flipH="1">
            <a:off x="5507125" y="1797844"/>
            <a:ext cx="344400" cy="2400"/>
          </a:xfrm>
          <a:prstGeom prst="straightConnector1">
            <a:avLst/>
          </a:prstGeom>
          <a:noFill/>
          <a:ln cap="flat" cmpd="sng" w="28575">
            <a:solidFill>
              <a:srgbClr val="000000"/>
            </a:solidFill>
            <a:prstDash val="solid"/>
            <a:round/>
            <a:headEnd len="med" w="med" type="none"/>
            <a:tailEnd len="med" w="med" type="none"/>
          </a:ln>
        </p:spPr>
      </p:cxnSp>
      <p:grpSp>
        <p:nvGrpSpPr>
          <p:cNvPr id="738" name="Google Shape;738;p12"/>
          <p:cNvGrpSpPr/>
          <p:nvPr/>
        </p:nvGrpSpPr>
        <p:grpSpPr>
          <a:xfrm>
            <a:off x="3063875" y="3352800"/>
            <a:ext cx="1466850" cy="589360"/>
            <a:chOff x="144" y="1440"/>
            <a:chExt cx="881" cy="510"/>
          </a:xfrm>
        </p:grpSpPr>
        <p:sp>
          <p:nvSpPr>
            <p:cNvPr id="739" name="Google Shape;739;p12"/>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40" name="Google Shape;740;p12"/>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741" name="Google Shape;741;p12"/>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742" name="Google Shape;742;p12"/>
          <p:cNvSpPr txBox="1"/>
          <p:nvPr/>
        </p:nvSpPr>
        <p:spPr>
          <a:xfrm>
            <a:off x="3260725" y="3395675"/>
            <a:ext cx="12024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&lt;&lt;entity&gt;&gt;</a:t>
            </a:r>
            <a:endParaRPr/>
          </a:p>
        </p:txBody>
      </p:sp>
      <p:grpSp>
        <p:nvGrpSpPr>
          <p:cNvPr id="743" name="Google Shape;743;p12"/>
          <p:cNvGrpSpPr/>
          <p:nvPr/>
        </p:nvGrpSpPr>
        <p:grpSpPr>
          <a:xfrm>
            <a:off x="5357813" y="3352800"/>
            <a:ext cx="1466850" cy="589360"/>
            <a:chOff x="144" y="1440"/>
            <a:chExt cx="881" cy="510"/>
          </a:xfrm>
        </p:grpSpPr>
        <p:sp>
          <p:nvSpPr>
            <p:cNvPr id="744" name="Google Shape;744;p12"/>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45" name="Google Shape;745;p12"/>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746" name="Google Shape;746;p12"/>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747" name="Google Shape;747;p12"/>
          <p:cNvSpPr txBox="1"/>
          <p:nvPr/>
        </p:nvSpPr>
        <p:spPr>
          <a:xfrm>
            <a:off x="5554676" y="3395675"/>
            <a:ext cx="12024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&lt;&lt;entity&gt;&gt;</a:t>
            </a:r>
            <a:endParaRPr/>
          </a:p>
        </p:txBody>
      </p:sp>
      <p:sp>
        <p:nvSpPr>
          <p:cNvPr id="748" name="Google Shape;748;p12"/>
          <p:cNvSpPr txBox="1"/>
          <p:nvPr/>
        </p:nvSpPr>
        <p:spPr>
          <a:xfrm>
            <a:off x="7778750" y="1983575"/>
            <a:ext cx="1202400" cy="3861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Actor 2</a:t>
            </a:r>
            <a:endParaRPr/>
          </a:p>
        </p:txBody>
      </p:sp>
      <p:cxnSp>
        <p:nvCxnSpPr>
          <p:cNvPr id="749" name="Google Shape;749;p12"/>
          <p:cNvCxnSpPr/>
          <p:nvPr/>
        </p:nvCxnSpPr>
        <p:spPr>
          <a:xfrm>
            <a:off x="1311275" y="1791891"/>
            <a:ext cx="655500" cy="8400"/>
          </a:xfrm>
          <a:prstGeom prst="straightConnector1">
            <a:avLst/>
          </a:prstGeom>
          <a:noFill/>
          <a:ln cap="flat" cmpd="sng" w="28575">
            <a:solidFill>
              <a:srgbClr val="000000"/>
            </a:solidFill>
            <a:prstDash val="solid"/>
            <a:round/>
            <a:headEnd len="sm" w="sm" type="none"/>
            <a:tailEnd len="sm" w="sm" type="none"/>
          </a:ln>
        </p:spPr>
      </p:cxnSp>
      <p:sp>
        <p:nvSpPr>
          <p:cNvPr id="750" name="Google Shape;750;p12"/>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3"/>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Finding Entity Classes</a:t>
            </a:r>
            <a:endParaRPr/>
          </a:p>
        </p:txBody>
      </p:sp>
      <p:sp>
        <p:nvSpPr>
          <p:cNvPr id="759" name="Google Shape;759;p13"/>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lnSpc>
                <a:spcPct val="70000"/>
              </a:lnSpc>
              <a:spcBef>
                <a:spcPts val="0"/>
              </a:spcBef>
              <a:spcAft>
                <a:spcPts val="0"/>
              </a:spcAft>
              <a:buClr>
                <a:srgbClr val="000000"/>
              </a:buClr>
              <a:buSzPts val="2000"/>
              <a:buChar char="❖"/>
            </a:pPr>
            <a:r>
              <a:rPr lang="en-US" sz="2000"/>
              <a:t>Use use-case flow of events as input </a:t>
            </a:r>
            <a:endParaRPr/>
          </a:p>
          <a:p>
            <a:pPr indent="-342900" lvl="0" marL="342900" rtl="0" algn="l">
              <a:lnSpc>
                <a:spcPct val="70000"/>
              </a:lnSpc>
              <a:spcBef>
                <a:spcPts val="400"/>
              </a:spcBef>
              <a:spcAft>
                <a:spcPts val="0"/>
              </a:spcAft>
              <a:buClr>
                <a:srgbClr val="000000"/>
              </a:buClr>
              <a:buSzPts val="2000"/>
              <a:buChar char="❖"/>
            </a:pPr>
            <a:r>
              <a:rPr lang="en-US" sz="2000"/>
              <a:t>Key abstractions of the use case</a:t>
            </a:r>
            <a:endParaRPr/>
          </a:p>
          <a:p>
            <a:pPr indent="-342900" lvl="0" marL="342900" rtl="0" algn="l">
              <a:lnSpc>
                <a:spcPct val="70000"/>
              </a:lnSpc>
              <a:spcBef>
                <a:spcPts val="400"/>
              </a:spcBef>
              <a:spcAft>
                <a:spcPts val="0"/>
              </a:spcAft>
              <a:buClr>
                <a:srgbClr val="000000"/>
              </a:buClr>
              <a:buSzPts val="2000"/>
              <a:buChar char="❖"/>
            </a:pPr>
            <a:r>
              <a:rPr lang="en-US" sz="2000"/>
              <a:t>Traditional, filtering nouns approach</a:t>
            </a:r>
            <a:endParaRPr/>
          </a:p>
          <a:p>
            <a:pPr indent="-285750" lvl="1" marL="742950" rtl="0" algn="l">
              <a:lnSpc>
                <a:spcPct val="77000"/>
              </a:lnSpc>
              <a:spcBef>
                <a:spcPts val="400"/>
              </a:spcBef>
              <a:spcAft>
                <a:spcPts val="0"/>
              </a:spcAft>
              <a:buSzPts val="1000"/>
              <a:buChar char="🞇"/>
            </a:pPr>
            <a:r>
              <a:rPr lang="en-US" sz="2000"/>
              <a:t>Underline noun clauses in the use-case flow of events</a:t>
            </a:r>
            <a:endParaRPr/>
          </a:p>
          <a:p>
            <a:pPr indent="-285750" lvl="1" marL="742950" rtl="0" algn="l">
              <a:lnSpc>
                <a:spcPct val="77000"/>
              </a:lnSpc>
              <a:spcBef>
                <a:spcPts val="400"/>
              </a:spcBef>
              <a:spcAft>
                <a:spcPts val="0"/>
              </a:spcAft>
              <a:buSzPts val="1000"/>
              <a:buChar char="🞇"/>
            </a:pPr>
            <a:r>
              <a:rPr lang="en-US" sz="2000"/>
              <a:t>Remove redundant candidates</a:t>
            </a:r>
            <a:endParaRPr/>
          </a:p>
          <a:p>
            <a:pPr indent="-285750" lvl="1" marL="742950" rtl="0" algn="l">
              <a:lnSpc>
                <a:spcPct val="77000"/>
              </a:lnSpc>
              <a:spcBef>
                <a:spcPts val="400"/>
              </a:spcBef>
              <a:spcAft>
                <a:spcPts val="0"/>
              </a:spcAft>
              <a:buSzPts val="1000"/>
              <a:buChar char="🞇"/>
            </a:pPr>
            <a:r>
              <a:rPr lang="en-US" sz="2000"/>
              <a:t>Remove vague candidates</a:t>
            </a:r>
            <a:endParaRPr/>
          </a:p>
          <a:p>
            <a:pPr indent="-285750" lvl="1" marL="742950" rtl="0" algn="l">
              <a:lnSpc>
                <a:spcPct val="77000"/>
              </a:lnSpc>
              <a:spcBef>
                <a:spcPts val="400"/>
              </a:spcBef>
              <a:spcAft>
                <a:spcPts val="0"/>
              </a:spcAft>
              <a:buSzPts val="1000"/>
              <a:buChar char="🞇"/>
            </a:pPr>
            <a:r>
              <a:rPr lang="en-US" sz="2000"/>
              <a:t>Remove actors (out of scope)</a:t>
            </a:r>
            <a:endParaRPr/>
          </a:p>
          <a:p>
            <a:pPr indent="-285750" lvl="1" marL="742950" rtl="0" algn="l">
              <a:lnSpc>
                <a:spcPct val="77000"/>
              </a:lnSpc>
              <a:spcBef>
                <a:spcPts val="400"/>
              </a:spcBef>
              <a:spcAft>
                <a:spcPts val="0"/>
              </a:spcAft>
              <a:buSzPts val="1000"/>
              <a:buChar char="🞇"/>
            </a:pPr>
            <a:r>
              <a:rPr lang="en-US" sz="2000"/>
              <a:t>Remove implementation constructs</a:t>
            </a:r>
            <a:endParaRPr/>
          </a:p>
          <a:p>
            <a:pPr indent="-285750" lvl="1" marL="742950" rtl="0" algn="l">
              <a:lnSpc>
                <a:spcPct val="77000"/>
              </a:lnSpc>
              <a:spcBef>
                <a:spcPts val="400"/>
              </a:spcBef>
              <a:spcAft>
                <a:spcPts val="0"/>
              </a:spcAft>
              <a:buSzPts val="1000"/>
              <a:buChar char="🞇"/>
            </a:pPr>
            <a:r>
              <a:rPr lang="en-US" sz="2000"/>
              <a:t>Remove attributes (save for later)</a:t>
            </a:r>
            <a:endParaRPr/>
          </a:p>
          <a:p>
            <a:pPr indent="-285750" lvl="1" marL="742950" rtl="0" algn="l">
              <a:lnSpc>
                <a:spcPct val="77000"/>
              </a:lnSpc>
              <a:spcBef>
                <a:spcPts val="400"/>
              </a:spcBef>
              <a:spcAft>
                <a:spcPts val="0"/>
              </a:spcAft>
              <a:buSzPts val="1000"/>
              <a:buChar char="🞇"/>
            </a:pPr>
            <a:r>
              <a:rPr lang="en-US" sz="2000"/>
              <a:t>Remove operations</a:t>
            </a:r>
            <a:endParaRPr/>
          </a:p>
          <a:p>
            <a:pPr indent="-215900" lvl="0" marL="342900" rtl="0" algn="l">
              <a:lnSpc>
                <a:spcPct val="70000"/>
              </a:lnSpc>
              <a:spcBef>
                <a:spcPts val="400"/>
              </a:spcBef>
              <a:spcAft>
                <a:spcPts val="0"/>
              </a:spcAft>
              <a:buClr>
                <a:srgbClr val="000000"/>
              </a:buClr>
              <a:buSzPts val="2000"/>
              <a:buNone/>
            </a:pPr>
            <a:r>
              <a:t/>
            </a:r>
            <a:endParaRPr sz="2000"/>
          </a:p>
        </p:txBody>
      </p:sp>
      <p:sp>
        <p:nvSpPr>
          <p:cNvPr id="760" name="Google Shape;760;p1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4"/>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Candidate Entity Classes</a:t>
            </a:r>
            <a:endParaRPr/>
          </a:p>
        </p:txBody>
      </p:sp>
      <p:sp>
        <p:nvSpPr>
          <p:cNvPr id="769" name="Google Shape;769;p14"/>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Register for Courses (Create Schedule)</a:t>
            </a:r>
            <a:endParaRPr/>
          </a:p>
        </p:txBody>
      </p:sp>
      <p:sp>
        <p:nvSpPr>
          <p:cNvPr id="770" name="Google Shape;770;p14"/>
          <p:cNvSpPr/>
          <p:nvPr/>
        </p:nvSpPr>
        <p:spPr>
          <a:xfrm>
            <a:off x="4151334" y="3988600"/>
            <a:ext cx="1436700" cy="20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Student</a:t>
            </a:r>
            <a:endParaRPr/>
          </a:p>
        </p:txBody>
      </p:sp>
      <p:grpSp>
        <p:nvGrpSpPr>
          <p:cNvPr id="771" name="Google Shape;771;p14"/>
          <p:cNvGrpSpPr/>
          <p:nvPr/>
        </p:nvGrpSpPr>
        <p:grpSpPr>
          <a:xfrm>
            <a:off x="4076700" y="3176588"/>
            <a:ext cx="965200" cy="742950"/>
            <a:chOff x="4192" y="2208"/>
            <a:chExt cx="464" cy="473"/>
          </a:xfrm>
        </p:grpSpPr>
        <p:sp>
          <p:nvSpPr>
            <p:cNvPr id="772" name="Google Shape;772;p14"/>
            <p:cNvSpPr/>
            <p:nvPr/>
          </p:nvSpPr>
          <p:spPr>
            <a:xfrm>
              <a:off x="4192" y="2208"/>
              <a:ext cx="458" cy="46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73" name="Google Shape;773;p14"/>
            <p:cNvCxnSpPr/>
            <p:nvPr/>
          </p:nvCxnSpPr>
          <p:spPr>
            <a:xfrm>
              <a:off x="4198" y="2680"/>
              <a:ext cx="458" cy="1"/>
            </a:xfrm>
            <a:prstGeom prst="straightConnector1">
              <a:avLst/>
            </a:prstGeom>
            <a:noFill/>
            <a:ln cap="flat" cmpd="sng" w="38100">
              <a:solidFill>
                <a:srgbClr val="000000"/>
              </a:solidFill>
              <a:prstDash val="solid"/>
              <a:round/>
              <a:headEnd len="med" w="med" type="none"/>
              <a:tailEnd len="med" w="med" type="none"/>
            </a:ln>
          </p:spPr>
        </p:cxnSp>
      </p:grpSp>
      <p:sp>
        <p:nvSpPr>
          <p:cNvPr id="774" name="Google Shape;774;p14"/>
          <p:cNvSpPr/>
          <p:nvPr/>
        </p:nvSpPr>
        <p:spPr>
          <a:xfrm>
            <a:off x="5618180" y="2512225"/>
            <a:ext cx="1338000" cy="20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Schedule</a:t>
            </a:r>
            <a:endParaRPr/>
          </a:p>
        </p:txBody>
      </p:sp>
      <p:grpSp>
        <p:nvGrpSpPr>
          <p:cNvPr id="775" name="Google Shape;775;p14"/>
          <p:cNvGrpSpPr/>
          <p:nvPr/>
        </p:nvGrpSpPr>
        <p:grpSpPr>
          <a:xfrm>
            <a:off x="5588000" y="1657350"/>
            <a:ext cx="965200" cy="742950"/>
            <a:chOff x="4192" y="2208"/>
            <a:chExt cx="464" cy="473"/>
          </a:xfrm>
        </p:grpSpPr>
        <p:sp>
          <p:nvSpPr>
            <p:cNvPr id="776" name="Google Shape;776;p14"/>
            <p:cNvSpPr/>
            <p:nvPr/>
          </p:nvSpPr>
          <p:spPr>
            <a:xfrm>
              <a:off x="4192" y="2208"/>
              <a:ext cx="458" cy="46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77" name="Google Shape;777;p14"/>
            <p:cNvCxnSpPr/>
            <p:nvPr/>
          </p:nvCxnSpPr>
          <p:spPr>
            <a:xfrm>
              <a:off x="4198" y="2680"/>
              <a:ext cx="458" cy="1"/>
            </a:xfrm>
            <a:prstGeom prst="straightConnector1">
              <a:avLst/>
            </a:prstGeom>
            <a:noFill/>
            <a:ln cap="flat" cmpd="sng" w="38100">
              <a:solidFill>
                <a:srgbClr val="000000"/>
              </a:solidFill>
              <a:prstDash val="solid"/>
              <a:round/>
              <a:headEnd len="med" w="med" type="none"/>
              <a:tailEnd len="med" w="med" type="none"/>
            </a:ln>
          </p:spPr>
        </p:cxnSp>
      </p:grpSp>
      <p:sp>
        <p:nvSpPr>
          <p:cNvPr id="778" name="Google Shape;778;p14"/>
          <p:cNvSpPr/>
          <p:nvPr/>
        </p:nvSpPr>
        <p:spPr>
          <a:xfrm>
            <a:off x="2371725" y="2500313"/>
            <a:ext cx="1549500" cy="20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CourseOffering</a:t>
            </a:r>
            <a:endParaRPr sz="1800">
              <a:solidFill>
                <a:srgbClr val="000000"/>
              </a:solidFill>
              <a:latin typeface="Arial"/>
              <a:ea typeface="Arial"/>
              <a:cs typeface="Arial"/>
              <a:sym typeface="Arial"/>
            </a:endParaRPr>
          </a:p>
        </p:txBody>
      </p:sp>
      <p:grpSp>
        <p:nvGrpSpPr>
          <p:cNvPr id="779" name="Google Shape;779;p14"/>
          <p:cNvGrpSpPr/>
          <p:nvPr/>
        </p:nvGrpSpPr>
        <p:grpSpPr>
          <a:xfrm>
            <a:off x="2654300" y="1657350"/>
            <a:ext cx="965200" cy="742950"/>
            <a:chOff x="4192" y="2208"/>
            <a:chExt cx="464" cy="473"/>
          </a:xfrm>
        </p:grpSpPr>
        <p:sp>
          <p:nvSpPr>
            <p:cNvPr id="780" name="Google Shape;780;p14"/>
            <p:cNvSpPr/>
            <p:nvPr/>
          </p:nvSpPr>
          <p:spPr>
            <a:xfrm>
              <a:off x="4192" y="2208"/>
              <a:ext cx="458" cy="46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81" name="Google Shape;781;p14"/>
            <p:cNvCxnSpPr/>
            <p:nvPr/>
          </p:nvCxnSpPr>
          <p:spPr>
            <a:xfrm>
              <a:off x="4198" y="2680"/>
              <a:ext cx="458" cy="1"/>
            </a:xfrm>
            <a:prstGeom prst="straightConnector1">
              <a:avLst/>
            </a:prstGeom>
            <a:noFill/>
            <a:ln cap="flat" cmpd="sng" w="38100">
              <a:solidFill>
                <a:srgbClr val="000000"/>
              </a:solidFill>
              <a:prstDash val="solid"/>
              <a:round/>
              <a:headEnd len="med" w="med" type="none"/>
              <a:tailEnd len="med" w="med" type="none"/>
            </a:ln>
          </p:spPr>
        </p:cxnSp>
      </p:grpSp>
      <p:sp>
        <p:nvSpPr>
          <p:cNvPr id="782" name="Google Shape;782;p14"/>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5"/>
          <p:cNvSpPr txBox="1"/>
          <p:nvPr/>
        </p:nvSpPr>
        <p:spPr>
          <a:xfrm>
            <a:off x="1968500" y="3448050"/>
            <a:ext cx="15240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rgbClr val="FF0000"/>
                </a:solidFill>
                <a:latin typeface="Arial"/>
                <a:ea typeface="Arial"/>
                <a:cs typeface="Arial"/>
                <a:sym typeface="Arial"/>
              </a:rPr>
              <a:t>Use Case</a:t>
            </a:r>
            <a:endParaRPr/>
          </a:p>
        </p:txBody>
      </p:sp>
      <p:grpSp>
        <p:nvGrpSpPr>
          <p:cNvPr id="791" name="Google Shape;791;p15"/>
          <p:cNvGrpSpPr/>
          <p:nvPr/>
        </p:nvGrpSpPr>
        <p:grpSpPr>
          <a:xfrm>
            <a:off x="1993900" y="2009775"/>
            <a:ext cx="1196975" cy="1200150"/>
            <a:chOff x="446" y="2208"/>
            <a:chExt cx="754" cy="1008"/>
          </a:xfrm>
        </p:grpSpPr>
        <p:sp>
          <p:nvSpPr>
            <p:cNvPr id="792" name="Google Shape;792;p15"/>
            <p:cNvSpPr/>
            <p:nvPr/>
          </p:nvSpPr>
          <p:spPr>
            <a:xfrm>
              <a:off x="446" y="2208"/>
              <a:ext cx="624" cy="288"/>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93" name="Google Shape;793;p15"/>
            <p:cNvSpPr/>
            <p:nvPr/>
          </p:nvSpPr>
          <p:spPr>
            <a:xfrm>
              <a:off x="768" y="2496"/>
              <a:ext cx="432" cy="72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794" name="Google Shape;794;p15"/>
            <p:cNvCxnSpPr/>
            <p:nvPr/>
          </p:nvCxnSpPr>
          <p:spPr>
            <a:xfrm>
              <a:off x="1056" y="2496"/>
              <a:ext cx="144" cy="144"/>
            </a:xfrm>
            <a:prstGeom prst="straightConnector1">
              <a:avLst/>
            </a:prstGeom>
            <a:noFill/>
            <a:ln cap="flat" cmpd="sng" w="28575">
              <a:solidFill>
                <a:srgbClr val="000000"/>
              </a:solidFill>
              <a:prstDash val="solid"/>
              <a:round/>
              <a:headEnd len="sm" w="sm" type="none"/>
              <a:tailEnd len="sm" w="sm" type="none"/>
            </a:ln>
          </p:spPr>
        </p:cxnSp>
        <p:cxnSp>
          <p:nvCxnSpPr>
            <p:cNvPr id="795" name="Google Shape;795;p15"/>
            <p:cNvCxnSpPr/>
            <p:nvPr/>
          </p:nvCxnSpPr>
          <p:spPr>
            <a:xfrm>
              <a:off x="1056" y="2496"/>
              <a:ext cx="0" cy="144"/>
            </a:xfrm>
            <a:prstGeom prst="straightConnector1">
              <a:avLst/>
            </a:prstGeom>
            <a:noFill/>
            <a:ln cap="flat" cmpd="sng" w="28575">
              <a:solidFill>
                <a:srgbClr val="000000"/>
              </a:solidFill>
              <a:prstDash val="solid"/>
              <a:round/>
              <a:headEnd len="sm" w="sm" type="none"/>
              <a:tailEnd len="sm" w="sm" type="none"/>
            </a:ln>
          </p:spPr>
        </p:cxnSp>
        <p:cxnSp>
          <p:nvCxnSpPr>
            <p:cNvPr id="796" name="Google Shape;796;p15"/>
            <p:cNvCxnSpPr/>
            <p:nvPr/>
          </p:nvCxnSpPr>
          <p:spPr>
            <a:xfrm rot="10800000">
              <a:off x="1056" y="2640"/>
              <a:ext cx="144" cy="0"/>
            </a:xfrm>
            <a:prstGeom prst="straightConnector1">
              <a:avLst/>
            </a:prstGeom>
            <a:noFill/>
            <a:ln cap="flat" cmpd="sng" w="28575">
              <a:solidFill>
                <a:srgbClr val="000000"/>
              </a:solidFill>
              <a:prstDash val="solid"/>
              <a:round/>
              <a:headEnd len="sm" w="sm" type="none"/>
              <a:tailEnd len="sm" w="sm" type="none"/>
            </a:ln>
          </p:spPr>
        </p:cxnSp>
        <p:cxnSp>
          <p:nvCxnSpPr>
            <p:cNvPr id="797" name="Google Shape;797;p15"/>
            <p:cNvCxnSpPr/>
            <p:nvPr/>
          </p:nvCxnSpPr>
          <p:spPr>
            <a:xfrm>
              <a:off x="816" y="2736"/>
              <a:ext cx="336" cy="0"/>
            </a:xfrm>
            <a:prstGeom prst="straightConnector1">
              <a:avLst/>
            </a:prstGeom>
            <a:noFill/>
            <a:ln cap="flat" cmpd="sng" w="28575">
              <a:solidFill>
                <a:srgbClr val="000000"/>
              </a:solidFill>
              <a:prstDash val="solid"/>
              <a:round/>
              <a:headEnd len="sm" w="sm" type="none"/>
              <a:tailEnd len="sm" w="sm" type="none"/>
            </a:ln>
          </p:spPr>
        </p:cxnSp>
        <p:cxnSp>
          <p:nvCxnSpPr>
            <p:cNvPr id="798" name="Google Shape;798;p15"/>
            <p:cNvCxnSpPr/>
            <p:nvPr/>
          </p:nvCxnSpPr>
          <p:spPr>
            <a:xfrm>
              <a:off x="816" y="2784"/>
              <a:ext cx="336" cy="0"/>
            </a:xfrm>
            <a:prstGeom prst="straightConnector1">
              <a:avLst/>
            </a:prstGeom>
            <a:noFill/>
            <a:ln cap="flat" cmpd="sng" w="28575">
              <a:solidFill>
                <a:srgbClr val="000000"/>
              </a:solidFill>
              <a:prstDash val="solid"/>
              <a:round/>
              <a:headEnd len="sm" w="sm" type="none"/>
              <a:tailEnd len="sm" w="sm" type="none"/>
            </a:ln>
          </p:spPr>
        </p:cxnSp>
        <p:cxnSp>
          <p:nvCxnSpPr>
            <p:cNvPr id="799" name="Google Shape;799;p15"/>
            <p:cNvCxnSpPr/>
            <p:nvPr/>
          </p:nvCxnSpPr>
          <p:spPr>
            <a:xfrm>
              <a:off x="816" y="2832"/>
              <a:ext cx="336" cy="0"/>
            </a:xfrm>
            <a:prstGeom prst="straightConnector1">
              <a:avLst/>
            </a:prstGeom>
            <a:noFill/>
            <a:ln cap="flat" cmpd="sng" w="28575">
              <a:solidFill>
                <a:srgbClr val="000000"/>
              </a:solidFill>
              <a:prstDash val="solid"/>
              <a:round/>
              <a:headEnd len="sm" w="sm" type="none"/>
              <a:tailEnd len="sm" w="sm" type="none"/>
            </a:ln>
          </p:spPr>
        </p:cxnSp>
        <p:cxnSp>
          <p:nvCxnSpPr>
            <p:cNvPr id="800" name="Google Shape;800;p15"/>
            <p:cNvCxnSpPr/>
            <p:nvPr/>
          </p:nvCxnSpPr>
          <p:spPr>
            <a:xfrm>
              <a:off x="816" y="2928"/>
              <a:ext cx="336" cy="0"/>
            </a:xfrm>
            <a:prstGeom prst="straightConnector1">
              <a:avLst/>
            </a:prstGeom>
            <a:noFill/>
            <a:ln cap="flat" cmpd="sng" w="28575">
              <a:solidFill>
                <a:srgbClr val="000000"/>
              </a:solidFill>
              <a:prstDash val="solid"/>
              <a:round/>
              <a:headEnd len="sm" w="sm" type="none"/>
              <a:tailEnd len="sm" w="sm" type="none"/>
            </a:ln>
          </p:spPr>
        </p:cxnSp>
        <p:cxnSp>
          <p:nvCxnSpPr>
            <p:cNvPr id="801" name="Google Shape;801;p15"/>
            <p:cNvCxnSpPr/>
            <p:nvPr/>
          </p:nvCxnSpPr>
          <p:spPr>
            <a:xfrm>
              <a:off x="816" y="2880"/>
              <a:ext cx="336" cy="0"/>
            </a:xfrm>
            <a:prstGeom prst="straightConnector1">
              <a:avLst/>
            </a:prstGeom>
            <a:noFill/>
            <a:ln cap="flat" cmpd="sng" w="28575">
              <a:solidFill>
                <a:srgbClr val="000000"/>
              </a:solidFill>
              <a:prstDash val="solid"/>
              <a:round/>
              <a:headEnd len="sm" w="sm" type="none"/>
              <a:tailEnd len="sm" w="sm" type="none"/>
            </a:ln>
          </p:spPr>
        </p:cxnSp>
        <p:cxnSp>
          <p:nvCxnSpPr>
            <p:cNvPr id="802" name="Google Shape;802;p15"/>
            <p:cNvCxnSpPr/>
            <p:nvPr/>
          </p:nvCxnSpPr>
          <p:spPr>
            <a:xfrm>
              <a:off x="816" y="2976"/>
              <a:ext cx="336" cy="0"/>
            </a:xfrm>
            <a:prstGeom prst="straightConnector1">
              <a:avLst/>
            </a:prstGeom>
            <a:noFill/>
            <a:ln cap="flat" cmpd="sng" w="28575">
              <a:solidFill>
                <a:srgbClr val="000000"/>
              </a:solidFill>
              <a:prstDash val="solid"/>
              <a:round/>
              <a:headEnd len="sm" w="sm" type="none"/>
              <a:tailEnd len="sm" w="sm" type="none"/>
            </a:ln>
          </p:spPr>
        </p:cxnSp>
        <p:cxnSp>
          <p:nvCxnSpPr>
            <p:cNvPr id="803" name="Google Shape;803;p15"/>
            <p:cNvCxnSpPr/>
            <p:nvPr/>
          </p:nvCxnSpPr>
          <p:spPr>
            <a:xfrm>
              <a:off x="816" y="3024"/>
              <a:ext cx="336" cy="0"/>
            </a:xfrm>
            <a:prstGeom prst="straightConnector1">
              <a:avLst/>
            </a:prstGeom>
            <a:noFill/>
            <a:ln cap="flat" cmpd="sng" w="28575">
              <a:solidFill>
                <a:srgbClr val="000000"/>
              </a:solidFill>
              <a:prstDash val="solid"/>
              <a:round/>
              <a:headEnd len="sm" w="sm" type="none"/>
              <a:tailEnd len="sm" w="sm" type="none"/>
            </a:ln>
          </p:spPr>
        </p:cxnSp>
        <p:cxnSp>
          <p:nvCxnSpPr>
            <p:cNvPr id="804" name="Google Shape;804;p15"/>
            <p:cNvCxnSpPr/>
            <p:nvPr/>
          </p:nvCxnSpPr>
          <p:spPr>
            <a:xfrm>
              <a:off x="816" y="3072"/>
              <a:ext cx="336" cy="0"/>
            </a:xfrm>
            <a:prstGeom prst="straightConnector1">
              <a:avLst/>
            </a:prstGeom>
            <a:noFill/>
            <a:ln cap="flat" cmpd="sng" w="28575">
              <a:solidFill>
                <a:srgbClr val="000000"/>
              </a:solidFill>
              <a:prstDash val="solid"/>
              <a:round/>
              <a:headEnd len="sm" w="sm" type="none"/>
              <a:tailEnd len="sm" w="sm" type="none"/>
            </a:ln>
          </p:spPr>
        </p:cxnSp>
        <p:cxnSp>
          <p:nvCxnSpPr>
            <p:cNvPr id="805" name="Google Shape;805;p15"/>
            <p:cNvCxnSpPr/>
            <p:nvPr/>
          </p:nvCxnSpPr>
          <p:spPr>
            <a:xfrm>
              <a:off x="816" y="3120"/>
              <a:ext cx="336" cy="0"/>
            </a:xfrm>
            <a:prstGeom prst="straightConnector1">
              <a:avLst/>
            </a:prstGeom>
            <a:noFill/>
            <a:ln cap="flat" cmpd="sng" w="28575">
              <a:solidFill>
                <a:srgbClr val="000000"/>
              </a:solidFill>
              <a:prstDash val="solid"/>
              <a:round/>
              <a:headEnd len="sm" w="sm" type="none"/>
              <a:tailEnd len="sm" w="sm" type="none"/>
            </a:ln>
          </p:spPr>
        </p:cxnSp>
        <p:cxnSp>
          <p:nvCxnSpPr>
            <p:cNvPr id="806" name="Google Shape;806;p15"/>
            <p:cNvCxnSpPr/>
            <p:nvPr/>
          </p:nvCxnSpPr>
          <p:spPr>
            <a:xfrm>
              <a:off x="816" y="3168"/>
              <a:ext cx="336" cy="0"/>
            </a:xfrm>
            <a:prstGeom prst="straightConnector1">
              <a:avLst/>
            </a:prstGeom>
            <a:noFill/>
            <a:ln cap="flat" cmpd="sng" w="28575">
              <a:solidFill>
                <a:srgbClr val="000000"/>
              </a:solidFill>
              <a:prstDash val="solid"/>
              <a:round/>
              <a:headEnd len="sm" w="sm" type="none"/>
              <a:tailEnd len="sm" w="sm" type="none"/>
            </a:ln>
          </p:spPr>
        </p:cxnSp>
        <p:cxnSp>
          <p:nvCxnSpPr>
            <p:cNvPr id="807" name="Google Shape;807;p15"/>
            <p:cNvCxnSpPr/>
            <p:nvPr/>
          </p:nvCxnSpPr>
          <p:spPr>
            <a:xfrm>
              <a:off x="816" y="2688"/>
              <a:ext cx="336" cy="0"/>
            </a:xfrm>
            <a:prstGeom prst="straightConnector1">
              <a:avLst/>
            </a:prstGeom>
            <a:noFill/>
            <a:ln cap="flat" cmpd="sng" w="28575">
              <a:solidFill>
                <a:srgbClr val="000000"/>
              </a:solidFill>
              <a:prstDash val="solid"/>
              <a:round/>
              <a:headEnd len="sm" w="sm" type="none"/>
              <a:tailEnd len="sm" w="sm" type="none"/>
            </a:ln>
          </p:spPr>
        </p:cxnSp>
        <p:cxnSp>
          <p:nvCxnSpPr>
            <p:cNvPr id="808" name="Google Shape;808;p15"/>
            <p:cNvCxnSpPr/>
            <p:nvPr/>
          </p:nvCxnSpPr>
          <p:spPr>
            <a:xfrm>
              <a:off x="816" y="2592"/>
              <a:ext cx="209" cy="0"/>
            </a:xfrm>
            <a:prstGeom prst="straightConnector1">
              <a:avLst/>
            </a:prstGeom>
            <a:noFill/>
            <a:ln cap="flat" cmpd="sng" w="28575">
              <a:solidFill>
                <a:srgbClr val="000000"/>
              </a:solidFill>
              <a:prstDash val="solid"/>
              <a:round/>
              <a:headEnd len="sm" w="sm" type="none"/>
              <a:tailEnd len="sm" w="sm" type="none"/>
            </a:ln>
          </p:spPr>
        </p:cxnSp>
        <p:cxnSp>
          <p:nvCxnSpPr>
            <p:cNvPr id="809" name="Google Shape;809;p15"/>
            <p:cNvCxnSpPr/>
            <p:nvPr/>
          </p:nvCxnSpPr>
          <p:spPr>
            <a:xfrm>
              <a:off x="816" y="2544"/>
              <a:ext cx="209" cy="0"/>
            </a:xfrm>
            <a:prstGeom prst="straightConnector1">
              <a:avLst/>
            </a:prstGeom>
            <a:noFill/>
            <a:ln cap="flat" cmpd="sng" w="28575">
              <a:solidFill>
                <a:srgbClr val="000000"/>
              </a:solidFill>
              <a:prstDash val="solid"/>
              <a:round/>
              <a:headEnd len="sm" w="sm" type="none"/>
              <a:tailEnd len="sm" w="sm" type="none"/>
            </a:ln>
          </p:spPr>
        </p:cxnSp>
        <p:cxnSp>
          <p:nvCxnSpPr>
            <p:cNvPr id="810" name="Google Shape;810;p15"/>
            <p:cNvCxnSpPr/>
            <p:nvPr/>
          </p:nvCxnSpPr>
          <p:spPr>
            <a:xfrm>
              <a:off x="816" y="2640"/>
              <a:ext cx="209" cy="0"/>
            </a:xfrm>
            <a:prstGeom prst="straightConnector1">
              <a:avLst/>
            </a:prstGeom>
            <a:noFill/>
            <a:ln cap="flat" cmpd="sng" w="28575">
              <a:solidFill>
                <a:srgbClr val="000000"/>
              </a:solidFill>
              <a:prstDash val="solid"/>
              <a:round/>
              <a:headEnd len="sm" w="sm" type="none"/>
              <a:tailEnd len="sm" w="sm" type="none"/>
            </a:ln>
          </p:spPr>
        </p:cxnSp>
      </p:grpSp>
      <p:sp>
        <p:nvSpPr>
          <p:cNvPr id="811" name="Google Shape;811;p15"/>
          <p:cNvSpPr txBox="1"/>
          <p:nvPr/>
        </p:nvSpPr>
        <p:spPr>
          <a:xfrm>
            <a:off x="1295400" y="4331494"/>
            <a:ext cx="6858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0000"/>
                </a:solidFill>
                <a:latin typeface="Arial"/>
                <a:ea typeface="Arial"/>
                <a:cs typeface="Arial"/>
                <a:sym typeface="Arial"/>
              </a:rPr>
              <a:t>Use-case dependent. Environment independent.</a:t>
            </a:r>
            <a:endParaRPr/>
          </a:p>
        </p:txBody>
      </p:sp>
      <p:sp>
        <p:nvSpPr>
          <p:cNvPr id="812" name="Google Shape;812;p15"/>
          <p:cNvSpPr txBox="1"/>
          <p:nvPr/>
        </p:nvSpPr>
        <p:spPr>
          <a:xfrm>
            <a:off x="6311900" y="3443288"/>
            <a:ext cx="1841400" cy="66330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1800">
                <a:solidFill>
                  <a:srgbClr val="000000"/>
                </a:solidFill>
                <a:latin typeface="Arial"/>
                <a:ea typeface="Arial"/>
                <a:cs typeface="Arial"/>
                <a:sym typeface="Arial"/>
              </a:rPr>
              <a:t>Analysis class stereotype</a:t>
            </a:r>
            <a:endParaRPr/>
          </a:p>
        </p:txBody>
      </p:sp>
      <p:cxnSp>
        <p:nvCxnSpPr>
          <p:cNvPr id="813" name="Google Shape;813;p15"/>
          <p:cNvCxnSpPr/>
          <p:nvPr/>
        </p:nvCxnSpPr>
        <p:spPr>
          <a:xfrm rot="10800000">
            <a:off x="6616600" y="3009825"/>
            <a:ext cx="558900" cy="428700"/>
          </a:xfrm>
          <a:prstGeom prst="straightConnector1">
            <a:avLst/>
          </a:prstGeom>
          <a:noFill/>
          <a:ln cap="flat" cmpd="sng" w="38100">
            <a:solidFill>
              <a:srgbClr val="000000"/>
            </a:solidFill>
            <a:prstDash val="solid"/>
            <a:round/>
            <a:headEnd len="med" w="med" type="none"/>
            <a:tailEnd len="med" w="med" type="triangle"/>
          </a:ln>
        </p:spPr>
      </p:cxnSp>
      <p:sp>
        <p:nvSpPr>
          <p:cNvPr id="814" name="Google Shape;814;p15"/>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What Is a Control Class?</a:t>
            </a:r>
            <a:endParaRPr/>
          </a:p>
        </p:txBody>
      </p:sp>
      <p:sp>
        <p:nvSpPr>
          <p:cNvPr id="815" name="Google Shape;815;p15"/>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Use-case behavior coordinator</a:t>
            </a:r>
            <a:endParaRPr/>
          </a:p>
          <a:p>
            <a:pPr indent="-285750" lvl="1" marL="742950" rtl="0" algn="l">
              <a:spcBef>
                <a:spcPts val="400"/>
              </a:spcBef>
              <a:spcAft>
                <a:spcPts val="0"/>
              </a:spcAft>
              <a:buSzPts val="1000"/>
              <a:buChar char="🞇"/>
            </a:pPr>
            <a:r>
              <a:rPr lang="en-US" sz="2000"/>
              <a:t>More complex use cases generally require one or more control cases</a:t>
            </a:r>
            <a:endParaRPr/>
          </a:p>
        </p:txBody>
      </p:sp>
      <p:grpSp>
        <p:nvGrpSpPr>
          <p:cNvPr id="816" name="Google Shape;816;p15"/>
          <p:cNvGrpSpPr/>
          <p:nvPr/>
        </p:nvGrpSpPr>
        <p:grpSpPr>
          <a:xfrm>
            <a:off x="5643563" y="2276475"/>
            <a:ext cx="985837" cy="760810"/>
            <a:chOff x="1019" y="2289"/>
            <a:chExt cx="418" cy="444"/>
          </a:xfrm>
        </p:grpSpPr>
        <p:sp>
          <p:nvSpPr>
            <p:cNvPr id="817" name="Google Shape;817;p15"/>
            <p:cNvSpPr/>
            <p:nvPr/>
          </p:nvSpPr>
          <p:spPr>
            <a:xfrm>
              <a:off x="1019" y="2323"/>
              <a:ext cx="418" cy="410"/>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18" name="Google Shape;818;p15"/>
            <p:cNvCxnSpPr/>
            <p:nvPr/>
          </p:nvCxnSpPr>
          <p:spPr>
            <a:xfrm flipH="1">
              <a:off x="1178" y="2289"/>
              <a:ext cx="92" cy="42"/>
            </a:xfrm>
            <a:prstGeom prst="straightConnector1">
              <a:avLst/>
            </a:prstGeom>
            <a:noFill/>
            <a:ln cap="flat" cmpd="sng" w="38100">
              <a:solidFill>
                <a:srgbClr val="000000"/>
              </a:solidFill>
              <a:prstDash val="solid"/>
              <a:round/>
              <a:headEnd len="med" w="med" type="none"/>
              <a:tailEnd len="med" w="med" type="none"/>
            </a:ln>
          </p:spPr>
        </p:cxnSp>
        <p:cxnSp>
          <p:nvCxnSpPr>
            <p:cNvPr id="819" name="Google Shape;819;p15"/>
            <p:cNvCxnSpPr/>
            <p:nvPr/>
          </p:nvCxnSpPr>
          <p:spPr>
            <a:xfrm rot="10800000">
              <a:off x="1178" y="2331"/>
              <a:ext cx="92" cy="33"/>
            </a:xfrm>
            <a:prstGeom prst="straightConnector1">
              <a:avLst/>
            </a:prstGeom>
            <a:noFill/>
            <a:ln cap="flat" cmpd="sng" w="38100">
              <a:solidFill>
                <a:srgbClr val="000000"/>
              </a:solidFill>
              <a:prstDash val="solid"/>
              <a:round/>
              <a:headEnd len="med" w="med" type="none"/>
              <a:tailEnd len="med" w="med" type="none"/>
            </a:ln>
          </p:spPr>
        </p:cxnSp>
      </p:grpSp>
      <p:sp>
        <p:nvSpPr>
          <p:cNvPr id="820" name="Google Shape;820;p15"/>
          <p:cNvSpPr/>
          <p:nvPr/>
        </p:nvSpPr>
        <p:spPr>
          <a:xfrm>
            <a:off x="4300538" y="2469356"/>
            <a:ext cx="539700" cy="400200"/>
          </a:xfrm>
          <a:prstGeom prst="rightArrow">
            <a:avLst>
              <a:gd fmla="val 55954" name="adj1"/>
              <a:gd fmla="val 50295" name="adj2"/>
            </a:avLst>
          </a:prstGeom>
          <a:gradFill>
            <a:gsLst>
              <a:gs pos="0">
                <a:srgbClr val="1244AC"/>
              </a:gs>
              <a:gs pos="80000">
                <a:srgbClr val="175BE3"/>
              </a:gs>
              <a:gs pos="100000">
                <a:srgbClr val="135AE8"/>
              </a:gs>
            </a:gsLst>
            <a:lin ang="16200000" scaled="0"/>
          </a:gradFill>
          <a:ln cap="flat" cmpd="sng" w="9525">
            <a:solidFill>
              <a:srgbClr val="2B62D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21" name="Google Shape;821;p15"/>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6"/>
          <p:cNvSpPr/>
          <p:nvPr/>
        </p:nvSpPr>
        <p:spPr>
          <a:xfrm>
            <a:off x="3813175" y="1323975"/>
            <a:ext cx="1828800" cy="916800"/>
          </a:xfrm>
          <a:prstGeom prst="roundRect">
            <a:avLst>
              <a:gd fmla="val 16667" name="adj"/>
            </a:avLst>
          </a:prstGeom>
          <a:noFill/>
          <a:ln cap="flat" cmpd="sng" w="28575">
            <a:solidFill>
              <a:srgbClr val="000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9" name="Google Shape;829;p16"/>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The Role of a Control Class</a:t>
            </a:r>
            <a:endParaRPr/>
          </a:p>
        </p:txBody>
      </p:sp>
      <p:sp>
        <p:nvSpPr>
          <p:cNvPr id="830" name="Google Shape;830;p16"/>
          <p:cNvSpPr txBox="1"/>
          <p:nvPr/>
        </p:nvSpPr>
        <p:spPr>
          <a:xfrm>
            <a:off x="2286000" y="4386263"/>
            <a:ext cx="49656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FF0000"/>
                </a:solidFill>
                <a:latin typeface="Arial"/>
                <a:ea typeface="Arial"/>
                <a:cs typeface="Arial"/>
                <a:sym typeface="Arial"/>
              </a:rPr>
              <a:t>Coordinate the use-case behavior.</a:t>
            </a:r>
            <a:endParaRPr/>
          </a:p>
        </p:txBody>
      </p:sp>
      <p:grpSp>
        <p:nvGrpSpPr>
          <p:cNvPr id="831" name="Google Shape;831;p16"/>
          <p:cNvGrpSpPr/>
          <p:nvPr/>
        </p:nvGrpSpPr>
        <p:grpSpPr>
          <a:xfrm>
            <a:off x="725488" y="1396604"/>
            <a:ext cx="528637" cy="539353"/>
            <a:chOff x="7654" y="3380"/>
            <a:chExt cx="554" cy="754"/>
          </a:xfrm>
        </p:grpSpPr>
        <p:sp>
          <p:nvSpPr>
            <p:cNvPr id="832" name="Google Shape;832;p16"/>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33" name="Google Shape;833;p16"/>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834" name="Google Shape;834;p16"/>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835" name="Google Shape;835;p16"/>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36" name="Google Shape;836;p16"/>
          <p:cNvSpPr txBox="1"/>
          <p:nvPr/>
        </p:nvSpPr>
        <p:spPr>
          <a:xfrm>
            <a:off x="628650" y="1949050"/>
            <a:ext cx="8190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Actor 1</a:t>
            </a:r>
            <a:endParaRPr/>
          </a:p>
        </p:txBody>
      </p:sp>
      <p:grpSp>
        <p:nvGrpSpPr>
          <p:cNvPr id="837" name="Google Shape;837;p16"/>
          <p:cNvGrpSpPr/>
          <p:nvPr/>
        </p:nvGrpSpPr>
        <p:grpSpPr>
          <a:xfrm>
            <a:off x="7974013" y="1479947"/>
            <a:ext cx="528637" cy="539353"/>
            <a:chOff x="7654" y="3380"/>
            <a:chExt cx="554" cy="754"/>
          </a:xfrm>
        </p:grpSpPr>
        <p:sp>
          <p:nvSpPr>
            <p:cNvPr id="838" name="Google Shape;838;p16"/>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39" name="Google Shape;839;p16"/>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840" name="Google Shape;840;p16"/>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841" name="Google Shape;841;p16"/>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842" name="Google Shape;842;p16"/>
          <p:cNvCxnSpPr/>
          <p:nvPr/>
        </p:nvCxnSpPr>
        <p:spPr>
          <a:xfrm>
            <a:off x="7369175" y="1818085"/>
            <a:ext cx="604800" cy="7200"/>
          </a:xfrm>
          <a:prstGeom prst="straightConnector1">
            <a:avLst/>
          </a:prstGeom>
          <a:noFill/>
          <a:ln cap="flat" cmpd="sng" w="28575">
            <a:solidFill>
              <a:srgbClr val="000000"/>
            </a:solidFill>
            <a:prstDash val="solid"/>
            <a:round/>
            <a:headEnd len="sm" w="sm" type="none"/>
            <a:tailEnd len="sm" w="sm" type="none"/>
          </a:ln>
        </p:spPr>
      </p:cxnSp>
      <p:cxnSp>
        <p:nvCxnSpPr>
          <p:cNvPr id="843" name="Google Shape;843;p16"/>
          <p:cNvCxnSpPr/>
          <p:nvPr/>
        </p:nvCxnSpPr>
        <p:spPr>
          <a:xfrm>
            <a:off x="3514725" y="1779985"/>
            <a:ext cx="441300" cy="2400"/>
          </a:xfrm>
          <a:prstGeom prst="straightConnector1">
            <a:avLst/>
          </a:prstGeom>
          <a:noFill/>
          <a:ln cap="flat" cmpd="sng" w="28575">
            <a:solidFill>
              <a:srgbClr val="000000"/>
            </a:solidFill>
            <a:prstDash val="solid"/>
            <a:round/>
            <a:headEnd len="sm" w="sm" type="none"/>
            <a:tailEnd len="sm" w="sm" type="none"/>
          </a:ln>
        </p:spPr>
      </p:cxnSp>
      <p:cxnSp>
        <p:nvCxnSpPr>
          <p:cNvPr id="844" name="Google Shape;844;p16"/>
          <p:cNvCxnSpPr/>
          <p:nvPr/>
        </p:nvCxnSpPr>
        <p:spPr>
          <a:xfrm flipH="1" rot="10800000">
            <a:off x="3700463" y="2145506"/>
            <a:ext cx="609600" cy="1143000"/>
          </a:xfrm>
          <a:prstGeom prst="straightConnector1">
            <a:avLst/>
          </a:prstGeom>
          <a:noFill/>
          <a:ln cap="flat" cmpd="sng" w="28575">
            <a:solidFill>
              <a:srgbClr val="000000"/>
            </a:solidFill>
            <a:prstDash val="solid"/>
            <a:round/>
            <a:headEnd len="sm" w="sm" type="none"/>
            <a:tailEnd len="sm" w="sm" type="none"/>
          </a:ln>
        </p:spPr>
      </p:cxnSp>
      <p:cxnSp>
        <p:nvCxnSpPr>
          <p:cNvPr id="845" name="Google Shape;845;p16"/>
          <p:cNvCxnSpPr/>
          <p:nvPr/>
        </p:nvCxnSpPr>
        <p:spPr>
          <a:xfrm>
            <a:off x="5232400" y="2146697"/>
            <a:ext cx="754200" cy="1141800"/>
          </a:xfrm>
          <a:prstGeom prst="straightConnector1">
            <a:avLst/>
          </a:prstGeom>
          <a:noFill/>
          <a:ln cap="flat" cmpd="sng" w="28575">
            <a:solidFill>
              <a:srgbClr val="000000"/>
            </a:solidFill>
            <a:prstDash val="solid"/>
            <a:round/>
            <a:headEnd len="sm" w="sm" type="none"/>
            <a:tailEnd len="sm" w="sm" type="none"/>
          </a:ln>
        </p:spPr>
      </p:cxnSp>
      <p:cxnSp>
        <p:nvCxnSpPr>
          <p:cNvPr id="846" name="Google Shape;846;p16"/>
          <p:cNvCxnSpPr/>
          <p:nvPr/>
        </p:nvCxnSpPr>
        <p:spPr>
          <a:xfrm rot="10800000">
            <a:off x="4599138" y="3711179"/>
            <a:ext cx="704700" cy="0"/>
          </a:xfrm>
          <a:prstGeom prst="straightConnector1">
            <a:avLst/>
          </a:prstGeom>
          <a:noFill/>
          <a:ln cap="flat" cmpd="sng" w="28575">
            <a:solidFill>
              <a:srgbClr val="000000"/>
            </a:solidFill>
            <a:prstDash val="solid"/>
            <a:round/>
            <a:headEnd len="sm" w="sm" type="none"/>
            <a:tailEnd len="sm" w="sm" type="none"/>
          </a:ln>
        </p:spPr>
      </p:cxnSp>
      <p:grpSp>
        <p:nvGrpSpPr>
          <p:cNvPr id="847" name="Google Shape;847;p16"/>
          <p:cNvGrpSpPr/>
          <p:nvPr/>
        </p:nvGrpSpPr>
        <p:grpSpPr>
          <a:xfrm>
            <a:off x="2019300" y="1741886"/>
            <a:ext cx="1466850" cy="589360"/>
            <a:chOff x="144" y="1440"/>
            <a:chExt cx="881" cy="510"/>
          </a:xfrm>
        </p:grpSpPr>
        <p:sp>
          <p:nvSpPr>
            <p:cNvPr id="848" name="Google Shape;848;p16"/>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49" name="Google Shape;849;p16"/>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850" name="Google Shape;850;p16"/>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851" name="Google Shape;851;p16"/>
          <p:cNvSpPr txBox="1"/>
          <p:nvPr/>
        </p:nvSpPr>
        <p:spPr>
          <a:xfrm>
            <a:off x="2012950" y="1784750"/>
            <a:ext cx="16875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&lt;&lt;boundary&gt;&gt;</a:t>
            </a:r>
            <a:endParaRPr/>
          </a:p>
        </p:txBody>
      </p:sp>
      <p:grpSp>
        <p:nvGrpSpPr>
          <p:cNvPr id="852" name="Google Shape;852;p16"/>
          <p:cNvGrpSpPr/>
          <p:nvPr/>
        </p:nvGrpSpPr>
        <p:grpSpPr>
          <a:xfrm>
            <a:off x="4000500" y="1481138"/>
            <a:ext cx="1466850" cy="589360"/>
            <a:chOff x="144" y="1440"/>
            <a:chExt cx="881" cy="510"/>
          </a:xfrm>
        </p:grpSpPr>
        <p:sp>
          <p:nvSpPr>
            <p:cNvPr id="853" name="Google Shape;853;p16"/>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54" name="Google Shape;854;p16"/>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855" name="Google Shape;855;p16"/>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856" name="Google Shape;856;p16"/>
          <p:cNvSpPr txBox="1"/>
          <p:nvPr/>
        </p:nvSpPr>
        <p:spPr>
          <a:xfrm>
            <a:off x="4127500" y="1524000"/>
            <a:ext cx="1339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&lt;&lt;control&gt;&gt;</a:t>
            </a:r>
            <a:endParaRPr/>
          </a:p>
        </p:txBody>
      </p:sp>
      <p:grpSp>
        <p:nvGrpSpPr>
          <p:cNvPr id="857" name="Google Shape;857;p16"/>
          <p:cNvGrpSpPr/>
          <p:nvPr/>
        </p:nvGrpSpPr>
        <p:grpSpPr>
          <a:xfrm>
            <a:off x="5876925" y="1762125"/>
            <a:ext cx="1466850" cy="589360"/>
            <a:chOff x="144" y="1440"/>
            <a:chExt cx="881" cy="510"/>
          </a:xfrm>
        </p:grpSpPr>
        <p:sp>
          <p:nvSpPr>
            <p:cNvPr id="858" name="Google Shape;858;p16"/>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59" name="Google Shape;859;p16"/>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860" name="Google Shape;860;p16"/>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861" name="Google Shape;861;p16"/>
          <p:cNvSpPr txBox="1"/>
          <p:nvPr/>
        </p:nvSpPr>
        <p:spPr>
          <a:xfrm>
            <a:off x="5870575" y="1805000"/>
            <a:ext cx="14985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&lt;&lt;boundary&gt;&gt;</a:t>
            </a:r>
            <a:endParaRPr/>
          </a:p>
        </p:txBody>
      </p:sp>
      <p:cxnSp>
        <p:nvCxnSpPr>
          <p:cNvPr id="862" name="Google Shape;862;p16"/>
          <p:cNvCxnSpPr/>
          <p:nvPr/>
        </p:nvCxnSpPr>
        <p:spPr>
          <a:xfrm flipH="1">
            <a:off x="5507125" y="1797844"/>
            <a:ext cx="344400" cy="2400"/>
          </a:xfrm>
          <a:prstGeom prst="straightConnector1">
            <a:avLst/>
          </a:prstGeom>
          <a:noFill/>
          <a:ln cap="flat" cmpd="sng" w="28575">
            <a:solidFill>
              <a:srgbClr val="000000"/>
            </a:solidFill>
            <a:prstDash val="solid"/>
            <a:round/>
            <a:headEnd len="med" w="med" type="none"/>
            <a:tailEnd len="med" w="med" type="none"/>
          </a:ln>
        </p:spPr>
      </p:cxnSp>
      <p:grpSp>
        <p:nvGrpSpPr>
          <p:cNvPr id="863" name="Google Shape;863;p16"/>
          <p:cNvGrpSpPr/>
          <p:nvPr/>
        </p:nvGrpSpPr>
        <p:grpSpPr>
          <a:xfrm>
            <a:off x="3063875" y="3352800"/>
            <a:ext cx="1466850" cy="589360"/>
            <a:chOff x="144" y="1440"/>
            <a:chExt cx="881" cy="510"/>
          </a:xfrm>
        </p:grpSpPr>
        <p:sp>
          <p:nvSpPr>
            <p:cNvPr id="864" name="Google Shape;864;p16"/>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65" name="Google Shape;865;p16"/>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866" name="Google Shape;866;p16"/>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867" name="Google Shape;867;p16"/>
          <p:cNvSpPr txBox="1"/>
          <p:nvPr/>
        </p:nvSpPr>
        <p:spPr>
          <a:xfrm>
            <a:off x="3260725" y="3395675"/>
            <a:ext cx="12699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&lt;&lt;entity&gt;&gt;</a:t>
            </a:r>
            <a:endParaRPr/>
          </a:p>
        </p:txBody>
      </p:sp>
      <p:grpSp>
        <p:nvGrpSpPr>
          <p:cNvPr id="868" name="Google Shape;868;p16"/>
          <p:cNvGrpSpPr/>
          <p:nvPr/>
        </p:nvGrpSpPr>
        <p:grpSpPr>
          <a:xfrm>
            <a:off x="5357813" y="3352800"/>
            <a:ext cx="1466850" cy="589360"/>
            <a:chOff x="144" y="1440"/>
            <a:chExt cx="881" cy="510"/>
          </a:xfrm>
        </p:grpSpPr>
        <p:sp>
          <p:nvSpPr>
            <p:cNvPr id="869" name="Google Shape;869;p16"/>
            <p:cNvSpPr/>
            <p:nvPr/>
          </p:nvSpPr>
          <p:spPr>
            <a:xfrm>
              <a:off x="144" y="1440"/>
              <a:ext cx="881" cy="51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70" name="Google Shape;870;p16"/>
            <p:cNvCxnSpPr/>
            <p:nvPr/>
          </p:nvCxnSpPr>
          <p:spPr>
            <a:xfrm>
              <a:off x="144" y="1810"/>
              <a:ext cx="881" cy="0"/>
            </a:xfrm>
            <a:prstGeom prst="straightConnector1">
              <a:avLst/>
            </a:prstGeom>
            <a:noFill/>
            <a:ln cap="flat" cmpd="sng" w="28575">
              <a:solidFill>
                <a:srgbClr val="000000"/>
              </a:solidFill>
              <a:prstDash val="solid"/>
              <a:round/>
              <a:headEnd len="sm" w="sm" type="none"/>
              <a:tailEnd len="sm" w="sm" type="none"/>
            </a:ln>
          </p:spPr>
        </p:cxnSp>
        <p:cxnSp>
          <p:nvCxnSpPr>
            <p:cNvPr id="871" name="Google Shape;871;p16"/>
            <p:cNvCxnSpPr/>
            <p:nvPr/>
          </p:nvCxnSpPr>
          <p:spPr>
            <a:xfrm>
              <a:off x="144" y="1680"/>
              <a:ext cx="881" cy="0"/>
            </a:xfrm>
            <a:prstGeom prst="straightConnector1">
              <a:avLst/>
            </a:prstGeom>
            <a:noFill/>
            <a:ln cap="flat" cmpd="sng" w="28575">
              <a:solidFill>
                <a:srgbClr val="000000"/>
              </a:solidFill>
              <a:prstDash val="solid"/>
              <a:round/>
              <a:headEnd len="sm" w="sm" type="none"/>
              <a:tailEnd len="sm" w="sm" type="none"/>
            </a:ln>
          </p:spPr>
        </p:cxnSp>
      </p:grpSp>
      <p:sp>
        <p:nvSpPr>
          <p:cNvPr id="872" name="Google Shape;872;p16"/>
          <p:cNvSpPr txBox="1"/>
          <p:nvPr/>
        </p:nvSpPr>
        <p:spPr>
          <a:xfrm>
            <a:off x="5554677" y="3395675"/>
            <a:ext cx="12699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&lt;&lt;entity&gt;&gt;</a:t>
            </a:r>
            <a:endParaRPr/>
          </a:p>
        </p:txBody>
      </p:sp>
      <p:sp>
        <p:nvSpPr>
          <p:cNvPr id="873" name="Google Shape;873;p16"/>
          <p:cNvSpPr txBox="1"/>
          <p:nvPr/>
        </p:nvSpPr>
        <p:spPr>
          <a:xfrm>
            <a:off x="7778750" y="1983575"/>
            <a:ext cx="1095000" cy="3861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Actor 2</a:t>
            </a:r>
            <a:endParaRPr/>
          </a:p>
        </p:txBody>
      </p:sp>
      <p:cxnSp>
        <p:nvCxnSpPr>
          <p:cNvPr id="874" name="Google Shape;874;p16"/>
          <p:cNvCxnSpPr/>
          <p:nvPr/>
        </p:nvCxnSpPr>
        <p:spPr>
          <a:xfrm>
            <a:off x="1311275" y="1791891"/>
            <a:ext cx="655500" cy="8400"/>
          </a:xfrm>
          <a:prstGeom prst="straightConnector1">
            <a:avLst/>
          </a:prstGeom>
          <a:noFill/>
          <a:ln cap="flat" cmpd="sng" w="28575">
            <a:solidFill>
              <a:srgbClr val="000000"/>
            </a:solidFill>
            <a:prstDash val="solid"/>
            <a:round/>
            <a:headEnd len="sm" w="sm" type="none"/>
            <a:tailEnd len="sm" w="sm" type="none"/>
          </a:ln>
        </p:spPr>
      </p:cxnSp>
      <p:sp>
        <p:nvSpPr>
          <p:cNvPr id="875" name="Google Shape;875;p16"/>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7"/>
          <p:cNvSpPr txBox="1"/>
          <p:nvPr/>
        </p:nvSpPr>
        <p:spPr>
          <a:xfrm>
            <a:off x="800100" y="2776538"/>
            <a:ext cx="15876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Student</a:t>
            </a:r>
            <a:endParaRPr/>
          </a:p>
        </p:txBody>
      </p:sp>
      <p:sp>
        <p:nvSpPr>
          <p:cNvPr id="883" name="Google Shape;883;p17"/>
          <p:cNvSpPr txBox="1"/>
          <p:nvPr>
            <p:ph idx="1" type="body"/>
          </p:nvPr>
        </p:nvSpPr>
        <p:spPr>
          <a:xfrm>
            <a:off x="361950" y="1028700"/>
            <a:ext cx="8490000" cy="3429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In general, identify one control class per use case.</a:t>
            </a:r>
            <a:endParaRPr/>
          </a:p>
          <a:p>
            <a:pPr indent="-285750" lvl="1" marL="742950" rtl="0" algn="l">
              <a:spcBef>
                <a:spcPts val="400"/>
              </a:spcBef>
              <a:spcAft>
                <a:spcPts val="0"/>
              </a:spcAft>
              <a:buSzPts val="1000"/>
              <a:buChar char="🞇"/>
            </a:pPr>
            <a:r>
              <a:rPr lang="en-US" sz="2000"/>
              <a:t>As analysis continues, a complex use case’s control class may evolve into more than one class</a:t>
            </a:r>
            <a:endParaRPr/>
          </a:p>
        </p:txBody>
      </p:sp>
      <p:grpSp>
        <p:nvGrpSpPr>
          <p:cNvPr id="884" name="Google Shape;884;p17"/>
          <p:cNvGrpSpPr/>
          <p:nvPr/>
        </p:nvGrpSpPr>
        <p:grpSpPr>
          <a:xfrm>
            <a:off x="6926263" y="2324100"/>
            <a:ext cx="585787" cy="504825"/>
            <a:chOff x="7654" y="3380"/>
            <a:chExt cx="554" cy="754"/>
          </a:xfrm>
        </p:grpSpPr>
        <p:sp>
          <p:nvSpPr>
            <p:cNvPr id="885" name="Google Shape;885;p17"/>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86" name="Google Shape;886;p17"/>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887" name="Google Shape;887;p17"/>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888" name="Google Shape;888;p17"/>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889" name="Google Shape;889;p17"/>
          <p:cNvSpPr txBox="1"/>
          <p:nvPr/>
        </p:nvSpPr>
        <p:spPr>
          <a:xfrm>
            <a:off x="5918200" y="2824163"/>
            <a:ext cx="2616300" cy="6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Course Catalog </a:t>
            </a:r>
            <a:endParaRPr/>
          </a:p>
          <a:p>
            <a:pPr indent="0" lvl="0" marL="0" marR="0" rtl="0" algn="ctr">
              <a:lnSpc>
                <a:spcPct val="50000"/>
              </a:lnSpc>
              <a:spcBef>
                <a:spcPts val="900"/>
              </a:spcBef>
              <a:spcAft>
                <a:spcPts val="0"/>
              </a:spcAft>
              <a:buNone/>
            </a:pPr>
            <a:r>
              <a:rPr lang="en-US" sz="1800">
                <a:solidFill>
                  <a:srgbClr val="000000"/>
                </a:solidFill>
                <a:latin typeface="Arial"/>
                <a:ea typeface="Arial"/>
                <a:cs typeface="Arial"/>
                <a:sym typeface="Arial"/>
              </a:rPr>
              <a:t>System</a:t>
            </a:r>
            <a:endParaRPr/>
          </a:p>
        </p:txBody>
      </p:sp>
      <p:sp>
        <p:nvSpPr>
          <p:cNvPr id="890" name="Google Shape;890;p17"/>
          <p:cNvSpPr/>
          <p:nvPr/>
        </p:nvSpPr>
        <p:spPr>
          <a:xfrm>
            <a:off x="3797300" y="2387204"/>
            <a:ext cx="1168500" cy="431100"/>
          </a:xfrm>
          <a:prstGeom prst="ellipse">
            <a:avLst/>
          </a:prstGeom>
          <a:noFill/>
          <a:ln cap="flat" cmpd="sng" w="381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1" name="Google Shape;891;p17"/>
          <p:cNvSpPr txBox="1"/>
          <p:nvPr/>
        </p:nvSpPr>
        <p:spPr>
          <a:xfrm>
            <a:off x="2889250" y="2805113"/>
            <a:ext cx="29877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Register for Courses</a:t>
            </a:r>
            <a:endParaRPr/>
          </a:p>
        </p:txBody>
      </p:sp>
      <p:grpSp>
        <p:nvGrpSpPr>
          <p:cNvPr id="892" name="Google Shape;892;p17"/>
          <p:cNvGrpSpPr/>
          <p:nvPr/>
        </p:nvGrpSpPr>
        <p:grpSpPr>
          <a:xfrm>
            <a:off x="1306513" y="2295525"/>
            <a:ext cx="587375" cy="504825"/>
            <a:chOff x="7654" y="3380"/>
            <a:chExt cx="554" cy="754"/>
          </a:xfrm>
        </p:grpSpPr>
        <p:sp>
          <p:nvSpPr>
            <p:cNvPr id="893" name="Google Shape;893;p17"/>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894" name="Google Shape;894;p17"/>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895" name="Google Shape;895;p17"/>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896" name="Google Shape;896;p17"/>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897" name="Google Shape;897;p17"/>
          <p:cNvCxnSpPr/>
          <p:nvPr/>
        </p:nvCxnSpPr>
        <p:spPr>
          <a:xfrm>
            <a:off x="1924050" y="2595563"/>
            <a:ext cx="1844700" cy="0"/>
          </a:xfrm>
          <a:prstGeom prst="straightConnector1">
            <a:avLst/>
          </a:prstGeom>
          <a:noFill/>
          <a:ln cap="flat" cmpd="sng" w="28575">
            <a:solidFill>
              <a:srgbClr val="000000"/>
            </a:solidFill>
            <a:prstDash val="solid"/>
            <a:round/>
            <a:headEnd len="med" w="med" type="none"/>
            <a:tailEnd len="lg" w="lg" type="stealth"/>
          </a:ln>
        </p:spPr>
      </p:cxnSp>
      <p:sp>
        <p:nvSpPr>
          <p:cNvPr id="898" name="Google Shape;898;p17"/>
          <p:cNvSpPr/>
          <p:nvPr/>
        </p:nvSpPr>
        <p:spPr>
          <a:xfrm rot="5400000">
            <a:off x="4219500" y="3150469"/>
            <a:ext cx="362100" cy="533400"/>
          </a:xfrm>
          <a:prstGeom prst="rightArrow">
            <a:avLst>
              <a:gd fmla="val 53574" name="adj1"/>
              <a:gd fmla="val 45926" name="adj2"/>
            </a:avLst>
          </a:prstGeom>
          <a:gradFill>
            <a:gsLst>
              <a:gs pos="0">
                <a:srgbClr val="1244AC"/>
              </a:gs>
              <a:gs pos="80000">
                <a:srgbClr val="175BE3"/>
              </a:gs>
              <a:gs pos="100000">
                <a:srgbClr val="135AE8"/>
              </a:gs>
            </a:gsLst>
            <a:lin ang="16200000" scaled="0"/>
          </a:gradFill>
          <a:ln cap="flat" cmpd="sng" w="9525">
            <a:solidFill>
              <a:srgbClr val="2B62D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99" name="Google Shape;899;p17"/>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Finding Control Classes</a:t>
            </a:r>
            <a:endParaRPr/>
          </a:p>
        </p:txBody>
      </p:sp>
      <p:sp>
        <p:nvSpPr>
          <p:cNvPr id="900" name="Google Shape;900;p17"/>
          <p:cNvSpPr/>
          <p:nvPr/>
        </p:nvSpPr>
        <p:spPr>
          <a:xfrm>
            <a:off x="3302000" y="4502950"/>
            <a:ext cx="2471400" cy="206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RegistrationController</a:t>
            </a:r>
            <a:endParaRPr sz="1800">
              <a:solidFill>
                <a:srgbClr val="000000"/>
              </a:solidFill>
              <a:latin typeface="Arial"/>
              <a:ea typeface="Arial"/>
              <a:cs typeface="Arial"/>
              <a:sym typeface="Arial"/>
            </a:endParaRPr>
          </a:p>
        </p:txBody>
      </p:sp>
      <p:grpSp>
        <p:nvGrpSpPr>
          <p:cNvPr id="901" name="Google Shape;901;p17"/>
          <p:cNvGrpSpPr/>
          <p:nvPr/>
        </p:nvGrpSpPr>
        <p:grpSpPr>
          <a:xfrm>
            <a:off x="3886200" y="3696891"/>
            <a:ext cx="985838" cy="779859"/>
            <a:chOff x="2520" y="2705"/>
            <a:chExt cx="621" cy="655"/>
          </a:xfrm>
        </p:grpSpPr>
        <p:sp>
          <p:nvSpPr>
            <p:cNvPr id="902" name="Google Shape;902;p17"/>
            <p:cNvSpPr/>
            <p:nvPr/>
          </p:nvSpPr>
          <p:spPr>
            <a:xfrm>
              <a:off x="2520" y="2770"/>
              <a:ext cx="621" cy="590"/>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03" name="Google Shape;903;p17"/>
            <p:cNvCxnSpPr/>
            <p:nvPr/>
          </p:nvCxnSpPr>
          <p:spPr>
            <a:xfrm flipH="1">
              <a:off x="2756" y="2705"/>
              <a:ext cx="137" cy="60"/>
            </a:xfrm>
            <a:prstGeom prst="straightConnector1">
              <a:avLst/>
            </a:prstGeom>
            <a:noFill/>
            <a:ln cap="flat" cmpd="sng" w="38100">
              <a:solidFill>
                <a:srgbClr val="000000"/>
              </a:solidFill>
              <a:prstDash val="solid"/>
              <a:round/>
              <a:headEnd len="med" w="med" type="none"/>
              <a:tailEnd len="med" w="med" type="none"/>
            </a:ln>
          </p:spPr>
        </p:cxnSp>
        <p:cxnSp>
          <p:nvCxnSpPr>
            <p:cNvPr id="904" name="Google Shape;904;p17"/>
            <p:cNvCxnSpPr/>
            <p:nvPr/>
          </p:nvCxnSpPr>
          <p:spPr>
            <a:xfrm rot="10800000">
              <a:off x="2756" y="2773"/>
              <a:ext cx="137" cy="48"/>
            </a:xfrm>
            <a:prstGeom prst="straightConnector1">
              <a:avLst/>
            </a:prstGeom>
            <a:noFill/>
            <a:ln cap="flat" cmpd="sng" w="38100">
              <a:solidFill>
                <a:srgbClr val="000000"/>
              </a:solidFill>
              <a:prstDash val="solid"/>
              <a:round/>
              <a:headEnd len="med" w="med" type="none"/>
              <a:tailEnd len="med" w="med" type="none"/>
            </a:ln>
          </p:spPr>
        </p:cxnSp>
      </p:grpSp>
      <p:cxnSp>
        <p:nvCxnSpPr>
          <p:cNvPr id="905" name="Google Shape;905;p17"/>
          <p:cNvCxnSpPr/>
          <p:nvPr/>
        </p:nvCxnSpPr>
        <p:spPr>
          <a:xfrm>
            <a:off x="4972050" y="2595563"/>
            <a:ext cx="1844700" cy="0"/>
          </a:xfrm>
          <a:prstGeom prst="straightConnector1">
            <a:avLst/>
          </a:prstGeom>
          <a:noFill/>
          <a:ln cap="flat" cmpd="sng" w="28575">
            <a:solidFill>
              <a:srgbClr val="000000"/>
            </a:solidFill>
            <a:prstDash val="solid"/>
            <a:round/>
            <a:headEnd len="med" w="med" type="none"/>
            <a:tailEnd len="lg" w="lg" type="stealth"/>
          </a:ln>
        </p:spPr>
      </p:cxnSp>
      <p:sp>
        <p:nvSpPr>
          <p:cNvPr id="906" name="Google Shape;906;p1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cxnSp>
        <p:nvCxnSpPr>
          <p:cNvPr id="914" name="Google Shape;914;p18"/>
          <p:cNvCxnSpPr/>
          <p:nvPr/>
        </p:nvCxnSpPr>
        <p:spPr>
          <a:xfrm>
            <a:off x="2281238" y="1083469"/>
            <a:ext cx="1663800" cy="0"/>
          </a:xfrm>
          <a:prstGeom prst="straightConnector1">
            <a:avLst/>
          </a:prstGeom>
          <a:noFill/>
          <a:ln cap="flat" cmpd="sng" w="28575">
            <a:solidFill>
              <a:srgbClr val="000000"/>
            </a:solidFill>
            <a:prstDash val="solid"/>
            <a:round/>
            <a:headEnd len="med" w="med" type="none"/>
            <a:tailEnd len="med" w="med" type="stealth"/>
          </a:ln>
        </p:spPr>
      </p:cxnSp>
      <p:grpSp>
        <p:nvGrpSpPr>
          <p:cNvPr id="915" name="Google Shape;915;p18"/>
          <p:cNvGrpSpPr/>
          <p:nvPr/>
        </p:nvGrpSpPr>
        <p:grpSpPr>
          <a:xfrm>
            <a:off x="952403" y="822722"/>
            <a:ext cx="1354337" cy="834467"/>
            <a:chOff x="543" y="672"/>
            <a:chExt cx="900" cy="828"/>
          </a:xfrm>
        </p:grpSpPr>
        <p:grpSp>
          <p:nvGrpSpPr>
            <p:cNvPr id="916" name="Google Shape;916;p18"/>
            <p:cNvGrpSpPr/>
            <p:nvPr/>
          </p:nvGrpSpPr>
          <p:grpSpPr>
            <a:xfrm>
              <a:off x="1032" y="672"/>
              <a:ext cx="336" cy="480"/>
              <a:chOff x="7654" y="3380"/>
              <a:chExt cx="554" cy="754"/>
            </a:xfrm>
          </p:grpSpPr>
          <p:sp>
            <p:nvSpPr>
              <p:cNvPr id="917" name="Google Shape;917;p18"/>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18" name="Google Shape;918;p18"/>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919" name="Google Shape;919;p18"/>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920" name="Google Shape;920;p18"/>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21" name="Google Shape;921;p18"/>
            <p:cNvSpPr txBox="1"/>
            <p:nvPr/>
          </p:nvSpPr>
          <p:spPr>
            <a:xfrm>
              <a:off x="543" y="1200"/>
              <a:ext cx="9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Student</a:t>
              </a:r>
              <a:endParaRPr/>
            </a:p>
          </p:txBody>
        </p:sp>
      </p:grpSp>
      <p:grpSp>
        <p:nvGrpSpPr>
          <p:cNvPr id="922" name="Google Shape;922;p18"/>
          <p:cNvGrpSpPr/>
          <p:nvPr/>
        </p:nvGrpSpPr>
        <p:grpSpPr>
          <a:xfrm>
            <a:off x="6710363" y="832247"/>
            <a:ext cx="506412" cy="484584"/>
            <a:chOff x="7654" y="3380"/>
            <a:chExt cx="554" cy="754"/>
          </a:xfrm>
        </p:grpSpPr>
        <p:sp>
          <p:nvSpPr>
            <p:cNvPr id="923" name="Google Shape;923;p18"/>
            <p:cNvSpPr/>
            <p:nvPr/>
          </p:nvSpPr>
          <p:spPr>
            <a:xfrm>
              <a:off x="7805" y="3380"/>
              <a:ext cx="253" cy="248"/>
            </a:xfrm>
            <a:prstGeom prst="ellipse">
              <a:avLst/>
            </a:pr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24" name="Google Shape;924;p18"/>
            <p:cNvCxnSpPr/>
            <p:nvPr/>
          </p:nvCxnSpPr>
          <p:spPr>
            <a:xfrm>
              <a:off x="7931" y="3630"/>
              <a:ext cx="1" cy="232"/>
            </a:xfrm>
            <a:prstGeom prst="straightConnector1">
              <a:avLst/>
            </a:prstGeom>
            <a:noFill/>
            <a:ln cap="flat" cmpd="sng" w="28575">
              <a:solidFill>
                <a:srgbClr val="000000"/>
              </a:solidFill>
              <a:prstDash val="solid"/>
              <a:round/>
              <a:headEnd len="med" w="med" type="none"/>
              <a:tailEnd len="med" w="med" type="none"/>
            </a:ln>
          </p:spPr>
        </p:cxnSp>
        <p:cxnSp>
          <p:nvCxnSpPr>
            <p:cNvPr id="925" name="Google Shape;925;p18"/>
            <p:cNvCxnSpPr/>
            <p:nvPr/>
          </p:nvCxnSpPr>
          <p:spPr>
            <a:xfrm>
              <a:off x="7731" y="3695"/>
              <a:ext cx="401" cy="1"/>
            </a:xfrm>
            <a:prstGeom prst="straightConnector1">
              <a:avLst/>
            </a:prstGeom>
            <a:noFill/>
            <a:ln cap="flat" cmpd="sng" w="28575">
              <a:solidFill>
                <a:srgbClr val="000000"/>
              </a:solidFill>
              <a:prstDash val="solid"/>
              <a:round/>
              <a:headEnd len="med" w="med" type="none"/>
              <a:tailEnd len="med" w="med" type="none"/>
            </a:ln>
          </p:spPr>
        </p:cxnSp>
        <p:sp>
          <p:nvSpPr>
            <p:cNvPr id="926" name="Google Shape;926;p18"/>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27" name="Google Shape;927;p18"/>
          <p:cNvSpPr txBox="1"/>
          <p:nvPr/>
        </p:nvSpPr>
        <p:spPr>
          <a:xfrm>
            <a:off x="6045200" y="1314450"/>
            <a:ext cx="1862100" cy="6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Course Catalog </a:t>
            </a:r>
            <a:endParaRPr/>
          </a:p>
          <a:p>
            <a:pPr indent="0" lvl="0" marL="0" marR="0" rtl="0" algn="ctr">
              <a:lnSpc>
                <a:spcPct val="50000"/>
              </a:lnSpc>
              <a:spcBef>
                <a:spcPts val="900"/>
              </a:spcBef>
              <a:spcAft>
                <a:spcPts val="0"/>
              </a:spcAft>
              <a:buNone/>
            </a:pPr>
            <a:r>
              <a:rPr lang="en-US" sz="1800">
                <a:solidFill>
                  <a:schemeClr val="dk1"/>
                </a:solidFill>
                <a:latin typeface="Arial"/>
                <a:ea typeface="Arial"/>
                <a:cs typeface="Arial"/>
                <a:sym typeface="Arial"/>
              </a:rPr>
              <a:t>System</a:t>
            </a:r>
            <a:endParaRPr/>
          </a:p>
        </p:txBody>
      </p:sp>
      <p:grpSp>
        <p:nvGrpSpPr>
          <p:cNvPr id="928" name="Google Shape;928;p18"/>
          <p:cNvGrpSpPr/>
          <p:nvPr/>
        </p:nvGrpSpPr>
        <p:grpSpPr>
          <a:xfrm>
            <a:off x="3175000" y="919163"/>
            <a:ext cx="2710326" cy="698736"/>
            <a:chOff x="1776" y="806"/>
            <a:chExt cx="1800" cy="693"/>
          </a:xfrm>
        </p:grpSpPr>
        <p:sp>
          <p:nvSpPr>
            <p:cNvPr id="929" name="Google Shape;929;p18"/>
            <p:cNvSpPr/>
            <p:nvPr/>
          </p:nvSpPr>
          <p:spPr>
            <a:xfrm>
              <a:off x="2311" y="806"/>
              <a:ext cx="658" cy="346"/>
            </a:xfrm>
            <a:prstGeom prst="ellipse">
              <a:avLst/>
            </a:prstGeom>
            <a:noFill/>
            <a:ln cap="flat" cmpd="sng" w="2857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0" name="Google Shape;930;p18"/>
            <p:cNvSpPr txBox="1"/>
            <p:nvPr/>
          </p:nvSpPr>
          <p:spPr>
            <a:xfrm>
              <a:off x="1776" y="1199"/>
              <a:ext cx="18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Register for Courses</a:t>
              </a:r>
              <a:endParaRPr/>
            </a:p>
          </p:txBody>
        </p:sp>
      </p:grpSp>
      <p:cxnSp>
        <p:nvCxnSpPr>
          <p:cNvPr id="931" name="Google Shape;931;p18"/>
          <p:cNvCxnSpPr/>
          <p:nvPr/>
        </p:nvCxnSpPr>
        <p:spPr>
          <a:xfrm>
            <a:off x="0" y="2286000"/>
            <a:ext cx="9144000" cy="0"/>
          </a:xfrm>
          <a:prstGeom prst="straightConnector1">
            <a:avLst/>
          </a:prstGeom>
          <a:noFill/>
          <a:ln cap="flat" cmpd="sng" w="28575">
            <a:solidFill>
              <a:srgbClr val="FF0000"/>
            </a:solidFill>
            <a:prstDash val="dashDot"/>
            <a:round/>
            <a:headEnd len="sm" w="sm" type="none"/>
            <a:tailEnd len="sm" w="sm" type="none"/>
          </a:ln>
        </p:spPr>
      </p:cxnSp>
      <p:sp>
        <p:nvSpPr>
          <p:cNvPr id="932" name="Google Shape;932;p18"/>
          <p:cNvSpPr txBox="1"/>
          <p:nvPr/>
        </p:nvSpPr>
        <p:spPr>
          <a:xfrm>
            <a:off x="381000" y="1885950"/>
            <a:ext cx="2514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Use-Case Model</a:t>
            </a:r>
            <a:endParaRPr/>
          </a:p>
        </p:txBody>
      </p:sp>
      <p:sp>
        <p:nvSpPr>
          <p:cNvPr id="933" name="Google Shape;933;p18"/>
          <p:cNvSpPr txBox="1"/>
          <p:nvPr/>
        </p:nvSpPr>
        <p:spPr>
          <a:xfrm>
            <a:off x="381000" y="2400300"/>
            <a:ext cx="2514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Design Model</a:t>
            </a:r>
            <a:endParaRPr/>
          </a:p>
        </p:txBody>
      </p:sp>
      <p:sp>
        <p:nvSpPr>
          <p:cNvPr id="934" name="Google Shape;934;p18"/>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Summary: Analysis Classes</a:t>
            </a:r>
            <a:endParaRPr/>
          </a:p>
        </p:txBody>
      </p:sp>
      <p:sp>
        <p:nvSpPr>
          <p:cNvPr id="935" name="Google Shape;935;p18"/>
          <p:cNvSpPr/>
          <p:nvPr/>
        </p:nvSpPr>
        <p:spPr>
          <a:xfrm>
            <a:off x="4225925" y="2724150"/>
            <a:ext cx="771600" cy="579900"/>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36" name="Google Shape;936;p18"/>
          <p:cNvCxnSpPr/>
          <p:nvPr/>
        </p:nvCxnSpPr>
        <p:spPr>
          <a:xfrm>
            <a:off x="3854450" y="2865835"/>
            <a:ext cx="3300" cy="295200"/>
          </a:xfrm>
          <a:prstGeom prst="straightConnector1">
            <a:avLst/>
          </a:prstGeom>
          <a:noFill/>
          <a:ln cap="flat" cmpd="sng" w="38100">
            <a:solidFill>
              <a:srgbClr val="000000"/>
            </a:solidFill>
            <a:prstDash val="solid"/>
            <a:round/>
            <a:headEnd len="med" w="med" type="none"/>
            <a:tailEnd len="med" w="med" type="none"/>
          </a:ln>
        </p:spPr>
      </p:cxnSp>
      <p:cxnSp>
        <p:nvCxnSpPr>
          <p:cNvPr id="937" name="Google Shape;937;p18"/>
          <p:cNvCxnSpPr/>
          <p:nvPr/>
        </p:nvCxnSpPr>
        <p:spPr>
          <a:xfrm>
            <a:off x="3870325" y="3007519"/>
            <a:ext cx="355500" cy="2400"/>
          </a:xfrm>
          <a:prstGeom prst="straightConnector1">
            <a:avLst/>
          </a:prstGeom>
          <a:noFill/>
          <a:ln cap="flat" cmpd="sng" w="38100">
            <a:solidFill>
              <a:srgbClr val="000000"/>
            </a:solidFill>
            <a:prstDash val="solid"/>
            <a:round/>
            <a:headEnd len="med" w="med" type="none"/>
            <a:tailEnd len="med" w="med" type="none"/>
          </a:ln>
        </p:spPr>
      </p:cxnSp>
      <p:sp>
        <p:nvSpPr>
          <p:cNvPr id="938" name="Google Shape;938;p18"/>
          <p:cNvSpPr/>
          <p:nvPr/>
        </p:nvSpPr>
        <p:spPr>
          <a:xfrm>
            <a:off x="665650" y="3362325"/>
            <a:ext cx="2406300" cy="18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RegisterForCoursesForm</a:t>
            </a:r>
            <a:endParaRPr/>
          </a:p>
        </p:txBody>
      </p:sp>
      <p:sp>
        <p:nvSpPr>
          <p:cNvPr id="939" name="Google Shape;939;p18"/>
          <p:cNvSpPr/>
          <p:nvPr/>
        </p:nvSpPr>
        <p:spPr>
          <a:xfrm>
            <a:off x="1660525" y="2780110"/>
            <a:ext cx="779400" cy="566700"/>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40" name="Google Shape;940;p18"/>
          <p:cNvCxnSpPr/>
          <p:nvPr/>
        </p:nvCxnSpPr>
        <p:spPr>
          <a:xfrm>
            <a:off x="1277938" y="2919413"/>
            <a:ext cx="3300" cy="288000"/>
          </a:xfrm>
          <a:prstGeom prst="straightConnector1">
            <a:avLst/>
          </a:prstGeom>
          <a:noFill/>
          <a:ln cap="flat" cmpd="sng" w="38100">
            <a:solidFill>
              <a:srgbClr val="000000"/>
            </a:solidFill>
            <a:prstDash val="solid"/>
            <a:round/>
            <a:headEnd len="med" w="med" type="none"/>
            <a:tailEnd len="med" w="med" type="none"/>
          </a:ln>
        </p:spPr>
      </p:cxnSp>
      <p:cxnSp>
        <p:nvCxnSpPr>
          <p:cNvPr id="941" name="Google Shape;941;p18"/>
          <p:cNvCxnSpPr/>
          <p:nvPr/>
        </p:nvCxnSpPr>
        <p:spPr>
          <a:xfrm>
            <a:off x="1277938" y="3057525"/>
            <a:ext cx="382500" cy="2400"/>
          </a:xfrm>
          <a:prstGeom prst="straightConnector1">
            <a:avLst/>
          </a:prstGeom>
          <a:noFill/>
          <a:ln cap="flat" cmpd="sng" w="38100">
            <a:solidFill>
              <a:srgbClr val="000000"/>
            </a:solidFill>
            <a:prstDash val="solid"/>
            <a:round/>
            <a:headEnd len="med" w="med" type="none"/>
            <a:tailEnd len="med" w="med" type="none"/>
          </a:ln>
        </p:spPr>
      </p:cxnSp>
      <p:sp>
        <p:nvSpPr>
          <p:cNvPr id="942" name="Google Shape;942;p18"/>
          <p:cNvSpPr/>
          <p:nvPr/>
        </p:nvSpPr>
        <p:spPr>
          <a:xfrm>
            <a:off x="3435351" y="3349225"/>
            <a:ext cx="2133600" cy="18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CourseCatalogSystem</a:t>
            </a:r>
            <a:endParaRPr/>
          </a:p>
        </p:txBody>
      </p:sp>
      <p:sp>
        <p:nvSpPr>
          <p:cNvPr id="943" name="Google Shape;943;p18"/>
          <p:cNvSpPr/>
          <p:nvPr/>
        </p:nvSpPr>
        <p:spPr>
          <a:xfrm>
            <a:off x="5932502" y="3359950"/>
            <a:ext cx="844500" cy="18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Student</a:t>
            </a:r>
            <a:endParaRPr/>
          </a:p>
        </p:txBody>
      </p:sp>
      <p:sp>
        <p:nvSpPr>
          <p:cNvPr id="944" name="Google Shape;944;p18"/>
          <p:cNvSpPr/>
          <p:nvPr/>
        </p:nvSpPr>
        <p:spPr>
          <a:xfrm>
            <a:off x="7165975" y="3359949"/>
            <a:ext cx="1026600" cy="18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Schedule</a:t>
            </a:r>
            <a:endParaRPr/>
          </a:p>
        </p:txBody>
      </p:sp>
      <p:sp>
        <p:nvSpPr>
          <p:cNvPr id="945" name="Google Shape;945;p18"/>
          <p:cNvSpPr/>
          <p:nvPr/>
        </p:nvSpPr>
        <p:spPr>
          <a:xfrm>
            <a:off x="2632075" y="4502944"/>
            <a:ext cx="1377900" cy="18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CourseOffering</a:t>
            </a:r>
            <a:endParaRPr/>
          </a:p>
        </p:txBody>
      </p:sp>
      <p:sp>
        <p:nvSpPr>
          <p:cNvPr id="946" name="Google Shape;946;p18"/>
          <p:cNvSpPr/>
          <p:nvPr/>
        </p:nvSpPr>
        <p:spPr>
          <a:xfrm>
            <a:off x="4546600" y="4514850"/>
            <a:ext cx="2133600" cy="183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RegistrationController</a:t>
            </a:r>
            <a:endParaRPr/>
          </a:p>
        </p:txBody>
      </p:sp>
      <p:cxnSp>
        <p:nvCxnSpPr>
          <p:cNvPr id="947" name="Google Shape;947;p18"/>
          <p:cNvCxnSpPr/>
          <p:nvPr/>
        </p:nvCxnSpPr>
        <p:spPr>
          <a:xfrm>
            <a:off x="4973638" y="1083469"/>
            <a:ext cx="1663800" cy="0"/>
          </a:xfrm>
          <a:prstGeom prst="straightConnector1">
            <a:avLst/>
          </a:prstGeom>
          <a:noFill/>
          <a:ln cap="flat" cmpd="sng" w="28575">
            <a:solidFill>
              <a:srgbClr val="000000"/>
            </a:solidFill>
            <a:prstDash val="solid"/>
            <a:round/>
            <a:headEnd len="med" w="med" type="none"/>
            <a:tailEnd len="med" w="med" type="stealth"/>
          </a:ln>
        </p:spPr>
      </p:cxnSp>
      <p:grpSp>
        <p:nvGrpSpPr>
          <p:cNvPr id="948" name="Google Shape;948;p18"/>
          <p:cNvGrpSpPr/>
          <p:nvPr/>
        </p:nvGrpSpPr>
        <p:grpSpPr>
          <a:xfrm>
            <a:off x="5864225" y="2742010"/>
            <a:ext cx="779463" cy="569119"/>
            <a:chOff x="3678" y="2303"/>
            <a:chExt cx="491" cy="478"/>
          </a:xfrm>
        </p:grpSpPr>
        <p:cxnSp>
          <p:nvCxnSpPr>
            <p:cNvPr id="949" name="Google Shape;949;p18"/>
            <p:cNvCxnSpPr/>
            <p:nvPr/>
          </p:nvCxnSpPr>
          <p:spPr>
            <a:xfrm>
              <a:off x="3703" y="2780"/>
              <a:ext cx="457" cy="1"/>
            </a:xfrm>
            <a:prstGeom prst="straightConnector1">
              <a:avLst/>
            </a:prstGeom>
            <a:noFill/>
            <a:ln cap="flat" cmpd="sng" w="38100">
              <a:solidFill>
                <a:srgbClr val="000000"/>
              </a:solidFill>
              <a:prstDash val="solid"/>
              <a:round/>
              <a:headEnd len="med" w="med" type="none"/>
              <a:tailEnd len="med" w="med" type="none"/>
            </a:ln>
          </p:spPr>
        </p:cxnSp>
        <p:sp>
          <p:nvSpPr>
            <p:cNvPr id="950" name="Google Shape;950;p18"/>
            <p:cNvSpPr/>
            <p:nvPr/>
          </p:nvSpPr>
          <p:spPr>
            <a:xfrm>
              <a:off x="3678" y="2303"/>
              <a:ext cx="491" cy="47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951" name="Google Shape;951;p18"/>
          <p:cNvGrpSpPr/>
          <p:nvPr/>
        </p:nvGrpSpPr>
        <p:grpSpPr>
          <a:xfrm>
            <a:off x="5140325" y="3798702"/>
            <a:ext cx="779463" cy="633995"/>
            <a:chOff x="3086" y="3191"/>
            <a:chExt cx="491" cy="532"/>
          </a:xfrm>
        </p:grpSpPr>
        <p:cxnSp>
          <p:nvCxnSpPr>
            <p:cNvPr id="952" name="Google Shape;952;p18"/>
            <p:cNvCxnSpPr/>
            <p:nvPr/>
          </p:nvCxnSpPr>
          <p:spPr>
            <a:xfrm flipH="1" rot="-611136">
              <a:off x="3258" y="3201"/>
              <a:ext cx="123" cy="49"/>
            </a:xfrm>
            <a:prstGeom prst="straightConnector1">
              <a:avLst/>
            </a:prstGeom>
            <a:noFill/>
            <a:ln cap="flat" cmpd="sng" w="38100">
              <a:solidFill>
                <a:srgbClr val="000000"/>
              </a:solidFill>
              <a:prstDash val="solid"/>
              <a:round/>
              <a:headEnd len="med" w="med" type="none"/>
              <a:tailEnd len="med" w="med" type="none"/>
            </a:ln>
          </p:spPr>
        </p:cxnSp>
        <p:cxnSp>
          <p:nvCxnSpPr>
            <p:cNvPr id="953" name="Google Shape;953;p18"/>
            <p:cNvCxnSpPr/>
            <p:nvPr/>
          </p:nvCxnSpPr>
          <p:spPr>
            <a:xfrm rot="10183897">
              <a:off x="3264" y="3244"/>
              <a:ext cx="113" cy="65"/>
            </a:xfrm>
            <a:prstGeom prst="straightConnector1">
              <a:avLst/>
            </a:prstGeom>
            <a:noFill/>
            <a:ln cap="flat" cmpd="sng" w="38100">
              <a:solidFill>
                <a:srgbClr val="000000"/>
              </a:solidFill>
              <a:prstDash val="solid"/>
              <a:round/>
              <a:headEnd len="med" w="med" type="none"/>
              <a:tailEnd len="med" w="med" type="none"/>
            </a:ln>
          </p:spPr>
        </p:cxnSp>
        <p:sp>
          <p:nvSpPr>
            <p:cNvPr id="954" name="Google Shape;954;p18"/>
            <p:cNvSpPr/>
            <p:nvPr/>
          </p:nvSpPr>
          <p:spPr>
            <a:xfrm>
              <a:off x="3086" y="3247"/>
              <a:ext cx="491" cy="47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955" name="Google Shape;955;p18"/>
          <p:cNvGrpSpPr/>
          <p:nvPr/>
        </p:nvGrpSpPr>
        <p:grpSpPr>
          <a:xfrm>
            <a:off x="7172325" y="2742010"/>
            <a:ext cx="779463" cy="569119"/>
            <a:chOff x="3678" y="2303"/>
            <a:chExt cx="491" cy="478"/>
          </a:xfrm>
        </p:grpSpPr>
        <p:cxnSp>
          <p:nvCxnSpPr>
            <p:cNvPr id="956" name="Google Shape;956;p18"/>
            <p:cNvCxnSpPr/>
            <p:nvPr/>
          </p:nvCxnSpPr>
          <p:spPr>
            <a:xfrm>
              <a:off x="3703" y="2780"/>
              <a:ext cx="457" cy="1"/>
            </a:xfrm>
            <a:prstGeom prst="straightConnector1">
              <a:avLst/>
            </a:prstGeom>
            <a:noFill/>
            <a:ln cap="flat" cmpd="sng" w="38100">
              <a:solidFill>
                <a:srgbClr val="000000"/>
              </a:solidFill>
              <a:prstDash val="solid"/>
              <a:round/>
              <a:headEnd len="med" w="med" type="none"/>
              <a:tailEnd len="med" w="med" type="none"/>
            </a:ln>
          </p:spPr>
        </p:cxnSp>
        <p:sp>
          <p:nvSpPr>
            <p:cNvPr id="957" name="Google Shape;957;p18"/>
            <p:cNvSpPr/>
            <p:nvPr/>
          </p:nvSpPr>
          <p:spPr>
            <a:xfrm>
              <a:off x="3678" y="2303"/>
              <a:ext cx="491" cy="47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958" name="Google Shape;958;p18"/>
          <p:cNvGrpSpPr/>
          <p:nvPr/>
        </p:nvGrpSpPr>
        <p:grpSpPr>
          <a:xfrm>
            <a:off x="2943225" y="3865960"/>
            <a:ext cx="779463" cy="569119"/>
            <a:chOff x="3678" y="2303"/>
            <a:chExt cx="491" cy="478"/>
          </a:xfrm>
        </p:grpSpPr>
        <p:cxnSp>
          <p:nvCxnSpPr>
            <p:cNvPr id="959" name="Google Shape;959;p18"/>
            <p:cNvCxnSpPr/>
            <p:nvPr/>
          </p:nvCxnSpPr>
          <p:spPr>
            <a:xfrm>
              <a:off x="3703" y="2780"/>
              <a:ext cx="457" cy="1"/>
            </a:xfrm>
            <a:prstGeom prst="straightConnector1">
              <a:avLst/>
            </a:prstGeom>
            <a:noFill/>
            <a:ln cap="flat" cmpd="sng" w="38100">
              <a:solidFill>
                <a:srgbClr val="000000"/>
              </a:solidFill>
              <a:prstDash val="solid"/>
              <a:round/>
              <a:headEnd len="med" w="med" type="none"/>
              <a:tailEnd len="med" w="med" type="none"/>
            </a:ln>
          </p:spPr>
        </p:cxnSp>
        <p:sp>
          <p:nvSpPr>
            <p:cNvPr id="960" name="Google Shape;960;p18"/>
            <p:cNvSpPr/>
            <p:nvPr/>
          </p:nvSpPr>
          <p:spPr>
            <a:xfrm>
              <a:off x="3678" y="2303"/>
              <a:ext cx="491" cy="47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61" name="Google Shape;961;p18"/>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9"/>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For each use-case flow of events: </a:t>
            </a:r>
            <a:endParaRPr/>
          </a:p>
          <a:p>
            <a:pPr indent="-285750" lvl="1" marL="742950" rtl="0" algn="l">
              <a:spcBef>
                <a:spcPts val="400"/>
              </a:spcBef>
              <a:spcAft>
                <a:spcPts val="0"/>
              </a:spcAft>
              <a:buSzPts val="1000"/>
              <a:buChar char="🞇"/>
            </a:pPr>
            <a:r>
              <a:rPr lang="en-US" sz="2000"/>
              <a:t>Identify analysis classes </a:t>
            </a:r>
            <a:endParaRPr/>
          </a:p>
          <a:p>
            <a:pPr indent="-285750" lvl="1" marL="742950" rtl="0" algn="l">
              <a:spcBef>
                <a:spcPts val="400"/>
              </a:spcBef>
              <a:spcAft>
                <a:spcPts val="0"/>
              </a:spcAft>
              <a:buSzPts val="1000"/>
              <a:buChar char="🞇"/>
            </a:pPr>
            <a:r>
              <a:rPr lang="en-US" sz="2000"/>
              <a:t>Allocate use-case responsibilities to analysis classes</a:t>
            </a:r>
            <a:endParaRPr/>
          </a:p>
          <a:p>
            <a:pPr indent="-285750" lvl="1" marL="742950" rtl="0" algn="l">
              <a:spcBef>
                <a:spcPts val="400"/>
              </a:spcBef>
              <a:spcAft>
                <a:spcPts val="0"/>
              </a:spcAft>
              <a:buSzPts val="1000"/>
              <a:buChar char="🞇"/>
            </a:pPr>
            <a:r>
              <a:rPr lang="en-US" sz="2000"/>
              <a:t>Model analysis class interactions in Interaction diagrams</a:t>
            </a:r>
            <a:endParaRPr/>
          </a:p>
        </p:txBody>
      </p:sp>
      <p:sp>
        <p:nvSpPr>
          <p:cNvPr id="970" name="Google Shape;970;p19"/>
          <p:cNvSpPr txBox="1"/>
          <p:nvPr/>
        </p:nvSpPr>
        <p:spPr>
          <a:xfrm>
            <a:off x="469900" y="4457700"/>
            <a:ext cx="18288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Use Case</a:t>
            </a:r>
            <a:endParaRPr/>
          </a:p>
        </p:txBody>
      </p:sp>
      <p:sp>
        <p:nvSpPr>
          <p:cNvPr id="971" name="Google Shape;971;p19"/>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Distribute Use-Case Behavior to Classes</a:t>
            </a:r>
            <a:endParaRPr/>
          </a:p>
        </p:txBody>
      </p:sp>
      <p:sp>
        <p:nvSpPr>
          <p:cNvPr id="972" name="Google Shape;972;p19"/>
          <p:cNvSpPr/>
          <p:nvPr/>
        </p:nvSpPr>
        <p:spPr>
          <a:xfrm>
            <a:off x="3057525" y="2625329"/>
            <a:ext cx="5338800" cy="2200200"/>
          </a:xfrm>
          <a:prstGeom prst="ellipse">
            <a:avLst/>
          </a:prstGeom>
          <a:noFill/>
          <a:ln cap="flat" cmpd="sng" w="28575">
            <a:solidFill>
              <a:schemeClr val="folHlink"/>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73" name="Google Shape;973;p19"/>
          <p:cNvGrpSpPr/>
          <p:nvPr/>
        </p:nvGrpSpPr>
        <p:grpSpPr>
          <a:xfrm>
            <a:off x="4852988" y="3955256"/>
            <a:ext cx="1905000" cy="978694"/>
            <a:chOff x="3231" y="2968"/>
            <a:chExt cx="1200" cy="822"/>
          </a:xfrm>
        </p:grpSpPr>
        <p:grpSp>
          <p:nvGrpSpPr>
            <p:cNvPr id="974" name="Google Shape;974;p19"/>
            <p:cNvGrpSpPr/>
            <p:nvPr/>
          </p:nvGrpSpPr>
          <p:grpSpPr>
            <a:xfrm>
              <a:off x="3393" y="2968"/>
              <a:ext cx="808" cy="511"/>
              <a:chOff x="1309" y="1072"/>
              <a:chExt cx="1245" cy="766"/>
            </a:xfrm>
          </p:grpSpPr>
          <p:grpSp>
            <p:nvGrpSpPr>
              <p:cNvPr id="975" name="Google Shape;975;p19"/>
              <p:cNvGrpSpPr/>
              <p:nvPr/>
            </p:nvGrpSpPr>
            <p:grpSpPr>
              <a:xfrm>
                <a:off x="1309" y="1231"/>
                <a:ext cx="302" cy="175"/>
                <a:chOff x="144" y="1440"/>
                <a:chExt cx="881" cy="510"/>
              </a:xfrm>
            </p:grpSpPr>
            <p:sp>
              <p:nvSpPr>
                <p:cNvPr id="976" name="Google Shape;976;p1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77" name="Google Shape;977;p1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978" name="Google Shape;978;p1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979" name="Google Shape;979;p19"/>
              <p:cNvGrpSpPr/>
              <p:nvPr/>
            </p:nvGrpSpPr>
            <p:grpSpPr>
              <a:xfrm>
                <a:off x="1950" y="1072"/>
                <a:ext cx="302" cy="175"/>
                <a:chOff x="144" y="1440"/>
                <a:chExt cx="881" cy="510"/>
              </a:xfrm>
            </p:grpSpPr>
            <p:sp>
              <p:nvSpPr>
                <p:cNvPr id="980" name="Google Shape;980;p1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81" name="Google Shape;981;p1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982" name="Google Shape;982;p1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983" name="Google Shape;983;p19"/>
              <p:cNvGrpSpPr/>
              <p:nvPr/>
            </p:nvGrpSpPr>
            <p:grpSpPr>
              <a:xfrm>
                <a:off x="1648" y="1663"/>
                <a:ext cx="302" cy="175"/>
                <a:chOff x="144" y="1440"/>
                <a:chExt cx="881" cy="510"/>
              </a:xfrm>
            </p:grpSpPr>
            <p:sp>
              <p:nvSpPr>
                <p:cNvPr id="984" name="Google Shape;984;p1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85" name="Google Shape;985;p1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986" name="Google Shape;986;p1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987" name="Google Shape;987;p19"/>
              <p:cNvGrpSpPr/>
              <p:nvPr/>
            </p:nvGrpSpPr>
            <p:grpSpPr>
              <a:xfrm>
                <a:off x="2252" y="1581"/>
                <a:ext cx="302" cy="175"/>
                <a:chOff x="144" y="1440"/>
                <a:chExt cx="881" cy="510"/>
              </a:xfrm>
            </p:grpSpPr>
            <p:sp>
              <p:nvSpPr>
                <p:cNvPr id="988" name="Google Shape;988;p19"/>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89" name="Google Shape;989;p19"/>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990" name="Google Shape;990;p19"/>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991" name="Google Shape;991;p19"/>
              <p:cNvCxnSpPr/>
              <p:nvPr/>
            </p:nvCxnSpPr>
            <p:spPr>
              <a:xfrm rot="10800000">
                <a:off x="1463" y="1406"/>
                <a:ext cx="312" cy="257"/>
              </a:xfrm>
              <a:prstGeom prst="straightConnector1">
                <a:avLst/>
              </a:prstGeom>
              <a:noFill/>
              <a:ln cap="flat" cmpd="sng" w="28575">
                <a:solidFill>
                  <a:schemeClr val="dk1"/>
                </a:solidFill>
                <a:prstDash val="solid"/>
                <a:round/>
                <a:headEnd len="sm" w="sm" type="none"/>
                <a:tailEnd len="sm" w="sm" type="none"/>
              </a:ln>
            </p:spPr>
          </p:cxnSp>
          <p:cxnSp>
            <p:nvCxnSpPr>
              <p:cNvPr id="992" name="Google Shape;992;p19"/>
              <p:cNvCxnSpPr/>
              <p:nvPr/>
            </p:nvCxnSpPr>
            <p:spPr>
              <a:xfrm flipH="1" rot="10800000">
                <a:off x="1611" y="1160"/>
                <a:ext cx="339" cy="153"/>
              </a:xfrm>
              <a:prstGeom prst="straightConnector1">
                <a:avLst/>
              </a:prstGeom>
              <a:noFill/>
              <a:ln cap="flat" cmpd="sng" w="28575">
                <a:solidFill>
                  <a:schemeClr val="dk1"/>
                </a:solidFill>
                <a:prstDash val="solid"/>
                <a:round/>
                <a:headEnd len="sm" w="sm" type="none"/>
                <a:tailEnd len="sm" w="sm" type="none"/>
              </a:ln>
            </p:spPr>
          </p:cxnSp>
          <p:cxnSp>
            <p:nvCxnSpPr>
              <p:cNvPr id="993" name="Google Shape;993;p19"/>
              <p:cNvCxnSpPr/>
              <p:nvPr/>
            </p:nvCxnSpPr>
            <p:spPr>
              <a:xfrm flipH="1" rot="10800000">
                <a:off x="1950" y="1663"/>
                <a:ext cx="302" cy="82"/>
              </a:xfrm>
              <a:prstGeom prst="straightConnector1">
                <a:avLst/>
              </a:prstGeom>
              <a:noFill/>
              <a:ln cap="flat" cmpd="sng" w="28575">
                <a:solidFill>
                  <a:schemeClr val="dk1"/>
                </a:solidFill>
                <a:prstDash val="solid"/>
                <a:round/>
                <a:headEnd len="sm" w="sm" type="none"/>
                <a:tailEnd len="sm" w="sm" type="none"/>
              </a:ln>
            </p:spPr>
          </p:cxnSp>
          <p:cxnSp>
            <p:nvCxnSpPr>
              <p:cNvPr id="994" name="Google Shape;994;p19"/>
              <p:cNvCxnSpPr/>
              <p:nvPr/>
            </p:nvCxnSpPr>
            <p:spPr>
              <a:xfrm flipH="1" rot="10800000">
                <a:off x="1775" y="1247"/>
                <a:ext cx="329" cy="416"/>
              </a:xfrm>
              <a:prstGeom prst="straightConnector1">
                <a:avLst/>
              </a:prstGeom>
              <a:noFill/>
              <a:ln cap="flat" cmpd="sng" w="28575">
                <a:solidFill>
                  <a:schemeClr val="dk1"/>
                </a:solidFill>
                <a:prstDash val="solid"/>
                <a:round/>
                <a:headEnd len="sm" w="sm" type="none"/>
                <a:tailEnd len="sm" w="sm" type="none"/>
              </a:ln>
            </p:spPr>
          </p:cxnSp>
        </p:grpSp>
        <p:sp>
          <p:nvSpPr>
            <p:cNvPr id="995" name="Google Shape;995;p19"/>
            <p:cNvSpPr txBox="1"/>
            <p:nvPr/>
          </p:nvSpPr>
          <p:spPr>
            <a:xfrm>
              <a:off x="3231" y="3490"/>
              <a:ext cx="1200" cy="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Class Diagrams</a:t>
              </a:r>
              <a:endParaRPr/>
            </a:p>
          </p:txBody>
        </p:sp>
      </p:grpSp>
      <p:sp>
        <p:nvSpPr>
          <p:cNvPr id="996" name="Google Shape;996;p19"/>
          <p:cNvSpPr/>
          <p:nvPr/>
        </p:nvSpPr>
        <p:spPr>
          <a:xfrm>
            <a:off x="323850" y="2886075"/>
            <a:ext cx="1222500" cy="438300"/>
          </a:xfrm>
          <a:prstGeom prst="ellipse">
            <a:avLst/>
          </a:prstGeom>
          <a:noFill/>
          <a:ln cap="flat" cmpd="sng" w="2857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97" name="Google Shape;997;p19"/>
          <p:cNvGrpSpPr/>
          <p:nvPr/>
        </p:nvGrpSpPr>
        <p:grpSpPr>
          <a:xfrm>
            <a:off x="954088" y="3324225"/>
            <a:ext cx="846137" cy="1095375"/>
            <a:chOff x="835" y="2408"/>
            <a:chExt cx="533" cy="920"/>
          </a:xfrm>
        </p:grpSpPr>
        <p:sp>
          <p:nvSpPr>
            <p:cNvPr id="998" name="Google Shape;998;p19"/>
            <p:cNvSpPr/>
            <p:nvPr/>
          </p:nvSpPr>
          <p:spPr>
            <a:xfrm>
              <a:off x="835" y="2408"/>
              <a:ext cx="533" cy="9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99" name="Google Shape;999;p19"/>
            <p:cNvCxnSpPr/>
            <p:nvPr/>
          </p:nvCxnSpPr>
          <p:spPr>
            <a:xfrm>
              <a:off x="1190" y="2408"/>
              <a:ext cx="178" cy="184"/>
            </a:xfrm>
            <a:prstGeom prst="straightConnector1">
              <a:avLst/>
            </a:prstGeom>
            <a:noFill/>
            <a:ln cap="flat" cmpd="sng" w="28575">
              <a:solidFill>
                <a:schemeClr val="dk1"/>
              </a:solidFill>
              <a:prstDash val="solid"/>
              <a:round/>
              <a:headEnd len="sm" w="sm" type="none"/>
              <a:tailEnd len="sm" w="sm" type="none"/>
            </a:ln>
          </p:spPr>
        </p:cxnSp>
        <p:cxnSp>
          <p:nvCxnSpPr>
            <p:cNvPr id="1000" name="Google Shape;1000;p19"/>
            <p:cNvCxnSpPr/>
            <p:nvPr/>
          </p:nvCxnSpPr>
          <p:spPr>
            <a:xfrm>
              <a:off x="1190" y="2408"/>
              <a:ext cx="0" cy="184"/>
            </a:xfrm>
            <a:prstGeom prst="straightConnector1">
              <a:avLst/>
            </a:prstGeom>
            <a:noFill/>
            <a:ln cap="flat" cmpd="sng" w="28575">
              <a:solidFill>
                <a:schemeClr val="dk1"/>
              </a:solidFill>
              <a:prstDash val="solid"/>
              <a:round/>
              <a:headEnd len="sm" w="sm" type="none"/>
              <a:tailEnd len="sm" w="sm" type="none"/>
            </a:ln>
          </p:spPr>
        </p:cxnSp>
        <p:cxnSp>
          <p:nvCxnSpPr>
            <p:cNvPr id="1001" name="Google Shape;1001;p19"/>
            <p:cNvCxnSpPr/>
            <p:nvPr/>
          </p:nvCxnSpPr>
          <p:spPr>
            <a:xfrm rot="10800000">
              <a:off x="1190" y="2592"/>
              <a:ext cx="178" cy="0"/>
            </a:xfrm>
            <a:prstGeom prst="straightConnector1">
              <a:avLst/>
            </a:prstGeom>
            <a:noFill/>
            <a:ln cap="flat" cmpd="sng" w="28575">
              <a:solidFill>
                <a:schemeClr val="dk1"/>
              </a:solidFill>
              <a:prstDash val="solid"/>
              <a:round/>
              <a:headEnd len="sm" w="sm" type="none"/>
              <a:tailEnd len="sm" w="sm" type="none"/>
            </a:ln>
          </p:spPr>
        </p:cxnSp>
        <p:cxnSp>
          <p:nvCxnSpPr>
            <p:cNvPr id="1002" name="Google Shape;1002;p19"/>
            <p:cNvCxnSpPr/>
            <p:nvPr/>
          </p:nvCxnSpPr>
          <p:spPr>
            <a:xfrm>
              <a:off x="894" y="2715"/>
              <a:ext cx="415" cy="0"/>
            </a:xfrm>
            <a:prstGeom prst="straightConnector1">
              <a:avLst/>
            </a:prstGeom>
            <a:noFill/>
            <a:ln cap="flat" cmpd="sng" w="28575">
              <a:solidFill>
                <a:schemeClr val="dk1"/>
              </a:solidFill>
              <a:prstDash val="solid"/>
              <a:round/>
              <a:headEnd len="sm" w="sm" type="none"/>
              <a:tailEnd len="sm" w="sm" type="none"/>
            </a:ln>
          </p:spPr>
        </p:cxnSp>
        <p:cxnSp>
          <p:nvCxnSpPr>
            <p:cNvPr id="1003" name="Google Shape;1003;p19"/>
            <p:cNvCxnSpPr/>
            <p:nvPr/>
          </p:nvCxnSpPr>
          <p:spPr>
            <a:xfrm>
              <a:off x="894" y="2776"/>
              <a:ext cx="415" cy="0"/>
            </a:xfrm>
            <a:prstGeom prst="straightConnector1">
              <a:avLst/>
            </a:prstGeom>
            <a:noFill/>
            <a:ln cap="flat" cmpd="sng" w="28575">
              <a:solidFill>
                <a:schemeClr val="dk1"/>
              </a:solidFill>
              <a:prstDash val="solid"/>
              <a:round/>
              <a:headEnd len="sm" w="sm" type="none"/>
              <a:tailEnd len="sm" w="sm" type="none"/>
            </a:ln>
          </p:spPr>
        </p:cxnSp>
        <p:cxnSp>
          <p:nvCxnSpPr>
            <p:cNvPr id="1004" name="Google Shape;1004;p19"/>
            <p:cNvCxnSpPr/>
            <p:nvPr/>
          </p:nvCxnSpPr>
          <p:spPr>
            <a:xfrm>
              <a:off x="894" y="2837"/>
              <a:ext cx="415" cy="0"/>
            </a:xfrm>
            <a:prstGeom prst="straightConnector1">
              <a:avLst/>
            </a:prstGeom>
            <a:noFill/>
            <a:ln cap="flat" cmpd="sng" w="28575">
              <a:solidFill>
                <a:schemeClr val="dk1"/>
              </a:solidFill>
              <a:prstDash val="solid"/>
              <a:round/>
              <a:headEnd len="sm" w="sm" type="none"/>
              <a:tailEnd len="sm" w="sm" type="none"/>
            </a:ln>
          </p:spPr>
        </p:cxnSp>
        <p:cxnSp>
          <p:nvCxnSpPr>
            <p:cNvPr id="1005" name="Google Shape;1005;p19"/>
            <p:cNvCxnSpPr/>
            <p:nvPr/>
          </p:nvCxnSpPr>
          <p:spPr>
            <a:xfrm>
              <a:off x="894" y="2960"/>
              <a:ext cx="415" cy="0"/>
            </a:xfrm>
            <a:prstGeom prst="straightConnector1">
              <a:avLst/>
            </a:prstGeom>
            <a:noFill/>
            <a:ln cap="flat" cmpd="sng" w="28575">
              <a:solidFill>
                <a:schemeClr val="dk1"/>
              </a:solidFill>
              <a:prstDash val="solid"/>
              <a:round/>
              <a:headEnd len="sm" w="sm" type="none"/>
              <a:tailEnd len="sm" w="sm" type="none"/>
            </a:ln>
          </p:spPr>
        </p:cxnSp>
        <p:cxnSp>
          <p:nvCxnSpPr>
            <p:cNvPr id="1006" name="Google Shape;1006;p19"/>
            <p:cNvCxnSpPr/>
            <p:nvPr/>
          </p:nvCxnSpPr>
          <p:spPr>
            <a:xfrm>
              <a:off x="894" y="2899"/>
              <a:ext cx="415" cy="0"/>
            </a:xfrm>
            <a:prstGeom prst="straightConnector1">
              <a:avLst/>
            </a:prstGeom>
            <a:noFill/>
            <a:ln cap="flat" cmpd="sng" w="28575">
              <a:solidFill>
                <a:schemeClr val="dk1"/>
              </a:solidFill>
              <a:prstDash val="solid"/>
              <a:round/>
              <a:headEnd len="sm" w="sm" type="none"/>
              <a:tailEnd len="sm" w="sm" type="none"/>
            </a:ln>
          </p:spPr>
        </p:cxnSp>
        <p:cxnSp>
          <p:nvCxnSpPr>
            <p:cNvPr id="1007" name="Google Shape;1007;p19"/>
            <p:cNvCxnSpPr/>
            <p:nvPr/>
          </p:nvCxnSpPr>
          <p:spPr>
            <a:xfrm>
              <a:off x="894" y="3021"/>
              <a:ext cx="415" cy="0"/>
            </a:xfrm>
            <a:prstGeom prst="straightConnector1">
              <a:avLst/>
            </a:prstGeom>
            <a:noFill/>
            <a:ln cap="flat" cmpd="sng" w="28575">
              <a:solidFill>
                <a:schemeClr val="dk1"/>
              </a:solidFill>
              <a:prstDash val="solid"/>
              <a:round/>
              <a:headEnd len="sm" w="sm" type="none"/>
              <a:tailEnd len="sm" w="sm" type="none"/>
            </a:ln>
          </p:spPr>
        </p:cxnSp>
        <p:cxnSp>
          <p:nvCxnSpPr>
            <p:cNvPr id="1008" name="Google Shape;1008;p19"/>
            <p:cNvCxnSpPr/>
            <p:nvPr/>
          </p:nvCxnSpPr>
          <p:spPr>
            <a:xfrm>
              <a:off x="894" y="3083"/>
              <a:ext cx="415" cy="0"/>
            </a:xfrm>
            <a:prstGeom prst="straightConnector1">
              <a:avLst/>
            </a:prstGeom>
            <a:noFill/>
            <a:ln cap="flat" cmpd="sng" w="28575">
              <a:solidFill>
                <a:schemeClr val="dk1"/>
              </a:solidFill>
              <a:prstDash val="solid"/>
              <a:round/>
              <a:headEnd len="sm" w="sm" type="none"/>
              <a:tailEnd len="sm" w="sm" type="none"/>
            </a:ln>
          </p:spPr>
        </p:cxnSp>
        <p:cxnSp>
          <p:nvCxnSpPr>
            <p:cNvPr id="1009" name="Google Shape;1009;p19"/>
            <p:cNvCxnSpPr/>
            <p:nvPr/>
          </p:nvCxnSpPr>
          <p:spPr>
            <a:xfrm>
              <a:off x="894" y="3144"/>
              <a:ext cx="415" cy="0"/>
            </a:xfrm>
            <a:prstGeom prst="straightConnector1">
              <a:avLst/>
            </a:prstGeom>
            <a:noFill/>
            <a:ln cap="flat" cmpd="sng" w="28575">
              <a:solidFill>
                <a:schemeClr val="dk1"/>
              </a:solidFill>
              <a:prstDash val="solid"/>
              <a:round/>
              <a:headEnd len="sm" w="sm" type="none"/>
              <a:tailEnd len="sm" w="sm" type="none"/>
            </a:ln>
          </p:spPr>
        </p:cxnSp>
        <p:cxnSp>
          <p:nvCxnSpPr>
            <p:cNvPr id="1010" name="Google Shape;1010;p19"/>
            <p:cNvCxnSpPr/>
            <p:nvPr/>
          </p:nvCxnSpPr>
          <p:spPr>
            <a:xfrm>
              <a:off x="894" y="3205"/>
              <a:ext cx="415" cy="0"/>
            </a:xfrm>
            <a:prstGeom prst="straightConnector1">
              <a:avLst/>
            </a:prstGeom>
            <a:noFill/>
            <a:ln cap="flat" cmpd="sng" w="28575">
              <a:solidFill>
                <a:schemeClr val="dk1"/>
              </a:solidFill>
              <a:prstDash val="solid"/>
              <a:round/>
              <a:headEnd len="sm" w="sm" type="none"/>
              <a:tailEnd len="sm" w="sm" type="none"/>
            </a:ln>
          </p:spPr>
        </p:cxnSp>
        <p:cxnSp>
          <p:nvCxnSpPr>
            <p:cNvPr id="1011" name="Google Shape;1011;p19"/>
            <p:cNvCxnSpPr/>
            <p:nvPr/>
          </p:nvCxnSpPr>
          <p:spPr>
            <a:xfrm>
              <a:off x="894" y="3267"/>
              <a:ext cx="415" cy="0"/>
            </a:xfrm>
            <a:prstGeom prst="straightConnector1">
              <a:avLst/>
            </a:prstGeom>
            <a:noFill/>
            <a:ln cap="flat" cmpd="sng" w="28575">
              <a:solidFill>
                <a:schemeClr val="dk1"/>
              </a:solidFill>
              <a:prstDash val="solid"/>
              <a:round/>
              <a:headEnd len="sm" w="sm" type="none"/>
              <a:tailEnd len="sm" w="sm" type="none"/>
            </a:ln>
          </p:spPr>
        </p:cxnSp>
        <p:cxnSp>
          <p:nvCxnSpPr>
            <p:cNvPr id="1012" name="Google Shape;1012;p19"/>
            <p:cNvCxnSpPr/>
            <p:nvPr/>
          </p:nvCxnSpPr>
          <p:spPr>
            <a:xfrm>
              <a:off x="894" y="2653"/>
              <a:ext cx="415" cy="0"/>
            </a:xfrm>
            <a:prstGeom prst="straightConnector1">
              <a:avLst/>
            </a:prstGeom>
            <a:noFill/>
            <a:ln cap="flat" cmpd="sng" w="28575">
              <a:solidFill>
                <a:schemeClr val="dk1"/>
              </a:solidFill>
              <a:prstDash val="solid"/>
              <a:round/>
              <a:headEnd len="sm" w="sm" type="none"/>
              <a:tailEnd len="sm" w="sm" type="none"/>
            </a:ln>
          </p:spPr>
        </p:cxnSp>
        <p:cxnSp>
          <p:nvCxnSpPr>
            <p:cNvPr id="1013" name="Google Shape;1013;p19"/>
            <p:cNvCxnSpPr/>
            <p:nvPr/>
          </p:nvCxnSpPr>
          <p:spPr>
            <a:xfrm>
              <a:off x="894" y="2531"/>
              <a:ext cx="258" cy="0"/>
            </a:xfrm>
            <a:prstGeom prst="straightConnector1">
              <a:avLst/>
            </a:prstGeom>
            <a:noFill/>
            <a:ln cap="flat" cmpd="sng" w="28575">
              <a:solidFill>
                <a:schemeClr val="dk1"/>
              </a:solidFill>
              <a:prstDash val="solid"/>
              <a:round/>
              <a:headEnd len="sm" w="sm" type="none"/>
              <a:tailEnd len="sm" w="sm" type="none"/>
            </a:ln>
          </p:spPr>
        </p:cxnSp>
        <p:cxnSp>
          <p:nvCxnSpPr>
            <p:cNvPr id="1014" name="Google Shape;1014;p19"/>
            <p:cNvCxnSpPr/>
            <p:nvPr/>
          </p:nvCxnSpPr>
          <p:spPr>
            <a:xfrm>
              <a:off x="894" y="2469"/>
              <a:ext cx="258" cy="0"/>
            </a:xfrm>
            <a:prstGeom prst="straightConnector1">
              <a:avLst/>
            </a:prstGeom>
            <a:noFill/>
            <a:ln cap="flat" cmpd="sng" w="28575">
              <a:solidFill>
                <a:schemeClr val="dk1"/>
              </a:solidFill>
              <a:prstDash val="solid"/>
              <a:round/>
              <a:headEnd len="sm" w="sm" type="none"/>
              <a:tailEnd len="sm" w="sm" type="none"/>
            </a:ln>
          </p:spPr>
        </p:cxnSp>
        <p:cxnSp>
          <p:nvCxnSpPr>
            <p:cNvPr id="1015" name="Google Shape;1015;p19"/>
            <p:cNvCxnSpPr/>
            <p:nvPr/>
          </p:nvCxnSpPr>
          <p:spPr>
            <a:xfrm>
              <a:off x="894" y="2592"/>
              <a:ext cx="258" cy="0"/>
            </a:xfrm>
            <a:prstGeom prst="straightConnector1">
              <a:avLst/>
            </a:prstGeom>
            <a:noFill/>
            <a:ln cap="flat" cmpd="sng" w="28575">
              <a:solidFill>
                <a:schemeClr val="dk1"/>
              </a:solidFill>
              <a:prstDash val="solid"/>
              <a:round/>
              <a:headEnd len="sm" w="sm" type="none"/>
              <a:tailEnd len="sm" w="sm" type="none"/>
            </a:ln>
          </p:spPr>
        </p:cxnSp>
      </p:grpSp>
      <p:sp>
        <p:nvSpPr>
          <p:cNvPr id="1016" name="Google Shape;1016;p19"/>
          <p:cNvSpPr txBox="1"/>
          <p:nvPr/>
        </p:nvSpPr>
        <p:spPr>
          <a:xfrm>
            <a:off x="5657850" y="3532585"/>
            <a:ext cx="2583000" cy="661800"/>
          </a:xfrm>
          <a:prstGeom prst="rect">
            <a:avLst/>
          </a:prstGeom>
          <a:noFill/>
          <a:ln>
            <a:noFill/>
          </a:ln>
        </p:spPr>
        <p:txBody>
          <a:bodyPr anchorCtr="0" anchor="t" bIns="45700" lIns="91425" spcFirstLastPara="1" rIns="91425" wrap="square" tIns="45700">
            <a:spAutoFit/>
          </a:bodyPr>
          <a:lstStyle/>
          <a:p>
            <a:pPr indent="0" lvl="0" marL="0" marR="0" rtl="0" algn="ctr">
              <a:lnSpc>
                <a:spcPct val="105555"/>
              </a:lnSpc>
              <a:spcBef>
                <a:spcPts val="0"/>
              </a:spcBef>
              <a:spcAft>
                <a:spcPts val="0"/>
              </a:spcAft>
              <a:buNone/>
            </a:pPr>
            <a:r>
              <a:rPr lang="en-US" sz="1800">
                <a:solidFill>
                  <a:schemeClr val="dk1"/>
                </a:solidFill>
                <a:latin typeface="Arial"/>
                <a:ea typeface="Arial"/>
                <a:cs typeface="Arial"/>
                <a:sym typeface="Arial"/>
              </a:rPr>
              <a:t>Communication Diagrams</a:t>
            </a:r>
            <a:endParaRPr/>
          </a:p>
        </p:txBody>
      </p:sp>
      <p:grpSp>
        <p:nvGrpSpPr>
          <p:cNvPr id="1017" name="Google Shape;1017;p19"/>
          <p:cNvGrpSpPr/>
          <p:nvPr/>
        </p:nvGrpSpPr>
        <p:grpSpPr>
          <a:xfrm>
            <a:off x="5972175" y="2800350"/>
            <a:ext cx="1474788" cy="735806"/>
            <a:chOff x="3996" y="1914"/>
            <a:chExt cx="929" cy="618"/>
          </a:xfrm>
        </p:grpSpPr>
        <p:grpSp>
          <p:nvGrpSpPr>
            <p:cNvPr id="1018" name="Google Shape;1018;p19"/>
            <p:cNvGrpSpPr/>
            <p:nvPr/>
          </p:nvGrpSpPr>
          <p:grpSpPr>
            <a:xfrm>
              <a:off x="3996" y="1914"/>
              <a:ext cx="99" cy="148"/>
              <a:chOff x="7654" y="3380"/>
              <a:chExt cx="554" cy="754"/>
            </a:xfrm>
          </p:grpSpPr>
          <p:sp>
            <p:nvSpPr>
              <p:cNvPr id="1019" name="Google Shape;1019;p19"/>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20" name="Google Shape;1020;p19"/>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1021" name="Google Shape;1021;p19"/>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1022" name="Google Shape;1022;p19"/>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023" name="Google Shape;1023;p19"/>
            <p:cNvCxnSpPr/>
            <p:nvPr/>
          </p:nvCxnSpPr>
          <p:spPr>
            <a:xfrm>
              <a:off x="4061" y="2081"/>
              <a:ext cx="226" cy="261"/>
            </a:xfrm>
            <a:prstGeom prst="straightConnector1">
              <a:avLst/>
            </a:prstGeom>
            <a:noFill/>
            <a:ln cap="flat" cmpd="sng" w="28575">
              <a:solidFill>
                <a:schemeClr val="dk1"/>
              </a:solidFill>
              <a:prstDash val="solid"/>
              <a:round/>
              <a:headEnd len="sm" w="sm" type="none"/>
              <a:tailEnd len="med" w="med" type="stealth"/>
            </a:ln>
          </p:spPr>
        </p:cxnSp>
        <p:cxnSp>
          <p:nvCxnSpPr>
            <p:cNvPr id="1024" name="Google Shape;1024;p19"/>
            <p:cNvCxnSpPr/>
            <p:nvPr/>
          </p:nvCxnSpPr>
          <p:spPr>
            <a:xfrm flipH="1" rot="10800000">
              <a:off x="4107" y="1974"/>
              <a:ext cx="280" cy="36"/>
            </a:xfrm>
            <a:prstGeom prst="straightConnector1">
              <a:avLst/>
            </a:prstGeom>
            <a:noFill/>
            <a:ln cap="flat" cmpd="sng" w="28575">
              <a:solidFill>
                <a:schemeClr val="dk1"/>
              </a:solidFill>
              <a:prstDash val="solid"/>
              <a:round/>
              <a:headEnd len="sm" w="sm" type="none"/>
              <a:tailEnd len="med" w="med" type="stealth"/>
            </a:ln>
          </p:spPr>
        </p:cxnSp>
        <p:cxnSp>
          <p:nvCxnSpPr>
            <p:cNvPr id="1025" name="Google Shape;1025;p19"/>
            <p:cNvCxnSpPr/>
            <p:nvPr/>
          </p:nvCxnSpPr>
          <p:spPr>
            <a:xfrm>
              <a:off x="4357" y="2416"/>
              <a:ext cx="309" cy="66"/>
            </a:xfrm>
            <a:prstGeom prst="straightConnector1">
              <a:avLst/>
            </a:prstGeom>
            <a:noFill/>
            <a:ln cap="flat" cmpd="sng" w="28575">
              <a:solidFill>
                <a:schemeClr val="dk1"/>
              </a:solidFill>
              <a:prstDash val="solid"/>
              <a:round/>
              <a:headEnd len="sm" w="sm" type="none"/>
              <a:tailEnd len="med" w="med" type="stealth"/>
            </a:ln>
          </p:spPr>
        </p:cxnSp>
        <p:cxnSp>
          <p:nvCxnSpPr>
            <p:cNvPr id="1026" name="Google Shape;1026;p19"/>
            <p:cNvCxnSpPr/>
            <p:nvPr/>
          </p:nvCxnSpPr>
          <p:spPr>
            <a:xfrm flipH="1" rot="10800000">
              <a:off x="4357" y="2285"/>
              <a:ext cx="346" cy="107"/>
            </a:xfrm>
            <a:prstGeom prst="straightConnector1">
              <a:avLst/>
            </a:prstGeom>
            <a:noFill/>
            <a:ln cap="flat" cmpd="sng" w="28575">
              <a:solidFill>
                <a:schemeClr val="dk1"/>
              </a:solidFill>
              <a:prstDash val="solid"/>
              <a:round/>
              <a:headEnd len="sm" w="sm" type="none"/>
              <a:tailEnd len="med" w="med" type="stealth"/>
            </a:ln>
          </p:spPr>
        </p:cxnSp>
        <p:cxnSp>
          <p:nvCxnSpPr>
            <p:cNvPr id="1027" name="Google Shape;1027;p19"/>
            <p:cNvCxnSpPr/>
            <p:nvPr/>
          </p:nvCxnSpPr>
          <p:spPr>
            <a:xfrm flipH="1" rot="10800000">
              <a:off x="4783" y="2016"/>
              <a:ext cx="80" cy="203"/>
            </a:xfrm>
            <a:prstGeom prst="straightConnector1">
              <a:avLst/>
            </a:prstGeom>
            <a:noFill/>
            <a:ln cap="flat" cmpd="sng" w="28575">
              <a:solidFill>
                <a:schemeClr val="dk1"/>
              </a:solidFill>
              <a:prstDash val="solid"/>
              <a:round/>
              <a:headEnd len="sm" w="sm" type="none"/>
              <a:tailEnd len="med" w="med" type="stealth"/>
            </a:ln>
          </p:spPr>
        </p:cxnSp>
        <p:cxnSp>
          <p:nvCxnSpPr>
            <p:cNvPr id="1028" name="Google Shape;1028;p19"/>
            <p:cNvCxnSpPr/>
            <p:nvPr/>
          </p:nvCxnSpPr>
          <p:spPr>
            <a:xfrm flipH="1">
              <a:off x="4327" y="2026"/>
              <a:ext cx="148" cy="318"/>
            </a:xfrm>
            <a:prstGeom prst="straightConnector1">
              <a:avLst/>
            </a:prstGeom>
            <a:noFill/>
            <a:ln cap="flat" cmpd="sng" w="28575">
              <a:solidFill>
                <a:schemeClr val="dk1"/>
              </a:solidFill>
              <a:prstDash val="solid"/>
              <a:round/>
              <a:headEnd len="sm" w="sm" type="none"/>
              <a:tailEnd len="med" w="med" type="stealth"/>
            </a:ln>
          </p:spPr>
        </p:cxnSp>
        <p:sp>
          <p:nvSpPr>
            <p:cNvPr id="1029" name="Google Shape;1029;p19"/>
            <p:cNvSpPr/>
            <p:nvPr/>
          </p:nvSpPr>
          <p:spPr>
            <a:xfrm>
              <a:off x="4384" y="1929"/>
              <a:ext cx="121" cy="97"/>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0" name="Google Shape;1030;p19"/>
            <p:cNvSpPr/>
            <p:nvPr/>
          </p:nvSpPr>
          <p:spPr>
            <a:xfrm>
              <a:off x="4233" y="2352"/>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1" name="Google Shape;1031;p19"/>
            <p:cNvSpPr/>
            <p:nvPr/>
          </p:nvSpPr>
          <p:spPr>
            <a:xfrm>
              <a:off x="4677" y="2434"/>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2" name="Google Shape;1032;p19"/>
            <p:cNvSpPr/>
            <p:nvPr/>
          </p:nvSpPr>
          <p:spPr>
            <a:xfrm>
              <a:off x="4713" y="2219"/>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3" name="Google Shape;1033;p19"/>
            <p:cNvSpPr/>
            <p:nvPr/>
          </p:nvSpPr>
          <p:spPr>
            <a:xfrm>
              <a:off x="4804" y="1926"/>
              <a:ext cx="121" cy="98"/>
            </a:xfrm>
            <a:prstGeom prst="rect">
              <a:avLst/>
            </a:prstGeom>
            <a:no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34" name="Google Shape;1034;p19"/>
          <p:cNvSpPr txBox="1"/>
          <p:nvPr/>
        </p:nvSpPr>
        <p:spPr>
          <a:xfrm>
            <a:off x="3686175" y="3682604"/>
            <a:ext cx="1401900" cy="661800"/>
          </a:xfrm>
          <a:prstGeom prst="rect">
            <a:avLst/>
          </a:prstGeom>
          <a:noFill/>
          <a:ln>
            <a:noFill/>
          </a:ln>
        </p:spPr>
        <p:txBody>
          <a:bodyPr anchorCtr="0" anchor="t" bIns="45700" lIns="91425" spcFirstLastPara="1" rIns="91425" wrap="square" tIns="45700">
            <a:spAutoFit/>
          </a:bodyPr>
          <a:lstStyle/>
          <a:p>
            <a:pPr indent="0" lvl="0" marL="0" marR="0" rtl="0" algn="ctr">
              <a:lnSpc>
                <a:spcPct val="105555"/>
              </a:lnSpc>
              <a:spcBef>
                <a:spcPts val="0"/>
              </a:spcBef>
              <a:spcAft>
                <a:spcPts val="0"/>
              </a:spcAft>
              <a:buNone/>
            </a:pPr>
            <a:r>
              <a:rPr lang="en-US" sz="1800">
                <a:solidFill>
                  <a:schemeClr val="dk1"/>
                </a:solidFill>
                <a:latin typeface="Arial"/>
                <a:ea typeface="Arial"/>
                <a:cs typeface="Arial"/>
                <a:sym typeface="Arial"/>
              </a:rPr>
              <a:t>Sequence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Diagrams</a:t>
            </a:r>
            <a:endParaRPr/>
          </a:p>
        </p:txBody>
      </p:sp>
      <p:grpSp>
        <p:nvGrpSpPr>
          <p:cNvPr id="1035" name="Google Shape;1035;p19"/>
          <p:cNvGrpSpPr/>
          <p:nvPr/>
        </p:nvGrpSpPr>
        <p:grpSpPr>
          <a:xfrm>
            <a:off x="3629025" y="2896791"/>
            <a:ext cx="1665288" cy="844153"/>
            <a:chOff x="2520" y="2049"/>
            <a:chExt cx="1049" cy="709"/>
          </a:xfrm>
        </p:grpSpPr>
        <p:grpSp>
          <p:nvGrpSpPr>
            <p:cNvPr id="1036" name="Google Shape;1036;p19"/>
            <p:cNvGrpSpPr/>
            <p:nvPr/>
          </p:nvGrpSpPr>
          <p:grpSpPr>
            <a:xfrm>
              <a:off x="2520" y="2049"/>
              <a:ext cx="121" cy="162"/>
              <a:chOff x="7654" y="3380"/>
              <a:chExt cx="554" cy="754"/>
            </a:xfrm>
          </p:grpSpPr>
          <p:sp>
            <p:nvSpPr>
              <p:cNvPr id="1037" name="Google Shape;1037;p19"/>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38" name="Google Shape;1038;p19"/>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1039" name="Google Shape;1039;p19"/>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1040" name="Google Shape;1040;p19"/>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041" name="Google Shape;1041;p19"/>
            <p:cNvCxnSpPr/>
            <p:nvPr/>
          </p:nvCxnSpPr>
          <p:spPr>
            <a:xfrm>
              <a:off x="2576" y="2283"/>
              <a:ext cx="305" cy="0"/>
            </a:xfrm>
            <a:prstGeom prst="straightConnector1">
              <a:avLst/>
            </a:prstGeom>
            <a:noFill/>
            <a:ln cap="flat" cmpd="sng" w="28575">
              <a:solidFill>
                <a:schemeClr val="dk1"/>
              </a:solidFill>
              <a:prstDash val="solid"/>
              <a:round/>
              <a:headEnd len="sm" w="sm" type="none"/>
              <a:tailEnd len="med" w="med" type="triangle"/>
            </a:ln>
          </p:spPr>
        </p:cxnSp>
        <p:cxnSp>
          <p:nvCxnSpPr>
            <p:cNvPr id="1042" name="Google Shape;1042;p19"/>
            <p:cNvCxnSpPr/>
            <p:nvPr/>
          </p:nvCxnSpPr>
          <p:spPr>
            <a:xfrm>
              <a:off x="3195" y="2488"/>
              <a:ext cx="240" cy="0"/>
            </a:xfrm>
            <a:prstGeom prst="straightConnector1">
              <a:avLst/>
            </a:prstGeom>
            <a:noFill/>
            <a:ln cap="flat" cmpd="sng" w="28575">
              <a:solidFill>
                <a:schemeClr val="dk1"/>
              </a:solidFill>
              <a:prstDash val="solid"/>
              <a:round/>
              <a:headEnd len="sm" w="sm" type="none"/>
              <a:tailEnd len="med" w="med" type="triangle"/>
            </a:ln>
          </p:spPr>
        </p:cxnSp>
        <p:cxnSp>
          <p:nvCxnSpPr>
            <p:cNvPr id="1043" name="Google Shape;1043;p19"/>
            <p:cNvCxnSpPr/>
            <p:nvPr/>
          </p:nvCxnSpPr>
          <p:spPr>
            <a:xfrm>
              <a:off x="2902" y="2380"/>
              <a:ext cx="257" cy="0"/>
            </a:xfrm>
            <a:prstGeom prst="straightConnector1">
              <a:avLst/>
            </a:prstGeom>
            <a:noFill/>
            <a:ln cap="flat" cmpd="sng" w="28575">
              <a:solidFill>
                <a:schemeClr val="dk1"/>
              </a:solidFill>
              <a:prstDash val="solid"/>
              <a:round/>
              <a:headEnd len="sm" w="sm" type="none"/>
              <a:tailEnd len="med" w="med" type="triangle"/>
            </a:ln>
          </p:spPr>
        </p:cxnSp>
        <p:cxnSp>
          <p:nvCxnSpPr>
            <p:cNvPr id="1044" name="Google Shape;1044;p19"/>
            <p:cNvCxnSpPr/>
            <p:nvPr/>
          </p:nvCxnSpPr>
          <p:spPr>
            <a:xfrm>
              <a:off x="2578" y="2669"/>
              <a:ext cx="0" cy="89"/>
            </a:xfrm>
            <a:prstGeom prst="straightConnector1">
              <a:avLst/>
            </a:prstGeom>
            <a:noFill/>
            <a:ln cap="flat" cmpd="sng" w="28575">
              <a:solidFill>
                <a:schemeClr val="dk1"/>
              </a:solidFill>
              <a:prstDash val="dash"/>
              <a:round/>
              <a:headEnd len="sm" w="sm" type="none"/>
              <a:tailEnd len="sm" w="sm" type="none"/>
            </a:ln>
          </p:spPr>
        </p:cxnSp>
        <p:cxnSp>
          <p:nvCxnSpPr>
            <p:cNvPr id="1045" name="Google Shape;1045;p19"/>
            <p:cNvCxnSpPr/>
            <p:nvPr/>
          </p:nvCxnSpPr>
          <p:spPr>
            <a:xfrm>
              <a:off x="2885" y="2231"/>
              <a:ext cx="0" cy="57"/>
            </a:xfrm>
            <a:prstGeom prst="straightConnector1">
              <a:avLst/>
            </a:prstGeom>
            <a:noFill/>
            <a:ln cap="flat" cmpd="sng" w="28575">
              <a:solidFill>
                <a:schemeClr val="dk1"/>
              </a:solidFill>
              <a:prstDash val="dash"/>
              <a:round/>
              <a:headEnd len="sm" w="sm" type="none"/>
              <a:tailEnd len="sm" w="sm" type="none"/>
            </a:ln>
          </p:spPr>
        </p:cxnSp>
        <p:cxnSp>
          <p:nvCxnSpPr>
            <p:cNvPr id="1046" name="Google Shape;1046;p19"/>
            <p:cNvCxnSpPr/>
            <p:nvPr/>
          </p:nvCxnSpPr>
          <p:spPr>
            <a:xfrm>
              <a:off x="3168" y="2231"/>
              <a:ext cx="0" cy="152"/>
            </a:xfrm>
            <a:prstGeom prst="straightConnector1">
              <a:avLst/>
            </a:prstGeom>
            <a:noFill/>
            <a:ln cap="flat" cmpd="sng" w="28575">
              <a:solidFill>
                <a:schemeClr val="dk1"/>
              </a:solidFill>
              <a:prstDash val="dash"/>
              <a:round/>
              <a:headEnd len="sm" w="sm" type="none"/>
              <a:tailEnd len="sm" w="sm" type="none"/>
            </a:ln>
          </p:spPr>
        </p:cxnSp>
        <p:cxnSp>
          <p:nvCxnSpPr>
            <p:cNvPr id="1047" name="Google Shape;1047;p19"/>
            <p:cNvCxnSpPr/>
            <p:nvPr/>
          </p:nvCxnSpPr>
          <p:spPr>
            <a:xfrm>
              <a:off x="3445" y="2565"/>
              <a:ext cx="0" cy="191"/>
            </a:xfrm>
            <a:prstGeom prst="straightConnector1">
              <a:avLst/>
            </a:prstGeom>
            <a:noFill/>
            <a:ln cap="flat" cmpd="sng" w="28575">
              <a:solidFill>
                <a:schemeClr val="dk1"/>
              </a:solidFill>
              <a:prstDash val="dash"/>
              <a:round/>
              <a:headEnd len="sm" w="sm" type="none"/>
              <a:tailEnd len="sm" w="sm" type="none"/>
            </a:ln>
          </p:spPr>
        </p:cxnSp>
        <p:sp>
          <p:nvSpPr>
            <p:cNvPr id="1048" name="Google Shape;1048;p19"/>
            <p:cNvSpPr/>
            <p:nvPr/>
          </p:nvSpPr>
          <p:spPr>
            <a:xfrm rot="-5400000">
              <a:off x="2388" y="2454"/>
              <a:ext cx="380" cy="3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49" name="Google Shape;1049;p19"/>
            <p:cNvCxnSpPr/>
            <p:nvPr/>
          </p:nvCxnSpPr>
          <p:spPr>
            <a:xfrm>
              <a:off x="2578" y="2230"/>
              <a:ext cx="0" cy="56"/>
            </a:xfrm>
            <a:prstGeom prst="straightConnector1">
              <a:avLst/>
            </a:prstGeom>
            <a:noFill/>
            <a:ln cap="flat" cmpd="sng" w="28575">
              <a:solidFill>
                <a:schemeClr val="dk1"/>
              </a:solidFill>
              <a:prstDash val="dash"/>
              <a:round/>
              <a:headEnd len="sm" w="sm" type="none"/>
              <a:tailEnd len="sm" w="sm" type="none"/>
            </a:ln>
          </p:spPr>
        </p:cxnSp>
        <p:sp>
          <p:nvSpPr>
            <p:cNvPr id="1050" name="Google Shape;1050;p19"/>
            <p:cNvSpPr/>
            <p:nvPr/>
          </p:nvSpPr>
          <p:spPr>
            <a:xfrm rot="-5400000">
              <a:off x="2731" y="2421"/>
              <a:ext cx="306" cy="4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51" name="Google Shape;1051;p19"/>
            <p:cNvCxnSpPr/>
            <p:nvPr/>
          </p:nvCxnSpPr>
          <p:spPr>
            <a:xfrm>
              <a:off x="2885" y="2599"/>
              <a:ext cx="0" cy="157"/>
            </a:xfrm>
            <a:prstGeom prst="straightConnector1">
              <a:avLst/>
            </a:prstGeom>
            <a:noFill/>
            <a:ln cap="flat" cmpd="sng" w="28575">
              <a:solidFill>
                <a:schemeClr val="dk1"/>
              </a:solidFill>
              <a:prstDash val="dash"/>
              <a:round/>
              <a:headEnd len="sm" w="sm" type="none"/>
              <a:tailEnd len="sm" w="sm" type="none"/>
            </a:ln>
          </p:spPr>
        </p:cxnSp>
        <p:sp>
          <p:nvSpPr>
            <p:cNvPr id="1052" name="Google Shape;1052;p19"/>
            <p:cNvSpPr/>
            <p:nvPr/>
          </p:nvSpPr>
          <p:spPr>
            <a:xfrm rot="-5400000">
              <a:off x="3082" y="2450"/>
              <a:ext cx="170" cy="4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53" name="Google Shape;1053;p19"/>
            <p:cNvCxnSpPr/>
            <p:nvPr/>
          </p:nvCxnSpPr>
          <p:spPr>
            <a:xfrm>
              <a:off x="3167" y="2555"/>
              <a:ext cx="1" cy="200"/>
            </a:xfrm>
            <a:prstGeom prst="straightConnector1">
              <a:avLst/>
            </a:prstGeom>
            <a:noFill/>
            <a:ln cap="flat" cmpd="sng" w="28575">
              <a:solidFill>
                <a:schemeClr val="dk1"/>
              </a:solidFill>
              <a:prstDash val="dash"/>
              <a:round/>
              <a:headEnd len="sm" w="sm" type="none"/>
              <a:tailEnd len="sm" w="sm" type="none"/>
            </a:ln>
          </p:spPr>
        </p:cxnSp>
        <p:sp>
          <p:nvSpPr>
            <p:cNvPr id="1054" name="Google Shape;1054;p19"/>
            <p:cNvSpPr/>
            <p:nvPr/>
          </p:nvSpPr>
          <p:spPr>
            <a:xfrm rot="-5400000">
              <a:off x="3411" y="2508"/>
              <a:ext cx="64" cy="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55" name="Google Shape;1055;p19"/>
            <p:cNvCxnSpPr/>
            <p:nvPr/>
          </p:nvCxnSpPr>
          <p:spPr>
            <a:xfrm>
              <a:off x="3445" y="2231"/>
              <a:ext cx="0" cy="262"/>
            </a:xfrm>
            <a:prstGeom prst="straightConnector1">
              <a:avLst/>
            </a:prstGeom>
            <a:noFill/>
            <a:ln cap="flat" cmpd="sng" w="28575">
              <a:solidFill>
                <a:schemeClr val="dk1"/>
              </a:solidFill>
              <a:prstDash val="dash"/>
              <a:round/>
              <a:headEnd len="sm" w="sm" type="none"/>
              <a:tailEnd len="sm" w="sm" type="none"/>
            </a:ln>
          </p:spPr>
        </p:cxnSp>
        <p:sp>
          <p:nvSpPr>
            <p:cNvPr id="1056" name="Google Shape;1056;p19"/>
            <p:cNvSpPr/>
            <p:nvPr/>
          </p:nvSpPr>
          <p:spPr>
            <a:xfrm>
              <a:off x="3040" y="2086"/>
              <a:ext cx="219"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7" name="Google Shape;1057;p19"/>
            <p:cNvSpPr/>
            <p:nvPr/>
          </p:nvSpPr>
          <p:spPr>
            <a:xfrm>
              <a:off x="3290" y="2086"/>
              <a:ext cx="279"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8" name="Google Shape;1058;p19"/>
            <p:cNvSpPr/>
            <p:nvPr/>
          </p:nvSpPr>
          <p:spPr>
            <a:xfrm>
              <a:off x="2786" y="2086"/>
              <a:ext cx="220"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059" name="Google Shape;1059;p19"/>
          <p:cNvCxnSpPr/>
          <p:nvPr/>
        </p:nvCxnSpPr>
        <p:spPr>
          <a:xfrm rot="10800000">
            <a:off x="1990875" y="3829050"/>
            <a:ext cx="1047600" cy="0"/>
          </a:xfrm>
          <a:prstGeom prst="straightConnector1">
            <a:avLst/>
          </a:prstGeom>
          <a:noFill/>
          <a:ln cap="flat" cmpd="sng" w="28575">
            <a:solidFill>
              <a:schemeClr val="dk1"/>
            </a:solidFill>
            <a:prstDash val="dash"/>
            <a:round/>
            <a:headEnd len="med" w="med" type="none"/>
            <a:tailEnd len="sm" w="sm" type="none"/>
          </a:ln>
        </p:spPr>
      </p:cxnSp>
      <p:sp>
        <p:nvSpPr>
          <p:cNvPr id="1060" name="Google Shape;1060;p19"/>
          <p:cNvSpPr txBox="1"/>
          <p:nvPr/>
        </p:nvSpPr>
        <p:spPr>
          <a:xfrm>
            <a:off x="4464050" y="2561035"/>
            <a:ext cx="2657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Use-Case Realization</a:t>
            </a:r>
            <a:endParaRPr/>
          </a:p>
        </p:txBody>
      </p:sp>
      <p:sp>
        <p:nvSpPr>
          <p:cNvPr id="1061" name="Google Shape;1061;p19"/>
          <p:cNvSpPr/>
          <p:nvPr/>
        </p:nvSpPr>
        <p:spPr>
          <a:xfrm rot="-5400000">
            <a:off x="1830213" y="3747441"/>
            <a:ext cx="117900" cy="162000"/>
          </a:xfrm>
          <a:prstGeom prst="triangle">
            <a:avLst>
              <a:gd fmla="val 50000" name="adj"/>
            </a:avLst>
          </a:prstGeom>
          <a:noFill/>
          <a:ln cap="flat" cmpd="sng" w="2857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9"/>
          <p:cNvSpPr txBox="1"/>
          <p:nvPr/>
        </p:nvSpPr>
        <p:spPr>
          <a:xfrm>
            <a:off x="1889107" y="3798973"/>
            <a:ext cx="81000" cy="58800"/>
          </a:xfrm>
          <a:prstGeom prst="rect">
            <a:avLst/>
          </a:prstGeom>
          <a:noFill/>
          <a:ln>
            <a:noFill/>
          </a:ln>
        </p:spPr>
        <p:txBody>
          <a:bodyPr anchorCtr="0" anchor="ctr" bIns="53975" lIns="107950" spcFirstLastPara="1" rIns="107950" wrap="square" tIns="53975">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63" name="Google Shape;1063;p19"/>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20"/>
          <p:cNvSpPr txBox="1"/>
          <p:nvPr>
            <p:ph type="title"/>
          </p:nvPr>
        </p:nvSpPr>
        <p:spPr>
          <a:xfrm>
            <a:off x="1066800" y="154781"/>
            <a:ext cx="83058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Guidelines: Allocating Responsibilities to Classes</a:t>
            </a:r>
            <a:endParaRPr/>
          </a:p>
        </p:txBody>
      </p:sp>
      <p:sp>
        <p:nvSpPr>
          <p:cNvPr id="1071" name="Google Shape;1071;p20"/>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Use analysis class stereotypes as a guide</a:t>
            </a:r>
            <a:endParaRPr/>
          </a:p>
          <a:p>
            <a:pPr indent="-285750" lvl="1" marL="742950" rtl="0" algn="l">
              <a:spcBef>
                <a:spcPts val="400"/>
              </a:spcBef>
              <a:spcAft>
                <a:spcPts val="0"/>
              </a:spcAft>
              <a:buSzPts val="1000"/>
              <a:buChar char="🞇"/>
            </a:pPr>
            <a:r>
              <a:rPr lang="en-US" sz="2000"/>
              <a:t>Boundary Classes</a:t>
            </a:r>
            <a:endParaRPr/>
          </a:p>
          <a:p>
            <a:pPr indent="-228600" lvl="2" marL="1143000" rtl="0" algn="l">
              <a:spcBef>
                <a:spcPts val="400"/>
              </a:spcBef>
              <a:spcAft>
                <a:spcPts val="0"/>
              </a:spcAft>
              <a:buSzPts val="2000"/>
              <a:buChar char="▪"/>
            </a:pPr>
            <a:r>
              <a:rPr lang="en-US"/>
              <a:t>Behavior that  involves communication with an actor</a:t>
            </a:r>
            <a:endParaRPr/>
          </a:p>
          <a:p>
            <a:pPr indent="-285750" lvl="1" marL="742950" rtl="0" algn="l">
              <a:spcBef>
                <a:spcPts val="400"/>
              </a:spcBef>
              <a:spcAft>
                <a:spcPts val="0"/>
              </a:spcAft>
              <a:buSzPts val="1000"/>
              <a:buChar char="🞇"/>
            </a:pPr>
            <a:r>
              <a:rPr lang="en-US" sz="2000"/>
              <a:t>Entity Classes</a:t>
            </a:r>
            <a:endParaRPr/>
          </a:p>
          <a:p>
            <a:pPr indent="-228600" lvl="2" marL="1143000" rtl="0" algn="l">
              <a:spcBef>
                <a:spcPts val="400"/>
              </a:spcBef>
              <a:spcAft>
                <a:spcPts val="0"/>
              </a:spcAft>
              <a:buSzPts val="2000"/>
              <a:buChar char="▪"/>
            </a:pPr>
            <a:r>
              <a:rPr lang="en-US"/>
              <a:t>Behavior that involves the data encapsulated within the abstraction</a:t>
            </a:r>
            <a:endParaRPr/>
          </a:p>
          <a:p>
            <a:pPr indent="-285750" lvl="1" marL="742950" rtl="0" algn="l">
              <a:spcBef>
                <a:spcPts val="400"/>
              </a:spcBef>
              <a:spcAft>
                <a:spcPts val="0"/>
              </a:spcAft>
              <a:buSzPts val="1000"/>
              <a:buChar char="🞇"/>
            </a:pPr>
            <a:r>
              <a:rPr lang="en-US" sz="2000"/>
              <a:t>Control Classes</a:t>
            </a:r>
            <a:endParaRPr/>
          </a:p>
          <a:p>
            <a:pPr indent="-228600" lvl="2" marL="1143000" rtl="0" algn="l">
              <a:spcBef>
                <a:spcPts val="400"/>
              </a:spcBef>
              <a:spcAft>
                <a:spcPts val="0"/>
              </a:spcAft>
              <a:buSzPts val="2000"/>
              <a:buChar char="▪"/>
            </a:pPr>
            <a:r>
              <a:rPr lang="en-US"/>
              <a:t>Behavior specific to a use case or part of a very important flow of events</a:t>
            </a:r>
            <a:endParaRPr/>
          </a:p>
        </p:txBody>
      </p:sp>
      <p:sp>
        <p:nvSpPr>
          <p:cNvPr id="1072" name="Google Shape;1072;p20"/>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21"/>
          <p:cNvSpPr txBox="1"/>
          <p:nvPr>
            <p:ph type="title"/>
          </p:nvPr>
        </p:nvSpPr>
        <p:spPr>
          <a:xfrm>
            <a:off x="457200" y="171450"/>
            <a:ext cx="9525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Guidelines: Allocating Responsibilities to Classes</a:t>
            </a:r>
            <a:endParaRPr/>
          </a:p>
        </p:txBody>
      </p:sp>
      <p:sp>
        <p:nvSpPr>
          <p:cNvPr id="1080" name="Google Shape;1080;p21"/>
          <p:cNvSpPr txBox="1"/>
          <p:nvPr>
            <p:ph idx="1" type="body"/>
          </p:nvPr>
        </p:nvSpPr>
        <p:spPr>
          <a:xfrm>
            <a:off x="457200" y="1028700"/>
            <a:ext cx="8229600" cy="3769500"/>
          </a:xfrm>
          <a:prstGeom prst="rect">
            <a:avLst/>
          </a:prstGeom>
          <a:noFill/>
          <a:ln>
            <a:noFill/>
          </a:ln>
        </p:spPr>
        <p:txBody>
          <a:bodyPr anchorCtr="0" anchor="t" bIns="45700" lIns="91425" spcFirstLastPara="1" rIns="91425" wrap="square" tIns="45700">
            <a:noAutofit/>
          </a:bodyPr>
          <a:lstStyle/>
          <a:p>
            <a:pPr indent="-342900" lvl="0" marL="342900" rtl="0" algn="l">
              <a:lnSpc>
                <a:spcPct val="70000"/>
              </a:lnSpc>
              <a:spcBef>
                <a:spcPts val="0"/>
              </a:spcBef>
              <a:spcAft>
                <a:spcPts val="0"/>
              </a:spcAft>
              <a:buClr>
                <a:srgbClr val="000000"/>
              </a:buClr>
              <a:buSzPts val="2000"/>
              <a:buChar char="❖"/>
            </a:pPr>
            <a:r>
              <a:rPr lang="en-US" sz="2000"/>
              <a:t>Who has the data needed to perform the responsibility?</a:t>
            </a:r>
            <a:endParaRPr/>
          </a:p>
          <a:p>
            <a:pPr indent="-342900" lvl="1" marL="798513" rtl="0" algn="l">
              <a:lnSpc>
                <a:spcPct val="77000"/>
              </a:lnSpc>
              <a:spcBef>
                <a:spcPts val="400"/>
              </a:spcBef>
              <a:spcAft>
                <a:spcPts val="0"/>
              </a:spcAft>
              <a:buSzPts val="1000"/>
              <a:buChar char="🞇"/>
            </a:pPr>
            <a:r>
              <a:rPr lang="en-US" sz="2000"/>
              <a:t>If one class has the data, put the responsibility with the data</a:t>
            </a:r>
            <a:endParaRPr/>
          </a:p>
          <a:p>
            <a:pPr indent="-342900" lvl="1" marL="798513" rtl="0" algn="l">
              <a:lnSpc>
                <a:spcPct val="77000"/>
              </a:lnSpc>
              <a:spcBef>
                <a:spcPts val="400"/>
              </a:spcBef>
              <a:spcAft>
                <a:spcPts val="0"/>
              </a:spcAft>
              <a:buSzPts val="1000"/>
              <a:buChar char="🞇"/>
            </a:pPr>
            <a:r>
              <a:rPr lang="en-US" sz="2000"/>
              <a:t>If multiple classes have the data:</a:t>
            </a:r>
            <a:endParaRPr/>
          </a:p>
          <a:p>
            <a:pPr indent="-287338" lvl="2" marL="1200150" rtl="0" algn="l">
              <a:lnSpc>
                <a:spcPct val="90000"/>
              </a:lnSpc>
              <a:spcBef>
                <a:spcPts val="400"/>
              </a:spcBef>
              <a:spcAft>
                <a:spcPts val="0"/>
              </a:spcAft>
              <a:buSzPts val="2000"/>
              <a:buChar char="▪"/>
            </a:pPr>
            <a:r>
              <a:rPr lang="en-US"/>
              <a:t>Put the responsibility with one class and add a relationship to the other</a:t>
            </a:r>
            <a:endParaRPr/>
          </a:p>
          <a:p>
            <a:pPr indent="-287338" lvl="2" marL="1200150" rtl="0" algn="l">
              <a:lnSpc>
                <a:spcPct val="90000"/>
              </a:lnSpc>
              <a:spcBef>
                <a:spcPts val="400"/>
              </a:spcBef>
              <a:spcAft>
                <a:spcPts val="0"/>
              </a:spcAft>
              <a:buSzPts val="2000"/>
              <a:buChar char="▪"/>
            </a:pPr>
            <a:r>
              <a:rPr lang="en-US"/>
              <a:t>Create a new class, put the responsibility in the new class, and add relationships to classes needed to perform the responsibility</a:t>
            </a:r>
            <a:endParaRPr/>
          </a:p>
          <a:p>
            <a:pPr indent="-287338" lvl="2" marL="1200150" rtl="0" algn="l">
              <a:lnSpc>
                <a:spcPct val="90000"/>
              </a:lnSpc>
              <a:spcBef>
                <a:spcPts val="400"/>
              </a:spcBef>
              <a:spcAft>
                <a:spcPts val="0"/>
              </a:spcAft>
              <a:buSzPts val="2000"/>
              <a:buChar char="▪"/>
            </a:pPr>
            <a:r>
              <a:rPr lang="en-US"/>
              <a:t>Put the responsibility in the control class, and add relationships to classes needed to perform the responsibility</a:t>
            </a:r>
            <a:endParaRPr/>
          </a:p>
        </p:txBody>
      </p:sp>
      <p:sp>
        <p:nvSpPr>
          <p:cNvPr id="1081" name="Google Shape;1081;p21"/>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22"/>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Anatomy of Sequence Diagrams</a:t>
            </a:r>
            <a:endParaRPr/>
          </a:p>
        </p:txBody>
      </p:sp>
      <p:sp>
        <p:nvSpPr>
          <p:cNvPr id="1090" name="Google Shape;1090;p22"/>
          <p:cNvSpPr txBox="1"/>
          <p:nvPr/>
        </p:nvSpPr>
        <p:spPr>
          <a:xfrm>
            <a:off x="3798888" y="2230041"/>
            <a:ext cx="2830500" cy="215400"/>
          </a:xfrm>
          <a:prstGeom prst="rect">
            <a:avLst/>
          </a:prstGeom>
          <a:noFill/>
          <a:ln>
            <a:noFill/>
          </a:ln>
        </p:spPr>
        <p:txBody>
          <a:bodyPr anchorCtr="0" anchor="t" bIns="0" lIns="0" spcFirstLastPara="1" rIns="0" wrap="square" tIns="0">
            <a:spAutoFit/>
          </a:bodyPr>
          <a:lstStyle/>
          <a:p>
            <a:pPr indent="-287338" lvl="0" marL="287338" marR="0" rtl="0" algn="l">
              <a:spcBef>
                <a:spcPts val="0"/>
              </a:spcBef>
              <a:spcAft>
                <a:spcPts val="0"/>
              </a:spcAft>
              <a:buNone/>
            </a:pPr>
            <a:r>
              <a:rPr lang="en-US" sz="1400">
                <a:solidFill>
                  <a:srgbClr val="000000"/>
                </a:solidFill>
                <a:latin typeface="Arial"/>
                <a:ea typeface="Arial"/>
                <a:cs typeface="Arial"/>
                <a:sym typeface="Arial"/>
              </a:rPr>
              <a:t>1: PerformResponsibility	</a:t>
            </a:r>
            <a:endParaRPr/>
          </a:p>
        </p:txBody>
      </p:sp>
      <p:cxnSp>
        <p:nvCxnSpPr>
          <p:cNvPr id="1091" name="Google Shape;1091;p22"/>
          <p:cNvCxnSpPr/>
          <p:nvPr/>
        </p:nvCxnSpPr>
        <p:spPr>
          <a:xfrm flipH="1" rot="10800000">
            <a:off x="2379663" y="2440763"/>
            <a:ext cx="3587700" cy="2400"/>
          </a:xfrm>
          <a:prstGeom prst="straightConnector1">
            <a:avLst/>
          </a:prstGeom>
          <a:noFill/>
          <a:ln cap="flat" cmpd="sng" w="28575">
            <a:solidFill>
              <a:srgbClr val="000000"/>
            </a:solidFill>
            <a:prstDash val="solid"/>
            <a:round/>
            <a:headEnd len="sm" w="sm" type="none"/>
            <a:tailEnd len="med" w="med" type="triangle"/>
          </a:ln>
        </p:spPr>
      </p:cxnSp>
      <p:sp>
        <p:nvSpPr>
          <p:cNvPr id="1092" name="Google Shape;1092;p22"/>
          <p:cNvSpPr txBox="1"/>
          <p:nvPr/>
        </p:nvSpPr>
        <p:spPr>
          <a:xfrm>
            <a:off x="1606550" y="891775"/>
            <a:ext cx="1765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Client Object</a:t>
            </a:r>
            <a:endParaRPr/>
          </a:p>
        </p:txBody>
      </p:sp>
      <p:sp>
        <p:nvSpPr>
          <p:cNvPr id="1093" name="Google Shape;1093;p22"/>
          <p:cNvSpPr txBox="1"/>
          <p:nvPr/>
        </p:nvSpPr>
        <p:spPr>
          <a:xfrm>
            <a:off x="5268931" y="891775"/>
            <a:ext cx="2278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Supplier Object</a:t>
            </a:r>
            <a:endParaRPr/>
          </a:p>
        </p:txBody>
      </p:sp>
      <p:sp>
        <p:nvSpPr>
          <p:cNvPr id="1094" name="Google Shape;1094;p22"/>
          <p:cNvSpPr txBox="1"/>
          <p:nvPr/>
        </p:nvSpPr>
        <p:spPr>
          <a:xfrm>
            <a:off x="3735403" y="1395425"/>
            <a:ext cx="11811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Message</a:t>
            </a:r>
            <a:endParaRPr/>
          </a:p>
        </p:txBody>
      </p:sp>
      <p:cxnSp>
        <p:nvCxnSpPr>
          <p:cNvPr id="1095" name="Google Shape;1095;p22"/>
          <p:cNvCxnSpPr/>
          <p:nvPr/>
        </p:nvCxnSpPr>
        <p:spPr>
          <a:xfrm rot="10800000">
            <a:off x="4381500" y="1647825"/>
            <a:ext cx="0" cy="571500"/>
          </a:xfrm>
          <a:prstGeom prst="straightConnector1">
            <a:avLst/>
          </a:prstGeom>
          <a:noFill/>
          <a:ln cap="flat" cmpd="sng" w="28575">
            <a:solidFill>
              <a:srgbClr val="0000FF"/>
            </a:solidFill>
            <a:prstDash val="solid"/>
            <a:round/>
            <a:headEnd len="med" w="med" type="triangle"/>
            <a:tailEnd len="med" w="med" type="none"/>
          </a:ln>
        </p:spPr>
      </p:cxnSp>
      <p:cxnSp>
        <p:nvCxnSpPr>
          <p:cNvPr id="1096" name="Google Shape;1096;p22"/>
          <p:cNvCxnSpPr/>
          <p:nvPr/>
        </p:nvCxnSpPr>
        <p:spPr>
          <a:xfrm>
            <a:off x="2298700" y="1738313"/>
            <a:ext cx="0" cy="563100"/>
          </a:xfrm>
          <a:prstGeom prst="straightConnector1">
            <a:avLst/>
          </a:prstGeom>
          <a:noFill/>
          <a:ln cap="flat" cmpd="sng" w="28575">
            <a:solidFill>
              <a:srgbClr val="000000"/>
            </a:solidFill>
            <a:prstDash val="dash"/>
            <a:round/>
            <a:headEnd len="sm" w="sm" type="none"/>
            <a:tailEnd len="sm" w="sm" type="none"/>
          </a:ln>
        </p:spPr>
      </p:cxnSp>
      <p:sp>
        <p:nvSpPr>
          <p:cNvPr id="1097" name="Google Shape;1097;p22"/>
          <p:cNvSpPr/>
          <p:nvPr/>
        </p:nvSpPr>
        <p:spPr>
          <a:xfrm>
            <a:off x="1439863" y="1379935"/>
            <a:ext cx="1765200" cy="34290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8" name="Google Shape;1098;p22"/>
          <p:cNvSpPr txBox="1"/>
          <p:nvPr/>
        </p:nvSpPr>
        <p:spPr>
          <a:xfrm>
            <a:off x="2048593" y="1470422"/>
            <a:ext cx="5082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u="sng">
                <a:solidFill>
                  <a:srgbClr val="000000"/>
                </a:solidFill>
                <a:latin typeface="Arial"/>
                <a:ea typeface="Arial"/>
                <a:cs typeface="Arial"/>
                <a:sym typeface="Arial"/>
              </a:rPr>
              <a:t>:Client</a:t>
            </a:r>
            <a:endParaRPr/>
          </a:p>
        </p:txBody>
      </p:sp>
      <p:cxnSp>
        <p:nvCxnSpPr>
          <p:cNvPr id="1099" name="Google Shape;1099;p22"/>
          <p:cNvCxnSpPr/>
          <p:nvPr/>
        </p:nvCxnSpPr>
        <p:spPr>
          <a:xfrm>
            <a:off x="6072188" y="1719263"/>
            <a:ext cx="0" cy="705900"/>
          </a:xfrm>
          <a:prstGeom prst="straightConnector1">
            <a:avLst/>
          </a:prstGeom>
          <a:noFill/>
          <a:ln cap="flat" cmpd="sng" w="28575">
            <a:solidFill>
              <a:srgbClr val="000000"/>
            </a:solidFill>
            <a:prstDash val="dash"/>
            <a:round/>
            <a:headEnd len="sm" w="sm" type="none"/>
            <a:tailEnd len="sm" w="sm" type="none"/>
          </a:ln>
        </p:spPr>
      </p:cxnSp>
      <p:sp>
        <p:nvSpPr>
          <p:cNvPr id="1100" name="Google Shape;1100;p22"/>
          <p:cNvSpPr/>
          <p:nvPr/>
        </p:nvSpPr>
        <p:spPr>
          <a:xfrm>
            <a:off x="5187950" y="1379935"/>
            <a:ext cx="1765200" cy="34290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1" name="Google Shape;1101;p22"/>
          <p:cNvSpPr txBox="1"/>
          <p:nvPr/>
        </p:nvSpPr>
        <p:spPr>
          <a:xfrm>
            <a:off x="5697294" y="1470422"/>
            <a:ext cx="7068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u="sng">
                <a:solidFill>
                  <a:srgbClr val="000000"/>
                </a:solidFill>
                <a:latin typeface="Arial"/>
                <a:ea typeface="Arial"/>
                <a:cs typeface="Arial"/>
                <a:sym typeface="Arial"/>
              </a:rPr>
              <a:t>:Supplier</a:t>
            </a:r>
            <a:endParaRPr/>
          </a:p>
        </p:txBody>
      </p:sp>
      <p:sp>
        <p:nvSpPr>
          <p:cNvPr id="1102" name="Google Shape;1102;p22"/>
          <p:cNvSpPr txBox="1"/>
          <p:nvPr/>
        </p:nvSpPr>
        <p:spPr>
          <a:xfrm>
            <a:off x="549275" y="2877750"/>
            <a:ext cx="1447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Execution </a:t>
            </a:r>
            <a:endParaRPr/>
          </a:p>
          <a:p>
            <a:pPr indent="0" lvl="0" marL="0" marR="0" rtl="0" algn="l">
              <a:spcBef>
                <a:spcPts val="0"/>
              </a:spcBef>
              <a:spcAft>
                <a:spcPts val="0"/>
              </a:spcAft>
              <a:buNone/>
            </a:pPr>
            <a:r>
              <a:rPr i="1" lang="en-US" sz="1800">
                <a:solidFill>
                  <a:srgbClr val="FF0000"/>
                </a:solidFill>
                <a:latin typeface="Arial"/>
                <a:ea typeface="Arial"/>
                <a:cs typeface="Arial"/>
                <a:sym typeface="Arial"/>
              </a:rPr>
              <a:t>Occurrence</a:t>
            </a:r>
            <a:endParaRPr/>
          </a:p>
        </p:txBody>
      </p:sp>
      <p:cxnSp>
        <p:nvCxnSpPr>
          <p:cNvPr id="1103" name="Google Shape;1103;p22"/>
          <p:cNvCxnSpPr/>
          <p:nvPr/>
        </p:nvCxnSpPr>
        <p:spPr>
          <a:xfrm>
            <a:off x="6134100" y="2838450"/>
            <a:ext cx="709500" cy="0"/>
          </a:xfrm>
          <a:prstGeom prst="straightConnector1">
            <a:avLst/>
          </a:prstGeom>
          <a:noFill/>
          <a:ln cap="flat" cmpd="sng" w="28575">
            <a:solidFill>
              <a:srgbClr val="000000"/>
            </a:solidFill>
            <a:prstDash val="solid"/>
            <a:round/>
            <a:headEnd len="sm" w="sm" type="none"/>
            <a:tailEnd len="sm" w="sm" type="none"/>
          </a:ln>
        </p:spPr>
      </p:cxnSp>
      <p:cxnSp>
        <p:nvCxnSpPr>
          <p:cNvPr id="1104" name="Google Shape;1104;p22"/>
          <p:cNvCxnSpPr/>
          <p:nvPr/>
        </p:nvCxnSpPr>
        <p:spPr>
          <a:xfrm>
            <a:off x="6235700" y="3178969"/>
            <a:ext cx="611100" cy="0"/>
          </a:xfrm>
          <a:prstGeom prst="straightConnector1">
            <a:avLst/>
          </a:prstGeom>
          <a:noFill/>
          <a:ln cap="flat" cmpd="sng" w="28575">
            <a:solidFill>
              <a:srgbClr val="000000"/>
            </a:solidFill>
            <a:prstDash val="solid"/>
            <a:round/>
            <a:headEnd len="med" w="med" type="triangle"/>
            <a:tailEnd len="med" w="med" type="none"/>
          </a:ln>
        </p:spPr>
      </p:cxnSp>
      <p:cxnSp>
        <p:nvCxnSpPr>
          <p:cNvPr id="1105" name="Google Shape;1105;p22"/>
          <p:cNvCxnSpPr/>
          <p:nvPr/>
        </p:nvCxnSpPr>
        <p:spPr>
          <a:xfrm>
            <a:off x="6832600" y="2838450"/>
            <a:ext cx="0" cy="351300"/>
          </a:xfrm>
          <a:prstGeom prst="straightConnector1">
            <a:avLst/>
          </a:prstGeom>
          <a:noFill/>
          <a:ln cap="flat" cmpd="sng" w="28575">
            <a:solidFill>
              <a:srgbClr val="000000"/>
            </a:solidFill>
            <a:prstDash val="solid"/>
            <a:round/>
            <a:headEnd len="sm" w="sm" type="none"/>
            <a:tailEnd len="sm" w="sm" type="none"/>
          </a:ln>
        </p:spPr>
      </p:cxnSp>
      <p:sp>
        <p:nvSpPr>
          <p:cNvPr id="1106" name="Google Shape;1106;p22"/>
          <p:cNvSpPr txBox="1"/>
          <p:nvPr/>
        </p:nvSpPr>
        <p:spPr>
          <a:xfrm>
            <a:off x="6942138" y="2095500"/>
            <a:ext cx="1930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Reflexive Message</a:t>
            </a:r>
            <a:endParaRPr/>
          </a:p>
        </p:txBody>
      </p:sp>
      <p:cxnSp>
        <p:nvCxnSpPr>
          <p:cNvPr id="1107" name="Google Shape;1107;p22"/>
          <p:cNvCxnSpPr/>
          <p:nvPr/>
        </p:nvCxnSpPr>
        <p:spPr>
          <a:xfrm>
            <a:off x="6691313" y="2219325"/>
            <a:ext cx="0" cy="551400"/>
          </a:xfrm>
          <a:prstGeom prst="straightConnector1">
            <a:avLst/>
          </a:prstGeom>
          <a:noFill/>
          <a:ln cap="flat" cmpd="sng" w="28575">
            <a:solidFill>
              <a:srgbClr val="0000FF"/>
            </a:solidFill>
            <a:prstDash val="solid"/>
            <a:round/>
            <a:headEnd len="sm" w="sm" type="none"/>
            <a:tailEnd len="med" w="med" type="triangle"/>
          </a:ln>
        </p:spPr>
      </p:cxnSp>
      <p:sp>
        <p:nvSpPr>
          <p:cNvPr id="1108" name="Google Shape;1108;p22"/>
          <p:cNvSpPr/>
          <p:nvPr/>
        </p:nvSpPr>
        <p:spPr>
          <a:xfrm>
            <a:off x="2222500" y="2295525"/>
            <a:ext cx="152400" cy="14514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9" name="Google Shape;1109;p22"/>
          <p:cNvSpPr txBox="1"/>
          <p:nvPr/>
        </p:nvSpPr>
        <p:spPr>
          <a:xfrm>
            <a:off x="368300" y="1895475"/>
            <a:ext cx="1447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Object Lifeline</a:t>
            </a:r>
            <a:endParaRPr/>
          </a:p>
        </p:txBody>
      </p:sp>
      <p:cxnSp>
        <p:nvCxnSpPr>
          <p:cNvPr id="1110" name="Google Shape;1110;p22"/>
          <p:cNvCxnSpPr/>
          <p:nvPr/>
        </p:nvCxnSpPr>
        <p:spPr>
          <a:xfrm>
            <a:off x="1920875" y="1990725"/>
            <a:ext cx="327000" cy="0"/>
          </a:xfrm>
          <a:prstGeom prst="straightConnector1">
            <a:avLst/>
          </a:prstGeom>
          <a:noFill/>
          <a:ln cap="flat" cmpd="sng" w="28575">
            <a:solidFill>
              <a:srgbClr val="0000FF"/>
            </a:solidFill>
            <a:prstDash val="solid"/>
            <a:round/>
            <a:headEnd len="sm" w="sm" type="none"/>
            <a:tailEnd len="med" w="med" type="triangle"/>
          </a:ln>
        </p:spPr>
      </p:cxnSp>
      <p:sp>
        <p:nvSpPr>
          <p:cNvPr id="1111" name="Google Shape;1111;p22"/>
          <p:cNvSpPr txBox="1"/>
          <p:nvPr/>
        </p:nvSpPr>
        <p:spPr>
          <a:xfrm>
            <a:off x="6889750" y="2838450"/>
            <a:ext cx="1924200" cy="431100"/>
          </a:xfrm>
          <a:prstGeom prst="rect">
            <a:avLst/>
          </a:prstGeom>
          <a:noFill/>
          <a:ln>
            <a:noFill/>
          </a:ln>
        </p:spPr>
        <p:txBody>
          <a:bodyPr anchorCtr="0" anchor="t" bIns="0" lIns="0" spcFirstLastPara="1" rIns="0" wrap="square" tIns="0">
            <a:spAutoFit/>
          </a:bodyPr>
          <a:lstStyle/>
          <a:p>
            <a:pPr indent="-287338" lvl="0" marL="287338" marR="0" rtl="0" algn="l">
              <a:spcBef>
                <a:spcPts val="0"/>
              </a:spcBef>
              <a:spcAft>
                <a:spcPts val="0"/>
              </a:spcAft>
              <a:buNone/>
            </a:pPr>
            <a:r>
              <a:rPr lang="en-US" sz="1400">
                <a:solidFill>
                  <a:srgbClr val="000000"/>
                </a:solidFill>
                <a:latin typeface="Arial"/>
                <a:ea typeface="Arial"/>
                <a:cs typeface="Arial"/>
                <a:sym typeface="Arial"/>
              </a:rPr>
              <a:t>1.1: PerformAnother</a:t>
            </a:r>
            <a:br>
              <a:rPr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Responsibility	</a:t>
            </a:r>
            <a:endParaRPr/>
          </a:p>
        </p:txBody>
      </p:sp>
      <p:sp>
        <p:nvSpPr>
          <p:cNvPr id="1112" name="Google Shape;1112;p22"/>
          <p:cNvSpPr txBox="1"/>
          <p:nvPr/>
        </p:nvSpPr>
        <p:spPr>
          <a:xfrm>
            <a:off x="6675438" y="3621881"/>
            <a:ext cx="2197200" cy="831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1" lang="en-US" sz="1800">
                <a:solidFill>
                  <a:srgbClr val="FF0000"/>
                </a:solidFill>
                <a:latin typeface="Arial"/>
                <a:ea typeface="Arial"/>
                <a:cs typeface="Arial"/>
                <a:sym typeface="Arial"/>
              </a:rPr>
              <a:t>Hierarchical Message</a:t>
            </a:r>
            <a:endParaRPr/>
          </a:p>
          <a:p>
            <a:pPr indent="0" lvl="0" marL="0" marR="0" rtl="0" algn="ctr">
              <a:spcBef>
                <a:spcPts val="0"/>
              </a:spcBef>
              <a:spcAft>
                <a:spcPts val="0"/>
              </a:spcAft>
              <a:buNone/>
            </a:pPr>
            <a:r>
              <a:rPr i="1" lang="en-US" sz="1800">
                <a:solidFill>
                  <a:srgbClr val="FF0000"/>
                </a:solidFill>
                <a:latin typeface="Arial"/>
                <a:ea typeface="Arial"/>
                <a:cs typeface="Arial"/>
                <a:sym typeface="Arial"/>
              </a:rPr>
              <a:t>Numbering</a:t>
            </a:r>
            <a:endParaRPr/>
          </a:p>
        </p:txBody>
      </p:sp>
      <p:sp>
        <p:nvSpPr>
          <p:cNvPr id="1113" name="Google Shape;1113;p22"/>
          <p:cNvSpPr/>
          <p:nvPr/>
        </p:nvSpPr>
        <p:spPr>
          <a:xfrm>
            <a:off x="6070600" y="3181350"/>
            <a:ext cx="152400" cy="228600"/>
          </a:xfrm>
          <a:prstGeom prst="rect">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14" name="Google Shape;1114;p22"/>
          <p:cNvCxnSpPr/>
          <p:nvPr/>
        </p:nvCxnSpPr>
        <p:spPr>
          <a:xfrm>
            <a:off x="2298700" y="3751660"/>
            <a:ext cx="14400" cy="708300"/>
          </a:xfrm>
          <a:prstGeom prst="straightConnector1">
            <a:avLst/>
          </a:prstGeom>
          <a:noFill/>
          <a:ln cap="flat" cmpd="sng" w="28575">
            <a:solidFill>
              <a:srgbClr val="000000"/>
            </a:solidFill>
            <a:prstDash val="dash"/>
            <a:round/>
            <a:headEnd len="sm" w="sm" type="none"/>
            <a:tailEnd len="sm" w="sm" type="none"/>
          </a:ln>
        </p:spPr>
      </p:cxnSp>
      <p:cxnSp>
        <p:nvCxnSpPr>
          <p:cNvPr id="1115" name="Google Shape;1115;p22"/>
          <p:cNvCxnSpPr/>
          <p:nvPr/>
        </p:nvCxnSpPr>
        <p:spPr>
          <a:xfrm>
            <a:off x="6072188" y="3581400"/>
            <a:ext cx="0" cy="878700"/>
          </a:xfrm>
          <a:prstGeom prst="straightConnector1">
            <a:avLst/>
          </a:prstGeom>
          <a:noFill/>
          <a:ln cap="flat" cmpd="sng" w="28575">
            <a:solidFill>
              <a:srgbClr val="000000"/>
            </a:solidFill>
            <a:prstDash val="dash"/>
            <a:round/>
            <a:headEnd len="sm" w="sm" type="none"/>
            <a:tailEnd len="sm" w="sm" type="none"/>
          </a:ln>
        </p:spPr>
      </p:cxnSp>
      <p:cxnSp>
        <p:nvCxnSpPr>
          <p:cNvPr id="1116" name="Google Shape;1116;p22"/>
          <p:cNvCxnSpPr/>
          <p:nvPr/>
        </p:nvCxnSpPr>
        <p:spPr>
          <a:xfrm>
            <a:off x="5988050" y="3580210"/>
            <a:ext cx="163500" cy="0"/>
          </a:xfrm>
          <a:prstGeom prst="straightConnector1">
            <a:avLst/>
          </a:prstGeom>
          <a:noFill/>
          <a:ln cap="flat" cmpd="sng" w="28575">
            <a:solidFill>
              <a:schemeClr val="dk1"/>
            </a:solidFill>
            <a:prstDash val="solid"/>
            <a:round/>
            <a:headEnd len="med" w="med" type="none"/>
            <a:tailEnd len="med" w="med" type="none"/>
          </a:ln>
        </p:spPr>
      </p:cxnSp>
      <p:cxnSp>
        <p:nvCxnSpPr>
          <p:cNvPr id="1117" name="Google Shape;1117;p22"/>
          <p:cNvCxnSpPr/>
          <p:nvPr/>
        </p:nvCxnSpPr>
        <p:spPr>
          <a:xfrm>
            <a:off x="5992813" y="2434828"/>
            <a:ext cx="0" cy="1156200"/>
          </a:xfrm>
          <a:prstGeom prst="straightConnector1">
            <a:avLst/>
          </a:prstGeom>
          <a:noFill/>
          <a:ln cap="flat" cmpd="sng" w="28575">
            <a:solidFill>
              <a:srgbClr val="000000"/>
            </a:solidFill>
            <a:prstDash val="solid"/>
            <a:round/>
            <a:headEnd len="sm" w="sm" type="none"/>
            <a:tailEnd len="sm" w="sm" type="none"/>
          </a:ln>
        </p:spPr>
      </p:cxnSp>
      <p:cxnSp>
        <p:nvCxnSpPr>
          <p:cNvPr id="1118" name="Google Shape;1118;p22"/>
          <p:cNvCxnSpPr/>
          <p:nvPr/>
        </p:nvCxnSpPr>
        <p:spPr>
          <a:xfrm flipH="1" rot="10800000">
            <a:off x="5983288" y="2437200"/>
            <a:ext cx="169800" cy="1200"/>
          </a:xfrm>
          <a:prstGeom prst="straightConnector1">
            <a:avLst/>
          </a:prstGeom>
          <a:noFill/>
          <a:ln cap="flat" cmpd="sng" w="28575">
            <a:solidFill>
              <a:schemeClr val="dk1"/>
            </a:solidFill>
            <a:prstDash val="solid"/>
            <a:round/>
            <a:headEnd len="med" w="med" type="none"/>
            <a:tailEnd len="med" w="med" type="none"/>
          </a:ln>
        </p:spPr>
      </p:cxnSp>
      <p:cxnSp>
        <p:nvCxnSpPr>
          <p:cNvPr id="1119" name="Google Shape;1119;p22"/>
          <p:cNvCxnSpPr/>
          <p:nvPr/>
        </p:nvCxnSpPr>
        <p:spPr>
          <a:xfrm>
            <a:off x="6143625" y="3412331"/>
            <a:ext cx="0" cy="178500"/>
          </a:xfrm>
          <a:prstGeom prst="straightConnector1">
            <a:avLst/>
          </a:prstGeom>
          <a:noFill/>
          <a:ln cap="flat" cmpd="sng" w="28575">
            <a:solidFill>
              <a:srgbClr val="000000"/>
            </a:solidFill>
            <a:prstDash val="solid"/>
            <a:round/>
            <a:headEnd len="sm" w="sm" type="none"/>
            <a:tailEnd len="sm" w="sm" type="none"/>
          </a:ln>
        </p:spPr>
      </p:cxnSp>
      <p:cxnSp>
        <p:nvCxnSpPr>
          <p:cNvPr id="1120" name="Google Shape;1120;p22"/>
          <p:cNvCxnSpPr/>
          <p:nvPr/>
        </p:nvCxnSpPr>
        <p:spPr>
          <a:xfrm>
            <a:off x="6142038" y="2432447"/>
            <a:ext cx="1500" cy="743100"/>
          </a:xfrm>
          <a:prstGeom prst="straightConnector1">
            <a:avLst/>
          </a:prstGeom>
          <a:noFill/>
          <a:ln cap="flat" cmpd="sng" w="28575">
            <a:solidFill>
              <a:srgbClr val="000000"/>
            </a:solidFill>
            <a:prstDash val="solid"/>
            <a:round/>
            <a:headEnd len="sm" w="sm" type="none"/>
            <a:tailEnd len="sm" w="sm" type="none"/>
          </a:ln>
        </p:spPr>
      </p:cxnSp>
      <p:grpSp>
        <p:nvGrpSpPr>
          <p:cNvPr id="1121" name="Google Shape;1121;p22"/>
          <p:cNvGrpSpPr/>
          <p:nvPr/>
        </p:nvGrpSpPr>
        <p:grpSpPr>
          <a:xfrm>
            <a:off x="2286000" y="1104900"/>
            <a:ext cx="3771900" cy="219075"/>
            <a:chOff x="1544" y="1088"/>
            <a:chExt cx="2376" cy="296"/>
          </a:xfrm>
        </p:grpSpPr>
        <p:cxnSp>
          <p:nvCxnSpPr>
            <p:cNvPr id="1122" name="Google Shape;1122;p22"/>
            <p:cNvCxnSpPr/>
            <p:nvPr/>
          </p:nvCxnSpPr>
          <p:spPr>
            <a:xfrm>
              <a:off x="1544" y="1088"/>
              <a:ext cx="0" cy="296"/>
            </a:xfrm>
            <a:prstGeom prst="straightConnector1">
              <a:avLst/>
            </a:prstGeom>
            <a:noFill/>
            <a:ln cap="flat" cmpd="sng" w="28575">
              <a:solidFill>
                <a:srgbClr val="0000FF"/>
              </a:solidFill>
              <a:prstDash val="solid"/>
              <a:round/>
              <a:headEnd len="sm" w="sm" type="none"/>
              <a:tailEnd len="med" w="med" type="triangle"/>
            </a:ln>
          </p:spPr>
        </p:cxnSp>
        <p:cxnSp>
          <p:nvCxnSpPr>
            <p:cNvPr id="1123" name="Google Shape;1123;p22"/>
            <p:cNvCxnSpPr/>
            <p:nvPr/>
          </p:nvCxnSpPr>
          <p:spPr>
            <a:xfrm>
              <a:off x="3920" y="1088"/>
              <a:ext cx="0" cy="296"/>
            </a:xfrm>
            <a:prstGeom prst="straightConnector1">
              <a:avLst/>
            </a:prstGeom>
            <a:noFill/>
            <a:ln cap="flat" cmpd="sng" w="28575">
              <a:solidFill>
                <a:srgbClr val="0000FF"/>
              </a:solidFill>
              <a:prstDash val="solid"/>
              <a:round/>
              <a:headEnd len="sm" w="sm" type="none"/>
              <a:tailEnd len="med" w="med" type="triangle"/>
            </a:ln>
          </p:spPr>
        </p:cxnSp>
      </p:grpSp>
      <p:cxnSp>
        <p:nvCxnSpPr>
          <p:cNvPr id="1124" name="Google Shape;1124;p22"/>
          <p:cNvCxnSpPr/>
          <p:nvPr/>
        </p:nvCxnSpPr>
        <p:spPr>
          <a:xfrm rot="10800000">
            <a:off x="7797800" y="3209879"/>
            <a:ext cx="0" cy="425100"/>
          </a:xfrm>
          <a:prstGeom prst="straightConnector1">
            <a:avLst/>
          </a:prstGeom>
          <a:noFill/>
          <a:ln cap="flat" cmpd="sng" w="28575">
            <a:solidFill>
              <a:srgbClr val="0000FF"/>
            </a:solidFill>
            <a:prstDash val="solid"/>
            <a:round/>
            <a:headEnd len="sm" w="sm" type="none"/>
            <a:tailEnd len="med" w="med" type="triangle"/>
          </a:ln>
        </p:spPr>
      </p:cxnSp>
      <p:sp>
        <p:nvSpPr>
          <p:cNvPr id="1125" name="Google Shape;1125;p22"/>
          <p:cNvSpPr/>
          <p:nvPr/>
        </p:nvSpPr>
        <p:spPr>
          <a:xfrm>
            <a:off x="1804988" y="4199335"/>
            <a:ext cx="4695900" cy="335700"/>
          </a:xfrm>
          <a:prstGeom prst="rect">
            <a:avLst/>
          </a:prstGeom>
          <a:noFill/>
          <a:ln cap="flat" cmpd="sng" w="12700">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6" name="Google Shape;1126;p22"/>
          <p:cNvSpPr/>
          <p:nvPr/>
        </p:nvSpPr>
        <p:spPr>
          <a:xfrm>
            <a:off x="3252788" y="4296966"/>
            <a:ext cx="2077500" cy="128700"/>
          </a:xfrm>
          <a:prstGeom prst="rect">
            <a:avLst/>
          </a:prstGeom>
          <a:noFill/>
          <a:ln>
            <a:noFill/>
          </a:ln>
        </p:spPr>
        <p:txBody>
          <a:bodyPr anchorCtr="0" anchor="t" bIns="0" lIns="0" spcFirstLastPara="1" rIns="0" wrap="square" tIns="0">
            <a:spAutoFit/>
          </a:bodyPr>
          <a:lstStyle/>
          <a:p>
            <a:pPr indent="0" lvl="0" marL="0" marR="0" rtl="0" algn="l">
              <a:lnSpc>
                <a:spcPct val="81250"/>
              </a:lnSpc>
              <a:spcBef>
                <a:spcPts val="0"/>
              </a:spcBef>
              <a:spcAft>
                <a:spcPts val="0"/>
              </a:spcAft>
              <a:buNone/>
            </a:pPr>
            <a:r>
              <a:rPr lang="en-US" sz="1600">
                <a:solidFill>
                  <a:srgbClr val="000000"/>
                </a:solidFill>
                <a:latin typeface="Arial"/>
                <a:ea typeface="Arial"/>
                <a:cs typeface="Arial"/>
                <a:sym typeface="Arial"/>
              </a:rPr>
              <a:t>Interaction Occurrence</a:t>
            </a:r>
            <a:endParaRPr/>
          </a:p>
        </p:txBody>
      </p:sp>
      <p:sp>
        <p:nvSpPr>
          <p:cNvPr id="1127" name="Google Shape;1127;p22"/>
          <p:cNvSpPr/>
          <p:nvPr/>
        </p:nvSpPr>
        <p:spPr>
          <a:xfrm>
            <a:off x="1804988" y="4208860"/>
            <a:ext cx="420687" cy="140494"/>
          </a:xfrm>
          <a:custGeom>
            <a:rect b="b" l="l" r="r" t="t"/>
            <a:pathLst>
              <a:path extrusionOk="0" h="126" w="129">
                <a:moveTo>
                  <a:pt x="0" y="126"/>
                </a:moveTo>
                <a:lnTo>
                  <a:pt x="0" y="0"/>
                </a:lnTo>
                <a:lnTo>
                  <a:pt x="129" y="0"/>
                </a:lnTo>
                <a:lnTo>
                  <a:pt x="129" y="69"/>
                </a:lnTo>
                <a:lnTo>
                  <a:pt x="96" y="126"/>
                </a:lnTo>
                <a:lnTo>
                  <a:pt x="0" y="126"/>
                </a:lnTo>
                <a:close/>
              </a:path>
            </a:pathLst>
          </a:custGeom>
          <a:noFill/>
          <a:ln cap="flat" cmpd="sng" w="12700">
            <a:solidFill>
              <a:srgbClr val="000000"/>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8" name="Google Shape;1128;p22"/>
          <p:cNvSpPr/>
          <p:nvPr/>
        </p:nvSpPr>
        <p:spPr>
          <a:xfrm>
            <a:off x="1811338" y="4217194"/>
            <a:ext cx="222900" cy="125100"/>
          </a:xfrm>
          <a:prstGeom prst="rect">
            <a:avLst/>
          </a:prstGeom>
          <a:noFill/>
          <a:ln>
            <a:noFill/>
          </a:ln>
        </p:spPr>
        <p:txBody>
          <a:bodyPr anchorCtr="0" anchor="t" bIns="0" lIns="0" spcFirstLastPara="1" rIns="0" wrap="square" tIns="0">
            <a:spAutoFit/>
          </a:bodyPr>
          <a:lstStyle/>
          <a:p>
            <a:pPr indent="0" lvl="0" marL="0" marR="0" rtl="0" algn="l">
              <a:lnSpc>
                <a:spcPct val="108333"/>
              </a:lnSpc>
              <a:spcBef>
                <a:spcPts val="0"/>
              </a:spcBef>
              <a:spcAft>
                <a:spcPts val="0"/>
              </a:spcAft>
              <a:buNone/>
            </a:pPr>
            <a:r>
              <a:rPr lang="en-US" sz="1200">
                <a:solidFill>
                  <a:srgbClr val="000000"/>
                </a:solidFill>
                <a:latin typeface="Arial"/>
                <a:ea typeface="Arial"/>
                <a:cs typeface="Arial"/>
                <a:sym typeface="Arial"/>
              </a:rPr>
              <a:t> ref</a:t>
            </a:r>
            <a:endParaRPr sz="1200">
              <a:solidFill>
                <a:srgbClr val="000000"/>
              </a:solidFill>
              <a:latin typeface="Arial"/>
              <a:ea typeface="Arial"/>
              <a:cs typeface="Arial"/>
              <a:sym typeface="Arial"/>
            </a:endParaRPr>
          </a:p>
        </p:txBody>
      </p:sp>
      <p:sp>
        <p:nvSpPr>
          <p:cNvPr id="1129" name="Google Shape;1129;p22"/>
          <p:cNvSpPr txBox="1"/>
          <p:nvPr/>
        </p:nvSpPr>
        <p:spPr>
          <a:xfrm>
            <a:off x="3167063" y="2781300"/>
            <a:ext cx="1828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Event Occurrence</a:t>
            </a:r>
            <a:endParaRPr/>
          </a:p>
        </p:txBody>
      </p:sp>
      <p:cxnSp>
        <p:nvCxnSpPr>
          <p:cNvPr id="1130" name="Google Shape;1130;p22"/>
          <p:cNvCxnSpPr/>
          <p:nvPr/>
        </p:nvCxnSpPr>
        <p:spPr>
          <a:xfrm flipH="1" rot="10800000">
            <a:off x="5219700" y="2463300"/>
            <a:ext cx="750900" cy="432300"/>
          </a:xfrm>
          <a:prstGeom prst="straightConnector1">
            <a:avLst/>
          </a:prstGeom>
          <a:noFill/>
          <a:ln cap="flat" cmpd="sng" w="28575">
            <a:solidFill>
              <a:srgbClr val="0000FF"/>
            </a:solidFill>
            <a:prstDash val="solid"/>
            <a:round/>
            <a:headEnd len="sm" w="sm" type="none"/>
            <a:tailEnd len="med" w="med" type="triangle"/>
          </a:ln>
        </p:spPr>
      </p:cxnSp>
      <p:cxnSp>
        <p:nvCxnSpPr>
          <p:cNvPr id="1131" name="Google Shape;1131;p22"/>
          <p:cNvCxnSpPr/>
          <p:nvPr/>
        </p:nvCxnSpPr>
        <p:spPr>
          <a:xfrm rot="10800000">
            <a:off x="2386150" y="2463300"/>
            <a:ext cx="579300" cy="432300"/>
          </a:xfrm>
          <a:prstGeom prst="straightConnector1">
            <a:avLst/>
          </a:prstGeom>
          <a:noFill/>
          <a:ln cap="flat" cmpd="sng" w="28575">
            <a:solidFill>
              <a:srgbClr val="0000FF"/>
            </a:solidFill>
            <a:prstDash val="solid"/>
            <a:round/>
            <a:headEnd len="sm" w="sm" type="none"/>
            <a:tailEnd len="med" w="med" type="triangle"/>
          </a:ln>
        </p:spPr>
      </p:cxnSp>
      <p:cxnSp>
        <p:nvCxnSpPr>
          <p:cNvPr id="1132" name="Google Shape;1132;p22"/>
          <p:cNvCxnSpPr/>
          <p:nvPr/>
        </p:nvCxnSpPr>
        <p:spPr>
          <a:xfrm rot="10800000">
            <a:off x="2965450" y="2895600"/>
            <a:ext cx="190500" cy="0"/>
          </a:xfrm>
          <a:prstGeom prst="straightConnector1">
            <a:avLst/>
          </a:prstGeom>
          <a:noFill/>
          <a:ln cap="flat" cmpd="sng" w="28575">
            <a:solidFill>
              <a:srgbClr val="0000FF"/>
            </a:solidFill>
            <a:prstDash val="solid"/>
            <a:round/>
            <a:headEnd len="sm" w="sm" type="none"/>
            <a:tailEnd len="med" w="med" type="none"/>
          </a:ln>
        </p:spPr>
      </p:cxnSp>
      <p:cxnSp>
        <p:nvCxnSpPr>
          <p:cNvPr id="1133" name="Google Shape;1133;p22"/>
          <p:cNvCxnSpPr/>
          <p:nvPr/>
        </p:nvCxnSpPr>
        <p:spPr>
          <a:xfrm rot="10800000">
            <a:off x="5029200" y="2895600"/>
            <a:ext cx="190500" cy="0"/>
          </a:xfrm>
          <a:prstGeom prst="straightConnector1">
            <a:avLst/>
          </a:prstGeom>
          <a:noFill/>
          <a:ln cap="flat" cmpd="sng" w="28575">
            <a:solidFill>
              <a:srgbClr val="0000FF"/>
            </a:solidFill>
            <a:prstDash val="solid"/>
            <a:round/>
            <a:headEnd len="sm" w="sm" type="none"/>
            <a:tailEnd len="med" w="med" type="none"/>
          </a:ln>
        </p:spPr>
      </p:cxnSp>
      <p:sp>
        <p:nvSpPr>
          <p:cNvPr id="1134" name="Google Shape;1134;p22"/>
          <p:cNvSpPr/>
          <p:nvPr/>
        </p:nvSpPr>
        <p:spPr>
          <a:xfrm>
            <a:off x="1920875" y="2295525"/>
            <a:ext cx="234900" cy="1456200"/>
          </a:xfrm>
          <a:prstGeom prst="leftBrace">
            <a:avLst>
              <a:gd fmla="val 68863" name="adj1"/>
              <a:gd fmla="val 50000" name="adj2"/>
            </a:avLst>
          </a:prstGeom>
          <a:noFill/>
          <a:ln cap="flat" cmpd="sng" w="28575">
            <a:solidFill>
              <a:srgbClr val="0000FF"/>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35" name="Google Shape;1135;p22"/>
          <p:cNvCxnSpPr/>
          <p:nvPr/>
        </p:nvCxnSpPr>
        <p:spPr>
          <a:xfrm rot="10800000">
            <a:off x="6691450" y="2219325"/>
            <a:ext cx="198300" cy="0"/>
          </a:xfrm>
          <a:prstGeom prst="straightConnector1">
            <a:avLst/>
          </a:prstGeom>
          <a:noFill/>
          <a:ln cap="flat" cmpd="sng" w="28575">
            <a:solidFill>
              <a:srgbClr val="0000FF"/>
            </a:solidFill>
            <a:prstDash val="solid"/>
            <a:round/>
            <a:headEnd len="sm" w="sm" type="none"/>
            <a:tailEnd len="med" w="med" type="none"/>
          </a:ln>
        </p:spPr>
      </p:cxnSp>
      <p:sp>
        <p:nvSpPr>
          <p:cNvPr id="1136" name="Google Shape;1136;p22"/>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23"/>
          <p:cNvSpPr/>
          <p:nvPr/>
        </p:nvSpPr>
        <p:spPr>
          <a:xfrm>
            <a:off x="3124200" y="2446735"/>
            <a:ext cx="452438" cy="57150"/>
          </a:xfrm>
          <a:custGeom>
            <a:rect b="b" l="l" r="r" t="t"/>
            <a:pathLst>
              <a:path extrusionOk="0" h="48" w="285">
                <a:moveTo>
                  <a:pt x="0" y="0"/>
                </a:moveTo>
                <a:lnTo>
                  <a:pt x="285" y="0"/>
                </a:lnTo>
                <a:lnTo>
                  <a:pt x="285" y="48"/>
                </a:lnTo>
                <a:lnTo>
                  <a:pt x="3" y="48"/>
                </a:lnTo>
              </a:path>
            </a:pathLst>
          </a:custGeom>
          <a:noFill/>
          <a:ln cap="flat" cmpd="sng" w="9525">
            <a:solidFill>
              <a:srgbClr val="000000"/>
            </a:solidFill>
            <a:prstDash val="solid"/>
            <a:round/>
            <a:headEnd len="sm" w="sm" type="none"/>
            <a:tailEnd len="med" w="med" type="triangl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45" name="Google Shape;1145;p23"/>
          <p:cNvSpPr/>
          <p:nvPr/>
        </p:nvSpPr>
        <p:spPr>
          <a:xfrm>
            <a:off x="3124200" y="3007519"/>
            <a:ext cx="452438" cy="57150"/>
          </a:xfrm>
          <a:custGeom>
            <a:rect b="b" l="l" r="r" t="t"/>
            <a:pathLst>
              <a:path extrusionOk="0" h="48" w="285">
                <a:moveTo>
                  <a:pt x="0" y="0"/>
                </a:moveTo>
                <a:lnTo>
                  <a:pt x="285" y="0"/>
                </a:lnTo>
                <a:lnTo>
                  <a:pt x="285" y="48"/>
                </a:lnTo>
                <a:lnTo>
                  <a:pt x="3" y="48"/>
                </a:lnTo>
              </a:path>
            </a:pathLst>
          </a:custGeom>
          <a:noFill/>
          <a:ln cap="flat" cmpd="sng" w="9525">
            <a:solidFill>
              <a:srgbClr val="000000"/>
            </a:solidFill>
            <a:prstDash val="solid"/>
            <a:round/>
            <a:headEnd len="sm" w="sm" type="none"/>
            <a:tailEnd len="med" w="med" type="triangl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46" name="Google Shape;1146;p23"/>
          <p:cNvSpPr/>
          <p:nvPr/>
        </p:nvSpPr>
        <p:spPr>
          <a:xfrm>
            <a:off x="3036888" y="2446735"/>
            <a:ext cx="85800" cy="1215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47" name="Google Shape;1147;p23"/>
          <p:cNvSpPr/>
          <p:nvPr/>
        </p:nvSpPr>
        <p:spPr>
          <a:xfrm>
            <a:off x="3036888" y="3007519"/>
            <a:ext cx="85800" cy="1215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48" name="Google Shape;1148;p23"/>
          <p:cNvSpPr/>
          <p:nvPr/>
        </p:nvSpPr>
        <p:spPr>
          <a:xfrm>
            <a:off x="2995613" y="1664494"/>
            <a:ext cx="85725" cy="1585913"/>
          </a:xfrm>
          <a:custGeom>
            <a:rect b="b" l="l" r="r" t="t"/>
            <a:pathLst>
              <a:path extrusionOk="0" h="1332" w="54">
                <a:moveTo>
                  <a:pt x="54" y="654"/>
                </a:moveTo>
                <a:lnTo>
                  <a:pt x="54" y="0"/>
                </a:lnTo>
                <a:lnTo>
                  <a:pt x="0" y="0"/>
                </a:lnTo>
                <a:lnTo>
                  <a:pt x="0" y="1332"/>
                </a:lnTo>
                <a:lnTo>
                  <a:pt x="54" y="1332"/>
                </a:lnTo>
                <a:lnTo>
                  <a:pt x="54" y="1233"/>
                </a:lnTo>
              </a:path>
            </a:pathLst>
          </a:custGeom>
          <a:noFill/>
          <a:ln cap="flat" cmpd="sng" w="9525">
            <a:solidFill>
              <a:srgbClr val="000000"/>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cxnSp>
        <p:nvCxnSpPr>
          <p:cNvPr id="1149" name="Google Shape;1149;p23"/>
          <p:cNvCxnSpPr/>
          <p:nvPr/>
        </p:nvCxnSpPr>
        <p:spPr>
          <a:xfrm>
            <a:off x="3081338" y="2571750"/>
            <a:ext cx="0" cy="432300"/>
          </a:xfrm>
          <a:prstGeom prst="straightConnector1">
            <a:avLst/>
          </a:prstGeom>
          <a:noFill/>
          <a:ln cap="flat" cmpd="sng" w="9525">
            <a:solidFill>
              <a:srgbClr val="000000"/>
            </a:solidFill>
            <a:prstDash val="solid"/>
            <a:round/>
            <a:headEnd len="sm" w="sm" type="none"/>
            <a:tailEnd len="med" w="med" type="none"/>
          </a:ln>
        </p:spPr>
      </p:cxnSp>
      <p:cxnSp>
        <p:nvCxnSpPr>
          <p:cNvPr id="1150" name="Google Shape;1150;p23"/>
          <p:cNvCxnSpPr/>
          <p:nvPr/>
        </p:nvCxnSpPr>
        <p:spPr>
          <a:xfrm>
            <a:off x="6978650" y="2318147"/>
            <a:ext cx="1500" cy="2012100"/>
          </a:xfrm>
          <a:prstGeom prst="straightConnector1">
            <a:avLst/>
          </a:prstGeom>
          <a:noFill/>
          <a:ln cap="flat" cmpd="sng" w="9525">
            <a:solidFill>
              <a:srgbClr val="000000"/>
            </a:solidFill>
            <a:prstDash val="dash"/>
            <a:round/>
            <a:headEnd len="med" w="med" type="none"/>
            <a:tailEnd len="med" w="med" type="none"/>
          </a:ln>
        </p:spPr>
      </p:cxnSp>
      <p:sp>
        <p:nvSpPr>
          <p:cNvPr id="1151" name="Google Shape;1151;p23"/>
          <p:cNvSpPr txBox="1"/>
          <p:nvPr>
            <p:ph type="title"/>
          </p:nvPr>
        </p:nvSpPr>
        <p:spPr>
          <a:xfrm>
            <a:off x="0" y="171450"/>
            <a:ext cx="89994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Sequence Diagram</a:t>
            </a:r>
            <a:endParaRPr/>
          </a:p>
        </p:txBody>
      </p:sp>
      <p:grpSp>
        <p:nvGrpSpPr>
          <p:cNvPr id="1152" name="Google Shape;1152;p23"/>
          <p:cNvGrpSpPr/>
          <p:nvPr/>
        </p:nvGrpSpPr>
        <p:grpSpPr>
          <a:xfrm>
            <a:off x="1423988" y="887016"/>
            <a:ext cx="319087" cy="295275"/>
            <a:chOff x="561" y="533"/>
            <a:chExt cx="201" cy="248"/>
          </a:xfrm>
        </p:grpSpPr>
        <p:sp>
          <p:nvSpPr>
            <p:cNvPr id="1153" name="Google Shape;1153;p23"/>
            <p:cNvSpPr/>
            <p:nvPr/>
          </p:nvSpPr>
          <p:spPr>
            <a:xfrm>
              <a:off x="613" y="533"/>
              <a:ext cx="96" cy="90"/>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54" name="Google Shape;1154;p23"/>
            <p:cNvCxnSpPr/>
            <p:nvPr/>
          </p:nvCxnSpPr>
          <p:spPr>
            <a:xfrm>
              <a:off x="661" y="624"/>
              <a:ext cx="1" cy="75"/>
            </a:xfrm>
            <a:prstGeom prst="straightConnector1">
              <a:avLst/>
            </a:prstGeom>
            <a:noFill/>
            <a:ln cap="flat" cmpd="sng" w="9525">
              <a:solidFill>
                <a:srgbClr val="000000"/>
              </a:solidFill>
              <a:prstDash val="solid"/>
              <a:round/>
              <a:headEnd len="med" w="med" type="none"/>
              <a:tailEnd len="med" w="med" type="none"/>
            </a:ln>
          </p:spPr>
        </p:cxnSp>
        <p:cxnSp>
          <p:nvCxnSpPr>
            <p:cNvPr id="1155" name="Google Shape;1155;p23"/>
            <p:cNvCxnSpPr/>
            <p:nvPr/>
          </p:nvCxnSpPr>
          <p:spPr>
            <a:xfrm flipH="1" rot="10800000">
              <a:off x="591" y="649"/>
              <a:ext cx="139" cy="1"/>
            </a:xfrm>
            <a:prstGeom prst="straightConnector1">
              <a:avLst/>
            </a:prstGeom>
            <a:noFill/>
            <a:ln cap="flat" cmpd="sng" w="9525">
              <a:solidFill>
                <a:srgbClr val="000000"/>
              </a:solidFill>
              <a:prstDash val="solid"/>
              <a:round/>
              <a:headEnd len="med" w="med" type="none"/>
              <a:tailEnd len="med" w="med" type="none"/>
            </a:ln>
          </p:spPr>
        </p:cxnSp>
        <p:sp>
          <p:nvSpPr>
            <p:cNvPr id="1156" name="Google Shape;1156;p23"/>
            <p:cNvSpPr/>
            <p:nvPr/>
          </p:nvSpPr>
          <p:spPr>
            <a:xfrm>
              <a:off x="561" y="699"/>
              <a:ext cx="201" cy="82"/>
            </a:xfrm>
            <a:custGeom>
              <a:rect b="b" l="l" r="r" t="t"/>
              <a:pathLst>
                <a:path extrusionOk="0" h="12" w="26">
                  <a:moveTo>
                    <a:pt x="0" y="12"/>
                  </a:moveTo>
                  <a:lnTo>
                    <a:pt x="13" y="0"/>
                  </a:lnTo>
                  <a:lnTo>
                    <a:pt x="26" y="12"/>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57" name="Google Shape;1157;p23"/>
          <p:cNvSpPr/>
          <p:nvPr/>
        </p:nvSpPr>
        <p:spPr>
          <a:xfrm>
            <a:off x="1338263" y="1238250"/>
            <a:ext cx="4440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u="sng">
                <a:solidFill>
                  <a:srgbClr val="000000"/>
                </a:solidFill>
                <a:latin typeface="Arial"/>
                <a:ea typeface="Arial"/>
                <a:cs typeface="Arial"/>
                <a:sym typeface="Arial"/>
              </a:rPr>
              <a:t> : Student</a:t>
            </a:r>
            <a:endParaRPr sz="1800">
              <a:solidFill>
                <a:srgbClr val="000000"/>
              </a:solidFill>
              <a:latin typeface="Arial"/>
              <a:ea typeface="Arial"/>
              <a:cs typeface="Arial"/>
              <a:sym typeface="Arial"/>
            </a:endParaRPr>
          </a:p>
        </p:txBody>
      </p:sp>
      <p:cxnSp>
        <p:nvCxnSpPr>
          <p:cNvPr id="1158" name="Google Shape;1158;p23"/>
          <p:cNvCxnSpPr/>
          <p:nvPr/>
        </p:nvCxnSpPr>
        <p:spPr>
          <a:xfrm>
            <a:off x="1582738" y="1418035"/>
            <a:ext cx="1500" cy="91800"/>
          </a:xfrm>
          <a:prstGeom prst="straightConnector1">
            <a:avLst/>
          </a:prstGeom>
          <a:noFill/>
          <a:ln cap="flat" cmpd="sng" w="9525">
            <a:solidFill>
              <a:srgbClr val="000000"/>
            </a:solidFill>
            <a:prstDash val="dash"/>
            <a:round/>
            <a:headEnd len="med" w="med" type="none"/>
            <a:tailEnd len="med" w="med" type="none"/>
          </a:ln>
        </p:spPr>
      </p:cxnSp>
      <p:sp>
        <p:nvSpPr>
          <p:cNvPr id="1159" name="Google Shape;1159;p23"/>
          <p:cNvSpPr/>
          <p:nvPr/>
        </p:nvSpPr>
        <p:spPr>
          <a:xfrm>
            <a:off x="1535113" y="1507331"/>
            <a:ext cx="96900" cy="1851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60" name="Google Shape;1160;p23"/>
          <p:cNvSpPr/>
          <p:nvPr/>
        </p:nvSpPr>
        <p:spPr>
          <a:xfrm>
            <a:off x="1200150" y="1859756"/>
            <a:ext cx="915989" cy="297656"/>
          </a:xfrm>
          <a:custGeom>
            <a:rect b="b" l="l" r="r" t="t"/>
            <a:pathLst>
              <a:path extrusionOk="0" h="320" w="883">
                <a:moveTo>
                  <a:pt x="0" y="0"/>
                </a:moveTo>
                <a:lnTo>
                  <a:pt x="811" y="0"/>
                </a:lnTo>
                <a:lnTo>
                  <a:pt x="882" y="62"/>
                </a:lnTo>
                <a:lnTo>
                  <a:pt x="883" y="320"/>
                </a:lnTo>
                <a:lnTo>
                  <a:pt x="0" y="320"/>
                </a:lnTo>
                <a:lnTo>
                  <a:pt x="0" y="0"/>
                </a:lnTo>
                <a:close/>
              </a:path>
            </a:pathLst>
          </a:custGeom>
          <a:solidFill>
            <a:srgbClr val="FFFF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61" name="Google Shape;1161;p23"/>
          <p:cNvSpPr/>
          <p:nvPr/>
        </p:nvSpPr>
        <p:spPr>
          <a:xfrm>
            <a:off x="2043113" y="1883569"/>
            <a:ext cx="71437" cy="57150"/>
          </a:xfrm>
          <a:custGeom>
            <a:rect b="b" l="l" r="r" t="t"/>
            <a:pathLst>
              <a:path extrusionOk="0" h="9" w="8">
                <a:moveTo>
                  <a:pt x="0" y="0"/>
                </a:moveTo>
                <a:lnTo>
                  <a:pt x="0" y="9"/>
                </a:lnTo>
                <a:lnTo>
                  <a:pt x="8" y="9"/>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62" name="Google Shape;1162;p23"/>
          <p:cNvSpPr/>
          <p:nvPr/>
        </p:nvSpPr>
        <p:spPr>
          <a:xfrm>
            <a:off x="889000" y="2286000"/>
            <a:ext cx="1401763" cy="381000"/>
          </a:xfrm>
          <a:custGeom>
            <a:rect b="b" l="l" r="r" t="t"/>
            <a:pathLst>
              <a:path extrusionOk="0" h="320" w="883">
                <a:moveTo>
                  <a:pt x="0" y="0"/>
                </a:moveTo>
                <a:lnTo>
                  <a:pt x="811" y="0"/>
                </a:lnTo>
                <a:lnTo>
                  <a:pt x="882" y="62"/>
                </a:lnTo>
                <a:lnTo>
                  <a:pt x="883" y="320"/>
                </a:lnTo>
                <a:lnTo>
                  <a:pt x="0" y="320"/>
                </a:lnTo>
                <a:lnTo>
                  <a:pt x="0" y="0"/>
                </a:lnTo>
                <a:close/>
              </a:path>
            </a:pathLst>
          </a:custGeom>
          <a:solidFill>
            <a:srgbClr val="FFFF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63" name="Google Shape;1163;p23"/>
          <p:cNvSpPr/>
          <p:nvPr/>
        </p:nvSpPr>
        <p:spPr>
          <a:xfrm>
            <a:off x="2174875" y="2309813"/>
            <a:ext cx="114300" cy="72628"/>
          </a:xfrm>
          <a:custGeom>
            <a:rect b="b" l="l" r="r" t="t"/>
            <a:pathLst>
              <a:path extrusionOk="0" h="9" w="8">
                <a:moveTo>
                  <a:pt x="0" y="0"/>
                </a:moveTo>
                <a:lnTo>
                  <a:pt x="0" y="9"/>
                </a:lnTo>
                <a:lnTo>
                  <a:pt x="8" y="9"/>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64" name="Google Shape;1164;p23"/>
          <p:cNvSpPr/>
          <p:nvPr/>
        </p:nvSpPr>
        <p:spPr>
          <a:xfrm>
            <a:off x="2389188" y="1172766"/>
            <a:ext cx="12456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u="sng">
                <a:solidFill>
                  <a:srgbClr val="000000"/>
                </a:solidFill>
                <a:latin typeface="Arial"/>
                <a:ea typeface="Arial"/>
                <a:cs typeface="Arial"/>
                <a:sym typeface="Arial"/>
              </a:rPr>
              <a:t> : RegisterForCoursesForm</a:t>
            </a:r>
            <a:endParaRPr sz="1800">
              <a:solidFill>
                <a:srgbClr val="000000"/>
              </a:solidFill>
              <a:latin typeface="Arial"/>
              <a:ea typeface="Arial"/>
              <a:cs typeface="Arial"/>
              <a:sym typeface="Arial"/>
            </a:endParaRPr>
          </a:p>
        </p:txBody>
      </p:sp>
      <p:grpSp>
        <p:nvGrpSpPr>
          <p:cNvPr id="1165" name="Google Shape;1165;p23"/>
          <p:cNvGrpSpPr/>
          <p:nvPr/>
        </p:nvGrpSpPr>
        <p:grpSpPr>
          <a:xfrm>
            <a:off x="4222750" y="823913"/>
            <a:ext cx="396875" cy="309563"/>
            <a:chOff x="2336" y="480"/>
            <a:chExt cx="250" cy="260"/>
          </a:xfrm>
        </p:grpSpPr>
        <p:sp>
          <p:nvSpPr>
            <p:cNvPr id="1166" name="Google Shape;1166;p23"/>
            <p:cNvSpPr/>
            <p:nvPr/>
          </p:nvSpPr>
          <p:spPr>
            <a:xfrm>
              <a:off x="2336" y="500"/>
              <a:ext cx="250" cy="240"/>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67" name="Google Shape;1167;p23"/>
            <p:cNvCxnSpPr/>
            <p:nvPr/>
          </p:nvCxnSpPr>
          <p:spPr>
            <a:xfrm flipH="1">
              <a:off x="2416" y="480"/>
              <a:ext cx="54" cy="27"/>
            </a:xfrm>
            <a:prstGeom prst="straightConnector1">
              <a:avLst/>
            </a:prstGeom>
            <a:noFill/>
            <a:ln cap="flat" cmpd="sng" w="9525">
              <a:solidFill>
                <a:srgbClr val="000000"/>
              </a:solidFill>
              <a:prstDash val="solid"/>
              <a:round/>
              <a:headEnd len="med" w="med" type="none"/>
              <a:tailEnd len="med" w="med" type="none"/>
            </a:ln>
          </p:spPr>
        </p:cxnSp>
        <p:cxnSp>
          <p:nvCxnSpPr>
            <p:cNvPr id="1168" name="Google Shape;1168;p23"/>
            <p:cNvCxnSpPr/>
            <p:nvPr/>
          </p:nvCxnSpPr>
          <p:spPr>
            <a:xfrm rot="10800000">
              <a:off x="2416" y="507"/>
              <a:ext cx="54" cy="21"/>
            </a:xfrm>
            <a:prstGeom prst="straightConnector1">
              <a:avLst/>
            </a:prstGeom>
            <a:noFill/>
            <a:ln cap="flat" cmpd="sng" w="9525">
              <a:solidFill>
                <a:srgbClr val="000000"/>
              </a:solidFill>
              <a:prstDash val="solid"/>
              <a:round/>
              <a:headEnd len="med" w="med" type="none"/>
              <a:tailEnd len="med" w="med" type="none"/>
            </a:ln>
          </p:spPr>
        </p:cxnSp>
      </p:grpSp>
      <p:sp>
        <p:nvSpPr>
          <p:cNvPr id="1169" name="Google Shape;1169;p23"/>
          <p:cNvSpPr/>
          <p:nvPr/>
        </p:nvSpPr>
        <p:spPr>
          <a:xfrm>
            <a:off x="3870325" y="1172766"/>
            <a:ext cx="1071600" cy="9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u="sng">
                <a:solidFill>
                  <a:srgbClr val="000000"/>
                </a:solidFill>
                <a:latin typeface="Arial"/>
                <a:ea typeface="Arial"/>
                <a:cs typeface="Arial"/>
                <a:sym typeface="Arial"/>
              </a:rPr>
              <a:t> : RegistrationController</a:t>
            </a:r>
            <a:endParaRPr sz="1800">
              <a:solidFill>
                <a:srgbClr val="000000"/>
              </a:solidFill>
              <a:latin typeface="Arial"/>
              <a:ea typeface="Arial"/>
              <a:cs typeface="Arial"/>
              <a:sym typeface="Arial"/>
            </a:endParaRPr>
          </a:p>
        </p:txBody>
      </p:sp>
      <p:sp>
        <p:nvSpPr>
          <p:cNvPr id="1170" name="Google Shape;1170;p23"/>
          <p:cNvSpPr/>
          <p:nvPr/>
        </p:nvSpPr>
        <p:spPr>
          <a:xfrm>
            <a:off x="4357688" y="1818085"/>
            <a:ext cx="96900" cy="726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nvGrpSpPr>
          <p:cNvPr id="1171" name="Google Shape;1171;p23"/>
          <p:cNvGrpSpPr/>
          <p:nvPr/>
        </p:nvGrpSpPr>
        <p:grpSpPr>
          <a:xfrm>
            <a:off x="6824663" y="825104"/>
            <a:ext cx="317500" cy="300038"/>
            <a:chOff x="4821" y="481"/>
            <a:chExt cx="200" cy="252"/>
          </a:xfrm>
        </p:grpSpPr>
        <p:sp>
          <p:nvSpPr>
            <p:cNvPr id="1172" name="Google Shape;1172;p23"/>
            <p:cNvSpPr/>
            <p:nvPr/>
          </p:nvSpPr>
          <p:spPr>
            <a:xfrm>
              <a:off x="4877" y="481"/>
              <a:ext cx="88" cy="88"/>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73" name="Google Shape;1173;p23"/>
            <p:cNvCxnSpPr/>
            <p:nvPr/>
          </p:nvCxnSpPr>
          <p:spPr>
            <a:xfrm flipH="1">
              <a:off x="4921" y="568"/>
              <a:ext cx="1" cy="76"/>
            </a:xfrm>
            <a:prstGeom prst="straightConnector1">
              <a:avLst/>
            </a:prstGeom>
            <a:noFill/>
            <a:ln cap="flat" cmpd="sng" w="9525">
              <a:solidFill>
                <a:srgbClr val="000000"/>
              </a:solidFill>
              <a:prstDash val="solid"/>
              <a:round/>
              <a:headEnd len="med" w="med" type="none"/>
              <a:tailEnd len="med" w="med" type="none"/>
            </a:ln>
          </p:spPr>
        </p:cxnSp>
        <p:cxnSp>
          <p:nvCxnSpPr>
            <p:cNvPr id="1174" name="Google Shape;1174;p23"/>
            <p:cNvCxnSpPr/>
            <p:nvPr/>
          </p:nvCxnSpPr>
          <p:spPr>
            <a:xfrm>
              <a:off x="4844" y="589"/>
              <a:ext cx="146" cy="1"/>
            </a:xfrm>
            <a:prstGeom prst="straightConnector1">
              <a:avLst/>
            </a:prstGeom>
            <a:noFill/>
            <a:ln cap="flat" cmpd="sng" w="9525">
              <a:solidFill>
                <a:srgbClr val="000000"/>
              </a:solidFill>
              <a:prstDash val="solid"/>
              <a:round/>
              <a:headEnd len="med" w="med" type="none"/>
              <a:tailEnd len="med" w="med" type="none"/>
            </a:ln>
          </p:spPr>
        </p:cxnSp>
        <p:sp>
          <p:nvSpPr>
            <p:cNvPr id="1175" name="Google Shape;1175;p23"/>
            <p:cNvSpPr/>
            <p:nvPr/>
          </p:nvSpPr>
          <p:spPr>
            <a:xfrm>
              <a:off x="4821" y="644"/>
              <a:ext cx="200" cy="89"/>
            </a:xfrm>
            <a:custGeom>
              <a:rect b="b" l="l" r="r" t="t"/>
              <a:pathLst>
                <a:path extrusionOk="0" h="13" w="26">
                  <a:moveTo>
                    <a:pt x="0" y="13"/>
                  </a:moveTo>
                  <a:lnTo>
                    <a:pt x="13" y="0"/>
                  </a:lnTo>
                  <a:lnTo>
                    <a:pt x="26" y="1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76" name="Google Shape;1176;p23"/>
          <p:cNvSpPr/>
          <p:nvPr/>
        </p:nvSpPr>
        <p:spPr>
          <a:xfrm>
            <a:off x="6538913" y="1172766"/>
            <a:ext cx="8031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u="sng">
                <a:solidFill>
                  <a:srgbClr val="000000"/>
                </a:solidFill>
                <a:latin typeface="Arial"/>
                <a:ea typeface="Arial"/>
                <a:cs typeface="Arial"/>
                <a:sym typeface="Arial"/>
              </a:rPr>
              <a:t> : Course Catalog</a:t>
            </a:r>
            <a:endParaRPr sz="1800">
              <a:solidFill>
                <a:srgbClr val="000000"/>
              </a:solidFill>
              <a:latin typeface="Arial"/>
              <a:ea typeface="Arial"/>
              <a:cs typeface="Arial"/>
              <a:sym typeface="Arial"/>
            </a:endParaRPr>
          </a:p>
        </p:txBody>
      </p:sp>
      <p:cxnSp>
        <p:nvCxnSpPr>
          <p:cNvPr id="1177" name="Google Shape;1177;p23"/>
          <p:cNvCxnSpPr/>
          <p:nvPr/>
        </p:nvCxnSpPr>
        <p:spPr>
          <a:xfrm>
            <a:off x="6978650" y="1418035"/>
            <a:ext cx="0" cy="766800"/>
          </a:xfrm>
          <a:prstGeom prst="straightConnector1">
            <a:avLst/>
          </a:prstGeom>
          <a:noFill/>
          <a:ln cap="flat" cmpd="sng" w="9525">
            <a:solidFill>
              <a:srgbClr val="000000"/>
            </a:solidFill>
            <a:prstDash val="dash"/>
            <a:round/>
            <a:headEnd len="med" w="med" type="none"/>
            <a:tailEnd len="med" w="med" type="none"/>
          </a:ln>
        </p:spPr>
      </p:cxnSp>
      <p:sp>
        <p:nvSpPr>
          <p:cNvPr id="1178" name="Google Shape;1178;p23"/>
          <p:cNvSpPr/>
          <p:nvPr/>
        </p:nvSpPr>
        <p:spPr>
          <a:xfrm>
            <a:off x="6934200" y="2191941"/>
            <a:ext cx="85800" cy="1227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grpSp>
        <p:nvGrpSpPr>
          <p:cNvPr id="1179" name="Google Shape;1179;p23"/>
          <p:cNvGrpSpPr/>
          <p:nvPr/>
        </p:nvGrpSpPr>
        <p:grpSpPr>
          <a:xfrm>
            <a:off x="5411788" y="840581"/>
            <a:ext cx="592137" cy="277416"/>
            <a:chOff x="3073" y="500"/>
            <a:chExt cx="373" cy="233"/>
          </a:xfrm>
        </p:grpSpPr>
        <p:sp>
          <p:nvSpPr>
            <p:cNvPr id="1180" name="Google Shape;1180;p23"/>
            <p:cNvSpPr/>
            <p:nvPr/>
          </p:nvSpPr>
          <p:spPr>
            <a:xfrm>
              <a:off x="3205" y="500"/>
              <a:ext cx="241" cy="233"/>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81" name="Google Shape;1181;p23"/>
            <p:cNvCxnSpPr/>
            <p:nvPr/>
          </p:nvCxnSpPr>
          <p:spPr>
            <a:xfrm>
              <a:off x="3073" y="548"/>
              <a:ext cx="1" cy="130"/>
            </a:xfrm>
            <a:prstGeom prst="straightConnector1">
              <a:avLst/>
            </a:prstGeom>
            <a:noFill/>
            <a:ln cap="flat" cmpd="sng" w="9525">
              <a:solidFill>
                <a:srgbClr val="000000"/>
              </a:solidFill>
              <a:prstDash val="solid"/>
              <a:round/>
              <a:headEnd len="med" w="med" type="none"/>
              <a:tailEnd len="med" w="med" type="none"/>
            </a:ln>
          </p:spPr>
        </p:cxnSp>
        <p:cxnSp>
          <p:nvCxnSpPr>
            <p:cNvPr id="1182" name="Google Shape;1182;p23"/>
            <p:cNvCxnSpPr/>
            <p:nvPr/>
          </p:nvCxnSpPr>
          <p:spPr>
            <a:xfrm>
              <a:off x="3073" y="610"/>
              <a:ext cx="132" cy="1"/>
            </a:xfrm>
            <a:prstGeom prst="straightConnector1">
              <a:avLst/>
            </a:prstGeom>
            <a:noFill/>
            <a:ln cap="flat" cmpd="sng" w="9525">
              <a:solidFill>
                <a:srgbClr val="000000"/>
              </a:solidFill>
              <a:prstDash val="solid"/>
              <a:round/>
              <a:headEnd len="med" w="med" type="none"/>
              <a:tailEnd len="med" w="med" type="none"/>
            </a:ln>
          </p:spPr>
        </p:cxnSp>
      </p:grpSp>
      <p:sp>
        <p:nvSpPr>
          <p:cNvPr id="1183" name="Google Shape;1183;p23"/>
          <p:cNvSpPr/>
          <p:nvPr/>
        </p:nvSpPr>
        <p:spPr>
          <a:xfrm>
            <a:off x="5132388" y="1172766"/>
            <a:ext cx="11172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800" u="sng">
                <a:solidFill>
                  <a:srgbClr val="000000"/>
                </a:solidFill>
                <a:latin typeface="Arial"/>
                <a:ea typeface="Arial"/>
                <a:cs typeface="Arial"/>
                <a:sym typeface="Arial"/>
              </a:rPr>
              <a:t> : CourseCatalogSystem</a:t>
            </a:r>
            <a:endParaRPr sz="1800">
              <a:solidFill>
                <a:srgbClr val="000000"/>
              </a:solidFill>
              <a:latin typeface="Arial"/>
              <a:ea typeface="Arial"/>
              <a:cs typeface="Arial"/>
              <a:sym typeface="Arial"/>
            </a:endParaRPr>
          </a:p>
        </p:txBody>
      </p:sp>
      <p:cxnSp>
        <p:nvCxnSpPr>
          <p:cNvPr id="1184" name="Google Shape;1184;p23"/>
          <p:cNvCxnSpPr/>
          <p:nvPr/>
        </p:nvCxnSpPr>
        <p:spPr>
          <a:xfrm>
            <a:off x="5721350" y="2434829"/>
            <a:ext cx="1500" cy="1866900"/>
          </a:xfrm>
          <a:prstGeom prst="straightConnector1">
            <a:avLst/>
          </a:prstGeom>
          <a:noFill/>
          <a:ln cap="flat" cmpd="sng" w="9525">
            <a:solidFill>
              <a:srgbClr val="000000"/>
            </a:solidFill>
            <a:prstDash val="dash"/>
            <a:round/>
            <a:headEnd len="med" w="med" type="none"/>
            <a:tailEnd len="med" w="med" type="none"/>
          </a:ln>
        </p:spPr>
      </p:cxnSp>
      <p:sp>
        <p:nvSpPr>
          <p:cNvPr id="1185" name="Google Shape;1185;p23"/>
          <p:cNvSpPr/>
          <p:nvPr/>
        </p:nvSpPr>
        <p:spPr>
          <a:xfrm>
            <a:off x="5681663" y="2005013"/>
            <a:ext cx="87300" cy="4251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186" name="Google Shape;1186;p23"/>
          <p:cNvSpPr/>
          <p:nvPr/>
        </p:nvSpPr>
        <p:spPr>
          <a:xfrm>
            <a:off x="915988" y="2299097"/>
            <a:ext cx="12039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A list of the available </a:t>
            </a:r>
            <a:endParaRPr/>
          </a:p>
        </p:txBody>
      </p:sp>
      <p:sp>
        <p:nvSpPr>
          <p:cNvPr id="1187" name="Google Shape;1187;p23"/>
          <p:cNvSpPr/>
          <p:nvPr/>
        </p:nvSpPr>
        <p:spPr>
          <a:xfrm>
            <a:off x="915988" y="2396729"/>
            <a:ext cx="13611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course offerings for this </a:t>
            </a:r>
            <a:endParaRPr/>
          </a:p>
        </p:txBody>
      </p:sp>
      <p:sp>
        <p:nvSpPr>
          <p:cNvPr id="1188" name="Google Shape;1188;p23"/>
          <p:cNvSpPr/>
          <p:nvPr/>
        </p:nvSpPr>
        <p:spPr>
          <a:xfrm>
            <a:off x="915988" y="2494360"/>
            <a:ext cx="13194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semester are displayed</a:t>
            </a:r>
            <a:endParaRPr/>
          </a:p>
        </p:txBody>
      </p:sp>
      <p:sp>
        <p:nvSpPr>
          <p:cNvPr id="1189" name="Google Shape;1189;p23"/>
          <p:cNvSpPr/>
          <p:nvPr/>
        </p:nvSpPr>
        <p:spPr>
          <a:xfrm>
            <a:off x="1225550" y="1860947"/>
            <a:ext cx="7935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Create a new </a:t>
            </a:r>
            <a:endParaRPr/>
          </a:p>
        </p:txBody>
      </p:sp>
      <p:sp>
        <p:nvSpPr>
          <p:cNvPr id="1190" name="Google Shape;1190;p23"/>
          <p:cNvSpPr/>
          <p:nvPr/>
        </p:nvSpPr>
        <p:spPr>
          <a:xfrm>
            <a:off x="1225550" y="1959772"/>
            <a:ext cx="793500" cy="5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schedule</a:t>
            </a:r>
            <a:endParaRPr/>
          </a:p>
        </p:txBody>
      </p:sp>
      <p:cxnSp>
        <p:nvCxnSpPr>
          <p:cNvPr id="1191" name="Google Shape;1191;p23"/>
          <p:cNvCxnSpPr/>
          <p:nvPr/>
        </p:nvCxnSpPr>
        <p:spPr>
          <a:xfrm>
            <a:off x="1631950" y="1662113"/>
            <a:ext cx="1362000" cy="1200"/>
          </a:xfrm>
          <a:prstGeom prst="straightConnector1">
            <a:avLst/>
          </a:prstGeom>
          <a:noFill/>
          <a:ln cap="flat" cmpd="sng" w="9525">
            <a:solidFill>
              <a:srgbClr val="000000"/>
            </a:solidFill>
            <a:prstDash val="solid"/>
            <a:round/>
            <a:headEnd len="med" w="med" type="none"/>
            <a:tailEnd len="med" w="med" type="triangle"/>
          </a:ln>
        </p:spPr>
      </p:cxnSp>
      <p:sp>
        <p:nvSpPr>
          <p:cNvPr id="1192" name="Google Shape;1192;p23"/>
          <p:cNvSpPr/>
          <p:nvPr/>
        </p:nvSpPr>
        <p:spPr>
          <a:xfrm>
            <a:off x="1730375" y="1524000"/>
            <a:ext cx="12681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1: // create schedule( )</a:t>
            </a:r>
            <a:endParaRPr/>
          </a:p>
        </p:txBody>
      </p:sp>
      <p:sp>
        <p:nvSpPr>
          <p:cNvPr id="1193" name="Google Shape;1193;p23"/>
          <p:cNvSpPr/>
          <p:nvPr/>
        </p:nvSpPr>
        <p:spPr>
          <a:xfrm>
            <a:off x="2503488" y="2306241"/>
            <a:ext cx="17088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5: // display course offerings( )</a:t>
            </a:r>
            <a:endParaRPr/>
          </a:p>
        </p:txBody>
      </p:sp>
      <p:cxnSp>
        <p:nvCxnSpPr>
          <p:cNvPr id="1194" name="Google Shape;1194;p23"/>
          <p:cNvCxnSpPr/>
          <p:nvPr/>
        </p:nvCxnSpPr>
        <p:spPr>
          <a:xfrm>
            <a:off x="3081338" y="1818085"/>
            <a:ext cx="1276500" cy="1200"/>
          </a:xfrm>
          <a:prstGeom prst="straightConnector1">
            <a:avLst/>
          </a:prstGeom>
          <a:noFill/>
          <a:ln cap="flat" cmpd="sng" w="9525">
            <a:solidFill>
              <a:srgbClr val="000000"/>
            </a:solidFill>
            <a:prstDash val="solid"/>
            <a:round/>
            <a:headEnd len="med" w="med" type="none"/>
            <a:tailEnd len="med" w="med" type="triangle"/>
          </a:ln>
        </p:spPr>
      </p:cxnSp>
      <p:sp>
        <p:nvSpPr>
          <p:cNvPr id="1195" name="Google Shape;1195;p23"/>
          <p:cNvSpPr/>
          <p:nvPr/>
        </p:nvSpPr>
        <p:spPr>
          <a:xfrm>
            <a:off x="3017838" y="1687116"/>
            <a:ext cx="14877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2: // get course offerings( )</a:t>
            </a:r>
            <a:endParaRPr/>
          </a:p>
        </p:txBody>
      </p:sp>
      <p:cxnSp>
        <p:nvCxnSpPr>
          <p:cNvPr id="1196" name="Google Shape;1196;p23"/>
          <p:cNvCxnSpPr/>
          <p:nvPr/>
        </p:nvCxnSpPr>
        <p:spPr>
          <a:xfrm>
            <a:off x="4456113" y="2006204"/>
            <a:ext cx="1225500" cy="0"/>
          </a:xfrm>
          <a:prstGeom prst="straightConnector1">
            <a:avLst/>
          </a:prstGeom>
          <a:noFill/>
          <a:ln cap="flat" cmpd="sng" w="9525">
            <a:solidFill>
              <a:srgbClr val="000000"/>
            </a:solidFill>
            <a:prstDash val="solid"/>
            <a:round/>
            <a:headEnd len="med" w="med" type="none"/>
            <a:tailEnd len="med" w="med" type="triangle"/>
          </a:ln>
        </p:spPr>
      </p:cxnSp>
      <p:sp>
        <p:nvSpPr>
          <p:cNvPr id="1197" name="Google Shape;1197;p23"/>
          <p:cNvSpPr/>
          <p:nvPr/>
        </p:nvSpPr>
        <p:spPr>
          <a:xfrm>
            <a:off x="4060825" y="1875235"/>
            <a:ext cx="21480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3: // get course offerings(forSemester)</a:t>
            </a:r>
            <a:endParaRPr/>
          </a:p>
        </p:txBody>
      </p:sp>
      <p:sp>
        <p:nvSpPr>
          <p:cNvPr id="1198" name="Google Shape;1198;p23"/>
          <p:cNvSpPr/>
          <p:nvPr/>
        </p:nvSpPr>
        <p:spPr>
          <a:xfrm>
            <a:off x="2552700" y="2870599"/>
            <a:ext cx="1708800" cy="9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6: // display blank schedule( )</a:t>
            </a:r>
            <a:endParaRPr/>
          </a:p>
        </p:txBody>
      </p:sp>
      <p:sp>
        <p:nvSpPr>
          <p:cNvPr id="1199" name="Google Shape;1199;p23"/>
          <p:cNvSpPr/>
          <p:nvPr/>
        </p:nvSpPr>
        <p:spPr>
          <a:xfrm>
            <a:off x="993775" y="2783681"/>
            <a:ext cx="1189038" cy="457200"/>
          </a:xfrm>
          <a:custGeom>
            <a:rect b="b" l="l" r="r" t="t"/>
            <a:pathLst>
              <a:path extrusionOk="0" h="387" w="707">
                <a:moveTo>
                  <a:pt x="0" y="0"/>
                </a:moveTo>
                <a:lnTo>
                  <a:pt x="649" y="0"/>
                </a:lnTo>
                <a:lnTo>
                  <a:pt x="707" y="62"/>
                </a:lnTo>
                <a:lnTo>
                  <a:pt x="707" y="387"/>
                </a:lnTo>
                <a:lnTo>
                  <a:pt x="0" y="387"/>
                </a:lnTo>
                <a:lnTo>
                  <a:pt x="0" y="0"/>
                </a:lnTo>
                <a:close/>
              </a:path>
            </a:pathLst>
          </a:custGeom>
          <a:solidFill>
            <a:srgbClr val="FFFFCC"/>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200" name="Google Shape;1200;p23"/>
          <p:cNvSpPr/>
          <p:nvPr/>
        </p:nvSpPr>
        <p:spPr>
          <a:xfrm>
            <a:off x="2085975" y="2807494"/>
            <a:ext cx="96838" cy="72628"/>
          </a:xfrm>
          <a:custGeom>
            <a:rect b="b" l="l" r="r" t="t"/>
            <a:pathLst>
              <a:path extrusionOk="0" h="9" w="8">
                <a:moveTo>
                  <a:pt x="0" y="0"/>
                </a:moveTo>
                <a:lnTo>
                  <a:pt x="0" y="9"/>
                </a:lnTo>
                <a:lnTo>
                  <a:pt x="8" y="9"/>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1201" name="Google Shape;1201;p23"/>
          <p:cNvSpPr/>
          <p:nvPr/>
        </p:nvSpPr>
        <p:spPr>
          <a:xfrm>
            <a:off x="1028700" y="2799160"/>
            <a:ext cx="995400"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A blank schedule </a:t>
            </a:r>
            <a:endParaRPr/>
          </a:p>
        </p:txBody>
      </p:sp>
      <p:sp>
        <p:nvSpPr>
          <p:cNvPr id="1202" name="Google Shape;1202;p23"/>
          <p:cNvSpPr/>
          <p:nvPr/>
        </p:nvSpPr>
        <p:spPr>
          <a:xfrm>
            <a:off x="1028700" y="2896791"/>
            <a:ext cx="10980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is displayed for the </a:t>
            </a:r>
            <a:endParaRPr/>
          </a:p>
        </p:txBody>
      </p:sp>
      <p:sp>
        <p:nvSpPr>
          <p:cNvPr id="1203" name="Google Shape;1203;p23"/>
          <p:cNvSpPr/>
          <p:nvPr/>
        </p:nvSpPr>
        <p:spPr>
          <a:xfrm>
            <a:off x="1028700" y="2994424"/>
            <a:ext cx="1245600" cy="57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students to select </a:t>
            </a:r>
            <a:endParaRPr/>
          </a:p>
        </p:txBody>
      </p:sp>
      <p:sp>
        <p:nvSpPr>
          <p:cNvPr id="1204" name="Google Shape;1204;p23"/>
          <p:cNvSpPr/>
          <p:nvPr/>
        </p:nvSpPr>
        <p:spPr>
          <a:xfrm>
            <a:off x="1028700" y="3093248"/>
            <a:ext cx="793500" cy="9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offerings</a:t>
            </a:r>
            <a:endParaRPr/>
          </a:p>
        </p:txBody>
      </p:sp>
      <p:cxnSp>
        <p:nvCxnSpPr>
          <p:cNvPr id="1205" name="Google Shape;1205;p23"/>
          <p:cNvCxnSpPr/>
          <p:nvPr/>
        </p:nvCxnSpPr>
        <p:spPr>
          <a:xfrm>
            <a:off x="5768975" y="2191941"/>
            <a:ext cx="1155600" cy="0"/>
          </a:xfrm>
          <a:prstGeom prst="straightConnector1">
            <a:avLst/>
          </a:prstGeom>
          <a:noFill/>
          <a:ln cap="flat" cmpd="sng" w="9525">
            <a:solidFill>
              <a:srgbClr val="000000"/>
            </a:solidFill>
            <a:prstDash val="solid"/>
            <a:round/>
            <a:headEnd len="med" w="med" type="none"/>
            <a:tailEnd len="med" w="med" type="triangle"/>
          </a:ln>
        </p:spPr>
      </p:cxnSp>
      <p:sp>
        <p:nvSpPr>
          <p:cNvPr id="1206" name="Google Shape;1206;p23"/>
          <p:cNvSpPr/>
          <p:nvPr/>
        </p:nvSpPr>
        <p:spPr>
          <a:xfrm>
            <a:off x="5846763" y="2047875"/>
            <a:ext cx="1487700" cy="1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4: // get course offerings( )</a:t>
            </a:r>
            <a:endParaRPr/>
          </a:p>
        </p:txBody>
      </p:sp>
      <p:grpSp>
        <p:nvGrpSpPr>
          <p:cNvPr id="1207" name="Google Shape;1207;p23"/>
          <p:cNvGrpSpPr/>
          <p:nvPr/>
        </p:nvGrpSpPr>
        <p:grpSpPr>
          <a:xfrm>
            <a:off x="2720975" y="840581"/>
            <a:ext cx="592138" cy="277416"/>
            <a:chOff x="3073" y="500"/>
            <a:chExt cx="373" cy="233"/>
          </a:xfrm>
        </p:grpSpPr>
        <p:sp>
          <p:nvSpPr>
            <p:cNvPr id="1208" name="Google Shape;1208;p23"/>
            <p:cNvSpPr/>
            <p:nvPr/>
          </p:nvSpPr>
          <p:spPr>
            <a:xfrm>
              <a:off x="3205" y="500"/>
              <a:ext cx="241" cy="233"/>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09" name="Google Shape;1209;p23"/>
            <p:cNvCxnSpPr/>
            <p:nvPr/>
          </p:nvCxnSpPr>
          <p:spPr>
            <a:xfrm>
              <a:off x="3073" y="548"/>
              <a:ext cx="1" cy="130"/>
            </a:xfrm>
            <a:prstGeom prst="straightConnector1">
              <a:avLst/>
            </a:prstGeom>
            <a:noFill/>
            <a:ln cap="flat" cmpd="sng" w="9525">
              <a:solidFill>
                <a:srgbClr val="000000"/>
              </a:solidFill>
              <a:prstDash val="solid"/>
              <a:round/>
              <a:headEnd len="med" w="med" type="none"/>
              <a:tailEnd len="med" w="med" type="none"/>
            </a:ln>
          </p:spPr>
        </p:cxnSp>
        <p:cxnSp>
          <p:nvCxnSpPr>
            <p:cNvPr id="1210" name="Google Shape;1210;p23"/>
            <p:cNvCxnSpPr/>
            <p:nvPr/>
          </p:nvCxnSpPr>
          <p:spPr>
            <a:xfrm>
              <a:off x="3073" y="610"/>
              <a:ext cx="132" cy="1"/>
            </a:xfrm>
            <a:prstGeom prst="straightConnector1">
              <a:avLst/>
            </a:prstGeom>
            <a:noFill/>
            <a:ln cap="flat" cmpd="sng" w="9525">
              <a:solidFill>
                <a:srgbClr val="000000"/>
              </a:solidFill>
              <a:prstDash val="solid"/>
              <a:round/>
              <a:headEnd len="med" w="med" type="none"/>
              <a:tailEnd len="med" w="med" type="none"/>
            </a:ln>
          </p:spPr>
        </p:cxnSp>
      </p:grpSp>
      <p:cxnSp>
        <p:nvCxnSpPr>
          <p:cNvPr id="1211" name="Google Shape;1211;p23"/>
          <p:cNvCxnSpPr/>
          <p:nvPr/>
        </p:nvCxnSpPr>
        <p:spPr>
          <a:xfrm>
            <a:off x="1584325" y="3364706"/>
            <a:ext cx="0" cy="968100"/>
          </a:xfrm>
          <a:prstGeom prst="straightConnector1">
            <a:avLst/>
          </a:prstGeom>
          <a:noFill/>
          <a:ln cap="flat" cmpd="sng" w="9525">
            <a:solidFill>
              <a:srgbClr val="000000"/>
            </a:solidFill>
            <a:prstDash val="dash"/>
            <a:round/>
            <a:headEnd len="med" w="med" type="none"/>
            <a:tailEnd len="med" w="med" type="none"/>
          </a:ln>
        </p:spPr>
      </p:cxnSp>
      <p:cxnSp>
        <p:nvCxnSpPr>
          <p:cNvPr id="1212" name="Google Shape;1212;p23"/>
          <p:cNvCxnSpPr/>
          <p:nvPr/>
        </p:nvCxnSpPr>
        <p:spPr>
          <a:xfrm>
            <a:off x="3040063" y="3249216"/>
            <a:ext cx="0" cy="1080000"/>
          </a:xfrm>
          <a:prstGeom prst="straightConnector1">
            <a:avLst/>
          </a:prstGeom>
          <a:noFill/>
          <a:ln cap="flat" cmpd="sng" w="9525">
            <a:solidFill>
              <a:srgbClr val="000000"/>
            </a:solidFill>
            <a:prstDash val="dash"/>
            <a:round/>
            <a:headEnd len="med" w="med" type="none"/>
            <a:tailEnd len="med" w="med" type="none"/>
          </a:ln>
        </p:spPr>
      </p:cxnSp>
      <p:cxnSp>
        <p:nvCxnSpPr>
          <p:cNvPr id="1213" name="Google Shape;1213;p23"/>
          <p:cNvCxnSpPr/>
          <p:nvPr/>
        </p:nvCxnSpPr>
        <p:spPr>
          <a:xfrm>
            <a:off x="3040063" y="1414463"/>
            <a:ext cx="0" cy="241800"/>
          </a:xfrm>
          <a:prstGeom prst="straightConnector1">
            <a:avLst/>
          </a:prstGeom>
          <a:noFill/>
          <a:ln cap="flat" cmpd="sng" w="9525">
            <a:solidFill>
              <a:srgbClr val="000000"/>
            </a:solidFill>
            <a:prstDash val="dash"/>
            <a:round/>
            <a:headEnd len="med" w="med" type="none"/>
            <a:tailEnd len="med" w="med" type="none"/>
          </a:ln>
        </p:spPr>
      </p:cxnSp>
      <p:cxnSp>
        <p:nvCxnSpPr>
          <p:cNvPr id="1214" name="Google Shape;1214;p23"/>
          <p:cNvCxnSpPr/>
          <p:nvPr/>
        </p:nvCxnSpPr>
        <p:spPr>
          <a:xfrm>
            <a:off x="4405313" y="1415654"/>
            <a:ext cx="0" cy="397800"/>
          </a:xfrm>
          <a:prstGeom prst="straightConnector1">
            <a:avLst/>
          </a:prstGeom>
          <a:noFill/>
          <a:ln cap="flat" cmpd="sng" w="9525">
            <a:solidFill>
              <a:srgbClr val="000000"/>
            </a:solidFill>
            <a:prstDash val="dash"/>
            <a:round/>
            <a:headEnd len="med" w="med" type="none"/>
            <a:tailEnd len="med" w="med" type="none"/>
          </a:ln>
        </p:spPr>
      </p:cxnSp>
      <p:cxnSp>
        <p:nvCxnSpPr>
          <p:cNvPr id="1215" name="Google Shape;1215;p23"/>
          <p:cNvCxnSpPr/>
          <p:nvPr/>
        </p:nvCxnSpPr>
        <p:spPr>
          <a:xfrm>
            <a:off x="4408488" y="2553891"/>
            <a:ext cx="0" cy="1752600"/>
          </a:xfrm>
          <a:prstGeom prst="straightConnector1">
            <a:avLst/>
          </a:prstGeom>
          <a:noFill/>
          <a:ln cap="flat" cmpd="sng" w="9525">
            <a:solidFill>
              <a:srgbClr val="000000"/>
            </a:solidFill>
            <a:prstDash val="dash"/>
            <a:round/>
            <a:headEnd len="med" w="med" type="none"/>
            <a:tailEnd len="med" w="med" type="none"/>
          </a:ln>
        </p:spPr>
      </p:cxnSp>
      <p:cxnSp>
        <p:nvCxnSpPr>
          <p:cNvPr id="1216" name="Google Shape;1216;p23"/>
          <p:cNvCxnSpPr/>
          <p:nvPr/>
        </p:nvCxnSpPr>
        <p:spPr>
          <a:xfrm>
            <a:off x="5721350" y="1418035"/>
            <a:ext cx="0" cy="585900"/>
          </a:xfrm>
          <a:prstGeom prst="straightConnector1">
            <a:avLst/>
          </a:prstGeom>
          <a:noFill/>
          <a:ln cap="flat" cmpd="sng" w="9525">
            <a:solidFill>
              <a:srgbClr val="000000"/>
            </a:solidFill>
            <a:prstDash val="dash"/>
            <a:round/>
            <a:headEnd len="med" w="med" type="none"/>
            <a:tailEnd len="med" w="med" type="none"/>
          </a:ln>
        </p:spPr>
      </p:cxnSp>
      <p:cxnSp>
        <p:nvCxnSpPr>
          <p:cNvPr id="1217" name="Google Shape;1217;p23"/>
          <p:cNvCxnSpPr/>
          <p:nvPr/>
        </p:nvCxnSpPr>
        <p:spPr>
          <a:xfrm flipH="1" rot="10800000">
            <a:off x="2287588" y="2442113"/>
            <a:ext cx="938100" cy="96300"/>
          </a:xfrm>
          <a:prstGeom prst="straightConnector1">
            <a:avLst/>
          </a:prstGeom>
          <a:noFill/>
          <a:ln cap="flat" cmpd="sng" w="9525">
            <a:solidFill>
              <a:srgbClr val="000000"/>
            </a:solidFill>
            <a:prstDash val="dash"/>
            <a:round/>
            <a:headEnd len="med" w="med" type="none"/>
            <a:tailEnd len="med" w="med" type="none"/>
          </a:ln>
        </p:spPr>
      </p:cxnSp>
      <p:cxnSp>
        <p:nvCxnSpPr>
          <p:cNvPr id="1218" name="Google Shape;1218;p23"/>
          <p:cNvCxnSpPr/>
          <p:nvPr/>
        </p:nvCxnSpPr>
        <p:spPr>
          <a:xfrm flipH="1" rot="10800000">
            <a:off x="2179638" y="3008775"/>
            <a:ext cx="1020900" cy="105900"/>
          </a:xfrm>
          <a:prstGeom prst="straightConnector1">
            <a:avLst/>
          </a:prstGeom>
          <a:noFill/>
          <a:ln cap="flat" cmpd="sng" w="9525">
            <a:solidFill>
              <a:srgbClr val="000000"/>
            </a:solidFill>
            <a:prstDash val="dash"/>
            <a:round/>
            <a:headEnd len="med" w="med" type="none"/>
            <a:tailEnd len="med" w="med" type="none"/>
          </a:ln>
        </p:spPr>
      </p:cxnSp>
      <p:cxnSp>
        <p:nvCxnSpPr>
          <p:cNvPr id="1219" name="Google Shape;1219;p23"/>
          <p:cNvCxnSpPr/>
          <p:nvPr/>
        </p:nvCxnSpPr>
        <p:spPr>
          <a:xfrm flipH="1" rot="10800000">
            <a:off x="1843088" y="1668188"/>
            <a:ext cx="404700" cy="213000"/>
          </a:xfrm>
          <a:prstGeom prst="straightConnector1">
            <a:avLst/>
          </a:prstGeom>
          <a:noFill/>
          <a:ln cap="flat" cmpd="sng" w="9525">
            <a:solidFill>
              <a:srgbClr val="000000"/>
            </a:solidFill>
            <a:prstDash val="dash"/>
            <a:round/>
            <a:headEnd len="med" w="med" type="none"/>
            <a:tailEnd len="med" w="med" type="none"/>
          </a:ln>
        </p:spPr>
      </p:cxnSp>
      <p:grpSp>
        <p:nvGrpSpPr>
          <p:cNvPr id="1220" name="Google Shape;1220;p23"/>
          <p:cNvGrpSpPr/>
          <p:nvPr/>
        </p:nvGrpSpPr>
        <p:grpSpPr>
          <a:xfrm>
            <a:off x="876300" y="3729038"/>
            <a:ext cx="6886575" cy="554831"/>
            <a:chOff x="216" y="3132"/>
            <a:chExt cx="5358" cy="466"/>
          </a:xfrm>
        </p:grpSpPr>
        <p:sp>
          <p:nvSpPr>
            <p:cNvPr id="1221" name="Google Shape;1221;p23"/>
            <p:cNvSpPr/>
            <p:nvPr/>
          </p:nvSpPr>
          <p:spPr>
            <a:xfrm>
              <a:off x="216" y="3132"/>
              <a:ext cx="5358" cy="173"/>
            </a:xfrm>
            <a:prstGeom prst="rect">
              <a:avLst/>
            </a:prstGeom>
            <a:noFill/>
            <a:ln cap="flat" cmpd="sng" w="12700">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2" name="Google Shape;1222;p23"/>
            <p:cNvSpPr/>
            <p:nvPr/>
          </p:nvSpPr>
          <p:spPr>
            <a:xfrm>
              <a:off x="216" y="3420"/>
              <a:ext cx="5358" cy="178"/>
            </a:xfrm>
            <a:prstGeom prst="rect">
              <a:avLst/>
            </a:prstGeom>
            <a:noFill/>
            <a:ln cap="flat" cmpd="sng" w="12700">
              <a:solidFill>
                <a:srgbClr val="00000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23" name="Google Shape;1223;p23"/>
          <p:cNvSpPr/>
          <p:nvPr/>
        </p:nvSpPr>
        <p:spPr>
          <a:xfrm>
            <a:off x="3905250" y="3762375"/>
            <a:ext cx="1082700" cy="123900"/>
          </a:xfrm>
          <a:prstGeom prst="rect">
            <a:avLst/>
          </a:prstGeom>
          <a:noFill/>
          <a:ln>
            <a:noFill/>
          </a:ln>
        </p:spPr>
        <p:txBody>
          <a:bodyPr anchorCtr="0" anchor="t" bIns="0" lIns="0" spcFirstLastPara="1" rIns="0" wrap="square" tIns="0">
            <a:spAutoFit/>
          </a:bodyPr>
          <a:lstStyle/>
          <a:p>
            <a:pPr indent="0" lvl="0" marL="0" marR="0" rtl="0" algn="l">
              <a:lnSpc>
                <a:spcPct val="108333"/>
              </a:lnSpc>
              <a:spcBef>
                <a:spcPts val="0"/>
              </a:spcBef>
              <a:spcAft>
                <a:spcPts val="0"/>
              </a:spcAft>
              <a:buNone/>
            </a:pPr>
            <a:r>
              <a:rPr lang="en-US" sz="1200">
                <a:solidFill>
                  <a:srgbClr val="000000"/>
                </a:solidFill>
                <a:latin typeface="Arial"/>
                <a:ea typeface="Arial"/>
                <a:cs typeface="Arial"/>
                <a:sym typeface="Arial"/>
              </a:rPr>
              <a:t>Select Offerings</a:t>
            </a:r>
            <a:endParaRPr sz="1200">
              <a:solidFill>
                <a:srgbClr val="000000"/>
              </a:solidFill>
              <a:latin typeface="Arial"/>
              <a:ea typeface="Arial"/>
              <a:cs typeface="Arial"/>
              <a:sym typeface="Arial"/>
            </a:endParaRPr>
          </a:p>
        </p:txBody>
      </p:sp>
      <p:sp>
        <p:nvSpPr>
          <p:cNvPr id="1224" name="Google Shape;1224;p23"/>
          <p:cNvSpPr/>
          <p:nvPr/>
        </p:nvSpPr>
        <p:spPr>
          <a:xfrm>
            <a:off x="3905250" y="4112423"/>
            <a:ext cx="1487700" cy="91800"/>
          </a:xfrm>
          <a:prstGeom prst="rect">
            <a:avLst/>
          </a:prstGeom>
          <a:noFill/>
          <a:ln>
            <a:noFill/>
          </a:ln>
        </p:spPr>
        <p:txBody>
          <a:bodyPr anchorCtr="0" anchor="t" bIns="0" lIns="0" spcFirstLastPara="1" rIns="0" wrap="square" tIns="0">
            <a:spAutoFit/>
          </a:bodyPr>
          <a:lstStyle/>
          <a:p>
            <a:pPr indent="0" lvl="0" marL="0" marR="0" rtl="0" algn="l">
              <a:lnSpc>
                <a:spcPct val="108333"/>
              </a:lnSpc>
              <a:spcBef>
                <a:spcPts val="0"/>
              </a:spcBef>
              <a:spcAft>
                <a:spcPts val="0"/>
              </a:spcAft>
              <a:buNone/>
            </a:pPr>
            <a:r>
              <a:rPr lang="en-US" sz="1200">
                <a:solidFill>
                  <a:srgbClr val="000000"/>
                </a:solidFill>
                <a:latin typeface="Arial"/>
                <a:ea typeface="Arial"/>
                <a:cs typeface="Arial"/>
                <a:sym typeface="Arial"/>
              </a:rPr>
              <a:t>Submit Schedule</a:t>
            </a:r>
            <a:endParaRPr sz="1200">
              <a:solidFill>
                <a:srgbClr val="000000"/>
              </a:solidFill>
              <a:latin typeface="Arial"/>
              <a:ea typeface="Arial"/>
              <a:cs typeface="Arial"/>
              <a:sym typeface="Arial"/>
            </a:endParaRPr>
          </a:p>
        </p:txBody>
      </p:sp>
      <p:sp>
        <p:nvSpPr>
          <p:cNvPr id="1225" name="Google Shape;1225;p23"/>
          <p:cNvSpPr/>
          <p:nvPr/>
        </p:nvSpPr>
        <p:spPr>
          <a:xfrm>
            <a:off x="876300" y="3729038"/>
            <a:ext cx="204788" cy="150019"/>
          </a:xfrm>
          <a:custGeom>
            <a:rect b="b" l="l" r="r" t="t"/>
            <a:pathLst>
              <a:path extrusionOk="0" h="126" w="129">
                <a:moveTo>
                  <a:pt x="0" y="126"/>
                </a:moveTo>
                <a:lnTo>
                  <a:pt x="0" y="0"/>
                </a:lnTo>
                <a:lnTo>
                  <a:pt x="129" y="0"/>
                </a:lnTo>
                <a:lnTo>
                  <a:pt x="129" y="69"/>
                </a:lnTo>
                <a:lnTo>
                  <a:pt x="96" y="126"/>
                </a:lnTo>
                <a:lnTo>
                  <a:pt x="0" y="126"/>
                </a:lnTo>
                <a:close/>
              </a:path>
            </a:pathLst>
          </a:custGeom>
          <a:noFill/>
          <a:ln cap="flat" cmpd="sng" w="12700">
            <a:solidFill>
              <a:srgbClr val="000000"/>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6" name="Google Shape;1226;p23"/>
          <p:cNvSpPr/>
          <p:nvPr/>
        </p:nvSpPr>
        <p:spPr>
          <a:xfrm>
            <a:off x="895350" y="3737372"/>
            <a:ext cx="179400" cy="125100"/>
          </a:xfrm>
          <a:prstGeom prst="rect">
            <a:avLst/>
          </a:prstGeom>
          <a:noFill/>
          <a:ln cap="flat" cmpd="sng" w="9525">
            <a:solidFill>
              <a:srgbClr val="CCECFF"/>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8333"/>
              </a:lnSpc>
              <a:spcBef>
                <a:spcPts val="0"/>
              </a:spcBef>
              <a:spcAft>
                <a:spcPts val="0"/>
              </a:spcAft>
              <a:buNone/>
            </a:pPr>
            <a:r>
              <a:rPr lang="en-US" sz="1200">
                <a:solidFill>
                  <a:srgbClr val="000000"/>
                </a:solidFill>
                <a:latin typeface="Arial"/>
                <a:ea typeface="Arial"/>
                <a:cs typeface="Arial"/>
                <a:sym typeface="Arial"/>
              </a:rPr>
              <a:t>ref</a:t>
            </a:r>
            <a:endParaRPr sz="1200">
              <a:solidFill>
                <a:srgbClr val="000000"/>
              </a:solidFill>
              <a:latin typeface="Arial"/>
              <a:ea typeface="Arial"/>
              <a:cs typeface="Arial"/>
              <a:sym typeface="Arial"/>
            </a:endParaRPr>
          </a:p>
        </p:txBody>
      </p:sp>
      <p:sp>
        <p:nvSpPr>
          <p:cNvPr id="1227" name="Google Shape;1227;p23"/>
          <p:cNvSpPr/>
          <p:nvPr/>
        </p:nvSpPr>
        <p:spPr>
          <a:xfrm>
            <a:off x="876300" y="4071938"/>
            <a:ext cx="204788" cy="150019"/>
          </a:xfrm>
          <a:custGeom>
            <a:rect b="b" l="l" r="r" t="t"/>
            <a:pathLst>
              <a:path extrusionOk="0" h="126" w="129">
                <a:moveTo>
                  <a:pt x="0" y="126"/>
                </a:moveTo>
                <a:lnTo>
                  <a:pt x="0" y="0"/>
                </a:lnTo>
                <a:lnTo>
                  <a:pt x="129" y="0"/>
                </a:lnTo>
                <a:lnTo>
                  <a:pt x="129" y="69"/>
                </a:lnTo>
                <a:lnTo>
                  <a:pt x="96" y="126"/>
                </a:lnTo>
                <a:lnTo>
                  <a:pt x="0" y="126"/>
                </a:lnTo>
                <a:close/>
              </a:path>
            </a:pathLst>
          </a:custGeom>
          <a:noFill/>
          <a:ln cap="flat" cmpd="sng" w="12700">
            <a:solidFill>
              <a:srgbClr val="000000"/>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8" name="Google Shape;1228;p23"/>
          <p:cNvSpPr/>
          <p:nvPr/>
        </p:nvSpPr>
        <p:spPr>
          <a:xfrm>
            <a:off x="895350" y="4080272"/>
            <a:ext cx="179400" cy="125100"/>
          </a:xfrm>
          <a:prstGeom prst="rect">
            <a:avLst/>
          </a:prstGeom>
          <a:noFill/>
          <a:ln cap="flat" cmpd="sng" w="9525">
            <a:solidFill>
              <a:srgbClr val="CCECFF"/>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8333"/>
              </a:lnSpc>
              <a:spcBef>
                <a:spcPts val="0"/>
              </a:spcBef>
              <a:spcAft>
                <a:spcPts val="0"/>
              </a:spcAft>
              <a:buNone/>
            </a:pPr>
            <a:r>
              <a:rPr lang="en-US" sz="1200">
                <a:solidFill>
                  <a:srgbClr val="000000"/>
                </a:solidFill>
                <a:latin typeface="Arial"/>
                <a:ea typeface="Arial"/>
                <a:cs typeface="Arial"/>
                <a:sym typeface="Arial"/>
              </a:rPr>
              <a:t>ref</a:t>
            </a:r>
            <a:endParaRPr sz="1200">
              <a:solidFill>
                <a:srgbClr val="000000"/>
              </a:solidFill>
              <a:latin typeface="Arial"/>
              <a:ea typeface="Arial"/>
              <a:cs typeface="Arial"/>
              <a:sym typeface="Arial"/>
            </a:endParaRPr>
          </a:p>
        </p:txBody>
      </p:sp>
      <p:sp>
        <p:nvSpPr>
          <p:cNvPr id="1229" name="Google Shape;1229;p23"/>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24"/>
          <p:cNvSpPr txBox="1"/>
          <p:nvPr/>
        </p:nvSpPr>
        <p:spPr>
          <a:xfrm>
            <a:off x="3487738" y="2726531"/>
            <a:ext cx="2349600" cy="277200"/>
          </a:xfrm>
          <a:prstGeom prst="rect">
            <a:avLst/>
          </a:prstGeom>
          <a:noFill/>
          <a:ln>
            <a:noFill/>
          </a:ln>
        </p:spPr>
        <p:txBody>
          <a:bodyPr anchorCtr="0" anchor="t" bIns="0" lIns="0" spcFirstLastPara="1" rIns="0" wrap="square" tIns="0">
            <a:spAutoFit/>
          </a:bodyPr>
          <a:lstStyle/>
          <a:p>
            <a:pPr indent="-287338" lvl="0" marL="287338" marR="0" rtl="0" algn="l">
              <a:spcBef>
                <a:spcPts val="0"/>
              </a:spcBef>
              <a:spcAft>
                <a:spcPts val="0"/>
              </a:spcAft>
              <a:buNone/>
            </a:pPr>
            <a:r>
              <a:rPr lang="en-US" sz="1800">
                <a:solidFill>
                  <a:srgbClr val="000000"/>
                </a:solidFill>
                <a:latin typeface="Arial"/>
                <a:ea typeface="Arial"/>
                <a:cs typeface="Arial"/>
                <a:sym typeface="Arial"/>
              </a:rPr>
              <a:t>PerformResponsibility</a:t>
            </a:r>
            <a:endParaRPr sz="1800">
              <a:solidFill>
                <a:srgbClr val="000000"/>
              </a:solidFill>
              <a:latin typeface="Arial"/>
              <a:ea typeface="Arial"/>
              <a:cs typeface="Arial"/>
              <a:sym typeface="Arial"/>
            </a:endParaRPr>
          </a:p>
        </p:txBody>
      </p:sp>
      <p:sp>
        <p:nvSpPr>
          <p:cNvPr id="1238" name="Google Shape;1238;p24"/>
          <p:cNvSpPr txBox="1"/>
          <p:nvPr/>
        </p:nvSpPr>
        <p:spPr>
          <a:xfrm>
            <a:off x="1320800" y="1312069"/>
            <a:ext cx="1308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Client Object</a:t>
            </a:r>
            <a:endParaRPr/>
          </a:p>
        </p:txBody>
      </p:sp>
      <p:sp>
        <p:nvSpPr>
          <p:cNvPr id="1239" name="Google Shape;1239;p24"/>
          <p:cNvSpPr txBox="1"/>
          <p:nvPr/>
        </p:nvSpPr>
        <p:spPr>
          <a:xfrm>
            <a:off x="5757863" y="1312069"/>
            <a:ext cx="15621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Supplier Object</a:t>
            </a:r>
            <a:endParaRPr/>
          </a:p>
        </p:txBody>
      </p:sp>
      <p:cxnSp>
        <p:nvCxnSpPr>
          <p:cNvPr id="1240" name="Google Shape;1240;p24"/>
          <p:cNvCxnSpPr/>
          <p:nvPr/>
        </p:nvCxnSpPr>
        <p:spPr>
          <a:xfrm>
            <a:off x="6578600" y="1566863"/>
            <a:ext cx="0" cy="683400"/>
          </a:xfrm>
          <a:prstGeom prst="straightConnector1">
            <a:avLst/>
          </a:prstGeom>
          <a:noFill/>
          <a:ln cap="flat" cmpd="sng" w="28575">
            <a:solidFill>
              <a:srgbClr val="0000FF"/>
            </a:solidFill>
            <a:prstDash val="solid"/>
            <a:round/>
            <a:headEnd len="sm" w="sm" type="none"/>
            <a:tailEnd len="med" w="med" type="triangle"/>
          </a:ln>
        </p:spPr>
      </p:cxnSp>
      <p:sp>
        <p:nvSpPr>
          <p:cNvPr id="1241" name="Google Shape;1241;p24"/>
          <p:cNvSpPr txBox="1"/>
          <p:nvPr/>
        </p:nvSpPr>
        <p:spPr>
          <a:xfrm>
            <a:off x="4198953" y="3773100"/>
            <a:ext cx="1162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Message</a:t>
            </a:r>
            <a:endParaRPr/>
          </a:p>
        </p:txBody>
      </p:sp>
      <p:cxnSp>
        <p:nvCxnSpPr>
          <p:cNvPr id="1242" name="Google Shape;1242;p24"/>
          <p:cNvCxnSpPr/>
          <p:nvPr/>
        </p:nvCxnSpPr>
        <p:spPr>
          <a:xfrm rot="10800000">
            <a:off x="4664075" y="3000525"/>
            <a:ext cx="0" cy="742800"/>
          </a:xfrm>
          <a:prstGeom prst="straightConnector1">
            <a:avLst/>
          </a:prstGeom>
          <a:noFill/>
          <a:ln cap="flat" cmpd="sng" w="28575">
            <a:solidFill>
              <a:srgbClr val="0000FF"/>
            </a:solidFill>
            <a:prstDash val="solid"/>
            <a:round/>
            <a:headEnd len="sm" w="sm" type="none"/>
            <a:tailEnd len="med" w="med" type="triangle"/>
          </a:ln>
        </p:spPr>
      </p:cxnSp>
      <p:sp>
        <p:nvSpPr>
          <p:cNvPr id="1243" name="Google Shape;1243;p24"/>
          <p:cNvSpPr txBox="1"/>
          <p:nvPr/>
        </p:nvSpPr>
        <p:spPr>
          <a:xfrm>
            <a:off x="3940175" y="1312075"/>
            <a:ext cx="7239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Link</a:t>
            </a:r>
            <a:endParaRPr/>
          </a:p>
        </p:txBody>
      </p:sp>
      <p:grpSp>
        <p:nvGrpSpPr>
          <p:cNvPr id="1244" name="Google Shape;1244;p24"/>
          <p:cNvGrpSpPr/>
          <p:nvPr/>
        </p:nvGrpSpPr>
        <p:grpSpPr>
          <a:xfrm>
            <a:off x="1301750" y="2314575"/>
            <a:ext cx="1390650" cy="481489"/>
            <a:chOff x="2784" y="2832"/>
            <a:chExt cx="1056" cy="337"/>
          </a:xfrm>
        </p:grpSpPr>
        <p:sp>
          <p:nvSpPr>
            <p:cNvPr id="1245" name="Google Shape;1245;p24"/>
            <p:cNvSpPr/>
            <p:nvPr/>
          </p:nvSpPr>
          <p:spPr>
            <a:xfrm>
              <a:off x="2784" y="2832"/>
              <a:ext cx="1056" cy="24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6" name="Google Shape;1246;p24"/>
            <p:cNvSpPr txBox="1"/>
            <p:nvPr/>
          </p:nvSpPr>
          <p:spPr>
            <a:xfrm>
              <a:off x="3066" y="2869"/>
              <a:ext cx="600" cy="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u="sng">
                  <a:solidFill>
                    <a:srgbClr val="000000"/>
                  </a:solidFill>
                  <a:latin typeface="Arial"/>
                  <a:ea typeface="Arial"/>
                  <a:cs typeface="Arial"/>
                  <a:sym typeface="Arial"/>
                </a:rPr>
                <a:t>:Client</a:t>
              </a:r>
              <a:endParaRPr/>
            </a:p>
          </p:txBody>
        </p:sp>
      </p:grpSp>
      <p:grpSp>
        <p:nvGrpSpPr>
          <p:cNvPr id="1247" name="Google Shape;1247;p24"/>
          <p:cNvGrpSpPr/>
          <p:nvPr/>
        </p:nvGrpSpPr>
        <p:grpSpPr>
          <a:xfrm>
            <a:off x="6273800" y="2314575"/>
            <a:ext cx="1424886" cy="481499"/>
            <a:chOff x="2784" y="2832"/>
            <a:chExt cx="1082" cy="337"/>
          </a:xfrm>
        </p:grpSpPr>
        <p:sp>
          <p:nvSpPr>
            <p:cNvPr id="1248" name="Google Shape;1248;p24"/>
            <p:cNvSpPr/>
            <p:nvPr/>
          </p:nvSpPr>
          <p:spPr>
            <a:xfrm>
              <a:off x="2784" y="2832"/>
              <a:ext cx="1056" cy="240"/>
            </a:xfrm>
            <a:prstGeom prst="rect">
              <a:avLst/>
            </a:prstGeom>
            <a:noFill/>
            <a:ln cap="flat" cmpd="sng" w="28575">
              <a:solidFill>
                <a:srgbClr val="000000"/>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9" name="Google Shape;1249;p24"/>
            <p:cNvSpPr txBox="1"/>
            <p:nvPr/>
          </p:nvSpPr>
          <p:spPr>
            <a:xfrm>
              <a:off x="2966" y="2869"/>
              <a:ext cx="900" cy="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u="sng">
                  <a:solidFill>
                    <a:srgbClr val="000000"/>
                  </a:solidFill>
                  <a:latin typeface="Arial"/>
                  <a:ea typeface="Arial"/>
                  <a:cs typeface="Arial"/>
                  <a:sym typeface="Arial"/>
                </a:rPr>
                <a:t>:Supplier</a:t>
              </a:r>
              <a:endParaRPr/>
            </a:p>
          </p:txBody>
        </p:sp>
      </p:grpSp>
      <p:sp>
        <p:nvSpPr>
          <p:cNvPr id="1250" name="Google Shape;1250;p24"/>
          <p:cNvSpPr txBox="1"/>
          <p:nvPr>
            <p:ph type="title"/>
          </p:nvPr>
        </p:nvSpPr>
        <p:spPr>
          <a:xfrm>
            <a:off x="1447800" y="154781"/>
            <a:ext cx="76962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Anatomy of Communication Diagrams</a:t>
            </a:r>
            <a:endParaRPr/>
          </a:p>
        </p:txBody>
      </p:sp>
      <p:cxnSp>
        <p:nvCxnSpPr>
          <p:cNvPr id="1251" name="Google Shape;1251;p24"/>
          <p:cNvCxnSpPr/>
          <p:nvPr/>
        </p:nvCxnSpPr>
        <p:spPr>
          <a:xfrm>
            <a:off x="2693988" y="2470547"/>
            <a:ext cx="3589200" cy="0"/>
          </a:xfrm>
          <a:prstGeom prst="straightConnector1">
            <a:avLst/>
          </a:prstGeom>
          <a:noFill/>
          <a:ln cap="flat" cmpd="sng" w="28575">
            <a:solidFill>
              <a:srgbClr val="000000"/>
            </a:solidFill>
            <a:prstDash val="solid"/>
            <a:round/>
            <a:headEnd len="sm" w="sm" type="none"/>
            <a:tailEnd len="med" w="med" type="none"/>
          </a:ln>
        </p:spPr>
      </p:cxnSp>
      <p:cxnSp>
        <p:nvCxnSpPr>
          <p:cNvPr id="1252" name="Google Shape;1252;p24"/>
          <p:cNvCxnSpPr/>
          <p:nvPr/>
        </p:nvCxnSpPr>
        <p:spPr>
          <a:xfrm>
            <a:off x="3913188" y="2611041"/>
            <a:ext cx="1052400" cy="0"/>
          </a:xfrm>
          <a:prstGeom prst="straightConnector1">
            <a:avLst/>
          </a:prstGeom>
          <a:noFill/>
          <a:ln cap="flat" cmpd="sng" w="28575">
            <a:solidFill>
              <a:srgbClr val="000000"/>
            </a:solidFill>
            <a:prstDash val="solid"/>
            <a:round/>
            <a:headEnd len="sm" w="sm" type="none"/>
            <a:tailEnd len="lg" w="lg" type="stealth"/>
          </a:ln>
        </p:spPr>
      </p:cxnSp>
      <p:cxnSp>
        <p:nvCxnSpPr>
          <p:cNvPr id="1253" name="Google Shape;1253;p24"/>
          <p:cNvCxnSpPr/>
          <p:nvPr/>
        </p:nvCxnSpPr>
        <p:spPr>
          <a:xfrm>
            <a:off x="1968500" y="1566863"/>
            <a:ext cx="0" cy="683400"/>
          </a:xfrm>
          <a:prstGeom prst="straightConnector1">
            <a:avLst/>
          </a:prstGeom>
          <a:noFill/>
          <a:ln cap="flat" cmpd="sng" w="28575">
            <a:solidFill>
              <a:srgbClr val="0000FF"/>
            </a:solidFill>
            <a:prstDash val="solid"/>
            <a:round/>
            <a:headEnd len="sm" w="sm" type="none"/>
            <a:tailEnd len="med" w="med" type="triangle"/>
          </a:ln>
        </p:spPr>
      </p:cxnSp>
      <p:cxnSp>
        <p:nvCxnSpPr>
          <p:cNvPr id="1254" name="Google Shape;1254;p24"/>
          <p:cNvCxnSpPr/>
          <p:nvPr/>
        </p:nvCxnSpPr>
        <p:spPr>
          <a:xfrm>
            <a:off x="4184650" y="1566863"/>
            <a:ext cx="0" cy="838200"/>
          </a:xfrm>
          <a:prstGeom prst="straightConnector1">
            <a:avLst/>
          </a:prstGeom>
          <a:noFill/>
          <a:ln cap="flat" cmpd="sng" w="28575">
            <a:solidFill>
              <a:srgbClr val="0000FF"/>
            </a:solidFill>
            <a:prstDash val="solid"/>
            <a:round/>
            <a:headEnd len="sm" w="sm" type="none"/>
            <a:tailEnd len="med" w="med" type="triangle"/>
          </a:ln>
        </p:spPr>
      </p:cxnSp>
      <p:sp>
        <p:nvSpPr>
          <p:cNvPr id="1255" name="Google Shape;1255;p24"/>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25"/>
          <p:cNvSpPr txBox="1"/>
          <p:nvPr>
            <p:ph type="title"/>
          </p:nvPr>
        </p:nvSpPr>
        <p:spPr>
          <a:xfrm>
            <a:off x="1447800" y="154781"/>
            <a:ext cx="68580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Communication Diagram</a:t>
            </a:r>
            <a:endParaRPr/>
          </a:p>
        </p:txBody>
      </p:sp>
      <p:sp>
        <p:nvSpPr>
          <p:cNvPr id="1264" name="Google Shape;1264;p25"/>
          <p:cNvSpPr/>
          <p:nvPr/>
        </p:nvSpPr>
        <p:spPr>
          <a:xfrm>
            <a:off x="2100263" y="4163616"/>
            <a:ext cx="679800" cy="20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u="sng">
                <a:solidFill>
                  <a:srgbClr val="000000"/>
                </a:solidFill>
                <a:latin typeface="Arial"/>
                <a:ea typeface="Arial"/>
                <a:cs typeface="Arial"/>
                <a:sym typeface="Arial"/>
              </a:rPr>
              <a:t> </a:t>
            </a:r>
            <a:r>
              <a:rPr lang="en-US" sz="1200" u="sng">
                <a:solidFill>
                  <a:srgbClr val="000000"/>
                </a:solidFill>
                <a:latin typeface="Arial"/>
                <a:ea typeface="Arial"/>
                <a:cs typeface="Arial"/>
                <a:sym typeface="Arial"/>
              </a:rPr>
              <a:t>: Student</a:t>
            </a:r>
            <a:endParaRPr sz="1200">
              <a:solidFill>
                <a:srgbClr val="000000"/>
              </a:solidFill>
              <a:latin typeface="Arial"/>
              <a:ea typeface="Arial"/>
              <a:cs typeface="Arial"/>
              <a:sym typeface="Arial"/>
            </a:endParaRPr>
          </a:p>
        </p:txBody>
      </p:sp>
      <p:sp>
        <p:nvSpPr>
          <p:cNvPr id="1265" name="Google Shape;1265;p25"/>
          <p:cNvSpPr/>
          <p:nvPr/>
        </p:nvSpPr>
        <p:spPr>
          <a:xfrm>
            <a:off x="1474788" y="2015729"/>
            <a:ext cx="1811400" cy="319200"/>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6" name="Google Shape;1266;p25"/>
          <p:cNvSpPr/>
          <p:nvPr/>
        </p:nvSpPr>
        <p:spPr>
          <a:xfrm>
            <a:off x="1600200" y="2050513"/>
            <a:ext cx="1554900" cy="121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50" u="sng">
                <a:solidFill>
                  <a:srgbClr val="000000"/>
                </a:solidFill>
                <a:latin typeface="Arial"/>
                <a:ea typeface="Arial"/>
                <a:cs typeface="Arial"/>
                <a:sym typeface="Arial"/>
              </a:rPr>
              <a:t> : </a:t>
            </a:r>
            <a:r>
              <a:rPr lang="en-US" sz="1000" u="sng">
                <a:solidFill>
                  <a:srgbClr val="000000"/>
                </a:solidFill>
                <a:latin typeface="Arial"/>
                <a:ea typeface="Arial"/>
                <a:cs typeface="Arial"/>
                <a:sym typeface="Arial"/>
              </a:rPr>
              <a:t>RegisterForCoursesForm</a:t>
            </a:r>
            <a:endParaRPr sz="1000">
              <a:solidFill>
                <a:srgbClr val="000000"/>
              </a:solidFill>
              <a:latin typeface="Arial"/>
              <a:ea typeface="Arial"/>
              <a:cs typeface="Arial"/>
              <a:sym typeface="Arial"/>
            </a:endParaRPr>
          </a:p>
        </p:txBody>
      </p:sp>
      <p:sp>
        <p:nvSpPr>
          <p:cNvPr id="1267" name="Google Shape;1267;p25"/>
          <p:cNvSpPr/>
          <p:nvPr/>
        </p:nvSpPr>
        <p:spPr>
          <a:xfrm>
            <a:off x="4752975" y="3443288"/>
            <a:ext cx="1565400" cy="319200"/>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8" name="Google Shape;1268;p25"/>
          <p:cNvSpPr/>
          <p:nvPr/>
        </p:nvSpPr>
        <p:spPr>
          <a:xfrm>
            <a:off x="4876800" y="3479006"/>
            <a:ext cx="1346400" cy="121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50" u="sng">
                <a:solidFill>
                  <a:srgbClr val="000000"/>
                </a:solidFill>
                <a:latin typeface="Arial"/>
                <a:ea typeface="Arial"/>
                <a:cs typeface="Arial"/>
                <a:sym typeface="Arial"/>
              </a:rPr>
              <a:t> : </a:t>
            </a:r>
            <a:r>
              <a:rPr lang="en-US" sz="1000" u="sng">
                <a:solidFill>
                  <a:srgbClr val="000000"/>
                </a:solidFill>
                <a:latin typeface="Arial"/>
                <a:ea typeface="Arial"/>
                <a:cs typeface="Arial"/>
                <a:sym typeface="Arial"/>
              </a:rPr>
              <a:t>RegistrationController</a:t>
            </a:r>
            <a:endParaRPr sz="1000">
              <a:solidFill>
                <a:srgbClr val="000000"/>
              </a:solidFill>
              <a:latin typeface="Arial"/>
              <a:ea typeface="Arial"/>
              <a:cs typeface="Arial"/>
              <a:sym typeface="Arial"/>
            </a:endParaRPr>
          </a:p>
        </p:txBody>
      </p:sp>
      <p:sp>
        <p:nvSpPr>
          <p:cNvPr id="1269" name="Google Shape;1269;p25"/>
          <p:cNvSpPr/>
          <p:nvPr/>
        </p:nvSpPr>
        <p:spPr>
          <a:xfrm>
            <a:off x="4705350" y="2095500"/>
            <a:ext cx="1650900" cy="319200"/>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0" name="Google Shape;1270;p25"/>
          <p:cNvSpPr/>
          <p:nvPr/>
        </p:nvSpPr>
        <p:spPr>
          <a:xfrm>
            <a:off x="4860199" y="2121694"/>
            <a:ext cx="1388100" cy="121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50" u="sng">
                <a:solidFill>
                  <a:srgbClr val="000000"/>
                </a:solidFill>
                <a:latin typeface="Arial"/>
                <a:ea typeface="Arial"/>
                <a:cs typeface="Arial"/>
                <a:sym typeface="Arial"/>
              </a:rPr>
              <a:t> : </a:t>
            </a:r>
            <a:r>
              <a:rPr lang="en-US" sz="1000" u="sng">
                <a:solidFill>
                  <a:srgbClr val="000000"/>
                </a:solidFill>
                <a:latin typeface="Arial"/>
                <a:ea typeface="Arial"/>
                <a:cs typeface="Arial"/>
                <a:sym typeface="Arial"/>
              </a:rPr>
              <a:t>CourseCatalogSystem</a:t>
            </a:r>
            <a:endParaRPr sz="1000">
              <a:solidFill>
                <a:srgbClr val="000000"/>
              </a:solidFill>
              <a:latin typeface="Arial"/>
              <a:ea typeface="Arial"/>
              <a:cs typeface="Arial"/>
              <a:sym typeface="Arial"/>
            </a:endParaRPr>
          </a:p>
        </p:txBody>
      </p:sp>
      <p:sp>
        <p:nvSpPr>
          <p:cNvPr id="1271" name="Google Shape;1271;p25"/>
          <p:cNvSpPr/>
          <p:nvPr/>
        </p:nvSpPr>
        <p:spPr>
          <a:xfrm>
            <a:off x="2181225" y="1635919"/>
            <a:ext cx="404784" cy="378618"/>
          </a:xfrm>
          <a:custGeom>
            <a:rect b="b" l="l" r="r" t="t"/>
            <a:pathLst>
              <a:path extrusionOk="0" fill="none" h="26748" w="43200">
                <a:moveTo>
                  <a:pt x="622" y="26747"/>
                </a:moveTo>
                <a:cubicBezTo>
                  <a:pt x="208" y="25063"/>
                  <a:pt x="0" y="23334"/>
                  <a:pt x="0" y="21600"/>
                </a:cubicBezTo>
                <a:cubicBezTo>
                  <a:pt x="0" y="9670"/>
                  <a:pt x="9670" y="0"/>
                  <a:pt x="21600" y="0"/>
                </a:cubicBezTo>
                <a:cubicBezTo>
                  <a:pt x="33529" y="0"/>
                  <a:pt x="43200" y="9670"/>
                  <a:pt x="43200" y="21600"/>
                </a:cubicBezTo>
                <a:cubicBezTo>
                  <a:pt x="43200" y="23168"/>
                  <a:pt x="43029" y="24731"/>
                  <a:pt x="42690" y="26262"/>
                </a:cubicBezTo>
              </a:path>
              <a:path extrusionOk="0" h="26748" w="43200">
                <a:moveTo>
                  <a:pt x="622" y="26747"/>
                </a:moveTo>
                <a:cubicBezTo>
                  <a:pt x="208" y="25063"/>
                  <a:pt x="0" y="23334"/>
                  <a:pt x="0" y="21600"/>
                </a:cubicBezTo>
                <a:cubicBezTo>
                  <a:pt x="0" y="9670"/>
                  <a:pt x="9670" y="0"/>
                  <a:pt x="21600" y="0"/>
                </a:cubicBezTo>
                <a:cubicBezTo>
                  <a:pt x="33529" y="0"/>
                  <a:pt x="43200" y="9670"/>
                  <a:pt x="43200" y="21600"/>
                </a:cubicBezTo>
                <a:cubicBezTo>
                  <a:pt x="43200" y="23168"/>
                  <a:pt x="43029" y="24731"/>
                  <a:pt x="42690" y="26262"/>
                </a:cubicBezTo>
                <a:lnTo>
                  <a:pt x="21600" y="21600"/>
                </a:lnTo>
                <a:close/>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72" name="Google Shape;1272;p25"/>
          <p:cNvCxnSpPr/>
          <p:nvPr/>
        </p:nvCxnSpPr>
        <p:spPr>
          <a:xfrm>
            <a:off x="2173288" y="1518047"/>
            <a:ext cx="415800" cy="1200"/>
          </a:xfrm>
          <a:prstGeom prst="straightConnector1">
            <a:avLst/>
          </a:prstGeom>
          <a:noFill/>
          <a:ln cap="flat" cmpd="sng" w="19050">
            <a:solidFill>
              <a:srgbClr val="000000"/>
            </a:solidFill>
            <a:prstDash val="solid"/>
            <a:round/>
            <a:headEnd len="med" w="med" type="none"/>
            <a:tailEnd len="med" w="med" type="stealth"/>
          </a:ln>
        </p:spPr>
      </p:cxnSp>
      <p:sp>
        <p:nvSpPr>
          <p:cNvPr id="1273" name="Google Shape;1273;p25"/>
          <p:cNvSpPr/>
          <p:nvPr/>
        </p:nvSpPr>
        <p:spPr>
          <a:xfrm>
            <a:off x="1536700" y="1220391"/>
            <a:ext cx="20556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5: // display course offerings( )</a:t>
            </a:r>
            <a:endParaRPr/>
          </a:p>
        </p:txBody>
      </p:sp>
      <p:sp>
        <p:nvSpPr>
          <p:cNvPr id="1274" name="Google Shape;1274;p25"/>
          <p:cNvSpPr/>
          <p:nvPr/>
        </p:nvSpPr>
        <p:spPr>
          <a:xfrm>
            <a:off x="1536700" y="1348979"/>
            <a:ext cx="19878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6: // display blank schedule( )</a:t>
            </a:r>
            <a:endParaRPr/>
          </a:p>
        </p:txBody>
      </p:sp>
      <p:grpSp>
        <p:nvGrpSpPr>
          <p:cNvPr id="1275" name="Google Shape;1275;p25"/>
          <p:cNvGrpSpPr/>
          <p:nvPr/>
        </p:nvGrpSpPr>
        <p:grpSpPr>
          <a:xfrm>
            <a:off x="5335588" y="826294"/>
            <a:ext cx="403225" cy="429816"/>
            <a:chOff x="3777" y="502"/>
            <a:chExt cx="254" cy="361"/>
          </a:xfrm>
        </p:grpSpPr>
        <p:sp>
          <p:nvSpPr>
            <p:cNvPr id="1276" name="Google Shape;1276;p25"/>
            <p:cNvSpPr/>
            <p:nvPr/>
          </p:nvSpPr>
          <p:spPr>
            <a:xfrm>
              <a:off x="3838" y="502"/>
              <a:ext cx="131" cy="127"/>
            </a:xfrm>
            <a:prstGeom prst="ellipse">
              <a:avLst/>
            </a:pr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77" name="Google Shape;1277;p25"/>
            <p:cNvCxnSpPr/>
            <p:nvPr/>
          </p:nvCxnSpPr>
          <p:spPr>
            <a:xfrm>
              <a:off x="3904" y="630"/>
              <a:ext cx="1" cy="105"/>
            </a:xfrm>
            <a:prstGeom prst="straightConnector1">
              <a:avLst/>
            </a:prstGeom>
            <a:noFill/>
            <a:ln cap="flat" cmpd="sng" w="19050">
              <a:solidFill>
                <a:srgbClr val="000000"/>
              </a:solidFill>
              <a:prstDash val="solid"/>
              <a:round/>
              <a:headEnd len="med" w="med" type="none"/>
              <a:tailEnd len="med" w="med" type="none"/>
            </a:ln>
          </p:spPr>
        </p:cxnSp>
        <p:cxnSp>
          <p:nvCxnSpPr>
            <p:cNvPr id="1278" name="Google Shape;1278;p25"/>
            <p:cNvCxnSpPr/>
            <p:nvPr/>
          </p:nvCxnSpPr>
          <p:spPr>
            <a:xfrm>
              <a:off x="3811" y="660"/>
              <a:ext cx="185" cy="1"/>
            </a:xfrm>
            <a:prstGeom prst="straightConnector1">
              <a:avLst/>
            </a:prstGeom>
            <a:noFill/>
            <a:ln cap="flat" cmpd="sng" w="19050">
              <a:solidFill>
                <a:srgbClr val="000000"/>
              </a:solidFill>
              <a:prstDash val="solid"/>
              <a:round/>
              <a:headEnd len="med" w="med" type="none"/>
              <a:tailEnd len="med" w="med" type="none"/>
            </a:ln>
          </p:spPr>
        </p:cxnSp>
        <p:sp>
          <p:nvSpPr>
            <p:cNvPr id="1279" name="Google Shape;1279;p25"/>
            <p:cNvSpPr/>
            <p:nvPr/>
          </p:nvSpPr>
          <p:spPr>
            <a:xfrm>
              <a:off x="3777" y="735"/>
              <a:ext cx="254" cy="128"/>
            </a:xfrm>
            <a:custGeom>
              <a:rect b="b" l="l" r="r" t="t"/>
              <a:pathLst>
                <a:path extrusionOk="0" h="128" w="254">
                  <a:moveTo>
                    <a:pt x="0" y="128"/>
                  </a:moveTo>
                  <a:lnTo>
                    <a:pt x="128" y="0"/>
                  </a:lnTo>
                  <a:lnTo>
                    <a:pt x="254" y="126"/>
                  </a:lnTo>
                </a:path>
              </a:pathLst>
            </a:custGeom>
            <a:noFill/>
            <a:ln cap="flat" cmpd="sng" w="1905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280" name="Google Shape;1280;p25"/>
          <p:cNvCxnSpPr/>
          <p:nvPr/>
        </p:nvCxnSpPr>
        <p:spPr>
          <a:xfrm flipH="1" rot="10800000">
            <a:off x="2381250" y="2334685"/>
            <a:ext cx="1500" cy="1312200"/>
          </a:xfrm>
          <a:prstGeom prst="straightConnector1">
            <a:avLst/>
          </a:prstGeom>
          <a:noFill/>
          <a:ln cap="flat" cmpd="sng" w="19050">
            <a:solidFill>
              <a:srgbClr val="000000"/>
            </a:solidFill>
            <a:prstDash val="solid"/>
            <a:round/>
            <a:headEnd len="med" w="med" type="none"/>
            <a:tailEnd len="med" w="med" type="none"/>
          </a:ln>
        </p:spPr>
      </p:cxnSp>
      <p:cxnSp>
        <p:nvCxnSpPr>
          <p:cNvPr id="1281" name="Google Shape;1281;p25"/>
          <p:cNvCxnSpPr/>
          <p:nvPr/>
        </p:nvCxnSpPr>
        <p:spPr>
          <a:xfrm flipH="1" rot="10800000">
            <a:off x="2246313" y="2706310"/>
            <a:ext cx="1500" cy="302400"/>
          </a:xfrm>
          <a:prstGeom prst="straightConnector1">
            <a:avLst/>
          </a:prstGeom>
          <a:noFill/>
          <a:ln cap="flat" cmpd="sng" w="19050">
            <a:solidFill>
              <a:srgbClr val="000000"/>
            </a:solidFill>
            <a:prstDash val="solid"/>
            <a:round/>
            <a:headEnd len="med" w="med" type="none"/>
            <a:tailEnd len="med" w="med" type="stealth"/>
          </a:ln>
        </p:spPr>
      </p:cxnSp>
      <p:sp>
        <p:nvSpPr>
          <p:cNvPr id="1282" name="Google Shape;1282;p25"/>
          <p:cNvSpPr/>
          <p:nvPr/>
        </p:nvSpPr>
        <p:spPr>
          <a:xfrm>
            <a:off x="1074738" y="3032522"/>
            <a:ext cx="15294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1: // create schedule( )</a:t>
            </a:r>
            <a:endParaRPr/>
          </a:p>
        </p:txBody>
      </p:sp>
      <p:cxnSp>
        <p:nvCxnSpPr>
          <p:cNvPr id="1283" name="Google Shape;1283;p25"/>
          <p:cNvCxnSpPr/>
          <p:nvPr/>
        </p:nvCxnSpPr>
        <p:spPr>
          <a:xfrm>
            <a:off x="2735263" y="2334816"/>
            <a:ext cx="2446200" cy="1108500"/>
          </a:xfrm>
          <a:prstGeom prst="straightConnector1">
            <a:avLst/>
          </a:prstGeom>
          <a:noFill/>
          <a:ln cap="flat" cmpd="sng" w="19050">
            <a:solidFill>
              <a:srgbClr val="000000"/>
            </a:solidFill>
            <a:prstDash val="solid"/>
            <a:round/>
            <a:headEnd len="med" w="med" type="none"/>
            <a:tailEnd len="med" w="med" type="none"/>
          </a:ln>
        </p:spPr>
      </p:cxnSp>
      <p:cxnSp>
        <p:nvCxnSpPr>
          <p:cNvPr id="1284" name="Google Shape;1284;p25"/>
          <p:cNvCxnSpPr/>
          <p:nvPr/>
        </p:nvCxnSpPr>
        <p:spPr>
          <a:xfrm>
            <a:off x="4038600" y="2799160"/>
            <a:ext cx="354000" cy="159600"/>
          </a:xfrm>
          <a:prstGeom prst="straightConnector1">
            <a:avLst/>
          </a:prstGeom>
          <a:noFill/>
          <a:ln cap="flat" cmpd="sng" w="19050">
            <a:solidFill>
              <a:srgbClr val="000000"/>
            </a:solidFill>
            <a:prstDash val="solid"/>
            <a:round/>
            <a:headEnd len="med" w="med" type="none"/>
            <a:tailEnd len="med" w="med" type="stealth"/>
          </a:ln>
        </p:spPr>
      </p:cxnSp>
      <p:sp>
        <p:nvSpPr>
          <p:cNvPr id="1285" name="Google Shape;1285;p25"/>
          <p:cNvSpPr/>
          <p:nvPr/>
        </p:nvSpPr>
        <p:spPr>
          <a:xfrm>
            <a:off x="3384550" y="2520554"/>
            <a:ext cx="17925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2: // get course offerings( )</a:t>
            </a:r>
            <a:endParaRPr/>
          </a:p>
        </p:txBody>
      </p:sp>
      <p:cxnSp>
        <p:nvCxnSpPr>
          <p:cNvPr id="1286" name="Google Shape;1286;p25"/>
          <p:cNvCxnSpPr/>
          <p:nvPr/>
        </p:nvCxnSpPr>
        <p:spPr>
          <a:xfrm flipH="1" rot="10800000">
            <a:off x="5537200" y="2419388"/>
            <a:ext cx="1500" cy="1023900"/>
          </a:xfrm>
          <a:prstGeom prst="straightConnector1">
            <a:avLst/>
          </a:prstGeom>
          <a:noFill/>
          <a:ln cap="flat" cmpd="sng" w="19050">
            <a:solidFill>
              <a:srgbClr val="000000"/>
            </a:solidFill>
            <a:prstDash val="solid"/>
            <a:round/>
            <a:headEnd len="med" w="med" type="none"/>
            <a:tailEnd len="med" w="med" type="none"/>
          </a:ln>
        </p:spPr>
      </p:cxnSp>
      <p:cxnSp>
        <p:nvCxnSpPr>
          <p:cNvPr id="1287" name="Google Shape;1287;p25"/>
          <p:cNvCxnSpPr/>
          <p:nvPr/>
        </p:nvCxnSpPr>
        <p:spPr>
          <a:xfrm flipH="1" rot="10800000">
            <a:off x="5395913" y="2805141"/>
            <a:ext cx="1500" cy="301200"/>
          </a:xfrm>
          <a:prstGeom prst="straightConnector1">
            <a:avLst/>
          </a:prstGeom>
          <a:noFill/>
          <a:ln cap="flat" cmpd="sng" w="19050">
            <a:solidFill>
              <a:srgbClr val="000000"/>
            </a:solidFill>
            <a:prstDash val="solid"/>
            <a:round/>
            <a:headEnd len="med" w="med" type="none"/>
            <a:tailEnd len="med" w="med" type="stealth"/>
          </a:ln>
        </p:spPr>
      </p:cxnSp>
      <p:sp>
        <p:nvSpPr>
          <p:cNvPr id="1288" name="Google Shape;1288;p25"/>
          <p:cNvSpPr/>
          <p:nvPr/>
        </p:nvSpPr>
        <p:spPr>
          <a:xfrm>
            <a:off x="5651500" y="2922985"/>
            <a:ext cx="25860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3: // get course offerings(forSemester)</a:t>
            </a:r>
            <a:endParaRPr/>
          </a:p>
        </p:txBody>
      </p:sp>
      <p:cxnSp>
        <p:nvCxnSpPr>
          <p:cNvPr id="1289" name="Google Shape;1289;p25"/>
          <p:cNvCxnSpPr/>
          <p:nvPr/>
        </p:nvCxnSpPr>
        <p:spPr>
          <a:xfrm flipH="1" rot="10800000">
            <a:off x="5537200" y="1472700"/>
            <a:ext cx="1500" cy="622800"/>
          </a:xfrm>
          <a:prstGeom prst="straightConnector1">
            <a:avLst/>
          </a:prstGeom>
          <a:noFill/>
          <a:ln cap="flat" cmpd="sng" w="19050">
            <a:solidFill>
              <a:srgbClr val="000000"/>
            </a:solidFill>
            <a:prstDash val="solid"/>
            <a:round/>
            <a:headEnd len="med" w="med" type="none"/>
            <a:tailEnd len="med" w="med" type="none"/>
          </a:ln>
        </p:spPr>
      </p:cxnSp>
      <p:cxnSp>
        <p:nvCxnSpPr>
          <p:cNvPr id="1290" name="Google Shape;1290;p25"/>
          <p:cNvCxnSpPr/>
          <p:nvPr/>
        </p:nvCxnSpPr>
        <p:spPr>
          <a:xfrm flipH="1" rot="10800000">
            <a:off x="5394325" y="1722863"/>
            <a:ext cx="1500" cy="301200"/>
          </a:xfrm>
          <a:prstGeom prst="straightConnector1">
            <a:avLst/>
          </a:prstGeom>
          <a:noFill/>
          <a:ln cap="flat" cmpd="sng" w="19050">
            <a:solidFill>
              <a:srgbClr val="000000"/>
            </a:solidFill>
            <a:prstDash val="solid"/>
            <a:round/>
            <a:headEnd len="med" w="med" type="none"/>
            <a:tailEnd len="med" w="med" type="stealth"/>
          </a:ln>
        </p:spPr>
      </p:cxnSp>
      <p:sp>
        <p:nvSpPr>
          <p:cNvPr id="1291" name="Google Shape;1291;p25"/>
          <p:cNvSpPr/>
          <p:nvPr/>
        </p:nvSpPr>
        <p:spPr>
          <a:xfrm>
            <a:off x="5651500" y="1850231"/>
            <a:ext cx="17925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4: // get course offerings( )</a:t>
            </a:r>
            <a:endParaRPr/>
          </a:p>
        </p:txBody>
      </p:sp>
      <p:grpSp>
        <p:nvGrpSpPr>
          <p:cNvPr id="1292" name="Google Shape;1292;p25"/>
          <p:cNvGrpSpPr/>
          <p:nvPr/>
        </p:nvGrpSpPr>
        <p:grpSpPr>
          <a:xfrm>
            <a:off x="2185988" y="3702844"/>
            <a:ext cx="403225" cy="429816"/>
            <a:chOff x="3777" y="502"/>
            <a:chExt cx="254" cy="361"/>
          </a:xfrm>
        </p:grpSpPr>
        <p:sp>
          <p:nvSpPr>
            <p:cNvPr id="1293" name="Google Shape;1293;p25"/>
            <p:cNvSpPr/>
            <p:nvPr/>
          </p:nvSpPr>
          <p:spPr>
            <a:xfrm>
              <a:off x="3838" y="502"/>
              <a:ext cx="131" cy="127"/>
            </a:xfrm>
            <a:prstGeom prst="ellipse">
              <a:avLst/>
            </a:pr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94" name="Google Shape;1294;p25"/>
            <p:cNvCxnSpPr/>
            <p:nvPr/>
          </p:nvCxnSpPr>
          <p:spPr>
            <a:xfrm>
              <a:off x="3904" y="630"/>
              <a:ext cx="1" cy="105"/>
            </a:xfrm>
            <a:prstGeom prst="straightConnector1">
              <a:avLst/>
            </a:prstGeom>
            <a:noFill/>
            <a:ln cap="flat" cmpd="sng" w="19050">
              <a:solidFill>
                <a:srgbClr val="000000"/>
              </a:solidFill>
              <a:prstDash val="solid"/>
              <a:round/>
              <a:headEnd len="med" w="med" type="none"/>
              <a:tailEnd len="med" w="med" type="none"/>
            </a:ln>
          </p:spPr>
        </p:cxnSp>
        <p:cxnSp>
          <p:nvCxnSpPr>
            <p:cNvPr id="1295" name="Google Shape;1295;p25"/>
            <p:cNvCxnSpPr/>
            <p:nvPr/>
          </p:nvCxnSpPr>
          <p:spPr>
            <a:xfrm>
              <a:off x="3811" y="660"/>
              <a:ext cx="185" cy="1"/>
            </a:xfrm>
            <a:prstGeom prst="straightConnector1">
              <a:avLst/>
            </a:prstGeom>
            <a:noFill/>
            <a:ln cap="flat" cmpd="sng" w="19050">
              <a:solidFill>
                <a:srgbClr val="000000"/>
              </a:solidFill>
              <a:prstDash val="solid"/>
              <a:round/>
              <a:headEnd len="med" w="med" type="none"/>
              <a:tailEnd len="med" w="med" type="none"/>
            </a:ln>
          </p:spPr>
        </p:cxnSp>
        <p:sp>
          <p:nvSpPr>
            <p:cNvPr id="1296" name="Google Shape;1296;p25"/>
            <p:cNvSpPr/>
            <p:nvPr/>
          </p:nvSpPr>
          <p:spPr>
            <a:xfrm>
              <a:off x="3777" y="735"/>
              <a:ext cx="254" cy="128"/>
            </a:xfrm>
            <a:custGeom>
              <a:rect b="b" l="l" r="r" t="t"/>
              <a:pathLst>
                <a:path extrusionOk="0" h="128" w="254">
                  <a:moveTo>
                    <a:pt x="0" y="128"/>
                  </a:moveTo>
                  <a:lnTo>
                    <a:pt x="128" y="0"/>
                  </a:lnTo>
                  <a:lnTo>
                    <a:pt x="254" y="126"/>
                  </a:lnTo>
                </a:path>
              </a:pathLst>
            </a:custGeom>
            <a:noFill/>
            <a:ln cap="flat" cmpd="sng" w="1905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97" name="Google Shape;1297;p25"/>
          <p:cNvSpPr/>
          <p:nvPr/>
        </p:nvSpPr>
        <p:spPr>
          <a:xfrm>
            <a:off x="5033963" y="1189435"/>
            <a:ext cx="1215000" cy="20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u="sng">
                <a:solidFill>
                  <a:srgbClr val="000000"/>
                </a:solidFill>
                <a:latin typeface="Arial"/>
                <a:ea typeface="Arial"/>
                <a:cs typeface="Arial"/>
                <a:sym typeface="Arial"/>
              </a:rPr>
              <a:t> </a:t>
            </a:r>
            <a:r>
              <a:rPr lang="en-US" sz="1200" u="sng">
                <a:solidFill>
                  <a:srgbClr val="000000"/>
                </a:solidFill>
                <a:latin typeface="Arial"/>
                <a:ea typeface="Arial"/>
                <a:cs typeface="Arial"/>
                <a:sym typeface="Arial"/>
              </a:rPr>
              <a:t>: Course Catalog</a:t>
            </a:r>
            <a:endParaRPr sz="1200">
              <a:solidFill>
                <a:srgbClr val="000000"/>
              </a:solidFill>
              <a:latin typeface="Arial"/>
              <a:ea typeface="Arial"/>
              <a:cs typeface="Arial"/>
              <a:sym typeface="Arial"/>
            </a:endParaRPr>
          </a:p>
        </p:txBody>
      </p:sp>
      <p:sp>
        <p:nvSpPr>
          <p:cNvPr id="1298" name="Google Shape;1298;p25"/>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26"/>
          <p:cNvSpPr txBox="1"/>
          <p:nvPr/>
        </p:nvSpPr>
        <p:spPr>
          <a:xfrm>
            <a:off x="2362200" y="2914650"/>
            <a:ext cx="1784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FF"/>
                </a:solidFill>
                <a:latin typeface="Arial"/>
                <a:ea typeface="Arial"/>
                <a:cs typeface="Arial"/>
                <a:sym typeface="Arial"/>
              </a:rPr>
              <a:t>Alternate Flow 4</a:t>
            </a:r>
            <a:endParaRPr/>
          </a:p>
        </p:txBody>
      </p:sp>
      <p:sp>
        <p:nvSpPr>
          <p:cNvPr id="1307" name="Google Shape;1307;p26"/>
          <p:cNvSpPr txBox="1"/>
          <p:nvPr/>
        </p:nvSpPr>
        <p:spPr>
          <a:xfrm>
            <a:off x="4635500" y="2914650"/>
            <a:ext cx="1784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FF"/>
                </a:solidFill>
                <a:latin typeface="Arial"/>
                <a:ea typeface="Arial"/>
                <a:cs typeface="Arial"/>
                <a:sym typeface="Arial"/>
              </a:rPr>
              <a:t>Alternate Flow 5</a:t>
            </a:r>
            <a:endParaRPr/>
          </a:p>
        </p:txBody>
      </p:sp>
      <p:sp>
        <p:nvSpPr>
          <p:cNvPr id="1308" name="Google Shape;1308;p26"/>
          <p:cNvSpPr txBox="1"/>
          <p:nvPr/>
        </p:nvSpPr>
        <p:spPr>
          <a:xfrm>
            <a:off x="6921500" y="2914650"/>
            <a:ext cx="1900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FF"/>
                </a:solidFill>
                <a:latin typeface="Arial"/>
                <a:ea typeface="Arial"/>
                <a:cs typeface="Arial"/>
                <a:sym typeface="Arial"/>
              </a:rPr>
              <a:t>Alternate Flow n</a:t>
            </a:r>
            <a:endParaRPr/>
          </a:p>
        </p:txBody>
      </p:sp>
      <p:sp>
        <p:nvSpPr>
          <p:cNvPr id="1309" name="Google Shape;1309;p26"/>
          <p:cNvSpPr txBox="1"/>
          <p:nvPr/>
        </p:nvSpPr>
        <p:spPr>
          <a:xfrm>
            <a:off x="2349500" y="1257300"/>
            <a:ext cx="1900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FF"/>
                </a:solidFill>
                <a:latin typeface="Arial"/>
                <a:ea typeface="Arial"/>
                <a:cs typeface="Arial"/>
                <a:sym typeface="Arial"/>
              </a:rPr>
              <a:t>Alternate Flow 1</a:t>
            </a:r>
            <a:endParaRPr/>
          </a:p>
        </p:txBody>
      </p:sp>
      <p:sp>
        <p:nvSpPr>
          <p:cNvPr id="1310" name="Google Shape;1310;p26"/>
          <p:cNvSpPr txBox="1"/>
          <p:nvPr/>
        </p:nvSpPr>
        <p:spPr>
          <a:xfrm>
            <a:off x="4660900" y="1257300"/>
            <a:ext cx="1900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FF"/>
                </a:solidFill>
                <a:latin typeface="Arial"/>
                <a:ea typeface="Arial"/>
                <a:cs typeface="Arial"/>
                <a:sym typeface="Arial"/>
              </a:rPr>
              <a:t>Alternate Flow 2</a:t>
            </a:r>
            <a:endParaRPr/>
          </a:p>
        </p:txBody>
      </p:sp>
      <p:sp>
        <p:nvSpPr>
          <p:cNvPr id="1311" name="Google Shape;1311;p26"/>
          <p:cNvSpPr txBox="1"/>
          <p:nvPr/>
        </p:nvSpPr>
        <p:spPr>
          <a:xfrm>
            <a:off x="6934200" y="1257300"/>
            <a:ext cx="19002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FF"/>
                </a:solidFill>
                <a:latin typeface="Arial"/>
                <a:ea typeface="Arial"/>
                <a:cs typeface="Arial"/>
                <a:sym typeface="Arial"/>
              </a:rPr>
              <a:t>Alternate Flow 3</a:t>
            </a:r>
            <a:endParaRPr/>
          </a:p>
        </p:txBody>
      </p:sp>
      <p:sp>
        <p:nvSpPr>
          <p:cNvPr id="1312" name="Google Shape;1312;p26"/>
          <p:cNvSpPr/>
          <p:nvPr/>
        </p:nvSpPr>
        <p:spPr>
          <a:xfrm>
            <a:off x="495300" y="2047875"/>
            <a:ext cx="444500" cy="1209676"/>
          </a:xfrm>
          <a:custGeom>
            <a:rect b="b" l="l" r="r" t="t"/>
            <a:pathLst>
              <a:path extrusionOk="0" h="1008" w="280">
                <a:moveTo>
                  <a:pt x="280" y="0"/>
                </a:moveTo>
                <a:cubicBezTo>
                  <a:pt x="180" y="92"/>
                  <a:pt x="80" y="184"/>
                  <a:pt x="40" y="288"/>
                </a:cubicBezTo>
                <a:cubicBezTo>
                  <a:pt x="0" y="392"/>
                  <a:pt x="0" y="504"/>
                  <a:pt x="40" y="624"/>
                </a:cubicBezTo>
                <a:cubicBezTo>
                  <a:pt x="80" y="744"/>
                  <a:pt x="240" y="944"/>
                  <a:pt x="280" y="1008"/>
                </a:cubicBezTo>
              </a:path>
            </a:pathLst>
          </a:custGeom>
          <a:noFill/>
          <a:ln cap="flat" cmpd="sng" w="28575">
            <a:solidFill>
              <a:schemeClr val="dk2"/>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3" name="Google Shape;1313;p26"/>
          <p:cNvSpPr/>
          <p:nvPr/>
        </p:nvSpPr>
        <p:spPr>
          <a:xfrm>
            <a:off x="939800" y="3028950"/>
            <a:ext cx="228600" cy="628651"/>
          </a:xfrm>
          <a:custGeom>
            <a:rect b="b" l="l" r="r" t="t"/>
            <a:pathLst>
              <a:path extrusionOk="0" h="912" w="144">
                <a:moveTo>
                  <a:pt x="0" y="0"/>
                </a:moveTo>
                <a:cubicBezTo>
                  <a:pt x="72" y="140"/>
                  <a:pt x="144" y="280"/>
                  <a:pt x="144" y="432"/>
                </a:cubicBezTo>
                <a:cubicBezTo>
                  <a:pt x="144" y="584"/>
                  <a:pt x="72" y="748"/>
                  <a:pt x="0" y="912"/>
                </a:cubicBezTo>
              </a:path>
            </a:pathLst>
          </a:custGeom>
          <a:noFill/>
          <a:ln cap="flat" cmpd="sng" w="28575">
            <a:solidFill>
              <a:schemeClr val="accent2"/>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4" name="Google Shape;1314;p26"/>
          <p:cNvSpPr/>
          <p:nvPr/>
        </p:nvSpPr>
        <p:spPr>
          <a:xfrm>
            <a:off x="939800" y="1771650"/>
            <a:ext cx="457200" cy="628650"/>
          </a:xfrm>
          <a:custGeom>
            <a:rect b="b" l="l" r="r" t="t"/>
            <a:pathLst>
              <a:path extrusionOk="0" h="528" w="288">
                <a:moveTo>
                  <a:pt x="0" y="528"/>
                </a:moveTo>
                <a:cubicBezTo>
                  <a:pt x="144" y="404"/>
                  <a:pt x="288" y="280"/>
                  <a:pt x="288" y="192"/>
                </a:cubicBezTo>
                <a:cubicBezTo>
                  <a:pt x="288" y="104"/>
                  <a:pt x="48" y="32"/>
                  <a:pt x="0" y="0"/>
                </a:cubicBezTo>
              </a:path>
            </a:pathLst>
          </a:custGeom>
          <a:noFill/>
          <a:ln cap="flat" cmpd="sng" w="28575">
            <a:solidFill>
              <a:srgbClr val="00CCF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5" name="Google Shape;1315;p26"/>
          <p:cNvSpPr/>
          <p:nvPr/>
        </p:nvSpPr>
        <p:spPr>
          <a:xfrm>
            <a:off x="939800" y="2686050"/>
            <a:ext cx="635000" cy="685800"/>
          </a:xfrm>
          <a:custGeom>
            <a:rect b="b" l="l" r="r" t="t"/>
            <a:pathLst>
              <a:path extrusionOk="0" h="576" w="400">
                <a:moveTo>
                  <a:pt x="0" y="0"/>
                </a:moveTo>
                <a:cubicBezTo>
                  <a:pt x="136" y="48"/>
                  <a:pt x="272" y="96"/>
                  <a:pt x="336" y="192"/>
                </a:cubicBezTo>
                <a:cubicBezTo>
                  <a:pt x="400" y="288"/>
                  <a:pt x="376" y="512"/>
                  <a:pt x="384" y="576"/>
                </a:cubicBezTo>
              </a:path>
            </a:pathLst>
          </a:custGeom>
          <a:noFill/>
          <a:ln cap="flat" cmpd="sng" w="28575">
            <a:solidFill>
              <a:schemeClr val="dk1"/>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6" name="Google Shape;1316;p26"/>
          <p:cNvSpPr/>
          <p:nvPr/>
        </p:nvSpPr>
        <p:spPr>
          <a:xfrm>
            <a:off x="863600" y="4171950"/>
            <a:ext cx="152400" cy="114300"/>
          </a:xfrm>
          <a:prstGeom prst="ellipse">
            <a:avLst/>
          </a:prstGeom>
          <a:solidFill>
            <a:schemeClr val="hlink"/>
          </a:solid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7" name="Google Shape;1317;p26"/>
          <p:cNvSpPr/>
          <p:nvPr/>
        </p:nvSpPr>
        <p:spPr>
          <a:xfrm>
            <a:off x="863600" y="1428750"/>
            <a:ext cx="152400" cy="114300"/>
          </a:xfrm>
          <a:prstGeom prst="ellipse">
            <a:avLst/>
          </a:prstGeom>
          <a:solidFill>
            <a:schemeClr val="hlink"/>
          </a:solid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8" name="Google Shape;1318;p26"/>
          <p:cNvSpPr/>
          <p:nvPr/>
        </p:nvSpPr>
        <p:spPr>
          <a:xfrm>
            <a:off x="1473200" y="3371850"/>
            <a:ext cx="152400" cy="114300"/>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hlink"/>
              </a:solidFill>
              <a:latin typeface="Arial"/>
              <a:ea typeface="Arial"/>
              <a:cs typeface="Arial"/>
              <a:sym typeface="Arial"/>
            </a:endParaRPr>
          </a:p>
        </p:txBody>
      </p:sp>
      <p:sp>
        <p:nvSpPr>
          <p:cNvPr id="1319" name="Google Shape;1319;p26"/>
          <p:cNvSpPr txBox="1"/>
          <p:nvPr/>
        </p:nvSpPr>
        <p:spPr>
          <a:xfrm>
            <a:off x="1168400" y="2228850"/>
            <a:ext cx="603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CCFF"/>
                </a:solidFill>
                <a:latin typeface="Arial"/>
                <a:ea typeface="Arial"/>
                <a:cs typeface="Arial"/>
                <a:sym typeface="Arial"/>
              </a:rPr>
              <a:t>AF1</a:t>
            </a:r>
            <a:endParaRPr/>
          </a:p>
        </p:txBody>
      </p:sp>
      <p:sp>
        <p:nvSpPr>
          <p:cNvPr id="1320" name="Google Shape;1320;p26"/>
          <p:cNvSpPr txBox="1"/>
          <p:nvPr/>
        </p:nvSpPr>
        <p:spPr>
          <a:xfrm>
            <a:off x="1397000" y="2628900"/>
            <a:ext cx="603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AF2</a:t>
            </a:r>
            <a:endParaRPr/>
          </a:p>
        </p:txBody>
      </p:sp>
      <p:sp>
        <p:nvSpPr>
          <p:cNvPr id="1321" name="Google Shape;1321;p26"/>
          <p:cNvSpPr txBox="1"/>
          <p:nvPr/>
        </p:nvSpPr>
        <p:spPr>
          <a:xfrm>
            <a:off x="177800" y="1943100"/>
            <a:ext cx="603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AF3</a:t>
            </a:r>
            <a:endParaRPr/>
          </a:p>
        </p:txBody>
      </p:sp>
      <p:sp>
        <p:nvSpPr>
          <p:cNvPr id="1322" name="Google Shape;1322;p26"/>
          <p:cNvSpPr txBox="1"/>
          <p:nvPr/>
        </p:nvSpPr>
        <p:spPr>
          <a:xfrm>
            <a:off x="330200" y="1085850"/>
            <a:ext cx="1289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Basic Flow</a:t>
            </a:r>
            <a:endParaRPr/>
          </a:p>
        </p:txBody>
      </p:sp>
      <p:cxnSp>
        <p:nvCxnSpPr>
          <p:cNvPr id="1323" name="Google Shape;1323;p26"/>
          <p:cNvCxnSpPr/>
          <p:nvPr/>
        </p:nvCxnSpPr>
        <p:spPr>
          <a:xfrm>
            <a:off x="939800" y="1543050"/>
            <a:ext cx="0" cy="2628900"/>
          </a:xfrm>
          <a:prstGeom prst="straightConnector1">
            <a:avLst/>
          </a:prstGeom>
          <a:noFill/>
          <a:ln cap="flat" cmpd="sng" w="57150">
            <a:solidFill>
              <a:schemeClr val="hlink"/>
            </a:solidFill>
            <a:prstDash val="solid"/>
            <a:round/>
            <a:headEnd len="med" w="med" type="none"/>
            <a:tailEnd len="med" w="med" type="triangle"/>
          </a:ln>
        </p:spPr>
      </p:cxnSp>
      <p:sp>
        <p:nvSpPr>
          <p:cNvPr id="1324" name="Google Shape;1324;p26"/>
          <p:cNvSpPr/>
          <p:nvPr/>
        </p:nvSpPr>
        <p:spPr>
          <a:xfrm>
            <a:off x="4521200" y="1543050"/>
            <a:ext cx="1900200" cy="100740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325" name="Google Shape;1325;p26"/>
          <p:cNvGrpSpPr/>
          <p:nvPr/>
        </p:nvGrpSpPr>
        <p:grpSpPr>
          <a:xfrm>
            <a:off x="6807200" y="3200400"/>
            <a:ext cx="1900238" cy="1007269"/>
            <a:chOff x="1345" y="1056"/>
            <a:chExt cx="1197" cy="846"/>
          </a:xfrm>
        </p:grpSpPr>
        <p:sp>
          <p:nvSpPr>
            <p:cNvPr id="1326" name="Google Shape;1326;p26"/>
            <p:cNvSpPr/>
            <p:nvPr/>
          </p:nvSpPr>
          <p:spPr>
            <a:xfrm>
              <a:off x="1345" y="1056"/>
              <a:ext cx="1197" cy="84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327" name="Google Shape;1327;p26"/>
            <p:cNvGrpSpPr/>
            <p:nvPr/>
          </p:nvGrpSpPr>
          <p:grpSpPr>
            <a:xfrm>
              <a:off x="1368" y="1119"/>
              <a:ext cx="1152" cy="720"/>
              <a:chOff x="490" y="960"/>
              <a:chExt cx="4262" cy="2688"/>
            </a:xfrm>
          </p:grpSpPr>
          <p:grpSp>
            <p:nvGrpSpPr>
              <p:cNvPr id="1328" name="Google Shape;1328;p26"/>
              <p:cNvGrpSpPr/>
              <p:nvPr/>
            </p:nvGrpSpPr>
            <p:grpSpPr>
              <a:xfrm>
                <a:off x="490" y="960"/>
                <a:ext cx="472" cy="595"/>
                <a:chOff x="7654" y="3380"/>
                <a:chExt cx="554" cy="754"/>
              </a:xfrm>
            </p:grpSpPr>
            <p:sp>
              <p:nvSpPr>
                <p:cNvPr id="1329" name="Google Shape;1329;p26"/>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30" name="Google Shape;1330;p26"/>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1331" name="Google Shape;1331;p26"/>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1332" name="Google Shape;1332;p26"/>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33" name="Google Shape;1333;p26"/>
              <p:cNvSpPr/>
              <p:nvPr/>
            </p:nvSpPr>
            <p:spPr>
              <a:xfrm>
                <a:off x="1440" y="1200"/>
                <a:ext cx="1008" cy="432"/>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4" name="Google Shape;1334;p26"/>
              <p:cNvSpPr/>
              <p:nvPr/>
            </p:nvSpPr>
            <p:spPr>
              <a:xfrm>
                <a:off x="2592" y="1200"/>
                <a:ext cx="1008" cy="45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5" name="Google Shape;1335;p26"/>
              <p:cNvSpPr/>
              <p:nvPr/>
            </p:nvSpPr>
            <p:spPr>
              <a:xfrm>
                <a:off x="3744" y="1200"/>
                <a:ext cx="1008" cy="455"/>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36" name="Google Shape;1336;p26"/>
              <p:cNvCxnSpPr/>
              <p:nvPr/>
            </p:nvCxnSpPr>
            <p:spPr>
              <a:xfrm>
                <a:off x="730" y="1872"/>
                <a:ext cx="0" cy="1776"/>
              </a:xfrm>
              <a:prstGeom prst="straightConnector1">
                <a:avLst/>
              </a:prstGeom>
              <a:noFill/>
              <a:ln cap="flat" cmpd="sng" w="28575">
                <a:solidFill>
                  <a:schemeClr val="dk1"/>
                </a:solidFill>
                <a:prstDash val="dash"/>
                <a:round/>
                <a:headEnd len="sm" w="sm" type="none"/>
                <a:tailEnd len="sm" w="sm" type="none"/>
              </a:ln>
            </p:spPr>
          </p:cxnSp>
          <p:cxnSp>
            <p:nvCxnSpPr>
              <p:cNvPr id="1337" name="Google Shape;1337;p26"/>
              <p:cNvCxnSpPr/>
              <p:nvPr/>
            </p:nvCxnSpPr>
            <p:spPr>
              <a:xfrm>
                <a:off x="1920" y="1872"/>
                <a:ext cx="0" cy="1776"/>
              </a:xfrm>
              <a:prstGeom prst="straightConnector1">
                <a:avLst/>
              </a:prstGeom>
              <a:noFill/>
              <a:ln cap="flat" cmpd="sng" w="28575">
                <a:solidFill>
                  <a:schemeClr val="dk1"/>
                </a:solidFill>
                <a:prstDash val="dash"/>
                <a:round/>
                <a:headEnd len="sm" w="sm" type="none"/>
                <a:tailEnd len="sm" w="sm" type="none"/>
              </a:ln>
            </p:spPr>
          </p:cxnSp>
          <p:cxnSp>
            <p:nvCxnSpPr>
              <p:cNvPr id="1338" name="Google Shape;1338;p26"/>
              <p:cNvCxnSpPr/>
              <p:nvPr/>
            </p:nvCxnSpPr>
            <p:spPr>
              <a:xfrm>
                <a:off x="3072" y="1872"/>
                <a:ext cx="0" cy="1776"/>
              </a:xfrm>
              <a:prstGeom prst="straightConnector1">
                <a:avLst/>
              </a:prstGeom>
              <a:noFill/>
              <a:ln cap="flat" cmpd="sng" w="28575">
                <a:solidFill>
                  <a:schemeClr val="dk1"/>
                </a:solidFill>
                <a:prstDash val="dash"/>
                <a:round/>
                <a:headEnd len="sm" w="sm" type="none"/>
                <a:tailEnd len="sm" w="sm" type="none"/>
              </a:ln>
            </p:spPr>
          </p:cxnSp>
          <p:cxnSp>
            <p:nvCxnSpPr>
              <p:cNvPr id="1339" name="Google Shape;1339;p26"/>
              <p:cNvCxnSpPr/>
              <p:nvPr/>
            </p:nvCxnSpPr>
            <p:spPr>
              <a:xfrm>
                <a:off x="4224" y="1872"/>
                <a:ext cx="0" cy="1776"/>
              </a:xfrm>
              <a:prstGeom prst="straightConnector1">
                <a:avLst/>
              </a:prstGeom>
              <a:noFill/>
              <a:ln cap="flat" cmpd="sng" w="28575">
                <a:solidFill>
                  <a:schemeClr val="dk1"/>
                </a:solidFill>
                <a:prstDash val="dash"/>
                <a:round/>
                <a:headEnd len="sm" w="sm" type="none"/>
                <a:tailEnd len="sm" w="sm" type="none"/>
              </a:ln>
            </p:spPr>
          </p:cxnSp>
          <p:cxnSp>
            <p:nvCxnSpPr>
              <p:cNvPr id="1340" name="Google Shape;1340;p26"/>
              <p:cNvCxnSpPr/>
              <p:nvPr/>
            </p:nvCxnSpPr>
            <p:spPr>
              <a:xfrm>
                <a:off x="720" y="2064"/>
                <a:ext cx="1200" cy="0"/>
              </a:xfrm>
              <a:prstGeom prst="straightConnector1">
                <a:avLst/>
              </a:prstGeom>
              <a:noFill/>
              <a:ln cap="flat" cmpd="sng" w="28575">
                <a:solidFill>
                  <a:schemeClr val="dk1"/>
                </a:solidFill>
                <a:prstDash val="solid"/>
                <a:round/>
                <a:headEnd len="sm" w="sm" type="none"/>
                <a:tailEnd len="med" w="med" type="stealth"/>
              </a:ln>
            </p:spPr>
          </p:cxnSp>
          <p:cxnSp>
            <p:nvCxnSpPr>
              <p:cNvPr id="1341" name="Google Shape;1341;p26"/>
              <p:cNvCxnSpPr/>
              <p:nvPr/>
            </p:nvCxnSpPr>
            <p:spPr>
              <a:xfrm>
                <a:off x="1920" y="2304"/>
                <a:ext cx="1152" cy="0"/>
              </a:xfrm>
              <a:prstGeom prst="straightConnector1">
                <a:avLst/>
              </a:prstGeom>
              <a:noFill/>
              <a:ln cap="flat" cmpd="sng" w="28575">
                <a:solidFill>
                  <a:schemeClr val="dk1"/>
                </a:solidFill>
                <a:prstDash val="solid"/>
                <a:round/>
                <a:headEnd len="sm" w="sm" type="none"/>
                <a:tailEnd len="med" w="med" type="stealth"/>
              </a:ln>
            </p:spPr>
          </p:cxnSp>
          <p:cxnSp>
            <p:nvCxnSpPr>
              <p:cNvPr id="1342" name="Google Shape;1342;p26"/>
              <p:cNvCxnSpPr/>
              <p:nvPr/>
            </p:nvCxnSpPr>
            <p:spPr>
              <a:xfrm>
                <a:off x="1920" y="2688"/>
                <a:ext cx="1152" cy="0"/>
              </a:xfrm>
              <a:prstGeom prst="straightConnector1">
                <a:avLst/>
              </a:prstGeom>
              <a:noFill/>
              <a:ln cap="flat" cmpd="sng" w="28575">
                <a:solidFill>
                  <a:schemeClr val="dk1"/>
                </a:solidFill>
                <a:prstDash val="solid"/>
                <a:round/>
                <a:headEnd len="sm" w="sm" type="none"/>
                <a:tailEnd len="med" w="med" type="stealth"/>
              </a:ln>
            </p:spPr>
          </p:cxnSp>
          <p:cxnSp>
            <p:nvCxnSpPr>
              <p:cNvPr id="1343" name="Google Shape;1343;p26"/>
              <p:cNvCxnSpPr/>
              <p:nvPr/>
            </p:nvCxnSpPr>
            <p:spPr>
              <a:xfrm>
                <a:off x="1920" y="3072"/>
                <a:ext cx="2256" cy="0"/>
              </a:xfrm>
              <a:prstGeom prst="straightConnector1">
                <a:avLst/>
              </a:prstGeom>
              <a:noFill/>
              <a:ln cap="flat" cmpd="sng" w="28575">
                <a:solidFill>
                  <a:schemeClr val="dk1"/>
                </a:solidFill>
                <a:prstDash val="solid"/>
                <a:round/>
                <a:headEnd len="sm" w="sm" type="none"/>
                <a:tailEnd len="med" w="med" type="stealth"/>
              </a:ln>
            </p:spPr>
          </p:cxnSp>
        </p:grpSp>
      </p:grpSp>
      <p:grpSp>
        <p:nvGrpSpPr>
          <p:cNvPr id="1344" name="Google Shape;1344;p26"/>
          <p:cNvGrpSpPr/>
          <p:nvPr/>
        </p:nvGrpSpPr>
        <p:grpSpPr>
          <a:xfrm>
            <a:off x="2235200" y="1543050"/>
            <a:ext cx="1900238" cy="1007269"/>
            <a:chOff x="1296" y="1056"/>
            <a:chExt cx="1197" cy="846"/>
          </a:xfrm>
        </p:grpSpPr>
        <p:cxnSp>
          <p:nvCxnSpPr>
            <p:cNvPr id="1345" name="Google Shape;1345;p26"/>
            <p:cNvCxnSpPr/>
            <p:nvPr/>
          </p:nvCxnSpPr>
          <p:spPr>
            <a:xfrm>
              <a:off x="1632" y="1440"/>
              <a:ext cx="181" cy="165"/>
            </a:xfrm>
            <a:prstGeom prst="straightConnector1">
              <a:avLst/>
            </a:prstGeom>
            <a:noFill/>
            <a:ln cap="flat" cmpd="sng" w="28575">
              <a:solidFill>
                <a:schemeClr val="dk1"/>
              </a:solidFill>
              <a:prstDash val="solid"/>
              <a:round/>
              <a:headEnd len="sm" w="sm" type="none"/>
              <a:tailEnd len="sm" w="sm" type="none"/>
            </a:ln>
          </p:spPr>
        </p:cxnSp>
        <p:cxnSp>
          <p:nvCxnSpPr>
            <p:cNvPr id="1346" name="Google Shape;1346;p26"/>
            <p:cNvCxnSpPr/>
            <p:nvPr/>
          </p:nvCxnSpPr>
          <p:spPr>
            <a:xfrm flipH="1" rot="10800000">
              <a:off x="1632" y="1298"/>
              <a:ext cx="299" cy="46"/>
            </a:xfrm>
            <a:prstGeom prst="straightConnector1">
              <a:avLst/>
            </a:prstGeom>
            <a:noFill/>
            <a:ln cap="flat" cmpd="sng" w="28575">
              <a:solidFill>
                <a:schemeClr val="dk1"/>
              </a:solidFill>
              <a:prstDash val="solid"/>
              <a:round/>
              <a:headEnd len="sm" w="sm" type="none"/>
              <a:tailEnd len="sm" w="sm" type="none"/>
            </a:ln>
          </p:spPr>
        </p:cxnSp>
        <p:cxnSp>
          <p:nvCxnSpPr>
            <p:cNvPr id="1347" name="Google Shape;1347;p26"/>
            <p:cNvCxnSpPr/>
            <p:nvPr/>
          </p:nvCxnSpPr>
          <p:spPr>
            <a:xfrm flipH="1" rot="10800000">
              <a:off x="1813" y="1369"/>
              <a:ext cx="185" cy="236"/>
            </a:xfrm>
            <a:prstGeom prst="straightConnector1">
              <a:avLst/>
            </a:prstGeom>
            <a:noFill/>
            <a:ln cap="flat" cmpd="sng" w="28575">
              <a:solidFill>
                <a:schemeClr val="dk1"/>
              </a:solidFill>
              <a:prstDash val="solid"/>
              <a:round/>
              <a:headEnd len="sm" w="sm" type="none"/>
              <a:tailEnd len="sm" w="sm" type="none"/>
            </a:ln>
          </p:spPr>
        </p:cxnSp>
        <p:cxnSp>
          <p:nvCxnSpPr>
            <p:cNvPr id="1348" name="Google Shape;1348;p26"/>
            <p:cNvCxnSpPr/>
            <p:nvPr/>
          </p:nvCxnSpPr>
          <p:spPr>
            <a:xfrm flipH="1" rot="10800000">
              <a:off x="1968" y="1605"/>
              <a:ext cx="187" cy="171"/>
            </a:xfrm>
            <a:prstGeom prst="straightConnector1">
              <a:avLst/>
            </a:prstGeom>
            <a:noFill/>
            <a:ln cap="flat" cmpd="sng" w="28575">
              <a:solidFill>
                <a:schemeClr val="dk1"/>
              </a:solidFill>
              <a:prstDash val="solid"/>
              <a:round/>
              <a:headEnd len="sm" w="sm" type="none"/>
              <a:tailEnd len="sm" w="sm" type="none"/>
            </a:ln>
          </p:spPr>
        </p:cxnSp>
        <p:sp>
          <p:nvSpPr>
            <p:cNvPr id="1349" name="Google Shape;1349;p26"/>
            <p:cNvSpPr/>
            <p:nvPr/>
          </p:nvSpPr>
          <p:spPr>
            <a:xfrm>
              <a:off x="1296" y="1056"/>
              <a:ext cx="1197" cy="84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0" name="Google Shape;1350;p26"/>
            <p:cNvSpPr/>
            <p:nvPr/>
          </p:nvSpPr>
          <p:spPr>
            <a:xfrm>
              <a:off x="1344" y="1296"/>
              <a:ext cx="288" cy="240"/>
            </a:xfrm>
            <a:prstGeom prst="rect">
              <a:avLst/>
            </a:prstGeom>
            <a:solidFill>
              <a:srgbClr val="000099"/>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1" name="Google Shape;1351;p26"/>
            <p:cNvSpPr/>
            <p:nvPr/>
          </p:nvSpPr>
          <p:spPr>
            <a:xfrm>
              <a:off x="1680" y="1605"/>
              <a:ext cx="288" cy="240"/>
            </a:xfrm>
            <a:prstGeom prst="rect">
              <a:avLst/>
            </a:prstGeom>
            <a:solidFill>
              <a:srgbClr val="000099"/>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2" name="Google Shape;1352;p26"/>
            <p:cNvSpPr/>
            <p:nvPr/>
          </p:nvSpPr>
          <p:spPr>
            <a:xfrm>
              <a:off x="2155" y="1440"/>
              <a:ext cx="288" cy="240"/>
            </a:xfrm>
            <a:prstGeom prst="rect">
              <a:avLst/>
            </a:prstGeom>
            <a:solidFill>
              <a:srgbClr val="000099"/>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3" name="Google Shape;1353;p26"/>
            <p:cNvSpPr/>
            <p:nvPr/>
          </p:nvSpPr>
          <p:spPr>
            <a:xfrm>
              <a:off x="1931" y="1129"/>
              <a:ext cx="288" cy="240"/>
            </a:xfrm>
            <a:prstGeom prst="rect">
              <a:avLst/>
            </a:prstGeom>
            <a:solidFill>
              <a:srgbClr val="000099"/>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54" name="Google Shape;1354;p26"/>
          <p:cNvGrpSpPr/>
          <p:nvPr/>
        </p:nvGrpSpPr>
        <p:grpSpPr>
          <a:xfrm>
            <a:off x="2235200" y="3200400"/>
            <a:ext cx="1900238" cy="1007269"/>
            <a:chOff x="1296" y="2448"/>
            <a:chExt cx="1197" cy="846"/>
          </a:xfrm>
        </p:grpSpPr>
        <p:cxnSp>
          <p:nvCxnSpPr>
            <p:cNvPr id="1355" name="Google Shape;1355;p26"/>
            <p:cNvCxnSpPr/>
            <p:nvPr/>
          </p:nvCxnSpPr>
          <p:spPr>
            <a:xfrm>
              <a:off x="1632" y="2832"/>
              <a:ext cx="181" cy="165"/>
            </a:xfrm>
            <a:prstGeom prst="straightConnector1">
              <a:avLst/>
            </a:prstGeom>
            <a:noFill/>
            <a:ln cap="flat" cmpd="sng" w="28575">
              <a:solidFill>
                <a:schemeClr val="dk1"/>
              </a:solidFill>
              <a:prstDash val="solid"/>
              <a:round/>
              <a:headEnd len="sm" w="sm" type="none"/>
              <a:tailEnd len="sm" w="sm" type="none"/>
            </a:ln>
          </p:spPr>
        </p:cxnSp>
        <p:cxnSp>
          <p:nvCxnSpPr>
            <p:cNvPr id="1356" name="Google Shape;1356;p26"/>
            <p:cNvCxnSpPr/>
            <p:nvPr/>
          </p:nvCxnSpPr>
          <p:spPr>
            <a:xfrm flipH="1" rot="10800000">
              <a:off x="1632" y="2690"/>
              <a:ext cx="299" cy="46"/>
            </a:xfrm>
            <a:prstGeom prst="straightConnector1">
              <a:avLst/>
            </a:prstGeom>
            <a:noFill/>
            <a:ln cap="flat" cmpd="sng" w="28575">
              <a:solidFill>
                <a:schemeClr val="dk1"/>
              </a:solidFill>
              <a:prstDash val="solid"/>
              <a:round/>
              <a:headEnd len="sm" w="sm" type="none"/>
              <a:tailEnd len="sm" w="sm" type="none"/>
            </a:ln>
          </p:spPr>
        </p:cxnSp>
        <p:cxnSp>
          <p:nvCxnSpPr>
            <p:cNvPr id="1357" name="Google Shape;1357;p26"/>
            <p:cNvCxnSpPr/>
            <p:nvPr/>
          </p:nvCxnSpPr>
          <p:spPr>
            <a:xfrm flipH="1" rot="10800000">
              <a:off x="1813" y="2761"/>
              <a:ext cx="185" cy="236"/>
            </a:xfrm>
            <a:prstGeom prst="straightConnector1">
              <a:avLst/>
            </a:prstGeom>
            <a:noFill/>
            <a:ln cap="flat" cmpd="sng" w="28575">
              <a:solidFill>
                <a:schemeClr val="dk1"/>
              </a:solidFill>
              <a:prstDash val="solid"/>
              <a:round/>
              <a:headEnd len="sm" w="sm" type="none"/>
              <a:tailEnd len="sm" w="sm" type="none"/>
            </a:ln>
          </p:spPr>
        </p:cxnSp>
        <p:cxnSp>
          <p:nvCxnSpPr>
            <p:cNvPr id="1358" name="Google Shape;1358;p26"/>
            <p:cNvCxnSpPr/>
            <p:nvPr/>
          </p:nvCxnSpPr>
          <p:spPr>
            <a:xfrm flipH="1" rot="10800000">
              <a:off x="1968" y="2997"/>
              <a:ext cx="187" cy="171"/>
            </a:xfrm>
            <a:prstGeom prst="straightConnector1">
              <a:avLst/>
            </a:prstGeom>
            <a:noFill/>
            <a:ln cap="flat" cmpd="sng" w="28575">
              <a:solidFill>
                <a:schemeClr val="dk1"/>
              </a:solidFill>
              <a:prstDash val="solid"/>
              <a:round/>
              <a:headEnd len="sm" w="sm" type="none"/>
              <a:tailEnd len="sm" w="sm" type="none"/>
            </a:ln>
          </p:spPr>
        </p:cxnSp>
        <p:sp>
          <p:nvSpPr>
            <p:cNvPr id="1359" name="Google Shape;1359;p26"/>
            <p:cNvSpPr/>
            <p:nvPr/>
          </p:nvSpPr>
          <p:spPr>
            <a:xfrm>
              <a:off x="1296" y="2448"/>
              <a:ext cx="1197" cy="84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0" name="Google Shape;1360;p26"/>
            <p:cNvSpPr/>
            <p:nvPr/>
          </p:nvSpPr>
          <p:spPr>
            <a:xfrm>
              <a:off x="1344" y="2688"/>
              <a:ext cx="288" cy="240"/>
            </a:xfrm>
            <a:prstGeom prst="rect">
              <a:avLst/>
            </a:prstGeom>
            <a:solidFill>
              <a:schemeClr val="accent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1" name="Google Shape;1361;p26"/>
            <p:cNvSpPr/>
            <p:nvPr/>
          </p:nvSpPr>
          <p:spPr>
            <a:xfrm>
              <a:off x="1680" y="2997"/>
              <a:ext cx="288" cy="240"/>
            </a:xfrm>
            <a:prstGeom prst="rect">
              <a:avLst/>
            </a:prstGeom>
            <a:solidFill>
              <a:schemeClr val="accent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2" name="Google Shape;1362;p26"/>
            <p:cNvSpPr/>
            <p:nvPr/>
          </p:nvSpPr>
          <p:spPr>
            <a:xfrm>
              <a:off x="2155" y="2832"/>
              <a:ext cx="288" cy="240"/>
            </a:xfrm>
            <a:prstGeom prst="rect">
              <a:avLst/>
            </a:prstGeom>
            <a:solidFill>
              <a:schemeClr val="accent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3" name="Google Shape;1363;p26"/>
            <p:cNvSpPr/>
            <p:nvPr/>
          </p:nvSpPr>
          <p:spPr>
            <a:xfrm>
              <a:off x="1931" y="2521"/>
              <a:ext cx="288" cy="240"/>
            </a:xfrm>
            <a:prstGeom prst="rect">
              <a:avLst/>
            </a:prstGeom>
            <a:solidFill>
              <a:schemeClr val="accent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64" name="Google Shape;1364;p26"/>
          <p:cNvGrpSpPr/>
          <p:nvPr/>
        </p:nvGrpSpPr>
        <p:grpSpPr>
          <a:xfrm>
            <a:off x="4521200" y="3200400"/>
            <a:ext cx="1900238" cy="1007269"/>
            <a:chOff x="2784" y="2448"/>
            <a:chExt cx="1197" cy="846"/>
          </a:xfrm>
        </p:grpSpPr>
        <p:cxnSp>
          <p:nvCxnSpPr>
            <p:cNvPr id="1365" name="Google Shape;1365;p26"/>
            <p:cNvCxnSpPr/>
            <p:nvPr/>
          </p:nvCxnSpPr>
          <p:spPr>
            <a:xfrm>
              <a:off x="3120" y="2832"/>
              <a:ext cx="181" cy="165"/>
            </a:xfrm>
            <a:prstGeom prst="straightConnector1">
              <a:avLst/>
            </a:prstGeom>
            <a:noFill/>
            <a:ln cap="flat" cmpd="sng" w="28575">
              <a:solidFill>
                <a:schemeClr val="dk1"/>
              </a:solidFill>
              <a:prstDash val="solid"/>
              <a:round/>
              <a:headEnd len="sm" w="sm" type="none"/>
              <a:tailEnd len="sm" w="sm" type="none"/>
            </a:ln>
          </p:spPr>
        </p:cxnSp>
        <p:cxnSp>
          <p:nvCxnSpPr>
            <p:cNvPr id="1366" name="Google Shape;1366;p26"/>
            <p:cNvCxnSpPr/>
            <p:nvPr/>
          </p:nvCxnSpPr>
          <p:spPr>
            <a:xfrm flipH="1" rot="10800000">
              <a:off x="3120" y="2690"/>
              <a:ext cx="299" cy="46"/>
            </a:xfrm>
            <a:prstGeom prst="straightConnector1">
              <a:avLst/>
            </a:prstGeom>
            <a:noFill/>
            <a:ln cap="flat" cmpd="sng" w="28575">
              <a:solidFill>
                <a:schemeClr val="dk1"/>
              </a:solidFill>
              <a:prstDash val="solid"/>
              <a:round/>
              <a:headEnd len="sm" w="sm" type="none"/>
              <a:tailEnd len="sm" w="sm" type="none"/>
            </a:ln>
          </p:spPr>
        </p:cxnSp>
        <p:cxnSp>
          <p:nvCxnSpPr>
            <p:cNvPr id="1367" name="Google Shape;1367;p26"/>
            <p:cNvCxnSpPr/>
            <p:nvPr/>
          </p:nvCxnSpPr>
          <p:spPr>
            <a:xfrm flipH="1" rot="10800000">
              <a:off x="3301" y="2761"/>
              <a:ext cx="185" cy="236"/>
            </a:xfrm>
            <a:prstGeom prst="straightConnector1">
              <a:avLst/>
            </a:prstGeom>
            <a:noFill/>
            <a:ln cap="flat" cmpd="sng" w="28575">
              <a:solidFill>
                <a:schemeClr val="dk1"/>
              </a:solidFill>
              <a:prstDash val="solid"/>
              <a:round/>
              <a:headEnd len="sm" w="sm" type="none"/>
              <a:tailEnd len="sm" w="sm" type="none"/>
            </a:ln>
          </p:spPr>
        </p:cxnSp>
        <p:cxnSp>
          <p:nvCxnSpPr>
            <p:cNvPr id="1368" name="Google Shape;1368;p26"/>
            <p:cNvCxnSpPr/>
            <p:nvPr/>
          </p:nvCxnSpPr>
          <p:spPr>
            <a:xfrm flipH="1" rot="10800000">
              <a:off x="3456" y="2997"/>
              <a:ext cx="187" cy="171"/>
            </a:xfrm>
            <a:prstGeom prst="straightConnector1">
              <a:avLst/>
            </a:prstGeom>
            <a:noFill/>
            <a:ln cap="flat" cmpd="sng" w="28575">
              <a:solidFill>
                <a:schemeClr val="dk1"/>
              </a:solidFill>
              <a:prstDash val="solid"/>
              <a:round/>
              <a:headEnd len="sm" w="sm" type="none"/>
              <a:tailEnd len="sm" w="sm" type="none"/>
            </a:ln>
          </p:spPr>
        </p:cxnSp>
        <p:sp>
          <p:nvSpPr>
            <p:cNvPr id="1369" name="Google Shape;1369;p26"/>
            <p:cNvSpPr/>
            <p:nvPr/>
          </p:nvSpPr>
          <p:spPr>
            <a:xfrm>
              <a:off x="2784" y="2448"/>
              <a:ext cx="1197" cy="84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0" name="Google Shape;1370;p26"/>
            <p:cNvSpPr/>
            <p:nvPr/>
          </p:nvSpPr>
          <p:spPr>
            <a:xfrm>
              <a:off x="2832" y="2688"/>
              <a:ext cx="288" cy="240"/>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1" name="Google Shape;1371;p26"/>
            <p:cNvSpPr/>
            <p:nvPr/>
          </p:nvSpPr>
          <p:spPr>
            <a:xfrm>
              <a:off x="3168" y="2997"/>
              <a:ext cx="288" cy="240"/>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2" name="Google Shape;1372;p26"/>
            <p:cNvSpPr/>
            <p:nvPr/>
          </p:nvSpPr>
          <p:spPr>
            <a:xfrm>
              <a:off x="3643" y="2832"/>
              <a:ext cx="288" cy="240"/>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3" name="Google Shape;1373;p26"/>
            <p:cNvSpPr/>
            <p:nvPr/>
          </p:nvSpPr>
          <p:spPr>
            <a:xfrm>
              <a:off x="3419" y="2521"/>
              <a:ext cx="288" cy="240"/>
            </a:xfrm>
            <a:prstGeom prst="rect">
              <a:avLst/>
            </a:prstGeom>
            <a:solidFill>
              <a:schemeClr val="accent1"/>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374" name="Google Shape;1374;p26"/>
          <p:cNvGrpSpPr/>
          <p:nvPr/>
        </p:nvGrpSpPr>
        <p:grpSpPr>
          <a:xfrm>
            <a:off x="6807200" y="1543050"/>
            <a:ext cx="1900238" cy="1007269"/>
            <a:chOff x="4272" y="1056"/>
            <a:chExt cx="1197" cy="846"/>
          </a:xfrm>
        </p:grpSpPr>
        <p:cxnSp>
          <p:nvCxnSpPr>
            <p:cNvPr id="1375" name="Google Shape;1375;p26"/>
            <p:cNvCxnSpPr/>
            <p:nvPr/>
          </p:nvCxnSpPr>
          <p:spPr>
            <a:xfrm>
              <a:off x="4608" y="1440"/>
              <a:ext cx="181" cy="165"/>
            </a:xfrm>
            <a:prstGeom prst="straightConnector1">
              <a:avLst/>
            </a:prstGeom>
            <a:noFill/>
            <a:ln cap="flat" cmpd="sng" w="28575">
              <a:solidFill>
                <a:schemeClr val="dk1"/>
              </a:solidFill>
              <a:prstDash val="solid"/>
              <a:round/>
              <a:headEnd len="sm" w="sm" type="none"/>
              <a:tailEnd len="sm" w="sm" type="none"/>
            </a:ln>
          </p:spPr>
        </p:cxnSp>
        <p:cxnSp>
          <p:nvCxnSpPr>
            <p:cNvPr id="1376" name="Google Shape;1376;p26"/>
            <p:cNvCxnSpPr/>
            <p:nvPr/>
          </p:nvCxnSpPr>
          <p:spPr>
            <a:xfrm flipH="1" rot="10800000">
              <a:off x="4608" y="1298"/>
              <a:ext cx="299" cy="46"/>
            </a:xfrm>
            <a:prstGeom prst="straightConnector1">
              <a:avLst/>
            </a:prstGeom>
            <a:noFill/>
            <a:ln cap="flat" cmpd="sng" w="28575">
              <a:solidFill>
                <a:schemeClr val="dk1"/>
              </a:solidFill>
              <a:prstDash val="solid"/>
              <a:round/>
              <a:headEnd len="sm" w="sm" type="none"/>
              <a:tailEnd len="sm" w="sm" type="none"/>
            </a:ln>
          </p:spPr>
        </p:cxnSp>
        <p:cxnSp>
          <p:nvCxnSpPr>
            <p:cNvPr id="1377" name="Google Shape;1377;p26"/>
            <p:cNvCxnSpPr/>
            <p:nvPr/>
          </p:nvCxnSpPr>
          <p:spPr>
            <a:xfrm flipH="1" rot="10800000">
              <a:off x="4789" y="1369"/>
              <a:ext cx="185" cy="236"/>
            </a:xfrm>
            <a:prstGeom prst="straightConnector1">
              <a:avLst/>
            </a:prstGeom>
            <a:noFill/>
            <a:ln cap="flat" cmpd="sng" w="28575">
              <a:solidFill>
                <a:schemeClr val="dk1"/>
              </a:solidFill>
              <a:prstDash val="solid"/>
              <a:round/>
              <a:headEnd len="sm" w="sm" type="none"/>
              <a:tailEnd len="sm" w="sm" type="none"/>
            </a:ln>
          </p:spPr>
        </p:cxnSp>
        <p:cxnSp>
          <p:nvCxnSpPr>
            <p:cNvPr id="1378" name="Google Shape;1378;p26"/>
            <p:cNvCxnSpPr/>
            <p:nvPr/>
          </p:nvCxnSpPr>
          <p:spPr>
            <a:xfrm flipH="1" rot="10800000">
              <a:off x="4944" y="1605"/>
              <a:ext cx="187" cy="171"/>
            </a:xfrm>
            <a:prstGeom prst="straightConnector1">
              <a:avLst/>
            </a:prstGeom>
            <a:noFill/>
            <a:ln cap="flat" cmpd="sng" w="28575">
              <a:solidFill>
                <a:schemeClr val="dk1"/>
              </a:solidFill>
              <a:prstDash val="solid"/>
              <a:round/>
              <a:headEnd len="sm" w="sm" type="none"/>
              <a:tailEnd len="sm" w="sm" type="none"/>
            </a:ln>
          </p:spPr>
        </p:cxnSp>
        <p:sp>
          <p:nvSpPr>
            <p:cNvPr id="1379" name="Google Shape;1379;p26"/>
            <p:cNvSpPr/>
            <p:nvPr/>
          </p:nvSpPr>
          <p:spPr>
            <a:xfrm>
              <a:off x="4272" y="1056"/>
              <a:ext cx="1197" cy="84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0" name="Google Shape;1380;p26"/>
            <p:cNvSpPr/>
            <p:nvPr/>
          </p:nvSpPr>
          <p:spPr>
            <a:xfrm>
              <a:off x="4320" y="1296"/>
              <a:ext cx="288" cy="240"/>
            </a:xfrm>
            <a:prstGeom prst="rect">
              <a:avLst/>
            </a:prstGeom>
            <a:solidFill>
              <a:schemeClr val="dk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1" name="Google Shape;1381;p26"/>
            <p:cNvSpPr/>
            <p:nvPr/>
          </p:nvSpPr>
          <p:spPr>
            <a:xfrm>
              <a:off x="4656" y="1605"/>
              <a:ext cx="288" cy="240"/>
            </a:xfrm>
            <a:prstGeom prst="rect">
              <a:avLst/>
            </a:prstGeom>
            <a:solidFill>
              <a:schemeClr val="dk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2" name="Google Shape;1382;p26"/>
            <p:cNvSpPr/>
            <p:nvPr/>
          </p:nvSpPr>
          <p:spPr>
            <a:xfrm>
              <a:off x="5131" y="1440"/>
              <a:ext cx="288" cy="240"/>
            </a:xfrm>
            <a:prstGeom prst="rect">
              <a:avLst/>
            </a:prstGeom>
            <a:solidFill>
              <a:schemeClr val="dk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3" name="Google Shape;1383;p26"/>
            <p:cNvSpPr/>
            <p:nvPr/>
          </p:nvSpPr>
          <p:spPr>
            <a:xfrm>
              <a:off x="4907" y="1129"/>
              <a:ext cx="288" cy="240"/>
            </a:xfrm>
            <a:prstGeom prst="rect">
              <a:avLst/>
            </a:prstGeom>
            <a:solidFill>
              <a:schemeClr val="dk2"/>
            </a:solidFill>
            <a:ln cap="flat" cmpd="sng" w="2857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84" name="Google Shape;1384;p26"/>
          <p:cNvSpPr txBox="1"/>
          <p:nvPr>
            <p:ph type="title"/>
          </p:nvPr>
        </p:nvSpPr>
        <p:spPr>
          <a:xfrm>
            <a:off x="1447800" y="154781"/>
            <a:ext cx="76962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One Interaction Diagram: Not Good Enough</a:t>
            </a:r>
            <a:endParaRPr/>
          </a:p>
        </p:txBody>
      </p:sp>
      <p:grpSp>
        <p:nvGrpSpPr>
          <p:cNvPr id="1385" name="Google Shape;1385;p26"/>
          <p:cNvGrpSpPr/>
          <p:nvPr/>
        </p:nvGrpSpPr>
        <p:grpSpPr>
          <a:xfrm>
            <a:off x="4562475" y="1615679"/>
            <a:ext cx="1784350" cy="872728"/>
            <a:chOff x="2244" y="2025"/>
            <a:chExt cx="1300" cy="733"/>
          </a:xfrm>
        </p:grpSpPr>
        <p:grpSp>
          <p:nvGrpSpPr>
            <p:cNvPr id="1386" name="Google Shape;1386;p26"/>
            <p:cNvGrpSpPr/>
            <p:nvPr/>
          </p:nvGrpSpPr>
          <p:grpSpPr>
            <a:xfrm>
              <a:off x="2244" y="2025"/>
              <a:ext cx="121" cy="162"/>
              <a:chOff x="7654" y="3380"/>
              <a:chExt cx="554" cy="754"/>
            </a:xfrm>
          </p:grpSpPr>
          <p:sp>
            <p:nvSpPr>
              <p:cNvPr id="1387" name="Google Shape;1387;p26"/>
              <p:cNvSpPr/>
              <p:nvPr/>
            </p:nvSpPr>
            <p:spPr>
              <a:xfrm>
                <a:off x="7805" y="3380"/>
                <a:ext cx="253" cy="248"/>
              </a:xfrm>
              <a:prstGeom prst="ellipse">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88" name="Google Shape;1388;p26"/>
              <p:cNvCxnSpPr/>
              <p:nvPr/>
            </p:nvCxnSpPr>
            <p:spPr>
              <a:xfrm>
                <a:off x="7931" y="3630"/>
                <a:ext cx="1" cy="232"/>
              </a:xfrm>
              <a:prstGeom prst="straightConnector1">
                <a:avLst/>
              </a:prstGeom>
              <a:noFill/>
              <a:ln cap="flat" cmpd="sng" w="28575">
                <a:solidFill>
                  <a:schemeClr val="dk1"/>
                </a:solidFill>
                <a:prstDash val="solid"/>
                <a:round/>
                <a:headEnd len="med" w="med" type="none"/>
                <a:tailEnd len="med" w="med" type="none"/>
              </a:ln>
            </p:spPr>
          </p:cxnSp>
          <p:cxnSp>
            <p:nvCxnSpPr>
              <p:cNvPr id="1389" name="Google Shape;1389;p26"/>
              <p:cNvCxnSpPr/>
              <p:nvPr/>
            </p:nvCxnSpPr>
            <p:spPr>
              <a:xfrm>
                <a:off x="7731" y="3695"/>
                <a:ext cx="401" cy="1"/>
              </a:xfrm>
              <a:prstGeom prst="straightConnector1">
                <a:avLst/>
              </a:prstGeom>
              <a:noFill/>
              <a:ln cap="flat" cmpd="sng" w="28575">
                <a:solidFill>
                  <a:schemeClr val="dk1"/>
                </a:solidFill>
                <a:prstDash val="solid"/>
                <a:round/>
                <a:headEnd len="med" w="med" type="none"/>
                <a:tailEnd len="med" w="med" type="none"/>
              </a:ln>
            </p:spPr>
          </p:cxnSp>
          <p:sp>
            <p:nvSpPr>
              <p:cNvPr id="1390" name="Google Shape;1390;p26"/>
              <p:cNvSpPr/>
              <p:nvPr/>
            </p:nvSpPr>
            <p:spPr>
              <a:xfrm>
                <a:off x="7654" y="3862"/>
                <a:ext cx="554" cy="272"/>
              </a:xfrm>
              <a:custGeom>
                <a:rect b="b" l="l" r="r" t="t"/>
                <a:pathLst>
                  <a:path extrusionOk="0" h="54" w="108">
                    <a:moveTo>
                      <a:pt x="0" y="54"/>
                    </a:moveTo>
                    <a:lnTo>
                      <a:pt x="54" y="0"/>
                    </a:lnTo>
                    <a:lnTo>
                      <a:pt x="108" y="54"/>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391" name="Google Shape;1391;p26"/>
            <p:cNvCxnSpPr/>
            <p:nvPr/>
          </p:nvCxnSpPr>
          <p:spPr>
            <a:xfrm>
              <a:off x="2300" y="2283"/>
              <a:ext cx="305" cy="0"/>
            </a:xfrm>
            <a:prstGeom prst="straightConnector1">
              <a:avLst/>
            </a:prstGeom>
            <a:noFill/>
            <a:ln cap="flat" cmpd="sng" w="28575">
              <a:solidFill>
                <a:schemeClr val="dk1"/>
              </a:solidFill>
              <a:prstDash val="solid"/>
              <a:round/>
              <a:headEnd len="sm" w="sm" type="none"/>
              <a:tailEnd len="med" w="med" type="triangle"/>
            </a:ln>
          </p:spPr>
        </p:cxnSp>
        <p:cxnSp>
          <p:nvCxnSpPr>
            <p:cNvPr id="1392" name="Google Shape;1392;p26"/>
            <p:cNvCxnSpPr/>
            <p:nvPr/>
          </p:nvCxnSpPr>
          <p:spPr>
            <a:xfrm>
              <a:off x="2919" y="2488"/>
              <a:ext cx="240" cy="0"/>
            </a:xfrm>
            <a:prstGeom prst="straightConnector1">
              <a:avLst/>
            </a:prstGeom>
            <a:noFill/>
            <a:ln cap="flat" cmpd="sng" w="28575">
              <a:solidFill>
                <a:schemeClr val="dk1"/>
              </a:solidFill>
              <a:prstDash val="solid"/>
              <a:round/>
              <a:headEnd len="sm" w="sm" type="none"/>
              <a:tailEnd len="med" w="med" type="triangle"/>
            </a:ln>
          </p:spPr>
        </p:cxnSp>
        <p:cxnSp>
          <p:nvCxnSpPr>
            <p:cNvPr id="1393" name="Google Shape;1393;p26"/>
            <p:cNvCxnSpPr/>
            <p:nvPr/>
          </p:nvCxnSpPr>
          <p:spPr>
            <a:xfrm>
              <a:off x="2626" y="2380"/>
              <a:ext cx="257" cy="0"/>
            </a:xfrm>
            <a:prstGeom prst="straightConnector1">
              <a:avLst/>
            </a:prstGeom>
            <a:noFill/>
            <a:ln cap="flat" cmpd="sng" w="28575">
              <a:solidFill>
                <a:schemeClr val="dk1"/>
              </a:solidFill>
              <a:prstDash val="solid"/>
              <a:round/>
              <a:headEnd len="sm" w="sm" type="none"/>
              <a:tailEnd len="med" w="med" type="triangle"/>
            </a:ln>
          </p:spPr>
        </p:cxnSp>
        <p:cxnSp>
          <p:nvCxnSpPr>
            <p:cNvPr id="1394" name="Google Shape;1394;p26"/>
            <p:cNvCxnSpPr/>
            <p:nvPr/>
          </p:nvCxnSpPr>
          <p:spPr>
            <a:xfrm>
              <a:off x="2302" y="2669"/>
              <a:ext cx="0" cy="89"/>
            </a:xfrm>
            <a:prstGeom prst="straightConnector1">
              <a:avLst/>
            </a:prstGeom>
            <a:noFill/>
            <a:ln cap="flat" cmpd="sng" w="28575">
              <a:solidFill>
                <a:schemeClr val="dk1"/>
              </a:solidFill>
              <a:prstDash val="dash"/>
              <a:round/>
              <a:headEnd len="sm" w="sm" type="none"/>
              <a:tailEnd len="sm" w="sm" type="none"/>
            </a:ln>
          </p:spPr>
        </p:cxnSp>
        <p:cxnSp>
          <p:nvCxnSpPr>
            <p:cNvPr id="1395" name="Google Shape;1395;p26"/>
            <p:cNvCxnSpPr/>
            <p:nvPr/>
          </p:nvCxnSpPr>
          <p:spPr>
            <a:xfrm>
              <a:off x="2609" y="2231"/>
              <a:ext cx="0" cy="57"/>
            </a:xfrm>
            <a:prstGeom prst="straightConnector1">
              <a:avLst/>
            </a:prstGeom>
            <a:noFill/>
            <a:ln cap="flat" cmpd="sng" w="28575">
              <a:solidFill>
                <a:schemeClr val="dk1"/>
              </a:solidFill>
              <a:prstDash val="dash"/>
              <a:round/>
              <a:headEnd len="sm" w="sm" type="none"/>
              <a:tailEnd len="sm" w="sm" type="none"/>
            </a:ln>
          </p:spPr>
        </p:cxnSp>
        <p:cxnSp>
          <p:nvCxnSpPr>
            <p:cNvPr id="1396" name="Google Shape;1396;p26"/>
            <p:cNvCxnSpPr/>
            <p:nvPr/>
          </p:nvCxnSpPr>
          <p:spPr>
            <a:xfrm>
              <a:off x="2892" y="2231"/>
              <a:ext cx="0" cy="152"/>
            </a:xfrm>
            <a:prstGeom prst="straightConnector1">
              <a:avLst/>
            </a:prstGeom>
            <a:noFill/>
            <a:ln cap="flat" cmpd="sng" w="28575">
              <a:solidFill>
                <a:schemeClr val="dk1"/>
              </a:solidFill>
              <a:prstDash val="dash"/>
              <a:round/>
              <a:headEnd len="sm" w="sm" type="none"/>
              <a:tailEnd len="sm" w="sm" type="none"/>
            </a:ln>
          </p:spPr>
        </p:cxnSp>
        <p:cxnSp>
          <p:nvCxnSpPr>
            <p:cNvPr id="1397" name="Google Shape;1397;p26"/>
            <p:cNvCxnSpPr/>
            <p:nvPr/>
          </p:nvCxnSpPr>
          <p:spPr>
            <a:xfrm>
              <a:off x="3169" y="2565"/>
              <a:ext cx="0" cy="191"/>
            </a:xfrm>
            <a:prstGeom prst="straightConnector1">
              <a:avLst/>
            </a:prstGeom>
            <a:noFill/>
            <a:ln cap="flat" cmpd="sng" w="28575">
              <a:solidFill>
                <a:schemeClr val="dk1"/>
              </a:solidFill>
              <a:prstDash val="dash"/>
              <a:round/>
              <a:headEnd len="sm" w="sm" type="none"/>
              <a:tailEnd len="sm" w="sm" type="none"/>
            </a:ln>
          </p:spPr>
        </p:cxnSp>
        <p:cxnSp>
          <p:nvCxnSpPr>
            <p:cNvPr id="1398" name="Google Shape;1398;p26"/>
            <p:cNvCxnSpPr/>
            <p:nvPr/>
          </p:nvCxnSpPr>
          <p:spPr>
            <a:xfrm>
              <a:off x="3426" y="2231"/>
              <a:ext cx="0" cy="525"/>
            </a:xfrm>
            <a:prstGeom prst="straightConnector1">
              <a:avLst/>
            </a:prstGeom>
            <a:noFill/>
            <a:ln cap="flat" cmpd="sng" w="28575">
              <a:solidFill>
                <a:schemeClr val="dk1"/>
              </a:solidFill>
              <a:prstDash val="dash"/>
              <a:round/>
              <a:headEnd len="sm" w="sm" type="none"/>
              <a:tailEnd len="sm" w="sm" type="none"/>
            </a:ln>
          </p:spPr>
        </p:cxnSp>
        <p:sp>
          <p:nvSpPr>
            <p:cNvPr id="1399" name="Google Shape;1399;p26"/>
            <p:cNvSpPr/>
            <p:nvPr/>
          </p:nvSpPr>
          <p:spPr>
            <a:xfrm rot="-5400000">
              <a:off x="2112" y="2454"/>
              <a:ext cx="380" cy="3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400" name="Google Shape;1400;p26"/>
            <p:cNvCxnSpPr/>
            <p:nvPr/>
          </p:nvCxnSpPr>
          <p:spPr>
            <a:xfrm>
              <a:off x="2302" y="2230"/>
              <a:ext cx="0" cy="56"/>
            </a:xfrm>
            <a:prstGeom prst="straightConnector1">
              <a:avLst/>
            </a:prstGeom>
            <a:noFill/>
            <a:ln cap="flat" cmpd="sng" w="28575">
              <a:solidFill>
                <a:schemeClr val="dk1"/>
              </a:solidFill>
              <a:prstDash val="dash"/>
              <a:round/>
              <a:headEnd len="sm" w="sm" type="none"/>
              <a:tailEnd len="sm" w="sm" type="none"/>
            </a:ln>
          </p:spPr>
        </p:cxnSp>
        <p:sp>
          <p:nvSpPr>
            <p:cNvPr id="1401" name="Google Shape;1401;p26"/>
            <p:cNvSpPr/>
            <p:nvPr/>
          </p:nvSpPr>
          <p:spPr>
            <a:xfrm rot="-5400000">
              <a:off x="2455" y="2421"/>
              <a:ext cx="306" cy="4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402" name="Google Shape;1402;p26"/>
            <p:cNvCxnSpPr/>
            <p:nvPr/>
          </p:nvCxnSpPr>
          <p:spPr>
            <a:xfrm>
              <a:off x="2609" y="2599"/>
              <a:ext cx="0" cy="157"/>
            </a:xfrm>
            <a:prstGeom prst="straightConnector1">
              <a:avLst/>
            </a:prstGeom>
            <a:noFill/>
            <a:ln cap="flat" cmpd="sng" w="28575">
              <a:solidFill>
                <a:schemeClr val="dk1"/>
              </a:solidFill>
              <a:prstDash val="dash"/>
              <a:round/>
              <a:headEnd len="sm" w="sm" type="none"/>
              <a:tailEnd len="sm" w="sm" type="none"/>
            </a:ln>
          </p:spPr>
        </p:cxnSp>
        <p:sp>
          <p:nvSpPr>
            <p:cNvPr id="1403" name="Google Shape;1403;p26"/>
            <p:cNvSpPr/>
            <p:nvPr/>
          </p:nvSpPr>
          <p:spPr>
            <a:xfrm rot="-5400000">
              <a:off x="2806" y="2450"/>
              <a:ext cx="170" cy="4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404" name="Google Shape;1404;p26"/>
            <p:cNvCxnSpPr/>
            <p:nvPr/>
          </p:nvCxnSpPr>
          <p:spPr>
            <a:xfrm>
              <a:off x="2891" y="2555"/>
              <a:ext cx="1" cy="200"/>
            </a:xfrm>
            <a:prstGeom prst="straightConnector1">
              <a:avLst/>
            </a:prstGeom>
            <a:noFill/>
            <a:ln cap="flat" cmpd="sng" w="28575">
              <a:solidFill>
                <a:schemeClr val="dk1"/>
              </a:solidFill>
              <a:prstDash val="dash"/>
              <a:round/>
              <a:headEnd len="sm" w="sm" type="none"/>
              <a:tailEnd len="sm" w="sm" type="none"/>
            </a:ln>
          </p:spPr>
        </p:cxnSp>
        <p:sp>
          <p:nvSpPr>
            <p:cNvPr id="1405" name="Google Shape;1405;p26"/>
            <p:cNvSpPr/>
            <p:nvPr/>
          </p:nvSpPr>
          <p:spPr>
            <a:xfrm rot="-5400000">
              <a:off x="3135" y="2508"/>
              <a:ext cx="64" cy="36"/>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406" name="Google Shape;1406;p26"/>
            <p:cNvCxnSpPr/>
            <p:nvPr/>
          </p:nvCxnSpPr>
          <p:spPr>
            <a:xfrm>
              <a:off x="3169" y="2231"/>
              <a:ext cx="0" cy="262"/>
            </a:xfrm>
            <a:prstGeom prst="straightConnector1">
              <a:avLst/>
            </a:prstGeom>
            <a:noFill/>
            <a:ln cap="flat" cmpd="sng" w="28575">
              <a:solidFill>
                <a:schemeClr val="dk1"/>
              </a:solidFill>
              <a:prstDash val="dash"/>
              <a:round/>
              <a:headEnd len="sm" w="sm" type="none"/>
              <a:tailEnd len="sm" w="sm" type="none"/>
            </a:ln>
          </p:spPr>
        </p:cxnSp>
        <p:sp>
          <p:nvSpPr>
            <p:cNvPr id="1407" name="Google Shape;1407;p26"/>
            <p:cNvSpPr/>
            <p:nvPr/>
          </p:nvSpPr>
          <p:spPr>
            <a:xfrm>
              <a:off x="2764" y="2086"/>
              <a:ext cx="219"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8" name="Google Shape;1408;p26"/>
            <p:cNvSpPr/>
            <p:nvPr/>
          </p:nvSpPr>
          <p:spPr>
            <a:xfrm>
              <a:off x="3325" y="2086"/>
              <a:ext cx="219"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9" name="Google Shape;1409;p26"/>
            <p:cNvSpPr/>
            <p:nvPr/>
          </p:nvSpPr>
          <p:spPr>
            <a:xfrm>
              <a:off x="3014" y="2086"/>
              <a:ext cx="279"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0" name="Google Shape;1410;p26"/>
            <p:cNvSpPr/>
            <p:nvPr/>
          </p:nvSpPr>
          <p:spPr>
            <a:xfrm>
              <a:off x="2510" y="2086"/>
              <a:ext cx="220" cy="124"/>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11" name="Google Shape;1411;p26"/>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27"/>
          <p:cNvSpPr txBox="1"/>
          <p:nvPr>
            <p:ph type="title"/>
          </p:nvPr>
        </p:nvSpPr>
        <p:spPr>
          <a:xfrm>
            <a:off x="914400" y="154781"/>
            <a:ext cx="8458200" cy="400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Communication Diagrams vs. Sequence Diagrams</a:t>
            </a:r>
            <a:endParaRPr/>
          </a:p>
        </p:txBody>
      </p:sp>
      <p:graphicFrame>
        <p:nvGraphicFramePr>
          <p:cNvPr id="1420" name="Google Shape;1420;p27"/>
          <p:cNvGraphicFramePr/>
          <p:nvPr/>
        </p:nvGraphicFramePr>
        <p:xfrm>
          <a:off x="547688" y="1182195"/>
          <a:ext cx="3000000" cy="3000000"/>
        </p:xfrm>
        <a:graphic>
          <a:graphicData uri="http://schemas.openxmlformats.org/drawingml/2006/table">
            <a:tbl>
              <a:tblPr>
                <a:noFill/>
                <a:tableStyleId>{018DFEAD-01D9-4BE2-B48C-D7FB6EAE1FFC}</a:tableStyleId>
              </a:tblPr>
              <a:tblGrid>
                <a:gridCol w="4114800"/>
                <a:gridCol w="4114800"/>
              </a:tblGrid>
              <a:tr h="193800">
                <a:tc>
                  <a:txBody>
                    <a:bodyPr/>
                    <a:lstStyle/>
                    <a:p>
                      <a:pPr indent="0" lvl="0" marL="0" marR="0" rtl="0" algn="ctr">
                        <a:lnSpc>
                          <a:spcPct val="80000"/>
                        </a:lnSpc>
                        <a:spcBef>
                          <a:spcPts val="0"/>
                        </a:spcBef>
                        <a:spcAft>
                          <a:spcPts val="0"/>
                        </a:spcAft>
                        <a:buClr>
                          <a:srgbClr val="FFFF99"/>
                        </a:buClr>
                        <a:buSzPts val="1500"/>
                        <a:buFont typeface="Noto Sans Symbols"/>
                        <a:buNone/>
                      </a:pPr>
                      <a:r>
                        <a:rPr b="0" i="0" lang="en-US" sz="1500" u="none" cap="none" strike="noStrike">
                          <a:solidFill>
                            <a:srgbClr val="0000FF"/>
                          </a:solidFill>
                          <a:latin typeface="Arial"/>
                          <a:ea typeface="Arial"/>
                          <a:cs typeface="Arial"/>
                          <a:sym typeface="Arial"/>
                        </a:rPr>
                        <a:t>Communication Diagrams</a:t>
                      </a:r>
                      <a:endParaRPr sz="1100"/>
                    </a:p>
                  </a:txBody>
                  <a:tcPr marT="40475" marB="40475" marR="107950" marL="1079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80000"/>
                        </a:lnSpc>
                        <a:spcBef>
                          <a:spcPts val="0"/>
                        </a:spcBef>
                        <a:spcAft>
                          <a:spcPts val="0"/>
                        </a:spcAft>
                        <a:buClr>
                          <a:srgbClr val="FFFF99"/>
                        </a:buClr>
                        <a:buSzPts val="1500"/>
                        <a:buFont typeface="Noto Sans Symbols"/>
                        <a:buNone/>
                      </a:pPr>
                      <a:r>
                        <a:rPr b="0" i="0" lang="en-US" sz="1500" u="none" cap="none" strike="noStrike">
                          <a:solidFill>
                            <a:srgbClr val="0000FF"/>
                          </a:solidFill>
                          <a:latin typeface="Arial"/>
                          <a:ea typeface="Arial"/>
                          <a:cs typeface="Arial"/>
                          <a:sym typeface="Arial"/>
                        </a:rPr>
                        <a:t>Sequence Diagrams</a:t>
                      </a:r>
                      <a:endParaRPr sz="1100"/>
                    </a:p>
                  </a:txBody>
                  <a:tcPr marT="40475" marB="40475" marR="107950" marL="1079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767275">
                <a:tc>
                  <a:txBody>
                    <a:bodyPr/>
                    <a:lstStyle/>
                    <a:p>
                      <a:pPr indent="-171450" lvl="1" marL="342900" marR="0" rtl="0" algn="l">
                        <a:lnSpc>
                          <a:spcPct val="87000"/>
                        </a:lnSpc>
                        <a:spcBef>
                          <a:spcPts val="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Show relationships in addition to interactions</a:t>
                      </a:r>
                      <a:endParaRPr sz="1100"/>
                    </a:p>
                    <a:p>
                      <a:pPr indent="-171450" lvl="1" marL="342900" marR="0" rtl="0" algn="l">
                        <a:lnSpc>
                          <a:spcPct val="87000"/>
                        </a:lnSpc>
                        <a:spcBef>
                          <a:spcPts val="50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Better for visualizing patterns of collaboration</a:t>
                      </a:r>
                      <a:endParaRPr sz="1100"/>
                    </a:p>
                    <a:p>
                      <a:pPr indent="-171450" lvl="1" marL="342900" marR="0" rtl="0" algn="l">
                        <a:lnSpc>
                          <a:spcPct val="87000"/>
                        </a:lnSpc>
                        <a:spcBef>
                          <a:spcPts val="50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Better for visualizing all of the effects on a given object</a:t>
                      </a:r>
                      <a:endParaRPr sz="1100"/>
                    </a:p>
                    <a:p>
                      <a:pPr indent="-171450" lvl="1" marL="342900" marR="0" rtl="0" algn="l">
                        <a:lnSpc>
                          <a:spcPct val="87000"/>
                        </a:lnSpc>
                        <a:spcBef>
                          <a:spcPts val="50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Easier to use for brainstorming sessions</a:t>
                      </a:r>
                      <a:endParaRPr sz="1100"/>
                    </a:p>
                  </a:txBody>
                  <a:tcPr marT="40475" marB="40475" marR="107950" marL="1079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171450" lvl="1" marL="342900" marR="0" rtl="0" algn="l">
                        <a:lnSpc>
                          <a:spcPct val="87000"/>
                        </a:lnSpc>
                        <a:spcBef>
                          <a:spcPts val="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Show the explicit sequence of messages</a:t>
                      </a:r>
                      <a:endParaRPr sz="1100"/>
                    </a:p>
                    <a:p>
                      <a:pPr indent="-171450" lvl="1" marL="342900" marR="0" rtl="0" algn="l">
                        <a:lnSpc>
                          <a:spcPct val="87000"/>
                        </a:lnSpc>
                        <a:spcBef>
                          <a:spcPts val="50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Better for visualizing overall flow</a:t>
                      </a:r>
                      <a:endParaRPr sz="1100"/>
                    </a:p>
                    <a:p>
                      <a:pPr indent="-171450" lvl="1" marL="342900" marR="0" rtl="0" algn="l">
                        <a:lnSpc>
                          <a:spcPct val="87000"/>
                        </a:lnSpc>
                        <a:spcBef>
                          <a:spcPts val="500"/>
                        </a:spcBef>
                        <a:spcAft>
                          <a:spcPts val="0"/>
                        </a:spcAft>
                        <a:buClr>
                          <a:srgbClr val="DDDDDD"/>
                        </a:buClr>
                        <a:buSzPts val="1500"/>
                        <a:buFont typeface="Noto Sans Symbols"/>
                        <a:buChar char="▪"/>
                      </a:pPr>
                      <a:r>
                        <a:rPr b="0" i="0" lang="en-US" sz="1500" u="none" cap="none" strike="noStrike">
                          <a:solidFill>
                            <a:srgbClr val="000000"/>
                          </a:solidFill>
                          <a:latin typeface="Arial"/>
                          <a:ea typeface="Arial"/>
                          <a:cs typeface="Arial"/>
                          <a:sym typeface="Arial"/>
                        </a:rPr>
                        <a:t>Better for real-time specifications and for complex scenarios</a:t>
                      </a:r>
                      <a:endParaRPr sz="1100"/>
                    </a:p>
                  </a:txBody>
                  <a:tcPr marT="40475" marB="40475" marR="107950" marL="1079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421" name="Google Shape;1421;p27"/>
          <p:cNvSpPr txBox="1"/>
          <p:nvPr>
            <p:ph idx="12" type="sldNum"/>
          </p:nvPr>
        </p:nvSpPr>
        <p:spPr>
          <a:xfrm>
            <a:off x="6553200" y="4891088"/>
            <a:ext cx="2133600" cy="183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ms01_1">
  <a:themeElements>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2006-05-28T09:28:45Z</dcterms:created>
  <dc:creator>Tran Minh Triet</dc:creator>
</cp:coreProperties>
</file>