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9144000"/>
  <p:notesSz cx="6858000" cy="9144000"/>
  <p:embeddedFontLst>
    <p:embeddedFont>
      <p:font typeface="Libre Franklin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7" roundtripDataSignature="AMtx7mjmnWE6YIdMkluiSoa/C4fTYBwX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LibreFranklinMedium-bold.fntdata"/><Relationship Id="rId21" Type="http://schemas.openxmlformats.org/officeDocument/2006/relationships/slide" Target="slides/slide16.xml"/><Relationship Id="rId43" Type="http://schemas.openxmlformats.org/officeDocument/2006/relationships/font" Target="fonts/LibreFranklinMedium-regular.fntdata"/><Relationship Id="rId24" Type="http://schemas.openxmlformats.org/officeDocument/2006/relationships/slide" Target="slides/slide19.xml"/><Relationship Id="rId46" Type="http://schemas.openxmlformats.org/officeDocument/2006/relationships/font" Target="fonts/LibreFranklinMedium-boldItalic.fntdata"/><Relationship Id="rId23" Type="http://schemas.openxmlformats.org/officeDocument/2006/relationships/slide" Target="slides/slide18.xml"/><Relationship Id="rId45" Type="http://schemas.openxmlformats.org/officeDocument/2006/relationships/font" Target="fonts/LibreFranklin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47" Type="http://customschemas.google.com/relationships/presentationmetadata" Target="meta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9" name="Google Shape;109;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txBox="1"/>
          <p:nvPr/>
        </p:nvSpPr>
        <p:spPr>
          <a:xfrm>
            <a:off x="457698" y="1199015"/>
            <a:ext cx="1824824" cy="922043"/>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Re-emphasize that you must define a good abstraction — you must think about what operations are public and private and you must think about encapsulation. </a:t>
            </a:r>
            <a:endParaRPr/>
          </a:p>
        </p:txBody>
      </p:sp>
      <p:sp>
        <p:nvSpPr>
          <p:cNvPr id="125" name="Google Shape;125;p3: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3: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Operation visibility is the realization of the key object-orientation principle of encapsulation.</a:t>
            </a:r>
            <a:endParaRPr/>
          </a:p>
          <a:p>
            <a:pPr indent="0" lvl="0" marL="0" rtl="0" algn="l">
              <a:spcBef>
                <a:spcPts val="270"/>
              </a:spcBef>
              <a:spcAft>
                <a:spcPts val="0"/>
              </a:spcAft>
              <a:buNone/>
            </a:pPr>
            <a:r>
              <a:rPr b="1" lang="en-US" sz="900">
                <a:latin typeface="Arial"/>
                <a:ea typeface="Arial"/>
                <a:cs typeface="Arial"/>
                <a:sym typeface="Arial"/>
              </a:rPr>
              <a:t>Public</a:t>
            </a:r>
            <a:r>
              <a:rPr lang="en-US" sz="900">
                <a:latin typeface="Arial"/>
                <a:ea typeface="Arial"/>
                <a:cs typeface="Arial"/>
                <a:sym typeface="Arial"/>
              </a:rPr>
              <a:t> members are accessible directly by any client.</a:t>
            </a:r>
            <a:endParaRPr/>
          </a:p>
          <a:p>
            <a:pPr indent="0" lvl="0" marL="0" rtl="0" algn="l">
              <a:spcBef>
                <a:spcPts val="270"/>
              </a:spcBef>
              <a:spcAft>
                <a:spcPts val="0"/>
              </a:spcAft>
              <a:buNone/>
            </a:pPr>
            <a:r>
              <a:rPr b="1" lang="en-US" sz="900">
                <a:latin typeface="Arial"/>
                <a:ea typeface="Arial"/>
                <a:cs typeface="Arial"/>
                <a:sym typeface="Arial"/>
              </a:rPr>
              <a:t>Protected</a:t>
            </a:r>
            <a:r>
              <a:rPr lang="en-US" sz="900">
                <a:latin typeface="Arial"/>
                <a:ea typeface="Arial"/>
                <a:cs typeface="Arial"/>
                <a:sym typeface="Arial"/>
              </a:rPr>
              <a:t> members are directly accessible only by instances of subclasses.</a:t>
            </a:r>
            <a:endParaRPr/>
          </a:p>
          <a:p>
            <a:pPr indent="0" lvl="0" marL="0" rtl="0" algn="l">
              <a:spcBef>
                <a:spcPts val="270"/>
              </a:spcBef>
              <a:spcAft>
                <a:spcPts val="0"/>
              </a:spcAft>
              <a:buNone/>
            </a:pPr>
            <a:r>
              <a:rPr b="1" lang="en-US" sz="900">
                <a:latin typeface="Arial"/>
                <a:ea typeface="Arial"/>
                <a:cs typeface="Arial"/>
                <a:sym typeface="Arial"/>
              </a:rPr>
              <a:t>Private</a:t>
            </a:r>
            <a:r>
              <a:rPr lang="en-US" sz="900">
                <a:latin typeface="Arial"/>
                <a:ea typeface="Arial"/>
                <a:cs typeface="Arial"/>
                <a:sym typeface="Arial"/>
              </a:rPr>
              <a:t> members are directly accessible only by instances of the class to which they are defined.</a:t>
            </a:r>
            <a:endParaRPr/>
          </a:p>
          <a:p>
            <a:pPr indent="0" lvl="0" marL="0" rtl="0" algn="l">
              <a:spcBef>
                <a:spcPts val="270"/>
              </a:spcBef>
              <a:spcAft>
                <a:spcPts val="0"/>
              </a:spcAft>
              <a:buNone/>
            </a:pPr>
            <a:r>
              <a:rPr lang="en-US" sz="900">
                <a:latin typeface="Arial"/>
                <a:ea typeface="Arial"/>
                <a:cs typeface="Arial"/>
                <a:sym typeface="Arial"/>
              </a:rPr>
              <a:t>How do you decide what visibility to use? Look at the Interaction diagrams on which the operation is referenced.  If the message is from outside of the object, use public. If it is from a subclass, use protected. If it</a:t>
            </a:r>
            <a:r>
              <a:rPr lang="en-US" sz="900">
                <a:latin typeface="Times New Roman"/>
                <a:ea typeface="Times New Roman"/>
                <a:cs typeface="Times New Roman"/>
                <a:sym typeface="Times New Roman"/>
              </a:rPr>
              <a:t>’</a:t>
            </a:r>
            <a:r>
              <a:rPr lang="en-US" sz="900">
                <a:latin typeface="Arial"/>
                <a:ea typeface="Arial"/>
                <a:cs typeface="Arial"/>
                <a:sym typeface="Arial"/>
              </a:rPr>
              <a:t>s from itself, use private. You should define the most restrictive visibility possible that will still accomplish the objectives of the class. Client access should be granted explicitly by the class and not taken forcibly.</a:t>
            </a:r>
            <a:endParaRPr/>
          </a:p>
          <a:p>
            <a:pPr indent="0" lvl="0" marL="0" rtl="0" algn="l">
              <a:spcBef>
                <a:spcPts val="270"/>
              </a:spcBef>
              <a:spcAft>
                <a:spcPts val="0"/>
              </a:spcAft>
              <a:buNone/>
            </a:pPr>
            <a:r>
              <a:rPr lang="en-US" sz="900">
                <a:latin typeface="Arial"/>
                <a:ea typeface="Arial"/>
                <a:cs typeface="Arial"/>
                <a:sym typeface="Arial"/>
              </a:rPr>
              <a:t>Visibility applies to attributes as well as operations. Attributes are discussed later in this module.</a:t>
            </a:r>
            <a:endParaRPr/>
          </a:p>
          <a:p>
            <a:pPr indent="0" lvl="0" marL="0" rtl="0" algn="l">
              <a:spcBef>
                <a:spcPts val="270"/>
              </a:spcBef>
              <a:spcAft>
                <a:spcPts val="0"/>
              </a:spcAft>
              <a:buNone/>
            </a:pPr>
            <a:r>
              <a:t/>
            </a:r>
            <a:endParaRPr sz="900">
              <a:latin typeface="Arial"/>
              <a:ea typeface="Arial"/>
              <a:cs typeface="Arial"/>
              <a:sym typeface="Arial"/>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4:notes"/>
          <p:cNvSpPr/>
          <p:nvPr/>
        </p:nvSpPr>
        <p:spPr>
          <a:xfrm>
            <a:off x="438316" y="1202043"/>
            <a:ext cx="1847188" cy="1060543"/>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Note that the UML Notation Guide explicitly states, “A tool may show the visibility indication in a different way, such as by using a special icon.” So, the usage of the graphical icons for export control is valid UML.</a:t>
            </a:r>
            <a:endParaRPr/>
          </a:p>
        </p:txBody>
      </p:sp>
      <p:sp>
        <p:nvSpPr>
          <p:cNvPr id="142" name="Google Shape;142;p4: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3" name="Google Shape;143;p4: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In the UML, you can specify the access clients have to attributes and operations.</a:t>
            </a:r>
            <a:endParaRPr/>
          </a:p>
          <a:p>
            <a:pPr indent="0" lvl="0" marL="0" rtl="0" algn="l">
              <a:spcBef>
                <a:spcPts val="270"/>
              </a:spcBef>
              <a:spcAft>
                <a:spcPts val="0"/>
              </a:spcAft>
              <a:buNone/>
            </a:pPr>
            <a:r>
              <a:rPr lang="en-US" sz="900">
                <a:latin typeface="Arial"/>
                <a:ea typeface="Arial"/>
                <a:cs typeface="Arial"/>
                <a:sym typeface="Arial"/>
              </a:rPr>
              <a:t>Export control is specified for attributes and operations by preceding the name of the member with the following symbols:  </a:t>
            </a:r>
            <a:endParaRPr/>
          </a:p>
          <a:p>
            <a:pPr indent="0" lvl="0" marL="0" rtl="0" algn="l">
              <a:spcBef>
                <a:spcPts val="270"/>
              </a:spcBef>
              <a:spcAft>
                <a:spcPts val="0"/>
              </a:spcAft>
              <a:buNone/>
            </a:pPr>
            <a:r>
              <a:rPr lang="en-US" sz="900">
                <a:latin typeface="Arial"/>
                <a:ea typeface="Arial"/>
                <a:cs typeface="Arial"/>
                <a:sym typeface="Arial"/>
              </a:rPr>
              <a:t>   +  Public</a:t>
            </a:r>
            <a:endParaRPr/>
          </a:p>
          <a:p>
            <a:pPr indent="0" lvl="0" marL="0" rtl="0" algn="l">
              <a:spcBef>
                <a:spcPts val="270"/>
              </a:spcBef>
              <a:spcAft>
                <a:spcPts val="0"/>
              </a:spcAft>
              <a:buNone/>
            </a:pPr>
            <a:r>
              <a:rPr lang="en-US" sz="900">
                <a:latin typeface="Arial"/>
                <a:ea typeface="Arial"/>
                <a:cs typeface="Arial"/>
                <a:sym typeface="Arial"/>
              </a:rPr>
              <a:t>   #  Protected</a:t>
            </a:r>
            <a:endParaRPr/>
          </a:p>
          <a:p>
            <a:pPr indent="0" lvl="0" marL="0" rtl="0" algn="l">
              <a:spcBef>
                <a:spcPts val="270"/>
              </a:spcBef>
              <a:spcAft>
                <a:spcPts val="0"/>
              </a:spcAft>
              <a:buNone/>
            </a:pPr>
            <a:r>
              <a:rPr lang="en-US" sz="900">
                <a:latin typeface="Arial"/>
                <a:ea typeface="Arial"/>
                <a:cs typeface="Arial"/>
                <a:sym typeface="Arial"/>
              </a:rPr>
              <a:t>   -  Private</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nvSpPr>
        <p:spPr>
          <a:xfrm>
            <a:off x="438315" y="1202043"/>
            <a:ext cx="1850170" cy="1199042"/>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You cannot underline the class scope operation and attribute names, but you can use an attribute and operation stereotype (for example, &lt;&lt;class&gt;&gt;) to denote class scope attributes and operations on a diagram. </a:t>
            </a:r>
            <a:endParaRPr/>
          </a:p>
        </p:txBody>
      </p:sp>
      <p:sp>
        <p:nvSpPr>
          <p:cNvPr id="160" name="Google Shape;160;p5: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p5: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The owner scope of an attribute/operation determines whether or not the attribute/operation appears in each instance of the class (instance scoped), or if there is only one instance for all instances of the class (classifier scoped).</a:t>
            </a:r>
            <a:endParaRPr/>
          </a:p>
          <a:p>
            <a:pPr indent="0" lvl="0" marL="0" rtl="0" algn="l">
              <a:spcBef>
                <a:spcPts val="270"/>
              </a:spcBef>
              <a:spcAft>
                <a:spcPts val="0"/>
              </a:spcAft>
              <a:buNone/>
            </a:pPr>
            <a:r>
              <a:rPr lang="en-US" sz="900">
                <a:latin typeface="Arial"/>
                <a:ea typeface="Arial"/>
                <a:cs typeface="Arial"/>
                <a:sym typeface="Arial"/>
              </a:rPr>
              <a:t>Classifier-scoped attributes and operations are denoted by underlining their names. Lack of an underline indicates instance-scoped attributes and operations.</a:t>
            </a:r>
            <a:endParaRPr/>
          </a:p>
          <a:p>
            <a:pPr indent="0" lvl="0" marL="0" rtl="0" algn="l">
              <a:spcBef>
                <a:spcPts val="270"/>
              </a:spcBef>
              <a:spcAft>
                <a:spcPts val="0"/>
              </a:spcAft>
              <a:buNone/>
            </a:pPr>
            <a:r>
              <a:rPr lang="en-US" sz="900">
                <a:latin typeface="Arial"/>
                <a:ea typeface="Arial"/>
                <a:cs typeface="Arial"/>
                <a:sym typeface="Arial"/>
              </a:rPr>
              <a:t>Classifier-scoped attributes are shared among all instances of the classifier type.</a:t>
            </a:r>
            <a:endParaRPr/>
          </a:p>
          <a:p>
            <a:pPr indent="0" lvl="0" marL="0" rtl="0" algn="l">
              <a:spcBef>
                <a:spcPts val="270"/>
              </a:spcBef>
              <a:spcAft>
                <a:spcPts val="0"/>
              </a:spcAft>
              <a:buNone/>
            </a:pPr>
            <a:r>
              <a:rPr lang="en-US" sz="900">
                <a:latin typeface="Arial"/>
                <a:ea typeface="Arial"/>
                <a:cs typeface="Arial"/>
                <a:sym typeface="Arial"/>
              </a:rPr>
              <a:t>In most cases, attributes and operations are instance scoped.  However, if there is a need to have a single instance of an operation, say to generate a unique ID among class instances, or to create a class instance, the classifier scope operations can be used.  </a:t>
            </a:r>
            <a:endParaRPr/>
          </a:p>
          <a:p>
            <a:pPr indent="0" lvl="0" marL="0" rtl="0" algn="l">
              <a:spcBef>
                <a:spcPts val="270"/>
              </a:spcBef>
              <a:spcAft>
                <a:spcPts val="0"/>
              </a:spcAft>
              <a:buNone/>
            </a:pPr>
            <a:r>
              <a:rPr lang="en-US" sz="900">
                <a:latin typeface="Arial"/>
                <a:ea typeface="Arial"/>
                <a:cs typeface="Arial"/>
                <a:sym typeface="Arial"/>
              </a:rPr>
              <a:t>Classifier-scoped operations can only access classifier-scoped attributes.</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 name="Google Shape;176;p6: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In the above example, there is a single classifier-scoped attribute, nextAvailID, and a single classifier-scoped operation, getNextAvailID().  These classifier-scoped class features support the generation of a unique ID for each Student.  </a:t>
            </a:r>
            <a:endParaRPr/>
          </a:p>
          <a:p>
            <a:pPr indent="0" lvl="0" marL="0" rtl="0" algn="l">
              <a:spcBef>
                <a:spcPts val="270"/>
              </a:spcBef>
              <a:spcAft>
                <a:spcPts val="0"/>
              </a:spcAft>
              <a:buNone/>
            </a:pPr>
            <a:r>
              <a:rPr lang="en-US" sz="900">
                <a:latin typeface="Arial"/>
                <a:ea typeface="Arial"/>
                <a:cs typeface="Arial"/>
                <a:sym typeface="Arial"/>
              </a:rPr>
              <a:t>Each Student instance has its own unique StudentID, whereas, there is only one nextAvailID for all Student instances.</a:t>
            </a:r>
            <a:endParaRPr/>
          </a:p>
          <a:p>
            <a:pPr indent="0" lvl="0" marL="0" rtl="0" algn="l">
              <a:spcBef>
                <a:spcPts val="270"/>
              </a:spcBef>
              <a:spcAft>
                <a:spcPts val="0"/>
              </a:spcAft>
              <a:buNone/>
            </a:pPr>
            <a:r>
              <a:rPr lang="en-US" sz="900">
                <a:latin typeface="Arial"/>
                <a:ea typeface="Arial"/>
                <a:cs typeface="Arial"/>
                <a:sym typeface="Arial"/>
              </a:rPr>
              <a:t>The getNextAvailID() classifier-scoped operation can only access the classifier scope attribute nextAvailID.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7: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5" name="Google Shape;195;p7: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This example is a portion of the VOPC for the Register for Courses Use-Case Realization. </a:t>
            </a:r>
            <a:endParaRPr/>
          </a:p>
          <a:p>
            <a:pPr indent="0" lvl="0" marL="0" rtl="0" algn="l">
              <a:spcBef>
                <a:spcPts val="270"/>
              </a:spcBef>
              <a:spcAft>
                <a:spcPts val="0"/>
              </a:spcAft>
              <a:buNone/>
            </a:pPr>
            <a:r>
              <a:rPr lang="en-US" sz="900">
                <a:latin typeface="Arial"/>
                <a:ea typeface="Arial"/>
                <a:cs typeface="Arial"/>
                <a:sym typeface="Arial"/>
              </a:rPr>
              <a:t>Notice the &lt;&lt;class&gt;&gt; operations.</a:t>
            </a:r>
            <a:endParaRPr/>
          </a:p>
          <a:p>
            <a:pPr indent="0" lvl="0" marL="0" rtl="0" algn="l">
              <a:spcBef>
                <a:spcPts val="270"/>
              </a:spcBef>
              <a:spcAft>
                <a:spcPts val="0"/>
              </a:spcAft>
              <a:buNone/>
            </a:pPr>
            <a:r>
              <a:rPr lang="en-US" sz="900">
                <a:latin typeface="Arial"/>
                <a:ea typeface="Arial"/>
                <a:cs typeface="Arial"/>
                <a:sym typeface="Arial"/>
              </a:rPr>
              <a:t>Those operations marked with a </a:t>
            </a:r>
            <a:r>
              <a:rPr lang="en-US" sz="900">
                <a:latin typeface="Times New Roman"/>
                <a:ea typeface="Times New Roman"/>
                <a:cs typeface="Times New Roman"/>
                <a:sym typeface="Times New Roman"/>
              </a:rPr>
              <a:t>‘</a:t>
            </a:r>
            <a:r>
              <a:rPr lang="en-US" sz="900">
                <a:latin typeface="Arial"/>
                <a:ea typeface="Arial"/>
                <a:cs typeface="Arial"/>
                <a:sym typeface="Arial"/>
              </a:rPr>
              <a:t>+</a:t>
            </a:r>
            <a:r>
              <a:rPr lang="en-US" sz="900">
                <a:latin typeface="Times New Roman"/>
                <a:ea typeface="Times New Roman"/>
                <a:cs typeface="Times New Roman"/>
                <a:sym typeface="Times New Roman"/>
              </a:rPr>
              <a:t>’</a:t>
            </a:r>
            <a:r>
              <a:rPr lang="en-US" sz="900">
                <a:latin typeface="Arial"/>
                <a:ea typeface="Arial"/>
                <a:cs typeface="Arial"/>
                <a:sym typeface="Arial"/>
              </a:rPr>
              <a:t> are public and can be invoked by clients of the class.</a:t>
            </a:r>
            <a:endParaRPr/>
          </a:p>
          <a:p>
            <a:pPr indent="0" lvl="0" marL="0" rtl="0" algn="l">
              <a:spcBef>
                <a:spcPts val="270"/>
              </a:spcBef>
              <a:spcAft>
                <a:spcPts val="0"/>
              </a:spcAft>
              <a:buNone/>
            </a:pPr>
            <a:r>
              <a:rPr lang="en-US" sz="900">
                <a:latin typeface="Arial"/>
                <a:ea typeface="Arial"/>
                <a:cs typeface="Arial"/>
                <a:sym typeface="Arial"/>
              </a:rPr>
              <a:t>Those operations marked with a # are protected and can only be invoked by the defining class and any subclasses. These operations usually correspond to reflexive operations on the interaction diagrams.</a:t>
            </a:r>
            <a:endParaRPr/>
          </a:p>
          <a:p>
            <a:pPr indent="0" lvl="0" marL="0" rtl="0" algn="l">
              <a:spcBef>
                <a:spcPts val="270"/>
              </a:spcBef>
              <a:spcAft>
                <a:spcPts val="0"/>
              </a:spcAft>
              <a:buNone/>
            </a:pPr>
            <a:r>
              <a:rPr lang="en-US" sz="900">
                <a:latin typeface="Arial"/>
                <a:ea typeface="Arial"/>
                <a:cs typeface="Arial"/>
                <a:sym typeface="Arial"/>
              </a:rPr>
              <a:t>The dependency from the Student class to the CourseOfferingClass was added to support the inclusion of the CourseOffering as a parameter to operations within the Student class.</a:t>
            </a:r>
            <a:endParaRPr/>
          </a:p>
          <a:p>
            <a:pPr indent="0" lvl="0" marL="0" rtl="0" algn="l">
              <a:spcBef>
                <a:spcPts val="270"/>
              </a:spcBef>
              <a:spcAft>
                <a:spcPts val="0"/>
              </a:spcAft>
              <a:buNone/>
            </a:pPr>
            <a:r>
              <a:rPr lang="en-US" sz="900">
                <a:latin typeface="Arial"/>
                <a:ea typeface="Arial"/>
                <a:cs typeface="Arial"/>
                <a:sym typeface="Arial"/>
              </a:rPr>
              <a:t>Semester is included as the type for several parameters in the Student operations. For the Course Registration System, it is considered to be an abstract data type that has no significant behavior and thus is not modeled as a separate class.</a:t>
            </a:r>
            <a:endParaRPr/>
          </a:p>
          <a:p>
            <a:pPr indent="0" lvl="0" marL="0" rtl="0" algn="l">
              <a:spcBef>
                <a:spcPts val="270"/>
              </a:spcBef>
              <a:spcAft>
                <a:spcPts val="0"/>
              </a:spcAft>
              <a:buNone/>
            </a:pPr>
            <a:r>
              <a:rPr lang="en-US" sz="900">
                <a:latin typeface="Arial"/>
                <a:ea typeface="Arial"/>
                <a:cs typeface="Arial"/>
                <a:sym typeface="Arial"/>
              </a:rPr>
              <a:t>Note: The attribute compartment has been suppressed in the above diagram.</a:t>
            </a:r>
            <a:endParaRPr/>
          </a:p>
          <a:p>
            <a:pPr indent="0" lvl="0" marL="0" rtl="0" algn="l">
              <a:spcBef>
                <a:spcPts val="270"/>
              </a:spcBef>
              <a:spcAft>
                <a:spcPts val="0"/>
              </a:spcAft>
              <a:buNone/>
            </a:pPr>
            <a:r>
              <a:t/>
            </a:r>
            <a:endParaRPr sz="900">
              <a:latin typeface="Arial"/>
              <a:ea typeface="Arial"/>
              <a:cs typeface="Arial"/>
              <a:sym typeface="Arial"/>
            </a:endParaRPr>
          </a:p>
          <a:p>
            <a:pPr indent="0" lvl="0" marL="0" rtl="0" algn="l">
              <a:spcBef>
                <a:spcPts val="270"/>
              </a:spcBef>
              <a:spcAft>
                <a:spcPts val="0"/>
              </a:spcAft>
              <a:buNone/>
            </a:pPr>
            <a:r>
              <a:t/>
            </a:r>
            <a:endParaRPr sz="900">
              <a:latin typeface="Arial"/>
              <a:ea typeface="Arial"/>
              <a:cs typeface="Arial"/>
              <a:sym typeface="Arial"/>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1" name="Google Shape;2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9: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9: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At this point, we have identified which class relationships should be dependencies. Now it is time to design the details of the remaining associations.</a:t>
            </a:r>
            <a:endParaRPr/>
          </a:p>
          <a:p>
            <a:pPr indent="0" lvl="0" marL="0" rtl="0" algn="l">
              <a:spcBef>
                <a:spcPts val="270"/>
              </a:spcBef>
              <a:spcAft>
                <a:spcPts val="0"/>
              </a:spcAft>
              <a:buNone/>
            </a:pPr>
            <a:r>
              <a:rPr lang="en-US" sz="900">
                <a:latin typeface="Arial"/>
                <a:ea typeface="Arial"/>
                <a:cs typeface="Arial"/>
                <a:sym typeface="Arial"/>
              </a:rPr>
              <a:t>Also, additional associations may need to be defined to support the method descriptions defined earlier. Remember, to communicate between their instances, classes must have relationships with each other.</a:t>
            </a:r>
            <a:endParaRPr/>
          </a:p>
          <a:p>
            <a:pPr indent="0" lvl="0" marL="0" rtl="0" algn="l">
              <a:spcBef>
                <a:spcPts val="270"/>
              </a:spcBef>
              <a:spcAft>
                <a:spcPts val="0"/>
              </a:spcAft>
              <a:buNone/>
            </a:pPr>
            <a:r>
              <a:rPr lang="en-US" sz="900">
                <a:latin typeface="Arial"/>
                <a:ea typeface="Arial"/>
                <a:cs typeface="Arial"/>
                <a:sym typeface="Arial"/>
              </a:rPr>
              <a:t>We will discuss each of the </a:t>
            </a:r>
            <a:r>
              <a:rPr lang="en-US" sz="900">
                <a:latin typeface="Times New Roman"/>
                <a:ea typeface="Times New Roman"/>
                <a:cs typeface="Times New Roman"/>
                <a:sym typeface="Times New Roman"/>
              </a:rPr>
              <a:t>“</a:t>
            </a:r>
            <a:r>
              <a:rPr lang="en-US" sz="900">
                <a:latin typeface="Arial"/>
                <a:ea typeface="Arial"/>
                <a:cs typeface="Arial"/>
                <a:sym typeface="Arial"/>
              </a:rPr>
              <a:t>things to look for</a:t>
            </a:r>
            <a:r>
              <a:rPr lang="en-US" sz="900">
                <a:latin typeface="Times New Roman"/>
                <a:ea typeface="Times New Roman"/>
                <a:cs typeface="Times New Roman"/>
                <a:sym typeface="Times New Roman"/>
              </a:rPr>
              <a:t>”</a:t>
            </a:r>
            <a:r>
              <a:rPr lang="en-US" sz="900">
                <a:latin typeface="Arial"/>
                <a:ea typeface="Arial"/>
                <a:cs typeface="Arial"/>
                <a:sym typeface="Arial"/>
              </a:rPr>
              <a:t> topics on subsequent slides, except for </a:t>
            </a:r>
            <a:r>
              <a:rPr lang="en-US" sz="900">
                <a:latin typeface="Times New Roman"/>
                <a:ea typeface="Times New Roman"/>
                <a:cs typeface="Times New Roman"/>
                <a:sym typeface="Times New Roman"/>
              </a:rPr>
              <a:t>“</a:t>
            </a:r>
            <a:r>
              <a:rPr lang="en-US" sz="900">
                <a:latin typeface="Arial"/>
                <a:ea typeface="Arial"/>
                <a:cs typeface="Arial"/>
                <a:sym typeface="Arial"/>
              </a:rPr>
              <a:t>Association vs. Aggregation,</a:t>
            </a:r>
            <a:r>
              <a:rPr lang="en-US" sz="900">
                <a:latin typeface="Times New Roman"/>
                <a:ea typeface="Times New Roman"/>
                <a:cs typeface="Times New Roman"/>
                <a:sym typeface="Times New Roman"/>
              </a:rPr>
              <a:t>”</a:t>
            </a:r>
            <a:r>
              <a:rPr lang="en-US" sz="900">
                <a:latin typeface="Arial"/>
                <a:ea typeface="Arial"/>
                <a:cs typeface="Arial"/>
                <a:sym typeface="Arial"/>
              </a:rPr>
              <a:t> which was discussed in the Use-Case Analysis module.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2" name="Google Shape;262;p10:notes"/>
          <p:cNvSpPr txBox="1"/>
          <p:nvPr/>
        </p:nvSpPr>
        <p:spPr>
          <a:xfrm>
            <a:off x="569913" y="1200150"/>
            <a:ext cx="1825625" cy="4948238"/>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Dependency relationships will be discussed in the Class Design module.</a:t>
            </a:r>
            <a:endParaRPr/>
          </a:p>
          <a:p>
            <a:pPr indent="0" lvl="0" marL="0" marR="0" rtl="0" algn="l">
              <a:spcBef>
                <a:spcPts val="0"/>
              </a:spcBef>
              <a:spcAft>
                <a:spcPts val="0"/>
              </a:spcAft>
              <a:buNone/>
            </a:pPr>
            <a:r>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en-US" sz="900">
                <a:solidFill>
                  <a:schemeClr val="dk1"/>
                </a:solidFill>
                <a:latin typeface="Arial"/>
                <a:ea typeface="Arial"/>
                <a:cs typeface="Arial"/>
                <a:sym typeface="Arial"/>
              </a:rPr>
              <a:t>In this module, we are most interested in those associations that follow from the Interaction diagrams.  This is discussed in more detail on a later slide.</a:t>
            </a:r>
            <a:endParaRPr/>
          </a:p>
          <a:p>
            <a:pPr indent="0" lvl="0" marL="0" marR="0" rtl="0" algn="l">
              <a:spcBef>
                <a:spcPts val="0"/>
              </a:spcBef>
              <a:spcAft>
                <a:spcPts val="0"/>
              </a:spcAft>
              <a:buNone/>
            </a:pPr>
            <a:r>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en-US" sz="900">
                <a:solidFill>
                  <a:schemeClr val="dk1"/>
                </a:solidFill>
                <a:latin typeface="Arial"/>
                <a:ea typeface="Arial"/>
                <a:cs typeface="Arial"/>
                <a:sym typeface="Arial"/>
              </a:rPr>
              <a:t>Do not use relationship names if they add no value/information to the model. Remember, readability and understandability of the model are key — only add information that adds value, not clutter to the diagrams.</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Note: In the OOAD course example, we did not use the relationship names shown in this example (we used role names). The above is included as an example.</a:t>
            </a:r>
            <a:endParaRPr/>
          </a:p>
          <a:p>
            <a:pPr indent="0" lvl="0" marL="0" marR="0" rtl="0" algn="l">
              <a:spcBef>
                <a:spcPts val="0"/>
              </a:spcBef>
              <a:spcAft>
                <a:spcPts val="0"/>
              </a:spcAft>
              <a:buNone/>
            </a:pPr>
            <a:r>
              <a:t/>
            </a:r>
            <a:endParaRPr sz="900">
              <a:solidFill>
                <a:schemeClr val="dk1"/>
              </a:solidFill>
              <a:latin typeface="Arial"/>
              <a:ea typeface="Arial"/>
              <a:cs typeface="Arial"/>
              <a:sym typeface="Arial"/>
            </a:endParaRPr>
          </a:p>
          <a:p>
            <a:pPr indent="0" lvl="0" marL="0" marR="0" rtl="0" algn="l">
              <a:spcBef>
                <a:spcPts val="0"/>
              </a:spcBef>
              <a:spcAft>
                <a:spcPts val="0"/>
              </a:spcAft>
              <a:buNone/>
            </a:pPr>
            <a:r>
              <a:rPr lang="en-US" sz="900">
                <a:solidFill>
                  <a:schemeClr val="dk1"/>
                </a:solidFill>
                <a:latin typeface="Arial"/>
                <a:ea typeface="Arial"/>
                <a:cs typeface="Arial"/>
                <a:sym typeface="Arial"/>
              </a:rPr>
              <a:t>This would be a good time to make sure that the students understand the difference between Course and CourseOffering and how Schedule fits in.</a:t>
            </a:r>
            <a:endParaRPr/>
          </a:p>
        </p:txBody>
      </p:sp>
      <p:sp>
        <p:nvSpPr>
          <p:cNvPr id="263" name="Google Shape;263;p10:notes"/>
          <p:cNvSpPr/>
          <p:nvPr>
            <p:ph idx="2" type="sldImg"/>
          </p:nvPr>
        </p:nvSpPr>
        <p:spPr>
          <a:xfrm>
            <a:off x="2460625" y="833438"/>
            <a:ext cx="4040188" cy="3030537"/>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4" name="Google Shape;264;p10:notes"/>
          <p:cNvSpPr txBox="1"/>
          <p:nvPr>
            <p:ph idx="1" type="body"/>
          </p:nvPr>
        </p:nvSpPr>
        <p:spPr>
          <a:xfrm>
            <a:off x="2484438" y="4095750"/>
            <a:ext cx="3970337" cy="393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Associations represent structural relationships between objects of different classes; they connect instances of two or more classes together for some duration.</a:t>
            </a:r>
            <a:endParaRPr/>
          </a:p>
          <a:p>
            <a:pPr indent="0" lvl="0" marL="0" rtl="0" algn="l">
              <a:spcBef>
                <a:spcPts val="300"/>
              </a:spcBef>
              <a:spcAft>
                <a:spcPts val="0"/>
              </a:spcAft>
              <a:buNone/>
            </a:pPr>
            <a:r>
              <a:rPr lang="en-US" sz="1000">
                <a:latin typeface="Arial"/>
                <a:ea typeface="Arial"/>
                <a:cs typeface="Arial"/>
                <a:sym typeface="Arial"/>
              </a:rPr>
              <a:t>You can use associations to show that objects know about other objects. Sometimes, objects must hold references to each other to be able to interact; for example, to send messages to each other. Thus, in some cases, associations may follow from interaction patterns in Sequence diagrams or Communication diagrams. </a:t>
            </a:r>
            <a:endParaRPr/>
          </a:p>
          <a:p>
            <a:pPr indent="0" lvl="0" marL="0" rtl="0" algn="l">
              <a:spcBef>
                <a:spcPts val="300"/>
              </a:spcBef>
              <a:spcAft>
                <a:spcPts val="0"/>
              </a:spcAft>
              <a:buNone/>
            </a:pPr>
            <a:r>
              <a:rPr lang="en-US" sz="1000">
                <a:latin typeface="Arial"/>
                <a:ea typeface="Arial"/>
                <a:cs typeface="Arial"/>
                <a:sym typeface="Arial"/>
              </a:rPr>
              <a:t>Most associations are simple (exist between exactly two classes), and are drawn as solid paths connecting pairs of class symbols.  Ternary relationships are also possible.  Sometimes a class has an association to itself. This does not necessarily mean that an instance of that class has an association to itself; more often, it means that one instance of the class has associations to other instances of the same class. </a:t>
            </a:r>
            <a:endParaRPr/>
          </a:p>
          <a:p>
            <a:pPr indent="0" lvl="0" marL="0" rtl="0" algn="l">
              <a:spcBef>
                <a:spcPts val="300"/>
              </a:spcBef>
              <a:spcAft>
                <a:spcPts val="0"/>
              </a:spcAft>
              <a:buNone/>
            </a:pPr>
            <a:r>
              <a:rPr lang="en-US" sz="1000">
                <a:latin typeface="Arial"/>
                <a:ea typeface="Arial"/>
                <a:cs typeface="Arial"/>
                <a:sym typeface="Arial"/>
              </a:rPr>
              <a:t>An association may have a name that is placed on, or adjacent to the association path. The name of the association should reflect the purpose of the relationship and be a verb phrase. The name of an association can be omitted, particularly if role names are used.</a:t>
            </a:r>
            <a:endParaRPr/>
          </a:p>
          <a:p>
            <a:pPr indent="0" lvl="0" marL="0" rtl="0" algn="l">
              <a:spcBef>
                <a:spcPts val="300"/>
              </a:spcBef>
              <a:spcAft>
                <a:spcPts val="0"/>
              </a:spcAft>
              <a:buNone/>
            </a:pPr>
            <a:r>
              <a:rPr lang="en-US" sz="1000">
                <a:latin typeface="Arial"/>
                <a:ea typeface="Arial"/>
                <a:cs typeface="Arial"/>
                <a:sym typeface="Arial"/>
              </a:rPr>
              <a:t>Avoid names like "has" and "contains," as they add no information about what the relationships are between the classes.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8" name="Google Shape;288;p11:notes"/>
          <p:cNvSpPr txBox="1"/>
          <p:nvPr/>
        </p:nvSpPr>
        <p:spPr>
          <a:xfrm>
            <a:off x="379413" y="1212850"/>
            <a:ext cx="1906587" cy="273050"/>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t/>
            </a:r>
            <a:endParaRPr sz="1100">
              <a:solidFill>
                <a:schemeClr val="dk1"/>
              </a:solidFill>
              <a:latin typeface="Arial"/>
              <a:ea typeface="Arial"/>
              <a:cs typeface="Arial"/>
              <a:sym typeface="Arial"/>
            </a:endParaRPr>
          </a:p>
        </p:txBody>
      </p:sp>
      <p:sp>
        <p:nvSpPr>
          <p:cNvPr id="289" name="Google Shape;289;p11:notes"/>
          <p:cNvSpPr/>
          <p:nvPr>
            <p:ph idx="2" type="sldImg"/>
          </p:nvPr>
        </p:nvSpPr>
        <p:spPr>
          <a:xfrm>
            <a:off x="2460625" y="833438"/>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1:notes"/>
          <p:cNvSpPr txBox="1"/>
          <p:nvPr>
            <p:ph idx="1" type="body"/>
          </p:nvPr>
        </p:nvSpPr>
        <p:spPr>
          <a:xfrm>
            <a:off x="2484438" y="4095750"/>
            <a:ext cx="3970337" cy="393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Aggregation is a stronger form of association which is used to model a whole-part relationship between model elements. The whole/aggregate has an aggregation association to the its constituent parts. A hollow diamond is attached to the end of an association path on the side of the aggregate (the whole) to indicate aggregation. </a:t>
            </a:r>
            <a:endParaRPr/>
          </a:p>
          <a:p>
            <a:pPr indent="0" lvl="0" marL="0" rtl="0" algn="l">
              <a:spcBef>
                <a:spcPts val="300"/>
              </a:spcBef>
              <a:spcAft>
                <a:spcPts val="0"/>
              </a:spcAft>
              <a:buNone/>
            </a:pPr>
            <a:r>
              <a:rPr lang="en-US" sz="1000">
                <a:latin typeface="Arial"/>
                <a:ea typeface="Arial"/>
                <a:cs typeface="Arial"/>
                <a:sym typeface="Arial"/>
              </a:rPr>
              <a:t>Since aggregation is a special form of association, the use of multiplicity, roles, navigation, and so forth is the same as for association.</a:t>
            </a:r>
            <a:endParaRPr/>
          </a:p>
          <a:p>
            <a:pPr indent="0" lvl="0" marL="0" rtl="0" algn="l">
              <a:spcBef>
                <a:spcPts val="300"/>
              </a:spcBef>
              <a:spcAft>
                <a:spcPts val="0"/>
              </a:spcAft>
              <a:buNone/>
            </a:pPr>
            <a:r>
              <a:rPr lang="en-US" sz="1000">
                <a:latin typeface="Arial"/>
                <a:ea typeface="Arial"/>
                <a:cs typeface="Arial"/>
                <a:sym typeface="Arial"/>
              </a:rPr>
              <a:t>Sometimes a class may be aggregated with itself. This does not mean that an instance of that class is composed of itself (that would be silly). Instead, it means that one instance if the class is an aggregate composed of other instances of the same class.   </a:t>
            </a:r>
            <a:endParaRPr/>
          </a:p>
          <a:p>
            <a:pPr indent="0" lvl="0" marL="0" rtl="0" algn="l">
              <a:spcBef>
                <a:spcPts val="300"/>
              </a:spcBef>
              <a:spcAft>
                <a:spcPts val="0"/>
              </a:spcAft>
              <a:buNone/>
            </a:pPr>
            <a:r>
              <a:rPr lang="en-US" sz="1000">
                <a:latin typeface="Arial"/>
                <a:ea typeface="Arial"/>
                <a:cs typeface="Arial"/>
                <a:sym typeface="Arial"/>
              </a:rPr>
              <a:t>Some situations where aggregation may be appropriate include:</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An object is physically composed of other objects (for example, car being physically composed of an engine and four wheels). </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An object is a logical collection of other objects (for example, a family is a collection of parents and children).</a:t>
            </a:r>
            <a:endParaRPr/>
          </a:p>
          <a:p>
            <a:pPr indent="-114300" lvl="1" marL="228600" rtl="0" algn="l">
              <a:spcBef>
                <a:spcPts val="300"/>
              </a:spcBef>
              <a:spcAft>
                <a:spcPts val="0"/>
              </a:spcAft>
              <a:buClr>
                <a:schemeClr val="dk1"/>
              </a:buClr>
              <a:buSzPts val="1000"/>
              <a:buFont typeface="Arial"/>
              <a:buChar char="•"/>
            </a:pPr>
            <a:r>
              <a:rPr lang="en-US" sz="1000">
                <a:latin typeface="Arial"/>
                <a:ea typeface="Arial"/>
                <a:cs typeface="Arial"/>
                <a:sym typeface="Arial"/>
              </a:rPr>
              <a:t>An object physically contains other objects (for example, an airplane physically contains a pilot).</a:t>
            </a:r>
            <a:endParaRPr/>
          </a:p>
          <a:p>
            <a:pPr indent="0" lvl="0" marL="0" rtl="0" algn="l">
              <a:spcBef>
                <a:spcPts val="300"/>
              </a:spcBef>
              <a:spcAft>
                <a:spcPts val="0"/>
              </a:spcAft>
              <a:buNone/>
            </a:pPr>
            <a:r>
              <a:rPr lang="en-US" sz="1000">
                <a:latin typeface="Arial"/>
                <a:ea typeface="Arial"/>
                <a:cs typeface="Arial"/>
                <a:sym typeface="Arial"/>
              </a:rPr>
              <a:t>In the example on the slide, the relationship from Student to Schedule is modeled as an aggregation, because a Schedule is inherently tied to a particular Student. A Schedule outside of the context of a Student makes no sense in this Course Registration System. The relationship from Schedule to CourseOffering is an association because CourseOfferings may appear on multiple Schedules. </a:t>
            </a:r>
            <a:endParaRPr/>
          </a:p>
        </p:txBody>
      </p:sp>
      <p:sp>
        <p:nvSpPr>
          <p:cNvPr id="291" name="Google Shape;291;p11:notes"/>
          <p:cNvSpPr txBox="1"/>
          <p:nvPr/>
        </p:nvSpPr>
        <p:spPr>
          <a:xfrm>
            <a:off x="569913" y="1203325"/>
            <a:ext cx="1731962" cy="6827838"/>
          </a:xfrm>
          <a:prstGeom prst="rect">
            <a:avLst/>
          </a:prstGeom>
          <a:noFill/>
          <a:ln>
            <a:noFill/>
          </a:ln>
        </p:spPr>
        <p:txBody>
          <a:bodyPr anchorCtr="0" anchor="t" bIns="53225" lIns="106450" spcFirstLastPara="1" rIns="106450" wrap="square" tIns="53225">
            <a:no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Remind the students of the difference between a composition relationship and an aggregation relationship.</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25" name="Google Shape;325;p12:notes"/>
          <p:cNvSpPr/>
          <p:nvPr>
            <p:ph idx="2" type="sldImg"/>
          </p:nvPr>
        </p:nvSpPr>
        <p:spPr>
          <a:xfrm>
            <a:off x="2460625" y="833438"/>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p12:notes"/>
          <p:cNvSpPr txBox="1"/>
          <p:nvPr>
            <p:ph idx="1" type="body"/>
          </p:nvPr>
        </p:nvSpPr>
        <p:spPr>
          <a:xfrm>
            <a:off x="2484438" y="4095750"/>
            <a:ext cx="3970337" cy="393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Aggregation should be used only where the "parts" are incomplete outside the context of the whole. If the classes can have independent identity outside the context provided by other classes, or if they are not parts of some greater whole, then the association relationship should be used.  </a:t>
            </a:r>
            <a:endParaRPr/>
          </a:p>
          <a:p>
            <a:pPr indent="0" lvl="0" marL="0" rtl="0" algn="l">
              <a:spcBef>
                <a:spcPts val="300"/>
              </a:spcBef>
              <a:spcAft>
                <a:spcPts val="0"/>
              </a:spcAft>
              <a:buNone/>
            </a:pPr>
            <a:r>
              <a:rPr lang="en-US" sz="1000">
                <a:latin typeface="Arial"/>
                <a:ea typeface="Arial"/>
                <a:cs typeface="Arial"/>
                <a:sym typeface="Arial"/>
              </a:rPr>
              <a:t>When in doubt, an association is more appropriate. Aggregations are generally obvious. A good aggregate should be a natural, coherent part of the model. The meaning of aggregates should be simple to understand from the context. Choosing aggregation is only done to help clarify; it is not something that is crucial to the success of the modeling effort.</a:t>
            </a:r>
            <a:endParaRPr/>
          </a:p>
          <a:p>
            <a:pPr indent="0" lvl="0" marL="0" rtl="0" algn="l">
              <a:spcBef>
                <a:spcPts val="300"/>
              </a:spcBef>
              <a:spcAft>
                <a:spcPts val="0"/>
              </a:spcAft>
              <a:buNone/>
            </a:pPr>
            <a:r>
              <a:rPr lang="en-US" sz="1000">
                <a:latin typeface="Arial"/>
                <a:ea typeface="Arial"/>
                <a:cs typeface="Arial"/>
                <a:sym typeface="Arial"/>
              </a:rPr>
              <a:t>The use of aggregation versus association is dependent on the application you are developing. For example, if you are modeling a car dealership, the relationship between a car and the doors might be modeled as aggregation, because the car always comes with doors, and doors are never sold separately. However, if you are modeling a car parts store, you might model the relationship as an association, as the car (the body) might be independent of the doors.</a:t>
            </a:r>
            <a:endParaRPr/>
          </a:p>
        </p:txBody>
      </p:sp>
      <p:sp>
        <p:nvSpPr>
          <p:cNvPr id="327" name="Google Shape;327;p12:notes"/>
          <p:cNvSpPr txBox="1"/>
          <p:nvPr/>
        </p:nvSpPr>
        <p:spPr>
          <a:xfrm>
            <a:off x="569913" y="1200150"/>
            <a:ext cx="1855787" cy="1701800"/>
          </a:xfrm>
          <a:prstGeom prst="rect">
            <a:avLst/>
          </a:prstGeom>
          <a:noFill/>
          <a:ln>
            <a:noFill/>
          </a:ln>
        </p:spPr>
        <p:txBody>
          <a:bodyPr anchorCtr="0" anchor="t" bIns="53225" lIns="106450" spcFirstLastPara="1" rIns="106450" wrap="square" tIns="5322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Emphasize “in the context of” as a good litmus test for aggregation.</a:t>
            </a:r>
            <a:endParaRPr/>
          </a:p>
          <a:p>
            <a:pPr indent="0" lvl="0" marL="0" marR="0" rtl="0" algn="l">
              <a:spcBef>
                <a:spcPts val="450"/>
              </a:spcBef>
              <a:spcAft>
                <a:spcPts val="0"/>
              </a:spcAft>
              <a:buNone/>
            </a:pPr>
            <a:r>
              <a:rPr lang="en-US" sz="900">
                <a:solidFill>
                  <a:schemeClr val="dk1"/>
                </a:solidFill>
                <a:latin typeface="Arial"/>
                <a:ea typeface="Arial"/>
                <a:cs typeface="Arial"/>
                <a:sym typeface="Arial"/>
              </a:rPr>
              <a:t>Whether you model a relationship as an association or aggregation is really dependent on the domain being modeled. This is discussed in more detail on a later slide.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txBox="1"/>
          <p:nvPr/>
        </p:nvSpPr>
        <p:spPr>
          <a:xfrm>
            <a:off x="477078" y="1199015"/>
            <a:ext cx="1796498" cy="2030039"/>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Compositional aggregation can be shown by nesting one class within another. Composition is not equivalent to containment by value, as some languages do not support containment by value (for example, Java).  By value versus by reference is an implementation “thing,” whereas composition is a conceptual “thing” that can be realized in the implementation using by-value, or by-reference (if the distinction is supported). </a:t>
            </a:r>
            <a:endParaRPr/>
          </a:p>
        </p:txBody>
      </p:sp>
      <p:sp>
        <p:nvSpPr>
          <p:cNvPr id="358" name="Google Shape;358;p13: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13: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Composition is a form of aggregation with strong ownership and coincident lifetimes of the part with the aggregate. The whole </a:t>
            </a:r>
            <a:r>
              <a:rPr lang="en-US" sz="900">
                <a:latin typeface="Times New Roman"/>
                <a:ea typeface="Times New Roman"/>
                <a:cs typeface="Times New Roman"/>
                <a:sym typeface="Times New Roman"/>
              </a:rPr>
              <a:t>“</a:t>
            </a:r>
            <a:r>
              <a:rPr lang="en-US" sz="900">
                <a:latin typeface="Arial"/>
                <a:ea typeface="Arial"/>
                <a:cs typeface="Arial"/>
                <a:sym typeface="Arial"/>
              </a:rPr>
              <a:t>owns</a:t>
            </a:r>
            <a:r>
              <a:rPr lang="en-US" sz="900">
                <a:latin typeface="Times New Roman"/>
                <a:ea typeface="Times New Roman"/>
                <a:cs typeface="Times New Roman"/>
                <a:sym typeface="Times New Roman"/>
              </a:rPr>
              <a:t>”</a:t>
            </a:r>
            <a:r>
              <a:rPr lang="en-US" sz="900">
                <a:latin typeface="Arial"/>
                <a:ea typeface="Arial"/>
                <a:cs typeface="Arial"/>
                <a:sym typeface="Arial"/>
              </a:rPr>
              <a:t> the part and is responsible for the creation and destruction of the part. The part is removed when the whole is removed. The part may be removed (by the whole) before the whole is removed.</a:t>
            </a:r>
            <a:endParaRPr/>
          </a:p>
          <a:p>
            <a:pPr indent="0" lvl="0" marL="0" rtl="0" algn="l">
              <a:spcBef>
                <a:spcPts val="270"/>
              </a:spcBef>
              <a:spcAft>
                <a:spcPts val="0"/>
              </a:spcAft>
              <a:buNone/>
            </a:pPr>
            <a:r>
              <a:rPr lang="en-US" sz="900">
                <a:latin typeface="Arial"/>
                <a:ea typeface="Arial"/>
                <a:cs typeface="Arial"/>
                <a:sym typeface="Arial"/>
              </a:rPr>
              <a:t>A solid filled diamond is attached to the end of an association path (on the </a:t>
            </a:r>
            <a:r>
              <a:rPr lang="en-US" sz="900">
                <a:latin typeface="Times New Roman"/>
                <a:ea typeface="Times New Roman"/>
                <a:cs typeface="Times New Roman"/>
                <a:sym typeface="Times New Roman"/>
              </a:rPr>
              <a:t>“</a:t>
            </a:r>
            <a:r>
              <a:rPr lang="en-US" sz="900">
                <a:latin typeface="Arial"/>
                <a:ea typeface="Arial"/>
                <a:cs typeface="Arial"/>
                <a:sym typeface="Arial"/>
              </a:rPr>
              <a:t>whole side</a:t>
            </a:r>
            <a:r>
              <a:rPr lang="en-US" sz="900">
                <a:latin typeface="Times New Roman"/>
                <a:ea typeface="Times New Roman"/>
                <a:cs typeface="Times New Roman"/>
                <a:sym typeface="Times New Roman"/>
              </a:rPr>
              <a:t>”</a:t>
            </a:r>
            <a:r>
              <a:rPr lang="en-US" sz="900">
                <a:latin typeface="Arial"/>
                <a:ea typeface="Arial"/>
                <a:cs typeface="Arial"/>
                <a:sym typeface="Arial"/>
              </a:rPr>
              <a:t>) to indicate composition. </a:t>
            </a:r>
            <a:endParaRPr/>
          </a:p>
          <a:p>
            <a:pPr indent="0" lvl="0" marL="0" rtl="0" algn="l">
              <a:spcBef>
                <a:spcPts val="270"/>
              </a:spcBef>
              <a:spcAft>
                <a:spcPts val="0"/>
              </a:spcAft>
              <a:buNone/>
            </a:pPr>
            <a:r>
              <a:rPr lang="en-US" sz="900">
                <a:latin typeface="Arial"/>
                <a:ea typeface="Arial"/>
                <a:cs typeface="Arial"/>
                <a:sym typeface="Arial"/>
              </a:rPr>
              <a:t>In some cases, composition can be identified as early as Analysis, but more often it is not until Design that such decisions can be made confidently. That is why composition is introduced here rather than in Use-Case Analysis.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4:notes"/>
          <p:cNvSpPr txBox="1"/>
          <p:nvPr/>
        </p:nvSpPr>
        <p:spPr>
          <a:xfrm>
            <a:off x="477078" y="1202043"/>
            <a:ext cx="1830788" cy="3568922"/>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A multiplicity of “0” (that is, “0..0”) on the aggregate/whole side is not allowed (it would mean that the association could never exist). The UML does not preclude it, but it makes no sense, so for practical reasons, the Rational Unified Process does not allow it.</a:t>
            </a:r>
            <a:endParaRPr/>
          </a:p>
          <a:p>
            <a:pPr indent="0" lvl="0" marL="0" marR="0" rtl="0" algn="l">
              <a:spcBef>
                <a:spcPts val="592"/>
              </a:spcBef>
              <a:spcAft>
                <a:spcPts val="0"/>
              </a:spcAft>
              <a:buNone/>
            </a:pPr>
            <a:r>
              <a:rPr lang="en-US" sz="900">
                <a:solidFill>
                  <a:schemeClr val="dk1"/>
                </a:solidFill>
                <a:latin typeface="Arial"/>
                <a:ea typeface="Arial"/>
                <a:cs typeface="Arial"/>
                <a:sym typeface="Arial"/>
              </a:rPr>
              <a:t>0..1 and 0..* can be used to specify optionality, but on the “parts” of an aggregation only.  Remember, the definition of aggregation is that the part does not make sense outside the context of the whole, so having a multiplicity including 0 would make no sense (you could have a part without the whole).</a:t>
            </a:r>
            <a:endParaRPr/>
          </a:p>
          <a:p>
            <a:pPr indent="0" lvl="0" marL="0" marR="0" rtl="0" algn="l">
              <a:spcBef>
                <a:spcPts val="592"/>
              </a:spcBef>
              <a:spcAft>
                <a:spcPts val="0"/>
              </a:spcAft>
              <a:buNone/>
            </a:pPr>
            <a:r>
              <a:rPr lang="en-US" sz="900">
                <a:solidFill>
                  <a:schemeClr val="dk1"/>
                </a:solidFill>
                <a:latin typeface="Arial"/>
                <a:ea typeface="Arial"/>
                <a:cs typeface="Arial"/>
                <a:sym typeface="Arial"/>
              </a:rPr>
              <a:t>Another example of shared aggregation is an engine. A specific engine may be part of many different elements (cars, boats, planes) in it is lifetime.</a:t>
            </a:r>
            <a:endParaRPr/>
          </a:p>
        </p:txBody>
      </p:sp>
      <p:sp>
        <p:nvSpPr>
          <p:cNvPr id="382" name="Google Shape;382;p14: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3" name="Google Shape;383;p14: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For composition, the multiplicity of the aggregate end may not exceed one (it is unshared). The aggregation is also unchangeable; that is, once established its links cannot be changed. Parts with multiplicity having a lower bound of 0 can be created after the aggregate itself, but once created, they live and die with it. Such parts can also be explicitly removed before the death of the aggregate. </a:t>
            </a:r>
            <a:endParaRPr/>
          </a:p>
          <a:p>
            <a:pPr indent="0" lvl="0" marL="0" rtl="0" algn="l">
              <a:spcBef>
                <a:spcPts val="270"/>
              </a:spcBef>
              <a:spcAft>
                <a:spcPts val="0"/>
              </a:spcAft>
              <a:buNone/>
            </a:pPr>
            <a:r>
              <a:rPr lang="en-US" sz="900">
                <a:latin typeface="Arial"/>
                <a:ea typeface="Arial"/>
                <a:cs typeface="Arial"/>
                <a:sym typeface="Arial"/>
              </a:rPr>
              <a:t>Non-shared aggregation does not necessarily imply composition.</a:t>
            </a:r>
            <a:endParaRPr/>
          </a:p>
          <a:p>
            <a:pPr indent="0" lvl="0" marL="0" rtl="0" algn="l">
              <a:spcBef>
                <a:spcPts val="270"/>
              </a:spcBef>
              <a:spcAft>
                <a:spcPts val="0"/>
              </a:spcAft>
              <a:buNone/>
            </a:pPr>
            <a:r>
              <a:rPr lang="en-US" sz="900">
                <a:latin typeface="Arial"/>
                <a:ea typeface="Arial"/>
                <a:cs typeface="Arial"/>
                <a:sym typeface="Arial"/>
              </a:rPr>
              <a:t>An aggregation relationship that has a multiplicity greater than one established for the aggregate is called </a:t>
            </a:r>
            <a:r>
              <a:rPr lang="en-US" sz="900">
                <a:latin typeface="Times New Roman"/>
                <a:ea typeface="Times New Roman"/>
                <a:cs typeface="Times New Roman"/>
                <a:sym typeface="Times New Roman"/>
              </a:rPr>
              <a:t>“</a:t>
            </a:r>
            <a:r>
              <a:rPr lang="en-US" sz="900">
                <a:latin typeface="Arial"/>
                <a:ea typeface="Arial"/>
                <a:cs typeface="Arial"/>
                <a:sym typeface="Arial"/>
              </a:rPr>
              <a:t>shared,</a:t>
            </a:r>
            <a:r>
              <a:rPr lang="en-US" sz="900">
                <a:latin typeface="Times New Roman"/>
                <a:ea typeface="Times New Roman"/>
                <a:cs typeface="Times New Roman"/>
                <a:sym typeface="Times New Roman"/>
              </a:rPr>
              <a:t>”</a:t>
            </a:r>
            <a:r>
              <a:rPr lang="en-US" sz="900">
                <a:latin typeface="Arial"/>
                <a:ea typeface="Arial"/>
                <a:cs typeface="Arial"/>
                <a:sym typeface="Arial"/>
              </a:rPr>
              <a:t> and destroying the aggregate does not necessarily destroy the parts. By implication, a shared aggregation forms a graph, or a tree with many roots.  </a:t>
            </a:r>
            <a:endParaRPr/>
          </a:p>
          <a:p>
            <a:pPr indent="0" lvl="0" marL="0" rtl="0" algn="l">
              <a:spcBef>
                <a:spcPts val="270"/>
              </a:spcBef>
              <a:spcAft>
                <a:spcPts val="0"/>
              </a:spcAft>
              <a:buNone/>
            </a:pPr>
            <a:r>
              <a:rPr lang="en-US" sz="900">
                <a:latin typeface="Arial"/>
                <a:ea typeface="Arial"/>
                <a:cs typeface="Arial"/>
                <a:sym typeface="Arial"/>
              </a:rPr>
              <a:t>An example of shared aggregation may be between a University class and a Student class (the University being the </a:t>
            </a:r>
            <a:r>
              <a:rPr lang="en-US" sz="900">
                <a:latin typeface="Times New Roman"/>
                <a:ea typeface="Times New Roman"/>
                <a:cs typeface="Times New Roman"/>
                <a:sym typeface="Times New Roman"/>
              </a:rPr>
              <a:t>“</a:t>
            </a:r>
            <a:r>
              <a:rPr lang="en-US" sz="900">
                <a:latin typeface="Arial"/>
                <a:ea typeface="Arial"/>
                <a:cs typeface="Arial"/>
                <a:sym typeface="Arial"/>
              </a:rPr>
              <a:t>whole</a:t>
            </a:r>
            <a:r>
              <a:rPr lang="en-US" sz="900">
                <a:latin typeface="Times New Roman"/>
                <a:ea typeface="Times New Roman"/>
                <a:cs typeface="Times New Roman"/>
                <a:sym typeface="Times New Roman"/>
              </a:rPr>
              <a:t>”</a:t>
            </a:r>
            <a:r>
              <a:rPr lang="en-US" sz="900">
                <a:latin typeface="Arial"/>
                <a:ea typeface="Arial"/>
                <a:cs typeface="Arial"/>
                <a:sym typeface="Arial"/>
              </a:rPr>
              <a:t> and the Students being the </a:t>
            </a:r>
            <a:r>
              <a:rPr lang="en-US" sz="900">
                <a:latin typeface="Times New Roman"/>
                <a:ea typeface="Times New Roman"/>
                <a:cs typeface="Times New Roman"/>
                <a:sym typeface="Times New Roman"/>
              </a:rPr>
              <a:t>“</a:t>
            </a:r>
            <a:r>
              <a:rPr lang="en-US" sz="900">
                <a:latin typeface="Arial"/>
                <a:ea typeface="Arial"/>
                <a:cs typeface="Arial"/>
                <a:sym typeface="Arial"/>
              </a:rPr>
              <a:t>parts</a:t>
            </a:r>
            <a:r>
              <a:rPr lang="en-US" sz="900">
                <a:latin typeface="Times New Roman"/>
                <a:ea typeface="Times New Roman"/>
                <a:cs typeface="Times New Roman"/>
                <a:sym typeface="Times New Roman"/>
              </a:rPr>
              <a:t>”</a:t>
            </a:r>
            <a:r>
              <a:rPr lang="en-US" sz="900">
                <a:latin typeface="Arial"/>
                <a:ea typeface="Arial"/>
                <a:cs typeface="Arial"/>
                <a:sym typeface="Arial"/>
              </a:rPr>
              <a:t>).  With regards to registration, a Student does not make sense outside the context of a University, but a Student may be enrolled in classes in multiple Universities.</a:t>
            </a:r>
            <a:endParaRPr/>
          </a:p>
          <a:p>
            <a:pPr indent="0" lvl="0" marL="0" rtl="0" algn="l">
              <a:spcBef>
                <a:spcPts val="270"/>
              </a:spcBef>
              <a:spcAft>
                <a:spcPts val="0"/>
              </a:spcAft>
              <a:buNone/>
            </a:pPr>
            <a:r>
              <a:t/>
            </a:r>
            <a:endParaRPr sz="900">
              <a:latin typeface="Arial"/>
              <a:ea typeface="Arial"/>
              <a:cs typeface="Arial"/>
              <a:sym typeface="Arial"/>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15: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15: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The use of association versus aggregation was discussed in the Use-Case Analysis module. Here we discuss the use of </a:t>
            </a:r>
            <a:r>
              <a:rPr lang="en-US" sz="900">
                <a:latin typeface="Times New Roman"/>
                <a:ea typeface="Times New Roman"/>
                <a:cs typeface="Times New Roman"/>
                <a:sym typeface="Times New Roman"/>
              </a:rPr>
              <a:t>“</a:t>
            </a:r>
            <a:r>
              <a:rPr lang="en-US" sz="900">
                <a:latin typeface="Arial"/>
                <a:ea typeface="Arial"/>
                <a:cs typeface="Arial"/>
                <a:sym typeface="Arial"/>
              </a:rPr>
              <a:t>vanilla</a:t>
            </a:r>
            <a:r>
              <a:rPr lang="en-US" sz="900">
                <a:latin typeface="Times New Roman"/>
                <a:ea typeface="Times New Roman"/>
                <a:cs typeface="Times New Roman"/>
                <a:sym typeface="Times New Roman"/>
              </a:rPr>
              <a:t>”</a:t>
            </a:r>
            <a:r>
              <a:rPr lang="en-US" sz="900">
                <a:latin typeface="Arial"/>
                <a:ea typeface="Arial"/>
                <a:cs typeface="Arial"/>
                <a:sym typeface="Arial"/>
              </a:rPr>
              <a:t> aggregation versus composition.</a:t>
            </a:r>
            <a:endParaRPr/>
          </a:p>
          <a:p>
            <a:pPr indent="0" lvl="0" marL="0" rtl="0" algn="l">
              <a:spcBef>
                <a:spcPts val="270"/>
              </a:spcBef>
              <a:spcAft>
                <a:spcPts val="0"/>
              </a:spcAft>
              <a:buNone/>
            </a:pPr>
            <a:r>
              <a:rPr lang="en-US" sz="900">
                <a:latin typeface="Arial"/>
                <a:ea typeface="Arial"/>
                <a:cs typeface="Arial"/>
                <a:sym typeface="Arial"/>
              </a:rPr>
              <a:t>Composition should be used over "plain" aggregation when there is a strong interdependency between the aggregate and the parts, where the definition of the aggregate is incomplete without the parts. For example, it does not make sense to have an Order if there is nothing being ordered.</a:t>
            </a:r>
            <a:endParaRPr/>
          </a:p>
          <a:p>
            <a:pPr indent="0" lvl="0" marL="0" rtl="0" algn="l">
              <a:spcBef>
                <a:spcPts val="270"/>
              </a:spcBef>
              <a:spcAft>
                <a:spcPts val="0"/>
              </a:spcAft>
              <a:buNone/>
            </a:pPr>
            <a:r>
              <a:rPr lang="en-US" sz="900">
                <a:latin typeface="Arial"/>
                <a:ea typeface="Arial"/>
                <a:cs typeface="Arial"/>
                <a:sym typeface="Arial"/>
              </a:rPr>
              <a:t>Composition should be used when the whole and part must have coincident lifetimes. Selection of aggregation or composition will determine how object creation and deletion are designed.  </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16: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6" name="Google Shape;476;p16: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This slide demonstrates two examples of composition.</a:t>
            </a:r>
            <a:endParaRPr/>
          </a:p>
          <a:p>
            <a:pPr indent="0" lvl="0" marL="0" rtl="0" algn="l">
              <a:spcBef>
                <a:spcPts val="270"/>
              </a:spcBef>
              <a:spcAft>
                <a:spcPts val="0"/>
              </a:spcAft>
              <a:buNone/>
            </a:pPr>
            <a:r>
              <a:rPr lang="en-US" sz="900">
                <a:latin typeface="Arial"/>
                <a:ea typeface="Arial"/>
                <a:cs typeface="Arial"/>
                <a:sym typeface="Arial"/>
              </a:rPr>
              <a:t>The top graphic demonstrates how a previous aggregation relationship has been refined into a composition relationship.The relationship from Student to Schedule is modeled as a composition because if you got rid of the Student, you would get rid of any Schedules for that Student.</a:t>
            </a:r>
            <a:endParaRPr/>
          </a:p>
          <a:p>
            <a:pPr indent="0" lvl="0" marL="0" rtl="0" algn="l">
              <a:spcBef>
                <a:spcPts val="270"/>
              </a:spcBef>
              <a:spcAft>
                <a:spcPts val="0"/>
              </a:spcAft>
              <a:buNone/>
            </a:pPr>
            <a:r>
              <a:rPr lang="en-US" sz="900">
                <a:latin typeface="Arial"/>
                <a:ea typeface="Arial"/>
                <a:cs typeface="Arial"/>
                <a:sym typeface="Arial"/>
              </a:rPr>
              <a:t>The bottom graphic demonstrates how a previous association relationship has been refined into a composition relationship. It was decided that an instance of a RegistrationController would NEVER exist outside the context of a particular Register For Courses Student session. Thus, since the RegisterForCoursesForm represents a particular Register For Courses session, a RegistrationController would NEVER exist outside of the context of a particular RegisterForCoursesForm. When a MaintainScheduleForm is created, an instance of RegistrationController should always be created.  When MaintainScheduleForm is deleted, the instance of the RegistrationController should always be deleted. Thus, because they now have coincident lifetimes, composition is used instead of an association.</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17:notes"/>
          <p:cNvSpPr txBox="1"/>
          <p:nvPr/>
        </p:nvSpPr>
        <p:spPr>
          <a:xfrm>
            <a:off x="486024" y="1199015"/>
            <a:ext cx="1792025" cy="3907476"/>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Composition and attributes are semantically equivalent. It just depends on what you need to model to make your system understandable.</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Classes are capable of expressing structure, relationships, and more complex behavior. If you need any of these, use a class.</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Attributes cannot have structure; they are simple values, usually instances of primitive data types. If you don’t need structure, use an attribute.  If you don’t need to do more than get or set the value of something, use an attribute.</a:t>
            </a:r>
            <a:endParaRPr/>
          </a:p>
          <a:p>
            <a:pPr indent="0" lvl="0" marL="0" marR="0" rtl="0" algn="l">
              <a:spcBef>
                <a:spcPts val="592"/>
              </a:spcBef>
              <a:spcAft>
                <a:spcPts val="0"/>
              </a:spcAft>
              <a:buNone/>
            </a:pPr>
            <a:r>
              <a:rPr lang="en-US" sz="900">
                <a:solidFill>
                  <a:schemeClr val="dk1"/>
                </a:solidFill>
                <a:latin typeface="Arial"/>
                <a:ea typeface="Arial"/>
                <a:cs typeface="Arial"/>
                <a:sym typeface="Arial"/>
              </a:rPr>
              <a:t>From the UML:</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“A data type is a type whose values have no identity, i.e. they are pure values. Data types include primitive built-in types (such as integer and string) as well as enumeration types”.</a:t>
            </a:r>
            <a:endParaRPr/>
          </a:p>
        </p:txBody>
      </p:sp>
      <p:sp>
        <p:nvSpPr>
          <p:cNvPr id="508" name="Google Shape;508;p17: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9" name="Google Shape;509;p17: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A property of a class is something that the class knows about. You can model a class property as a class (with a composition relationship), or as a set of attributes of the class. In other words, you can use composition to model an attribute. </a:t>
            </a:r>
            <a:endParaRPr/>
          </a:p>
          <a:p>
            <a:pPr indent="0" lvl="0" marL="0" rtl="0" algn="l">
              <a:spcBef>
                <a:spcPts val="270"/>
              </a:spcBef>
              <a:spcAft>
                <a:spcPts val="0"/>
              </a:spcAft>
              <a:buNone/>
            </a:pPr>
            <a:r>
              <a:rPr lang="en-US" sz="900">
                <a:latin typeface="Arial"/>
                <a:ea typeface="Arial"/>
                <a:cs typeface="Arial"/>
                <a:sym typeface="Arial"/>
              </a:rPr>
              <a:t>The decision whether to use a class and composition, or a set of attributes, depends on the following:</a:t>
            </a:r>
            <a:endParaRPr/>
          </a:p>
          <a:p>
            <a:pPr indent="-108275" lvl="1" marL="216552" rtl="0" algn="l">
              <a:spcBef>
                <a:spcPts val="270"/>
              </a:spcBef>
              <a:spcAft>
                <a:spcPts val="0"/>
              </a:spcAft>
              <a:buClr>
                <a:schemeClr val="dk1"/>
              </a:buClr>
              <a:buSzPts val="900"/>
              <a:buFont typeface="Arial"/>
              <a:buChar char="•"/>
            </a:pPr>
            <a:r>
              <a:rPr lang="en-US" sz="900">
                <a:latin typeface="Arial"/>
                <a:ea typeface="Arial"/>
                <a:cs typeface="Arial"/>
                <a:sym typeface="Arial"/>
              </a:rPr>
              <a:t>Do the properties need to have independent identity, such that they can be referenced from a number of objects?  If so, use a class and composition.</a:t>
            </a:r>
            <a:endParaRPr/>
          </a:p>
          <a:p>
            <a:pPr indent="-108275" lvl="1" marL="216552" rtl="0" algn="l">
              <a:spcBef>
                <a:spcPts val="270"/>
              </a:spcBef>
              <a:spcAft>
                <a:spcPts val="0"/>
              </a:spcAft>
              <a:buClr>
                <a:schemeClr val="dk1"/>
              </a:buClr>
              <a:buSzPts val="900"/>
              <a:buFont typeface="Arial"/>
              <a:buChar char="•"/>
            </a:pPr>
            <a:r>
              <a:rPr lang="en-US" sz="900">
                <a:latin typeface="Arial"/>
                <a:ea typeface="Arial"/>
                <a:cs typeface="Arial"/>
                <a:sym typeface="Arial"/>
              </a:rPr>
              <a:t>Do a number of classes need to have the same properties? If so, use a class and composition.</a:t>
            </a:r>
            <a:endParaRPr/>
          </a:p>
          <a:p>
            <a:pPr indent="-108275" lvl="1" marL="216552" rtl="0" algn="l">
              <a:spcBef>
                <a:spcPts val="270"/>
              </a:spcBef>
              <a:spcAft>
                <a:spcPts val="0"/>
              </a:spcAft>
              <a:buClr>
                <a:schemeClr val="dk1"/>
              </a:buClr>
              <a:buSzPts val="900"/>
              <a:buFont typeface="Arial"/>
              <a:buChar char="•"/>
            </a:pPr>
            <a:r>
              <a:rPr lang="en-US" sz="900">
                <a:latin typeface="Arial"/>
                <a:ea typeface="Arial"/>
                <a:cs typeface="Arial"/>
                <a:sym typeface="Arial"/>
              </a:rPr>
              <a:t>Do the properties have a complex structure, properties, and behavior of their own?  If so, use a class (or classes) and composition.</a:t>
            </a:r>
            <a:endParaRPr/>
          </a:p>
          <a:p>
            <a:pPr indent="-108275" lvl="1" marL="216552" rtl="0" algn="l">
              <a:spcBef>
                <a:spcPts val="270"/>
              </a:spcBef>
              <a:spcAft>
                <a:spcPts val="0"/>
              </a:spcAft>
              <a:buClr>
                <a:schemeClr val="dk1"/>
              </a:buClr>
              <a:buSzPts val="900"/>
              <a:buFont typeface="Arial"/>
              <a:buChar char="•"/>
            </a:pPr>
            <a:r>
              <a:rPr lang="en-US" sz="900">
                <a:latin typeface="Arial"/>
                <a:ea typeface="Arial"/>
                <a:cs typeface="Arial"/>
                <a:sym typeface="Arial"/>
              </a:rPr>
              <a:t>Otherwise, use attributes.</a:t>
            </a:r>
            <a:endParaRPr/>
          </a:p>
          <a:p>
            <a:pPr indent="0" lvl="0" marL="0" rtl="0" algn="l">
              <a:spcBef>
                <a:spcPts val="270"/>
              </a:spcBef>
              <a:spcAft>
                <a:spcPts val="0"/>
              </a:spcAft>
              <a:buNone/>
            </a:pPr>
            <a:r>
              <a:rPr lang="en-US" sz="900">
                <a:latin typeface="Arial"/>
                <a:ea typeface="Arial"/>
                <a:cs typeface="Arial"/>
                <a:sym typeface="Arial"/>
              </a:rPr>
              <a:t>The decision of whether to use attributes or a composition association to a separate class may also be determined based on the degree of coupling between the concepts being represented. When the concepts being modeled are tightly connected, use attributes.  When the concepts are likely to change independently, use composition.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18: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p18: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In this example, Semester is not a property that requires independent identity, nor does it have a complex structure. Thus, it was modeled as an attribute of Schedule.  </a:t>
            </a:r>
            <a:endParaRPr/>
          </a:p>
          <a:p>
            <a:pPr indent="0" lvl="0" marL="0" rtl="0" algn="l">
              <a:spcBef>
                <a:spcPts val="270"/>
              </a:spcBef>
              <a:spcAft>
                <a:spcPts val="0"/>
              </a:spcAft>
              <a:buNone/>
            </a:pPr>
            <a:r>
              <a:rPr lang="en-US" sz="900">
                <a:latin typeface="Arial"/>
                <a:ea typeface="Arial"/>
                <a:cs typeface="Arial"/>
                <a:sym typeface="Arial"/>
              </a:rPr>
              <a:t>On the other hand, the relationship from Student to Schedule is modeled as a composition rather than an attribute because Schedule has a complex structure and properties of its own.</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9:notes"/>
          <p:cNvSpPr/>
          <p:nvPr>
            <p:ph idx="2" type="sldImg"/>
          </p:nvPr>
        </p:nvSpPr>
        <p:spPr>
          <a:xfrm>
            <a:off x="2446338" y="812800"/>
            <a:ext cx="4037012"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19:notes"/>
          <p:cNvSpPr txBox="1"/>
          <p:nvPr>
            <p:ph idx="1" type="body"/>
          </p:nvPr>
        </p:nvSpPr>
        <p:spPr>
          <a:xfrm>
            <a:off x="2445026" y="3980063"/>
            <a:ext cx="3973168" cy="4020938"/>
          </a:xfrm>
          <a:prstGeom prst="rect">
            <a:avLst/>
          </a:prstGeom>
          <a:noFill/>
          <a:ln>
            <a:noFill/>
          </a:ln>
        </p:spPr>
        <p:txBody>
          <a:bodyPr anchorCtr="0" anchor="t" bIns="45075" lIns="90150" spcFirstLastPara="1" rIns="90150" wrap="square" tIns="45075">
            <a:noAutofit/>
          </a:bodyPr>
          <a:lstStyle/>
          <a:p>
            <a:pPr indent="-108276" lvl="0" marL="108276" rtl="0" algn="l">
              <a:spcBef>
                <a:spcPts val="0"/>
              </a:spcBef>
              <a:spcAft>
                <a:spcPts val="0"/>
              </a:spcAft>
              <a:buClr>
                <a:schemeClr val="dk1"/>
              </a:buClr>
              <a:buSzPts val="900"/>
              <a:buFont typeface="Arial"/>
              <a:buChar char="•"/>
            </a:pPr>
            <a:r>
              <a:rPr lang="en-US" sz="900">
                <a:latin typeface="Arial"/>
                <a:ea typeface="Arial"/>
                <a:cs typeface="Arial"/>
                <a:sym typeface="Arial"/>
              </a:rPr>
              <a:t>The navigability</a:t>
            </a:r>
            <a:r>
              <a:rPr b="1" lang="en-US" sz="900">
                <a:latin typeface="Arial"/>
                <a:ea typeface="Arial"/>
                <a:cs typeface="Arial"/>
                <a:sym typeface="Arial"/>
              </a:rPr>
              <a:t> </a:t>
            </a:r>
            <a:r>
              <a:rPr lang="en-US" sz="900">
                <a:latin typeface="Arial"/>
                <a:ea typeface="Arial"/>
                <a:cs typeface="Arial"/>
                <a:sym typeface="Arial"/>
              </a:rPr>
              <a:t>property on a role indicates that it is possible to navigate from an associating class to the target class using the association. This may be implemented in a number of ways: by direct object references, by associative arrays, hash-tables, or any other implementation technique that allows one object to reference another. </a:t>
            </a:r>
            <a:endParaRPr/>
          </a:p>
          <a:p>
            <a:pPr indent="-108276" lvl="0" marL="108276" rtl="0" algn="l">
              <a:spcBef>
                <a:spcPts val="270"/>
              </a:spcBef>
              <a:spcAft>
                <a:spcPts val="0"/>
              </a:spcAft>
              <a:buClr>
                <a:schemeClr val="dk1"/>
              </a:buClr>
              <a:buSzPts val="900"/>
              <a:buFont typeface="Arial"/>
              <a:buChar char="•"/>
            </a:pPr>
            <a:r>
              <a:rPr lang="en-US" sz="900">
                <a:latin typeface="Arial"/>
                <a:ea typeface="Arial"/>
                <a:cs typeface="Arial"/>
                <a:sym typeface="Arial"/>
              </a:rPr>
              <a:t>Navigability is indicated by an open arrow placed on the target end of the association line next to the target class (the one being navigated to). The default value of the navigability property is true (associations are bi-directional by default).</a:t>
            </a:r>
            <a:endParaRPr/>
          </a:p>
          <a:p>
            <a:pPr indent="-108276" lvl="0" marL="108276" rtl="0" algn="l">
              <a:spcBef>
                <a:spcPts val="270"/>
              </a:spcBef>
              <a:spcAft>
                <a:spcPts val="0"/>
              </a:spcAft>
              <a:buClr>
                <a:schemeClr val="dk1"/>
              </a:buClr>
              <a:buSzPts val="900"/>
              <a:buFont typeface="Arial"/>
              <a:buChar char="•"/>
            </a:pPr>
            <a:r>
              <a:rPr lang="en-US" sz="900">
                <a:latin typeface="Arial"/>
                <a:ea typeface="Arial"/>
                <a:cs typeface="Arial"/>
                <a:sym typeface="Arial"/>
              </a:rPr>
              <a:t>In the course registration example, the association between the Schedule and the Course Offering is navigable in both directions. That is, a Schedule must know the Course Offering assigned to the Schedule and the Course Offering must know the Schedules it has been placed in. </a:t>
            </a:r>
            <a:endParaRPr/>
          </a:p>
          <a:p>
            <a:pPr indent="-108276" lvl="0" marL="108276" rtl="0" algn="l">
              <a:spcBef>
                <a:spcPts val="270"/>
              </a:spcBef>
              <a:spcAft>
                <a:spcPts val="0"/>
              </a:spcAft>
              <a:buClr>
                <a:schemeClr val="dk1"/>
              </a:buClr>
              <a:buSzPts val="900"/>
              <a:buFont typeface="Arial"/>
              <a:buChar char="•"/>
            </a:pPr>
            <a:r>
              <a:rPr lang="en-US" sz="900">
                <a:latin typeface="Arial"/>
                <a:ea typeface="Arial"/>
                <a:cs typeface="Arial"/>
                <a:sym typeface="Arial"/>
              </a:rPr>
              <a:t>When no arrowheads are shown, the association is assumed to be navigable in both directions.</a:t>
            </a:r>
            <a:endParaRPr/>
          </a:p>
          <a:p>
            <a:pPr indent="-108276" lvl="0" marL="108276" rtl="0" algn="l">
              <a:spcBef>
                <a:spcPts val="270"/>
              </a:spcBef>
              <a:spcAft>
                <a:spcPts val="0"/>
              </a:spcAft>
              <a:buClr>
                <a:schemeClr val="dk1"/>
              </a:buClr>
              <a:buSzPts val="900"/>
              <a:buFont typeface="Arial"/>
              <a:buChar char="•"/>
            </a:pPr>
            <a:r>
              <a:rPr lang="en-US" sz="900">
                <a:latin typeface="Arial"/>
                <a:ea typeface="Arial"/>
                <a:cs typeface="Arial"/>
                <a:sym typeface="Arial"/>
              </a:rPr>
              <a:t>In the case of the associations between Schedule</a:t>
            </a:r>
            <a:r>
              <a:rPr b="1" lang="en-US" sz="900">
                <a:latin typeface="Arial"/>
                <a:ea typeface="Arial"/>
                <a:cs typeface="Arial"/>
                <a:sym typeface="Arial"/>
              </a:rPr>
              <a:t> </a:t>
            </a:r>
            <a:r>
              <a:rPr lang="en-US" sz="900">
                <a:latin typeface="Arial"/>
                <a:ea typeface="Arial"/>
                <a:cs typeface="Arial"/>
                <a:sym typeface="Arial"/>
              </a:rPr>
              <a:t>and Registration Controller</a:t>
            </a:r>
            <a:r>
              <a:rPr b="1" lang="en-US" sz="900">
                <a:latin typeface="Arial"/>
                <a:ea typeface="Arial"/>
                <a:cs typeface="Arial"/>
                <a:sym typeface="Arial"/>
              </a:rPr>
              <a:t>, </a:t>
            </a:r>
            <a:r>
              <a:rPr lang="en-US" sz="900">
                <a:latin typeface="Arial"/>
                <a:ea typeface="Arial"/>
                <a:cs typeface="Arial"/>
                <a:sym typeface="Arial"/>
              </a:rPr>
              <a:t>the Registration Controller must know its Schedules, but the Schedules</a:t>
            </a:r>
            <a:r>
              <a:rPr b="1" lang="en-US" sz="900">
                <a:latin typeface="Arial"/>
                <a:ea typeface="Arial"/>
                <a:cs typeface="Arial"/>
                <a:sym typeface="Arial"/>
              </a:rPr>
              <a:t> </a:t>
            </a:r>
            <a:r>
              <a:rPr lang="en-US" sz="900">
                <a:latin typeface="Arial"/>
                <a:ea typeface="Arial"/>
                <a:cs typeface="Arial"/>
                <a:sym typeface="Arial"/>
              </a:rPr>
              <a:t>have no knowledge of the Registration Controllers (or other classes, since many things have addresses) associated with the address. As a result, the navigability property of the Registration Controller end of the association is turned off.</a:t>
            </a:r>
            <a:endParaRPr/>
          </a:p>
          <a:p>
            <a:pPr indent="-108276" lvl="0" marL="108276" rtl="0" algn="l">
              <a:spcBef>
                <a:spcPts val="270"/>
              </a:spcBef>
              <a:spcAft>
                <a:spcPts val="0"/>
              </a:spcAft>
              <a:buNone/>
            </a:pPr>
            <a:r>
              <a:t/>
            </a:r>
            <a:endParaRPr sz="900">
              <a:latin typeface="Arial"/>
              <a:ea typeface="Arial"/>
              <a:cs typeface="Arial"/>
              <a:sym typeface="Arial"/>
            </a:endParaRPr>
          </a:p>
          <a:p>
            <a:pPr indent="-108276" lvl="0" marL="108276" rtl="0" algn="l">
              <a:spcBef>
                <a:spcPts val="270"/>
              </a:spcBef>
              <a:spcAft>
                <a:spcPts val="0"/>
              </a:spcAft>
              <a:buNone/>
            </a:pPr>
            <a:r>
              <a:t/>
            </a:r>
            <a:endParaRPr sz="900">
              <a:latin typeface="Arial"/>
              <a:ea typeface="Arial"/>
              <a:cs typeface="Arial"/>
              <a:sym typeface="Arial"/>
            </a:endParaRPr>
          </a:p>
        </p:txBody>
      </p:sp>
      <p:sp>
        <p:nvSpPr>
          <p:cNvPr id="556" name="Google Shape;556;p19:notes"/>
          <p:cNvSpPr txBox="1"/>
          <p:nvPr/>
        </p:nvSpPr>
        <p:spPr>
          <a:xfrm>
            <a:off x="438316" y="1202043"/>
            <a:ext cx="1783080" cy="6826208"/>
          </a:xfrm>
          <a:prstGeom prst="rect">
            <a:avLst/>
          </a:prstGeom>
          <a:noFill/>
          <a:ln>
            <a:noFill/>
          </a:ln>
        </p:spPr>
        <p:txBody>
          <a:bodyPr anchorCtr="0" anchor="t" bIns="53200" lIns="106425" spcFirstLastPara="1" rIns="106425" wrap="square" tIns="53200">
            <a:noAutofit/>
          </a:bodyPr>
          <a:lstStyle/>
          <a:p>
            <a:pPr indent="0" lvl="0" marL="0" marR="0" rtl="0" algn="l">
              <a:lnSpc>
                <a:spcPct val="87000"/>
              </a:lnSpc>
              <a:spcBef>
                <a:spcPts val="0"/>
              </a:spcBef>
              <a:spcAft>
                <a:spcPts val="0"/>
              </a:spcAft>
              <a:buNone/>
            </a:pPr>
            <a:r>
              <a:rPr lang="en-US" sz="900">
                <a:solidFill>
                  <a:schemeClr val="dk1"/>
                </a:solidFill>
                <a:latin typeface="Arial"/>
                <a:ea typeface="Arial"/>
                <a:cs typeface="Arial"/>
                <a:sym typeface="Arial"/>
              </a:rPr>
              <a:t>This slide was first introduced in Concepts of Object Orientation</a:t>
            </a:r>
            <a:r>
              <a:rPr i="1" lang="en-US" sz="900">
                <a:solidFill>
                  <a:schemeClr val="dk1"/>
                </a:solidFill>
                <a:latin typeface="Arial"/>
                <a:ea typeface="Arial"/>
                <a:cs typeface="Arial"/>
                <a:sym typeface="Arial"/>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20:notes"/>
          <p:cNvSpPr txBox="1"/>
          <p:nvPr/>
        </p:nvSpPr>
        <p:spPr>
          <a:xfrm>
            <a:off x="457698" y="1202043"/>
            <a:ext cx="1829296" cy="3197025"/>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Review the basic definition of navigability with the students:</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The navigability property on a role indicates that it is possible to navigate from an associating class to the target class using the association.</a:t>
            </a:r>
            <a:endParaRPr/>
          </a:p>
          <a:p>
            <a:pPr indent="0" lvl="0" marL="0" marR="0" rtl="0" algn="l">
              <a:spcBef>
                <a:spcPts val="497"/>
              </a:spcBef>
              <a:spcAft>
                <a:spcPts val="0"/>
              </a:spcAft>
              <a:buNone/>
            </a:pPr>
            <a:r>
              <a:rPr lang="en-US" sz="900">
                <a:solidFill>
                  <a:schemeClr val="dk1"/>
                </a:solidFill>
                <a:latin typeface="Arial"/>
                <a:ea typeface="Arial"/>
                <a:cs typeface="Arial"/>
                <a:sym typeface="Arial"/>
              </a:rPr>
              <a:t>Because navigability is true by default, you only need to find associations (and aggregations) where all opposite link roles of all objects of a class in the association do not require navigability. In those cases, set the navigability to False on the class‘s role.</a:t>
            </a:r>
            <a:endParaRPr/>
          </a:p>
          <a:p>
            <a:pPr indent="0" lvl="0" marL="0" marR="0" rtl="0" algn="l">
              <a:spcBef>
                <a:spcPts val="497"/>
              </a:spcBef>
              <a:spcAft>
                <a:spcPts val="0"/>
              </a:spcAft>
              <a:buNone/>
            </a:pPr>
            <a:r>
              <a:rPr lang="en-US" sz="900">
                <a:solidFill>
                  <a:schemeClr val="dk1"/>
                </a:solidFill>
                <a:latin typeface="Arial"/>
                <a:ea typeface="Arial"/>
                <a:cs typeface="Arial"/>
                <a:sym typeface="Arial"/>
              </a:rPr>
              <a:t>This is not always as straightforward as it may seem. We’ll take a look at this in more detail on subsequent slides.</a:t>
            </a:r>
            <a:endParaRPr/>
          </a:p>
          <a:p>
            <a:pPr indent="0" lvl="0" marL="0" marR="0" rtl="0" algn="l">
              <a:spcBef>
                <a:spcPts val="450"/>
              </a:spcBef>
              <a:spcAft>
                <a:spcPts val="0"/>
              </a:spcAft>
              <a:buNone/>
            </a:pPr>
            <a:r>
              <a:t/>
            </a:r>
            <a:endParaRPr sz="900">
              <a:solidFill>
                <a:schemeClr val="dk1"/>
              </a:solidFill>
              <a:latin typeface="Arial"/>
              <a:ea typeface="Arial"/>
              <a:cs typeface="Arial"/>
              <a:sym typeface="Arial"/>
            </a:endParaRPr>
          </a:p>
        </p:txBody>
      </p:sp>
      <p:sp>
        <p:nvSpPr>
          <p:cNvPr id="578" name="Google Shape;578;p20: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9" name="Google Shape;579;p20: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During Use-Case Analysis, associations (and aggregations) may have been assumed to be bi-directional (that is, communication may occur in both directions).</a:t>
            </a:r>
            <a:endParaRPr/>
          </a:p>
          <a:p>
            <a:pPr indent="0" lvl="0" marL="0" rtl="0" algn="l">
              <a:spcBef>
                <a:spcPts val="270"/>
              </a:spcBef>
              <a:spcAft>
                <a:spcPts val="0"/>
              </a:spcAft>
              <a:buNone/>
            </a:pPr>
            <a:r>
              <a:rPr lang="en-US" sz="900">
                <a:latin typeface="Arial"/>
                <a:ea typeface="Arial"/>
                <a:cs typeface="Arial"/>
                <a:sym typeface="Arial"/>
              </a:rPr>
              <a:t>During </a:t>
            </a:r>
            <a:r>
              <a:rPr b="1" lang="en-US" sz="900">
                <a:latin typeface="Arial"/>
                <a:ea typeface="Arial"/>
                <a:cs typeface="Arial"/>
                <a:sym typeface="Arial"/>
              </a:rPr>
              <a:t>Class Design</a:t>
            </a:r>
            <a:r>
              <a:rPr lang="en-US" sz="900">
                <a:latin typeface="Arial"/>
                <a:ea typeface="Arial"/>
                <a:cs typeface="Arial"/>
                <a:sym typeface="Arial"/>
              </a:rPr>
              <a:t>, the association</a:t>
            </a:r>
            <a:r>
              <a:rPr lang="en-US" sz="900">
                <a:latin typeface="Times New Roman"/>
                <a:ea typeface="Times New Roman"/>
                <a:cs typeface="Times New Roman"/>
                <a:sym typeface="Times New Roman"/>
              </a:rPr>
              <a:t>’</a:t>
            </a:r>
            <a:r>
              <a:rPr lang="en-US" sz="900">
                <a:latin typeface="Arial"/>
                <a:ea typeface="Arial"/>
                <a:cs typeface="Arial"/>
                <a:sym typeface="Arial"/>
              </a:rPr>
              <a:t>s navigability needs to be refined so that only the required communication gets implemented. </a:t>
            </a:r>
            <a:endParaRPr/>
          </a:p>
          <a:p>
            <a:pPr indent="0" lvl="0" marL="0" rtl="0" algn="l">
              <a:spcBef>
                <a:spcPts val="270"/>
              </a:spcBef>
              <a:spcAft>
                <a:spcPts val="0"/>
              </a:spcAft>
              <a:buNone/>
            </a:pPr>
            <a:r>
              <a:rPr lang="en-US" sz="900">
                <a:latin typeface="Arial"/>
                <a:ea typeface="Arial"/>
                <a:cs typeface="Arial"/>
                <a:sym typeface="Arial"/>
              </a:rPr>
              <a:t>Navigation is readdressed in </a:t>
            </a:r>
            <a:r>
              <a:rPr b="1" lang="en-US" sz="900">
                <a:latin typeface="Arial"/>
                <a:ea typeface="Arial"/>
                <a:cs typeface="Arial"/>
                <a:sym typeface="Arial"/>
              </a:rPr>
              <a:t>Class Design</a:t>
            </a:r>
            <a:r>
              <a:rPr lang="en-US" sz="900">
                <a:latin typeface="Arial"/>
                <a:ea typeface="Arial"/>
                <a:cs typeface="Arial"/>
                <a:sym typeface="Arial"/>
              </a:rPr>
              <a:t> because we now understand the responsibilities and collaborations of the classes better than we did in Use-Case Analysis. We also want to refine the relationships between classes.Two-way relationships are more difficult and expensive to implement than one-way relationships.  Thus, one of the goals in </a:t>
            </a:r>
            <a:r>
              <a:rPr b="1" lang="en-US" sz="900">
                <a:latin typeface="Arial"/>
                <a:ea typeface="Arial"/>
                <a:cs typeface="Arial"/>
                <a:sym typeface="Arial"/>
              </a:rPr>
              <a:t>Class Design</a:t>
            </a:r>
            <a:r>
              <a:rPr lang="en-US" sz="900">
                <a:latin typeface="Arial"/>
                <a:ea typeface="Arial"/>
                <a:cs typeface="Arial"/>
                <a:sym typeface="Arial"/>
              </a:rPr>
              <a:t> is the reduction of two-way (bi-directional) relationships into one-way (unidirectional) relationships.</a:t>
            </a:r>
            <a:endParaRPr/>
          </a:p>
          <a:p>
            <a:pPr indent="0" lvl="0" marL="0" rtl="0" algn="l">
              <a:spcBef>
                <a:spcPts val="270"/>
              </a:spcBef>
              <a:spcAft>
                <a:spcPts val="0"/>
              </a:spcAft>
              <a:buNone/>
            </a:pPr>
            <a:r>
              <a:rPr lang="en-US" sz="900">
                <a:latin typeface="Arial"/>
                <a:ea typeface="Arial"/>
                <a:cs typeface="Arial"/>
                <a:sym typeface="Arial"/>
              </a:rPr>
              <a:t>The need for navigation is revealed by the use cases and scenarios.  The navigability defined in the class model must support the message structure designed in the interaction diagrams.</a:t>
            </a:r>
            <a:endParaRPr/>
          </a:p>
          <a:p>
            <a:pPr indent="0" lvl="0" marL="0" rtl="0" algn="l">
              <a:spcBef>
                <a:spcPts val="270"/>
              </a:spcBef>
              <a:spcAft>
                <a:spcPts val="0"/>
              </a:spcAft>
              <a:buNone/>
            </a:pPr>
            <a:r>
              <a:rPr lang="en-US" sz="900">
                <a:latin typeface="Arial"/>
                <a:ea typeface="Arial"/>
                <a:cs typeface="Arial"/>
                <a:sym typeface="Arial"/>
              </a:rPr>
              <a:t>In some circumstances even if two-way navigation is required, a one-way association may suffice. For example, you can use one-way association if navigation in one of the directions is very infrequent and does not have stringent performance requirements, or the number of instances of one of the classes is very small. </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1:notes"/>
          <p:cNvSpPr txBox="1"/>
          <p:nvPr/>
        </p:nvSpPr>
        <p:spPr>
          <a:xfrm>
            <a:off x="468134" y="1202043"/>
            <a:ext cx="1829297" cy="1060543"/>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This example is somewhat contrived, since having a small number of students or a small number of CourseOfferings is probably unlikely for a real-life registration system, but you get the point.</a:t>
            </a:r>
            <a:endParaRPr/>
          </a:p>
        </p:txBody>
      </p:sp>
      <p:sp>
        <p:nvSpPr>
          <p:cNvPr id="626" name="Google Shape;626;p21: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7" name="Google Shape;627;p21: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b="1" lang="en-US" sz="900">
                <a:latin typeface="Arial"/>
                <a:ea typeface="Arial"/>
                <a:cs typeface="Arial"/>
                <a:sym typeface="Arial"/>
              </a:rPr>
              <a:t>In Situation 1:</a:t>
            </a:r>
            <a:r>
              <a:rPr lang="en-US" sz="900">
                <a:latin typeface="Arial"/>
                <a:ea typeface="Arial"/>
                <a:cs typeface="Arial"/>
                <a:sym typeface="Arial"/>
              </a:rPr>
              <a:t>  Implement only the Schedule-to-CourseOffering direction.  If navigation is required in the other direction (that is, if a list of Schedules on which the CourseOffering appears is needed), it is implemented by searching all of the Schedule instances and checking the CourseOfferings that appear on them.</a:t>
            </a:r>
            <a:endParaRPr/>
          </a:p>
          <a:p>
            <a:pPr indent="0" lvl="0" marL="0" rtl="0" algn="l">
              <a:spcBef>
                <a:spcPts val="270"/>
              </a:spcBef>
              <a:spcAft>
                <a:spcPts val="0"/>
              </a:spcAft>
              <a:buNone/>
            </a:pPr>
            <a:r>
              <a:rPr b="1" lang="en-US" sz="900">
                <a:latin typeface="Arial"/>
                <a:ea typeface="Arial"/>
                <a:cs typeface="Arial"/>
                <a:sym typeface="Arial"/>
              </a:rPr>
              <a:t>In Situation 2:</a:t>
            </a:r>
            <a:r>
              <a:rPr lang="en-US" sz="900">
                <a:latin typeface="Arial"/>
                <a:ea typeface="Arial"/>
                <a:cs typeface="Arial"/>
                <a:sym typeface="Arial"/>
              </a:rPr>
              <a:t>  Implement only the CourseOffering-to-Schedule direction. If navigation is required in the other direction (that is, if a list of CourseOfferings on a Schedule is needed), it is implemented by searching all of the CourseOffering instances and checking the Schedules on which they appear.</a:t>
            </a:r>
            <a:endParaRPr/>
          </a:p>
          <a:p>
            <a:pPr indent="0" lvl="0" marL="0" rtl="0" algn="l">
              <a:spcBef>
                <a:spcPts val="270"/>
              </a:spcBef>
              <a:spcAft>
                <a:spcPts val="0"/>
              </a:spcAft>
              <a:buNone/>
            </a:pPr>
            <a:r>
              <a:rPr lang="en-US" sz="900">
                <a:latin typeface="Arial"/>
                <a:ea typeface="Arial"/>
                <a:cs typeface="Arial"/>
                <a:sym typeface="Arial"/>
              </a:rPr>
              <a:t>For the example in this course, the first option (navigation from Schedule to the Primary CourseOfferings) was chosen.</a:t>
            </a:r>
            <a:endParaRPr/>
          </a:p>
          <a:p>
            <a:pPr indent="0" lvl="0" marL="0" rtl="0" algn="l">
              <a:spcBef>
                <a:spcPts val="270"/>
              </a:spcBef>
              <a:spcAft>
                <a:spcPts val="0"/>
              </a:spcAft>
              <a:buNone/>
            </a:pPr>
            <a:r>
              <a:rPr lang="en-US" sz="900">
                <a:latin typeface="Arial"/>
                <a:ea typeface="Arial"/>
                <a:cs typeface="Arial"/>
                <a:sym typeface="Arial"/>
              </a:rPr>
              <a:t>Note: This navigation decision holds true for the navigability from Schedule to the alternate CourseOfferings, as well.</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22: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22: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An association class is a class that is connected to an association. It is a full-fledged class and can contain attributes, operations, and other associations.</a:t>
            </a:r>
            <a:endParaRPr/>
          </a:p>
          <a:p>
            <a:pPr indent="0" lvl="0" marL="0" rtl="0" algn="l">
              <a:spcBef>
                <a:spcPts val="270"/>
              </a:spcBef>
              <a:spcAft>
                <a:spcPts val="0"/>
              </a:spcAft>
              <a:buNone/>
            </a:pPr>
            <a:r>
              <a:rPr lang="en-US" sz="900">
                <a:latin typeface="Arial"/>
                <a:ea typeface="Arial"/>
                <a:cs typeface="Arial"/>
                <a:sym typeface="Arial"/>
              </a:rPr>
              <a:t>Association classes allow you to store information about the relationship itself. The association class includes information that is not appropriate for, or does not belong in, the classes at either end of the relationship.  </a:t>
            </a:r>
            <a:endParaRPr/>
          </a:p>
          <a:p>
            <a:pPr indent="0" lvl="0" marL="0" rtl="0" algn="l">
              <a:spcBef>
                <a:spcPts val="270"/>
              </a:spcBef>
              <a:spcAft>
                <a:spcPts val="0"/>
              </a:spcAft>
              <a:buNone/>
            </a:pPr>
            <a:r>
              <a:rPr lang="en-US" sz="900">
                <a:latin typeface="Arial"/>
                <a:ea typeface="Arial"/>
                <a:cs typeface="Arial"/>
                <a:sym typeface="Arial"/>
              </a:rPr>
              <a:t>There is an instance of the association class for every instance of the relationship (that is, for every link).</a:t>
            </a:r>
            <a:endParaRPr/>
          </a:p>
          <a:p>
            <a:pPr indent="0" lvl="0" marL="0" rtl="0" algn="l">
              <a:spcBef>
                <a:spcPts val="270"/>
              </a:spcBef>
              <a:spcAft>
                <a:spcPts val="0"/>
              </a:spcAft>
              <a:buNone/>
            </a:pPr>
            <a:r>
              <a:rPr lang="en-US" sz="900">
                <a:latin typeface="Arial"/>
                <a:ea typeface="Arial"/>
                <a:cs typeface="Arial"/>
                <a:sym typeface="Arial"/>
              </a:rPr>
              <a:t>In many cases, association classes are used to resolve many-to-many relationships, as shown in the example above. In this case, a Schedule includes multiple primary CourseOfferings and a CourseOffering can appear on multiple schedules as a primary.  Where would a Student</a:t>
            </a:r>
            <a:r>
              <a:rPr lang="en-US" sz="900">
                <a:latin typeface="Times New Roman"/>
                <a:ea typeface="Times New Roman"/>
                <a:cs typeface="Times New Roman"/>
                <a:sym typeface="Times New Roman"/>
              </a:rPr>
              <a:t>’</a:t>
            </a:r>
            <a:r>
              <a:rPr lang="en-US" sz="900">
                <a:latin typeface="Arial"/>
                <a:ea typeface="Arial"/>
                <a:cs typeface="Arial"/>
                <a:sym typeface="Arial"/>
              </a:rPr>
              <a:t>s grade for a primary CourseOffering </a:t>
            </a:r>
            <a:r>
              <a:rPr lang="en-US" sz="900">
                <a:latin typeface="Times New Roman"/>
                <a:ea typeface="Times New Roman"/>
                <a:cs typeface="Times New Roman"/>
                <a:sym typeface="Times New Roman"/>
              </a:rPr>
              <a:t>“</a:t>
            </a:r>
            <a:r>
              <a:rPr lang="en-US" sz="900">
                <a:latin typeface="Arial"/>
                <a:ea typeface="Arial"/>
                <a:cs typeface="Arial"/>
                <a:sym typeface="Arial"/>
              </a:rPr>
              <a:t>live</a:t>
            </a:r>
            <a:r>
              <a:rPr lang="en-US" sz="900">
                <a:latin typeface="Times New Roman"/>
                <a:ea typeface="Times New Roman"/>
                <a:cs typeface="Times New Roman"/>
                <a:sym typeface="Times New Roman"/>
              </a:rPr>
              <a:t>”</a:t>
            </a:r>
            <a:r>
              <a:rPr lang="en-US" sz="900">
                <a:latin typeface="Arial"/>
                <a:ea typeface="Arial"/>
                <a:cs typeface="Arial"/>
                <a:sym typeface="Arial"/>
              </a:rPr>
              <a:t>?  It cannot be stored in Schedule because a Schedule contains multiple primary CourseOfferings. It cannot be stored in CourseOffering because the same CourseOffering can appear on multiple Schedules as primary. Grade is really an attribute of the relationship between a Schedule and a primary CourseOffering. </a:t>
            </a:r>
            <a:endParaRPr/>
          </a:p>
          <a:p>
            <a:pPr indent="0" lvl="0" marL="0" rtl="0" algn="l">
              <a:spcBef>
                <a:spcPts val="270"/>
              </a:spcBef>
              <a:spcAft>
                <a:spcPts val="0"/>
              </a:spcAft>
              <a:buNone/>
            </a:pPr>
            <a:r>
              <a:rPr lang="en-US" sz="900">
                <a:latin typeface="Arial"/>
                <a:ea typeface="Arial"/>
                <a:cs typeface="Arial"/>
                <a:sym typeface="Arial"/>
              </a:rPr>
              <a:t>The same is true of the status of a CourseOffering, primary or alternate, on a particular Schedule.</a:t>
            </a:r>
            <a:endParaRPr/>
          </a:p>
          <a:p>
            <a:pPr indent="0" lvl="0" marL="0" rtl="0" algn="l">
              <a:spcBef>
                <a:spcPts val="270"/>
              </a:spcBef>
              <a:spcAft>
                <a:spcPts val="0"/>
              </a:spcAft>
              <a:buNone/>
            </a:pPr>
            <a:r>
              <a:rPr lang="en-US" sz="900">
                <a:latin typeface="Arial"/>
                <a:ea typeface="Arial"/>
                <a:cs typeface="Arial"/>
                <a:sym typeface="Arial"/>
              </a:rPr>
              <a:t>Thus, association classes were created to contain such information.  Two classes related by generalization were created to leverage the similarities between what must be maintained for primary and alternate CourseOfferings. Remember, Students can only enroll in and receive a grade in a primary CourseOffering, not an alternate.</a:t>
            </a:r>
            <a:endParaRPr/>
          </a:p>
        </p:txBody>
      </p:sp>
      <p:sp>
        <p:nvSpPr>
          <p:cNvPr id="672" name="Google Shape;672;p22:notes"/>
          <p:cNvSpPr txBox="1"/>
          <p:nvPr/>
        </p:nvSpPr>
        <p:spPr>
          <a:xfrm>
            <a:off x="457698" y="1205070"/>
            <a:ext cx="1856132" cy="6826208"/>
          </a:xfrm>
          <a:prstGeom prst="rect">
            <a:avLst/>
          </a:prstGeom>
          <a:noFill/>
          <a:ln>
            <a:noFill/>
          </a:ln>
        </p:spPr>
        <p:txBody>
          <a:bodyPr anchorCtr="0" anchor="t" bIns="45075" lIns="90150" spcFirstLastPara="1" rIns="90150" wrap="square" tIns="45075">
            <a:no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The key thing to remember about an association class is that it is required when there is a many-to-many relationship between two classes.  Also, the association class should only contain that information that is unique to the relationship between the two classes.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6" name="Google Shape;716;p23:notes"/>
          <p:cNvSpPr txBox="1"/>
          <p:nvPr/>
        </p:nvSpPr>
        <p:spPr>
          <a:xfrm>
            <a:off x="569913" y="1200150"/>
            <a:ext cx="1830387" cy="5781675"/>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Sometimes roles are modeled as explicit classes. When that occurs, coming up with role names may be redundant. In those cases, role names can be eliminated.  Remember, readability and understandability of the model are key — only add information that adds value, not clutter to the diagrams.</a:t>
            </a:r>
            <a:endParaRPr/>
          </a:p>
          <a:p>
            <a:pPr indent="0" lvl="0" marL="0" marR="0" rtl="0" algn="l">
              <a:spcBef>
                <a:spcPts val="450"/>
              </a:spcBef>
              <a:spcAft>
                <a:spcPts val="0"/>
              </a:spcAft>
              <a:buNone/>
            </a:pPr>
            <a:r>
              <a:rPr lang="en-US" sz="900">
                <a:solidFill>
                  <a:schemeClr val="dk1"/>
                </a:solidFill>
                <a:latin typeface="Arial"/>
                <a:ea typeface="Arial"/>
                <a:cs typeface="Arial"/>
                <a:sym typeface="Arial"/>
              </a:rPr>
              <a:t>Note: In the OOAD student registration example, we did not model a Department as a separate class. It is used here to illustrate a concept.  </a:t>
            </a:r>
            <a:endParaRPr/>
          </a:p>
          <a:p>
            <a:pPr indent="0" lvl="0" marL="0" marR="0" rtl="0" algn="l">
              <a:spcBef>
                <a:spcPts val="450"/>
              </a:spcBef>
              <a:spcAft>
                <a:spcPts val="0"/>
              </a:spcAft>
              <a:buNone/>
            </a:pPr>
            <a:r>
              <a:rPr lang="en-US" sz="900">
                <a:solidFill>
                  <a:schemeClr val="dk1"/>
                </a:solidFill>
                <a:latin typeface="Arial"/>
                <a:ea typeface="Arial"/>
                <a:cs typeface="Arial"/>
                <a:sym typeface="Arial"/>
              </a:rPr>
              <a:t>Another example is the relationship between a person and a company.  Quiz the students asking what roles might make sense.  One answer: Employee, Customer, and Investor.</a:t>
            </a:r>
            <a:endParaRPr/>
          </a:p>
          <a:p>
            <a:pPr indent="0" lvl="0" marL="0" marR="0" rtl="0" algn="l">
              <a:spcBef>
                <a:spcPts val="450"/>
              </a:spcBef>
              <a:spcAft>
                <a:spcPts val="0"/>
              </a:spcAft>
              <a:buNone/>
            </a:pPr>
            <a:r>
              <a:rPr lang="en-US" sz="900">
                <a:solidFill>
                  <a:schemeClr val="dk1"/>
                </a:solidFill>
                <a:latin typeface="Arial"/>
                <a:ea typeface="Arial"/>
                <a:cs typeface="Arial"/>
                <a:sym typeface="Arial"/>
              </a:rPr>
              <a:t>A good question to ask here is to ask the students how the self-association on the Course class would look on a Communication diagram.  The tendency is to represent a reflexive message on a course object. However, the right answer is that there will be a link between two course objects. A reflexive message is not a link. (An object doesn’t need to link to itself.)</a:t>
            </a:r>
            <a:endParaRPr/>
          </a:p>
        </p:txBody>
      </p:sp>
      <p:sp>
        <p:nvSpPr>
          <p:cNvPr id="717" name="Google Shape;717;p23:notes"/>
          <p:cNvSpPr/>
          <p:nvPr>
            <p:ph idx="2" type="sldImg"/>
          </p:nvPr>
        </p:nvSpPr>
        <p:spPr>
          <a:xfrm>
            <a:off x="2460625" y="833438"/>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8" name="Google Shape;718;p23:notes"/>
          <p:cNvSpPr txBox="1"/>
          <p:nvPr>
            <p:ph idx="1" type="body"/>
          </p:nvPr>
        </p:nvSpPr>
        <p:spPr>
          <a:xfrm>
            <a:off x="2484438" y="4095750"/>
            <a:ext cx="3970337" cy="3937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000">
                <a:latin typeface="Arial"/>
                <a:ea typeface="Arial"/>
                <a:cs typeface="Arial"/>
                <a:sym typeface="Arial"/>
              </a:rPr>
              <a:t>Each end of an association has a role in relationship to the class on the other end of the association. The role specifies the face that a class presents on each side of the association. A role must have a name, and the role names on opposite sides of the association must be unique. The role name should be a noun indicating the associated object's role in relation to the associating object. </a:t>
            </a:r>
            <a:endParaRPr/>
          </a:p>
          <a:p>
            <a:pPr indent="0" lvl="0" marL="0" rtl="0" algn="l">
              <a:spcBef>
                <a:spcPts val="300"/>
              </a:spcBef>
              <a:spcAft>
                <a:spcPts val="0"/>
              </a:spcAft>
              <a:buNone/>
            </a:pPr>
            <a:r>
              <a:rPr lang="en-US" sz="1000">
                <a:latin typeface="Arial"/>
                <a:ea typeface="Arial"/>
                <a:cs typeface="Arial"/>
                <a:sym typeface="Arial"/>
              </a:rPr>
              <a:t>The use of association names and role names is mutually exclusive: one would not use both an association name and a role name. For each association, decide which conveys more information.</a:t>
            </a:r>
            <a:endParaRPr/>
          </a:p>
          <a:p>
            <a:pPr indent="0" lvl="0" marL="0" rtl="0" algn="l">
              <a:spcBef>
                <a:spcPts val="300"/>
              </a:spcBef>
              <a:spcAft>
                <a:spcPts val="0"/>
              </a:spcAft>
              <a:buNone/>
            </a:pPr>
            <a:r>
              <a:rPr lang="en-US" sz="1000">
                <a:latin typeface="Arial"/>
                <a:ea typeface="Arial"/>
                <a:cs typeface="Arial"/>
                <a:sym typeface="Arial"/>
              </a:rPr>
              <a:t>The role name is placed next to the end of the association line of the class it describes.</a:t>
            </a:r>
            <a:endParaRPr/>
          </a:p>
          <a:p>
            <a:pPr indent="0" lvl="0" marL="0" rtl="0" algn="l">
              <a:spcBef>
                <a:spcPts val="300"/>
              </a:spcBef>
              <a:spcAft>
                <a:spcPts val="0"/>
              </a:spcAft>
              <a:buNone/>
            </a:pPr>
            <a:r>
              <a:rPr lang="en-US" sz="1000">
                <a:latin typeface="Arial"/>
                <a:ea typeface="Arial"/>
                <a:cs typeface="Arial"/>
                <a:sym typeface="Arial"/>
              </a:rPr>
              <a:t>In the case of self-associations, role names are essential to distinguish the purpose for the association.</a:t>
            </a:r>
            <a:endParaRPr/>
          </a:p>
          <a:p>
            <a:pPr indent="0" lvl="0" marL="0" rtl="0" algn="l">
              <a:spcBef>
                <a:spcPts val="300"/>
              </a:spcBef>
              <a:spcAft>
                <a:spcPts val="0"/>
              </a:spcAft>
              <a:buNone/>
            </a:pPr>
            <a:r>
              <a:rPr lang="en-US" sz="1000">
                <a:latin typeface="Arial"/>
                <a:ea typeface="Arial"/>
                <a:cs typeface="Arial"/>
                <a:sym typeface="Arial"/>
              </a:rPr>
              <a:t>In the above example, the Professor participates in two separate association relationships, playing a different role in each.</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24: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p24: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If there are attributes on the association itself (represented by "association classes"), create a design class to represent the </a:t>
            </a:r>
            <a:r>
              <a:rPr lang="en-US" sz="900">
                <a:latin typeface="Times New Roman"/>
                <a:ea typeface="Times New Roman"/>
                <a:cs typeface="Times New Roman"/>
                <a:sym typeface="Times New Roman"/>
              </a:rPr>
              <a:t>“</a:t>
            </a:r>
            <a:r>
              <a:rPr lang="en-US" sz="900">
                <a:latin typeface="Arial"/>
                <a:ea typeface="Arial"/>
                <a:cs typeface="Arial"/>
                <a:sym typeface="Arial"/>
              </a:rPr>
              <a:t>association class,</a:t>
            </a:r>
            <a:r>
              <a:rPr lang="en-US" sz="900">
                <a:latin typeface="Times New Roman"/>
                <a:ea typeface="Times New Roman"/>
                <a:cs typeface="Times New Roman"/>
                <a:sym typeface="Times New Roman"/>
              </a:rPr>
              <a:t>”</a:t>
            </a:r>
            <a:r>
              <a:rPr lang="en-US" sz="900">
                <a:latin typeface="Arial"/>
                <a:ea typeface="Arial"/>
                <a:cs typeface="Arial"/>
                <a:sym typeface="Arial"/>
              </a:rPr>
              <a:t> with the appropriate attributes. Interpose this class between the other two classes, and by establishing associations with appropriate multiplicity between the association class and the other two classes.</a:t>
            </a:r>
            <a:endParaRPr/>
          </a:p>
          <a:p>
            <a:pPr indent="0" lvl="0" marL="0" rtl="0" algn="l">
              <a:spcBef>
                <a:spcPts val="270"/>
              </a:spcBef>
              <a:spcAft>
                <a:spcPts val="0"/>
              </a:spcAft>
              <a:buNone/>
            </a:pPr>
            <a:r>
              <a:rPr lang="en-US" sz="900">
                <a:latin typeface="Arial"/>
                <a:ea typeface="Arial"/>
                <a:cs typeface="Arial"/>
                <a:sym typeface="Arial"/>
              </a:rPr>
              <a:t>The above example demonstrates how an association class can be further designed. </a:t>
            </a:r>
            <a:endParaRPr/>
          </a:p>
          <a:p>
            <a:pPr indent="0" lvl="0" marL="0" rtl="0" algn="l">
              <a:spcBef>
                <a:spcPts val="270"/>
              </a:spcBef>
              <a:spcAft>
                <a:spcPts val="0"/>
              </a:spcAft>
              <a:buNone/>
            </a:pPr>
            <a:r>
              <a:rPr lang="en-US" sz="900">
                <a:latin typeface="Arial"/>
                <a:ea typeface="Arial"/>
                <a:cs typeface="Arial"/>
                <a:sym typeface="Arial"/>
              </a:rPr>
              <a:t>When defining the navigability between the resulting classes, it was decided not to provide navigation directly to CourseOffering from Schedule (must go through PrimaryScheduleOfferingInfo). </a:t>
            </a:r>
            <a:endParaRPr/>
          </a:p>
          <a:p>
            <a:pPr indent="0" lvl="0" marL="0" rtl="0" algn="l">
              <a:spcBef>
                <a:spcPts val="270"/>
              </a:spcBef>
              <a:spcAft>
                <a:spcPts val="0"/>
              </a:spcAft>
              <a:buNone/>
            </a:pPr>
            <a:r>
              <a:rPr lang="en-US" sz="900">
                <a:latin typeface="Arial"/>
                <a:ea typeface="Arial"/>
                <a:cs typeface="Arial"/>
                <a:sym typeface="Arial"/>
              </a:rPr>
              <a:t>Note: Association class design needs to be done only if the implementation does not directly support association classes and an exact visual model of the implementation is required. The above example is hypothetical. It is not included in the Course Registration Model provided with the course since the additional design details because only complicated the Design Model.</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p25: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3" name="Google Shape;823;p25: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Multiplicity is the number of instances that participate in an association. Initial estimates of multiplicity made during analysis must be updated and refined during design.</a:t>
            </a:r>
            <a:endParaRPr/>
          </a:p>
          <a:p>
            <a:pPr indent="0" lvl="0" marL="0" rtl="0" algn="l">
              <a:spcBef>
                <a:spcPts val="270"/>
              </a:spcBef>
              <a:spcAft>
                <a:spcPts val="0"/>
              </a:spcAft>
              <a:buNone/>
            </a:pPr>
            <a:r>
              <a:rPr lang="en-US" sz="900">
                <a:latin typeface="Arial"/>
                <a:ea typeface="Arial"/>
                <a:cs typeface="Arial"/>
                <a:sym typeface="Arial"/>
              </a:rPr>
              <a:t>All association and aggregation relationships must have multiplicity specified.</a:t>
            </a:r>
            <a:endParaRPr/>
          </a:p>
          <a:p>
            <a:pPr indent="0" lvl="0" marL="0" rtl="0" algn="l">
              <a:spcBef>
                <a:spcPts val="270"/>
              </a:spcBef>
              <a:spcAft>
                <a:spcPts val="0"/>
              </a:spcAft>
              <a:buNone/>
            </a:pPr>
            <a:r>
              <a:rPr lang="en-US" sz="900">
                <a:latin typeface="Arial"/>
                <a:ea typeface="Arial"/>
                <a:cs typeface="Arial"/>
                <a:sym typeface="Arial"/>
              </a:rPr>
              <a:t>For associations with a multiplicity of 1 or 0..1, further design is not usually required, as the relationship can be implemented as a simple value or a pointer.</a:t>
            </a:r>
            <a:endParaRPr/>
          </a:p>
          <a:p>
            <a:pPr indent="0" lvl="0" marL="0" rtl="0" algn="l">
              <a:spcBef>
                <a:spcPts val="270"/>
              </a:spcBef>
              <a:spcAft>
                <a:spcPts val="0"/>
              </a:spcAft>
              <a:buNone/>
            </a:pPr>
            <a:r>
              <a:rPr lang="en-US" sz="900">
                <a:latin typeface="Arial"/>
                <a:ea typeface="Arial"/>
                <a:cs typeface="Arial"/>
                <a:sym typeface="Arial"/>
              </a:rPr>
              <a:t>For associations with a multiplicity upper bound that is greater than 1, additional decisions need to be made. This is usually designed using </a:t>
            </a:r>
            <a:r>
              <a:rPr lang="en-US" sz="900">
                <a:latin typeface="Times New Roman"/>
                <a:ea typeface="Times New Roman"/>
                <a:cs typeface="Times New Roman"/>
                <a:sym typeface="Times New Roman"/>
              </a:rPr>
              <a:t>“</a:t>
            </a:r>
            <a:r>
              <a:rPr lang="en-US" sz="900">
                <a:latin typeface="Arial"/>
                <a:ea typeface="Arial"/>
                <a:cs typeface="Arial"/>
                <a:sym typeface="Arial"/>
              </a:rPr>
              <a:t>container</a:t>
            </a:r>
            <a:r>
              <a:rPr lang="en-US" sz="900">
                <a:latin typeface="Times New Roman"/>
                <a:ea typeface="Times New Roman"/>
                <a:cs typeface="Times New Roman"/>
                <a:sym typeface="Times New Roman"/>
              </a:rPr>
              <a:t>”</a:t>
            </a:r>
            <a:r>
              <a:rPr lang="en-US" sz="900">
                <a:latin typeface="Arial"/>
                <a:ea typeface="Arial"/>
                <a:cs typeface="Arial"/>
                <a:sym typeface="Arial"/>
              </a:rPr>
              <a:t> classes. A container class is a class whose instances are collections of other objects. Common container classes include sets, lists, dictionaries, stacks, and queues.</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6: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6: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The design of a relationship with a multiplicity greater than one can be modeled in multiple ways. You can explicitly model a container class, or you can just indicate what kind of container class will be used. The latter approach keeps the diagrams from getting too cluttered with very detailed implementation decisions.  However, the former approach may be useful if you want to do code generation from your model. </a:t>
            </a:r>
            <a:endParaRPr/>
          </a:p>
          <a:p>
            <a:pPr indent="0" lvl="0" marL="0" rtl="0" algn="l">
              <a:spcBef>
                <a:spcPts val="270"/>
              </a:spcBef>
              <a:spcAft>
                <a:spcPts val="0"/>
              </a:spcAft>
              <a:buNone/>
            </a:pPr>
            <a:r>
              <a:rPr lang="en-US" sz="900">
                <a:latin typeface="Arial"/>
                <a:ea typeface="Arial"/>
                <a:cs typeface="Arial"/>
                <a:sym typeface="Arial"/>
              </a:rPr>
              <a:t>Another option that is a more refined version of the first approach is to use a parameterized class (template) as the container class. This is discussed in more detail on the next few slides.</a:t>
            </a:r>
            <a:endParaRPr/>
          </a:p>
        </p:txBody>
      </p:sp>
      <p:sp>
        <p:nvSpPr>
          <p:cNvPr id="856" name="Google Shape;856;p26:notes"/>
          <p:cNvSpPr txBox="1"/>
          <p:nvPr/>
        </p:nvSpPr>
        <p:spPr>
          <a:xfrm>
            <a:off x="468133" y="1202043"/>
            <a:ext cx="1856133" cy="522980"/>
          </a:xfrm>
          <a:prstGeom prst="rect">
            <a:avLst/>
          </a:prstGeom>
          <a:noFill/>
          <a:ln>
            <a:noFill/>
          </a:ln>
        </p:spPr>
        <p:txBody>
          <a:bodyPr anchorCtr="0" anchor="t" bIns="53200" lIns="106425" spcFirstLastPara="1" rIns="106425" wrap="square" tIns="53200">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We use both approaches in the OOAD course example and exercise models.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27: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6" name="Google Shape;926;p27: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If a link is optional, an operation to test for the existence of the link should be added to the class.</a:t>
            </a:r>
            <a:endParaRPr/>
          </a:p>
          <a:p>
            <a:pPr indent="0" lvl="0" marL="0" rtl="0" algn="l">
              <a:spcBef>
                <a:spcPts val="270"/>
              </a:spcBef>
              <a:spcAft>
                <a:spcPts val="0"/>
              </a:spcAft>
              <a:buNone/>
            </a:pPr>
            <a:r>
              <a:rPr lang="en-US" sz="900">
                <a:latin typeface="Arial"/>
                <a:ea typeface="Arial"/>
                <a:cs typeface="Arial"/>
                <a:sym typeface="Arial"/>
              </a:rPr>
              <a:t>For example, if a Professor can be on sabbatical, a suitable operation should be included in the Professor class to test for the existence of the CourseOffering link.</a:t>
            </a:r>
            <a:endParaRPr/>
          </a:p>
          <a:p>
            <a:pPr indent="0" lvl="0" marL="0" rtl="0" algn="l">
              <a:spcBef>
                <a:spcPts val="270"/>
              </a:spcBef>
              <a:spcAft>
                <a:spcPts val="0"/>
              </a:spcAft>
              <a:buNone/>
            </a:pPr>
            <a:r>
              <a:t/>
            </a:r>
            <a:endParaRPr sz="900">
              <a:latin typeface="Arial"/>
              <a:ea typeface="Arial"/>
              <a:cs typeface="Arial"/>
              <a:sym typeface="Arial"/>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46" name="Google Shape;946;p28:notes"/>
          <p:cNvSpPr/>
          <p:nvPr>
            <p:ph idx="2" type="sldImg"/>
          </p:nvPr>
        </p:nvSpPr>
        <p:spPr>
          <a:xfrm>
            <a:off x="2463800" y="833438"/>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7" name="Google Shape;947;p28:notes"/>
          <p:cNvSpPr txBox="1"/>
          <p:nvPr>
            <p:ph idx="1" type="body"/>
          </p:nvPr>
        </p:nvSpPr>
        <p:spPr>
          <a:xfrm>
            <a:off x="2486025" y="4097338"/>
            <a:ext cx="3971925" cy="4017962"/>
          </a:xfrm>
          <a:prstGeom prst="rect">
            <a:avLst/>
          </a:prstGeom>
          <a:noFill/>
          <a:ln>
            <a:noFill/>
          </a:ln>
        </p:spPr>
        <p:txBody>
          <a:bodyPr anchorCtr="0" anchor="t" bIns="45700" lIns="91425" spcFirstLastPara="1" rIns="91425" wrap="square" tIns="45700">
            <a:noAutofit/>
          </a:bodyPr>
          <a:lstStyle/>
          <a:p>
            <a:pPr indent="-114300" lvl="0" marL="114300" rtl="0" algn="l">
              <a:spcBef>
                <a:spcPts val="0"/>
              </a:spcBef>
              <a:spcAft>
                <a:spcPts val="0"/>
              </a:spcAft>
              <a:buClr>
                <a:schemeClr val="dk1"/>
              </a:buClr>
              <a:buSzPts val="1000"/>
              <a:buFont typeface="Arial"/>
              <a:buChar char="•"/>
            </a:pPr>
            <a:r>
              <a:rPr lang="en-US" sz="1000">
                <a:latin typeface="Arial"/>
                <a:ea typeface="Arial"/>
                <a:cs typeface="Arial"/>
                <a:sym typeface="Arial"/>
              </a:rPr>
              <a:t>Multiplicity lets you know the lower and the upper bound number of relationships that a given object can have with another object. Many times you do not know what the maximum number of instances may be, and you will use the “*” to specify that this number is unknown.</a:t>
            </a:r>
            <a:endParaRPr/>
          </a:p>
          <a:p>
            <a:pPr indent="-114300" lvl="0" marL="114300" rtl="0" algn="l">
              <a:spcBef>
                <a:spcPts val="300"/>
              </a:spcBef>
              <a:spcAft>
                <a:spcPts val="0"/>
              </a:spcAft>
              <a:buClr>
                <a:schemeClr val="dk1"/>
              </a:buClr>
              <a:buSzPts val="1000"/>
              <a:buFont typeface="Arial"/>
              <a:buChar char="•"/>
            </a:pPr>
            <a:r>
              <a:rPr lang="en-US" sz="1000">
                <a:latin typeface="Arial"/>
                <a:ea typeface="Arial"/>
                <a:cs typeface="Arial"/>
                <a:sym typeface="Arial"/>
              </a:rPr>
              <a:t>The most important question that multiplicity answers: Is the association mandatory? A lower bound number that is greater than zero indicates that the relationship is mandatory.  </a:t>
            </a:r>
            <a:endParaRPr/>
          </a:p>
          <a:p>
            <a:pPr indent="-114300" lvl="0" marL="114300" rtl="0" algn="l">
              <a:spcBef>
                <a:spcPts val="300"/>
              </a:spcBef>
              <a:spcAft>
                <a:spcPts val="0"/>
              </a:spcAft>
              <a:buClr>
                <a:schemeClr val="dk1"/>
              </a:buClr>
              <a:buSzPts val="1000"/>
              <a:buFont typeface="Arial"/>
              <a:buChar char="•"/>
            </a:pPr>
            <a:r>
              <a:rPr lang="en-US" sz="1000">
                <a:latin typeface="Arial"/>
                <a:ea typeface="Arial"/>
                <a:cs typeface="Arial"/>
                <a:sym typeface="Arial"/>
              </a:rPr>
              <a:t>This example indicates that a course object can be related to zero or more course offerings. You can tell that the relationship is optional because the lower bound number is zero. The upper bound number of the relationship is unknown, as indicated by the “*”. If you read the association the other way, you will see that a given course offering object can be related to only one course. This relationship is mandatory and indicates that it is not possible for a course offering object to exist without an associated course object.</a:t>
            </a:r>
            <a:endParaRPr/>
          </a:p>
        </p:txBody>
      </p:sp>
      <p:sp>
        <p:nvSpPr>
          <p:cNvPr id="948" name="Google Shape;948;p28:notes"/>
          <p:cNvSpPr txBox="1"/>
          <p:nvPr/>
        </p:nvSpPr>
        <p:spPr>
          <a:xfrm>
            <a:off x="569913" y="1203325"/>
            <a:ext cx="1928812" cy="6827838"/>
          </a:xfrm>
          <a:prstGeom prst="rect">
            <a:avLst/>
          </a:prstGeom>
          <a:noFill/>
          <a:ln>
            <a:noFill/>
          </a:ln>
        </p:spPr>
        <p:txBody>
          <a:bodyPr anchorCtr="0" anchor="t" bIns="53225" lIns="106450" spcFirstLastPara="1" rIns="106450" wrap="square" tIns="53225">
            <a:noAutofit/>
          </a:bodyPr>
          <a:lstStyle/>
          <a:p>
            <a:pPr indent="0" lvl="0" marL="0" marR="0" rtl="0" algn="l">
              <a:lnSpc>
                <a:spcPct val="87000"/>
              </a:lnSpc>
              <a:spcBef>
                <a:spcPts val="0"/>
              </a:spcBef>
              <a:spcAft>
                <a:spcPts val="0"/>
              </a:spcAft>
              <a:buNone/>
            </a:pPr>
            <a:r>
              <a:rPr lang="en-US" sz="900">
                <a:solidFill>
                  <a:schemeClr val="dk1"/>
                </a:solidFill>
                <a:latin typeface="Arial"/>
                <a:ea typeface="Arial"/>
                <a:cs typeface="Arial"/>
                <a:sym typeface="Arial"/>
              </a:rPr>
              <a:t>Be sure that the class understands that the lower bound number is more important because it indicates that the relationship is mandatory.</a:t>
            </a:r>
            <a:endParaRPr/>
          </a:p>
          <a:p>
            <a:pPr indent="0" lvl="0" marL="0" marR="0" rtl="0" algn="l">
              <a:lnSpc>
                <a:spcPct val="87000"/>
              </a:lnSpc>
              <a:spcBef>
                <a:spcPts val="360"/>
              </a:spcBef>
              <a:spcAft>
                <a:spcPts val="0"/>
              </a:spcAft>
              <a:buNone/>
            </a:pPr>
            <a:r>
              <a:rPr lang="en-US" sz="900">
                <a:solidFill>
                  <a:schemeClr val="dk1"/>
                </a:solidFill>
                <a:latin typeface="Arial"/>
                <a:ea typeface="Arial"/>
                <a:cs typeface="Arial"/>
                <a:sym typeface="Arial"/>
              </a:rPr>
              <a:t>The Student Notes explain the relationship between Course Offering and Course. Have the class explain the recursive relationship on Course.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29: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3" name="Google Shape;973;p29: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During Analysis, we assumed that all relationships were structural (associations or aggregations). In Design, we must decide what type of communication pathway is required.</a:t>
            </a:r>
            <a:endParaRPr/>
          </a:p>
          <a:p>
            <a:pPr indent="0" lvl="0" marL="0" rtl="0" algn="l">
              <a:spcBef>
                <a:spcPts val="270"/>
              </a:spcBef>
              <a:spcAft>
                <a:spcPts val="0"/>
              </a:spcAft>
              <a:buNone/>
            </a:pPr>
            <a:r>
              <a:rPr lang="en-US" sz="900">
                <a:latin typeface="Arial"/>
                <a:ea typeface="Arial"/>
                <a:cs typeface="Arial"/>
                <a:sym typeface="Arial"/>
              </a:rPr>
              <a:t>A dependency relationship denotes a semantic relationship between model elements, where a change in the supplier may cause a change in the client.</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30: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0" name="Google Shape;990;p30: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There are four options for creating a communication pathway to a supplier object:</a:t>
            </a:r>
            <a:endParaRPr/>
          </a:p>
          <a:p>
            <a:pPr indent="-108275" lvl="1" marL="216552" rtl="0" algn="l">
              <a:spcBef>
                <a:spcPts val="270"/>
              </a:spcBef>
              <a:spcAft>
                <a:spcPts val="0"/>
              </a:spcAft>
              <a:buClr>
                <a:schemeClr val="dk1"/>
              </a:buClr>
              <a:buSzPts val="900"/>
              <a:buFont typeface="Arial"/>
              <a:buChar char="•"/>
            </a:pPr>
            <a:r>
              <a:rPr b="1" lang="en-US" sz="900">
                <a:latin typeface="Arial"/>
                <a:ea typeface="Arial"/>
                <a:cs typeface="Arial"/>
                <a:sym typeface="Arial"/>
              </a:rPr>
              <a:t>Global</a:t>
            </a:r>
            <a:r>
              <a:rPr lang="en-US" sz="900">
                <a:latin typeface="Arial"/>
                <a:ea typeface="Arial"/>
                <a:cs typeface="Arial"/>
                <a:sym typeface="Arial"/>
              </a:rPr>
              <a:t>:  The supplier object is a global object.</a:t>
            </a:r>
            <a:endParaRPr/>
          </a:p>
          <a:p>
            <a:pPr indent="-108275" lvl="1" marL="216552" rtl="0" algn="l">
              <a:spcBef>
                <a:spcPts val="270"/>
              </a:spcBef>
              <a:spcAft>
                <a:spcPts val="0"/>
              </a:spcAft>
              <a:buClr>
                <a:schemeClr val="dk1"/>
              </a:buClr>
              <a:buSzPts val="900"/>
              <a:buFont typeface="Arial"/>
              <a:buChar char="•"/>
            </a:pPr>
            <a:r>
              <a:rPr b="1" lang="en-US" sz="900">
                <a:latin typeface="Arial"/>
                <a:ea typeface="Arial"/>
                <a:cs typeface="Arial"/>
                <a:sym typeface="Arial"/>
              </a:rPr>
              <a:t>Parameter</a:t>
            </a:r>
            <a:r>
              <a:rPr lang="en-US" sz="900">
                <a:latin typeface="Arial"/>
                <a:ea typeface="Arial"/>
                <a:cs typeface="Arial"/>
                <a:sym typeface="Arial"/>
              </a:rPr>
              <a:t>:  The supplier object is a parameter to, or the return class of, an operation in the client object.</a:t>
            </a:r>
            <a:endParaRPr/>
          </a:p>
          <a:p>
            <a:pPr indent="-108275" lvl="1" marL="216552" rtl="0" algn="l">
              <a:spcBef>
                <a:spcPts val="270"/>
              </a:spcBef>
              <a:spcAft>
                <a:spcPts val="0"/>
              </a:spcAft>
              <a:buClr>
                <a:schemeClr val="dk1"/>
              </a:buClr>
              <a:buSzPts val="900"/>
              <a:buFont typeface="Arial"/>
              <a:buChar char="•"/>
            </a:pPr>
            <a:r>
              <a:rPr b="1" lang="en-US" sz="900">
                <a:latin typeface="Arial"/>
                <a:ea typeface="Arial"/>
                <a:cs typeface="Arial"/>
                <a:sym typeface="Arial"/>
              </a:rPr>
              <a:t>Local</a:t>
            </a:r>
            <a:r>
              <a:rPr lang="en-US" sz="900">
                <a:latin typeface="Arial"/>
                <a:ea typeface="Arial"/>
                <a:cs typeface="Arial"/>
                <a:sym typeface="Arial"/>
              </a:rPr>
              <a:t>:  The supplier object is declared locally (that is, created temporarily during execution of an operation).</a:t>
            </a:r>
            <a:endParaRPr/>
          </a:p>
          <a:p>
            <a:pPr indent="-108275" lvl="1" marL="216552" rtl="0" algn="l">
              <a:spcBef>
                <a:spcPts val="270"/>
              </a:spcBef>
              <a:spcAft>
                <a:spcPts val="0"/>
              </a:spcAft>
              <a:buClr>
                <a:schemeClr val="dk1"/>
              </a:buClr>
              <a:buSzPts val="900"/>
              <a:buFont typeface="Arial"/>
              <a:buChar char="•"/>
            </a:pPr>
            <a:r>
              <a:rPr b="1" lang="en-US" sz="900">
                <a:latin typeface="Arial"/>
                <a:ea typeface="Arial"/>
                <a:cs typeface="Arial"/>
                <a:sym typeface="Arial"/>
              </a:rPr>
              <a:t>Field</a:t>
            </a:r>
            <a:r>
              <a:rPr lang="en-US" sz="900">
                <a:latin typeface="Arial"/>
                <a:ea typeface="Arial"/>
                <a:cs typeface="Arial"/>
                <a:sym typeface="Arial"/>
              </a:rPr>
              <a:t>:  The supplier object is a data member in the client object.</a:t>
            </a:r>
            <a:endParaRPr/>
          </a:p>
          <a:p>
            <a:pPr indent="0" lvl="0" marL="0" rtl="0" algn="l">
              <a:spcBef>
                <a:spcPts val="270"/>
              </a:spcBef>
              <a:spcAft>
                <a:spcPts val="0"/>
              </a:spcAft>
              <a:buNone/>
            </a:pPr>
            <a:r>
              <a:rPr lang="en-US" sz="900">
                <a:latin typeface="Arial"/>
                <a:ea typeface="Arial"/>
                <a:cs typeface="Arial"/>
                <a:sym typeface="Arial"/>
              </a:rPr>
              <a:t>A dependency is a type of communication pathway that is a transient type of relationship.These occur when the visibility is global, parameter, or local.</a:t>
            </a:r>
            <a:endParaRPr/>
          </a:p>
          <a:p>
            <a:pPr indent="0" lvl="0" marL="0" rtl="0" algn="l">
              <a:spcBef>
                <a:spcPts val="270"/>
              </a:spcBef>
              <a:spcAft>
                <a:spcPts val="0"/>
              </a:spcAft>
              <a:buNone/>
            </a:pPr>
            <a:r>
              <a:rPr lang="en-US" sz="900">
                <a:latin typeface="Arial"/>
                <a:ea typeface="Arial"/>
                <a:cs typeface="Arial"/>
                <a:sym typeface="Arial"/>
              </a:rPr>
              <a:t>Look at each association relationship and determine whether it should remain an association or become a dependency. Associations and aggregations are structural relationships (field visibility). Association relationships are realized by variables that exist in the data member section of the class definition.  Any other relationships (global, local, and parameter visibility) are dependency relationships.</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p31:notes"/>
          <p:cNvSpPr/>
          <p:nvPr>
            <p:ph idx="2" type="sldImg"/>
          </p:nvPr>
        </p:nvSpPr>
        <p:spPr>
          <a:xfrm>
            <a:off x="2446338" y="812800"/>
            <a:ext cx="4037012"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0" name="Google Shape;1020;p31:notes"/>
          <p:cNvSpPr txBox="1"/>
          <p:nvPr>
            <p:ph idx="1" type="body"/>
          </p:nvPr>
        </p:nvSpPr>
        <p:spPr>
          <a:xfrm>
            <a:off x="2445026" y="3980063"/>
            <a:ext cx="3973168" cy="40209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900">
                <a:latin typeface="Arial"/>
                <a:ea typeface="Arial"/>
                <a:cs typeface="Arial"/>
                <a:sym typeface="Arial"/>
              </a:rPr>
              <a:t>According to the UML 2 Specification, a link is an instance of an association. Specifically, an association declares a connection (link) between instances of the associated classifiers (classes). A dependency relationship indicates that the implementation or functioning of one or more elements requires the presence of one or more other elements.  </a:t>
            </a:r>
            <a:endParaRPr/>
          </a:p>
          <a:p>
            <a:pPr indent="0" lvl="0" marL="0" rtl="0" algn="l">
              <a:spcBef>
                <a:spcPts val="270"/>
              </a:spcBef>
              <a:spcAft>
                <a:spcPts val="0"/>
              </a:spcAft>
              <a:buNone/>
            </a:pPr>
            <a:r>
              <a:rPr lang="en-US" sz="900">
                <a:latin typeface="Arial"/>
                <a:ea typeface="Arial"/>
                <a:cs typeface="Arial"/>
                <a:sym typeface="Arial"/>
              </a:rPr>
              <a:t>Note that links modeled as parameter, global, or local are transient links. They exist only for a limited duration and in the specific context of the collaboration; in that sense, they are instances of the association role in the collaboration. However, the relationship in a class model (independent of context) should be, as stated above, a dependency. In </a:t>
            </a:r>
            <a:r>
              <a:rPr i="1" lang="en-US" sz="900">
                <a:latin typeface="Arial"/>
                <a:ea typeface="Arial"/>
                <a:cs typeface="Arial"/>
                <a:sym typeface="Arial"/>
              </a:rPr>
              <a:t>The UML Reference Manual,</a:t>
            </a:r>
            <a:r>
              <a:rPr lang="en-US" sz="900">
                <a:latin typeface="Arial"/>
                <a:ea typeface="Arial"/>
                <a:cs typeface="Arial"/>
                <a:sym typeface="Arial"/>
              </a:rPr>
              <a:t> the definition of a transient link is: "It is possible to model all such links as associations, but then the conditions on the associations must be stated very broadly, and they lose much of their precision in constraining combinations of objects." In this situation, the modeling of a dependency is less important than the modeling of the relationship in the collaboration, because the dependency does not describe the relationship completely, only that it exists.</a:t>
            </a:r>
            <a:endParaRPr/>
          </a:p>
          <a:p>
            <a:pPr indent="0" lvl="0" marL="0" rtl="0" algn="l">
              <a:spcBef>
                <a:spcPts val="270"/>
              </a:spcBef>
              <a:spcAft>
                <a:spcPts val="0"/>
              </a:spcAft>
              <a:buNone/>
            </a:pPr>
            <a:r>
              <a:rPr lang="en-US" sz="900">
                <a:latin typeface="Arial"/>
                <a:ea typeface="Arial"/>
                <a:cs typeface="Arial"/>
                <a:sym typeface="Arial"/>
              </a:rPr>
              <a:t>If you believe that a link in a collaboration is a transient link, it indicates that the context-independent relationship between the classes is a dependency. Dependency is a </a:t>
            </a:r>
            <a:r>
              <a:rPr lang="en-US" sz="900">
                <a:latin typeface="Times New Roman"/>
                <a:ea typeface="Times New Roman"/>
                <a:cs typeface="Times New Roman"/>
                <a:sym typeface="Times New Roman"/>
              </a:rPr>
              <a:t>“</a:t>
            </a:r>
            <a:r>
              <a:rPr lang="en-US" sz="900">
                <a:latin typeface="Arial"/>
                <a:ea typeface="Arial"/>
                <a:cs typeface="Arial"/>
                <a:sym typeface="Arial"/>
              </a:rPr>
              <a:t>summary</a:t>
            </a:r>
            <a:r>
              <a:rPr lang="en-US" sz="900">
                <a:latin typeface="Times New Roman"/>
                <a:ea typeface="Times New Roman"/>
                <a:cs typeface="Times New Roman"/>
                <a:sym typeface="Times New Roman"/>
              </a:rPr>
              <a:t>”</a:t>
            </a:r>
            <a:r>
              <a:rPr lang="en-US" sz="900">
                <a:latin typeface="Arial"/>
                <a:ea typeface="Arial"/>
                <a:cs typeface="Arial"/>
                <a:sym typeface="Arial"/>
              </a:rPr>
              <a:t> relationship </a:t>
            </a:r>
            <a:r>
              <a:rPr lang="en-US" sz="900">
                <a:latin typeface="Times New Roman"/>
                <a:ea typeface="Times New Roman"/>
                <a:cs typeface="Times New Roman"/>
                <a:sym typeface="Times New Roman"/>
              </a:rPr>
              <a:t>—</a:t>
            </a:r>
            <a:r>
              <a:rPr lang="en-US" sz="900">
                <a:latin typeface="Arial"/>
                <a:ea typeface="Arial"/>
                <a:cs typeface="Arial"/>
                <a:sym typeface="Arial"/>
              </a:rPr>
              <a:t> for details you have to consult the behavioral model.</a:t>
            </a:r>
            <a:endParaRPr/>
          </a:p>
          <a:p>
            <a:pPr indent="0" lvl="0" marL="0" rtl="0" algn="l">
              <a:spcBef>
                <a:spcPts val="270"/>
              </a:spcBef>
              <a:spcAft>
                <a:spcPts val="0"/>
              </a:spcAft>
              <a:buNone/>
            </a:pPr>
            <a:r>
              <a:rPr lang="en-US" sz="900">
                <a:latin typeface="Arial"/>
                <a:ea typeface="Arial"/>
                <a:cs typeface="Arial"/>
                <a:sym typeface="Arial"/>
              </a:rPr>
              <a:t>Context is defined as "a view of a set of related modeling elements for a particular purpose."</a:t>
            </a:r>
            <a:endParaRPr/>
          </a:p>
          <a:p>
            <a:pPr indent="0" lvl="0" marL="0" rtl="0" algn="l">
              <a:spcBef>
                <a:spcPts val="270"/>
              </a:spcBef>
              <a:spcAft>
                <a:spcPts val="0"/>
              </a:spcAft>
              <a:buNone/>
            </a:pPr>
            <a:r>
              <a:t/>
            </a:r>
            <a:endParaRPr sz="900">
              <a:latin typeface="Arial"/>
              <a:ea typeface="Arial"/>
              <a:cs typeface="Arial"/>
              <a:sym typeface="Arial"/>
            </a:endParaRPr>
          </a:p>
        </p:txBody>
      </p:sp>
      <p:sp>
        <p:nvSpPr>
          <p:cNvPr id="1021" name="Google Shape;1021;p31:notes"/>
          <p:cNvSpPr txBox="1"/>
          <p:nvPr/>
        </p:nvSpPr>
        <p:spPr>
          <a:xfrm>
            <a:off x="457698" y="1205070"/>
            <a:ext cx="1856132" cy="6826208"/>
          </a:xfrm>
          <a:prstGeom prst="rect">
            <a:avLst/>
          </a:prstGeom>
          <a:noFill/>
          <a:ln>
            <a:noFill/>
          </a:ln>
        </p:spPr>
        <p:txBody>
          <a:bodyPr anchorCtr="0" anchor="t" bIns="53200" lIns="106425" spcFirstLastPara="1" rIns="106425" wrap="square" tIns="53200">
            <a:no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These guidelines should help to remove some of the mystery of determining if a relationship is a dependency or an association. </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Emphasize that the designer needs to go back to the communication diagram to determine if the link is a dependency or not.</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32: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9" name="Google Shape;1029;p32: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Is the receiver a temporary object created and destroyed during the operation itself? If so, establish a </a:t>
            </a:r>
            <a:r>
              <a:rPr b="1" lang="en-US" sz="900">
                <a:latin typeface="Arial"/>
                <a:ea typeface="Arial"/>
                <a:cs typeface="Arial"/>
                <a:sym typeface="Arial"/>
              </a:rPr>
              <a:t>dependency </a:t>
            </a:r>
            <a:r>
              <a:rPr lang="en-US" sz="900">
                <a:latin typeface="Arial"/>
                <a:ea typeface="Arial"/>
                <a:cs typeface="Arial"/>
                <a:sym typeface="Arial"/>
              </a:rPr>
              <a:t>between the sender and receiver classes in a class diagram containing the two classes.</a:t>
            </a:r>
            <a:endParaRPr/>
          </a:p>
        </p:txBody>
      </p:sp>
      <p:sp>
        <p:nvSpPr>
          <p:cNvPr id="1030" name="Google Shape;1030;p32:notes"/>
          <p:cNvSpPr txBox="1"/>
          <p:nvPr/>
        </p:nvSpPr>
        <p:spPr>
          <a:xfrm>
            <a:off x="438316" y="1205070"/>
            <a:ext cx="1856133" cy="6826208"/>
          </a:xfrm>
          <a:prstGeom prst="rect">
            <a:avLst/>
          </a:prstGeom>
          <a:noFill/>
          <a:ln>
            <a:noFill/>
          </a:ln>
        </p:spPr>
        <p:txBody>
          <a:bodyPr anchorCtr="0" anchor="t" bIns="53200" lIns="106425" spcFirstLastPara="1" rIns="106425" wrap="square" tIns="53200">
            <a:no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The key thing here is that the designer look at the Communication diagram to determine if the relationship is a dependency.  If the link is transient then a dependency should be created instead of an association.</a:t>
            </a:r>
            <a:endParaRPr/>
          </a:p>
          <a:p>
            <a:pPr indent="0" lvl="0" marL="0" marR="0" rtl="0" algn="l">
              <a:spcBef>
                <a:spcPts val="0"/>
              </a:spcBef>
              <a:spcAft>
                <a:spcPts val="0"/>
              </a:spcAft>
              <a:buNone/>
            </a:pPr>
            <a:r>
              <a:rPr lang="en-US" sz="900">
                <a:solidFill>
                  <a:schemeClr val="dk1"/>
                </a:solidFill>
                <a:latin typeface="Arial"/>
                <a:ea typeface="Arial"/>
                <a:cs typeface="Arial"/>
                <a:sym typeface="Arial"/>
              </a:rPr>
              <a:t>The Communication diagrams refine the link visibility adornments.</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p33: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7" name="Google Shape;1047;p33: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Is the reference to the receiver passed as a parameter to the operation? If so, establish a </a:t>
            </a:r>
            <a:r>
              <a:rPr b="1" lang="en-US" sz="900">
                <a:latin typeface="Arial"/>
                <a:ea typeface="Arial"/>
                <a:cs typeface="Arial"/>
                <a:sym typeface="Arial"/>
              </a:rPr>
              <a:t>dependency </a:t>
            </a:r>
            <a:r>
              <a:rPr lang="en-US" sz="900">
                <a:latin typeface="Arial"/>
                <a:ea typeface="Arial"/>
                <a:cs typeface="Arial"/>
                <a:sym typeface="Arial"/>
              </a:rPr>
              <a:t>between the sender and receiver classes in a Class diagram containing the two classes.</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p34: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5" name="Google Shape;1065;p34: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Is the receiver a </a:t>
            </a:r>
            <a:r>
              <a:rPr lang="en-US" sz="900">
                <a:latin typeface="Times New Roman"/>
                <a:ea typeface="Times New Roman"/>
                <a:cs typeface="Times New Roman"/>
                <a:sym typeface="Times New Roman"/>
              </a:rPr>
              <a:t>“</a:t>
            </a:r>
            <a:r>
              <a:rPr lang="en-US" sz="900">
                <a:latin typeface="Arial"/>
                <a:ea typeface="Arial"/>
                <a:cs typeface="Arial"/>
                <a:sym typeface="Arial"/>
              </a:rPr>
              <a:t>global?</a:t>
            </a:r>
            <a:r>
              <a:rPr lang="en-US" sz="900">
                <a:latin typeface="Times New Roman"/>
                <a:ea typeface="Times New Roman"/>
                <a:cs typeface="Times New Roman"/>
                <a:sym typeface="Times New Roman"/>
              </a:rPr>
              <a:t>”</a:t>
            </a:r>
            <a:r>
              <a:rPr lang="en-US" sz="900">
                <a:latin typeface="Arial"/>
                <a:ea typeface="Arial"/>
                <a:cs typeface="Arial"/>
                <a:sym typeface="Arial"/>
              </a:rPr>
              <a:t> If so, establish a </a:t>
            </a:r>
            <a:r>
              <a:rPr b="1" lang="en-US" sz="900">
                <a:latin typeface="Arial"/>
                <a:ea typeface="Arial"/>
                <a:cs typeface="Arial"/>
                <a:sym typeface="Arial"/>
              </a:rPr>
              <a:t>dependency </a:t>
            </a:r>
            <a:r>
              <a:rPr lang="en-US" sz="900">
                <a:latin typeface="Arial"/>
                <a:ea typeface="Arial"/>
                <a:cs typeface="Arial"/>
                <a:sym typeface="Arial"/>
              </a:rPr>
              <a:t>between the sender and receiver classes in a class diagram containing the two classes.</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35:notes"/>
          <p:cNvSpPr txBox="1"/>
          <p:nvPr/>
        </p:nvSpPr>
        <p:spPr>
          <a:xfrm>
            <a:off x="477078" y="1202043"/>
            <a:ext cx="1850170" cy="1199042"/>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If it is going to be a parameter visibility, you have to look back up the food chain to see where the class passing it as a parameter got it. For example, maybe it is used on some entity class as a parameter, but is a field on the controller.</a:t>
            </a:r>
            <a:endParaRPr/>
          </a:p>
        </p:txBody>
      </p:sp>
      <p:sp>
        <p:nvSpPr>
          <p:cNvPr id="1083" name="Google Shape;1083;p35: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4" name="Google Shape;1084;p35: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Strive for real-world relationships. Semantic, structural relationships should be associations.</a:t>
            </a:r>
            <a:endParaRPr/>
          </a:p>
          <a:p>
            <a:pPr indent="0" lvl="0" marL="0" rtl="0" algn="l">
              <a:spcBef>
                <a:spcPts val="270"/>
              </a:spcBef>
              <a:spcAft>
                <a:spcPts val="0"/>
              </a:spcAft>
              <a:buNone/>
            </a:pPr>
            <a:r>
              <a:rPr lang="en-US" sz="900">
                <a:latin typeface="Arial"/>
                <a:ea typeface="Arial"/>
                <a:cs typeface="Arial"/>
                <a:sym typeface="Arial"/>
              </a:rPr>
              <a:t>Strive for the lightest relationships possible. Dependency is the cheapest to keep, easiest to use, and benefits from encapsulation.</a:t>
            </a:r>
            <a:endParaRPr/>
          </a:p>
          <a:p>
            <a:pPr indent="0" lvl="0" marL="0" rtl="0" algn="l">
              <a:spcBef>
                <a:spcPts val="270"/>
              </a:spcBef>
              <a:spcAft>
                <a:spcPts val="0"/>
              </a:spcAft>
              <a:buNone/>
            </a:pPr>
            <a:r>
              <a:rPr lang="en-US" sz="900">
                <a:latin typeface="Arial"/>
                <a:ea typeface="Arial"/>
                <a:cs typeface="Arial"/>
                <a:sym typeface="Arial"/>
              </a:rPr>
              <a:t>Is the relationship transient?  Will you need this relationship again and again, or do you just need it to do some work and then throw it away? If its needed again and again, that is, if a thing appears to remain related to another thing even across the execution of one or more operations, then it is likely an association and should benefit from field visibility. Otherwise, the relationship may be transient and can have local, parameter, or global visibility.</a:t>
            </a:r>
            <a:endParaRPr/>
          </a:p>
          <a:p>
            <a:pPr indent="0" lvl="0" marL="0" rtl="0" algn="l">
              <a:spcBef>
                <a:spcPts val="270"/>
              </a:spcBef>
              <a:spcAft>
                <a:spcPts val="0"/>
              </a:spcAft>
              <a:buNone/>
            </a:pPr>
            <a:r>
              <a:rPr lang="en-US" sz="900">
                <a:latin typeface="Arial"/>
                <a:ea typeface="Arial"/>
                <a:cs typeface="Arial"/>
                <a:sym typeface="Arial"/>
              </a:rPr>
              <a:t>Is the same instance shared across objects? If many objects at runtime need it again and again and they share the same instance, maybe you should pass it around as a parameter. If there is only one instance in existence in the whole process, set it up as a managed global (for example, Singleton design pattern). If the same instance is not shared, then having a local copy will suffice (local visibility).</a:t>
            </a:r>
            <a:endParaRPr/>
          </a:p>
          <a:p>
            <a:pPr indent="0" lvl="0" marL="0" rtl="0" algn="l">
              <a:spcBef>
                <a:spcPts val="270"/>
              </a:spcBef>
              <a:spcAft>
                <a:spcPts val="0"/>
              </a:spcAft>
              <a:buNone/>
            </a:pPr>
            <a:r>
              <a:rPr lang="en-US" sz="900">
                <a:latin typeface="Arial"/>
                <a:ea typeface="Arial"/>
                <a:cs typeface="Arial"/>
                <a:sym typeface="Arial"/>
              </a:rPr>
              <a:t>How long does the instance take to create and destroy? Is it expensive to connect and disconnect every time you need it? If so, you would want to give the object field, parameter, or global visibility.</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36: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1" name="Google Shape;1091;p36: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This class diagram is a subset of the View of Participating Classes (VOPC) from the Register for Courses use case.</a:t>
            </a:r>
            <a:endParaRPr/>
          </a:p>
          <a:p>
            <a:pPr indent="0" lvl="0" marL="0" rtl="0" algn="l">
              <a:spcBef>
                <a:spcPts val="270"/>
              </a:spcBef>
              <a:spcAft>
                <a:spcPts val="0"/>
              </a:spcAft>
              <a:buNone/>
            </a:pPr>
            <a:r>
              <a:rPr lang="en-US" sz="900">
                <a:latin typeface="Arial"/>
                <a:ea typeface="Arial"/>
                <a:cs typeface="Arial"/>
                <a:sym typeface="Arial"/>
              </a:rPr>
              <a:t>Up to this point, most of the relationships that we have defined have been associations (and aggregations). Now we will see how some of these associations/aggregations are refined into dependencies.</a:t>
            </a:r>
            <a:endParaRPr/>
          </a:p>
          <a:p>
            <a:pPr indent="0" lvl="0" marL="0" rtl="0" algn="l">
              <a:spcBef>
                <a:spcPts val="270"/>
              </a:spcBef>
              <a:spcAft>
                <a:spcPts val="0"/>
              </a:spcAft>
              <a:buNone/>
            </a:pPr>
            <a:r>
              <a:rPr lang="en-US" sz="900">
                <a:latin typeface="Arial"/>
                <a:ea typeface="Arial"/>
                <a:cs typeface="Arial"/>
                <a:sym typeface="Arial"/>
              </a:rPr>
              <a:t>The dependency shown above from Schedule to CourseOffering was previously defined in the Define Operations section to support the Schedule operation signatures.</a:t>
            </a:r>
            <a:endParaRPr/>
          </a:p>
          <a:p>
            <a:pPr indent="0" lvl="0" marL="0" rtl="0" algn="l">
              <a:spcBef>
                <a:spcPts val="270"/>
              </a:spcBef>
              <a:spcAft>
                <a:spcPts val="0"/>
              </a:spcAft>
              <a:buNone/>
            </a:pPr>
            <a:r>
              <a:rPr b="1" lang="en-US" sz="900">
                <a:latin typeface="Arial"/>
                <a:ea typeface="Arial"/>
                <a:cs typeface="Arial"/>
                <a:sym typeface="Arial"/>
              </a:rPr>
              <a:t>Note</a:t>
            </a:r>
            <a:r>
              <a:rPr lang="en-US" sz="900">
                <a:latin typeface="Arial"/>
                <a:ea typeface="Arial"/>
                <a:cs typeface="Arial"/>
                <a:sym typeface="Arial"/>
              </a:rPr>
              <a:t>: All association/aggregation relationships should be examined to see if they should be dependencies. We have just chosen to work with a VOPC subset for this example. </a:t>
            </a:r>
            <a:endParaRPr/>
          </a:p>
          <a:p>
            <a:pPr indent="0" lvl="0" marL="0" rtl="0" algn="l">
              <a:spcBef>
                <a:spcPts val="270"/>
              </a:spcBef>
              <a:spcAft>
                <a:spcPts val="0"/>
              </a:spcAft>
              <a:buNone/>
            </a:pPr>
            <a:r>
              <a:t/>
            </a:r>
            <a:endParaRPr sz="900">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6" name="Shape 1166"/>
        <p:cNvGrpSpPr/>
        <p:nvPr/>
      </p:nvGrpSpPr>
      <p:grpSpPr>
        <a:xfrm>
          <a:off x="0" y="0"/>
          <a:ext cx="0" cy="0"/>
          <a:chOff x="0" y="0"/>
          <a:chExt cx="0" cy="0"/>
        </a:xfrm>
      </p:grpSpPr>
      <p:sp>
        <p:nvSpPr>
          <p:cNvPr id="1167" name="Google Shape;1167;p37:notes"/>
          <p:cNvSpPr txBox="1"/>
          <p:nvPr/>
        </p:nvSpPr>
        <p:spPr>
          <a:xfrm>
            <a:off x="477079" y="1202042"/>
            <a:ext cx="1829297" cy="1406791"/>
          </a:xfrm>
          <a:prstGeom prst="rect">
            <a:avLst/>
          </a:prstGeom>
          <a:noFill/>
          <a:ln>
            <a:noFill/>
          </a:ln>
        </p:spPr>
        <p:txBody>
          <a:bodyPr anchorCtr="0" anchor="t" bIns="45075" lIns="90150" spcFirstLastPara="1" rIns="90150" wrap="square" tIns="45075">
            <a:spAutoFit/>
          </a:bodyPr>
          <a:lstStyle/>
          <a:p>
            <a:pPr indent="0" lvl="0" marL="0" marR="0" rtl="0" algn="l">
              <a:spcBef>
                <a:spcPts val="0"/>
              </a:spcBef>
              <a:spcAft>
                <a:spcPts val="0"/>
              </a:spcAft>
              <a:buNone/>
            </a:pPr>
            <a:r>
              <a:rPr lang="en-US" sz="900">
                <a:solidFill>
                  <a:schemeClr val="dk1"/>
                </a:solidFill>
                <a:latin typeface="Arial"/>
                <a:ea typeface="Arial"/>
                <a:cs typeface="Arial"/>
                <a:sym typeface="Arial"/>
              </a:rPr>
              <a:t>If the students would like an example of global visibility, tell them that all relationships to the Java RMI Naming class would be a good example.</a:t>
            </a:r>
            <a:endParaRPr/>
          </a:p>
          <a:p>
            <a:pPr indent="0" lvl="0" marL="0" marR="0" rtl="0" algn="l">
              <a:spcBef>
                <a:spcPts val="450"/>
              </a:spcBef>
              <a:spcAft>
                <a:spcPts val="0"/>
              </a:spcAft>
              <a:buNone/>
            </a:pPr>
            <a:r>
              <a:rPr lang="en-US" sz="900">
                <a:solidFill>
                  <a:schemeClr val="dk1"/>
                </a:solidFill>
                <a:latin typeface="Arial"/>
                <a:ea typeface="Arial"/>
                <a:cs typeface="Arial"/>
                <a:sym typeface="Arial"/>
              </a:rPr>
              <a:t>On the presented slide, the changes made are shown in blue, but this does not show up in the black-and-white manuals.</a:t>
            </a:r>
            <a:endParaRPr/>
          </a:p>
        </p:txBody>
      </p:sp>
      <p:sp>
        <p:nvSpPr>
          <p:cNvPr id="1168" name="Google Shape;1168;p37:notes"/>
          <p:cNvSpPr/>
          <p:nvPr>
            <p:ph idx="2" type="sldImg"/>
          </p:nvPr>
        </p:nvSpPr>
        <p:spPr>
          <a:xfrm>
            <a:off x="2443163" y="812800"/>
            <a:ext cx="4038600" cy="30289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9" name="Google Shape;1169;p37:notes"/>
          <p:cNvSpPr txBox="1"/>
          <p:nvPr>
            <p:ph idx="1" type="body"/>
          </p:nvPr>
        </p:nvSpPr>
        <p:spPr>
          <a:xfrm>
            <a:off x="2442044" y="3978549"/>
            <a:ext cx="3973168" cy="3939187"/>
          </a:xfrm>
          <a:prstGeom prst="rect">
            <a:avLst/>
          </a:prstGeom>
          <a:noFill/>
          <a:ln>
            <a:noFill/>
          </a:ln>
        </p:spPr>
        <p:txBody>
          <a:bodyPr anchorCtr="0" anchor="t" bIns="45075" lIns="90150" spcFirstLastPara="1" rIns="90150" wrap="square" tIns="45075">
            <a:noAutofit/>
          </a:bodyPr>
          <a:lstStyle/>
          <a:p>
            <a:pPr indent="0" lvl="0" marL="0" rtl="0" algn="l">
              <a:spcBef>
                <a:spcPts val="0"/>
              </a:spcBef>
              <a:spcAft>
                <a:spcPts val="0"/>
              </a:spcAft>
              <a:buNone/>
            </a:pPr>
            <a:r>
              <a:rPr lang="en-US" sz="900">
                <a:latin typeface="Arial"/>
                <a:ea typeface="Arial"/>
                <a:cs typeface="Arial"/>
                <a:sym typeface="Arial"/>
              </a:rPr>
              <a:t>This example demonstrates how an association on the class diagram provided on the previous slide has been refined into a dependency relationship.</a:t>
            </a:r>
            <a:endParaRPr/>
          </a:p>
          <a:p>
            <a:pPr indent="0" lvl="0" marL="0" rtl="0" algn="l">
              <a:spcBef>
                <a:spcPts val="270"/>
              </a:spcBef>
              <a:spcAft>
                <a:spcPts val="0"/>
              </a:spcAft>
              <a:buNone/>
            </a:pPr>
            <a:r>
              <a:rPr lang="en-US" sz="900">
                <a:latin typeface="Arial"/>
                <a:ea typeface="Arial"/>
                <a:cs typeface="Arial"/>
                <a:sym typeface="Arial"/>
              </a:rPr>
              <a:t>During a registration session, the RegistrationController works with one Student, the registrant (the Student that is registering), and one Schedule, the current Schedule (the Student</a:t>
            </a:r>
            <a:r>
              <a:rPr lang="en-US" sz="900">
                <a:latin typeface="Times New Roman"/>
                <a:ea typeface="Times New Roman"/>
                <a:cs typeface="Times New Roman"/>
                <a:sym typeface="Times New Roman"/>
              </a:rPr>
              <a:t>’</a:t>
            </a:r>
            <a:r>
              <a:rPr lang="en-US" sz="900">
                <a:latin typeface="Arial"/>
                <a:ea typeface="Arial"/>
                <a:cs typeface="Arial"/>
                <a:sym typeface="Arial"/>
              </a:rPr>
              <a:t>s Schedule for the current semester). These instances need to be accessed by more than one of the RegistrationController</a:t>
            </a:r>
            <a:r>
              <a:rPr lang="en-US" sz="900">
                <a:latin typeface="Times New Roman"/>
                <a:ea typeface="Times New Roman"/>
                <a:cs typeface="Times New Roman"/>
                <a:sym typeface="Times New Roman"/>
              </a:rPr>
              <a:t>’</a:t>
            </a:r>
            <a:r>
              <a:rPr lang="en-US" sz="900">
                <a:latin typeface="Arial"/>
                <a:ea typeface="Arial"/>
                <a:cs typeface="Arial"/>
                <a:sym typeface="Arial"/>
              </a:rPr>
              <a:t>s operations, so field visibility is chosen from RegistrationController to Student and from RegistrationController to Schedule. Thus, the relationships remain associations.</a:t>
            </a:r>
            <a:endParaRPr/>
          </a:p>
          <a:p>
            <a:pPr indent="0" lvl="0" marL="0" rtl="0" algn="l">
              <a:spcBef>
                <a:spcPts val="270"/>
              </a:spcBef>
              <a:spcAft>
                <a:spcPts val="0"/>
              </a:spcAft>
              <a:buNone/>
            </a:pPr>
            <a:r>
              <a:rPr lang="en-US" sz="900">
                <a:latin typeface="Arial"/>
                <a:ea typeface="Arial"/>
                <a:cs typeface="Arial"/>
                <a:sym typeface="Arial"/>
              </a:rPr>
              <a:t>A Student manages its own Schedules, so field visibility is chosen from Student to Schedule and the relationship remains an aggregation.</a:t>
            </a:r>
            <a:endParaRPr/>
          </a:p>
          <a:p>
            <a:pPr indent="0" lvl="0" marL="0" rtl="0" algn="l">
              <a:spcBef>
                <a:spcPts val="270"/>
              </a:spcBef>
              <a:spcAft>
                <a:spcPts val="0"/>
              </a:spcAft>
              <a:buNone/>
            </a:pPr>
            <a:r>
              <a:rPr lang="en-US" sz="900">
                <a:latin typeface="Arial"/>
                <a:ea typeface="Arial"/>
                <a:cs typeface="Arial"/>
                <a:sym typeface="Arial"/>
              </a:rPr>
              <a:t>CourseOfferings are part of the semantics of what defines a Schedule (a Schedule is the courses a that a Student has selected for a semester). Thus, field visibility is chosen from Schedule to CourseOffering and the relationships remain associations.</a:t>
            </a:r>
            <a:endParaRPr/>
          </a:p>
          <a:p>
            <a:pPr indent="0" lvl="0" marL="0" rtl="0" algn="l">
              <a:spcBef>
                <a:spcPts val="270"/>
              </a:spcBef>
              <a:spcAft>
                <a:spcPts val="0"/>
              </a:spcAft>
              <a:buNone/>
            </a:pPr>
            <a:r>
              <a:rPr lang="en-US" sz="900">
                <a:latin typeface="Arial"/>
                <a:ea typeface="Arial"/>
                <a:cs typeface="Arial"/>
                <a:sym typeface="Arial"/>
              </a:rPr>
              <a:t>The Student class has several operations where CourseOffering appears in the parameter list. Thus, parameter visibility is chosen from Student to CourseOffering. This relationship was actually defined earlier in the Define Operations section.</a:t>
            </a:r>
            <a:endParaRPr/>
          </a:p>
          <a:p>
            <a:pPr indent="0" lvl="0" marL="0" rtl="0" algn="l">
              <a:spcBef>
                <a:spcPts val="270"/>
              </a:spcBef>
              <a:spcAft>
                <a:spcPts val="0"/>
              </a:spcAft>
              <a:buNone/>
            </a:pPr>
            <a:r>
              <a:rPr lang="en-US" sz="900">
                <a:latin typeface="Arial"/>
                <a:ea typeface="Arial"/>
                <a:cs typeface="Arial"/>
                <a:sym typeface="Arial"/>
              </a:rPr>
              <a:t>It is envisioned that the course Catalog System may need to be accessed by multiple clients in the system, so global visibility was chosen, and the relationship becomes a dependency. This is the only change that was made to the relationships shown on the previous slide.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sp>
        <p:nvSpPr>
          <p:cNvPr id="24" name="Google Shape;24;p39"/>
          <p:cNvSpPr/>
          <p:nvPr/>
        </p:nvSpPr>
        <p:spPr>
          <a:xfrm>
            <a:off x="0" y="0"/>
            <a:ext cx="9144000" cy="515778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39"/>
          <p:cNvSpPr/>
          <p:nvPr/>
        </p:nvSpPr>
        <p:spPr>
          <a:xfrm>
            <a:off x="1262063" y="0"/>
            <a:ext cx="2362200" cy="4953000"/>
          </a:xfrm>
          <a:prstGeom prst="rect">
            <a:avLst/>
          </a:prstGeom>
          <a:gradFill>
            <a:gsLst>
              <a:gs pos="0">
                <a:schemeClr val="accent1"/>
              </a:gs>
              <a:gs pos="100000">
                <a:srgbClr val="2A59B6"/>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39"/>
          <p:cNvSpPr/>
          <p:nvPr/>
        </p:nvSpPr>
        <p:spPr>
          <a:xfrm>
            <a:off x="304800" y="2400300"/>
            <a:ext cx="8458200" cy="1104900"/>
          </a:xfrm>
          <a:prstGeom prst="rect">
            <a:avLst/>
          </a:prstGeom>
          <a:gradFill>
            <a:gsLst>
              <a:gs pos="0">
                <a:schemeClr val="dk1"/>
              </a:gs>
              <a:gs pos="100000">
                <a:schemeClr val="accen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39"/>
          <p:cNvSpPr txBox="1"/>
          <p:nvPr>
            <p:ph type="ctrTitle"/>
          </p:nvPr>
        </p:nvSpPr>
        <p:spPr>
          <a:xfrm>
            <a:off x="457200" y="2590800"/>
            <a:ext cx="8229600" cy="685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44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39"/>
          <p:cNvSpPr txBox="1"/>
          <p:nvPr>
            <p:ph idx="1" type="subTitle"/>
          </p:nvPr>
        </p:nvSpPr>
        <p:spPr>
          <a:xfrm>
            <a:off x="1828800" y="3733800"/>
            <a:ext cx="5867400" cy="4572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lt1"/>
              </a:buClr>
              <a:buSzPts val="2400"/>
              <a:buFont typeface="Noto Sans Symbols"/>
              <a:buNone/>
              <a:defRPr b="1">
                <a:solidFill>
                  <a:schemeClr val="lt1"/>
                </a:solidFill>
              </a:defRPr>
            </a:lvl1pPr>
            <a:lvl2pPr lvl="1" algn="l">
              <a:spcBef>
                <a:spcPts val="360"/>
              </a:spcBef>
              <a:spcAft>
                <a:spcPts val="0"/>
              </a:spcAft>
              <a:buSzPts val="900"/>
              <a:buChar char="🞇"/>
              <a:defRPr/>
            </a:lvl2pPr>
            <a:lvl3pPr lvl="2" algn="l">
              <a:spcBef>
                <a:spcPts val="360"/>
              </a:spcBef>
              <a:spcAft>
                <a:spcPts val="0"/>
              </a:spcAft>
              <a:buSzPts val="1800"/>
              <a:buChar char="▪"/>
              <a:defRPr/>
            </a:lvl3pPr>
            <a:lvl4pPr lvl="3" algn="l">
              <a:spcBef>
                <a:spcPts val="360"/>
              </a:spcBef>
              <a:spcAft>
                <a:spcPts val="0"/>
              </a:spcAft>
              <a:buSzPts val="1080"/>
              <a:buChar char="🞇"/>
              <a:defRPr/>
            </a:lvl4pPr>
            <a:lvl5pPr lvl="4" algn="l">
              <a:spcBef>
                <a:spcPts val="360"/>
              </a:spcBef>
              <a:spcAft>
                <a:spcPts val="0"/>
              </a:spcAft>
              <a:buClr>
                <a:srgbClr val="000000"/>
              </a:buClr>
              <a:buSzPts val="1800"/>
              <a:buChar char="▪"/>
              <a:defRPr/>
            </a:lvl5pPr>
            <a:lvl6pPr lvl="5" algn="l">
              <a:spcBef>
                <a:spcPts val="360"/>
              </a:spcBef>
              <a:spcAft>
                <a:spcPts val="0"/>
              </a:spcAft>
              <a:buClr>
                <a:srgbClr val="000000"/>
              </a:buClr>
              <a:buSzPts val="1800"/>
              <a:buChar char="▪"/>
              <a:defRPr/>
            </a:lvl6pPr>
            <a:lvl7pPr lvl="6" algn="l">
              <a:spcBef>
                <a:spcPts val="360"/>
              </a:spcBef>
              <a:spcAft>
                <a:spcPts val="0"/>
              </a:spcAft>
              <a:buClr>
                <a:srgbClr val="000000"/>
              </a:buClr>
              <a:buSzPts val="1800"/>
              <a:buChar char="▪"/>
              <a:defRPr/>
            </a:lvl7pPr>
            <a:lvl8pPr lvl="7" algn="l">
              <a:spcBef>
                <a:spcPts val="360"/>
              </a:spcBef>
              <a:spcAft>
                <a:spcPts val="0"/>
              </a:spcAft>
              <a:buClr>
                <a:srgbClr val="000000"/>
              </a:buClr>
              <a:buSzPts val="1800"/>
              <a:buChar char="▪"/>
              <a:defRPr/>
            </a:lvl8pPr>
            <a:lvl9pPr lvl="8" algn="l">
              <a:spcBef>
                <a:spcPts val="360"/>
              </a:spcBef>
              <a:spcAft>
                <a:spcPts val="0"/>
              </a:spcAft>
              <a:buClr>
                <a:srgbClr val="000000"/>
              </a:buClr>
              <a:buSzPts val="1800"/>
              <a:buChar char="▪"/>
              <a:defRPr/>
            </a:lvl9pPr>
          </a:lstStyle>
          <a:p/>
        </p:txBody>
      </p:sp>
      <p:sp>
        <p:nvSpPr>
          <p:cNvPr id="29" name="Google Shape;29;p39"/>
          <p:cNvSpPr txBox="1"/>
          <p:nvPr>
            <p:ph idx="10" type="dt"/>
          </p:nvPr>
        </p:nvSpPr>
        <p:spPr>
          <a:xfrm>
            <a:off x="457200" y="6400800"/>
            <a:ext cx="2133600" cy="3206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9"/>
          <p:cNvSpPr txBox="1"/>
          <p:nvPr>
            <p:ph idx="11" type="ftr"/>
          </p:nvPr>
        </p:nvSpPr>
        <p:spPr>
          <a:xfrm>
            <a:off x="3124200" y="6400800"/>
            <a:ext cx="2895600" cy="3206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9"/>
          <p:cNvSpPr txBox="1"/>
          <p:nvPr>
            <p:ph idx="12" type="sldNum"/>
          </p:nvPr>
        </p:nvSpPr>
        <p:spPr>
          <a:xfrm>
            <a:off x="6553200" y="6400800"/>
            <a:ext cx="2133600" cy="3206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dk1"/>
                </a:solidFill>
                <a:latin typeface="Arial"/>
                <a:ea typeface="Arial"/>
                <a:cs typeface="Arial"/>
                <a:sym typeface="Arial"/>
              </a:defRPr>
            </a:lvl1pPr>
            <a:lvl2pPr indent="0" lvl="1" marL="0" algn="r">
              <a:spcBef>
                <a:spcPts val="0"/>
              </a:spcBef>
              <a:spcAft>
                <a:spcPts val="0"/>
              </a:spcAft>
              <a:buNone/>
              <a:defRPr sz="1400">
                <a:solidFill>
                  <a:schemeClr val="dk1"/>
                </a:solidFill>
                <a:latin typeface="Arial"/>
                <a:ea typeface="Arial"/>
                <a:cs typeface="Arial"/>
                <a:sym typeface="Arial"/>
              </a:defRPr>
            </a:lvl2pPr>
            <a:lvl3pPr indent="0" lvl="2" marL="0" algn="r">
              <a:spcBef>
                <a:spcPts val="0"/>
              </a:spcBef>
              <a:spcAft>
                <a:spcPts val="0"/>
              </a:spcAft>
              <a:buNone/>
              <a:defRPr sz="1400">
                <a:solidFill>
                  <a:schemeClr val="dk1"/>
                </a:solidFill>
                <a:latin typeface="Arial"/>
                <a:ea typeface="Arial"/>
                <a:cs typeface="Arial"/>
                <a:sym typeface="Arial"/>
              </a:defRPr>
            </a:lvl3pPr>
            <a:lvl4pPr indent="0" lvl="3" marL="0" algn="r">
              <a:spcBef>
                <a:spcPts val="0"/>
              </a:spcBef>
              <a:spcAft>
                <a:spcPts val="0"/>
              </a:spcAft>
              <a:buNone/>
              <a:defRPr sz="1400">
                <a:solidFill>
                  <a:schemeClr val="dk1"/>
                </a:solidFill>
                <a:latin typeface="Arial"/>
                <a:ea typeface="Arial"/>
                <a:cs typeface="Arial"/>
                <a:sym typeface="Arial"/>
              </a:defRPr>
            </a:lvl4pPr>
            <a:lvl5pPr indent="0" lvl="4" marL="0" algn="r">
              <a:spcBef>
                <a:spcPts val="0"/>
              </a:spcBef>
              <a:spcAft>
                <a:spcPts val="0"/>
              </a:spcAft>
              <a:buNone/>
              <a:defRPr sz="1400">
                <a:solidFill>
                  <a:schemeClr val="dk1"/>
                </a:solidFill>
                <a:latin typeface="Arial"/>
                <a:ea typeface="Arial"/>
                <a:cs typeface="Arial"/>
                <a:sym typeface="Arial"/>
              </a:defRPr>
            </a:lvl5pPr>
            <a:lvl6pPr indent="0" lvl="5" marL="0" algn="r">
              <a:spcBef>
                <a:spcPts val="0"/>
              </a:spcBef>
              <a:spcAft>
                <a:spcPts val="0"/>
              </a:spcAft>
              <a:buNone/>
              <a:defRPr sz="1400">
                <a:solidFill>
                  <a:schemeClr val="dk1"/>
                </a:solidFill>
                <a:latin typeface="Arial"/>
                <a:ea typeface="Arial"/>
                <a:cs typeface="Arial"/>
                <a:sym typeface="Arial"/>
              </a:defRPr>
            </a:lvl6pPr>
            <a:lvl7pPr indent="0" lvl="6" marL="0" algn="r">
              <a:spcBef>
                <a:spcPts val="0"/>
              </a:spcBef>
              <a:spcAft>
                <a:spcPts val="0"/>
              </a:spcAft>
              <a:buNone/>
              <a:defRPr sz="1400">
                <a:solidFill>
                  <a:schemeClr val="dk1"/>
                </a:solidFill>
                <a:latin typeface="Arial"/>
                <a:ea typeface="Arial"/>
                <a:cs typeface="Arial"/>
                <a:sym typeface="Arial"/>
              </a:defRPr>
            </a:lvl7pPr>
            <a:lvl8pPr indent="0" lvl="7" marL="0" algn="r">
              <a:spcBef>
                <a:spcPts val="0"/>
              </a:spcBef>
              <a:spcAft>
                <a:spcPts val="0"/>
              </a:spcAft>
              <a:buNone/>
              <a:defRPr sz="1400">
                <a:solidFill>
                  <a:schemeClr val="dk1"/>
                </a:solidFill>
                <a:latin typeface="Arial"/>
                <a:ea typeface="Arial"/>
                <a:cs typeface="Arial"/>
                <a:sym typeface="Arial"/>
              </a:defRPr>
            </a:lvl8pPr>
            <a:lvl9pPr indent="0" lvl="8" marL="0" algn="r">
              <a:spcBef>
                <a:spcPts val="0"/>
              </a:spcBef>
              <a:spcAft>
                <a:spcPts val="0"/>
              </a:spcAft>
              <a:buNone/>
              <a:defRPr sz="1400">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2" name="Google Shape;32;p39"/>
          <p:cNvPicPr preferRelativeResize="0"/>
          <p:nvPr/>
        </p:nvPicPr>
        <p:blipFill rotWithShape="1">
          <a:blip r:embed="rId2">
            <a:alphaModFix/>
          </a:blip>
          <a:srcRect b="0" l="0" r="0" t="0"/>
          <a:stretch/>
        </p:blipFill>
        <p:spPr>
          <a:xfrm>
            <a:off x="0" y="3490913"/>
            <a:ext cx="1258888" cy="1438275"/>
          </a:xfrm>
          <a:prstGeom prst="rect">
            <a:avLst/>
          </a:prstGeom>
          <a:noFill/>
          <a:ln>
            <a:noFill/>
          </a:ln>
        </p:spPr>
      </p:pic>
      <p:sp>
        <p:nvSpPr>
          <p:cNvPr id="33" name="Google Shape;33;p39"/>
          <p:cNvSpPr/>
          <p:nvPr/>
        </p:nvSpPr>
        <p:spPr>
          <a:xfrm>
            <a:off x="1276350" y="4941888"/>
            <a:ext cx="7867650" cy="217487"/>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 name="Google Shape;34;p39"/>
          <p:cNvSpPr/>
          <p:nvPr/>
        </p:nvSpPr>
        <p:spPr>
          <a:xfrm>
            <a:off x="304800" y="304800"/>
            <a:ext cx="8534400" cy="43434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 name="Google Shape;35;p39"/>
          <p:cNvSpPr/>
          <p:nvPr/>
        </p:nvSpPr>
        <p:spPr>
          <a:xfrm>
            <a:off x="7391400" y="914400"/>
            <a:ext cx="1600200" cy="1447800"/>
          </a:xfrm>
          <a:prstGeom prst="rect">
            <a:avLst/>
          </a:prstGeom>
          <a:noFill/>
          <a:ln cap="flat" cmpd="sng" w="9525">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6" name="Google Shape;36;p39"/>
          <p:cNvSpPr/>
          <p:nvPr/>
        </p:nvSpPr>
        <p:spPr>
          <a:xfrm>
            <a:off x="8305800" y="0"/>
            <a:ext cx="76200" cy="17526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5"/>
                                        </p:tgtEl>
                                        <p:attrNameLst>
                                          <p:attrName>style.visibility</p:attrName>
                                        </p:attrNameLst>
                                      </p:cBhvr>
                                      <p:to>
                                        <p:strVal val="visible"/>
                                      </p:to>
                                    </p:set>
                                    <p:animEffect filter="fade" transition="in">
                                      <p:cBhvr>
                                        <p:cTn dur="500"/>
                                        <p:tgtEl>
                                          <p:spTgt spid="2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6"/>
                                        </p:tgtEl>
                                        <p:attrNameLst>
                                          <p:attrName>style.visibility</p:attrName>
                                        </p:attrNameLst>
                                      </p:cBhvr>
                                      <p:to>
                                        <p:strVal val="visible"/>
                                      </p:to>
                                    </p:set>
                                    <p:animEffect filter="fade" transition="in">
                                      <p:cBhvr>
                                        <p:cTn dur="500"/>
                                        <p:tgtEl>
                                          <p:spTgt spid="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6"/>
                                        </p:tgtEl>
                                        <p:attrNameLst>
                                          <p:attrName>style.visibility</p:attrName>
                                        </p:attrNameLst>
                                      </p:cBhvr>
                                      <p:to>
                                        <p:strVal val="visible"/>
                                      </p:to>
                                    </p:set>
                                    <p:animEffect filter="fade" transition="in">
                                      <p:cBhvr>
                                        <p:cTn dur="500"/>
                                        <p:tgtEl>
                                          <p:spTgt spid="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0"/>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28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40"/>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40" name="Google Shape;40;p40"/>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40"/>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40"/>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41"/>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41"/>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1"/>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1"/>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000000"/>
              </a:buClr>
              <a:buSzPts val="2000"/>
              <a:buNone/>
              <a:defRPr sz="2000"/>
            </a:lvl1pPr>
            <a:lvl2pPr indent="-228600" lvl="1" marL="914400" algn="l">
              <a:spcBef>
                <a:spcPts val="360"/>
              </a:spcBef>
              <a:spcAft>
                <a:spcPts val="0"/>
              </a:spcAft>
              <a:buSzPts val="900"/>
              <a:buNone/>
              <a:defRPr sz="1800"/>
            </a:lvl2pPr>
            <a:lvl3pPr indent="-228600" lvl="2" marL="1371600" algn="l">
              <a:spcBef>
                <a:spcPts val="320"/>
              </a:spcBef>
              <a:spcAft>
                <a:spcPts val="0"/>
              </a:spcAft>
              <a:buSzPts val="1600"/>
              <a:buNone/>
              <a:defRPr sz="1600"/>
            </a:lvl3pPr>
            <a:lvl4pPr indent="-228600" lvl="3" marL="1828800" algn="l">
              <a:spcBef>
                <a:spcPts val="280"/>
              </a:spcBef>
              <a:spcAft>
                <a:spcPts val="0"/>
              </a:spcAft>
              <a:buSzPts val="840"/>
              <a:buNone/>
              <a:defRPr sz="1400"/>
            </a:lvl4pPr>
            <a:lvl5pPr indent="-228600" lvl="4" marL="2286000" algn="l">
              <a:spcBef>
                <a:spcPts val="280"/>
              </a:spcBef>
              <a:spcAft>
                <a:spcPts val="0"/>
              </a:spcAft>
              <a:buClr>
                <a:srgbClr val="000000"/>
              </a:buClr>
              <a:buSzPts val="1400"/>
              <a:buNone/>
              <a:defRPr sz="1400"/>
            </a:lvl5pPr>
            <a:lvl6pPr indent="-228600" lvl="5" marL="2743200" algn="l">
              <a:spcBef>
                <a:spcPts val="280"/>
              </a:spcBef>
              <a:spcAft>
                <a:spcPts val="0"/>
              </a:spcAft>
              <a:buClr>
                <a:srgbClr val="000000"/>
              </a:buClr>
              <a:buSzPts val="1400"/>
              <a:buNone/>
              <a:defRPr sz="1400"/>
            </a:lvl6pPr>
            <a:lvl7pPr indent="-228600" lvl="6" marL="3200400" algn="l">
              <a:spcBef>
                <a:spcPts val="280"/>
              </a:spcBef>
              <a:spcAft>
                <a:spcPts val="0"/>
              </a:spcAft>
              <a:buClr>
                <a:srgbClr val="000000"/>
              </a:buClr>
              <a:buSzPts val="1400"/>
              <a:buNone/>
              <a:defRPr sz="1400"/>
            </a:lvl7pPr>
            <a:lvl8pPr indent="-228600" lvl="7" marL="3657600" algn="l">
              <a:spcBef>
                <a:spcPts val="280"/>
              </a:spcBef>
              <a:spcAft>
                <a:spcPts val="0"/>
              </a:spcAft>
              <a:buClr>
                <a:srgbClr val="000000"/>
              </a:buClr>
              <a:buSzPts val="1400"/>
              <a:buNone/>
              <a:defRPr sz="1400"/>
            </a:lvl8pPr>
            <a:lvl9pPr indent="-228600" lvl="8" marL="4114800" algn="l">
              <a:spcBef>
                <a:spcPts val="280"/>
              </a:spcBef>
              <a:spcAft>
                <a:spcPts val="0"/>
              </a:spcAft>
              <a:buClr>
                <a:srgbClr val="000000"/>
              </a:buClr>
              <a:buSzPts val="1400"/>
              <a:buNone/>
              <a:defRPr sz="1400"/>
            </a:lvl9pPr>
          </a:lstStyle>
          <a:p/>
        </p:txBody>
      </p:sp>
      <p:sp>
        <p:nvSpPr>
          <p:cNvPr id="51" name="Google Shape;51;p42"/>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2"/>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2"/>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43"/>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43"/>
          <p:cNvSpPr txBox="1"/>
          <p:nvPr>
            <p:ph idx="1" type="body"/>
          </p:nvPr>
        </p:nvSpPr>
        <p:spPr>
          <a:xfrm>
            <a:off x="457200" y="1371600"/>
            <a:ext cx="4038600" cy="50260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Char char="❖"/>
              <a:defRPr sz="2800"/>
            </a:lvl1pPr>
            <a:lvl2pPr indent="-304800" lvl="1" marL="914400" algn="l">
              <a:spcBef>
                <a:spcPts val="480"/>
              </a:spcBef>
              <a:spcAft>
                <a:spcPts val="0"/>
              </a:spcAft>
              <a:buSzPts val="1200"/>
              <a:buChar char="🞇"/>
              <a:defRPr sz="2400"/>
            </a:lvl2pPr>
            <a:lvl3pPr indent="-355600" lvl="2" marL="1371600" algn="l">
              <a:spcBef>
                <a:spcPts val="400"/>
              </a:spcBef>
              <a:spcAft>
                <a:spcPts val="0"/>
              </a:spcAft>
              <a:buSzPts val="2000"/>
              <a:buChar char="▪"/>
              <a:defRPr sz="2000"/>
            </a:lvl3pPr>
            <a:lvl4pPr indent="-297180" lvl="3" marL="1828800" algn="l">
              <a:spcBef>
                <a:spcPts val="360"/>
              </a:spcBef>
              <a:spcAft>
                <a:spcPts val="0"/>
              </a:spcAft>
              <a:buSzPts val="108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rgbClr val="000000"/>
              </a:buClr>
              <a:buSzPts val="1800"/>
              <a:buChar char="▪"/>
              <a:defRPr sz="1800"/>
            </a:lvl6pPr>
            <a:lvl7pPr indent="-342900" lvl="6" marL="3200400" algn="l">
              <a:spcBef>
                <a:spcPts val="360"/>
              </a:spcBef>
              <a:spcAft>
                <a:spcPts val="0"/>
              </a:spcAft>
              <a:buClr>
                <a:srgbClr val="000000"/>
              </a:buClr>
              <a:buSzPts val="1800"/>
              <a:buChar char="▪"/>
              <a:defRPr sz="1800"/>
            </a:lvl7pPr>
            <a:lvl8pPr indent="-342900" lvl="7" marL="3657600" algn="l">
              <a:spcBef>
                <a:spcPts val="360"/>
              </a:spcBef>
              <a:spcAft>
                <a:spcPts val="0"/>
              </a:spcAft>
              <a:buClr>
                <a:srgbClr val="000000"/>
              </a:buClr>
              <a:buSzPts val="1800"/>
              <a:buChar char="▪"/>
              <a:defRPr sz="1800"/>
            </a:lvl8pPr>
            <a:lvl9pPr indent="-342900" lvl="8" marL="4114800" algn="l">
              <a:spcBef>
                <a:spcPts val="360"/>
              </a:spcBef>
              <a:spcAft>
                <a:spcPts val="0"/>
              </a:spcAft>
              <a:buClr>
                <a:srgbClr val="000000"/>
              </a:buClr>
              <a:buSzPts val="1800"/>
              <a:buChar char="▪"/>
              <a:defRPr sz="1800"/>
            </a:lvl9pPr>
          </a:lstStyle>
          <a:p/>
        </p:txBody>
      </p:sp>
      <p:sp>
        <p:nvSpPr>
          <p:cNvPr id="57" name="Google Shape;57;p43"/>
          <p:cNvSpPr txBox="1"/>
          <p:nvPr>
            <p:ph idx="2" type="body"/>
          </p:nvPr>
        </p:nvSpPr>
        <p:spPr>
          <a:xfrm>
            <a:off x="4648200" y="1371600"/>
            <a:ext cx="4038600" cy="5026025"/>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rgbClr val="000000"/>
              </a:buClr>
              <a:buSzPts val="2800"/>
              <a:buChar char="❖"/>
              <a:defRPr sz="2800"/>
            </a:lvl1pPr>
            <a:lvl2pPr indent="-304800" lvl="1" marL="914400" algn="l">
              <a:spcBef>
                <a:spcPts val="480"/>
              </a:spcBef>
              <a:spcAft>
                <a:spcPts val="0"/>
              </a:spcAft>
              <a:buSzPts val="1200"/>
              <a:buChar char="🞇"/>
              <a:defRPr sz="2400"/>
            </a:lvl2pPr>
            <a:lvl3pPr indent="-355600" lvl="2" marL="1371600" algn="l">
              <a:spcBef>
                <a:spcPts val="400"/>
              </a:spcBef>
              <a:spcAft>
                <a:spcPts val="0"/>
              </a:spcAft>
              <a:buSzPts val="2000"/>
              <a:buChar char="▪"/>
              <a:defRPr sz="2000"/>
            </a:lvl3pPr>
            <a:lvl4pPr indent="-297180" lvl="3" marL="1828800" algn="l">
              <a:spcBef>
                <a:spcPts val="360"/>
              </a:spcBef>
              <a:spcAft>
                <a:spcPts val="0"/>
              </a:spcAft>
              <a:buSzPts val="1080"/>
              <a:buChar char="🞇"/>
              <a:defRPr sz="1800"/>
            </a:lvl4pPr>
            <a:lvl5pPr indent="-342900" lvl="4" marL="2286000" algn="l">
              <a:spcBef>
                <a:spcPts val="360"/>
              </a:spcBef>
              <a:spcAft>
                <a:spcPts val="0"/>
              </a:spcAft>
              <a:buClr>
                <a:srgbClr val="000000"/>
              </a:buClr>
              <a:buSzPts val="1800"/>
              <a:buChar char="▪"/>
              <a:defRPr sz="1800"/>
            </a:lvl5pPr>
            <a:lvl6pPr indent="-342900" lvl="5" marL="2743200" algn="l">
              <a:spcBef>
                <a:spcPts val="360"/>
              </a:spcBef>
              <a:spcAft>
                <a:spcPts val="0"/>
              </a:spcAft>
              <a:buClr>
                <a:srgbClr val="000000"/>
              </a:buClr>
              <a:buSzPts val="1800"/>
              <a:buChar char="▪"/>
              <a:defRPr sz="1800"/>
            </a:lvl6pPr>
            <a:lvl7pPr indent="-342900" lvl="6" marL="3200400" algn="l">
              <a:spcBef>
                <a:spcPts val="360"/>
              </a:spcBef>
              <a:spcAft>
                <a:spcPts val="0"/>
              </a:spcAft>
              <a:buClr>
                <a:srgbClr val="000000"/>
              </a:buClr>
              <a:buSzPts val="1800"/>
              <a:buChar char="▪"/>
              <a:defRPr sz="1800"/>
            </a:lvl7pPr>
            <a:lvl8pPr indent="-342900" lvl="7" marL="3657600" algn="l">
              <a:spcBef>
                <a:spcPts val="360"/>
              </a:spcBef>
              <a:spcAft>
                <a:spcPts val="0"/>
              </a:spcAft>
              <a:buClr>
                <a:srgbClr val="000000"/>
              </a:buClr>
              <a:buSzPts val="1800"/>
              <a:buChar char="▪"/>
              <a:defRPr sz="1800"/>
            </a:lvl8pPr>
            <a:lvl9pPr indent="-342900" lvl="8" marL="4114800" algn="l">
              <a:spcBef>
                <a:spcPts val="360"/>
              </a:spcBef>
              <a:spcAft>
                <a:spcPts val="0"/>
              </a:spcAft>
              <a:buClr>
                <a:srgbClr val="000000"/>
              </a:buClr>
              <a:buSzPts val="1800"/>
              <a:buChar char="▪"/>
              <a:defRPr sz="1800"/>
            </a:lvl9pPr>
          </a:lstStyle>
          <a:p/>
        </p:txBody>
      </p:sp>
      <p:sp>
        <p:nvSpPr>
          <p:cNvPr id="58" name="Google Shape;58;p43"/>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3"/>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3"/>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rgbClr val="000000"/>
              </a:buClr>
              <a:buSzPts val="1600"/>
              <a:buNone/>
              <a:defRPr b="1" sz="1600"/>
            </a:lvl6pPr>
            <a:lvl7pPr indent="-228600" lvl="6" marL="3200400" algn="l">
              <a:spcBef>
                <a:spcPts val="320"/>
              </a:spcBef>
              <a:spcAft>
                <a:spcPts val="0"/>
              </a:spcAft>
              <a:buClr>
                <a:srgbClr val="000000"/>
              </a:buClr>
              <a:buSzPts val="1600"/>
              <a:buNone/>
              <a:defRPr b="1" sz="1600"/>
            </a:lvl7pPr>
            <a:lvl8pPr indent="-228600" lvl="7" marL="3657600" algn="l">
              <a:spcBef>
                <a:spcPts val="320"/>
              </a:spcBef>
              <a:spcAft>
                <a:spcPts val="0"/>
              </a:spcAft>
              <a:buClr>
                <a:srgbClr val="000000"/>
              </a:buClr>
              <a:buSzPts val="1600"/>
              <a:buNone/>
              <a:defRPr b="1" sz="1600"/>
            </a:lvl8pPr>
            <a:lvl9pPr indent="-228600" lvl="8" marL="4114800" algn="l">
              <a:spcBef>
                <a:spcPts val="320"/>
              </a:spcBef>
              <a:spcAft>
                <a:spcPts val="0"/>
              </a:spcAft>
              <a:buClr>
                <a:srgbClr val="000000"/>
              </a:buClr>
              <a:buSzPts val="1600"/>
              <a:buNone/>
              <a:defRPr b="1" sz="1600"/>
            </a:lvl9pPr>
          </a:lstStyle>
          <a:p/>
        </p:txBody>
      </p:sp>
      <p:sp>
        <p:nvSpPr>
          <p:cNvPr id="64" name="Google Shape;64;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Char char="❖"/>
              <a:defRPr sz="2400"/>
            </a:lvl1pPr>
            <a:lvl2pPr indent="-292100" lvl="1" marL="914400" algn="l">
              <a:spcBef>
                <a:spcPts val="400"/>
              </a:spcBef>
              <a:spcAft>
                <a:spcPts val="0"/>
              </a:spcAft>
              <a:buSzPts val="1000"/>
              <a:buChar char="🞇"/>
              <a:defRPr sz="2000"/>
            </a:lvl2pPr>
            <a:lvl3pPr indent="-342900" lvl="2" marL="1371600" algn="l">
              <a:spcBef>
                <a:spcPts val="360"/>
              </a:spcBef>
              <a:spcAft>
                <a:spcPts val="0"/>
              </a:spcAft>
              <a:buSzPts val="1800"/>
              <a:buChar char="▪"/>
              <a:defRPr sz="1800"/>
            </a:lvl3pPr>
            <a:lvl4pPr indent="-289560" lvl="3" marL="1828800" algn="l">
              <a:spcBef>
                <a:spcPts val="320"/>
              </a:spcBef>
              <a:spcAft>
                <a:spcPts val="0"/>
              </a:spcAft>
              <a:buSzPts val="96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rgbClr val="000000"/>
              </a:buClr>
              <a:buSzPts val="1600"/>
              <a:buChar char="▪"/>
              <a:defRPr sz="1600"/>
            </a:lvl6pPr>
            <a:lvl7pPr indent="-330200" lvl="6" marL="3200400" algn="l">
              <a:spcBef>
                <a:spcPts val="320"/>
              </a:spcBef>
              <a:spcAft>
                <a:spcPts val="0"/>
              </a:spcAft>
              <a:buClr>
                <a:srgbClr val="000000"/>
              </a:buClr>
              <a:buSzPts val="1600"/>
              <a:buChar char="▪"/>
              <a:defRPr sz="1600"/>
            </a:lvl7pPr>
            <a:lvl8pPr indent="-330200" lvl="7" marL="3657600" algn="l">
              <a:spcBef>
                <a:spcPts val="320"/>
              </a:spcBef>
              <a:spcAft>
                <a:spcPts val="0"/>
              </a:spcAft>
              <a:buClr>
                <a:srgbClr val="000000"/>
              </a:buClr>
              <a:buSzPts val="1600"/>
              <a:buChar char="▪"/>
              <a:defRPr sz="1600"/>
            </a:lvl8pPr>
            <a:lvl9pPr indent="-330200" lvl="8" marL="4114800" algn="l">
              <a:spcBef>
                <a:spcPts val="320"/>
              </a:spcBef>
              <a:spcAft>
                <a:spcPts val="0"/>
              </a:spcAft>
              <a:buClr>
                <a:srgbClr val="000000"/>
              </a:buClr>
              <a:buSzPts val="1600"/>
              <a:buChar char="▪"/>
              <a:defRPr sz="1600"/>
            </a:lvl9pPr>
          </a:lstStyle>
          <a:p/>
        </p:txBody>
      </p:sp>
      <p:sp>
        <p:nvSpPr>
          <p:cNvPr id="65" name="Google Shape;65;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rgbClr val="000000"/>
              </a:buClr>
              <a:buSzPts val="2400"/>
              <a:buNone/>
              <a:defRPr b="1" sz="2400"/>
            </a:lvl1pPr>
            <a:lvl2pPr indent="-228600" lvl="1" marL="914400" algn="l">
              <a:spcBef>
                <a:spcPts val="400"/>
              </a:spcBef>
              <a:spcAft>
                <a:spcPts val="0"/>
              </a:spcAft>
              <a:buSzPts val="1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960"/>
              <a:buNone/>
              <a:defRPr b="1" sz="1600"/>
            </a:lvl4pPr>
            <a:lvl5pPr indent="-228600" lvl="4" marL="2286000" algn="l">
              <a:spcBef>
                <a:spcPts val="320"/>
              </a:spcBef>
              <a:spcAft>
                <a:spcPts val="0"/>
              </a:spcAft>
              <a:buClr>
                <a:srgbClr val="000000"/>
              </a:buClr>
              <a:buSzPts val="1600"/>
              <a:buNone/>
              <a:defRPr b="1" sz="1600"/>
            </a:lvl5pPr>
            <a:lvl6pPr indent="-228600" lvl="5" marL="2743200" algn="l">
              <a:spcBef>
                <a:spcPts val="320"/>
              </a:spcBef>
              <a:spcAft>
                <a:spcPts val="0"/>
              </a:spcAft>
              <a:buClr>
                <a:srgbClr val="000000"/>
              </a:buClr>
              <a:buSzPts val="1600"/>
              <a:buNone/>
              <a:defRPr b="1" sz="1600"/>
            </a:lvl6pPr>
            <a:lvl7pPr indent="-228600" lvl="6" marL="3200400" algn="l">
              <a:spcBef>
                <a:spcPts val="320"/>
              </a:spcBef>
              <a:spcAft>
                <a:spcPts val="0"/>
              </a:spcAft>
              <a:buClr>
                <a:srgbClr val="000000"/>
              </a:buClr>
              <a:buSzPts val="1600"/>
              <a:buNone/>
              <a:defRPr b="1" sz="1600"/>
            </a:lvl7pPr>
            <a:lvl8pPr indent="-228600" lvl="7" marL="3657600" algn="l">
              <a:spcBef>
                <a:spcPts val="320"/>
              </a:spcBef>
              <a:spcAft>
                <a:spcPts val="0"/>
              </a:spcAft>
              <a:buClr>
                <a:srgbClr val="000000"/>
              </a:buClr>
              <a:buSzPts val="1600"/>
              <a:buNone/>
              <a:defRPr b="1" sz="1600"/>
            </a:lvl8pPr>
            <a:lvl9pPr indent="-228600" lvl="8" marL="4114800" algn="l">
              <a:spcBef>
                <a:spcPts val="320"/>
              </a:spcBef>
              <a:spcAft>
                <a:spcPts val="0"/>
              </a:spcAft>
              <a:buClr>
                <a:srgbClr val="000000"/>
              </a:buClr>
              <a:buSzPts val="1600"/>
              <a:buNone/>
              <a:defRPr b="1" sz="1600"/>
            </a:lvl9pPr>
          </a:lstStyle>
          <a:p/>
        </p:txBody>
      </p:sp>
      <p:sp>
        <p:nvSpPr>
          <p:cNvPr id="66" name="Google Shape;66;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rgbClr val="000000"/>
              </a:buClr>
              <a:buSzPts val="2400"/>
              <a:buChar char="❖"/>
              <a:defRPr sz="2400"/>
            </a:lvl1pPr>
            <a:lvl2pPr indent="-292100" lvl="1" marL="914400" algn="l">
              <a:spcBef>
                <a:spcPts val="400"/>
              </a:spcBef>
              <a:spcAft>
                <a:spcPts val="0"/>
              </a:spcAft>
              <a:buSzPts val="1000"/>
              <a:buChar char="🞇"/>
              <a:defRPr sz="2000"/>
            </a:lvl2pPr>
            <a:lvl3pPr indent="-342900" lvl="2" marL="1371600" algn="l">
              <a:spcBef>
                <a:spcPts val="360"/>
              </a:spcBef>
              <a:spcAft>
                <a:spcPts val="0"/>
              </a:spcAft>
              <a:buSzPts val="1800"/>
              <a:buChar char="▪"/>
              <a:defRPr sz="1800"/>
            </a:lvl3pPr>
            <a:lvl4pPr indent="-289560" lvl="3" marL="1828800" algn="l">
              <a:spcBef>
                <a:spcPts val="320"/>
              </a:spcBef>
              <a:spcAft>
                <a:spcPts val="0"/>
              </a:spcAft>
              <a:buSzPts val="960"/>
              <a:buChar char="🞇"/>
              <a:defRPr sz="1600"/>
            </a:lvl4pPr>
            <a:lvl5pPr indent="-330200" lvl="4" marL="2286000" algn="l">
              <a:spcBef>
                <a:spcPts val="320"/>
              </a:spcBef>
              <a:spcAft>
                <a:spcPts val="0"/>
              </a:spcAft>
              <a:buClr>
                <a:srgbClr val="000000"/>
              </a:buClr>
              <a:buSzPts val="1600"/>
              <a:buChar char="▪"/>
              <a:defRPr sz="1600"/>
            </a:lvl5pPr>
            <a:lvl6pPr indent="-330200" lvl="5" marL="2743200" algn="l">
              <a:spcBef>
                <a:spcPts val="320"/>
              </a:spcBef>
              <a:spcAft>
                <a:spcPts val="0"/>
              </a:spcAft>
              <a:buClr>
                <a:srgbClr val="000000"/>
              </a:buClr>
              <a:buSzPts val="1600"/>
              <a:buChar char="▪"/>
              <a:defRPr sz="1600"/>
            </a:lvl6pPr>
            <a:lvl7pPr indent="-330200" lvl="6" marL="3200400" algn="l">
              <a:spcBef>
                <a:spcPts val="320"/>
              </a:spcBef>
              <a:spcAft>
                <a:spcPts val="0"/>
              </a:spcAft>
              <a:buClr>
                <a:srgbClr val="000000"/>
              </a:buClr>
              <a:buSzPts val="1600"/>
              <a:buChar char="▪"/>
              <a:defRPr sz="1600"/>
            </a:lvl7pPr>
            <a:lvl8pPr indent="-330200" lvl="7" marL="3657600" algn="l">
              <a:spcBef>
                <a:spcPts val="320"/>
              </a:spcBef>
              <a:spcAft>
                <a:spcPts val="0"/>
              </a:spcAft>
              <a:buClr>
                <a:srgbClr val="000000"/>
              </a:buClr>
              <a:buSzPts val="1600"/>
              <a:buChar char="▪"/>
              <a:defRPr sz="1600"/>
            </a:lvl8pPr>
            <a:lvl9pPr indent="-330200" lvl="8" marL="4114800" algn="l">
              <a:spcBef>
                <a:spcPts val="320"/>
              </a:spcBef>
              <a:spcAft>
                <a:spcPts val="0"/>
              </a:spcAft>
              <a:buClr>
                <a:srgbClr val="000000"/>
              </a:buClr>
              <a:buSzPts val="1600"/>
              <a:buChar char="▪"/>
              <a:defRPr sz="1600"/>
            </a:lvl9pPr>
          </a:lstStyle>
          <a:p/>
        </p:txBody>
      </p:sp>
      <p:sp>
        <p:nvSpPr>
          <p:cNvPr id="67" name="Google Shape;67;p44"/>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44"/>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44"/>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45"/>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5"/>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5"/>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4" name="Shape 74"/>
        <p:cNvGrpSpPr/>
        <p:nvPr/>
      </p:nvGrpSpPr>
      <p:grpSpPr>
        <a:xfrm>
          <a:off x="0" y="0"/>
          <a:ext cx="0" cy="0"/>
          <a:chOff x="0" y="0"/>
          <a:chExt cx="0" cy="0"/>
        </a:xfrm>
      </p:grpSpPr>
      <p:sp>
        <p:nvSpPr>
          <p:cNvPr id="75" name="Google Shape;7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6" name="Google Shape;7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rgbClr val="000000"/>
              </a:buClr>
              <a:buSzPts val="3200"/>
              <a:buChar char="❖"/>
              <a:defRPr sz="3200"/>
            </a:lvl1pPr>
            <a:lvl2pPr indent="-317500" lvl="1" marL="914400" algn="l">
              <a:spcBef>
                <a:spcPts val="560"/>
              </a:spcBef>
              <a:spcAft>
                <a:spcPts val="0"/>
              </a:spcAft>
              <a:buSzPts val="1400"/>
              <a:buChar char="🞇"/>
              <a:defRPr sz="2800"/>
            </a:lvl2pPr>
            <a:lvl3pPr indent="-381000" lvl="2" marL="1371600" algn="l">
              <a:spcBef>
                <a:spcPts val="480"/>
              </a:spcBef>
              <a:spcAft>
                <a:spcPts val="0"/>
              </a:spcAft>
              <a:buSzPts val="2400"/>
              <a:buChar char="▪"/>
              <a:defRPr sz="2400"/>
            </a:lvl3pPr>
            <a:lvl4pPr indent="-304800" lvl="3" marL="1828800" algn="l">
              <a:spcBef>
                <a:spcPts val="400"/>
              </a:spcBef>
              <a:spcAft>
                <a:spcPts val="0"/>
              </a:spcAft>
              <a:buSzPts val="1200"/>
              <a:buChar char="🞇"/>
              <a:defRPr sz="2000"/>
            </a:lvl4pPr>
            <a:lvl5pPr indent="-355600" lvl="4" marL="2286000" algn="l">
              <a:spcBef>
                <a:spcPts val="400"/>
              </a:spcBef>
              <a:spcAft>
                <a:spcPts val="0"/>
              </a:spcAft>
              <a:buClr>
                <a:srgbClr val="000000"/>
              </a:buClr>
              <a:buSzPts val="2000"/>
              <a:buChar char="▪"/>
              <a:defRPr sz="2000"/>
            </a:lvl5pPr>
            <a:lvl6pPr indent="-355600" lvl="5" marL="2743200" algn="l">
              <a:spcBef>
                <a:spcPts val="400"/>
              </a:spcBef>
              <a:spcAft>
                <a:spcPts val="0"/>
              </a:spcAft>
              <a:buClr>
                <a:srgbClr val="000000"/>
              </a:buClr>
              <a:buSzPts val="2000"/>
              <a:buChar char="▪"/>
              <a:defRPr sz="2000"/>
            </a:lvl6pPr>
            <a:lvl7pPr indent="-355600" lvl="6" marL="3200400" algn="l">
              <a:spcBef>
                <a:spcPts val="400"/>
              </a:spcBef>
              <a:spcAft>
                <a:spcPts val="0"/>
              </a:spcAft>
              <a:buClr>
                <a:srgbClr val="000000"/>
              </a:buClr>
              <a:buSzPts val="2000"/>
              <a:buChar char="▪"/>
              <a:defRPr sz="2000"/>
            </a:lvl7pPr>
            <a:lvl8pPr indent="-355600" lvl="7" marL="3657600" algn="l">
              <a:spcBef>
                <a:spcPts val="400"/>
              </a:spcBef>
              <a:spcAft>
                <a:spcPts val="0"/>
              </a:spcAft>
              <a:buClr>
                <a:srgbClr val="000000"/>
              </a:buClr>
              <a:buSzPts val="2000"/>
              <a:buChar char="▪"/>
              <a:defRPr sz="2000"/>
            </a:lvl8pPr>
            <a:lvl9pPr indent="-355600" lvl="8" marL="4114800" algn="l">
              <a:spcBef>
                <a:spcPts val="400"/>
              </a:spcBef>
              <a:spcAft>
                <a:spcPts val="0"/>
              </a:spcAft>
              <a:buClr>
                <a:srgbClr val="000000"/>
              </a:buClr>
              <a:buSzPts val="2000"/>
              <a:buChar char="▪"/>
              <a:defRPr sz="2000"/>
            </a:lvl9pPr>
          </a:lstStyle>
          <a:p/>
        </p:txBody>
      </p:sp>
      <p:sp>
        <p:nvSpPr>
          <p:cNvPr id="77" name="Google Shape;7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rgbClr val="000000"/>
              </a:buClr>
              <a:buSzPts val="900"/>
              <a:buNone/>
              <a:defRPr sz="900"/>
            </a:lvl6pPr>
            <a:lvl7pPr indent="-228600" lvl="6" marL="3200400" algn="l">
              <a:spcBef>
                <a:spcPts val="180"/>
              </a:spcBef>
              <a:spcAft>
                <a:spcPts val="0"/>
              </a:spcAft>
              <a:buClr>
                <a:srgbClr val="000000"/>
              </a:buClr>
              <a:buSzPts val="900"/>
              <a:buNone/>
              <a:defRPr sz="900"/>
            </a:lvl7pPr>
            <a:lvl8pPr indent="-228600" lvl="7" marL="3657600" algn="l">
              <a:spcBef>
                <a:spcPts val="180"/>
              </a:spcBef>
              <a:spcAft>
                <a:spcPts val="0"/>
              </a:spcAft>
              <a:buClr>
                <a:srgbClr val="000000"/>
              </a:buClr>
              <a:buSzPts val="900"/>
              <a:buNone/>
              <a:defRPr sz="900"/>
            </a:lvl8pPr>
            <a:lvl9pPr indent="-228600" lvl="8" marL="4114800" algn="l">
              <a:spcBef>
                <a:spcPts val="180"/>
              </a:spcBef>
              <a:spcAft>
                <a:spcPts val="0"/>
              </a:spcAft>
              <a:buClr>
                <a:srgbClr val="000000"/>
              </a:buClr>
              <a:buSzPts val="900"/>
              <a:buNone/>
              <a:defRPr sz="900"/>
            </a:lvl9pPr>
          </a:lstStyle>
          <a:p/>
        </p:txBody>
      </p:sp>
      <p:sp>
        <p:nvSpPr>
          <p:cNvPr id="78" name="Google Shape;78;p46"/>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6"/>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6"/>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1" name="Shape 81"/>
        <p:cNvGrpSpPr/>
        <p:nvPr/>
      </p:nvGrpSpPr>
      <p:grpSpPr>
        <a:xfrm>
          <a:off x="0" y="0"/>
          <a:ext cx="0" cy="0"/>
          <a:chOff x="0" y="0"/>
          <a:chExt cx="0" cy="0"/>
        </a:xfrm>
      </p:grpSpPr>
      <p:sp>
        <p:nvSpPr>
          <p:cNvPr id="82" name="Google Shape;8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3" name="Google Shape;83;p47"/>
          <p:cNvSpPr/>
          <p:nvPr>
            <p:ph idx="2" type="pic"/>
          </p:nvPr>
        </p:nvSpPr>
        <p:spPr>
          <a:xfrm>
            <a:off x="1792288" y="612775"/>
            <a:ext cx="5486400" cy="4114800"/>
          </a:xfrm>
          <a:prstGeom prst="rect">
            <a:avLst/>
          </a:prstGeom>
          <a:noFill/>
          <a:ln>
            <a:noFill/>
          </a:ln>
        </p:spPr>
      </p:sp>
      <p:sp>
        <p:nvSpPr>
          <p:cNvPr id="84" name="Google Shape;8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rgbClr val="000000"/>
              </a:buClr>
              <a:buSzPts val="1400"/>
              <a:buNone/>
              <a:defRPr sz="1400"/>
            </a:lvl1pPr>
            <a:lvl2pPr indent="-228600" lvl="1" marL="914400" algn="l">
              <a:spcBef>
                <a:spcPts val="240"/>
              </a:spcBef>
              <a:spcAft>
                <a:spcPts val="0"/>
              </a:spcAft>
              <a:buSzPts val="6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540"/>
              <a:buNone/>
              <a:defRPr sz="900"/>
            </a:lvl4pPr>
            <a:lvl5pPr indent="-228600" lvl="4" marL="2286000" algn="l">
              <a:spcBef>
                <a:spcPts val="180"/>
              </a:spcBef>
              <a:spcAft>
                <a:spcPts val="0"/>
              </a:spcAft>
              <a:buClr>
                <a:srgbClr val="000000"/>
              </a:buClr>
              <a:buSzPts val="900"/>
              <a:buNone/>
              <a:defRPr sz="900"/>
            </a:lvl5pPr>
            <a:lvl6pPr indent="-228600" lvl="5" marL="2743200" algn="l">
              <a:spcBef>
                <a:spcPts val="180"/>
              </a:spcBef>
              <a:spcAft>
                <a:spcPts val="0"/>
              </a:spcAft>
              <a:buClr>
                <a:srgbClr val="000000"/>
              </a:buClr>
              <a:buSzPts val="900"/>
              <a:buNone/>
              <a:defRPr sz="900"/>
            </a:lvl6pPr>
            <a:lvl7pPr indent="-228600" lvl="6" marL="3200400" algn="l">
              <a:spcBef>
                <a:spcPts val="180"/>
              </a:spcBef>
              <a:spcAft>
                <a:spcPts val="0"/>
              </a:spcAft>
              <a:buClr>
                <a:srgbClr val="000000"/>
              </a:buClr>
              <a:buSzPts val="900"/>
              <a:buNone/>
              <a:defRPr sz="900"/>
            </a:lvl7pPr>
            <a:lvl8pPr indent="-228600" lvl="7" marL="3657600" algn="l">
              <a:spcBef>
                <a:spcPts val="180"/>
              </a:spcBef>
              <a:spcAft>
                <a:spcPts val="0"/>
              </a:spcAft>
              <a:buClr>
                <a:srgbClr val="000000"/>
              </a:buClr>
              <a:buSzPts val="900"/>
              <a:buNone/>
              <a:defRPr sz="900"/>
            </a:lvl8pPr>
            <a:lvl9pPr indent="-228600" lvl="8" marL="4114800" algn="l">
              <a:spcBef>
                <a:spcPts val="180"/>
              </a:spcBef>
              <a:spcAft>
                <a:spcPts val="0"/>
              </a:spcAft>
              <a:buClr>
                <a:srgbClr val="000000"/>
              </a:buClr>
              <a:buSzPts val="900"/>
              <a:buNone/>
              <a:defRPr sz="900"/>
            </a:lvl9pPr>
          </a:lstStyle>
          <a:p/>
        </p:txBody>
      </p:sp>
      <p:sp>
        <p:nvSpPr>
          <p:cNvPr id="85" name="Google Shape;85;p47"/>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47"/>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47"/>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8" name="Shape 88"/>
        <p:cNvGrpSpPr/>
        <p:nvPr/>
      </p:nvGrpSpPr>
      <p:grpSpPr>
        <a:xfrm>
          <a:off x="0" y="0"/>
          <a:ext cx="0" cy="0"/>
          <a:chOff x="0" y="0"/>
          <a:chExt cx="0" cy="0"/>
        </a:xfrm>
      </p:grpSpPr>
      <p:sp>
        <p:nvSpPr>
          <p:cNvPr id="89" name="Google Shape;89;p48"/>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48"/>
          <p:cNvSpPr txBox="1"/>
          <p:nvPr>
            <p:ph idx="1" type="body"/>
          </p:nvPr>
        </p:nvSpPr>
        <p:spPr>
          <a:xfrm rot="5400000">
            <a:off x="2058988" y="-230187"/>
            <a:ext cx="5026025"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91" name="Google Shape;91;p48"/>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48"/>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48"/>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4" name="Shape 94"/>
        <p:cNvGrpSpPr/>
        <p:nvPr/>
      </p:nvGrpSpPr>
      <p:grpSpPr>
        <a:xfrm>
          <a:off x="0" y="0"/>
          <a:ext cx="0" cy="0"/>
          <a:chOff x="0" y="0"/>
          <a:chExt cx="0" cy="0"/>
        </a:xfrm>
      </p:grpSpPr>
      <p:sp>
        <p:nvSpPr>
          <p:cNvPr id="95" name="Google Shape;95;p49"/>
          <p:cNvSpPr txBox="1"/>
          <p:nvPr>
            <p:ph type="title"/>
          </p:nvPr>
        </p:nvSpPr>
        <p:spPr>
          <a:xfrm rot="5400000">
            <a:off x="4562475" y="2273300"/>
            <a:ext cx="6191250"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6" name="Google Shape;96;p49"/>
          <p:cNvSpPr txBox="1"/>
          <p:nvPr>
            <p:ph idx="1" type="body"/>
          </p:nvPr>
        </p:nvSpPr>
        <p:spPr>
          <a:xfrm rot="5400000">
            <a:off x="371475" y="292100"/>
            <a:ext cx="6191250"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97" name="Google Shape;97;p49"/>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49"/>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49"/>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sz="1400">
                <a:solidFill>
                  <a:schemeClr val="accent1"/>
                </a:solidFill>
                <a:latin typeface="Arial"/>
                <a:ea typeface="Arial"/>
                <a:cs typeface="Arial"/>
                <a:sym typeface="Arial"/>
              </a:defRPr>
            </a:lvl1pPr>
            <a:lvl2pPr indent="0" lvl="1" marL="0" algn="r">
              <a:spcBef>
                <a:spcPts val="0"/>
              </a:spcBef>
              <a:spcAft>
                <a:spcPts val="0"/>
              </a:spcAft>
              <a:buNone/>
              <a:defRPr sz="1400">
                <a:solidFill>
                  <a:schemeClr val="accent1"/>
                </a:solidFill>
                <a:latin typeface="Arial"/>
                <a:ea typeface="Arial"/>
                <a:cs typeface="Arial"/>
                <a:sym typeface="Arial"/>
              </a:defRPr>
            </a:lvl2pPr>
            <a:lvl3pPr indent="0" lvl="2" marL="0" algn="r">
              <a:spcBef>
                <a:spcPts val="0"/>
              </a:spcBef>
              <a:spcAft>
                <a:spcPts val="0"/>
              </a:spcAft>
              <a:buNone/>
              <a:defRPr sz="1400">
                <a:solidFill>
                  <a:schemeClr val="accent1"/>
                </a:solidFill>
                <a:latin typeface="Arial"/>
                <a:ea typeface="Arial"/>
                <a:cs typeface="Arial"/>
                <a:sym typeface="Arial"/>
              </a:defRPr>
            </a:lvl3pPr>
            <a:lvl4pPr indent="0" lvl="3" marL="0" algn="r">
              <a:spcBef>
                <a:spcPts val="0"/>
              </a:spcBef>
              <a:spcAft>
                <a:spcPts val="0"/>
              </a:spcAft>
              <a:buNone/>
              <a:defRPr sz="1400">
                <a:solidFill>
                  <a:schemeClr val="accent1"/>
                </a:solidFill>
                <a:latin typeface="Arial"/>
                <a:ea typeface="Arial"/>
                <a:cs typeface="Arial"/>
                <a:sym typeface="Arial"/>
              </a:defRPr>
            </a:lvl4pPr>
            <a:lvl5pPr indent="0" lvl="4" marL="0" algn="r">
              <a:spcBef>
                <a:spcPts val="0"/>
              </a:spcBef>
              <a:spcAft>
                <a:spcPts val="0"/>
              </a:spcAft>
              <a:buNone/>
              <a:defRPr sz="1400">
                <a:solidFill>
                  <a:schemeClr val="accent1"/>
                </a:solidFill>
                <a:latin typeface="Arial"/>
                <a:ea typeface="Arial"/>
                <a:cs typeface="Arial"/>
                <a:sym typeface="Arial"/>
              </a:defRPr>
            </a:lvl5pPr>
            <a:lvl6pPr indent="0" lvl="5" marL="0" algn="r">
              <a:spcBef>
                <a:spcPts val="0"/>
              </a:spcBef>
              <a:spcAft>
                <a:spcPts val="0"/>
              </a:spcAft>
              <a:buNone/>
              <a:defRPr sz="1400">
                <a:solidFill>
                  <a:schemeClr val="accent1"/>
                </a:solidFill>
                <a:latin typeface="Arial"/>
                <a:ea typeface="Arial"/>
                <a:cs typeface="Arial"/>
                <a:sym typeface="Arial"/>
              </a:defRPr>
            </a:lvl6pPr>
            <a:lvl7pPr indent="0" lvl="6" marL="0" algn="r">
              <a:spcBef>
                <a:spcPts val="0"/>
              </a:spcBef>
              <a:spcAft>
                <a:spcPts val="0"/>
              </a:spcAft>
              <a:buNone/>
              <a:defRPr sz="1400">
                <a:solidFill>
                  <a:schemeClr val="accent1"/>
                </a:solidFill>
                <a:latin typeface="Arial"/>
                <a:ea typeface="Arial"/>
                <a:cs typeface="Arial"/>
                <a:sym typeface="Arial"/>
              </a:defRPr>
            </a:lvl7pPr>
            <a:lvl8pPr indent="0" lvl="7" marL="0" algn="r">
              <a:spcBef>
                <a:spcPts val="0"/>
              </a:spcBef>
              <a:spcAft>
                <a:spcPts val="0"/>
              </a:spcAft>
              <a:buNone/>
              <a:defRPr sz="1400">
                <a:solidFill>
                  <a:schemeClr val="accent1"/>
                </a:solidFill>
                <a:latin typeface="Arial"/>
                <a:ea typeface="Arial"/>
                <a:cs typeface="Arial"/>
                <a:sym typeface="Arial"/>
              </a:defRPr>
            </a:lvl8pPr>
            <a:lvl9pPr indent="0" lvl="8" marL="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100" name="Shape 100"/>
        <p:cNvGrpSpPr/>
        <p:nvPr/>
      </p:nvGrpSpPr>
      <p:grpSpPr>
        <a:xfrm>
          <a:off x="0" y="0"/>
          <a:ext cx="0" cy="0"/>
          <a:chOff x="0" y="0"/>
          <a:chExt cx="0" cy="0"/>
        </a:xfrm>
      </p:grpSpPr>
      <p:sp>
        <p:nvSpPr>
          <p:cNvPr id="101" name="Google Shape;101;p50"/>
          <p:cNvSpPr txBox="1"/>
          <p:nvPr>
            <p:ph type="title"/>
          </p:nvPr>
        </p:nvSpPr>
        <p:spPr>
          <a:xfrm>
            <a:off x="1049338" y="188913"/>
            <a:ext cx="7910512" cy="50165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50"/>
          <p:cNvSpPr txBox="1"/>
          <p:nvPr>
            <p:ph idx="1" type="body"/>
          </p:nvPr>
        </p:nvSpPr>
        <p:spPr>
          <a:xfrm>
            <a:off x="184150" y="1052513"/>
            <a:ext cx="4311650" cy="5329237"/>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103" name="Google Shape;103;p50"/>
          <p:cNvSpPr txBox="1"/>
          <p:nvPr>
            <p:ph idx="2" type="body"/>
          </p:nvPr>
        </p:nvSpPr>
        <p:spPr>
          <a:xfrm>
            <a:off x="4648200" y="1052513"/>
            <a:ext cx="4311650" cy="5329237"/>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rgbClr val="000000"/>
              </a:buClr>
              <a:buSzPts val="1800"/>
              <a:buChar char="❖"/>
              <a:defRPr/>
            </a:lvl1pPr>
            <a:lvl2pPr indent="-285750" lvl="1" marL="914400" algn="l">
              <a:spcBef>
                <a:spcPts val="360"/>
              </a:spcBef>
              <a:spcAft>
                <a:spcPts val="0"/>
              </a:spcAft>
              <a:buSzPts val="900"/>
              <a:buChar char="🞇"/>
              <a:defRPr/>
            </a:lvl2pPr>
            <a:lvl3pPr indent="-342900" lvl="2" marL="1371600" algn="l">
              <a:spcBef>
                <a:spcPts val="360"/>
              </a:spcBef>
              <a:spcAft>
                <a:spcPts val="0"/>
              </a:spcAft>
              <a:buSzPts val="1800"/>
              <a:buChar char="▪"/>
              <a:defRPr/>
            </a:lvl3pPr>
            <a:lvl4pPr indent="-297180" lvl="3" marL="1828800" algn="l">
              <a:spcBef>
                <a:spcPts val="360"/>
              </a:spcBef>
              <a:spcAft>
                <a:spcPts val="0"/>
              </a:spcAft>
              <a:buSzPts val="1080"/>
              <a:buChar char="🞇"/>
              <a:defRPr/>
            </a:lvl4pPr>
            <a:lvl5pPr indent="-342900" lvl="4" marL="2286000" algn="l">
              <a:spcBef>
                <a:spcPts val="360"/>
              </a:spcBef>
              <a:spcAft>
                <a:spcPts val="0"/>
              </a:spcAft>
              <a:buClr>
                <a:srgbClr val="000000"/>
              </a:buClr>
              <a:buSzPts val="1800"/>
              <a:buChar char="▪"/>
              <a:defRPr/>
            </a:lvl5pPr>
            <a:lvl6pPr indent="-342900" lvl="5" marL="2743200" algn="l">
              <a:spcBef>
                <a:spcPts val="360"/>
              </a:spcBef>
              <a:spcAft>
                <a:spcPts val="0"/>
              </a:spcAft>
              <a:buClr>
                <a:srgbClr val="000000"/>
              </a:buClr>
              <a:buSzPts val="1800"/>
              <a:buChar char="▪"/>
              <a:defRPr/>
            </a:lvl6pPr>
            <a:lvl7pPr indent="-342900" lvl="6" marL="3200400" algn="l">
              <a:spcBef>
                <a:spcPts val="360"/>
              </a:spcBef>
              <a:spcAft>
                <a:spcPts val="0"/>
              </a:spcAft>
              <a:buClr>
                <a:srgbClr val="000000"/>
              </a:buClr>
              <a:buSzPts val="1800"/>
              <a:buChar char="▪"/>
              <a:defRPr/>
            </a:lvl7pPr>
            <a:lvl8pPr indent="-342900" lvl="7" marL="3657600" algn="l">
              <a:spcBef>
                <a:spcPts val="360"/>
              </a:spcBef>
              <a:spcAft>
                <a:spcPts val="0"/>
              </a:spcAft>
              <a:buClr>
                <a:srgbClr val="000000"/>
              </a:buClr>
              <a:buSzPts val="1800"/>
              <a:buChar char="▪"/>
              <a:defRPr/>
            </a:lvl8pPr>
            <a:lvl9pPr indent="-342900" lvl="8" marL="4114800" algn="l">
              <a:spcBef>
                <a:spcPts val="360"/>
              </a:spcBef>
              <a:spcAft>
                <a:spcPts val="0"/>
              </a:spcAft>
              <a:buClr>
                <a:srgbClr val="000000"/>
              </a:buClr>
              <a:buSzPts val="1800"/>
              <a:buChar char="▪"/>
              <a:defRPr/>
            </a:lvl9pPr>
          </a:lstStyle>
          <a:p/>
        </p:txBody>
      </p:sp>
      <p:sp>
        <p:nvSpPr>
          <p:cNvPr id="104" name="Google Shape;104;p50"/>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50"/>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0"/>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marR="0" algn="r">
              <a:spcBef>
                <a:spcPts val="0"/>
              </a:spcBef>
              <a:spcAft>
                <a:spcPts val="0"/>
              </a:spcAft>
              <a:buNone/>
              <a:defRPr sz="1400">
                <a:solidFill>
                  <a:schemeClr val="accent1"/>
                </a:solidFill>
                <a:latin typeface="Arial"/>
                <a:ea typeface="Arial"/>
                <a:cs typeface="Arial"/>
                <a:sym typeface="Arial"/>
              </a:defRPr>
            </a:lvl1pPr>
            <a:lvl2pPr indent="0" lvl="1" marL="0" marR="0" algn="r">
              <a:spcBef>
                <a:spcPts val="0"/>
              </a:spcBef>
              <a:spcAft>
                <a:spcPts val="0"/>
              </a:spcAft>
              <a:buNone/>
              <a:defRPr sz="1400">
                <a:solidFill>
                  <a:schemeClr val="accent1"/>
                </a:solidFill>
                <a:latin typeface="Arial"/>
                <a:ea typeface="Arial"/>
                <a:cs typeface="Arial"/>
                <a:sym typeface="Arial"/>
              </a:defRPr>
            </a:lvl2pPr>
            <a:lvl3pPr indent="0" lvl="2" marL="0" marR="0" algn="r">
              <a:spcBef>
                <a:spcPts val="0"/>
              </a:spcBef>
              <a:spcAft>
                <a:spcPts val="0"/>
              </a:spcAft>
              <a:buNone/>
              <a:defRPr sz="1400">
                <a:solidFill>
                  <a:schemeClr val="accent1"/>
                </a:solidFill>
                <a:latin typeface="Arial"/>
                <a:ea typeface="Arial"/>
                <a:cs typeface="Arial"/>
                <a:sym typeface="Arial"/>
              </a:defRPr>
            </a:lvl3pPr>
            <a:lvl4pPr indent="0" lvl="3" marL="0" marR="0" algn="r">
              <a:spcBef>
                <a:spcPts val="0"/>
              </a:spcBef>
              <a:spcAft>
                <a:spcPts val="0"/>
              </a:spcAft>
              <a:buNone/>
              <a:defRPr sz="1400">
                <a:solidFill>
                  <a:schemeClr val="accent1"/>
                </a:solidFill>
                <a:latin typeface="Arial"/>
                <a:ea typeface="Arial"/>
                <a:cs typeface="Arial"/>
                <a:sym typeface="Arial"/>
              </a:defRPr>
            </a:lvl4pPr>
            <a:lvl5pPr indent="0" lvl="4" marL="0" marR="0" algn="r">
              <a:spcBef>
                <a:spcPts val="0"/>
              </a:spcBef>
              <a:spcAft>
                <a:spcPts val="0"/>
              </a:spcAft>
              <a:buNone/>
              <a:defRPr sz="1400">
                <a:solidFill>
                  <a:schemeClr val="accent1"/>
                </a:solidFill>
                <a:latin typeface="Arial"/>
                <a:ea typeface="Arial"/>
                <a:cs typeface="Arial"/>
                <a:sym typeface="Arial"/>
              </a:defRPr>
            </a:lvl5pPr>
            <a:lvl6pPr indent="0" lvl="5" marL="0" marR="0" algn="r">
              <a:spcBef>
                <a:spcPts val="0"/>
              </a:spcBef>
              <a:spcAft>
                <a:spcPts val="0"/>
              </a:spcAft>
              <a:buNone/>
              <a:defRPr sz="1400">
                <a:solidFill>
                  <a:schemeClr val="accent1"/>
                </a:solidFill>
                <a:latin typeface="Arial"/>
                <a:ea typeface="Arial"/>
                <a:cs typeface="Arial"/>
                <a:sym typeface="Arial"/>
              </a:defRPr>
            </a:lvl6pPr>
            <a:lvl7pPr indent="0" lvl="6" marL="0" marR="0" algn="r">
              <a:spcBef>
                <a:spcPts val="0"/>
              </a:spcBef>
              <a:spcAft>
                <a:spcPts val="0"/>
              </a:spcAft>
              <a:buNone/>
              <a:defRPr sz="1400">
                <a:solidFill>
                  <a:schemeClr val="accent1"/>
                </a:solidFill>
                <a:latin typeface="Arial"/>
                <a:ea typeface="Arial"/>
                <a:cs typeface="Arial"/>
                <a:sym typeface="Arial"/>
              </a:defRPr>
            </a:lvl7pPr>
            <a:lvl8pPr indent="0" lvl="7" marL="0" marR="0" algn="r">
              <a:spcBef>
                <a:spcPts val="0"/>
              </a:spcBef>
              <a:spcAft>
                <a:spcPts val="0"/>
              </a:spcAft>
              <a:buNone/>
              <a:defRPr sz="1400">
                <a:solidFill>
                  <a:schemeClr val="accent1"/>
                </a:solidFill>
                <a:latin typeface="Arial"/>
                <a:ea typeface="Arial"/>
                <a:cs typeface="Arial"/>
                <a:sym typeface="Arial"/>
              </a:defRPr>
            </a:lvl8pPr>
            <a:lvl9pPr indent="0" lvl="8" marL="0" marR="0" algn="r">
              <a:spcBef>
                <a:spcPts val="0"/>
              </a:spcBef>
              <a:spcAft>
                <a:spcPts val="0"/>
              </a:spcAft>
              <a:buNone/>
              <a:defRPr sz="1400">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lt1"/>
            </a:gs>
            <a:gs pos="100000">
              <a:schemeClr val="lt1"/>
            </a:gs>
          </a:gsLst>
          <a:lin ang="5400000" scaled="0"/>
        </a:gradFill>
      </p:bgPr>
    </p:bg>
    <p:spTree>
      <p:nvGrpSpPr>
        <p:cNvPr id="9" name="Shape 9"/>
        <p:cNvGrpSpPr/>
        <p:nvPr/>
      </p:nvGrpSpPr>
      <p:grpSpPr>
        <a:xfrm>
          <a:off x="0" y="0"/>
          <a:ext cx="0" cy="0"/>
          <a:chOff x="0" y="0"/>
          <a:chExt cx="0" cy="0"/>
        </a:xfrm>
      </p:grpSpPr>
      <p:sp>
        <p:nvSpPr>
          <p:cNvPr id="10" name="Google Shape;10;p38"/>
          <p:cNvSpPr/>
          <p:nvPr/>
        </p:nvSpPr>
        <p:spPr>
          <a:xfrm>
            <a:off x="0" y="9525"/>
            <a:ext cx="9144000" cy="10287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 name="Google Shape;11;p38"/>
          <p:cNvSpPr/>
          <p:nvPr/>
        </p:nvSpPr>
        <p:spPr>
          <a:xfrm>
            <a:off x="1447800" y="0"/>
            <a:ext cx="7696200" cy="879475"/>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 name="Google Shape;12;p38"/>
          <p:cNvSpPr/>
          <p:nvPr/>
        </p:nvSpPr>
        <p:spPr>
          <a:xfrm>
            <a:off x="0" y="158750"/>
            <a:ext cx="9144000" cy="603250"/>
          </a:xfrm>
          <a:prstGeom prst="rect">
            <a:avLst/>
          </a:prstGeom>
          <a:gradFill>
            <a:gsLst>
              <a:gs pos="0">
                <a:srgbClr val="224894"/>
              </a:gs>
              <a:gs pos="100000">
                <a:schemeClr val="accent1"/>
              </a:gs>
            </a:gsLst>
            <a:lin ang="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 name="Google Shape;13;p38"/>
          <p:cNvSpPr/>
          <p:nvPr/>
        </p:nvSpPr>
        <p:spPr>
          <a:xfrm>
            <a:off x="0" y="1143000"/>
            <a:ext cx="228600" cy="5715000"/>
          </a:xfrm>
          <a:prstGeom prst="rect">
            <a:avLst/>
          </a:prstGeom>
          <a:gradFill>
            <a:gsLst>
              <a:gs pos="0">
                <a:schemeClr val="hlink"/>
              </a:gs>
              <a:gs pos="100000">
                <a:srgbClr val="FFFFFF"/>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4" name="Google Shape;14;p38"/>
          <p:cNvSpPr/>
          <p:nvPr/>
        </p:nvSpPr>
        <p:spPr>
          <a:xfrm>
            <a:off x="8686800" y="0"/>
            <a:ext cx="76200" cy="609600"/>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38"/>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rgbClr val="000000"/>
              </a:buClr>
              <a:buSzPts val="2400"/>
              <a:buFont typeface="Noto Sans Symbols"/>
              <a:buChar char="❖"/>
              <a:defRPr b="0" i="0" sz="2400" u="none" cap="none" strike="noStrike">
                <a:solidFill>
                  <a:srgbClr val="000000"/>
                </a:solidFill>
                <a:latin typeface="Arial"/>
                <a:ea typeface="Arial"/>
                <a:cs typeface="Arial"/>
                <a:sym typeface="Arial"/>
              </a:defRPr>
            </a:lvl1pPr>
            <a:lvl2pPr indent="-304800" lvl="1" marL="914400" marR="0" rtl="0" algn="l">
              <a:spcBef>
                <a:spcPts val="480"/>
              </a:spcBef>
              <a:spcAft>
                <a:spcPts val="0"/>
              </a:spcAft>
              <a:buClr>
                <a:schemeClr val="accent1"/>
              </a:buClr>
              <a:buSzPts val="1200"/>
              <a:buFont typeface="Noto Sans Symbols"/>
              <a:buChar char="🞇"/>
              <a:defRPr b="0" i="0" sz="2400" u="none" cap="none" strike="noStrike">
                <a:solidFill>
                  <a:srgbClr val="000000"/>
                </a:solidFill>
                <a:latin typeface="Arial"/>
                <a:ea typeface="Arial"/>
                <a:cs typeface="Arial"/>
                <a:sym typeface="Arial"/>
              </a:defRPr>
            </a:lvl2pPr>
            <a:lvl3pPr indent="-355600" lvl="2" marL="1371600" marR="0" rtl="0" algn="l">
              <a:spcBef>
                <a:spcPts val="400"/>
              </a:spcBef>
              <a:spcAft>
                <a:spcPts val="0"/>
              </a:spcAft>
              <a:buClr>
                <a:schemeClr val="hlink"/>
              </a:buClr>
              <a:buSzPts val="2000"/>
              <a:buFont typeface="Noto Sans Symbols"/>
              <a:buChar char="▪"/>
              <a:defRPr b="0" i="0" sz="2000" u="none" cap="none" strike="noStrike">
                <a:solidFill>
                  <a:srgbClr val="000000"/>
                </a:solidFill>
                <a:latin typeface="Arial"/>
                <a:ea typeface="Arial"/>
                <a:cs typeface="Arial"/>
                <a:sym typeface="Arial"/>
              </a:defRPr>
            </a:lvl3pPr>
            <a:lvl4pPr indent="-297180" lvl="3" marL="1828800" marR="0" rtl="0" algn="l">
              <a:spcBef>
                <a:spcPts val="360"/>
              </a:spcBef>
              <a:spcAft>
                <a:spcPts val="0"/>
              </a:spcAft>
              <a:buClr>
                <a:schemeClr val="folHlink"/>
              </a:buClr>
              <a:buSzPts val="1080"/>
              <a:buFont typeface="Noto Sans Symbols"/>
              <a:buChar char="🞇"/>
              <a:defRPr b="0" i="0" sz="1800" u="none" cap="none" strike="noStrike">
                <a:solidFill>
                  <a:srgbClr val="000000"/>
                </a:solidFill>
                <a:latin typeface="Arial"/>
                <a:ea typeface="Arial"/>
                <a:cs typeface="Arial"/>
                <a:sym typeface="Arial"/>
              </a:defRPr>
            </a:lvl4pPr>
            <a:lvl5pPr indent="-342900" lvl="4" marL="22860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5pPr>
            <a:lvl6pPr indent="-342900" lvl="5" marL="27432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6pPr>
            <a:lvl7pPr indent="-342900" lvl="6" marL="32004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7pPr>
            <a:lvl8pPr indent="-342900" lvl="7" marL="36576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8pPr>
            <a:lvl9pPr indent="-342900" lvl="8" marL="4114800" marR="0" rtl="0" algn="l">
              <a:spcBef>
                <a:spcPts val="360"/>
              </a:spcBef>
              <a:spcAft>
                <a:spcPts val="0"/>
              </a:spcAft>
              <a:buClr>
                <a:srgbClr val="000000"/>
              </a:buClr>
              <a:buSzPts val="1800"/>
              <a:buFont typeface="Noto Sans Symbols"/>
              <a:buChar char="▪"/>
              <a:defRPr b="0" i="0" sz="1800" u="none" cap="none" strike="noStrike">
                <a:solidFill>
                  <a:srgbClr val="000000"/>
                </a:solidFill>
                <a:latin typeface="Arial"/>
                <a:ea typeface="Arial"/>
                <a:cs typeface="Arial"/>
                <a:sym typeface="Arial"/>
              </a:defRPr>
            </a:lvl9pPr>
          </a:lstStyle>
          <a:p/>
        </p:txBody>
      </p:sp>
      <p:sp>
        <p:nvSpPr>
          <p:cNvPr id="16" name="Google Shape;16;p38"/>
          <p:cNvSpPr txBox="1"/>
          <p:nvPr>
            <p:ph idx="10" type="dt"/>
          </p:nvPr>
        </p:nvSpPr>
        <p:spPr>
          <a:xfrm>
            <a:off x="457200" y="6521450"/>
            <a:ext cx="2133600" cy="2444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400">
                <a:solidFill>
                  <a:schemeClr val="accen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38"/>
          <p:cNvSpPr txBox="1"/>
          <p:nvPr>
            <p:ph idx="11" type="ftr"/>
          </p:nvPr>
        </p:nvSpPr>
        <p:spPr>
          <a:xfrm>
            <a:off x="3124200" y="6521450"/>
            <a:ext cx="2895600" cy="24447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400">
                <a:solidFill>
                  <a:schemeClr val="accent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8" name="Google Shape;18;p38"/>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sz="1400" u="none">
                <a:solidFill>
                  <a:schemeClr val="accent1"/>
                </a:solidFill>
                <a:latin typeface="Arial"/>
                <a:ea typeface="Arial"/>
                <a:cs typeface="Arial"/>
                <a:sym typeface="Arial"/>
              </a:defRPr>
            </a:lvl1pPr>
            <a:lvl2pPr indent="0" lvl="1" marL="0" marR="0" rtl="0" algn="r">
              <a:spcBef>
                <a:spcPts val="0"/>
              </a:spcBef>
              <a:spcAft>
                <a:spcPts val="0"/>
              </a:spcAft>
              <a:buNone/>
              <a:defRPr b="0" sz="1400" u="none">
                <a:solidFill>
                  <a:schemeClr val="accent1"/>
                </a:solidFill>
                <a:latin typeface="Arial"/>
                <a:ea typeface="Arial"/>
                <a:cs typeface="Arial"/>
                <a:sym typeface="Arial"/>
              </a:defRPr>
            </a:lvl2pPr>
            <a:lvl3pPr indent="0" lvl="2" marL="0" marR="0" rtl="0" algn="r">
              <a:spcBef>
                <a:spcPts val="0"/>
              </a:spcBef>
              <a:spcAft>
                <a:spcPts val="0"/>
              </a:spcAft>
              <a:buNone/>
              <a:defRPr b="0" sz="1400" u="none">
                <a:solidFill>
                  <a:schemeClr val="accent1"/>
                </a:solidFill>
                <a:latin typeface="Arial"/>
                <a:ea typeface="Arial"/>
                <a:cs typeface="Arial"/>
                <a:sym typeface="Arial"/>
              </a:defRPr>
            </a:lvl3pPr>
            <a:lvl4pPr indent="0" lvl="3" marL="0" marR="0" rtl="0" algn="r">
              <a:spcBef>
                <a:spcPts val="0"/>
              </a:spcBef>
              <a:spcAft>
                <a:spcPts val="0"/>
              </a:spcAft>
              <a:buNone/>
              <a:defRPr b="0" sz="1400" u="none">
                <a:solidFill>
                  <a:schemeClr val="accent1"/>
                </a:solidFill>
                <a:latin typeface="Arial"/>
                <a:ea typeface="Arial"/>
                <a:cs typeface="Arial"/>
                <a:sym typeface="Arial"/>
              </a:defRPr>
            </a:lvl4pPr>
            <a:lvl5pPr indent="0" lvl="4" marL="0" marR="0" rtl="0" algn="r">
              <a:spcBef>
                <a:spcPts val="0"/>
              </a:spcBef>
              <a:spcAft>
                <a:spcPts val="0"/>
              </a:spcAft>
              <a:buNone/>
              <a:defRPr b="0" sz="1400" u="none">
                <a:solidFill>
                  <a:schemeClr val="accent1"/>
                </a:solidFill>
                <a:latin typeface="Arial"/>
                <a:ea typeface="Arial"/>
                <a:cs typeface="Arial"/>
                <a:sym typeface="Arial"/>
              </a:defRPr>
            </a:lvl5pPr>
            <a:lvl6pPr indent="0" lvl="5" marL="0" marR="0" rtl="0" algn="r">
              <a:spcBef>
                <a:spcPts val="0"/>
              </a:spcBef>
              <a:spcAft>
                <a:spcPts val="0"/>
              </a:spcAft>
              <a:buNone/>
              <a:defRPr b="0" sz="1400" u="none">
                <a:solidFill>
                  <a:schemeClr val="accent1"/>
                </a:solidFill>
                <a:latin typeface="Arial"/>
                <a:ea typeface="Arial"/>
                <a:cs typeface="Arial"/>
                <a:sym typeface="Arial"/>
              </a:defRPr>
            </a:lvl6pPr>
            <a:lvl7pPr indent="0" lvl="6" marL="0" marR="0" rtl="0" algn="r">
              <a:spcBef>
                <a:spcPts val="0"/>
              </a:spcBef>
              <a:spcAft>
                <a:spcPts val="0"/>
              </a:spcAft>
              <a:buNone/>
              <a:defRPr b="0" sz="1400" u="none">
                <a:solidFill>
                  <a:schemeClr val="accent1"/>
                </a:solidFill>
                <a:latin typeface="Arial"/>
                <a:ea typeface="Arial"/>
                <a:cs typeface="Arial"/>
                <a:sym typeface="Arial"/>
              </a:defRPr>
            </a:lvl7pPr>
            <a:lvl8pPr indent="0" lvl="7" marL="0" marR="0" rtl="0" algn="r">
              <a:spcBef>
                <a:spcPts val="0"/>
              </a:spcBef>
              <a:spcAft>
                <a:spcPts val="0"/>
              </a:spcAft>
              <a:buNone/>
              <a:defRPr b="0" sz="1400" u="none">
                <a:solidFill>
                  <a:schemeClr val="accent1"/>
                </a:solidFill>
                <a:latin typeface="Arial"/>
                <a:ea typeface="Arial"/>
                <a:cs typeface="Arial"/>
                <a:sym typeface="Arial"/>
              </a:defRPr>
            </a:lvl8pPr>
            <a:lvl9pPr indent="0" lvl="8" marL="0" marR="0" rtl="0" algn="r">
              <a:spcBef>
                <a:spcPts val="0"/>
              </a:spcBef>
              <a:spcAft>
                <a:spcPts val="0"/>
              </a:spcAft>
              <a:buNone/>
              <a:defRPr b="0" sz="1400" u="non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38"/>
          <p:cNvSpPr/>
          <p:nvPr/>
        </p:nvSpPr>
        <p:spPr>
          <a:xfrm>
            <a:off x="0" y="0"/>
            <a:ext cx="1447800" cy="10668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pic>
        <p:nvPicPr>
          <p:cNvPr id="20" name="Google Shape;20;p38"/>
          <p:cNvPicPr preferRelativeResize="0"/>
          <p:nvPr/>
        </p:nvPicPr>
        <p:blipFill rotWithShape="1">
          <a:blip r:embed="rId1">
            <a:alphaModFix/>
          </a:blip>
          <a:srcRect b="0" l="0" r="0" t="0"/>
          <a:stretch/>
        </p:blipFill>
        <p:spPr>
          <a:xfrm>
            <a:off x="0" y="0"/>
            <a:ext cx="1243013" cy="1038225"/>
          </a:xfrm>
          <a:prstGeom prst="rect">
            <a:avLst/>
          </a:prstGeom>
          <a:noFill/>
          <a:ln>
            <a:noFill/>
          </a:ln>
        </p:spPr>
      </p:pic>
      <p:sp>
        <p:nvSpPr>
          <p:cNvPr id="21" name="Google Shape;21;p38"/>
          <p:cNvSpPr/>
          <p:nvPr/>
        </p:nvSpPr>
        <p:spPr>
          <a:xfrm>
            <a:off x="0" y="1035050"/>
            <a:ext cx="1447800" cy="2286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38"/>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1pPr>
            <a:lvl2pPr lvl="1"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2pPr>
            <a:lvl3pPr lvl="2"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3pPr>
            <a:lvl4pPr lvl="3"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4pPr>
            <a:lvl5pPr lvl="4"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5pPr>
            <a:lvl6pPr lvl="5"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6pPr>
            <a:lvl7pPr lvl="6"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7pPr>
            <a:lvl8pPr lvl="7"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8pPr>
            <a:lvl9pPr lvl="8" marR="0" rtl="0" algn="ctr">
              <a:spcBef>
                <a:spcPts val="0"/>
              </a:spcBef>
              <a:spcAft>
                <a:spcPts val="0"/>
              </a:spcAft>
              <a:buSzPts val="1400"/>
              <a:buNone/>
              <a:defRPr b="0" i="0" sz="3200" u="none" cap="none" strike="noStrike">
                <a:solidFill>
                  <a:schemeClr val="lt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
                                        </p:tgtEl>
                                        <p:attrNameLst>
                                          <p:attrName>style.visibility</p:attrName>
                                        </p:attrNameLst>
                                      </p:cBhvr>
                                      <p:to>
                                        <p:strVal val="visible"/>
                                      </p:to>
                                    </p:set>
                                    <p:animEffect filter="fade" transition="in">
                                      <p:cBhvr>
                                        <p:cTn dur="500"/>
                                        <p:tgtEl>
                                          <p:spTgt spid="12"/>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4"/>
                                        </p:tgtEl>
                                        <p:attrNameLst>
                                          <p:attrName>style.visibility</p:attrName>
                                        </p:attrNameLst>
                                      </p:cBhvr>
                                      <p:to>
                                        <p:strVal val="visible"/>
                                      </p:to>
                                    </p:set>
                                    <p:animEffect filter="fade" transition="in">
                                      <p:cBhvr>
                                        <p:cTn dur="500"/>
                                        <p:tgtEl>
                                          <p:spTgt spid="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
          <p:cNvSpPr txBox="1"/>
          <p:nvPr>
            <p:ph type="ctrTitle"/>
          </p:nvPr>
        </p:nvSpPr>
        <p:spPr>
          <a:xfrm>
            <a:off x="457200" y="2590800"/>
            <a:ext cx="82296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t>Review:</a:t>
            </a:r>
            <a:br>
              <a:rPr b="1" lang="en-US" sz="3600"/>
            </a:br>
            <a:r>
              <a:rPr b="1" lang="en-US" sz="3600"/>
              <a:t>Object-Oriented Programming</a:t>
            </a:r>
            <a:endParaRPr/>
          </a:p>
        </p:txBody>
      </p:sp>
      <p:sp>
        <p:nvSpPr>
          <p:cNvPr id="112" name="Google Shape;112;p1"/>
          <p:cNvSpPr/>
          <p:nvPr/>
        </p:nvSpPr>
        <p:spPr>
          <a:xfrm>
            <a:off x="4147296" y="3581400"/>
            <a:ext cx="47244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FFFFFF"/>
              </a:buClr>
              <a:buSzPts val="2000"/>
              <a:buFont typeface="Noto Sans Symbols"/>
              <a:buNone/>
            </a:pPr>
            <a:r>
              <a:rPr b="1" lang="en-US" sz="2000">
                <a:solidFill>
                  <a:srgbClr val="FFFFFF"/>
                </a:solidFill>
                <a:latin typeface="Arial"/>
                <a:ea typeface="Arial"/>
                <a:cs typeface="Arial"/>
                <a:sym typeface="Arial"/>
              </a:rPr>
              <a:t>Assoc. Prof. TRAN Minh Triet</a:t>
            </a:r>
            <a:endParaRPr b="1" sz="2000">
              <a:solidFill>
                <a:srgbClr val="FFFFFF"/>
              </a:solidFill>
              <a:latin typeface="Arial"/>
              <a:ea typeface="Arial"/>
              <a:cs typeface="Arial"/>
              <a:sym typeface="Arial"/>
            </a:endParaRPr>
          </a:p>
          <a:p>
            <a:pPr indent="0" lvl="0" marL="0" marR="0" rtl="0" algn="ctr">
              <a:spcBef>
                <a:spcPts val="400"/>
              </a:spcBef>
              <a:spcAft>
                <a:spcPts val="0"/>
              </a:spcAft>
              <a:buClr>
                <a:srgbClr val="FFFFFF"/>
              </a:buClr>
              <a:buSzPts val="2000"/>
              <a:buFont typeface="Noto Sans Symbols"/>
              <a:buNone/>
            </a:pPr>
            <a:r>
              <a:rPr b="1" lang="en-US" sz="2000">
                <a:solidFill>
                  <a:srgbClr val="FFFFFF"/>
                </a:solidFill>
                <a:latin typeface="Arial"/>
                <a:ea typeface="Arial"/>
                <a:cs typeface="Arial"/>
                <a:sym typeface="Arial"/>
              </a:rPr>
              <a:t>Department of Software Engineering</a:t>
            </a:r>
            <a:endParaRPr sz="2000">
              <a:solidFill>
                <a:srgbClr val="FFFFFF"/>
              </a:solidFill>
              <a:latin typeface="Arial"/>
              <a:ea typeface="Arial"/>
              <a:cs typeface="Arial"/>
              <a:sym typeface="Arial"/>
            </a:endParaRPr>
          </a:p>
        </p:txBody>
      </p:sp>
      <p:sp>
        <p:nvSpPr>
          <p:cNvPr id="113" name="Google Shape;113;p1"/>
          <p:cNvSpPr/>
          <p:nvPr/>
        </p:nvSpPr>
        <p:spPr>
          <a:xfrm>
            <a:off x="3838252" y="5791200"/>
            <a:ext cx="530574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B1C0FF"/>
                </a:solidFill>
                <a:latin typeface="Arial"/>
                <a:ea typeface="Arial"/>
                <a:cs typeface="Arial"/>
                <a:sym typeface="Arial"/>
              </a:rPr>
              <a:t>Software Analysis and Design</a:t>
            </a:r>
            <a:endParaRPr/>
          </a:p>
        </p:txBody>
      </p:sp>
      <p:sp>
        <p:nvSpPr>
          <p:cNvPr id="114" name="Google Shape;114;p1"/>
          <p:cNvSpPr txBox="1"/>
          <p:nvPr/>
        </p:nvSpPr>
        <p:spPr>
          <a:xfrm>
            <a:off x="2388454" y="383130"/>
            <a:ext cx="4367093" cy="707886"/>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000">
                <a:solidFill>
                  <a:schemeClr val="lt1"/>
                </a:solidFill>
                <a:latin typeface="Arial"/>
                <a:ea typeface="Arial"/>
                <a:cs typeface="Arial"/>
                <a:sym typeface="Arial"/>
              </a:rPr>
              <a:t>University of Science, VNU-HCM</a:t>
            </a:r>
            <a:endParaRPr/>
          </a:p>
          <a:p>
            <a:pPr indent="0" lvl="0" marL="0" marR="0" rtl="0" algn="ctr">
              <a:spcBef>
                <a:spcPts val="0"/>
              </a:spcBef>
              <a:spcAft>
                <a:spcPts val="0"/>
              </a:spcAft>
              <a:buNone/>
            </a:pPr>
            <a:r>
              <a:rPr b="1" lang="en-US" sz="2000">
                <a:solidFill>
                  <a:schemeClr val="lt1"/>
                </a:solidFill>
                <a:latin typeface="Arial"/>
                <a:ea typeface="Arial"/>
                <a:cs typeface="Arial"/>
                <a:sym typeface="Arial"/>
              </a:rPr>
              <a:t>Faculty of Information Technology</a:t>
            </a:r>
            <a:endParaRPr/>
          </a:p>
        </p:txBody>
      </p:sp>
      <p:pic>
        <p:nvPicPr>
          <p:cNvPr id="115" name="Google Shape;115;p1"/>
          <p:cNvPicPr preferRelativeResize="0"/>
          <p:nvPr/>
        </p:nvPicPr>
        <p:blipFill rotWithShape="1">
          <a:blip r:embed="rId3">
            <a:alphaModFix/>
          </a:blip>
          <a:srcRect b="0" l="0" r="0" t="0"/>
          <a:stretch/>
        </p:blipFill>
        <p:spPr>
          <a:xfrm>
            <a:off x="457200" y="5449956"/>
            <a:ext cx="1534813" cy="12057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References</a:t>
            </a:r>
            <a:endParaRPr/>
          </a:p>
        </p:txBody>
      </p:sp>
      <p:sp>
        <p:nvSpPr>
          <p:cNvPr id="121" name="Google Shape;121;p2"/>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0" lvl="1" marL="0" rtl="0" algn="just">
              <a:spcBef>
                <a:spcPts val="0"/>
              </a:spcBef>
              <a:spcAft>
                <a:spcPts val="0"/>
              </a:spcAft>
              <a:buClr>
                <a:schemeClr val="accent1"/>
              </a:buClr>
              <a:buSzPts val="2000"/>
              <a:buNone/>
            </a:pPr>
            <a:r>
              <a:rPr lang="en-US" sz="2000">
                <a:solidFill>
                  <a:schemeClr val="accent1"/>
                </a:solidFill>
              </a:rPr>
              <a:t>Object-Oriented Analysis and Design with Applications </a:t>
            </a:r>
            <a:endParaRPr/>
          </a:p>
          <a:p>
            <a:pPr indent="0" lvl="1" marL="0" rtl="0" algn="just">
              <a:spcBef>
                <a:spcPts val="400"/>
              </a:spcBef>
              <a:spcAft>
                <a:spcPts val="0"/>
              </a:spcAft>
              <a:buClr>
                <a:srgbClr val="000000"/>
              </a:buClr>
              <a:buSzPts val="2000"/>
              <a:buNone/>
            </a:pPr>
            <a:r>
              <a:rPr lang="en-US" sz="2000"/>
              <a:t>by Grady Booch et.al., Addison-Wesley, 2007</a:t>
            </a:r>
            <a:endParaRPr/>
          </a:p>
          <a:p>
            <a:pPr indent="0" lvl="1" marL="0" rtl="0" algn="just">
              <a:spcBef>
                <a:spcPts val="400"/>
              </a:spcBef>
              <a:spcAft>
                <a:spcPts val="0"/>
              </a:spcAft>
              <a:buClr>
                <a:schemeClr val="accent1"/>
              </a:buClr>
              <a:buSzPts val="2000"/>
              <a:buNone/>
            </a:pPr>
            <a:r>
              <a:rPr lang="en-US" sz="2000">
                <a:solidFill>
                  <a:schemeClr val="accent1"/>
                </a:solidFill>
              </a:rPr>
              <a:t>(chapter 3)</a:t>
            </a:r>
            <a:endParaRPr/>
          </a:p>
          <a:p>
            <a:pPr indent="0" lvl="0" marL="0" rtl="0" algn="just">
              <a:spcBef>
                <a:spcPts val="220"/>
              </a:spcBef>
              <a:spcAft>
                <a:spcPts val="0"/>
              </a:spcAft>
              <a:buClr>
                <a:srgbClr val="000000"/>
              </a:buClr>
              <a:buSzPts val="1100"/>
              <a:buNone/>
            </a:pPr>
            <a:r>
              <a:t/>
            </a:r>
            <a:endParaRPr sz="1100"/>
          </a:p>
          <a:p>
            <a:pPr indent="0" lvl="0" marL="0" rtl="0" algn="just">
              <a:spcBef>
                <a:spcPts val="400"/>
              </a:spcBef>
              <a:spcAft>
                <a:spcPts val="0"/>
              </a:spcAft>
              <a:buClr>
                <a:srgbClr val="0070C0"/>
              </a:buClr>
              <a:buSzPts val="2000"/>
              <a:buNone/>
            </a:pPr>
            <a:r>
              <a:rPr lang="en-US" sz="2000">
                <a:solidFill>
                  <a:srgbClr val="0070C0"/>
                </a:solidFill>
              </a:rPr>
              <a:t>Object-Oriented Analysis and Design</a:t>
            </a:r>
            <a:endParaRPr/>
          </a:p>
          <a:p>
            <a:pPr indent="0" lvl="0" marL="0" rtl="0" algn="just">
              <a:spcBef>
                <a:spcPts val="400"/>
              </a:spcBef>
              <a:spcAft>
                <a:spcPts val="0"/>
              </a:spcAft>
              <a:buClr>
                <a:srgbClr val="0070C0"/>
              </a:buClr>
              <a:buSzPts val="2000"/>
              <a:buNone/>
            </a:pPr>
            <a:r>
              <a:rPr lang="en-US" sz="2000">
                <a:solidFill>
                  <a:srgbClr val="0070C0"/>
                </a:solidFill>
              </a:rPr>
              <a:t>Understanding System Development with UML 2.0</a:t>
            </a:r>
            <a:endParaRPr/>
          </a:p>
          <a:p>
            <a:pPr indent="0" lvl="0" marL="0" rtl="0" algn="just">
              <a:spcBef>
                <a:spcPts val="400"/>
              </a:spcBef>
              <a:spcAft>
                <a:spcPts val="0"/>
              </a:spcAft>
              <a:buClr>
                <a:srgbClr val="000000"/>
              </a:buClr>
              <a:buSzPts val="2000"/>
              <a:buNone/>
            </a:pPr>
            <a:r>
              <a:rPr lang="en-US" sz="2000"/>
              <a:t>By Mike O’Docherty, John Wiley &amp; Sons, 2005</a:t>
            </a:r>
            <a:endParaRPr/>
          </a:p>
          <a:p>
            <a:pPr indent="0" lvl="0" marL="0" rtl="0" algn="just">
              <a:spcBef>
                <a:spcPts val="400"/>
              </a:spcBef>
              <a:spcAft>
                <a:spcPts val="0"/>
              </a:spcAft>
              <a:buClr>
                <a:srgbClr val="0070C0"/>
              </a:buClr>
              <a:buSzPts val="2000"/>
              <a:buNone/>
            </a:pPr>
            <a:r>
              <a:rPr lang="en-US" sz="2000">
                <a:solidFill>
                  <a:srgbClr val="0070C0"/>
                </a:solidFill>
              </a:rPr>
              <a:t>(chapter 2, chapter 7 – section 7.4)</a:t>
            </a:r>
            <a:endParaRPr sz="2000"/>
          </a:p>
          <a:p>
            <a:pPr indent="0" lvl="0" marL="0" rtl="0" algn="just">
              <a:spcBef>
                <a:spcPts val="220"/>
              </a:spcBef>
              <a:spcAft>
                <a:spcPts val="0"/>
              </a:spcAft>
              <a:buClr>
                <a:srgbClr val="000000"/>
              </a:buClr>
              <a:buSzPts val="1100"/>
              <a:buNone/>
            </a:pPr>
            <a:r>
              <a:t/>
            </a:r>
            <a:endParaRPr sz="1100"/>
          </a:p>
          <a:p>
            <a:pPr indent="0" lvl="0" marL="0" rtl="0" algn="just">
              <a:spcBef>
                <a:spcPts val="400"/>
              </a:spcBef>
              <a:spcAft>
                <a:spcPts val="0"/>
              </a:spcAft>
              <a:buClr>
                <a:schemeClr val="accent1"/>
              </a:buClr>
              <a:buSzPts val="2000"/>
              <a:buNone/>
            </a:pPr>
            <a:r>
              <a:rPr lang="en-US" sz="2000">
                <a:solidFill>
                  <a:schemeClr val="accent1"/>
                </a:solidFill>
              </a:rPr>
              <a:t>Course “Mastering Object-Oriented Analysis and Design with UML 2.0”</a:t>
            </a:r>
            <a:endParaRPr/>
          </a:p>
          <a:p>
            <a:pPr indent="0" lvl="0" marL="0" rtl="0" algn="just">
              <a:spcBef>
                <a:spcPts val="400"/>
              </a:spcBef>
              <a:spcAft>
                <a:spcPts val="0"/>
              </a:spcAft>
              <a:buClr>
                <a:srgbClr val="000000"/>
              </a:buClr>
              <a:buSzPts val="2000"/>
              <a:buNone/>
            </a:pPr>
            <a:r>
              <a:rPr lang="en-US" sz="2000"/>
              <a:t>by IBM Software Group</a:t>
            </a:r>
            <a:endParaRPr/>
          </a:p>
          <a:p>
            <a:pPr indent="0" lvl="0" marL="0" rtl="0" algn="just">
              <a:spcBef>
                <a:spcPts val="220"/>
              </a:spcBef>
              <a:spcAft>
                <a:spcPts val="0"/>
              </a:spcAft>
              <a:buClr>
                <a:srgbClr val="000000"/>
              </a:buClr>
              <a:buSzPts val="1100"/>
              <a:buNone/>
            </a:pPr>
            <a:r>
              <a:t/>
            </a:r>
            <a:endParaRPr sz="1100">
              <a:solidFill>
                <a:srgbClr val="0070C0"/>
              </a:solidFill>
            </a:endParaRPr>
          </a:p>
          <a:p>
            <a:pPr indent="0" lvl="0" marL="0" rtl="0" algn="just">
              <a:spcBef>
                <a:spcPts val="400"/>
              </a:spcBef>
              <a:spcAft>
                <a:spcPts val="0"/>
              </a:spcAft>
              <a:buClr>
                <a:srgbClr val="0070C0"/>
              </a:buClr>
              <a:buSzPts val="2000"/>
              <a:buNone/>
            </a:pPr>
            <a:r>
              <a:rPr lang="en-US" sz="2000">
                <a:solidFill>
                  <a:srgbClr val="0070C0"/>
                </a:solidFill>
              </a:rPr>
              <a:t>Course “Object-Oriented Analysis &amp; Design with UML”</a:t>
            </a:r>
            <a:endParaRPr/>
          </a:p>
          <a:p>
            <a:pPr indent="0" lvl="0" marL="0" rtl="0" algn="just">
              <a:spcBef>
                <a:spcPts val="400"/>
              </a:spcBef>
              <a:spcAft>
                <a:spcPts val="0"/>
              </a:spcAft>
              <a:buClr>
                <a:srgbClr val="000000"/>
              </a:buClr>
              <a:buSzPts val="2000"/>
              <a:buNone/>
            </a:pPr>
            <a:r>
              <a:rPr lang="en-US" sz="2000"/>
              <a:t>by Tran Hanh Nhi, Tran Minh Triet, and Nguyen Van Khiet</a:t>
            </a:r>
            <a:endParaRPr sz="2000"/>
          </a:p>
          <a:p>
            <a:pPr indent="0" lvl="0" marL="0" rtl="0" algn="just">
              <a:spcBef>
                <a:spcPts val="400"/>
              </a:spcBef>
              <a:spcAft>
                <a:spcPts val="0"/>
              </a:spcAft>
              <a:buClr>
                <a:srgbClr val="000000"/>
              </a:buClr>
              <a:buSzPts val="2000"/>
              <a:buNone/>
            </a:pPr>
            <a:r>
              <a:rPr lang="en-US" sz="2000"/>
              <a:t>Faculty of Information Technology, University of Science, 2008</a:t>
            </a:r>
            <a:endParaRPr/>
          </a:p>
          <a:p>
            <a:pPr indent="0" lvl="0" marL="0" rtl="0" algn="just">
              <a:spcBef>
                <a:spcPts val="400"/>
              </a:spcBef>
              <a:spcAft>
                <a:spcPts val="0"/>
              </a:spcAft>
              <a:buClr>
                <a:srgbClr val="000000"/>
              </a:buClr>
              <a:buSzPts val="2000"/>
              <a:buNone/>
            </a:pPr>
            <a:r>
              <a:t/>
            </a:r>
            <a:endParaRPr sz="2000"/>
          </a:p>
          <a:p>
            <a:pPr indent="0" lvl="0" marL="0" rtl="0" algn="just">
              <a:spcBef>
                <a:spcPts val="400"/>
              </a:spcBef>
              <a:spcAft>
                <a:spcPts val="0"/>
              </a:spcAft>
              <a:buClr>
                <a:srgbClr val="000000"/>
              </a:buClr>
              <a:buSzPts val="2000"/>
              <a:buNone/>
            </a:pPr>
            <a:r>
              <a:t/>
            </a:r>
            <a:endParaRPr sz="2000"/>
          </a:p>
          <a:p>
            <a:pPr indent="0" lvl="0" marL="0" rtl="0" algn="just">
              <a:spcBef>
                <a:spcPts val="400"/>
              </a:spcBef>
              <a:spcAft>
                <a:spcPts val="0"/>
              </a:spcAft>
              <a:buClr>
                <a:srgbClr val="000000"/>
              </a:buClr>
              <a:buSzPts val="2000"/>
              <a:buNone/>
            </a:pPr>
            <a:r>
              <a:t/>
            </a:r>
            <a:endParaRPr sz="2000"/>
          </a:p>
          <a:p>
            <a:pPr indent="0" lvl="0" marL="0" rtl="0" algn="just">
              <a:spcBef>
                <a:spcPts val="400"/>
              </a:spcBef>
              <a:spcAft>
                <a:spcPts val="0"/>
              </a:spcAft>
              <a:buClr>
                <a:srgbClr val="000000"/>
              </a:buClr>
              <a:buSzPts val="2000"/>
              <a:buNone/>
            </a:pPr>
            <a:r>
              <a:t/>
            </a:r>
            <a:endParaRPr sz="2000"/>
          </a:p>
          <a:p>
            <a:pPr indent="0" lvl="0" marL="0" rtl="0" algn="just">
              <a:spcBef>
                <a:spcPts val="400"/>
              </a:spcBef>
              <a:spcAft>
                <a:spcPts val="0"/>
              </a:spcAft>
              <a:buClr>
                <a:srgbClr val="000000"/>
              </a:buClr>
              <a:buSzPts val="2000"/>
              <a:buNone/>
            </a:pPr>
            <a:r>
              <a:t/>
            </a:r>
            <a:endParaRPr sz="2000"/>
          </a:p>
          <a:p>
            <a:pPr indent="0" lvl="0" marL="0" rtl="0" algn="just">
              <a:spcBef>
                <a:spcPts val="400"/>
              </a:spcBef>
              <a:spcAft>
                <a:spcPts val="0"/>
              </a:spcAft>
              <a:buClr>
                <a:srgbClr val="000000"/>
              </a:buClr>
              <a:buSzPts val="2000"/>
              <a:buNone/>
            </a:pPr>
            <a:r>
              <a:t/>
            </a:r>
            <a:endParaRPr sz="2000"/>
          </a:p>
        </p:txBody>
      </p:sp>
      <p:sp>
        <p:nvSpPr>
          <p:cNvPr id="122" name="Google Shape;122;p2"/>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3"/>
          <p:cNvSpPr/>
          <p:nvPr/>
        </p:nvSpPr>
        <p:spPr>
          <a:xfrm>
            <a:off x="3149600" y="2447925"/>
            <a:ext cx="2768600" cy="2770188"/>
          </a:xfrm>
          <a:prstGeom prst="ellipse">
            <a:avLst/>
          </a:prstGeom>
          <a:solidFill>
            <a:schemeClr val="lt1"/>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3"/>
          <p:cNvSpPr/>
          <p:nvPr/>
        </p:nvSpPr>
        <p:spPr>
          <a:xfrm>
            <a:off x="3495675" y="2795588"/>
            <a:ext cx="2078038" cy="2074862"/>
          </a:xfrm>
          <a:prstGeom prst="ellipse">
            <a:avLst/>
          </a:prstGeom>
          <a:solidFill>
            <a:srgbClr val="FFCC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3"/>
          <p:cNvSpPr/>
          <p:nvPr/>
        </p:nvSpPr>
        <p:spPr>
          <a:xfrm>
            <a:off x="3910013" y="3206750"/>
            <a:ext cx="1247775" cy="1252538"/>
          </a:xfrm>
          <a:prstGeom prst="ellipse">
            <a:avLst/>
          </a:prstGeom>
          <a:solidFill>
            <a:srgbClr val="FF9900"/>
          </a:solidFill>
          <a:ln cap="flat" cmpd="sng" w="508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3"/>
          <p:cNvSpPr/>
          <p:nvPr/>
        </p:nvSpPr>
        <p:spPr>
          <a:xfrm>
            <a:off x="1028700" y="4378325"/>
            <a:ext cx="1352550" cy="64135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Public operations</a:t>
            </a:r>
            <a:endParaRPr/>
          </a:p>
        </p:txBody>
      </p:sp>
      <p:cxnSp>
        <p:nvCxnSpPr>
          <p:cNvPr id="132" name="Google Shape;132;p3"/>
          <p:cNvCxnSpPr/>
          <p:nvPr/>
        </p:nvCxnSpPr>
        <p:spPr>
          <a:xfrm flipH="1" rot="10034182">
            <a:off x="2039938" y="4322763"/>
            <a:ext cx="1323975" cy="47625"/>
          </a:xfrm>
          <a:prstGeom prst="straightConnector1">
            <a:avLst/>
          </a:prstGeom>
          <a:noFill/>
          <a:ln cap="flat" cmpd="sng" w="50800">
            <a:solidFill>
              <a:schemeClr val="hlink"/>
            </a:solidFill>
            <a:prstDash val="solid"/>
            <a:round/>
            <a:headEnd len="sm" w="sm" type="none"/>
            <a:tailEnd len="med" w="med" type="stealth"/>
          </a:ln>
          <a:effectLst>
            <a:outerShdw rotWithShape="0" algn="ctr" dir="2700000" dist="35921">
              <a:srgbClr val="777777"/>
            </a:outerShdw>
          </a:effectLst>
        </p:spPr>
      </p:cxnSp>
      <p:sp>
        <p:nvSpPr>
          <p:cNvPr id="133" name="Google Shape;133;p3"/>
          <p:cNvSpPr/>
          <p:nvPr/>
        </p:nvSpPr>
        <p:spPr>
          <a:xfrm>
            <a:off x="6535738" y="4386263"/>
            <a:ext cx="1441450" cy="641350"/>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Protected  </a:t>
            </a:r>
            <a:endParaRPr/>
          </a:p>
          <a:p>
            <a:pPr indent="0" lvl="0" marL="0" marR="0" rtl="0" algn="l">
              <a:spcBef>
                <a:spcPts val="0"/>
              </a:spcBef>
              <a:spcAft>
                <a:spcPts val="0"/>
              </a:spcAft>
              <a:buNone/>
            </a:pPr>
            <a:r>
              <a:rPr lang="en-US" sz="1800">
                <a:solidFill>
                  <a:srgbClr val="FF0000"/>
                </a:solidFill>
                <a:latin typeface="Arial"/>
                <a:ea typeface="Arial"/>
                <a:cs typeface="Arial"/>
                <a:sym typeface="Arial"/>
              </a:rPr>
              <a:t>operations</a:t>
            </a:r>
            <a:endParaRPr/>
          </a:p>
        </p:txBody>
      </p:sp>
      <p:cxnSp>
        <p:nvCxnSpPr>
          <p:cNvPr id="134" name="Google Shape;134;p3"/>
          <p:cNvCxnSpPr/>
          <p:nvPr/>
        </p:nvCxnSpPr>
        <p:spPr>
          <a:xfrm rot="10800000">
            <a:off x="5283200" y="4097338"/>
            <a:ext cx="1154113" cy="377825"/>
          </a:xfrm>
          <a:prstGeom prst="straightConnector1">
            <a:avLst/>
          </a:prstGeom>
          <a:noFill/>
          <a:ln cap="flat" cmpd="sng" w="50800">
            <a:solidFill>
              <a:schemeClr val="hlink"/>
            </a:solidFill>
            <a:prstDash val="solid"/>
            <a:round/>
            <a:headEnd len="sm" w="sm" type="none"/>
            <a:tailEnd len="med" w="med" type="stealth"/>
          </a:ln>
          <a:effectLst>
            <a:outerShdw rotWithShape="0" algn="ctr" dir="2700000" dist="35921">
              <a:srgbClr val="777777"/>
            </a:outerShdw>
          </a:effectLst>
        </p:spPr>
      </p:cxnSp>
      <p:cxnSp>
        <p:nvCxnSpPr>
          <p:cNvPr id="135" name="Google Shape;135;p3"/>
          <p:cNvCxnSpPr/>
          <p:nvPr/>
        </p:nvCxnSpPr>
        <p:spPr>
          <a:xfrm rot="8131650">
            <a:off x="4795838" y="3030538"/>
            <a:ext cx="1619250" cy="727075"/>
          </a:xfrm>
          <a:prstGeom prst="straightConnector1">
            <a:avLst/>
          </a:prstGeom>
          <a:noFill/>
          <a:ln cap="flat" cmpd="sng" w="50800">
            <a:solidFill>
              <a:schemeClr val="hlink"/>
            </a:solidFill>
            <a:prstDash val="solid"/>
            <a:round/>
            <a:headEnd len="sm" w="sm" type="none"/>
            <a:tailEnd len="med" w="med" type="stealth"/>
          </a:ln>
          <a:effectLst>
            <a:outerShdw rotWithShape="0" algn="ctr" dir="2700000" dist="35921">
              <a:srgbClr val="777777"/>
            </a:outerShdw>
          </a:effectLst>
        </p:spPr>
      </p:cxnSp>
      <p:sp>
        <p:nvSpPr>
          <p:cNvPr id="136" name="Google Shape;136;p3"/>
          <p:cNvSpPr txBox="1"/>
          <p:nvPr/>
        </p:nvSpPr>
        <p:spPr>
          <a:xfrm>
            <a:off x="6534150" y="2632075"/>
            <a:ext cx="1261884"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FF0000"/>
                </a:solidFill>
                <a:latin typeface="Arial"/>
                <a:ea typeface="Arial"/>
                <a:cs typeface="Arial"/>
                <a:sym typeface="Arial"/>
              </a:rPr>
              <a:t>Private</a:t>
            </a:r>
            <a:endParaRPr/>
          </a:p>
          <a:p>
            <a:pPr indent="0" lvl="0" marL="0" marR="0" rtl="0" algn="l">
              <a:spcBef>
                <a:spcPts val="0"/>
              </a:spcBef>
              <a:spcAft>
                <a:spcPts val="0"/>
              </a:spcAft>
              <a:buNone/>
            </a:pPr>
            <a:r>
              <a:rPr lang="en-US" sz="1800">
                <a:solidFill>
                  <a:srgbClr val="FF0000"/>
                </a:solidFill>
                <a:latin typeface="Arial"/>
                <a:ea typeface="Arial"/>
                <a:cs typeface="Arial"/>
                <a:sym typeface="Arial"/>
              </a:rPr>
              <a:t>operations</a:t>
            </a:r>
            <a:endParaRPr/>
          </a:p>
        </p:txBody>
      </p:sp>
      <p:sp>
        <p:nvSpPr>
          <p:cNvPr id="137" name="Google Shape;137;p3"/>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Operation Visibility</a:t>
            </a:r>
            <a:endParaRPr/>
          </a:p>
        </p:txBody>
      </p:sp>
      <p:sp>
        <p:nvSpPr>
          <p:cNvPr id="138" name="Google Shape;138;p3"/>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Visibility is used to enforce encapsulation</a:t>
            </a:r>
            <a:endParaRPr/>
          </a:p>
          <a:p>
            <a:pPr indent="-342900" lvl="0" marL="342900" rtl="0" algn="l">
              <a:spcBef>
                <a:spcPts val="400"/>
              </a:spcBef>
              <a:spcAft>
                <a:spcPts val="0"/>
              </a:spcAft>
              <a:buClr>
                <a:srgbClr val="000000"/>
              </a:buClr>
              <a:buSzPts val="2000"/>
              <a:buChar char="❖"/>
            </a:pPr>
            <a:r>
              <a:rPr lang="en-US" sz="2000"/>
              <a:t>May be public, protected, or private</a:t>
            </a:r>
            <a:endParaRPr/>
          </a:p>
        </p:txBody>
      </p:sp>
      <p:sp>
        <p:nvSpPr>
          <p:cNvPr id="139" name="Google Shape;139;p3"/>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4"/>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How Is Visibility Noted?</a:t>
            </a:r>
            <a:endParaRPr/>
          </a:p>
        </p:txBody>
      </p:sp>
      <p:sp>
        <p:nvSpPr>
          <p:cNvPr id="146" name="Google Shape;146;p4"/>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following symbols are used to specify export control:</a:t>
            </a:r>
            <a:endParaRPr/>
          </a:p>
          <a:p>
            <a:pPr indent="0" lvl="1" marL="457200" rtl="0" algn="l">
              <a:spcBef>
                <a:spcPts val="400"/>
              </a:spcBef>
              <a:spcAft>
                <a:spcPts val="0"/>
              </a:spcAft>
              <a:buSzPts val="1000"/>
              <a:buNone/>
            </a:pPr>
            <a:r>
              <a:rPr lang="en-US" sz="2000"/>
              <a:t>       +	Public access </a:t>
            </a:r>
            <a:endParaRPr/>
          </a:p>
          <a:p>
            <a:pPr indent="0" lvl="1" marL="457200" rtl="0" algn="l">
              <a:spcBef>
                <a:spcPts val="400"/>
              </a:spcBef>
              <a:spcAft>
                <a:spcPts val="0"/>
              </a:spcAft>
              <a:buSzPts val="1000"/>
              <a:buNone/>
            </a:pPr>
            <a:r>
              <a:rPr lang="en-US" sz="2000"/>
              <a:t>       #	Protected access</a:t>
            </a:r>
            <a:endParaRPr/>
          </a:p>
          <a:p>
            <a:pPr indent="0" lvl="1" marL="457200" rtl="0" algn="l">
              <a:spcBef>
                <a:spcPts val="400"/>
              </a:spcBef>
              <a:spcAft>
                <a:spcPts val="0"/>
              </a:spcAft>
              <a:buSzPts val="1000"/>
              <a:buNone/>
            </a:pPr>
            <a:r>
              <a:rPr lang="en-US" sz="2000"/>
              <a:t>       -	Private access</a:t>
            </a:r>
            <a:endParaRPr/>
          </a:p>
        </p:txBody>
      </p:sp>
      <p:sp>
        <p:nvSpPr>
          <p:cNvPr id="147" name="Google Shape;147;p4"/>
          <p:cNvSpPr/>
          <p:nvPr/>
        </p:nvSpPr>
        <p:spPr>
          <a:xfrm>
            <a:off x="3449638" y="3457575"/>
            <a:ext cx="2279650" cy="1814513"/>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48" name="Google Shape;148;p4"/>
          <p:cNvCxnSpPr/>
          <p:nvPr/>
        </p:nvCxnSpPr>
        <p:spPr>
          <a:xfrm>
            <a:off x="3435350" y="3787775"/>
            <a:ext cx="2297113" cy="0"/>
          </a:xfrm>
          <a:prstGeom prst="straightConnector1">
            <a:avLst/>
          </a:prstGeom>
          <a:noFill/>
          <a:ln cap="flat" cmpd="sng" w="19050">
            <a:solidFill>
              <a:srgbClr val="8A0E5E"/>
            </a:solidFill>
            <a:prstDash val="solid"/>
            <a:round/>
            <a:headEnd len="sm" w="sm" type="none"/>
            <a:tailEnd len="sm" w="sm" type="none"/>
          </a:ln>
        </p:spPr>
      </p:cxnSp>
      <p:cxnSp>
        <p:nvCxnSpPr>
          <p:cNvPr id="149" name="Google Shape;149;p4"/>
          <p:cNvCxnSpPr/>
          <p:nvPr/>
        </p:nvCxnSpPr>
        <p:spPr>
          <a:xfrm>
            <a:off x="3462338" y="4518025"/>
            <a:ext cx="2266950" cy="0"/>
          </a:xfrm>
          <a:prstGeom prst="straightConnector1">
            <a:avLst/>
          </a:prstGeom>
          <a:noFill/>
          <a:ln cap="flat" cmpd="sng" w="19050">
            <a:solidFill>
              <a:srgbClr val="8A0E5E"/>
            </a:solidFill>
            <a:prstDash val="solid"/>
            <a:round/>
            <a:headEnd len="sm" w="sm" type="none"/>
            <a:tailEnd len="sm" w="sm" type="none"/>
          </a:ln>
        </p:spPr>
      </p:cxnSp>
      <p:sp>
        <p:nvSpPr>
          <p:cNvPr id="150" name="Google Shape;150;p4"/>
          <p:cNvSpPr/>
          <p:nvPr/>
        </p:nvSpPr>
        <p:spPr>
          <a:xfrm>
            <a:off x="4164013" y="3475038"/>
            <a:ext cx="865187" cy="339196"/>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Class1</a:t>
            </a:r>
            <a:endParaRPr/>
          </a:p>
        </p:txBody>
      </p:sp>
      <p:sp>
        <p:nvSpPr>
          <p:cNvPr id="151" name="Google Shape;151;p4"/>
          <p:cNvSpPr/>
          <p:nvPr/>
        </p:nvSpPr>
        <p:spPr>
          <a:xfrm>
            <a:off x="3451225" y="3768725"/>
            <a:ext cx="15541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i="1" lang="en-US" sz="1400">
                <a:solidFill>
                  <a:srgbClr val="000000"/>
                </a:solidFill>
                <a:latin typeface="Arial"/>
                <a:ea typeface="Arial"/>
                <a:cs typeface="Arial"/>
                <a:sym typeface="Arial"/>
              </a:rPr>
              <a:t>- </a:t>
            </a:r>
            <a:r>
              <a:rPr lang="en-US" sz="1400">
                <a:solidFill>
                  <a:srgbClr val="000000"/>
                </a:solidFill>
                <a:latin typeface="Arial"/>
                <a:ea typeface="Arial"/>
                <a:cs typeface="Arial"/>
                <a:sym typeface="Arial"/>
              </a:rPr>
              <a:t>privateAttribute</a:t>
            </a:r>
            <a:endParaRPr sz="1400">
              <a:solidFill>
                <a:srgbClr val="000000"/>
              </a:solidFill>
              <a:latin typeface="Arial"/>
              <a:ea typeface="Arial"/>
              <a:cs typeface="Arial"/>
              <a:sym typeface="Arial"/>
            </a:endParaRPr>
          </a:p>
        </p:txBody>
      </p:sp>
      <p:sp>
        <p:nvSpPr>
          <p:cNvPr id="152" name="Google Shape;152;p4"/>
          <p:cNvSpPr/>
          <p:nvPr/>
        </p:nvSpPr>
        <p:spPr>
          <a:xfrm>
            <a:off x="3435350" y="3986213"/>
            <a:ext cx="15668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publicAttribute</a:t>
            </a:r>
            <a:endParaRPr/>
          </a:p>
        </p:txBody>
      </p:sp>
      <p:sp>
        <p:nvSpPr>
          <p:cNvPr id="153" name="Google Shape;153;p4"/>
          <p:cNvSpPr/>
          <p:nvPr/>
        </p:nvSpPr>
        <p:spPr>
          <a:xfrm>
            <a:off x="3435350" y="4202113"/>
            <a:ext cx="18462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protectedAttribute</a:t>
            </a:r>
            <a:endParaRPr/>
          </a:p>
        </p:txBody>
      </p:sp>
      <p:sp>
        <p:nvSpPr>
          <p:cNvPr id="154" name="Google Shape;154;p4"/>
          <p:cNvSpPr/>
          <p:nvPr/>
        </p:nvSpPr>
        <p:spPr>
          <a:xfrm>
            <a:off x="3451225" y="4519613"/>
            <a:ext cx="17954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privateOperation ()</a:t>
            </a:r>
            <a:endParaRPr/>
          </a:p>
        </p:txBody>
      </p:sp>
      <p:sp>
        <p:nvSpPr>
          <p:cNvPr id="155" name="Google Shape;155;p4"/>
          <p:cNvSpPr/>
          <p:nvPr/>
        </p:nvSpPr>
        <p:spPr>
          <a:xfrm>
            <a:off x="3435350" y="4727575"/>
            <a:ext cx="18716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publicOPeration ()</a:t>
            </a:r>
            <a:endParaRPr/>
          </a:p>
        </p:txBody>
      </p:sp>
      <p:sp>
        <p:nvSpPr>
          <p:cNvPr id="156" name="Google Shape;156;p4"/>
          <p:cNvSpPr/>
          <p:nvPr/>
        </p:nvSpPr>
        <p:spPr>
          <a:xfrm>
            <a:off x="3435350" y="4918075"/>
            <a:ext cx="19605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protecteOperation ()</a:t>
            </a:r>
            <a:endParaRPr/>
          </a:p>
        </p:txBody>
      </p:sp>
      <p:sp>
        <p:nvSpPr>
          <p:cNvPr id="157" name="Google Shape;157;p4"/>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Scope</a:t>
            </a:r>
            <a:endParaRPr/>
          </a:p>
        </p:txBody>
      </p:sp>
      <p:sp>
        <p:nvSpPr>
          <p:cNvPr id="164" name="Google Shape;164;p5"/>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Determines number of instances of the attribute/operation</a:t>
            </a:r>
            <a:endParaRPr/>
          </a:p>
          <a:p>
            <a:pPr indent="-285750" lvl="1" marL="742950" rtl="0" algn="l">
              <a:spcBef>
                <a:spcPts val="400"/>
              </a:spcBef>
              <a:spcAft>
                <a:spcPts val="0"/>
              </a:spcAft>
              <a:buSzPts val="1000"/>
              <a:buChar char="🞇"/>
            </a:pPr>
            <a:r>
              <a:rPr lang="en-US" sz="2000"/>
              <a:t>Instance: one instance for each class instance</a:t>
            </a:r>
            <a:endParaRPr/>
          </a:p>
          <a:p>
            <a:pPr indent="-285750" lvl="1" marL="742950" rtl="0" algn="l">
              <a:spcBef>
                <a:spcPts val="400"/>
              </a:spcBef>
              <a:spcAft>
                <a:spcPts val="0"/>
              </a:spcAft>
              <a:buSzPts val="1000"/>
              <a:buChar char="🞇"/>
            </a:pPr>
            <a:r>
              <a:rPr lang="en-US" sz="2000"/>
              <a:t>Classifier: one instance for all class instances</a:t>
            </a:r>
            <a:endParaRPr/>
          </a:p>
          <a:p>
            <a:pPr indent="-342900" lvl="0" marL="342900" rtl="0" algn="l">
              <a:spcBef>
                <a:spcPts val="400"/>
              </a:spcBef>
              <a:spcAft>
                <a:spcPts val="0"/>
              </a:spcAft>
              <a:buClr>
                <a:srgbClr val="000000"/>
              </a:buClr>
              <a:buSzPts val="2000"/>
              <a:buChar char="❖"/>
            </a:pPr>
            <a:r>
              <a:rPr lang="en-US" sz="2000"/>
              <a:t>Classifier scope is denoted by underlining the attribute/operation name</a:t>
            </a:r>
            <a:endParaRPr/>
          </a:p>
        </p:txBody>
      </p:sp>
      <p:sp>
        <p:nvSpPr>
          <p:cNvPr id="165" name="Google Shape;165;p5"/>
          <p:cNvSpPr/>
          <p:nvPr/>
        </p:nvSpPr>
        <p:spPr>
          <a:xfrm>
            <a:off x="3449638" y="3813175"/>
            <a:ext cx="2279650" cy="1357313"/>
          </a:xfrm>
          <a:prstGeom prst="rect">
            <a:avLst/>
          </a:prstGeom>
          <a:solidFill>
            <a:srgbClr val="FFFFCC"/>
          </a:solidFill>
          <a:ln cap="flat" cmpd="sng" w="19050">
            <a:solidFill>
              <a:srgbClr val="8A0E5E"/>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166" name="Google Shape;166;p5"/>
          <p:cNvCxnSpPr/>
          <p:nvPr/>
        </p:nvCxnSpPr>
        <p:spPr>
          <a:xfrm>
            <a:off x="3455988" y="4143375"/>
            <a:ext cx="2273300" cy="0"/>
          </a:xfrm>
          <a:prstGeom prst="straightConnector1">
            <a:avLst/>
          </a:prstGeom>
          <a:noFill/>
          <a:ln cap="flat" cmpd="sng" w="19050">
            <a:solidFill>
              <a:srgbClr val="8A0E5E"/>
            </a:solidFill>
            <a:prstDash val="solid"/>
            <a:round/>
            <a:headEnd len="sm" w="sm" type="none"/>
            <a:tailEnd len="sm" w="sm" type="none"/>
          </a:ln>
        </p:spPr>
      </p:cxnSp>
      <p:cxnSp>
        <p:nvCxnSpPr>
          <p:cNvPr id="167" name="Google Shape;167;p5"/>
          <p:cNvCxnSpPr/>
          <p:nvPr/>
        </p:nvCxnSpPr>
        <p:spPr>
          <a:xfrm>
            <a:off x="3449638" y="4657725"/>
            <a:ext cx="2279650" cy="0"/>
          </a:xfrm>
          <a:prstGeom prst="straightConnector1">
            <a:avLst/>
          </a:prstGeom>
          <a:noFill/>
          <a:ln cap="flat" cmpd="sng" w="19050">
            <a:solidFill>
              <a:srgbClr val="8A0E5E"/>
            </a:solidFill>
            <a:prstDash val="solid"/>
            <a:round/>
            <a:headEnd len="sm" w="sm" type="none"/>
            <a:tailEnd len="sm" w="sm" type="none"/>
          </a:ln>
        </p:spPr>
      </p:cxnSp>
      <p:sp>
        <p:nvSpPr>
          <p:cNvPr id="168" name="Google Shape;168;p5"/>
          <p:cNvSpPr/>
          <p:nvPr/>
        </p:nvSpPr>
        <p:spPr>
          <a:xfrm>
            <a:off x="4164013" y="3830638"/>
            <a:ext cx="865187" cy="3365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Class1</a:t>
            </a:r>
            <a:endParaRPr/>
          </a:p>
        </p:txBody>
      </p:sp>
      <p:sp>
        <p:nvSpPr>
          <p:cNvPr id="169" name="Google Shape;169;p5"/>
          <p:cNvSpPr/>
          <p:nvPr/>
        </p:nvSpPr>
        <p:spPr>
          <a:xfrm>
            <a:off x="3463925" y="4130675"/>
            <a:ext cx="18272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u="sng">
                <a:solidFill>
                  <a:srgbClr val="000000"/>
                </a:solidFill>
                <a:latin typeface="Arial"/>
                <a:ea typeface="Arial"/>
                <a:cs typeface="Arial"/>
                <a:sym typeface="Arial"/>
              </a:rPr>
              <a:t>- classifierScopeAttr</a:t>
            </a:r>
            <a:endParaRPr/>
          </a:p>
        </p:txBody>
      </p:sp>
      <p:sp>
        <p:nvSpPr>
          <p:cNvPr id="170" name="Google Shape;170;p5"/>
          <p:cNvSpPr/>
          <p:nvPr/>
        </p:nvSpPr>
        <p:spPr>
          <a:xfrm>
            <a:off x="3435350" y="4341813"/>
            <a:ext cx="18208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instanceScopeAttr</a:t>
            </a:r>
            <a:endParaRPr/>
          </a:p>
        </p:txBody>
      </p:sp>
      <p:sp>
        <p:nvSpPr>
          <p:cNvPr id="171" name="Google Shape;171;p5"/>
          <p:cNvSpPr/>
          <p:nvPr/>
        </p:nvSpPr>
        <p:spPr>
          <a:xfrm>
            <a:off x="3435350" y="4633913"/>
            <a:ext cx="207486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u="sng">
                <a:solidFill>
                  <a:srgbClr val="000000"/>
                </a:solidFill>
                <a:latin typeface="Arial"/>
                <a:ea typeface="Arial"/>
                <a:cs typeface="Arial"/>
                <a:sym typeface="Arial"/>
              </a:rPr>
              <a:t>+ classifierScopeOp ()</a:t>
            </a:r>
            <a:endParaRPr/>
          </a:p>
        </p:txBody>
      </p:sp>
      <p:sp>
        <p:nvSpPr>
          <p:cNvPr id="172" name="Google Shape;172;p5"/>
          <p:cNvSpPr/>
          <p:nvPr/>
        </p:nvSpPr>
        <p:spPr>
          <a:xfrm>
            <a:off x="3435350" y="4841875"/>
            <a:ext cx="20177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instanceScopeOp ()</a:t>
            </a:r>
            <a:endParaRPr/>
          </a:p>
        </p:txBody>
      </p:sp>
      <p:sp>
        <p:nvSpPr>
          <p:cNvPr id="173" name="Google Shape;173;p5"/>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 Scope</a:t>
            </a:r>
            <a:endParaRPr/>
          </a:p>
        </p:txBody>
      </p:sp>
      <p:sp>
        <p:nvSpPr>
          <p:cNvPr id="179" name="Google Shape;179;p6"/>
          <p:cNvSpPr/>
          <p:nvPr/>
        </p:nvSpPr>
        <p:spPr>
          <a:xfrm>
            <a:off x="977900" y="1704975"/>
            <a:ext cx="7239000" cy="3551238"/>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0" name="Google Shape;180;p6"/>
          <p:cNvSpPr/>
          <p:nvPr/>
        </p:nvSpPr>
        <p:spPr>
          <a:xfrm>
            <a:off x="4165600" y="1858950"/>
            <a:ext cx="1069200" cy="27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Student</a:t>
            </a:r>
            <a:endParaRPr sz="1800">
              <a:solidFill>
                <a:srgbClr val="000000"/>
              </a:solidFill>
              <a:latin typeface="Arial"/>
              <a:ea typeface="Arial"/>
              <a:cs typeface="Arial"/>
              <a:sym typeface="Arial"/>
            </a:endParaRPr>
          </a:p>
        </p:txBody>
      </p:sp>
      <p:sp>
        <p:nvSpPr>
          <p:cNvPr id="181" name="Google Shape;181;p6"/>
          <p:cNvSpPr/>
          <p:nvPr/>
        </p:nvSpPr>
        <p:spPr>
          <a:xfrm>
            <a:off x="977900" y="2284413"/>
            <a:ext cx="7235825" cy="29718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2" name="Google Shape;182;p6"/>
          <p:cNvSpPr/>
          <p:nvPr/>
        </p:nvSpPr>
        <p:spPr>
          <a:xfrm>
            <a:off x="977900" y="3567113"/>
            <a:ext cx="7239000" cy="1689100"/>
          </a:xfrm>
          <a:prstGeom prst="rect">
            <a:avLst/>
          </a:prstGeom>
          <a:solidFill>
            <a:srgbClr val="FFFFCC"/>
          </a:solidFill>
          <a:ln cap="flat" cmpd="sng" w="1905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83" name="Google Shape;183;p6"/>
          <p:cNvSpPr/>
          <p:nvPr/>
        </p:nvSpPr>
        <p:spPr>
          <a:xfrm>
            <a:off x="1076325" y="2360613"/>
            <a:ext cx="679673"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name</a:t>
            </a:r>
            <a:endParaRPr sz="1000">
              <a:solidFill>
                <a:srgbClr val="000000"/>
              </a:solidFill>
              <a:latin typeface="Arial"/>
              <a:ea typeface="Arial"/>
              <a:cs typeface="Arial"/>
              <a:sym typeface="Arial"/>
            </a:endParaRPr>
          </a:p>
        </p:txBody>
      </p:sp>
      <p:sp>
        <p:nvSpPr>
          <p:cNvPr id="184" name="Google Shape;184;p6"/>
          <p:cNvSpPr/>
          <p:nvPr/>
        </p:nvSpPr>
        <p:spPr>
          <a:xfrm>
            <a:off x="1076325" y="2641600"/>
            <a:ext cx="910506"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address</a:t>
            </a:r>
            <a:endParaRPr sz="1000">
              <a:solidFill>
                <a:srgbClr val="000000"/>
              </a:solidFill>
              <a:latin typeface="Arial"/>
              <a:ea typeface="Arial"/>
              <a:cs typeface="Arial"/>
              <a:sym typeface="Arial"/>
            </a:endParaRPr>
          </a:p>
        </p:txBody>
      </p:sp>
      <p:sp>
        <p:nvSpPr>
          <p:cNvPr id="185" name="Google Shape;185;p6"/>
          <p:cNvSpPr/>
          <p:nvPr/>
        </p:nvSpPr>
        <p:spPr>
          <a:xfrm>
            <a:off x="1076325" y="3181350"/>
            <a:ext cx="1647182"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a:t>
            </a:r>
            <a:r>
              <a:rPr lang="en-US" sz="1700" u="sng">
                <a:solidFill>
                  <a:srgbClr val="000000"/>
                </a:solidFill>
                <a:latin typeface="Arial"/>
                <a:ea typeface="Arial"/>
                <a:cs typeface="Arial"/>
                <a:sym typeface="Arial"/>
              </a:rPr>
              <a:t>nextAvailID : int</a:t>
            </a:r>
            <a:endParaRPr sz="1000">
              <a:solidFill>
                <a:srgbClr val="000000"/>
              </a:solidFill>
              <a:latin typeface="Arial"/>
              <a:ea typeface="Arial"/>
              <a:cs typeface="Arial"/>
              <a:sym typeface="Arial"/>
            </a:endParaRPr>
          </a:p>
        </p:txBody>
      </p:sp>
      <p:sp>
        <p:nvSpPr>
          <p:cNvPr id="186" name="Google Shape;186;p6"/>
          <p:cNvSpPr/>
          <p:nvPr/>
        </p:nvSpPr>
        <p:spPr>
          <a:xfrm>
            <a:off x="1076325" y="3744913"/>
            <a:ext cx="7115731"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addSchedule ([in] theSchedule : Schedule, [in] forSemester : Semester)</a:t>
            </a:r>
            <a:endParaRPr sz="1000">
              <a:solidFill>
                <a:srgbClr val="000000"/>
              </a:solidFill>
              <a:latin typeface="Arial"/>
              <a:ea typeface="Arial"/>
              <a:cs typeface="Arial"/>
              <a:sym typeface="Arial"/>
            </a:endParaRPr>
          </a:p>
        </p:txBody>
      </p:sp>
      <p:sp>
        <p:nvSpPr>
          <p:cNvPr id="187" name="Google Shape;187;p6"/>
          <p:cNvSpPr/>
          <p:nvPr/>
        </p:nvSpPr>
        <p:spPr>
          <a:xfrm>
            <a:off x="1076325" y="4025900"/>
            <a:ext cx="5363648"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getSchedule ([in] forSemester : Semester) : Schedule</a:t>
            </a:r>
            <a:endParaRPr sz="1000">
              <a:solidFill>
                <a:srgbClr val="000000"/>
              </a:solidFill>
              <a:latin typeface="Arial"/>
              <a:ea typeface="Arial"/>
              <a:cs typeface="Arial"/>
              <a:sym typeface="Arial"/>
            </a:endParaRPr>
          </a:p>
        </p:txBody>
      </p:sp>
      <p:sp>
        <p:nvSpPr>
          <p:cNvPr id="188" name="Google Shape;188;p6"/>
          <p:cNvSpPr/>
          <p:nvPr/>
        </p:nvSpPr>
        <p:spPr>
          <a:xfrm>
            <a:off x="1076325" y="4306888"/>
            <a:ext cx="6726393"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hasPrerequisites ([in] forCourseOffering : CourseOffering) : boolean</a:t>
            </a:r>
            <a:endParaRPr sz="1000">
              <a:solidFill>
                <a:srgbClr val="000000"/>
              </a:solidFill>
              <a:latin typeface="Arial"/>
              <a:ea typeface="Arial"/>
              <a:cs typeface="Arial"/>
              <a:sym typeface="Arial"/>
            </a:endParaRPr>
          </a:p>
        </p:txBody>
      </p:sp>
      <p:sp>
        <p:nvSpPr>
          <p:cNvPr id="189" name="Google Shape;189;p6"/>
          <p:cNvSpPr/>
          <p:nvPr/>
        </p:nvSpPr>
        <p:spPr>
          <a:xfrm>
            <a:off x="1076325" y="4587875"/>
            <a:ext cx="584955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passed ([in] theCourseOffering : CourseOffering) : boolean</a:t>
            </a:r>
            <a:endParaRPr sz="1000">
              <a:solidFill>
                <a:srgbClr val="000000"/>
              </a:solidFill>
              <a:latin typeface="Arial"/>
              <a:ea typeface="Arial"/>
              <a:cs typeface="Arial"/>
              <a:sym typeface="Arial"/>
            </a:endParaRPr>
          </a:p>
        </p:txBody>
      </p:sp>
      <p:sp>
        <p:nvSpPr>
          <p:cNvPr id="190" name="Google Shape;190;p6"/>
          <p:cNvSpPr/>
          <p:nvPr/>
        </p:nvSpPr>
        <p:spPr>
          <a:xfrm>
            <a:off x="1076325" y="4870450"/>
            <a:ext cx="2246705"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a:t>
            </a:r>
            <a:r>
              <a:rPr lang="en-US" sz="1700" u="sng">
                <a:solidFill>
                  <a:srgbClr val="000000"/>
                </a:solidFill>
                <a:latin typeface="Arial"/>
                <a:ea typeface="Arial"/>
                <a:cs typeface="Arial"/>
                <a:sym typeface="Arial"/>
              </a:rPr>
              <a:t>getNextAvailID () : int</a:t>
            </a:r>
            <a:endParaRPr sz="1000">
              <a:solidFill>
                <a:srgbClr val="000000"/>
              </a:solidFill>
              <a:latin typeface="Arial"/>
              <a:ea typeface="Arial"/>
              <a:cs typeface="Arial"/>
              <a:sym typeface="Arial"/>
            </a:endParaRPr>
          </a:p>
        </p:txBody>
      </p:sp>
      <p:sp>
        <p:nvSpPr>
          <p:cNvPr id="191" name="Google Shape;191;p6"/>
          <p:cNvSpPr/>
          <p:nvPr/>
        </p:nvSpPr>
        <p:spPr>
          <a:xfrm>
            <a:off x="1076325" y="2922588"/>
            <a:ext cx="1069203"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rgbClr val="000000"/>
                </a:solidFill>
                <a:latin typeface="Arial"/>
                <a:ea typeface="Arial"/>
                <a:cs typeface="Arial"/>
                <a:sym typeface="Arial"/>
              </a:rPr>
              <a:t>- studentID</a:t>
            </a:r>
            <a:endParaRPr sz="1000">
              <a:solidFill>
                <a:srgbClr val="000000"/>
              </a:solidFill>
              <a:latin typeface="Arial"/>
              <a:ea typeface="Arial"/>
              <a:cs typeface="Arial"/>
              <a:sym typeface="Arial"/>
            </a:endParaRPr>
          </a:p>
        </p:txBody>
      </p:sp>
      <p:sp>
        <p:nvSpPr>
          <p:cNvPr id="192" name="Google Shape;192;p6"/>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cxnSp>
        <p:nvCxnSpPr>
          <p:cNvPr id="197" name="Google Shape;197;p7"/>
          <p:cNvCxnSpPr/>
          <p:nvPr/>
        </p:nvCxnSpPr>
        <p:spPr>
          <a:xfrm flipH="1">
            <a:off x="1431925" y="3017837"/>
            <a:ext cx="1588" cy="1163638"/>
          </a:xfrm>
          <a:prstGeom prst="straightConnector1">
            <a:avLst/>
          </a:prstGeom>
          <a:noFill/>
          <a:ln cap="flat" cmpd="sng" w="12700">
            <a:solidFill>
              <a:schemeClr val="dk1"/>
            </a:solidFill>
            <a:prstDash val="solid"/>
            <a:round/>
            <a:headEnd len="med" w="med" type="none"/>
            <a:tailEnd len="med" w="med" type="stealth"/>
          </a:ln>
        </p:spPr>
      </p:cxnSp>
      <p:cxnSp>
        <p:nvCxnSpPr>
          <p:cNvPr id="198" name="Google Shape;198;p7"/>
          <p:cNvCxnSpPr/>
          <p:nvPr/>
        </p:nvCxnSpPr>
        <p:spPr>
          <a:xfrm>
            <a:off x="6118225" y="1800225"/>
            <a:ext cx="735013" cy="1587"/>
          </a:xfrm>
          <a:prstGeom prst="straightConnector1">
            <a:avLst/>
          </a:prstGeom>
          <a:noFill/>
          <a:ln cap="flat" cmpd="sng" w="12700">
            <a:solidFill>
              <a:schemeClr val="dk1"/>
            </a:solidFill>
            <a:prstDash val="solid"/>
            <a:round/>
            <a:headEnd len="med" w="med" type="none"/>
            <a:tailEnd len="med" w="med" type="stealth"/>
          </a:ln>
        </p:spPr>
      </p:cxnSp>
      <p:sp>
        <p:nvSpPr>
          <p:cNvPr id="199" name="Google Shape;199;p7"/>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 Define Operations</a:t>
            </a:r>
            <a:endParaRPr/>
          </a:p>
        </p:txBody>
      </p:sp>
      <p:sp>
        <p:nvSpPr>
          <p:cNvPr id="200" name="Google Shape;200;p7"/>
          <p:cNvSpPr/>
          <p:nvPr/>
        </p:nvSpPr>
        <p:spPr>
          <a:xfrm>
            <a:off x="574675" y="4206875"/>
            <a:ext cx="5565900" cy="2346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01" name="Google Shape;201;p7"/>
          <p:cNvSpPr/>
          <p:nvPr/>
        </p:nvSpPr>
        <p:spPr>
          <a:xfrm>
            <a:off x="2514600" y="4419600"/>
            <a:ext cx="52899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Student</a:t>
            </a:r>
            <a:endParaRPr sz="1200" u="sng">
              <a:solidFill>
                <a:srgbClr val="000000"/>
              </a:solidFill>
              <a:latin typeface="Arial"/>
              <a:ea typeface="Arial"/>
              <a:cs typeface="Arial"/>
              <a:sym typeface="Arial"/>
            </a:endParaRPr>
          </a:p>
        </p:txBody>
      </p:sp>
      <p:sp>
        <p:nvSpPr>
          <p:cNvPr id="202" name="Google Shape;202;p7"/>
          <p:cNvSpPr/>
          <p:nvPr/>
        </p:nvSpPr>
        <p:spPr>
          <a:xfrm>
            <a:off x="615950" y="4781550"/>
            <a:ext cx="1360488"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getTuition() : double</a:t>
            </a:r>
            <a:endParaRPr sz="1000" u="sng">
              <a:solidFill>
                <a:srgbClr val="000000"/>
              </a:solidFill>
              <a:latin typeface="Arial"/>
              <a:ea typeface="Arial"/>
              <a:cs typeface="Arial"/>
              <a:sym typeface="Arial"/>
            </a:endParaRPr>
          </a:p>
        </p:txBody>
      </p:sp>
      <p:sp>
        <p:nvSpPr>
          <p:cNvPr id="203" name="Google Shape;203;p7"/>
          <p:cNvSpPr/>
          <p:nvPr/>
        </p:nvSpPr>
        <p:spPr>
          <a:xfrm>
            <a:off x="615950" y="4953000"/>
            <a:ext cx="4333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addSchedule ( [in] aSchedule : Schedule)</a:t>
            </a:r>
            <a:endParaRPr sz="1000" u="sng">
              <a:solidFill>
                <a:srgbClr val="000000"/>
              </a:solidFill>
              <a:latin typeface="Arial"/>
              <a:ea typeface="Arial"/>
              <a:cs typeface="Arial"/>
              <a:sym typeface="Arial"/>
            </a:endParaRPr>
          </a:p>
        </p:txBody>
      </p:sp>
      <p:sp>
        <p:nvSpPr>
          <p:cNvPr id="204" name="Google Shape;204;p7"/>
          <p:cNvSpPr/>
          <p:nvPr/>
        </p:nvSpPr>
        <p:spPr>
          <a:xfrm>
            <a:off x="615950" y="5124450"/>
            <a:ext cx="49275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getSchedule ( [in] forSemester : Semester) : Schedule</a:t>
            </a:r>
            <a:endParaRPr sz="1000" u="sng">
              <a:solidFill>
                <a:srgbClr val="000000"/>
              </a:solidFill>
              <a:latin typeface="Arial"/>
              <a:ea typeface="Arial"/>
              <a:cs typeface="Arial"/>
              <a:sym typeface="Arial"/>
            </a:endParaRPr>
          </a:p>
        </p:txBody>
      </p:sp>
      <p:sp>
        <p:nvSpPr>
          <p:cNvPr id="205" name="Google Shape;205;p7"/>
          <p:cNvSpPr/>
          <p:nvPr/>
        </p:nvSpPr>
        <p:spPr>
          <a:xfrm>
            <a:off x="615950" y="5294300"/>
            <a:ext cx="5049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deleteSchedule ( [in] forSemester : Semester)</a:t>
            </a:r>
            <a:endParaRPr sz="1000" u="sng">
              <a:solidFill>
                <a:srgbClr val="000000"/>
              </a:solidFill>
              <a:latin typeface="Arial"/>
              <a:ea typeface="Arial"/>
              <a:cs typeface="Arial"/>
              <a:sym typeface="Arial"/>
            </a:endParaRPr>
          </a:p>
        </p:txBody>
      </p:sp>
      <p:sp>
        <p:nvSpPr>
          <p:cNvPr id="206" name="Google Shape;206;p7"/>
          <p:cNvSpPr/>
          <p:nvPr/>
        </p:nvSpPr>
        <p:spPr>
          <a:xfrm>
            <a:off x="615950" y="5465750"/>
            <a:ext cx="55023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hasPrerequisites ( [in] forCourseOffering : CourseOffering) : boolean</a:t>
            </a:r>
            <a:endParaRPr sz="1000" u="sng">
              <a:solidFill>
                <a:srgbClr val="000000"/>
              </a:solidFill>
              <a:latin typeface="Arial"/>
              <a:ea typeface="Arial"/>
              <a:cs typeface="Arial"/>
              <a:sym typeface="Arial"/>
            </a:endParaRPr>
          </a:p>
        </p:txBody>
      </p:sp>
      <p:sp>
        <p:nvSpPr>
          <p:cNvPr id="207" name="Google Shape;207;p7"/>
          <p:cNvSpPr/>
          <p:nvPr/>
        </p:nvSpPr>
        <p:spPr>
          <a:xfrm>
            <a:off x="615950" y="5635625"/>
            <a:ext cx="54027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hasPassed ( [in] aCourseOffering : CourseOffering) : boolean</a:t>
            </a:r>
            <a:endParaRPr sz="1000" u="sng">
              <a:solidFill>
                <a:srgbClr val="000000"/>
              </a:solidFill>
              <a:latin typeface="Arial"/>
              <a:ea typeface="Arial"/>
              <a:cs typeface="Arial"/>
              <a:sym typeface="Arial"/>
            </a:endParaRPr>
          </a:p>
        </p:txBody>
      </p:sp>
      <p:sp>
        <p:nvSpPr>
          <p:cNvPr id="208" name="Google Shape;208;p7"/>
          <p:cNvSpPr/>
          <p:nvPr/>
        </p:nvSpPr>
        <p:spPr>
          <a:xfrm>
            <a:off x="615950" y="5807075"/>
            <a:ext cx="1398588"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u="sng">
                <a:solidFill>
                  <a:srgbClr val="000000"/>
                </a:solidFill>
                <a:latin typeface="Arial"/>
                <a:ea typeface="Arial"/>
                <a:cs typeface="Arial"/>
                <a:sym typeface="Arial"/>
              </a:rPr>
              <a:t>+ getNextAvailID() : int</a:t>
            </a:r>
            <a:endParaRPr sz="1000" u="sng">
              <a:solidFill>
                <a:srgbClr val="000000"/>
              </a:solidFill>
              <a:latin typeface="Arial"/>
              <a:ea typeface="Arial"/>
              <a:cs typeface="Arial"/>
              <a:sym typeface="Arial"/>
            </a:endParaRPr>
          </a:p>
        </p:txBody>
      </p:sp>
      <p:sp>
        <p:nvSpPr>
          <p:cNvPr id="209" name="Google Shape;209;p7"/>
          <p:cNvSpPr/>
          <p:nvPr/>
        </p:nvSpPr>
        <p:spPr>
          <a:xfrm>
            <a:off x="615950" y="5976925"/>
            <a:ext cx="4832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getStudentID() : int</a:t>
            </a:r>
            <a:endParaRPr sz="1000" u="sng">
              <a:solidFill>
                <a:srgbClr val="000000"/>
              </a:solidFill>
              <a:latin typeface="Arial"/>
              <a:ea typeface="Arial"/>
              <a:cs typeface="Arial"/>
              <a:sym typeface="Arial"/>
            </a:endParaRPr>
          </a:p>
        </p:txBody>
      </p:sp>
      <p:sp>
        <p:nvSpPr>
          <p:cNvPr id="210" name="Google Shape;210;p7"/>
          <p:cNvSpPr/>
          <p:nvPr/>
        </p:nvSpPr>
        <p:spPr>
          <a:xfrm>
            <a:off x="615950" y="6148375"/>
            <a:ext cx="4547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getName() : String</a:t>
            </a:r>
            <a:endParaRPr sz="1000" u="sng">
              <a:solidFill>
                <a:srgbClr val="000000"/>
              </a:solidFill>
              <a:latin typeface="Arial"/>
              <a:ea typeface="Arial"/>
              <a:cs typeface="Arial"/>
              <a:sym typeface="Arial"/>
            </a:endParaRPr>
          </a:p>
        </p:txBody>
      </p:sp>
      <p:sp>
        <p:nvSpPr>
          <p:cNvPr id="211" name="Google Shape;211;p7"/>
          <p:cNvSpPr/>
          <p:nvPr/>
        </p:nvSpPr>
        <p:spPr>
          <a:xfrm>
            <a:off x="615950" y="6318250"/>
            <a:ext cx="39561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getAddress() : String</a:t>
            </a:r>
            <a:endParaRPr sz="1000" u="sng">
              <a:solidFill>
                <a:srgbClr val="000000"/>
              </a:solidFill>
              <a:latin typeface="Arial"/>
              <a:ea typeface="Arial"/>
              <a:cs typeface="Arial"/>
              <a:sym typeface="Arial"/>
            </a:endParaRPr>
          </a:p>
        </p:txBody>
      </p:sp>
      <p:sp>
        <p:nvSpPr>
          <p:cNvPr id="212" name="Google Shape;212;p7"/>
          <p:cNvSpPr/>
          <p:nvPr/>
        </p:nvSpPr>
        <p:spPr>
          <a:xfrm>
            <a:off x="1500188" y="3263900"/>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0..1</a:t>
            </a:r>
            <a:endParaRPr sz="1200" u="sng">
              <a:solidFill>
                <a:srgbClr val="000000"/>
              </a:solidFill>
              <a:latin typeface="Arial"/>
              <a:ea typeface="Arial"/>
              <a:cs typeface="Arial"/>
              <a:sym typeface="Arial"/>
            </a:endParaRPr>
          </a:p>
        </p:txBody>
      </p:sp>
      <p:sp>
        <p:nvSpPr>
          <p:cNvPr id="213" name="Google Shape;213;p7"/>
          <p:cNvSpPr/>
          <p:nvPr/>
        </p:nvSpPr>
        <p:spPr>
          <a:xfrm>
            <a:off x="1500188" y="3884612"/>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0..1</a:t>
            </a:r>
            <a:endParaRPr sz="1200" u="sng">
              <a:solidFill>
                <a:srgbClr val="000000"/>
              </a:solidFill>
              <a:latin typeface="Arial"/>
              <a:ea typeface="Arial"/>
              <a:cs typeface="Arial"/>
              <a:sym typeface="Arial"/>
            </a:endParaRPr>
          </a:p>
        </p:txBody>
      </p:sp>
      <p:sp>
        <p:nvSpPr>
          <p:cNvPr id="214" name="Google Shape;214;p7"/>
          <p:cNvSpPr/>
          <p:nvPr/>
        </p:nvSpPr>
        <p:spPr>
          <a:xfrm>
            <a:off x="598488" y="3840162"/>
            <a:ext cx="772647"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registrant</a:t>
            </a:r>
            <a:endParaRPr sz="1200" u="sng">
              <a:solidFill>
                <a:srgbClr val="000000"/>
              </a:solidFill>
              <a:latin typeface="Arial"/>
              <a:ea typeface="Arial"/>
              <a:cs typeface="Arial"/>
              <a:sym typeface="Arial"/>
            </a:endParaRPr>
          </a:p>
        </p:txBody>
      </p:sp>
      <p:sp>
        <p:nvSpPr>
          <p:cNvPr id="215" name="Google Shape;215;p7"/>
          <p:cNvSpPr/>
          <p:nvPr/>
        </p:nvSpPr>
        <p:spPr>
          <a:xfrm>
            <a:off x="6669088" y="1838325"/>
            <a:ext cx="78548"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1</a:t>
            </a:r>
            <a:endParaRPr sz="1000" u="sng">
              <a:solidFill>
                <a:srgbClr val="000000"/>
              </a:solidFill>
              <a:latin typeface="Arial"/>
              <a:ea typeface="Arial"/>
              <a:cs typeface="Arial"/>
              <a:sym typeface="Arial"/>
            </a:endParaRPr>
          </a:p>
        </p:txBody>
      </p:sp>
      <p:sp>
        <p:nvSpPr>
          <p:cNvPr id="216" name="Google Shape;216;p7"/>
          <p:cNvSpPr/>
          <p:nvPr/>
        </p:nvSpPr>
        <p:spPr>
          <a:xfrm>
            <a:off x="6205538" y="1595437"/>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000" u="sng">
              <a:solidFill>
                <a:srgbClr val="000000"/>
              </a:solidFill>
              <a:latin typeface="Arial"/>
              <a:ea typeface="Arial"/>
              <a:cs typeface="Arial"/>
              <a:sym typeface="Arial"/>
            </a:endParaRPr>
          </a:p>
        </p:txBody>
      </p:sp>
      <p:sp>
        <p:nvSpPr>
          <p:cNvPr id="217" name="Google Shape;217;p7"/>
          <p:cNvSpPr/>
          <p:nvPr/>
        </p:nvSpPr>
        <p:spPr>
          <a:xfrm>
            <a:off x="577850" y="1350962"/>
            <a:ext cx="5565775" cy="183515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18" name="Google Shape;218;p7"/>
          <p:cNvSpPr/>
          <p:nvPr/>
        </p:nvSpPr>
        <p:spPr>
          <a:xfrm>
            <a:off x="2616200" y="1563687"/>
            <a:ext cx="1481175"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RegistrationController</a:t>
            </a:r>
            <a:endParaRPr sz="1200" u="sng">
              <a:solidFill>
                <a:srgbClr val="000000"/>
              </a:solidFill>
              <a:latin typeface="Arial"/>
              <a:ea typeface="Arial"/>
              <a:cs typeface="Arial"/>
              <a:sym typeface="Arial"/>
            </a:endParaRPr>
          </a:p>
        </p:txBody>
      </p:sp>
      <p:sp>
        <p:nvSpPr>
          <p:cNvPr id="219" name="Google Shape;219;p7"/>
          <p:cNvSpPr/>
          <p:nvPr/>
        </p:nvSpPr>
        <p:spPr>
          <a:xfrm>
            <a:off x="577850" y="1905000"/>
            <a:ext cx="5565775" cy="12811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20" name="Google Shape;220;p7"/>
          <p:cNvSpPr/>
          <p:nvPr/>
        </p:nvSpPr>
        <p:spPr>
          <a:xfrm>
            <a:off x="620747" y="1927225"/>
            <a:ext cx="34767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submitSchedule()</a:t>
            </a:r>
            <a:endParaRPr sz="1000" u="sng">
              <a:solidFill>
                <a:srgbClr val="000000"/>
              </a:solidFill>
              <a:latin typeface="Arial"/>
              <a:ea typeface="Arial"/>
              <a:cs typeface="Arial"/>
              <a:sym typeface="Arial"/>
            </a:endParaRPr>
          </a:p>
        </p:txBody>
      </p:sp>
      <p:sp>
        <p:nvSpPr>
          <p:cNvPr id="221" name="Google Shape;221;p7"/>
          <p:cNvSpPr/>
          <p:nvPr/>
        </p:nvSpPr>
        <p:spPr>
          <a:xfrm>
            <a:off x="657221" y="2118502"/>
            <a:ext cx="30351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saveSchedule()</a:t>
            </a:r>
            <a:endParaRPr sz="1000" u="sng">
              <a:solidFill>
                <a:srgbClr val="000000"/>
              </a:solidFill>
              <a:latin typeface="Arial"/>
              <a:ea typeface="Arial"/>
              <a:cs typeface="Arial"/>
              <a:sym typeface="Arial"/>
            </a:endParaRPr>
          </a:p>
        </p:txBody>
      </p:sp>
      <p:sp>
        <p:nvSpPr>
          <p:cNvPr id="222" name="Google Shape;222;p7"/>
          <p:cNvSpPr/>
          <p:nvPr/>
        </p:nvSpPr>
        <p:spPr>
          <a:xfrm>
            <a:off x="620736" y="2268525"/>
            <a:ext cx="51807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getCourseOfferings() : CourseOfferingList</a:t>
            </a:r>
            <a:endParaRPr sz="1000" u="sng">
              <a:solidFill>
                <a:srgbClr val="000000"/>
              </a:solidFill>
              <a:latin typeface="Arial"/>
              <a:ea typeface="Arial"/>
              <a:cs typeface="Arial"/>
              <a:sym typeface="Arial"/>
            </a:endParaRPr>
          </a:p>
        </p:txBody>
      </p:sp>
      <p:sp>
        <p:nvSpPr>
          <p:cNvPr id="223" name="Google Shape;223;p7"/>
          <p:cNvSpPr/>
          <p:nvPr/>
        </p:nvSpPr>
        <p:spPr>
          <a:xfrm>
            <a:off x="620726" y="2439975"/>
            <a:ext cx="59325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getCurrentSchedule ( [in] forStudent : Student, [in] forSemester : Semester) : Schedule</a:t>
            </a:r>
            <a:endParaRPr sz="1000" u="sng">
              <a:solidFill>
                <a:srgbClr val="000000"/>
              </a:solidFill>
              <a:latin typeface="Arial"/>
              <a:ea typeface="Arial"/>
              <a:cs typeface="Arial"/>
              <a:sym typeface="Arial"/>
            </a:endParaRPr>
          </a:p>
        </p:txBody>
      </p:sp>
      <p:sp>
        <p:nvSpPr>
          <p:cNvPr id="224" name="Google Shape;224;p7"/>
          <p:cNvSpPr/>
          <p:nvPr/>
        </p:nvSpPr>
        <p:spPr>
          <a:xfrm>
            <a:off x="620730" y="2609850"/>
            <a:ext cx="2274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deleteCurrentSchedule()</a:t>
            </a:r>
            <a:endParaRPr sz="1000" u="sng">
              <a:solidFill>
                <a:srgbClr val="000000"/>
              </a:solidFill>
              <a:latin typeface="Arial"/>
              <a:ea typeface="Arial"/>
              <a:cs typeface="Arial"/>
              <a:sym typeface="Arial"/>
            </a:endParaRPr>
          </a:p>
        </p:txBody>
      </p:sp>
      <p:sp>
        <p:nvSpPr>
          <p:cNvPr id="225" name="Google Shape;225;p7"/>
          <p:cNvSpPr/>
          <p:nvPr/>
        </p:nvSpPr>
        <p:spPr>
          <a:xfrm>
            <a:off x="603326" y="2813388"/>
            <a:ext cx="2050200" cy="169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new ( [in] forStudentID : String)</a:t>
            </a:r>
            <a:endParaRPr sz="1000" u="sng">
              <a:solidFill>
                <a:srgbClr val="000000"/>
              </a:solidFill>
              <a:latin typeface="Arial"/>
              <a:ea typeface="Arial"/>
              <a:cs typeface="Arial"/>
              <a:sym typeface="Arial"/>
            </a:endParaRPr>
          </a:p>
        </p:txBody>
      </p:sp>
      <p:sp>
        <p:nvSpPr>
          <p:cNvPr id="226" name="Google Shape;226;p7"/>
          <p:cNvSpPr/>
          <p:nvPr/>
        </p:nvSpPr>
        <p:spPr>
          <a:xfrm>
            <a:off x="620713" y="2951162"/>
            <a:ext cx="236122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getStudent ( [in] anID : int) : Student</a:t>
            </a:r>
            <a:endParaRPr sz="1000" u="sng">
              <a:solidFill>
                <a:srgbClr val="000000"/>
              </a:solidFill>
              <a:latin typeface="Arial"/>
              <a:ea typeface="Arial"/>
              <a:cs typeface="Arial"/>
              <a:sym typeface="Arial"/>
            </a:endParaRPr>
          </a:p>
        </p:txBody>
      </p:sp>
      <p:cxnSp>
        <p:nvCxnSpPr>
          <p:cNvPr id="227" name="Google Shape;227;p7"/>
          <p:cNvCxnSpPr/>
          <p:nvPr/>
        </p:nvCxnSpPr>
        <p:spPr>
          <a:xfrm>
            <a:off x="581025" y="1795462"/>
            <a:ext cx="5556250" cy="0"/>
          </a:xfrm>
          <a:prstGeom prst="straightConnector1">
            <a:avLst/>
          </a:prstGeom>
          <a:noFill/>
          <a:ln cap="flat" cmpd="sng" w="12700">
            <a:solidFill>
              <a:srgbClr val="990033"/>
            </a:solidFill>
            <a:prstDash val="solid"/>
            <a:round/>
            <a:headEnd len="med" w="med" type="none"/>
            <a:tailEnd len="med" w="med" type="none"/>
          </a:ln>
        </p:spPr>
      </p:cxnSp>
      <p:grpSp>
        <p:nvGrpSpPr>
          <p:cNvPr id="228" name="Google Shape;228;p7"/>
          <p:cNvGrpSpPr/>
          <p:nvPr/>
        </p:nvGrpSpPr>
        <p:grpSpPr>
          <a:xfrm>
            <a:off x="6865938" y="1350962"/>
            <a:ext cx="1716087" cy="993775"/>
            <a:chOff x="4223" y="634"/>
            <a:chExt cx="1081" cy="626"/>
          </a:xfrm>
        </p:grpSpPr>
        <p:sp>
          <p:nvSpPr>
            <p:cNvPr id="229" name="Google Shape;229;p7"/>
            <p:cNvSpPr/>
            <p:nvPr/>
          </p:nvSpPr>
          <p:spPr>
            <a:xfrm>
              <a:off x="4223" y="634"/>
              <a:ext cx="1076" cy="618"/>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0" name="Google Shape;230;p7"/>
            <p:cNvSpPr/>
            <p:nvPr/>
          </p:nvSpPr>
          <p:spPr>
            <a:xfrm>
              <a:off x="4281" y="768"/>
              <a:ext cx="994" cy="11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ICourseCatalogSystem</a:t>
              </a:r>
              <a:endParaRPr sz="1200" u="sng">
                <a:solidFill>
                  <a:srgbClr val="000000"/>
                </a:solidFill>
                <a:latin typeface="Arial"/>
                <a:ea typeface="Arial"/>
                <a:cs typeface="Arial"/>
                <a:sym typeface="Arial"/>
              </a:endParaRPr>
            </a:p>
          </p:txBody>
        </p:sp>
        <p:sp>
          <p:nvSpPr>
            <p:cNvPr id="231" name="Google Shape;231;p7"/>
            <p:cNvSpPr/>
            <p:nvPr/>
          </p:nvSpPr>
          <p:spPr>
            <a:xfrm>
              <a:off x="4223" y="985"/>
              <a:ext cx="1076" cy="2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232" name="Google Shape;232;p7"/>
            <p:cNvSpPr/>
            <p:nvPr/>
          </p:nvSpPr>
          <p:spPr>
            <a:xfrm>
              <a:off x="4243" y="997"/>
              <a:ext cx="904" cy="1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getCourseOfferings()</a:t>
              </a:r>
              <a:endParaRPr sz="1000" u="sng">
                <a:solidFill>
                  <a:srgbClr val="000000"/>
                </a:solidFill>
                <a:latin typeface="Arial"/>
                <a:ea typeface="Arial"/>
                <a:cs typeface="Arial"/>
                <a:sym typeface="Arial"/>
              </a:endParaRPr>
            </a:p>
          </p:txBody>
        </p:sp>
        <p:sp>
          <p:nvSpPr>
            <p:cNvPr id="233" name="Google Shape;233;p7"/>
            <p:cNvSpPr/>
            <p:nvPr/>
          </p:nvSpPr>
          <p:spPr>
            <a:xfrm>
              <a:off x="4243" y="1105"/>
              <a:ext cx="448" cy="10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initialize()</a:t>
              </a:r>
              <a:endParaRPr sz="1000" u="sng">
                <a:solidFill>
                  <a:srgbClr val="000000"/>
                </a:solidFill>
                <a:latin typeface="Arial"/>
                <a:ea typeface="Arial"/>
                <a:cs typeface="Arial"/>
                <a:sym typeface="Arial"/>
              </a:endParaRPr>
            </a:p>
          </p:txBody>
        </p:sp>
        <p:sp>
          <p:nvSpPr>
            <p:cNvPr id="234" name="Google Shape;234;p7"/>
            <p:cNvSpPr/>
            <p:nvPr/>
          </p:nvSpPr>
          <p:spPr>
            <a:xfrm>
              <a:off x="4492" y="661"/>
              <a:ext cx="550" cy="10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&lt;&lt;Interface&gt;&gt;</a:t>
              </a:r>
              <a:endParaRPr sz="1000" u="sng">
                <a:solidFill>
                  <a:srgbClr val="000000"/>
                </a:solidFill>
                <a:latin typeface="Arial"/>
                <a:ea typeface="Arial"/>
                <a:cs typeface="Arial"/>
                <a:sym typeface="Arial"/>
              </a:endParaRPr>
            </a:p>
          </p:txBody>
        </p:sp>
        <p:cxnSp>
          <p:nvCxnSpPr>
            <p:cNvPr id="235" name="Google Shape;235;p7"/>
            <p:cNvCxnSpPr/>
            <p:nvPr/>
          </p:nvCxnSpPr>
          <p:spPr>
            <a:xfrm>
              <a:off x="4224" y="916"/>
              <a:ext cx="1080" cy="0"/>
            </a:xfrm>
            <a:prstGeom prst="straightConnector1">
              <a:avLst/>
            </a:prstGeom>
            <a:noFill/>
            <a:ln cap="flat" cmpd="sng" w="12700">
              <a:solidFill>
                <a:srgbClr val="990033"/>
              </a:solidFill>
              <a:prstDash val="solid"/>
              <a:round/>
              <a:headEnd len="med" w="med" type="none"/>
              <a:tailEnd len="med" w="med" type="none"/>
            </a:ln>
          </p:spPr>
        </p:cxnSp>
      </p:grpSp>
      <p:cxnSp>
        <p:nvCxnSpPr>
          <p:cNvPr id="236" name="Google Shape;236;p7"/>
          <p:cNvCxnSpPr/>
          <p:nvPr/>
        </p:nvCxnSpPr>
        <p:spPr>
          <a:xfrm>
            <a:off x="574675" y="4630737"/>
            <a:ext cx="4438650" cy="0"/>
          </a:xfrm>
          <a:prstGeom prst="straightConnector1">
            <a:avLst/>
          </a:prstGeom>
          <a:noFill/>
          <a:ln cap="flat" cmpd="sng" w="12700">
            <a:solidFill>
              <a:srgbClr val="990033"/>
            </a:solidFill>
            <a:prstDash val="solid"/>
            <a:round/>
            <a:headEnd len="med" w="med" type="none"/>
            <a:tailEnd len="med" w="med" type="none"/>
          </a:ln>
        </p:spPr>
      </p:cxnSp>
      <p:cxnSp>
        <p:nvCxnSpPr>
          <p:cNvPr id="237" name="Google Shape;237;p7"/>
          <p:cNvCxnSpPr/>
          <p:nvPr/>
        </p:nvCxnSpPr>
        <p:spPr>
          <a:xfrm>
            <a:off x="573088" y="4751387"/>
            <a:ext cx="4441825" cy="0"/>
          </a:xfrm>
          <a:prstGeom prst="straightConnector1">
            <a:avLst/>
          </a:prstGeom>
          <a:noFill/>
          <a:ln cap="flat" cmpd="sng" w="12700">
            <a:solidFill>
              <a:srgbClr val="990033"/>
            </a:solidFill>
            <a:prstDash val="solid"/>
            <a:round/>
            <a:headEnd len="med" w="med" type="none"/>
            <a:tailEnd len="med" w="med" type="none"/>
          </a:ln>
        </p:spPr>
      </p:cxnSp>
      <p:sp>
        <p:nvSpPr>
          <p:cNvPr id="238" name="Google Shape;238;p7"/>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8"/>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More Notations…</a:t>
            </a:r>
            <a:endParaRPr/>
          </a:p>
        </p:txBody>
      </p:sp>
      <p:sp>
        <p:nvSpPr>
          <p:cNvPr id="244" name="Google Shape;244;p8"/>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245" name="Google Shape;245;p8"/>
          <p:cNvGrpSpPr/>
          <p:nvPr/>
        </p:nvGrpSpPr>
        <p:grpSpPr>
          <a:xfrm>
            <a:off x="1219200" y="2133600"/>
            <a:ext cx="2209800" cy="1828800"/>
            <a:chOff x="624" y="1872"/>
            <a:chExt cx="1104" cy="1152"/>
          </a:xfrm>
        </p:grpSpPr>
        <p:sp>
          <p:nvSpPr>
            <p:cNvPr id="246" name="Google Shape;246;p8"/>
            <p:cNvSpPr/>
            <p:nvPr/>
          </p:nvSpPr>
          <p:spPr>
            <a:xfrm>
              <a:off x="624" y="1872"/>
              <a:ext cx="1104" cy="384"/>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Name</a:t>
              </a:r>
              <a:endParaRPr/>
            </a:p>
          </p:txBody>
        </p:sp>
        <p:sp>
          <p:nvSpPr>
            <p:cNvPr id="247" name="Google Shape;247;p8"/>
            <p:cNvSpPr/>
            <p:nvPr/>
          </p:nvSpPr>
          <p:spPr>
            <a:xfrm>
              <a:off x="624" y="2640"/>
              <a:ext cx="1104" cy="384"/>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Operation(s)</a:t>
              </a:r>
              <a:endParaRPr/>
            </a:p>
          </p:txBody>
        </p:sp>
        <p:sp>
          <p:nvSpPr>
            <p:cNvPr id="248" name="Google Shape;248;p8"/>
            <p:cNvSpPr/>
            <p:nvPr/>
          </p:nvSpPr>
          <p:spPr>
            <a:xfrm>
              <a:off x="624" y="2256"/>
              <a:ext cx="1104" cy="384"/>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Attribute(s)</a:t>
              </a:r>
              <a:endParaRPr/>
            </a:p>
          </p:txBody>
        </p:sp>
      </p:grpSp>
      <p:sp>
        <p:nvSpPr>
          <p:cNvPr id="249" name="Google Shape;249;p8"/>
          <p:cNvSpPr/>
          <p:nvPr/>
        </p:nvSpPr>
        <p:spPr>
          <a:xfrm>
            <a:off x="4343400" y="1371600"/>
            <a:ext cx="4267200" cy="1066800"/>
          </a:xfrm>
          <a:prstGeom prst="wedgeRoundRectCallout">
            <a:avLst>
              <a:gd fmla="val -72852" name="adj1"/>
              <a:gd fmla="val 50894" name="adj2"/>
              <a:gd fmla="val 16667" name="adj3"/>
            </a:avLst>
          </a:prstGeom>
          <a:gradFill>
            <a:gsLst>
              <a:gs pos="0">
                <a:srgbClr val="8DA9FF"/>
              </a:gs>
              <a:gs pos="35000">
                <a:srgbClr val="AFC1FF"/>
              </a:gs>
              <a:gs pos="100000">
                <a:srgbClr val="DEE5FF"/>
              </a:gs>
            </a:gsLst>
            <a:lin ang="16200000" scaled="0"/>
          </a:gradFill>
          <a:ln cap="flat" cmpd="sng" w="9525">
            <a:solidFill>
              <a:srgbClr val="2B62D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Regular: a regular class</a:t>
            </a:r>
            <a:endParaRPr/>
          </a:p>
          <a:p>
            <a:pPr indent="0" lvl="0" marL="0" marR="0" rtl="0" algn="l">
              <a:spcBef>
                <a:spcPts val="0"/>
              </a:spcBef>
              <a:spcAft>
                <a:spcPts val="0"/>
              </a:spcAft>
              <a:buNone/>
            </a:pPr>
            <a:r>
              <a:rPr i="1" lang="en-US" sz="1800">
                <a:solidFill>
                  <a:srgbClr val="000000"/>
                </a:solidFill>
                <a:latin typeface="Arial"/>
                <a:ea typeface="Arial"/>
                <a:cs typeface="Arial"/>
                <a:sym typeface="Arial"/>
              </a:rPr>
              <a:t>Italic</a:t>
            </a:r>
            <a:r>
              <a:rPr lang="en-US" sz="1800">
                <a:solidFill>
                  <a:srgbClr val="000000"/>
                </a:solidFill>
                <a:latin typeface="Arial"/>
                <a:ea typeface="Arial"/>
                <a:cs typeface="Arial"/>
                <a:sym typeface="Arial"/>
              </a:rPr>
              <a:t>: an abstract class/an interface</a:t>
            </a:r>
            <a:endParaRPr/>
          </a:p>
          <a:p>
            <a:pPr indent="0" lvl="0" marL="0" marR="0" rtl="0" algn="l">
              <a:spcBef>
                <a:spcPts val="0"/>
              </a:spcBef>
              <a:spcAft>
                <a:spcPts val="0"/>
              </a:spcAft>
              <a:buNone/>
            </a:pPr>
            <a:r>
              <a:rPr lang="en-US" sz="1800" u="sng">
                <a:solidFill>
                  <a:srgbClr val="000000"/>
                </a:solidFill>
                <a:latin typeface="Arial"/>
                <a:ea typeface="Arial"/>
                <a:cs typeface="Arial"/>
                <a:sym typeface="Arial"/>
              </a:rPr>
              <a:t>Underlined</a:t>
            </a:r>
            <a:r>
              <a:rPr lang="en-US" sz="1800">
                <a:solidFill>
                  <a:srgbClr val="000000"/>
                </a:solidFill>
                <a:latin typeface="Arial"/>
                <a:ea typeface="Arial"/>
                <a:cs typeface="Arial"/>
                <a:sym typeface="Arial"/>
              </a:rPr>
              <a:t>: an object (not a class)</a:t>
            </a:r>
            <a:endParaRPr sz="1800" u="sng">
              <a:solidFill>
                <a:srgbClr val="000000"/>
              </a:solidFill>
              <a:latin typeface="Arial"/>
              <a:ea typeface="Arial"/>
              <a:cs typeface="Arial"/>
              <a:sym typeface="Arial"/>
            </a:endParaRPr>
          </a:p>
        </p:txBody>
      </p:sp>
      <p:sp>
        <p:nvSpPr>
          <p:cNvPr id="250" name="Google Shape;250;p8"/>
          <p:cNvSpPr/>
          <p:nvPr/>
        </p:nvSpPr>
        <p:spPr>
          <a:xfrm>
            <a:off x="4343400" y="2667000"/>
            <a:ext cx="4267200" cy="1066800"/>
          </a:xfrm>
          <a:prstGeom prst="wedgeRoundRectCallout">
            <a:avLst>
              <a:gd fmla="val -75264" name="adj1"/>
              <a:gd fmla="val -6995" name="adj2"/>
              <a:gd fmla="val 16667" name="adj3"/>
            </a:avLst>
          </a:prstGeom>
          <a:gradFill>
            <a:gsLst>
              <a:gs pos="0">
                <a:srgbClr val="8DA9FF"/>
              </a:gs>
              <a:gs pos="35000">
                <a:srgbClr val="AFC1FF"/>
              </a:gs>
              <a:gs pos="100000">
                <a:srgbClr val="DEE5FF"/>
              </a:gs>
            </a:gsLst>
            <a:lin ang="16200000" scaled="0"/>
          </a:gradFill>
          <a:ln cap="flat" cmpd="sng" w="9525">
            <a:solidFill>
              <a:srgbClr val="2B62D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Regular: a regular attribute</a:t>
            </a:r>
            <a:endParaRPr/>
          </a:p>
          <a:p>
            <a:pPr indent="0" lvl="0" marL="0" marR="0" rtl="0" algn="l">
              <a:spcBef>
                <a:spcPts val="0"/>
              </a:spcBef>
              <a:spcAft>
                <a:spcPts val="0"/>
              </a:spcAft>
              <a:buNone/>
            </a:pPr>
            <a:r>
              <a:rPr i="1" lang="en-US" sz="1800">
                <a:solidFill>
                  <a:srgbClr val="000000"/>
                </a:solidFill>
                <a:latin typeface="Arial"/>
                <a:ea typeface="Arial"/>
                <a:cs typeface="Arial"/>
                <a:sym typeface="Arial"/>
              </a:rPr>
              <a:t>Italic</a:t>
            </a:r>
            <a:r>
              <a:rPr lang="en-US" sz="1800">
                <a:solidFill>
                  <a:srgbClr val="000000"/>
                </a:solidFill>
                <a:latin typeface="Arial"/>
                <a:ea typeface="Arial"/>
                <a:cs typeface="Arial"/>
                <a:sym typeface="Arial"/>
              </a:rPr>
              <a:t>: N/A</a:t>
            </a:r>
            <a:endParaRPr/>
          </a:p>
          <a:p>
            <a:pPr indent="0" lvl="0" marL="0" marR="0" rtl="0" algn="l">
              <a:spcBef>
                <a:spcPts val="0"/>
              </a:spcBef>
              <a:spcAft>
                <a:spcPts val="0"/>
              </a:spcAft>
              <a:buNone/>
            </a:pPr>
            <a:r>
              <a:rPr lang="en-US" sz="1800" u="sng">
                <a:solidFill>
                  <a:srgbClr val="000000"/>
                </a:solidFill>
                <a:latin typeface="Arial"/>
                <a:ea typeface="Arial"/>
                <a:cs typeface="Arial"/>
                <a:sym typeface="Arial"/>
              </a:rPr>
              <a:t>Underlined</a:t>
            </a:r>
            <a:r>
              <a:rPr lang="en-US" sz="1800">
                <a:solidFill>
                  <a:srgbClr val="000000"/>
                </a:solidFill>
                <a:latin typeface="Arial"/>
                <a:ea typeface="Arial"/>
                <a:cs typeface="Arial"/>
                <a:sym typeface="Arial"/>
              </a:rPr>
              <a:t>: a static attribute</a:t>
            </a:r>
            <a:endParaRPr/>
          </a:p>
        </p:txBody>
      </p:sp>
      <p:sp>
        <p:nvSpPr>
          <p:cNvPr id="251" name="Google Shape;251;p8"/>
          <p:cNvSpPr/>
          <p:nvPr/>
        </p:nvSpPr>
        <p:spPr>
          <a:xfrm>
            <a:off x="4419600" y="3886200"/>
            <a:ext cx="4191000" cy="1066800"/>
          </a:xfrm>
          <a:prstGeom prst="wedgeRoundRectCallout">
            <a:avLst>
              <a:gd fmla="val -75569" name="adj1"/>
              <a:gd fmla="val -73662" name="adj2"/>
              <a:gd fmla="val 16667" name="adj3"/>
            </a:avLst>
          </a:prstGeom>
          <a:gradFill>
            <a:gsLst>
              <a:gs pos="0">
                <a:srgbClr val="8DA9FF"/>
              </a:gs>
              <a:gs pos="35000">
                <a:srgbClr val="AFC1FF"/>
              </a:gs>
              <a:gs pos="100000">
                <a:srgbClr val="DEE5FF"/>
              </a:gs>
            </a:gsLst>
            <a:lin ang="16200000" scaled="0"/>
          </a:gradFill>
          <a:ln cap="flat" cmpd="sng" w="9525">
            <a:solidFill>
              <a:srgbClr val="2B62D1"/>
            </a:solidFill>
            <a:prstDash val="solid"/>
            <a:round/>
            <a:headEnd len="sm" w="sm" type="none"/>
            <a:tailEnd len="sm" w="sm" type="none"/>
          </a:ln>
          <a:effectLst>
            <a:outerShdw blurRad="40000" rotWithShape="0" dir="5400000" dist="20000">
              <a:srgbClr val="000000">
                <a:alpha val="37647"/>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Arial"/>
                <a:ea typeface="Arial"/>
                <a:cs typeface="Arial"/>
                <a:sym typeface="Arial"/>
              </a:rPr>
              <a:t>Regular: a regular operation</a:t>
            </a:r>
            <a:endParaRPr/>
          </a:p>
          <a:p>
            <a:pPr indent="0" lvl="0" marL="0" marR="0" rtl="0" algn="l">
              <a:spcBef>
                <a:spcPts val="0"/>
              </a:spcBef>
              <a:spcAft>
                <a:spcPts val="0"/>
              </a:spcAft>
              <a:buNone/>
            </a:pPr>
            <a:r>
              <a:rPr i="1" lang="en-US" sz="1800">
                <a:solidFill>
                  <a:srgbClr val="000000"/>
                </a:solidFill>
                <a:latin typeface="Arial"/>
                <a:ea typeface="Arial"/>
                <a:cs typeface="Arial"/>
                <a:sym typeface="Arial"/>
              </a:rPr>
              <a:t>Italic</a:t>
            </a:r>
            <a:r>
              <a:rPr lang="en-US" sz="1800">
                <a:solidFill>
                  <a:srgbClr val="000000"/>
                </a:solidFill>
                <a:latin typeface="Arial"/>
                <a:ea typeface="Arial"/>
                <a:cs typeface="Arial"/>
                <a:sym typeface="Arial"/>
              </a:rPr>
              <a:t>: a virtual/override operation</a:t>
            </a:r>
            <a:endParaRPr/>
          </a:p>
          <a:p>
            <a:pPr indent="0" lvl="0" marL="0" marR="0" rtl="0" algn="l">
              <a:spcBef>
                <a:spcPts val="0"/>
              </a:spcBef>
              <a:spcAft>
                <a:spcPts val="0"/>
              </a:spcAft>
              <a:buNone/>
            </a:pPr>
            <a:r>
              <a:rPr lang="en-US" sz="1800" u="sng">
                <a:solidFill>
                  <a:srgbClr val="000000"/>
                </a:solidFill>
                <a:latin typeface="Arial"/>
                <a:ea typeface="Arial"/>
                <a:cs typeface="Arial"/>
                <a:sym typeface="Arial"/>
              </a:rPr>
              <a:t>Underlined</a:t>
            </a:r>
            <a:r>
              <a:rPr lang="en-US" sz="1800">
                <a:solidFill>
                  <a:srgbClr val="000000"/>
                </a:solidFill>
                <a:latin typeface="Arial"/>
                <a:ea typeface="Arial"/>
                <a:cs typeface="Arial"/>
                <a:sym typeface="Arial"/>
              </a:rPr>
              <a:t>: a static operation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9"/>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Define Associations</a:t>
            </a:r>
            <a:endParaRPr/>
          </a:p>
        </p:txBody>
      </p:sp>
      <p:sp>
        <p:nvSpPr>
          <p:cNvPr id="257" name="Google Shape;257;p9"/>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Purpose</a:t>
            </a:r>
            <a:endParaRPr/>
          </a:p>
          <a:p>
            <a:pPr indent="-285750" lvl="1" marL="742950" rtl="0" algn="l">
              <a:spcBef>
                <a:spcPts val="400"/>
              </a:spcBef>
              <a:spcAft>
                <a:spcPts val="0"/>
              </a:spcAft>
              <a:buSzPts val="1000"/>
              <a:buChar char="🞇"/>
            </a:pPr>
            <a:r>
              <a:rPr lang="en-US" sz="2000"/>
              <a:t>Refine remaining associations</a:t>
            </a:r>
            <a:endParaRPr/>
          </a:p>
          <a:p>
            <a:pPr indent="-342900" lvl="0" marL="342900" rtl="0" algn="l">
              <a:spcBef>
                <a:spcPts val="400"/>
              </a:spcBef>
              <a:spcAft>
                <a:spcPts val="0"/>
              </a:spcAft>
              <a:buClr>
                <a:srgbClr val="000000"/>
              </a:buClr>
              <a:buSzPts val="2000"/>
              <a:buChar char="❖"/>
            </a:pPr>
            <a:r>
              <a:rPr lang="en-US" sz="2000"/>
              <a:t>Things to look for :</a:t>
            </a:r>
            <a:endParaRPr/>
          </a:p>
          <a:p>
            <a:pPr indent="-285750" lvl="1" marL="742950" rtl="0" algn="l">
              <a:spcBef>
                <a:spcPts val="400"/>
              </a:spcBef>
              <a:spcAft>
                <a:spcPts val="0"/>
              </a:spcAft>
              <a:buSzPts val="1000"/>
              <a:buChar char="🞇"/>
            </a:pPr>
            <a:r>
              <a:rPr lang="en-US" sz="2000"/>
              <a:t>Association vs. Aggregation</a:t>
            </a:r>
            <a:endParaRPr/>
          </a:p>
          <a:p>
            <a:pPr indent="-285750" lvl="1" marL="742950" rtl="0" algn="l">
              <a:spcBef>
                <a:spcPts val="400"/>
              </a:spcBef>
              <a:spcAft>
                <a:spcPts val="0"/>
              </a:spcAft>
              <a:buSzPts val="1000"/>
              <a:buChar char="🞇"/>
            </a:pPr>
            <a:r>
              <a:rPr lang="en-US" sz="2000"/>
              <a:t>Aggregation vs. Composition</a:t>
            </a:r>
            <a:endParaRPr/>
          </a:p>
          <a:p>
            <a:pPr indent="-285750" lvl="1" marL="742950" rtl="0" algn="l">
              <a:spcBef>
                <a:spcPts val="400"/>
              </a:spcBef>
              <a:spcAft>
                <a:spcPts val="0"/>
              </a:spcAft>
              <a:buSzPts val="1000"/>
              <a:buChar char="🞇"/>
            </a:pPr>
            <a:r>
              <a:rPr lang="en-US" sz="2000"/>
              <a:t>Attribute vs. Association</a:t>
            </a:r>
            <a:endParaRPr/>
          </a:p>
          <a:p>
            <a:pPr indent="-285750" lvl="1" marL="742950" rtl="0" algn="l">
              <a:spcBef>
                <a:spcPts val="400"/>
              </a:spcBef>
              <a:spcAft>
                <a:spcPts val="0"/>
              </a:spcAft>
              <a:buSzPts val="1000"/>
              <a:buChar char="🞇"/>
            </a:pPr>
            <a:r>
              <a:rPr lang="en-US" sz="2000"/>
              <a:t>Navigability</a:t>
            </a:r>
            <a:endParaRPr/>
          </a:p>
          <a:p>
            <a:pPr indent="-285750" lvl="1" marL="742950" rtl="0" algn="l">
              <a:spcBef>
                <a:spcPts val="400"/>
              </a:spcBef>
              <a:spcAft>
                <a:spcPts val="0"/>
              </a:spcAft>
              <a:buSzPts val="1000"/>
              <a:buChar char="🞇"/>
            </a:pPr>
            <a:r>
              <a:rPr lang="en-US" sz="2000"/>
              <a:t>Association class design</a:t>
            </a:r>
            <a:endParaRPr/>
          </a:p>
          <a:p>
            <a:pPr indent="-285750" lvl="1" marL="742950" rtl="0" algn="l">
              <a:spcBef>
                <a:spcPts val="400"/>
              </a:spcBef>
              <a:spcAft>
                <a:spcPts val="0"/>
              </a:spcAft>
              <a:buSzPts val="1000"/>
              <a:buChar char="🞇"/>
            </a:pPr>
            <a:r>
              <a:rPr lang="en-US" sz="2000"/>
              <a:t>Multiplicity design</a:t>
            </a:r>
            <a:endParaRPr/>
          </a:p>
        </p:txBody>
      </p:sp>
      <p:pic>
        <p:nvPicPr>
          <p:cNvPr descr="pe01530_" id="258" name="Google Shape;258;p9"/>
          <p:cNvPicPr preferRelativeResize="0"/>
          <p:nvPr/>
        </p:nvPicPr>
        <p:blipFill rotWithShape="1">
          <a:blip r:embed="rId3">
            <a:alphaModFix/>
          </a:blip>
          <a:srcRect b="0" l="0" r="0" t="0"/>
          <a:stretch/>
        </p:blipFill>
        <p:spPr>
          <a:xfrm>
            <a:off x="5913438" y="2532063"/>
            <a:ext cx="2925762" cy="2681287"/>
          </a:xfrm>
          <a:prstGeom prst="rect">
            <a:avLst/>
          </a:prstGeom>
          <a:noFill/>
          <a:ln>
            <a:noFill/>
          </a:ln>
        </p:spPr>
      </p:pic>
      <p:sp>
        <p:nvSpPr>
          <p:cNvPr id="259" name="Google Shape;259;p9"/>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0"/>
          <p:cNvSpPr/>
          <p:nvPr/>
        </p:nvSpPr>
        <p:spPr>
          <a:xfrm>
            <a:off x="6653213" y="4127500"/>
            <a:ext cx="1209675" cy="1068388"/>
          </a:xfrm>
          <a:custGeom>
            <a:rect b="b" l="l" r="r" t="t"/>
            <a:pathLst>
              <a:path extrusionOk="0" h="673" w="794">
                <a:moveTo>
                  <a:pt x="399" y="0"/>
                </a:moveTo>
                <a:lnTo>
                  <a:pt x="794" y="0"/>
                </a:lnTo>
                <a:lnTo>
                  <a:pt x="794" y="673"/>
                </a:lnTo>
                <a:lnTo>
                  <a:pt x="0" y="673"/>
                </a:lnTo>
                <a:lnTo>
                  <a:pt x="0" y="372"/>
                </a:lnTo>
              </a:path>
            </a:pathLst>
          </a:custGeom>
          <a:noFill/>
          <a:ln cap="flat" cmpd="sng" w="28575">
            <a:solidFill>
              <a:schemeClr val="dk1"/>
            </a:solidFill>
            <a:prstDash val="solid"/>
            <a:round/>
            <a:headEnd len="sm" w="sm" type="none"/>
            <a:tailEnd len="med" w="med" type="stealth"/>
          </a:ln>
        </p:spPr>
        <p:txBody>
          <a:bodyPr anchorCtr="0" anchor="t" bIns="53975" lIns="107950" spcFirstLastPara="1" rIns="107950" wrap="square" tIns="53975">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267" name="Google Shape;267;p10"/>
          <p:cNvCxnSpPr/>
          <p:nvPr/>
        </p:nvCxnSpPr>
        <p:spPr>
          <a:xfrm>
            <a:off x="2454275" y="4114800"/>
            <a:ext cx="1498600" cy="1588"/>
          </a:xfrm>
          <a:prstGeom prst="straightConnector1">
            <a:avLst/>
          </a:prstGeom>
          <a:noFill/>
          <a:ln cap="flat" cmpd="sng" w="28575">
            <a:solidFill>
              <a:schemeClr val="dk1"/>
            </a:solidFill>
            <a:prstDash val="solid"/>
            <a:round/>
            <a:headEnd len="med" w="med" type="none"/>
            <a:tailEnd len="med" w="med" type="none"/>
          </a:ln>
        </p:spPr>
      </p:cxnSp>
      <p:sp>
        <p:nvSpPr>
          <p:cNvPr id="268" name="Google Shape;268;p10"/>
          <p:cNvSpPr txBox="1"/>
          <p:nvPr>
            <p:ph type="title"/>
          </p:nvPr>
        </p:nvSpPr>
        <p:spPr>
          <a:xfrm>
            <a:off x="1447800" y="206375"/>
            <a:ext cx="68580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What Is an Association?</a:t>
            </a:r>
            <a:endParaRPr/>
          </a:p>
        </p:txBody>
      </p:sp>
      <p:sp>
        <p:nvSpPr>
          <p:cNvPr id="269" name="Google Shape;269;p10"/>
          <p:cNvSpPr txBox="1"/>
          <p:nvPr>
            <p:ph idx="1" type="body"/>
          </p:nvPr>
        </p:nvSpPr>
        <p:spPr>
          <a:xfrm>
            <a:off x="184150" y="1366838"/>
            <a:ext cx="8775700" cy="2671762"/>
          </a:xfrm>
          <a:prstGeom prst="rect">
            <a:avLst/>
          </a:prstGeom>
          <a:noFill/>
          <a:ln>
            <a:noFill/>
          </a:ln>
        </p:spPr>
        <p:txBody>
          <a:bodyPr anchorCtr="0" anchor="t" bIns="53975" lIns="107950" spcFirstLastPara="1" rIns="107950" wrap="square" tIns="53975">
            <a:noAutofit/>
          </a:bodyPr>
          <a:lstStyle/>
          <a:p>
            <a:pPr indent="-285750" lvl="1" marL="742950" rtl="0" algn="l">
              <a:lnSpc>
                <a:spcPct val="80000"/>
              </a:lnSpc>
              <a:spcBef>
                <a:spcPts val="0"/>
              </a:spcBef>
              <a:spcAft>
                <a:spcPts val="0"/>
              </a:spcAft>
              <a:buClr>
                <a:srgbClr val="FFFF99"/>
              </a:buClr>
              <a:buSzPts val="1000"/>
              <a:buFont typeface="Noto Sans Symbols"/>
              <a:buChar char="⬥"/>
            </a:pPr>
            <a:r>
              <a:rPr lang="en-US" sz="2000"/>
              <a:t>The semantic relationship between two or more classifiers that specifies connections among their instances </a:t>
            </a:r>
            <a:endParaRPr/>
          </a:p>
          <a:p>
            <a:pPr indent="-285750" lvl="1" marL="742950" rtl="0" algn="l">
              <a:spcBef>
                <a:spcPts val="400"/>
              </a:spcBef>
              <a:spcAft>
                <a:spcPts val="0"/>
              </a:spcAft>
              <a:buSzPts val="1000"/>
              <a:buChar char="🞇"/>
            </a:pPr>
            <a:r>
              <a:rPr lang="en-US" sz="2000"/>
              <a:t>A structural relationship, specifying that objects of one thing are connected to objects of another</a:t>
            </a:r>
            <a:endParaRPr/>
          </a:p>
        </p:txBody>
      </p:sp>
      <p:sp>
        <p:nvSpPr>
          <p:cNvPr id="270" name="Google Shape;270;p10"/>
          <p:cNvSpPr/>
          <p:nvPr/>
        </p:nvSpPr>
        <p:spPr>
          <a:xfrm>
            <a:off x="6056313" y="3529013"/>
            <a:ext cx="1250950" cy="11699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1" name="Google Shape;271;p10"/>
          <p:cNvSpPr/>
          <p:nvPr/>
        </p:nvSpPr>
        <p:spPr>
          <a:xfrm>
            <a:off x="6281738" y="3805238"/>
            <a:ext cx="781050" cy="288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900">
                <a:solidFill>
                  <a:srgbClr val="000000"/>
                </a:solidFill>
                <a:latin typeface="Arial"/>
                <a:ea typeface="Arial"/>
                <a:cs typeface="Arial"/>
                <a:sym typeface="Arial"/>
              </a:rPr>
              <a:t>Course</a:t>
            </a:r>
            <a:endParaRPr sz="1000">
              <a:solidFill>
                <a:schemeClr val="dk1"/>
              </a:solidFill>
              <a:latin typeface="Arial"/>
              <a:ea typeface="Arial"/>
              <a:cs typeface="Arial"/>
              <a:sym typeface="Arial"/>
            </a:endParaRPr>
          </a:p>
        </p:txBody>
      </p:sp>
      <p:sp>
        <p:nvSpPr>
          <p:cNvPr id="272" name="Google Shape;272;p10"/>
          <p:cNvSpPr/>
          <p:nvPr/>
        </p:nvSpPr>
        <p:spPr>
          <a:xfrm>
            <a:off x="6056313" y="4181475"/>
            <a:ext cx="1250950"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3" name="Google Shape;273;p10"/>
          <p:cNvSpPr/>
          <p:nvPr/>
        </p:nvSpPr>
        <p:spPr>
          <a:xfrm>
            <a:off x="6056313" y="4343400"/>
            <a:ext cx="1250950" cy="3556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4" name="Google Shape;274;p10"/>
          <p:cNvSpPr/>
          <p:nvPr/>
        </p:nvSpPr>
        <p:spPr>
          <a:xfrm>
            <a:off x="6138863" y="3521075"/>
            <a:ext cx="1143000" cy="288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275" name="Google Shape;275;p10"/>
          <p:cNvSpPr/>
          <p:nvPr/>
        </p:nvSpPr>
        <p:spPr>
          <a:xfrm>
            <a:off x="1587500" y="3529013"/>
            <a:ext cx="1249363" cy="11699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6" name="Google Shape;276;p10"/>
          <p:cNvSpPr/>
          <p:nvPr/>
        </p:nvSpPr>
        <p:spPr>
          <a:xfrm>
            <a:off x="1671638" y="3805238"/>
            <a:ext cx="1055687" cy="288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00">
                <a:solidFill>
                  <a:srgbClr val="000000"/>
                </a:solidFill>
                <a:latin typeface="Arial"/>
                <a:ea typeface="Arial"/>
                <a:cs typeface="Arial"/>
                <a:sym typeface="Arial"/>
              </a:rPr>
              <a:t>Student</a:t>
            </a:r>
            <a:endParaRPr sz="1000">
              <a:solidFill>
                <a:schemeClr val="dk1"/>
              </a:solidFill>
              <a:latin typeface="Arial"/>
              <a:ea typeface="Arial"/>
              <a:cs typeface="Arial"/>
              <a:sym typeface="Arial"/>
            </a:endParaRPr>
          </a:p>
        </p:txBody>
      </p:sp>
      <p:sp>
        <p:nvSpPr>
          <p:cNvPr id="277" name="Google Shape;277;p10"/>
          <p:cNvSpPr/>
          <p:nvPr/>
        </p:nvSpPr>
        <p:spPr>
          <a:xfrm>
            <a:off x="1587500" y="4181475"/>
            <a:ext cx="1249363"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8" name="Google Shape;278;p10"/>
          <p:cNvSpPr/>
          <p:nvPr/>
        </p:nvSpPr>
        <p:spPr>
          <a:xfrm>
            <a:off x="1587500" y="4343400"/>
            <a:ext cx="1249363" cy="3556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9" name="Google Shape;279;p10"/>
          <p:cNvSpPr/>
          <p:nvPr/>
        </p:nvSpPr>
        <p:spPr>
          <a:xfrm>
            <a:off x="1655763" y="3521075"/>
            <a:ext cx="1143000" cy="288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280" name="Google Shape;280;p10"/>
          <p:cNvSpPr/>
          <p:nvPr/>
        </p:nvSpPr>
        <p:spPr>
          <a:xfrm>
            <a:off x="3736975" y="3529013"/>
            <a:ext cx="1249363" cy="11699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1" name="Google Shape;281;p10"/>
          <p:cNvSpPr/>
          <p:nvPr/>
        </p:nvSpPr>
        <p:spPr>
          <a:xfrm>
            <a:off x="3821113" y="3805238"/>
            <a:ext cx="1085850" cy="288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00">
                <a:solidFill>
                  <a:srgbClr val="000000"/>
                </a:solidFill>
                <a:latin typeface="Arial"/>
                <a:ea typeface="Arial"/>
                <a:cs typeface="Arial"/>
                <a:sym typeface="Arial"/>
              </a:rPr>
              <a:t>Schedule</a:t>
            </a:r>
            <a:endParaRPr sz="1000">
              <a:solidFill>
                <a:schemeClr val="dk1"/>
              </a:solidFill>
              <a:latin typeface="Arial"/>
              <a:ea typeface="Arial"/>
              <a:cs typeface="Arial"/>
              <a:sym typeface="Arial"/>
            </a:endParaRPr>
          </a:p>
        </p:txBody>
      </p:sp>
      <p:sp>
        <p:nvSpPr>
          <p:cNvPr id="282" name="Google Shape;282;p10"/>
          <p:cNvSpPr/>
          <p:nvPr/>
        </p:nvSpPr>
        <p:spPr>
          <a:xfrm>
            <a:off x="3736975" y="4181475"/>
            <a:ext cx="1249363" cy="5175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3" name="Google Shape;283;p10"/>
          <p:cNvSpPr/>
          <p:nvPr/>
        </p:nvSpPr>
        <p:spPr>
          <a:xfrm>
            <a:off x="3736975" y="4343400"/>
            <a:ext cx="1249363" cy="3556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84" name="Google Shape;284;p10"/>
          <p:cNvSpPr/>
          <p:nvPr/>
        </p:nvSpPr>
        <p:spPr>
          <a:xfrm>
            <a:off x="3797300" y="3521075"/>
            <a:ext cx="1143000" cy="2889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9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285" name="Google Shape;285;p10"/>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cxnSp>
        <p:nvCxnSpPr>
          <p:cNvPr id="293" name="Google Shape;293;p11"/>
          <p:cNvCxnSpPr/>
          <p:nvPr/>
        </p:nvCxnSpPr>
        <p:spPr>
          <a:xfrm flipH="1">
            <a:off x="2362200" y="4570413"/>
            <a:ext cx="1341438" cy="1587"/>
          </a:xfrm>
          <a:prstGeom prst="straightConnector1">
            <a:avLst/>
          </a:prstGeom>
          <a:noFill/>
          <a:ln cap="flat" cmpd="sng" w="28575">
            <a:solidFill>
              <a:schemeClr val="dk1"/>
            </a:solidFill>
            <a:prstDash val="solid"/>
            <a:round/>
            <a:headEnd len="med" w="med" type="none"/>
            <a:tailEnd len="med" w="med" type="none"/>
          </a:ln>
        </p:spPr>
      </p:cxnSp>
      <p:cxnSp>
        <p:nvCxnSpPr>
          <p:cNvPr id="294" name="Google Shape;294;p11"/>
          <p:cNvCxnSpPr/>
          <p:nvPr/>
        </p:nvCxnSpPr>
        <p:spPr>
          <a:xfrm rot="10800000">
            <a:off x="4446588" y="4597400"/>
            <a:ext cx="2643187" cy="0"/>
          </a:xfrm>
          <a:prstGeom prst="straightConnector1">
            <a:avLst/>
          </a:prstGeom>
          <a:noFill/>
          <a:ln cap="flat" cmpd="sng" w="28575">
            <a:solidFill>
              <a:schemeClr val="dk1"/>
            </a:solidFill>
            <a:prstDash val="solid"/>
            <a:round/>
            <a:headEnd len="med" w="med" type="none"/>
            <a:tailEnd len="med" w="med" type="none"/>
          </a:ln>
        </p:spPr>
      </p:cxnSp>
      <p:sp>
        <p:nvSpPr>
          <p:cNvPr id="295" name="Google Shape;295;p11"/>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What Is Aggregation?</a:t>
            </a:r>
            <a:endParaRPr/>
          </a:p>
        </p:txBody>
      </p:sp>
      <p:sp>
        <p:nvSpPr>
          <p:cNvPr id="296" name="Google Shape;296;p11"/>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A special form of association that models a whole-part relationship between an aggregate (the whole) and its parts</a:t>
            </a:r>
            <a:endParaRPr/>
          </a:p>
        </p:txBody>
      </p:sp>
      <p:sp>
        <p:nvSpPr>
          <p:cNvPr id="297" name="Google Shape;297;p11"/>
          <p:cNvSpPr txBox="1"/>
          <p:nvPr/>
        </p:nvSpPr>
        <p:spPr>
          <a:xfrm>
            <a:off x="542925" y="2667000"/>
            <a:ext cx="2159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FF0000"/>
                </a:solidFill>
                <a:latin typeface="Arial"/>
                <a:ea typeface="Arial"/>
                <a:cs typeface="Arial"/>
                <a:sym typeface="Arial"/>
              </a:rPr>
              <a:t>Whole/aggregate</a:t>
            </a:r>
            <a:endParaRPr/>
          </a:p>
        </p:txBody>
      </p:sp>
      <p:sp>
        <p:nvSpPr>
          <p:cNvPr id="298" name="Google Shape;298;p11"/>
          <p:cNvSpPr txBox="1"/>
          <p:nvPr/>
        </p:nvSpPr>
        <p:spPr>
          <a:xfrm>
            <a:off x="3732213" y="2671763"/>
            <a:ext cx="81438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FF0000"/>
                </a:solidFill>
                <a:latin typeface="Arial"/>
                <a:ea typeface="Arial"/>
                <a:cs typeface="Arial"/>
                <a:sym typeface="Arial"/>
              </a:rPr>
              <a:t>Part</a:t>
            </a:r>
            <a:endParaRPr/>
          </a:p>
        </p:txBody>
      </p:sp>
      <p:cxnSp>
        <p:nvCxnSpPr>
          <p:cNvPr id="299" name="Google Shape;299;p11"/>
          <p:cNvCxnSpPr/>
          <p:nvPr/>
        </p:nvCxnSpPr>
        <p:spPr>
          <a:xfrm>
            <a:off x="1533525" y="3114675"/>
            <a:ext cx="0" cy="914400"/>
          </a:xfrm>
          <a:prstGeom prst="straightConnector1">
            <a:avLst/>
          </a:prstGeom>
          <a:noFill/>
          <a:ln cap="flat" cmpd="sng" w="28575">
            <a:solidFill>
              <a:schemeClr val="hlink"/>
            </a:solidFill>
            <a:prstDash val="solid"/>
            <a:round/>
            <a:headEnd len="sm" w="sm" type="none"/>
            <a:tailEnd len="med" w="med" type="triangle"/>
          </a:ln>
        </p:spPr>
      </p:cxnSp>
      <p:cxnSp>
        <p:nvCxnSpPr>
          <p:cNvPr id="300" name="Google Shape;300;p11"/>
          <p:cNvCxnSpPr/>
          <p:nvPr/>
        </p:nvCxnSpPr>
        <p:spPr>
          <a:xfrm>
            <a:off x="4038600" y="3114675"/>
            <a:ext cx="0" cy="914400"/>
          </a:xfrm>
          <a:prstGeom prst="straightConnector1">
            <a:avLst/>
          </a:prstGeom>
          <a:noFill/>
          <a:ln cap="flat" cmpd="sng" w="28575">
            <a:solidFill>
              <a:schemeClr val="hlink"/>
            </a:solidFill>
            <a:prstDash val="solid"/>
            <a:round/>
            <a:headEnd len="sm" w="sm" type="none"/>
            <a:tailEnd len="med" w="med" type="triangle"/>
          </a:ln>
        </p:spPr>
      </p:cxnSp>
      <p:sp>
        <p:nvSpPr>
          <p:cNvPr id="301" name="Google Shape;301;p11"/>
          <p:cNvSpPr/>
          <p:nvPr/>
        </p:nvSpPr>
        <p:spPr>
          <a:xfrm>
            <a:off x="6199200" y="4267200"/>
            <a:ext cx="604800" cy="27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0..2</a:t>
            </a:r>
            <a:endParaRPr/>
          </a:p>
        </p:txBody>
      </p:sp>
      <p:sp>
        <p:nvSpPr>
          <p:cNvPr id="302" name="Google Shape;302;p11"/>
          <p:cNvSpPr/>
          <p:nvPr/>
        </p:nvSpPr>
        <p:spPr>
          <a:xfrm>
            <a:off x="4724400" y="4267200"/>
            <a:ext cx="751200" cy="27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a:t>
            </a:r>
            <a:endParaRPr/>
          </a:p>
        </p:txBody>
      </p:sp>
      <p:sp>
        <p:nvSpPr>
          <p:cNvPr id="303" name="Google Shape;303;p11"/>
          <p:cNvSpPr/>
          <p:nvPr/>
        </p:nvSpPr>
        <p:spPr>
          <a:xfrm>
            <a:off x="6883400" y="4113213"/>
            <a:ext cx="1566863" cy="9667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4" name="Google Shape;304;p11"/>
          <p:cNvSpPr/>
          <p:nvPr/>
        </p:nvSpPr>
        <p:spPr>
          <a:xfrm>
            <a:off x="6943725" y="4370388"/>
            <a:ext cx="1466850" cy="25876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CourseOffering</a:t>
            </a:r>
            <a:endParaRPr sz="1000">
              <a:solidFill>
                <a:schemeClr val="dk1"/>
              </a:solidFill>
              <a:latin typeface="Arial"/>
              <a:ea typeface="Arial"/>
              <a:cs typeface="Arial"/>
              <a:sym typeface="Arial"/>
            </a:endParaRPr>
          </a:p>
        </p:txBody>
      </p:sp>
      <p:sp>
        <p:nvSpPr>
          <p:cNvPr id="305" name="Google Shape;305;p11"/>
          <p:cNvSpPr/>
          <p:nvPr/>
        </p:nvSpPr>
        <p:spPr>
          <a:xfrm>
            <a:off x="6883400" y="4746625"/>
            <a:ext cx="1566863" cy="33337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6" name="Google Shape;306;p11"/>
          <p:cNvSpPr/>
          <p:nvPr/>
        </p:nvSpPr>
        <p:spPr>
          <a:xfrm>
            <a:off x="6883400" y="4879975"/>
            <a:ext cx="1566863" cy="2000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7" name="Google Shape;307;p11"/>
          <p:cNvSpPr/>
          <p:nvPr/>
        </p:nvSpPr>
        <p:spPr>
          <a:xfrm>
            <a:off x="7127875" y="4116400"/>
            <a:ext cx="1282800" cy="25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308" name="Google Shape;308;p11"/>
          <p:cNvSpPr/>
          <p:nvPr/>
        </p:nvSpPr>
        <p:spPr>
          <a:xfrm>
            <a:off x="3541713" y="4113213"/>
            <a:ext cx="1108075" cy="9667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09" name="Google Shape;309;p11"/>
          <p:cNvSpPr/>
          <p:nvPr/>
        </p:nvSpPr>
        <p:spPr>
          <a:xfrm>
            <a:off x="3643313" y="4370388"/>
            <a:ext cx="903287" cy="25876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Schedule</a:t>
            </a:r>
            <a:endParaRPr sz="1000">
              <a:solidFill>
                <a:schemeClr val="dk1"/>
              </a:solidFill>
              <a:latin typeface="Arial"/>
              <a:ea typeface="Arial"/>
              <a:cs typeface="Arial"/>
              <a:sym typeface="Arial"/>
            </a:endParaRPr>
          </a:p>
        </p:txBody>
      </p:sp>
      <p:sp>
        <p:nvSpPr>
          <p:cNvPr id="310" name="Google Shape;310;p11"/>
          <p:cNvSpPr/>
          <p:nvPr/>
        </p:nvSpPr>
        <p:spPr>
          <a:xfrm>
            <a:off x="3541713" y="4746625"/>
            <a:ext cx="1108075" cy="33337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1" name="Google Shape;311;p11"/>
          <p:cNvSpPr/>
          <p:nvPr/>
        </p:nvSpPr>
        <p:spPr>
          <a:xfrm>
            <a:off x="3541713" y="4879975"/>
            <a:ext cx="1108075" cy="2000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p11"/>
          <p:cNvSpPr/>
          <p:nvPr/>
        </p:nvSpPr>
        <p:spPr>
          <a:xfrm>
            <a:off x="3589351" y="4116400"/>
            <a:ext cx="1124100" cy="25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313" name="Google Shape;313;p11"/>
          <p:cNvSpPr/>
          <p:nvPr/>
        </p:nvSpPr>
        <p:spPr>
          <a:xfrm>
            <a:off x="868363" y="4113213"/>
            <a:ext cx="1123950" cy="9667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4" name="Google Shape;314;p11"/>
          <p:cNvSpPr/>
          <p:nvPr/>
        </p:nvSpPr>
        <p:spPr>
          <a:xfrm>
            <a:off x="935038" y="4370388"/>
            <a:ext cx="963612" cy="258762"/>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Student</a:t>
            </a:r>
            <a:endParaRPr sz="1000">
              <a:solidFill>
                <a:schemeClr val="dk1"/>
              </a:solidFill>
              <a:latin typeface="Arial"/>
              <a:ea typeface="Arial"/>
              <a:cs typeface="Arial"/>
              <a:sym typeface="Arial"/>
            </a:endParaRPr>
          </a:p>
        </p:txBody>
      </p:sp>
      <p:sp>
        <p:nvSpPr>
          <p:cNvPr id="315" name="Google Shape;315;p11"/>
          <p:cNvSpPr/>
          <p:nvPr/>
        </p:nvSpPr>
        <p:spPr>
          <a:xfrm>
            <a:off x="868363" y="4746625"/>
            <a:ext cx="1123950" cy="33337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6" name="Google Shape;316;p11"/>
          <p:cNvSpPr/>
          <p:nvPr/>
        </p:nvSpPr>
        <p:spPr>
          <a:xfrm>
            <a:off x="868363" y="4879975"/>
            <a:ext cx="1123950" cy="2000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17" name="Google Shape;317;p11"/>
          <p:cNvSpPr/>
          <p:nvPr/>
        </p:nvSpPr>
        <p:spPr>
          <a:xfrm>
            <a:off x="811076" y="4116400"/>
            <a:ext cx="1124100" cy="25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700">
                <a:solidFill>
                  <a:srgbClr val="000000"/>
                </a:solidFill>
                <a:latin typeface="Arial"/>
                <a:ea typeface="Arial"/>
                <a:cs typeface="Arial"/>
                <a:sym typeface="Arial"/>
              </a:rPr>
              <a:t>&lt;&lt;entity&gt;&gt;</a:t>
            </a:r>
            <a:endParaRPr sz="1000">
              <a:solidFill>
                <a:schemeClr val="dk1"/>
              </a:solidFill>
              <a:latin typeface="Arial"/>
              <a:ea typeface="Arial"/>
              <a:cs typeface="Arial"/>
              <a:sym typeface="Arial"/>
            </a:endParaRPr>
          </a:p>
        </p:txBody>
      </p:sp>
      <p:sp>
        <p:nvSpPr>
          <p:cNvPr id="318" name="Google Shape;318;p11"/>
          <p:cNvSpPr/>
          <p:nvPr/>
        </p:nvSpPr>
        <p:spPr>
          <a:xfrm>
            <a:off x="2070100" y="4679950"/>
            <a:ext cx="120650" cy="25876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700">
                <a:solidFill>
                  <a:schemeClr val="dk1"/>
                </a:solidFill>
                <a:latin typeface="Arial"/>
                <a:ea typeface="Arial"/>
                <a:cs typeface="Arial"/>
                <a:sym typeface="Arial"/>
              </a:rPr>
              <a:t>1</a:t>
            </a:r>
            <a:endParaRPr sz="1000">
              <a:solidFill>
                <a:schemeClr val="dk1"/>
              </a:solidFill>
              <a:latin typeface="Arial"/>
              <a:ea typeface="Arial"/>
              <a:cs typeface="Arial"/>
              <a:sym typeface="Arial"/>
            </a:endParaRPr>
          </a:p>
        </p:txBody>
      </p:sp>
      <p:sp>
        <p:nvSpPr>
          <p:cNvPr id="319" name="Google Shape;319;p11"/>
          <p:cNvSpPr/>
          <p:nvPr/>
        </p:nvSpPr>
        <p:spPr>
          <a:xfrm>
            <a:off x="3003950" y="4627575"/>
            <a:ext cx="459900" cy="27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a:t>
            </a:r>
            <a:endParaRPr/>
          </a:p>
        </p:txBody>
      </p:sp>
      <p:sp>
        <p:nvSpPr>
          <p:cNvPr id="320" name="Google Shape;320;p11"/>
          <p:cNvSpPr/>
          <p:nvPr/>
        </p:nvSpPr>
        <p:spPr>
          <a:xfrm>
            <a:off x="2070100" y="4679950"/>
            <a:ext cx="1270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1</a:t>
            </a:r>
            <a:endParaRPr/>
          </a:p>
        </p:txBody>
      </p:sp>
      <p:sp>
        <p:nvSpPr>
          <p:cNvPr id="321" name="Google Shape;321;p11"/>
          <p:cNvSpPr/>
          <p:nvPr/>
        </p:nvSpPr>
        <p:spPr>
          <a:xfrm>
            <a:off x="2019300" y="4470400"/>
            <a:ext cx="381000" cy="187325"/>
          </a:xfrm>
          <a:custGeom>
            <a:rect b="b" l="l" r="r" t="t"/>
            <a:pathLst>
              <a:path extrusionOk="0" h="70" w="128">
                <a:moveTo>
                  <a:pt x="0" y="35"/>
                </a:moveTo>
                <a:lnTo>
                  <a:pt x="64" y="70"/>
                </a:lnTo>
                <a:lnTo>
                  <a:pt x="128" y="35"/>
                </a:lnTo>
                <a:lnTo>
                  <a:pt x="64" y="0"/>
                </a:lnTo>
                <a:lnTo>
                  <a:pt x="0" y="35"/>
                </a:lnTo>
                <a:close/>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22" name="Google Shape;322;p11"/>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2"/>
          <p:cNvSpPr txBox="1"/>
          <p:nvPr/>
        </p:nvSpPr>
        <p:spPr>
          <a:xfrm>
            <a:off x="2305050" y="5929313"/>
            <a:ext cx="5130800"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rgbClr val="0070C0"/>
                </a:solidFill>
                <a:latin typeface="Arial"/>
                <a:ea typeface="Arial"/>
                <a:cs typeface="Arial"/>
                <a:sym typeface="Arial"/>
              </a:rPr>
              <a:t>When in doubt, use association.</a:t>
            </a:r>
            <a:endParaRPr/>
          </a:p>
        </p:txBody>
      </p:sp>
      <p:sp>
        <p:nvSpPr>
          <p:cNvPr id="330" name="Google Shape;330;p12"/>
          <p:cNvSpPr txBox="1"/>
          <p:nvPr>
            <p:ph idx="1" type="body"/>
          </p:nvPr>
        </p:nvSpPr>
        <p:spPr>
          <a:xfrm>
            <a:off x="349250" y="1524000"/>
            <a:ext cx="8337550" cy="4572000"/>
          </a:xfrm>
          <a:prstGeom prst="rect">
            <a:avLst/>
          </a:prstGeom>
          <a:noFill/>
          <a:ln>
            <a:noFill/>
          </a:ln>
        </p:spPr>
        <p:txBody>
          <a:bodyPr anchorCtr="0" anchor="t" bIns="53975" lIns="107950" spcFirstLastPara="1" rIns="107950" wrap="square" tIns="53975">
            <a:noAutofit/>
          </a:bodyPr>
          <a:lstStyle/>
          <a:p>
            <a:pPr indent="-342900" lvl="0" marL="342900" rtl="0" algn="l">
              <a:spcBef>
                <a:spcPts val="0"/>
              </a:spcBef>
              <a:spcAft>
                <a:spcPts val="0"/>
              </a:spcAft>
              <a:buClr>
                <a:srgbClr val="000000"/>
              </a:buClr>
              <a:buSzPts val="2000"/>
              <a:buChar char="❖"/>
            </a:pPr>
            <a:r>
              <a:rPr lang="en-US" sz="2000"/>
              <a:t>If two objects are tightly bound by a whole-part relationship</a:t>
            </a:r>
            <a:endParaRPr/>
          </a:p>
          <a:p>
            <a:pPr indent="-285750" lvl="1" marL="742950" rtl="0" algn="l">
              <a:spcBef>
                <a:spcPts val="400"/>
              </a:spcBef>
              <a:spcAft>
                <a:spcPts val="0"/>
              </a:spcAft>
              <a:buSzPts val="1000"/>
              <a:buChar char="🞇"/>
            </a:pPr>
            <a:r>
              <a:rPr lang="en-US" sz="2000"/>
              <a:t>The relationship is an aggregation.</a:t>
            </a:r>
            <a:endParaRPr/>
          </a:p>
          <a:p>
            <a:pPr indent="-222250" lvl="1" marL="742950" rtl="0" algn="l">
              <a:spcBef>
                <a:spcPts val="400"/>
              </a:spcBef>
              <a:spcAft>
                <a:spcPts val="0"/>
              </a:spcAft>
              <a:buSzPts val="1000"/>
              <a:buNone/>
            </a:pPr>
            <a:r>
              <a:t/>
            </a:r>
            <a:endParaRPr sz="2000"/>
          </a:p>
          <a:p>
            <a:pPr indent="-222250" lvl="1" marL="742950" rtl="0" algn="l">
              <a:spcBef>
                <a:spcPts val="400"/>
              </a:spcBef>
              <a:spcAft>
                <a:spcPts val="0"/>
              </a:spcAft>
              <a:buSzPts val="1000"/>
              <a:buNone/>
            </a:pPr>
            <a:r>
              <a:t/>
            </a:r>
            <a:endParaRPr sz="2000"/>
          </a:p>
          <a:p>
            <a:pPr indent="-222250" lvl="1" marL="742950" rtl="0" algn="l">
              <a:spcBef>
                <a:spcPts val="400"/>
              </a:spcBef>
              <a:spcAft>
                <a:spcPts val="0"/>
              </a:spcAft>
              <a:buSzPts val="1000"/>
              <a:buNone/>
            </a:pPr>
            <a:r>
              <a:t/>
            </a:r>
            <a:endParaRPr sz="2000"/>
          </a:p>
          <a:p>
            <a:pPr indent="-342900" lvl="0" marL="342900" rtl="0" algn="l">
              <a:spcBef>
                <a:spcPts val="400"/>
              </a:spcBef>
              <a:spcAft>
                <a:spcPts val="0"/>
              </a:spcAft>
              <a:buClr>
                <a:srgbClr val="000000"/>
              </a:buClr>
              <a:buSzPts val="2000"/>
              <a:buChar char="❖"/>
            </a:pPr>
            <a:r>
              <a:rPr lang="en-US" sz="2000"/>
              <a:t>If two objects are usually considered as independent, although they are often linked</a:t>
            </a:r>
            <a:endParaRPr/>
          </a:p>
          <a:p>
            <a:pPr indent="-285750" lvl="1" marL="742950" rtl="0" algn="l">
              <a:spcBef>
                <a:spcPts val="400"/>
              </a:spcBef>
              <a:spcAft>
                <a:spcPts val="0"/>
              </a:spcAft>
              <a:buSzPts val="1000"/>
              <a:buChar char="🞇"/>
            </a:pPr>
            <a:r>
              <a:rPr lang="en-US" sz="2000"/>
              <a:t>The relationship is an association.</a:t>
            </a:r>
            <a:endParaRPr/>
          </a:p>
        </p:txBody>
      </p:sp>
      <p:sp>
        <p:nvSpPr>
          <p:cNvPr id="331" name="Google Shape;331;p12"/>
          <p:cNvSpPr txBox="1"/>
          <p:nvPr>
            <p:ph type="title"/>
          </p:nvPr>
        </p:nvSpPr>
        <p:spPr>
          <a:xfrm>
            <a:off x="1447800" y="206375"/>
            <a:ext cx="68580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Association or Aggregation?</a:t>
            </a:r>
            <a:endParaRPr/>
          </a:p>
        </p:txBody>
      </p:sp>
      <p:cxnSp>
        <p:nvCxnSpPr>
          <p:cNvPr id="332" name="Google Shape;332;p12"/>
          <p:cNvCxnSpPr/>
          <p:nvPr/>
        </p:nvCxnSpPr>
        <p:spPr>
          <a:xfrm rot="10800000">
            <a:off x="3340100" y="2806700"/>
            <a:ext cx="2673350" cy="4763"/>
          </a:xfrm>
          <a:prstGeom prst="straightConnector1">
            <a:avLst/>
          </a:prstGeom>
          <a:noFill/>
          <a:ln cap="flat" cmpd="sng" w="28575">
            <a:solidFill>
              <a:schemeClr val="dk1"/>
            </a:solidFill>
            <a:prstDash val="solid"/>
            <a:round/>
            <a:headEnd len="med" w="med" type="none"/>
            <a:tailEnd len="med" w="med" type="none"/>
          </a:ln>
        </p:spPr>
      </p:cxnSp>
      <p:sp>
        <p:nvSpPr>
          <p:cNvPr id="333" name="Google Shape;333;p12"/>
          <p:cNvSpPr/>
          <p:nvPr/>
        </p:nvSpPr>
        <p:spPr>
          <a:xfrm>
            <a:off x="1905000" y="2427288"/>
            <a:ext cx="1074738" cy="7604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4" name="Google Shape;334;p12"/>
          <p:cNvSpPr/>
          <p:nvPr/>
        </p:nvSpPr>
        <p:spPr>
          <a:xfrm>
            <a:off x="1979625" y="2484450"/>
            <a:ext cx="6048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Car</a:t>
            </a:r>
            <a:endParaRPr sz="1600">
              <a:solidFill>
                <a:schemeClr val="dk1"/>
              </a:solidFill>
              <a:latin typeface="Arial"/>
              <a:ea typeface="Arial"/>
              <a:cs typeface="Arial"/>
              <a:sym typeface="Arial"/>
            </a:endParaRPr>
          </a:p>
        </p:txBody>
      </p:sp>
      <p:sp>
        <p:nvSpPr>
          <p:cNvPr id="335" name="Google Shape;335;p12"/>
          <p:cNvSpPr/>
          <p:nvPr/>
        </p:nvSpPr>
        <p:spPr>
          <a:xfrm>
            <a:off x="1905000" y="2827338"/>
            <a:ext cx="1074738" cy="36036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6" name="Google Shape;336;p12"/>
          <p:cNvSpPr/>
          <p:nvPr/>
        </p:nvSpPr>
        <p:spPr>
          <a:xfrm>
            <a:off x="1905000" y="2978150"/>
            <a:ext cx="1074738" cy="2095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7" name="Google Shape;337;p12"/>
          <p:cNvSpPr/>
          <p:nvPr/>
        </p:nvSpPr>
        <p:spPr>
          <a:xfrm>
            <a:off x="5891213" y="2408238"/>
            <a:ext cx="1074737" cy="7794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38" name="Google Shape;338;p12"/>
          <p:cNvSpPr/>
          <p:nvPr/>
        </p:nvSpPr>
        <p:spPr>
          <a:xfrm>
            <a:off x="6003979" y="2484450"/>
            <a:ext cx="6048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Door</a:t>
            </a:r>
            <a:endParaRPr sz="1600">
              <a:solidFill>
                <a:schemeClr val="dk1"/>
              </a:solidFill>
              <a:latin typeface="Arial"/>
              <a:ea typeface="Arial"/>
              <a:cs typeface="Arial"/>
              <a:sym typeface="Arial"/>
            </a:endParaRPr>
          </a:p>
        </p:txBody>
      </p:sp>
      <p:sp>
        <p:nvSpPr>
          <p:cNvPr id="339" name="Google Shape;339;p12"/>
          <p:cNvSpPr/>
          <p:nvPr/>
        </p:nvSpPr>
        <p:spPr>
          <a:xfrm>
            <a:off x="5891213" y="2827338"/>
            <a:ext cx="1074737" cy="36036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0" name="Google Shape;340;p12"/>
          <p:cNvSpPr/>
          <p:nvPr/>
        </p:nvSpPr>
        <p:spPr>
          <a:xfrm>
            <a:off x="5891213" y="2978150"/>
            <a:ext cx="1074737" cy="2095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1" name="Google Shape;341;p12"/>
          <p:cNvSpPr/>
          <p:nvPr/>
        </p:nvSpPr>
        <p:spPr>
          <a:xfrm>
            <a:off x="4443450" y="2997200"/>
            <a:ext cx="1382700"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chemeClr val="dk2"/>
                </a:solidFill>
              </a:rPr>
              <a:t>        </a:t>
            </a:r>
            <a:r>
              <a:rPr lang="en-US" sz="2000">
                <a:solidFill>
                  <a:schemeClr val="dk2"/>
                </a:solidFill>
                <a:latin typeface="Arial"/>
                <a:ea typeface="Arial"/>
                <a:cs typeface="Arial"/>
                <a:sym typeface="Arial"/>
              </a:rPr>
              <a:t>0..2,4</a:t>
            </a:r>
            <a:endParaRPr sz="1000">
              <a:solidFill>
                <a:schemeClr val="dk2"/>
              </a:solidFill>
              <a:latin typeface="Arial"/>
              <a:ea typeface="Arial"/>
              <a:cs typeface="Arial"/>
              <a:sym typeface="Arial"/>
            </a:endParaRPr>
          </a:p>
        </p:txBody>
      </p:sp>
      <p:sp>
        <p:nvSpPr>
          <p:cNvPr id="342" name="Google Shape;342;p12"/>
          <p:cNvSpPr/>
          <p:nvPr/>
        </p:nvSpPr>
        <p:spPr>
          <a:xfrm>
            <a:off x="3035300" y="2978150"/>
            <a:ext cx="141288" cy="30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chemeClr val="dk2"/>
                </a:solidFill>
                <a:latin typeface="Arial"/>
                <a:ea typeface="Arial"/>
                <a:cs typeface="Arial"/>
                <a:sym typeface="Arial"/>
              </a:rPr>
              <a:t>1</a:t>
            </a:r>
            <a:endParaRPr sz="1000">
              <a:solidFill>
                <a:schemeClr val="dk2"/>
              </a:solidFill>
              <a:latin typeface="Arial"/>
              <a:ea typeface="Arial"/>
              <a:cs typeface="Arial"/>
              <a:sym typeface="Arial"/>
            </a:endParaRPr>
          </a:p>
        </p:txBody>
      </p:sp>
      <p:sp>
        <p:nvSpPr>
          <p:cNvPr id="343" name="Google Shape;343;p12"/>
          <p:cNvSpPr/>
          <p:nvPr/>
        </p:nvSpPr>
        <p:spPr>
          <a:xfrm>
            <a:off x="3001963" y="2692400"/>
            <a:ext cx="363537" cy="211138"/>
          </a:xfrm>
          <a:custGeom>
            <a:rect b="b" l="l" r="r" t="t"/>
            <a:pathLst>
              <a:path extrusionOk="0" h="107" w="199">
                <a:moveTo>
                  <a:pt x="0" y="60"/>
                </a:moveTo>
                <a:lnTo>
                  <a:pt x="105" y="107"/>
                </a:lnTo>
                <a:lnTo>
                  <a:pt x="199" y="60"/>
                </a:lnTo>
                <a:lnTo>
                  <a:pt x="105" y="0"/>
                </a:lnTo>
                <a:lnTo>
                  <a:pt x="0" y="60"/>
                </a:lnTo>
                <a:close/>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44" name="Google Shape;344;p12"/>
          <p:cNvCxnSpPr/>
          <p:nvPr/>
        </p:nvCxnSpPr>
        <p:spPr>
          <a:xfrm flipH="1">
            <a:off x="2922588" y="5311775"/>
            <a:ext cx="3027362" cy="3175"/>
          </a:xfrm>
          <a:prstGeom prst="straightConnector1">
            <a:avLst/>
          </a:prstGeom>
          <a:noFill/>
          <a:ln cap="flat" cmpd="sng" w="28575">
            <a:solidFill>
              <a:schemeClr val="dk1"/>
            </a:solidFill>
            <a:prstDash val="solid"/>
            <a:round/>
            <a:headEnd len="med" w="med" type="none"/>
            <a:tailEnd len="med" w="med" type="none"/>
          </a:ln>
        </p:spPr>
      </p:cxnSp>
      <p:sp>
        <p:nvSpPr>
          <p:cNvPr id="345" name="Google Shape;345;p12"/>
          <p:cNvSpPr/>
          <p:nvPr/>
        </p:nvSpPr>
        <p:spPr>
          <a:xfrm>
            <a:off x="1908175" y="4932363"/>
            <a:ext cx="1090613" cy="7350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6" name="Google Shape;346;p12"/>
          <p:cNvSpPr/>
          <p:nvPr/>
        </p:nvSpPr>
        <p:spPr>
          <a:xfrm>
            <a:off x="2053333" y="4987925"/>
            <a:ext cx="5391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Car</a:t>
            </a:r>
            <a:endParaRPr sz="1600">
              <a:solidFill>
                <a:schemeClr val="dk1"/>
              </a:solidFill>
              <a:latin typeface="Arial"/>
              <a:ea typeface="Arial"/>
              <a:cs typeface="Arial"/>
              <a:sym typeface="Arial"/>
            </a:endParaRPr>
          </a:p>
        </p:txBody>
      </p:sp>
      <p:sp>
        <p:nvSpPr>
          <p:cNvPr id="347" name="Google Shape;347;p12"/>
          <p:cNvSpPr/>
          <p:nvPr/>
        </p:nvSpPr>
        <p:spPr>
          <a:xfrm>
            <a:off x="1908175" y="5318125"/>
            <a:ext cx="1090613" cy="3492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8" name="Google Shape;348;p12"/>
          <p:cNvSpPr/>
          <p:nvPr/>
        </p:nvSpPr>
        <p:spPr>
          <a:xfrm>
            <a:off x="1908175" y="5465763"/>
            <a:ext cx="1090613" cy="2016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49" name="Google Shape;349;p12"/>
          <p:cNvSpPr/>
          <p:nvPr/>
        </p:nvSpPr>
        <p:spPr>
          <a:xfrm>
            <a:off x="5873750" y="4913313"/>
            <a:ext cx="1089025" cy="75406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0" name="Google Shape;350;p12"/>
          <p:cNvSpPr/>
          <p:nvPr/>
        </p:nvSpPr>
        <p:spPr>
          <a:xfrm>
            <a:off x="6154757" y="4987925"/>
            <a:ext cx="6789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Door</a:t>
            </a:r>
            <a:endParaRPr sz="1600">
              <a:solidFill>
                <a:schemeClr val="dk1"/>
              </a:solidFill>
              <a:latin typeface="Arial"/>
              <a:ea typeface="Arial"/>
              <a:cs typeface="Arial"/>
              <a:sym typeface="Arial"/>
            </a:endParaRPr>
          </a:p>
        </p:txBody>
      </p:sp>
      <p:sp>
        <p:nvSpPr>
          <p:cNvPr id="351" name="Google Shape;351;p12"/>
          <p:cNvSpPr/>
          <p:nvPr/>
        </p:nvSpPr>
        <p:spPr>
          <a:xfrm>
            <a:off x="5873750" y="5318125"/>
            <a:ext cx="1089025" cy="3492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2" name="Google Shape;352;p12"/>
          <p:cNvSpPr/>
          <p:nvPr/>
        </p:nvSpPr>
        <p:spPr>
          <a:xfrm>
            <a:off x="5873750" y="5465763"/>
            <a:ext cx="1089025" cy="20161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53" name="Google Shape;353;p12"/>
          <p:cNvSpPr/>
          <p:nvPr/>
        </p:nvSpPr>
        <p:spPr>
          <a:xfrm>
            <a:off x="5192713" y="5483225"/>
            <a:ext cx="604837" cy="288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900">
                <a:solidFill>
                  <a:schemeClr val="dk2"/>
                </a:solidFill>
                <a:latin typeface="Arial"/>
                <a:ea typeface="Arial"/>
                <a:cs typeface="Arial"/>
                <a:sym typeface="Arial"/>
              </a:rPr>
              <a:t>0..2,4</a:t>
            </a:r>
            <a:endParaRPr sz="1000">
              <a:solidFill>
                <a:schemeClr val="dk2"/>
              </a:solidFill>
              <a:latin typeface="Arial"/>
              <a:ea typeface="Arial"/>
              <a:cs typeface="Arial"/>
              <a:sym typeface="Arial"/>
            </a:endParaRPr>
          </a:p>
        </p:txBody>
      </p:sp>
      <p:sp>
        <p:nvSpPr>
          <p:cNvPr id="354" name="Google Shape;354;p12"/>
          <p:cNvSpPr/>
          <p:nvPr/>
        </p:nvSpPr>
        <p:spPr>
          <a:xfrm>
            <a:off x="3054350" y="5465763"/>
            <a:ext cx="134938" cy="2889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900">
                <a:solidFill>
                  <a:schemeClr val="dk2"/>
                </a:solidFill>
                <a:latin typeface="Arial"/>
                <a:ea typeface="Arial"/>
                <a:cs typeface="Arial"/>
                <a:sym typeface="Arial"/>
              </a:rPr>
              <a:t>1</a:t>
            </a:r>
            <a:endParaRPr sz="1000">
              <a:solidFill>
                <a:schemeClr val="dk2"/>
              </a:solidFill>
              <a:latin typeface="Arial"/>
              <a:ea typeface="Arial"/>
              <a:cs typeface="Arial"/>
              <a:sym typeface="Arial"/>
            </a:endParaRPr>
          </a:p>
        </p:txBody>
      </p:sp>
      <p:sp>
        <p:nvSpPr>
          <p:cNvPr id="355" name="Google Shape;355;p12"/>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13"/>
          <p:cNvCxnSpPr/>
          <p:nvPr/>
        </p:nvCxnSpPr>
        <p:spPr>
          <a:xfrm rot="10800000">
            <a:off x="3822700" y="4114800"/>
            <a:ext cx="1778000" cy="0"/>
          </a:xfrm>
          <a:prstGeom prst="straightConnector1">
            <a:avLst/>
          </a:prstGeom>
          <a:noFill/>
          <a:ln cap="flat" cmpd="sng" w="12700">
            <a:solidFill>
              <a:schemeClr val="dk1"/>
            </a:solidFill>
            <a:prstDash val="solid"/>
            <a:round/>
            <a:headEnd len="med" w="med" type="none"/>
            <a:tailEnd len="med" w="med" type="none"/>
          </a:ln>
        </p:spPr>
      </p:cxnSp>
      <p:sp>
        <p:nvSpPr>
          <p:cNvPr id="362" name="Google Shape;362;p13"/>
          <p:cNvSpPr/>
          <p:nvPr/>
        </p:nvSpPr>
        <p:spPr>
          <a:xfrm>
            <a:off x="3492500" y="4035425"/>
            <a:ext cx="330200" cy="165100"/>
          </a:xfrm>
          <a:prstGeom prst="diamond">
            <a:avLst/>
          </a:prstGeom>
          <a:solidFill>
            <a:srgbClr val="000000"/>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
        <p:nvSpPr>
          <p:cNvPr id="363" name="Google Shape;363;p13"/>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What Is Composition?</a:t>
            </a:r>
            <a:endParaRPr/>
          </a:p>
        </p:txBody>
      </p:sp>
      <p:sp>
        <p:nvSpPr>
          <p:cNvPr id="364" name="Google Shape;364;p13"/>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A form of aggregation with strong ownership and coincident lifetimes</a:t>
            </a:r>
            <a:endParaRPr/>
          </a:p>
          <a:p>
            <a:pPr indent="-285750" lvl="1" marL="742950" rtl="0" algn="l">
              <a:spcBef>
                <a:spcPts val="400"/>
              </a:spcBef>
              <a:spcAft>
                <a:spcPts val="0"/>
              </a:spcAft>
              <a:buSzPts val="1000"/>
              <a:buChar char="🞇"/>
            </a:pPr>
            <a:r>
              <a:rPr lang="en-US" sz="2000"/>
              <a:t>The parts cannot survive the whole/aggregate </a:t>
            </a:r>
            <a:endParaRPr/>
          </a:p>
        </p:txBody>
      </p:sp>
      <p:sp>
        <p:nvSpPr>
          <p:cNvPr id="365" name="Google Shape;365;p13"/>
          <p:cNvSpPr txBox="1"/>
          <p:nvPr/>
        </p:nvSpPr>
        <p:spPr>
          <a:xfrm>
            <a:off x="2106613" y="2844800"/>
            <a:ext cx="990600" cy="3825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Whole</a:t>
            </a:r>
            <a:endParaRPr/>
          </a:p>
        </p:txBody>
      </p:sp>
      <p:sp>
        <p:nvSpPr>
          <p:cNvPr id="366" name="Google Shape;366;p13"/>
          <p:cNvSpPr txBox="1"/>
          <p:nvPr/>
        </p:nvSpPr>
        <p:spPr>
          <a:xfrm>
            <a:off x="3784600" y="5192725"/>
            <a:ext cx="1816200" cy="386100"/>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Composition</a:t>
            </a:r>
            <a:endParaRPr/>
          </a:p>
        </p:txBody>
      </p:sp>
      <p:cxnSp>
        <p:nvCxnSpPr>
          <p:cNvPr id="367" name="Google Shape;367;p13"/>
          <p:cNvCxnSpPr/>
          <p:nvPr/>
        </p:nvCxnSpPr>
        <p:spPr>
          <a:xfrm rot="10800000">
            <a:off x="4546600" y="4195763"/>
            <a:ext cx="0" cy="1016000"/>
          </a:xfrm>
          <a:prstGeom prst="straightConnector1">
            <a:avLst/>
          </a:prstGeom>
          <a:noFill/>
          <a:ln cap="flat" cmpd="sng" w="28575">
            <a:solidFill>
              <a:schemeClr val="hlink"/>
            </a:solidFill>
            <a:prstDash val="solid"/>
            <a:round/>
            <a:headEnd len="med" w="med" type="none"/>
            <a:tailEnd len="med" w="med" type="triangle"/>
          </a:ln>
        </p:spPr>
      </p:cxnSp>
      <p:cxnSp>
        <p:nvCxnSpPr>
          <p:cNvPr id="368" name="Google Shape;368;p13"/>
          <p:cNvCxnSpPr/>
          <p:nvPr/>
        </p:nvCxnSpPr>
        <p:spPr>
          <a:xfrm>
            <a:off x="2638425" y="3244850"/>
            <a:ext cx="0" cy="450850"/>
          </a:xfrm>
          <a:prstGeom prst="straightConnector1">
            <a:avLst/>
          </a:prstGeom>
          <a:noFill/>
          <a:ln cap="flat" cmpd="sng" w="28575">
            <a:solidFill>
              <a:schemeClr val="hlink"/>
            </a:solidFill>
            <a:prstDash val="solid"/>
            <a:round/>
            <a:headEnd len="med" w="med" type="none"/>
            <a:tailEnd len="med" w="med" type="triangle"/>
          </a:ln>
        </p:spPr>
      </p:cxnSp>
      <p:cxnSp>
        <p:nvCxnSpPr>
          <p:cNvPr id="369" name="Google Shape;369;p13"/>
          <p:cNvCxnSpPr/>
          <p:nvPr/>
        </p:nvCxnSpPr>
        <p:spPr>
          <a:xfrm>
            <a:off x="6165850" y="3225800"/>
            <a:ext cx="0" cy="469900"/>
          </a:xfrm>
          <a:prstGeom prst="straightConnector1">
            <a:avLst/>
          </a:prstGeom>
          <a:noFill/>
          <a:ln cap="flat" cmpd="sng" w="28575">
            <a:solidFill>
              <a:schemeClr val="hlink"/>
            </a:solidFill>
            <a:prstDash val="solid"/>
            <a:round/>
            <a:headEnd len="med" w="med" type="none"/>
            <a:tailEnd len="med" w="med" type="triangle"/>
          </a:ln>
        </p:spPr>
      </p:cxnSp>
      <p:sp>
        <p:nvSpPr>
          <p:cNvPr id="370" name="Google Shape;370;p13"/>
          <p:cNvSpPr txBox="1"/>
          <p:nvPr/>
        </p:nvSpPr>
        <p:spPr>
          <a:xfrm>
            <a:off x="5708650" y="2838450"/>
            <a:ext cx="876300" cy="382588"/>
          </a:xfrm>
          <a:prstGeom prst="rect">
            <a:avLst/>
          </a:prstGeom>
          <a:noFill/>
          <a:ln>
            <a:noFill/>
          </a:ln>
        </p:spPr>
        <p:txBody>
          <a:bodyPr anchorCtr="0" anchor="t" bIns="53975" lIns="107950" spcFirstLastPara="1" rIns="107950" wrap="square" tIns="53975">
            <a:spAutoFit/>
          </a:bodyPr>
          <a:lstStyle/>
          <a:p>
            <a:pPr indent="0" lvl="0" marL="0" marR="0" rtl="0" algn="ctr">
              <a:spcBef>
                <a:spcPts val="0"/>
              </a:spcBef>
              <a:spcAft>
                <a:spcPts val="0"/>
              </a:spcAft>
              <a:buNone/>
            </a:pPr>
            <a:r>
              <a:rPr lang="en-US" sz="1800">
                <a:solidFill>
                  <a:srgbClr val="FF0000"/>
                </a:solidFill>
                <a:latin typeface="Arial"/>
                <a:ea typeface="Arial"/>
                <a:cs typeface="Arial"/>
                <a:sym typeface="Arial"/>
              </a:rPr>
              <a:t>Part</a:t>
            </a:r>
            <a:endParaRPr/>
          </a:p>
        </p:txBody>
      </p:sp>
      <p:sp>
        <p:nvSpPr>
          <p:cNvPr id="371" name="Google Shape;371;p13"/>
          <p:cNvSpPr/>
          <p:nvPr/>
        </p:nvSpPr>
        <p:spPr>
          <a:xfrm>
            <a:off x="5359400" y="3708400"/>
            <a:ext cx="1597025" cy="7826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72" name="Google Shape;372;p13"/>
          <p:cNvCxnSpPr/>
          <p:nvPr/>
        </p:nvCxnSpPr>
        <p:spPr>
          <a:xfrm>
            <a:off x="5359400" y="4276725"/>
            <a:ext cx="1597025" cy="0"/>
          </a:xfrm>
          <a:prstGeom prst="straightConnector1">
            <a:avLst/>
          </a:prstGeom>
          <a:noFill/>
          <a:ln cap="flat" cmpd="sng" w="12700">
            <a:solidFill>
              <a:srgbClr val="8A0E5E"/>
            </a:solidFill>
            <a:prstDash val="solid"/>
            <a:round/>
            <a:headEnd len="sm" w="sm" type="none"/>
            <a:tailEnd len="sm" w="sm" type="none"/>
          </a:ln>
        </p:spPr>
      </p:cxnSp>
      <p:cxnSp>
        <p:nvCxnSpPr>
          <p:cNvPr id="373" name="Google Shape;373;p13"/>
          <p:cNvCxnSpPr/>
          <p:nvPr/>
        </p:nvCxnSpPr>
        <p:spPr>
          <a:xfrm>
            <a:off x="5359400" y="4140200"/>
            <a:ext cx="1597025" cy="0"/>
          </a:xfrm>
          <a:prstGeom prst="straightConnector1">
            <a:avLst/>
          </a:prstGeom>
          <a:noFill/>
          <a:ln cap="flat" cmpd="sng" w="12700">
            <a:solidFill>
              <a:srgbClr val="8A0E5E"/>
            </a:solidFill>
            <a:prstDash val="solid"/>
            <a:round/>
            <a:headEnd len="sm" w="sm" type="none"/>
            <a:tailEnd len="sm" w="sm" type="none"/>
          </a:ln>
        </p:spPr>
      </p:cxnSp>
      <p:sp>
        <p:nvSpPr>
          <p:cNvPr id="374" name="Google Shape;374;p13"/>
          <p:cNvSpPr txBox="1"/>
          <p:nvPr/>
        </p:nvSpPr>
        <p:spPr>
          <a:xfrm>
            <a:off x="5979085" y="3797300"/>
            <a:ext cx="376706"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Part</a:t>
            </a:r>
            <a:endParaRPr/>
          </a:p>
        </p:txBody>
      </p:sp>
      <p:sp>
        <p:nvSpPr>
          <p:cNvPr id="375" name="Google Shape;375;p13"/>
          <p:cNvSpPr/>
          <p:nvPr/>
        </p:nvSpPr>
        <p:spPr>
          <a:xfrm>
            <a:off x="1866900" y="3708400"/>
            <a:ext cx="1597025" cy="7826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76" name="Google Shape;376;p13"/>
          <p:cNvCxnSpPr/>
          <p:nvPr/>
        </p:nvCxnSpPr>
        <p:spPr>
          <a:xfrm>
            <a:off x="1866900" y="4276725"/>
            <a:ext cx="1597025" cy="0"/>
          </a:xfrm>
          <a:prstGeom prst="straightConnector1">
            <a:avLst/>
          </a:prstGeom>
          <a:noFill/>
          <a:ln cap="flat" cmpd="sng" w="12700">
            <a:solidFill>
              <a:srgbClr val="8A0E5E"/>
            </a:solidFill>
            <a:prstDash val="solid"/>
            <a:round/>
            <a:headEnd len="sm" w="sm" type="none"/>
            <a:tailEnd len="sm" w="sm" type="none"/>
          </a:ln>
        </p:spPr>
      </p:cxnSp>
      <p:cxnSp>
        <p:nvCxnSpPr>
          <p:cNvPr id="377" name="Google Shape;377;p13"/>
          <p:cNvCxnSpPr/>
          <p:nvPr/>
        </p:nvCxnSpPr>
        <p:spPr>
          <a:xfrm>
            <a:off x="1866900" y="4152900"/>
            <a:ext cx="1597025" cy="0"/>
          </a:xfrm>
          <a:prstGeom prst="straightConnector1">
            <a:avLst/>
          </a:prstGeom>
          <a:noFill/>
          <a:ln cap="flat" cmpd="sng" w="12700">
            <a:solidFill>
              <a:srgbClr val="8A0E5E"/>
            </a:solidFill>
            <a:prstDash val="solid"/>
            <a:round/>
            <a:headEnd len="sm" w="sm" type="none"/>
            <a:tailEnd len="sm" w="sm" type="none"/>
          </a:ln>
        </p:spPr>
      </p:cxnSp>
      <p:sp>
        <p:nvSpPr>
          <p:cNvPr id="378" name="Google Shape;378;p13"/>
          <p:cNvSpPr txBox="1"/>
          <p:nvPr/>
        </p:nvSpPr>
        <p:spPr>
          <a:xfrm>
            <a:off x="2380031" y="3797300"/>
            <a:ext cx="580287"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Whole</a:t>
            </a:r>
            <a:endParaRPr/>
          </a:p>
        </p:txBody>
      </p:sp>
      <p:sp>
        <p:nvSpPr>
          <p:cNvPr id="379" name="Google Shape;379;p13"/>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cxnSp>
        <p:nvCxnSpPr>
          <p:cNvPr id="385" name="Google Shape;385;p14"/>
          <p:cNvCxnSpPr/>
          <p:nvPr/>
        </p:nvCxnSpPr>
        <p:spPr>
          <a:xfrm>
            <a:off x="6342063" y="4972050"/>
            <a:ext cx="1343025" cy="0"/>
          </a:xfrm>
          <a:prstGeom prst="straightConnector1">
            <a:avLst/>
          </a:prstGeom>
          <a:noFill/>
          <a:ln cap="flat" cmpd="sng" w="9525">
            <a:solidFill>
              <a:schemeClr val="dk1"/>
            </a:solidFill>
            <a:prstDash val="solid"/>
            <a:round/>
            <a:headEnd len="sm" w="sm" type="none"/>
            <a:tailEnd len="med" w="med" type="none"/>
          </a:ln>
        </p:spPr>
      </p:cxnSp>
      <p:sp>
        <p:nvSpPr>
          <p:cNvPr id="386" name="Google Shape;386;p14"/>
          <p:cNvSpPr/>
          <p:nvPr/>
        </p:nvSpPr>
        <p:spPr>
          <a:xfrm>
            <a:off x="6102350" y="4894262"/>
            <a:ext cx="241300" cy="152400"/>
          </a:xfrm>
          <a:prstGeom prst="diamond">
            <a:avLst/>
          </a:prstGeom>
          <a:solidFill>
            <a:srgbClr val="0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387" name="Google Shape;387;p14"/>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Aggregation: Shared vs. Non-shared</a:t>
            </a:r>
            <a:endParaRPr/>
          </a:p>
        </p:txBody>
      </p:sp>
      <p:sp>
        <p:nvSpPr>
          <p:cNvPr id="388" name="Google Shape;388;p14"/>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Shared Aggregation</a:t>
            </a:r>
            <a:endParaRPr/>
          </a:p>
          <a:p>
            <a:pPr indent="-215900" lvl="0" marL="342900" rtl="0" algn="l">
              <a:spcBef>
                <a:spcPts val="400"/>
              </a:spcBef>
              <a:spcAft>
                <a:spcPts val="0"/>
              </a:spcAft>
              <a:buClr>
                <a:srgbClr val="000000"/>
              </a:buClr>
              <a:buSzPts val="2000"/>
              <a:buNone/>
            </a:pPr>
            <a:r>
              <a:t/>
            </a:r>
            <a:endParaRPr sz="2000"/>
          </a:p>
          <a:p>
            <a:pPr indent="-222250" lvl="1" marL="742950" rtl="0" algn="l">
              <a:spcBef>
                <a:spcPts val="400"/>
              </a:spcBef>
              <a:spcAft>
                <a:spcPts val="0"/>
              </a:spcAft>
              <a:buSzPts val="1000"/>
              <a:buNone/>
            </a:pPr>
            <a:r>
              <a:t/>
            </a:r>
            <a:endParaRPr sz="2000"/>
          </a:p>
          <a:p>
            <a:pPr indent="-215900" lvl="0" marL="342900" rtl="0" algn="l">
              <a:spcBef>
                <a:spcPts val="400"/>
              </a:spcBef>
              <a:spcAft>
                <a:spcPts val="0"/>
              </a:spcAft>
              <a:buClr>
                <a:srgbClr val="000000"/>
              </a:buClr>
              <a:buSzPts val="2000"/>
              <a:buNone/>
            </a:pPr>
            <a:r>
              <a:t/>
            </a:r>
            <a:endParaRPr sz="2000"/>
          </a:p>
          <a:p>
            <a:pPr indent="-215900" lvl="0" marL="342900" rtl="0" algn="l">
              <a:spcBef>
                <a:spcPts val="400"/>
              </a:spcBef>
              <a:spcAft>
                <a:spcPts val="0"/>
              </a:spcAft>
              <a:buClr>
                <a:srgbClr val="000000"/>
              </a:buClr>
              <a:buSzPts val="2000"/>
              <a:buNone/>
            </a:pPr>
            <a:r>
              <a:t/>
            </a:r>
            <a:endParaRPr sz="2000"/>
          </a:p>
          <a:p>
            <a:pPr indent="-215900" lvl="0" marL="342900" rtl="0" algn="l">
              <a:spcBef>
                <a:spcPts val="400"/>
              </a:spcBef>
              <a:spcAft>
                <a:spcPts val="0"/>
              </a:spcAft>
              <a:buClr>
                <a:srgbClr val="000000"/>
              </a:buClr>
              <a:buSzPts val="2000"/>
              <a:buNone/>
            </a:pPr>
            <a:r>
              <a:t/>
            </a:r>
            <a:endParaRPr sz="2000"/>
          </a:p>
          <a:p>
            <a:pPr indent="-342900" lvl="0" marL="342900" rtl="0" algn="l">
              <a:spcBef>
                <a:spcPts val="400"/>
              </a:spcBef>
              <a:spcAft>
                <a:spcPts val="0"/>
              </a:spcAft>
              <a:buClr>
                <a:srgbClr val="000000"/>
              </a:buClr>
              <a:buSzPts val="2000"/>
              <a:buChar char="❖"/>
            </a:pPr>
            <a:r>
              <a:rPr lang="en-US" sz="2000"/>
              <a:t>Non-shared Aggregation</a:t>
            </a:r>
            <a:endParaRPr/>
          </a:p>
          <a:p>
            <a:pPr indent="-215900" lvl="0" marL="342900" rtl="0" algn="l">
              <a:spcBef>
                <a:spcPts val="400"/>
              </a:spcBef>
              <a:spcAft>
                <a:spcPts val="0"/>
              </a:spcAft>
              <a:buClr>
                <a:srgbClr val="000000"/>
              </a:buClr>
              <a:buSzPts val="2000"/>
              <a:buNone/>
            </a:pPr>
            <a:r>
              <a:t/>
            </a:r>
            <a:endParaRPr sz="2000"/>
          </a:p>
        </p:txBody>
      </p:sp>
      <p:sp>
        <p:nvSpPr>
          <p:cNvPr id="389" name="Google Shape;389;p14"/>
          <p:cNvSpPr txBox="1"/>
          <p:nvPr/>
        </p:nvSpPr>
        <p:spPr>
          <a:xfrm>
            <a:off x="990600" y="5824538"/>
            <a:ext cx="7400925"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000">
                <a:solidFill>
                  <a:srgbClr val="0070C0"/>
                </a:solidFill>
                <a:latin typeface="Arial"/>
                <a:ea typeface="Arial"/>
                <a:cs typeface="Arial"/>
                <a:sym typeface="Arial"/>
              </a:rPr>
              <a:t>By definition, composition is non-shared aggregation.</a:t>
            </a:r>
            <a:endParaRPr/>
          </a:p>
        </p:txBody>
      </p:sp>
      <p:grpSp>
        <p:nvGrpSpPr>
          <p:cNvPr id="390" name="Google Shape;390;p14"/>
          <p:cNvGrpSpPr/>
          <p:nvPr/>
        </p:nvGrpSpPr>
        <p:grpSpPr>
          <a:xfrm>
            <a:off x="1803400" y="2695575"/>
            <a:ext cx="1582738" cy="152400"/>
            <a:chOff x="1114" y="2832"/>
            <a:chExt cx="997" cy="96"/>
          </a:xfrm>
        </p:grpSpPr>
        <p:cxnSp>
          <p:nvCxnSpPr>
            <p:cNvPr id="391" name="Google Shape;391;p14"/>
            <p:cNvCxnSpPr/>
            <p:nvPr/>
          </p:nvCxnSpPr>
          <p:spPr>
            <a:xfrm>
              <a:off x="1265" y="2881"/>
              <a:ext cx="846" cy="0"/>
            </a:xfrm>
            <a:prstGeom prst="straightConnector1">
              <a:avLst/>
            </a:prstGeom>
            <a:noFill/>
            <a:ln cap="flat" cmpd="sng" w="9525">
              <a:solidFill>
                <a:schemeClr val="dk1"/>
              </a:solidFill>
              <a:prstDash val="solid"/>
              <a:round/>
              <a:headEnd len="sm" w="sm" type="none"/>
              <a:tailEnd len="med" w="med" type="none"/>
            </a:ln>
          </p:spPr>
        </p:cxnSp>
        <p:sp>
          <p:nvSpPr>
            <p:cNvPr id="392" name="Google Shape;392;p14"/>
            <p:cNvSpPr/>
            <p:nvPr/>
          </p:nvSpPr>
          <p:spPr>
            <a:xfrm>
              <a:off x="1114" y="2832"/>
              <a:ext cx="152" cy="96"/>
            </a:xfrm>
            <a:prstGeom prst="diamond">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grpSp>
      <p:grpSp>
        <p:nvGrpSpPr>
          <p:cNvPr id="393" name="Google Shape;393;p14"/>
          <p:cNvGrpSpPr/>
          <p:nvPr/>
        </p:nvGrpSpPr>
        <p:grpSpPr>
          <a:xfrm>
            <a:off x="1806575" y="4884737"/>
            <a:ext cx="1582738" cy="152400"/>
            <a:chOff x="1114" y="2832"/>
            <a:chExt cx="997" cy="96"/>
          </a:xfrm>
        </p:grpSpPr>
        <p:cxnSp>
          <p:nvCxnSpPr>
            <p:cNvPr id="394" name="Google Shape;394;p14"/>
            <p:cNvCxnSpPr/>
            <p:nvPr/>
          </p:nvCxnSpPr>
          <p:spPr>
            <a:xfrm>
              <a:off x="1265" y="2881"/>
              <a:ext cx="846" cy="0"/>
            </a:xfrm>
            <a:prstGeom prst="straightConnector1">
              <a:avLst/>
            </a:prstGeom>
            <a:noFill/>
            <a:ln cap="flat" cmpd="sng" w="9525">
              <a:solidFill>
                <a:schemeClr val="dk1"/>
              </a:solidFill>
              <a:prstDash val="solid"/>
              <a:round/>
              <a:headEnd len="sm" w="sm" type="none"/>
              <a:tailEnd len="med" w="med" type="none"/>
            </a:ln>
          </p:spPr>
        </p:cxnSp>
        <p:sp>
          <p:nvSpPr>
            <p:cNvPr id="395" name="Google Shape;395;p14"/>
            <p:cNvSpPr/>
            <p:nvPr/>
          </p:nvSpPr>
          <p:spPr>
            <a:xfrm>
              <a:off x="1114" y="2832"/>
              <a:ext cx="152" cy="96"/>
            </a:xfrm>
            <a:prstGeom prst="diamond">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grpSp>
        <p:nvGrpSpPr>
          <p:cNvPr id="396" name="Google Shape;396;p14"/>
          <p:cNvGrpSpPr/>
          <p:nvPr/>
        </p:nvGrpSpPr>
        <p:grpSpPr>
          <a:xfrm>
            <a:off x="393700" y="2390775"/>
            <a:ext cx="1398588" cy="809625"/>
            <a:chOff x="144" y="1440"/>
            <a:chExt cx="881" cy="510"/>
          </a:xfrm>
        </p:grpSpPr>
        <p:sp>
          <p:nvSpPr>
            <p:cNvPr id="397" name="Google Shape;397;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398" name="Google Shape;398;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399" name="Google Shape;399;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00" name="Google Shape;400;p14"/>
          <p:cNvSpPr txBox="1"/>
          <p:nvPr/>
        </p:nvSpPr>
        <p:spPr>
          <a:xfrm>
            <a:off x="808406" y="2449513"/>
            <a:ext cx="580287"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Whole</a:t>
            </a:r>
            <a:endParaRPr/>
          </a:p>
        </p:txBody>
      </p:sp>
      <p:grpSp>
        <p:nvGrpSpPr>
          <p:cNvPr id="401" name="Google Shape;401;p14"/>
          <p:cNvGrpSpPr/>
          <p:nvPr/>
        </p:nvGrpSpPr>
        <p:grpSpPr>
          <a:xfrm>
            <a:off x="3046413" y="2390775"/>
            <a:ext cx="1398587" cy="809625"/>
            <a:chOff x="144" y="1440"/>
            <a:chExt cx="881" cy="510"/>
          </a:xfrm>
        </p:grpSpPr>
        <p:sp>
          <p:nvSpPr>
            <p:cNvPr id="402" name="Google Shape;402;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03" name="Google Shape;403;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04" name="Google Shape;404;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05" name="Google Shape;405;p14"/>
          <p:cNvSpPr txBox="1"/>
          <p:nvPr/>
        </p:nvSpPr>
        <p:spPr>
          <a:xfrm>
            <a:off x="3562910" y="2449513"/>
            <a:ext cx="376706"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Part</a:t>
            </a:r>
            <a:endParaRPr/>
          </a:p>
        </p:txBody>
      </p:sp>
      <p:sp>
        <p:nvSpPr>
          <p:cNvPr id="406" name="Google Shape;406;p14"/>
          <p:cNvSpPr txBox="1"/>
          <p:nvPr/>
        </p:nvSpPr>
        <p:spPr>
          <a:xfrm>
            <a:off x="1695450" y="2390775"/>
            <a:ext cx="9080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1..*</a:t>
            </a:r>
            <a:endParaRPr/>
          </a:p>
        </p:txBody>
      </p:sp>
      <p:sp>
        <p:nvSpPr>
          <p:cNvPr id="407" name="Google Shape;407;p14"/>
          <p:cNvSpPr txBox="1"/>
          <p:nvPr/>
        </p:nvSpPr>
        <p:spPr>
          <a:xfrm>
            <a:off x="2308225" y="2390775"/>
            <a:ext cx="9080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0..*</a:t>
            </a:r>
            <a:endParaRPr/>
          </a:p>
        </p:txBody>
      </p:sp>
      <p:sp>
        <p:nvSpPr>
          <p:cNvPr id="408" name="Google Shape;408;p14"/>
          <p:cNvSpPr txBox="1"/>
          <p:nvPr/>
        </p:nvSpPr>
        <p:spPr>
          <a:xfrm>
            <a:off x="2333625" y="1746250"/>
            <a:ext cx="22367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Multiplicity &gt; 1</a:t>
            </a:r>
            <a:endParaRPr/>
          </a:p>
        </p:txBody>
      </p:sp>
      <p:cxnSp>
        <p:nvCxnSpPr>
          <p:cNvPr id="409" name="Google Shape;409;p14"/>
          <p:cNvCxnSpPr/>
          <p:nvPr/>
        </p:nvCxnSpPr>
        <p:spPr>
          <a:xfrm flipH="1">
            <a:off x="2386013" y="2085975"/>
            <a:ext cx="304800" cy="381000"/>
          </a:xfrm>
          <a:prstGeom prst="straightConnector1">
            <a:avLst/>
          </a:prstGeom>
          <a:noFill/>
          <a:ln cap="flat" cmpd="sng" w="28575">
            <a:solidFill>
              <a:schemeClr val="hlink"/>
            </a:solidFill>
            <a:prstDash val="solid"/>
            <a:round/>
            <a:headEnd len="sm" w="sm" type="none"/>
            <a:tailEnd len="med" w="med" type="triangle"/>
          </a:ln>
        </p:spPr>
      </p:cxnSp>
      <p:sp>
        <p:nvSpPr>
          <p:cNvPr id="410" name="Google Shape;410;p14"/>
          <p:cNvSpPr txBox="1"/>
          <p:nvPr/>
        </p:nvSpPr>
        <p:spPr>
          <a:xfrm>
            <a:off x="2154238" y="4011612"/>
            <a:ext cx="2236787"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Multiplicity = 1</a:t>
            </a:r>
            <a:endParaRPr/>
          </a:p>
        </p:txBody>
      </p:sp>
      <p:sp>
        <p:nvSpPr>
          <p:cNvPr id="411" name="Google Shape;411;p14"/>
          <p:cNvSpPr txBox="1"/>
          <p:nvPr/>
        </p:nvSpPr>
        <p:spPr>
          <a:xfrm>
            <a:off x="6597650" y="4075112"/>
            <a:ext cx="223678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Multiplicity = 1</a:t>
            </a:r>
            <a:endParaRPr/>
          </a:p>
        </p:txBody>
      </p:sp>
      <p:sp>
        <p:nvSpPr>
          <p:cNvPr id="412" name="Google Shape;412;p14"/>
          <p:cNvSpPr txBox="1"/>
          <p:nvPr/>
        </p:nvSpPr>
        <p:spPr>
          <a:xfrm>
            <a:off x="6211888" y="4597400"/>
            <a:ext cx="2857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1</a:t>
            </a:r>
            <a:endParaRPr/>
          </a:p>
        </p:txBody>
      </p:sp>
      <p:grpSp>
        <p:nvGrpSpPr>
          <p:cNvPr id="413" name="Google Shape;413;p14"/>
          <p:cNvGrpSpPr/>
          <p:nvPr/>
        </p:nvGrpSpPr>
        <p:grpSpPr>
          <a:xfrm>
            <a:off x="392113" y="4592637"/>
            <a:ext cx="1398587" cy="809625"/>
            <a:chOff x="144" y="1440"/>
            <a:chExt cx="881" cy="510"/>
          </a:xfrm>
        </p:grpSpPr>
        <p:sp>
          <p:nvSpPr>
            <p:cNvPr id="414" name="Google Shape;414;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15" name="Google Shape;415;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16" name="Google Shape;416;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17" name="Google Shape;417;p14"/>
          <p:cNvSpPr txBox="1"/>
          <p:nvPr/>
        </p:nvSpPr>
        <p:spPr>
          <a:xfrm>
            <a:off x="806819" y="4651375"/>
            <a:ext cx="580287"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Whole</a:t>
            </a:r>
            <a:endParaRPr/>
          </a:p>
        </p:txBody>
      </p:sp>
      <p:grpSp>
        <p:nvGrpSpPr>
          <p:cNvPr id="418" name="Google Shape;418;p14"/>
          <p:cNvGrpSpPr/>
          <p:nvPr/>
        </p:nvGrpSpPr>
        <p:grpSpPr>
          <a:xfrm>
            <a:off x="3044825" y="4592637"/>
            <a:ext cx="1398588" cy="809625"/>
            <a:chOff x="144" y="1440"/>
            <a:chExt cx="881" cy="510"/>
          </a:xfrm>
        </p:grpSpPr>
        <p:sp>
          <p:nvSpPr>
            <p:cNvPr id="419" name="Google Shape;419;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20" name="Google Shape;420;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21" name="Google Shape;421;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22" name="Google Shape;422;p14"/>
          <p:cNvSpPr txBox="1"/>
          <p:nvPr/>
        </p:nvSpPr>
        <p:spPr>
          <a:xfrm>
            <a:off x="3561322" y="4651375"/>
            <a:ext cx="376706"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Part</a:t>
            </a:r>
            <a:endParaRPr/>
          </a:p>
        </p:txBody>
      </p:sp>
      <p:sp>
        <p:nvSpPr>
          <p:cNvPr id="423" name="Google Shape;423;p14"/>
          <p:cNvSpPr txBox="1"/>
          <p:nvPr/>
        </p:nvSpPr>
        <p:spPr>
          <a:xfrm>
            <a:off x="1860550" y="4567237"/>
            <a:ext cx="3619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1</a:t>
            </a:r>
            <a:endParaRPr/>
          </a:p>
        </p:txBody>
      </p:sp>
      <p:sp>
        <p:nvSpPr>
          <p:cNvPr id="424" name="Google Shape;424;p14"/>
          <p:cNvSpPr txBox="1"/>
          <p:nvPr/>
        </p:nvSpPr>
        <p:spPr>
          <a:xfrm>
            <a:off x="2479675" y="4567237"/>
            <a:ext cx="60325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0..*</a:t>
            </a:r>
            <a:endParaRPr/>
          </a:p>
        </p:txBody>
      </p:sp>
      <p:grpSp>
        <p:nvGrpSpPr>
          <p:cNvPr id="425" name="Google Shape;425;p14"/>
          <p:cNvGrpSpPr/>
          <p:nvPr/>
        </p:nvGrpSpPr>
        <p:grpSpPr>
          <a:xfrm>
            <a:off x="4695825" y="4592637"/>
            <a:ext cx="1398588" cy="809625"/>
            <a:chOff x="144" y="1440"/>
            <a:chExt cx="881" cy="510"/>
          </a:xfrm>
        </p:grpSpPr>
        <p:sp>
          <p:nvSpPr>
            <p:cNvPr id="426" name="Google Shape;426;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27" name="Google Shape;427;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28" name="Google Shape;428;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29" name="Google Shape;429;p14"/>
          <p:cNvSpPr txBox="1"/>
          <p:nvPr/>
        </p:nvSpPr>
        <p:spPr>
          <a:xfrm>
            <a:off x="5110531" y="4651375"/>
            <a:ext cx="580287"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Whole</a:t>
            </a:r>
            <a:endParaRPr/>
          </a:p>
        </p:txBody>
      </p:sp>
      <p:grpSp>
        <p:nvGrpSpPr>
          <p:cNvPr id="430" name="Google Shape;430;p14"/>
          <p:cNvGrpSpPr/>
          <p:nvPr/>
        </p:nvGrpSpPr>
        <p:grpSpPr>
          <a:xfrm>
            <a:off x="7348538" y="4592637"/>
            <a:ext cx="1398587" cy="809625"/>
            <a:chOff x="144" y="1440"/>
            <a:chExt cx="881" cy="510"/>
          </a:xfrm>
        </p:grpSpPr>
        <p:sp>
          <p:nvSpPr>
            <p:cNvPr id="431" name="Google Shape;431;p14"/>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32" name="Google Shape;432;p14"/>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33" name="Google Shape;433;p14"/>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34" name="Google Shape;434;p14"/>
          <p:cNvSpPr txBox="1"/>
          <p:nvPr/>
        </p:nvSpPr>
        <p:spPr>
          <a:xfrm>
            <a:off x="7865035" y="4651375"/>
            <a:ext cx="376706"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Part</a:t>
            </a:r>
            <a:endParaRPr/>
          </a:p>
        </p:txBody>
      </p:sp>
      <p:sp>
        <p:nvSpPr>
          <p:cNvPr id="435" name="Google Shape;435;p14"/>
          <p:cNvSpPr txBox="1"/>
          <p:nvPr/>
        </p:nvSpPr>
        <p:spPr>
          <a:xfrm>
            <a:off x="6862763" y="4597400"/>
            <a:ext cx="59690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0..*</a:t>
            </a:r>
            <a:endParaRPr/>
          </a:p>
        </p:txBody>
      </p:sp>
      <p:sp>
        <p:nvSpPr>
          <p:cNvPr id="436" name="Google Shape;436;p14"/>
          <p:cNvSpPr txBox="1"/>
          <p:nvPr/>
        </p:nvSpPr>
        <p:spPr>
          <a:xfrm>
            <a:off x="6489700" y="5424487"/>
            <a:ext cx="1582738"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Composition</a:t>
            </a:r>
            <a:endParaRPr/>
          </a:p>
        </p:txBody>
      </p:sp>
      <p:cxnSp>
        <p:nvCxnSpPr>
          <p:cNvPr id="437" name="Google Shape;437;p14"/>
          <p:cNvCxnSpPr/>
          <p:nvPr/>
        </p:nvCxnSpPr>
        <p:spPr>
          <a:xfrm flipH="1">
            <a:off x="6488113" y="4427537"/>
            <a:ext cx="304800" cy="381000"/>
          </a:xfrm>
          <a:prstGeom prst="straightConnector1">
            <a:avLst/>
          </a:prstGeom>
          <a:noFill/>
          <a:ln cap="flat" cmpd="sng" w="28575">
            <a:solidFill>
              <a:schemeClr val="hlink"/>
            </a:solidFill>
            <a:prstDash val="solid"/>
            <a:round/>
            <a:headEnd len="sm" w="sm" type="none"/>
            <a:tailEnd len="med" w="med" type="triangle"/>
          </a:ln>
        </p:spPr>
      </p:cxnSp>
      <p:cxnSp>
        <p:nvCxnSpPr>
          <p:cNvPr id="438" name="Google Shape;438;p14"/>
          <p:cNvCxnSpPr/>
          <p:nvPr/>
        </p:nvCxnSpPr>
        <p:spPr>
          <a:xfrm rot="10800000">
            <a:off x="6284913" y="5087937"/>
            <a:ext cx="304800" cy="381000"/>
          </a:xfrm>
          <a:prstGeom prst="straightConnector1">
            <a:avLst/>
          </a:prstGeom>
          <a:noFill/>
          <a:ln cap="flat" cmpd="sng" w="28575">
            <a:solidFill>
              <a:schemeClr val="hlink"/>
            </a:solidFill>
            <a:prstDash val="solid"/>
            <a:round/>
            <a:headEnd len="sm" w="sm" type="none"/>
            <a:tailEnd len="med" w="med" type="triangle"/>
          </a:ln>
        </p:spPr>
      </p:cxnSp>
      <p:cxnSp>
        <p:nvCxnSpPr>
          <p:cNvPr id="439" name="Google Shape;439;p14"/>
          <p:cNvCxnSpPr/>
          <p:nvPr/>
        </p:nvCxnSpPr>
        <p:spPr>
          <a:xfrm flipH="1">
            <a:off x="2144713" y="4364037"/>
            <a:ext cx="304800" cy="381000"/>
          </a:xfrm>
          <a:prstGeom prst="straightConnector1">
            <a:avLst/>
          </a:prstGeom>
          <a:noFill/>
          <a:ln cap="flat" cmpd="sng" w="28575">
            <a:solidFill>
              <a:schemeClr val="hlink"/>
            </a:solidFill>
            <a:prstDash val="solid"/>
            <a:round/>
            <a:headEnd len="sm" w="sm" type="none"/>
            <a:tailEnd len="med" w="med" type="triangle"/>
          </a:ln>
        </p:spPr>
      </p:cxnSp>
      <p:sp>
        <p:nvSpPr>
          <p:cNvPr id="440" name="Google Shape;440;p14"/>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15"/>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Aggregation or Composition?</a:t>
            </a:r>
            <a:endParaRPr/>
          </a:p>
        </p:txBody>
      </p:sp>
      <p:sp>
        <p:nvSpPr>
          <p:cNvPr id="446" name="Google Shape;446;p15"/>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400"/>
              <a:buChar char="❖"/>
            </a:pPr>
            <a:r>
              <a:rPr lang="en-US"/>
              <a:t>Consideration</a:t>
            </a:r>
            <a:endParaRPr/>
          </a:p>
          <a:p>
            <a:pPr indent="-285750" lvl="1" marL="742950" rtl="0" algn="l">
              <a:spcBef>
                <a:spcPts val="400"/>
              </a:spcBef>
              <a:spcAft>
                <a:spcPts val="0"/>
              </a:spcAft>
              <a:buSzPts val="1000"/>
              <a:buChar char="🞇"/>
            </a:pPr>
            <a:r>
              <a:rPr lang="en-US" sz="2000"/>
              <a:t>Lifetimes of Class1 and Class2</a:t>
            </a:r>
            <a:endParaRPr/>
          </a:p>
        </p:txBody>
      </p:sp>
      <p:sp>
        <p:nvSpPr>
          <p:cNvPr id="447" name="Google Shape;447;p15"/>
          <p:cNvSpPr txBox="1"/>
          <p:nvPr/>
        </p:nvSpPr>
        <p:spPr>
          <a:xfrm>
            <a:off x="3889375" y="3059113"/>
            <a:ext cx="17272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Aggregation</a:t>
            </a:r>
            <a:endParaRPr/>
          </a:p>
        </p:txBody>
      </p:sp>
      <p:sp>
        <p:nvSpPr>
          <p:cNvPr id="448" name="Google Shape;448;p15"/>
          <p:cNvSpPr txBox="1"/>
          <p:nvPr/>
        </p:nvSpPr>
        <p:spPr>
          <a:xfrm>
            <a:off x="3883025" y="4443413"/>
            <a:ext cx="1817688"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Composition</a:t>
            </a:r>
            <a:endParaRPr/>
          </a:p>
        </p:txBody>
      </p:sp>
      <p:cxnSp>
        <p:nvCxnSpPr>
          <p:cNvPr id="449" name="Google Shape;449;p15"/>
          <p:cNvCxnSpPr/>
          <p:nvPr/>
        </p:nvCxnSpPr>
        <p:spPr>
          <a:xfrm>
            <a:off x="3884613" y="2909888"/>
            <a:ext cx="1673225" cy="0"/>
          </a:xfrm>
          <a:prstGeom prst="straightConnector1">
            <a:avLst/>
          </a:prstGeom>
          <a:noFill/>
          <a:ln cap="flat" cmpd="sng" w="9525">
            <a:solidFill>
              <a:schemeClr val="dk1"/>
            </a:solidFill>
            <a:prstDash val="solid"/>
            <a:round/>
            <a:headEnd len="sm" w="sm" type="none"/>
            <a:tailEnd len="med" w="med" type="none"/>
          </a:ln>
        </p:spPr>
      </p:cxnSp>
      <p:sp>
        <p:nvSpPr>
          <p:cNvPr id="450" name="Google Shape;450;p15"/>
          <p:cNvSpPr/>
          <p:nvPr/>
        </p:nvSpPr>
        <p:spPr>
          <a:xfrm>
            <a:off x="3644900" y="2832100"/>
            <a:ext cx="241300" cy="152400"/>
          </a:xfrm>
          <a:prstGeom prst="diamond">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nvGrpSpPr>
          <p:cNvPr id="451" name="Google Shape;451;p15"/>
          <p:cNvGrpSpPr/>
          <p:nvPr/>
        </p:nvGrpSpPr>
        <p:grpSpPr>
          <a:xfrm>
            <a:off x="2235200" y="2527303"/>
            <a:ext cx="1398588" cy="809626"/>
            <a:chOff x="144" y="1440"/>
            <a:chExt cx="881" cy="510"/>
          </a:xfrm>
        </p:grpSpPr>
        <p:sp>
          <p:nvSpPr>
            <p:cNvPr id="452" name="Google Shape;452;p15"/>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53" name="Google Shape;453;p15"/>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54" name="Google Shape;454;p15"/>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55" name="Google Shape;455;p15"/>
          <p:cNvSpPr txBox="1"/>
          <p:nvPr/>
        </p:nvSpPr>
        <p:spPr>
          <a:xfrm>
            <a:off x="2627464" y="2586038"/>
            <a:ext cx="625171"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Class1</a:t>
            </a:r>
            <a:endParaRPr/>
          </a:p>
        </p:txBody>
      </p:sp>
      <p:grpSp>
        <p:nvGrpSpPr>
          <p:cNvPr id="456" name="Google Shape;456;p15"/>
          <p:cNvGrpSpPr/>
          <p:nvPr/>
        </p:nvGrpSpPr>
        <p:grpSpPr>
          <a:xfrm>
            <a:off x="5535613" y="2527303"/>
            <a:ext cx="1398587" cy="809626"/>
            <a:chOff x="144" y="1440"/>
            <a:chExt cx="881" cy="510"/>
          </a:xfrm>
        </p:grpSpPr>
        <p:sp>
          <p:nvSpPr>
            <p:cNvPr id="457" name="Google Shape;457;p15"/>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58" name="Google Shape;458;p15"/>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59" name="Google Shape;459;p15"/>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60" name="Google Shape;460;p15"/>
          <p:cNvSpPr txBox="1"/>
          <p:nvPr/>
        </p:nvSpPr>
        <p:spPr>
          <a:xfrm>
            <a:off x="5927877" y="2586038"/>
            <a:ext cx="625171"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Class2</a:t>
            </a:r>
            <a:endParaRPr/>
          </a:p>
        </p:txBody>
      </p:sp>
      <p:cxnSp>
        <p:nvCxnSpPr>
          <p:cNvPr id="461" name="Google Shape;461;p15"/>
          <p:cNvCxnSpPr/>
          <p:nvPr/>
        </p:nvCxnSpPr>
        <p:spPr>
          <a:xfrm>
            <a:off x="3884613" y="4256088"/>
            <a:ext cx="1673225" cy="0"/>
          </a:xfrm>
          <a:prstGeom prst="straightConnector1">
            <a:avLst/>
          </a:prstGeom>
          <a:noFill/>
          <a:ln cap="flat" cmpd="sng" w="9525">
            <a:solidFill>
              <a:schemeClr val="dk1"/>
            </a:solidFill>
            <a:prstDash val="solid"/>
            <a:round/>
            <a:headEnd len="sm" w="sm" type="none"/>
            <a:tailEnd len="med" w="med" type="none"/>
          </a:ln>
        </p:spPr>
      </p:cxnSp>
      <p:sp>
        <p:nvSpPr>
          <p:cNvPr id="462" name="Google Shape;462;p15"/>
          <p:cNvSpPr/>
          <p:nvPr/>
        </p:nvSpPr>
        <p:spPr>
          <a:xfrm>
            <a:off x="3644900" y="4178300"/>
            <a:ext cx="241300" cy="152400"/>
          </a:xfrm>
          <a:prstGeom prst="diamond">
            <a:avLst/>
          </a:prstGeom>
          <a:solidFill>
            <a:srgbClr val="0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nvGrpSpPr>
          <p:cNvPr id="463" name="Google Shape;463;p15"/>
          <p:cNvGrpSpPr/>
          <p:nvPr/>
        </p:nvGrpSpPr>
        <p:grpSpPr>
          <a:xfrm>
            <a:off x="2235200" y="3873500"/>
            <a:ext cx="1398588" cy="809625"/>
            <a:chOff x="144" y="1440"/>
            <a:chExt cx="881" cy="510"/>
          </a:xfrm>
        </p:grpSpPr>
        <p:sp>
          <p:nvSpPr>
            <p:cNvPr id="464" name="Google Shape;464;p15"/>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65" name="Google Shape;465;p15"/>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66" name="Google Shape;466;p15"/>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67" name="Google Shape;467;p15"/>
          <p:cNvSpPr txBox="1"/>
          <p:nvPr/>
        </p:nvSpPr>
        <p:spPr>
          <a:xfrm>
            <a:off x="2627464" y="3932238"/>
            <a:ext cx="625171"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Class1</a:t>
            </a:r>
            <a:endParaRPr/>
          </a:p>
        </p:txBody>
      </p:sp>
      <p:grpSp>
        <p:nvGrpSpPr>
          <p:cNvPr id="468" name="Google Shape;468;p15"/>
          <p:cNvGrpSpPr/>
          <p:nvPr/>
        </p:nvGrpSpPr>
        <p:grpSpPr>
          <a:xfrm>
            <a:off x="5535613" y="3873500"/>
            <a:ext cx="1398587" cy="809625"/>
            <a:chOff x="144" y="1440"/>
            <a:chExt cx="881" cy="510"/>
          </a:xfrm>
        </p:grpSpPr>
        <p:sp>
          <p:nvSpPr>
            <p:cNvPr id="469" name="Google Shape;469;p15"/>
            <p:cNvSpPr/>
            <p:nvPr/>
          </p:nvSpPr>
          <p:spPr>
            <a:xfrm>
              <a:off x="144" y="1440"/>
              <a:ext cx="881" cy="51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470" name="Google Shape;470;p15"/>
            <p:cNvCxnSpPr/>
            <p:nvPr/>
          </p:nvCxnSpPr>
          <p:spPr>
            <a:xfrm>
              <a:off x="144" y="1810"/>
              <a:ext cx="881" cy="0"/>
            </a:xfrm>
            <a:prstGeom prst="straightConnector1">
              <a:avLst/>
            </a:prstGeom>
            <a:noFill/>
            <a:ln cap="flat" cmpd="sng" w="9525">
              <a:solidFill>
                <a:srgbClr val="8A0E5E"/>
              </a:solidFill>
              <a:prstDash val="solid"/>
              <a:round/>
              <a:headEnd len="sm" w="sm" type="none"/>
              <a:tailEnd len="sm" w="sm" type="none"/>
            </a:ln>
          </p:spPr>
        </p:cxnSp>
        <p:cxnSp>
          <p:nvCxnSpPr>
            <p:cNvPr id="471" name="Google Shape;471;p15"/>
            <p:cNvCxnSpPr/>
            <p:nvPr/>
          </p:nvCxnSpPr>
          <p:spPr>
            <a:xfrm>
              <a:off x="144" y="1680"/>
              <a:ext cx="881" cy="0"/>
            </a:xfrm>
            <a:prstGeom prst="straightConnector1">
              <a:avLst/>
            </a:prstGeom>
            <a:noFill/>
            <a:ln cap="flat" cmpd="sng" w="9525">
              <a:solidFill>
                <a:srgbClr val="8A0E5E"/>
              </a:solidFill>
              <a:prstDash val="solid"/>
              <a:round/>
              <a:headEnd len="sm" w="sm" type="none"/>
              <a:tailEnd len="sm" w="sm" type="none"/>
            </a:ln>
          </p:spPr>
        </p:cxnSp>
      </p:grpSp>
      <p:sp>
        <p:nvSpPr>
          <p:cNvPr id="472" name="Google Shape;472;p15"/>
          <p:cNvSpPr txBox="1"/>
          <p:nvPr/>
        </p:nvSpPr>
        <p:spPr>
          <a:xfrm>
            <a:off x="5927877" y="3932238"/>
            <a:ext cx="625171"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Class2</a:t>
            </a:r>
            <a:endParaRPr/>
          </a:p>
        </p:txBody>
      </p:sp>
      <p:sp>
        <p:nvSpPr>
          <p:cNvPr id="473" name="Google Shape;473;p15"/>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6"/>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Composition</a:t>
            </a:r>
            <a:endParaRPr/>
          </a:p>
        </p:txBody>
      </p:sp>
      <p:cxnSp>
        <p:nvCxnSpPr>
          <p:cNvPr id="479" name="Google Shape;479;p16"/>
          <p:cNvCxnSpPr/>
          <p:nvPr/>
        </p:nvCxnSpPr>
        <p:spPr>
          <a:xfrm>
            <a:off x="3676650" y="2219325"/>
            <a:ext cx="2028825" cy="0"/>
          </a:xfrm>
          <a:prstGeom prst="straightConnector1">
            <a:avLst/>
          </a:prstGeom>
          <a:noFill/>
          <a:ln cap="flat" cmpd="sng" w="12700">
            <a:solidFill>
              <a:schemeClr val="dk1"/>
            </a:solidFill>
            <a:prstDash val="solid"/>
            <a:round/>
            <a:headEnd len="med" w="med" type="none"/>
            <a:tailEnd len="med" w="med" type="stealth"/>
          </a:ln>
        </p:spPr>
      </p:cxnSp>
      <p:sp>
        <p:nvSpPr>
          <p:cNvPr id="480" name="Google Shape;480;p16"/>
          <p:cNvSpPr/>
          <p:nvPr/>
        </p:nvSpPr>
        <p:spPr>
          <a:xfrm>
            <a:off x="3616325" y="1833563"/>
            <a:ext cx="270908"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1</a:t>
            </a:r>
            <a:endParaRPr/>
          </a:p>
        </p:txBody>
      </p:sp>
      <p:sp>
        <p:nvSpPr>
          <p:cNvPr id="481" name="Google Shape;481;p16"/>
          <p:cNvSpPr/>
          <p:nvPr/>
        </p:nvSpPr>
        <p:spPr>
          <a:xfrm>
            <a:off x="5267325" y="2278063"/>
            <a:ext cx="416781"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a:p>
        </p:txBody>
      </p:sp>
      <p:grpSp>
        <p:nvGrpSpPr>
          <p:cNvPr id="482" name="Google Shape;482;p16"/>
          <p:cNvGrpSpPr/>
          <p:nvPr/>
        </p:nvGrpSpPr>
        <p:grpSpPr>
          <a:xfrm>
            <a:off x="5727700" y="1778000"/>
            <a:ext cx="1504950" cy="825500"/>
            <a:chOff x="3162" y="1988"/>
            <a:chExt cx="948" cy="520"/>
          </a:xfrm>
        </p:grpSpPr>
        <p:sp>
          <p:nvSpPr>
            <p:cNvPr id="483" name="Google Shape;483;p16"/>
            <p:cNvSpPr/>
            <p:nvPr/>
          </p:nvSpPr>
          <p:spPr>
            <a:xfrm>
              <a:off x="3162" y="1988"/>
              <a:ext cx="946" cy="52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cxnSp>
          <p:nvCxnSpPr>
            <p:cNvPr id="484" name="Google Shape;484;p16"/>
            <p:cNvCxnSpPr/>
            <p:nvPr/>
          </p:nvCxnSpPr>
          <p:spPr>
            <a:xfrm>
              <a:off x="3168" y="2378"/>
              <a:ext cx="942" cy="0"/>
            </a:xfrm>
            <a:prstGeom prst="straightConnector1">
              <a:avLst/>
            </a:prstGeom>
            <a:noFill/>
            <a:ln cap="flat" cmpd="sng" w="12700">
              <a:solidFill>
                <a:srgbClr val="990033"/>
              </a:solidFill>
              <a:prstDash val="solid"/>
              <a:round/>
              <a:headEnd len="sm" w="sm" type="none"/>
              <a:tailEnd len="sm" w="sm" type="none"/>
            </a:ln>
          </p:spPr>
        </p:cxnSp>
        <p:cxnSp>
          <p:nvCxnSpPr>
            <p:cNvPr id="485" name="Google Shape;485;p16"/>
            <p:cNvCxnSpPr/>
            <p:nvPr/>
          </p:nvCxnSpPr>
          <p:spPr>
            <a:xfrm>
              <a:off x="3168" y="2298"/>
              <a:ext cx="942" cy="0"/>
            </a:xfrm>
            <a:prstGeom prst="straightConnector1">
              <a:avLst/>
            </a:prstGeom>
            <a:noFill/>
            <a:ln cap="flat" cmpd="sng" w="12700">
              <a:solidFill>
                <a:srgbClr val="990033"/>
              </a:solidFill>
              <a:prstDash val="solid"/>
              <a:round/>
              <a:headEnd len="sm" w="sm" type="none"/>
              <a:tailEnd len="sm" w="sm" type="none"/>
            </a:ln>
          </p:spPr>
        </p:cxnSp>
      </p:grpSp>
      <p:sp>
        <p:nvSpPr>
          <p:cNvPr id="486" name="Google Shape;486;p16"/>
          <p:cNvSpPr/>
          <p:nvPr/>
        </p:nvSpPr>
        <p:spPr>
          <a:xfrm>
            <a:off x="5918200" y="1882775"/>
            <a:ext cx="1189038" cy="3365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Schedule</a:t>
            </a:r>
            <a:endParaRPr/>
          </a:p>
        </p:txBody>
      </p:sp>
      <p:sp>
        <p:nvSpPr>
          <p:cNvPr id="487" name="Google Shape;487;p16"/>
          <p:cNvSpPr/>
          <p:nvPr/>
        </p:nvSpPr>
        <p:spPr>
          <a:xfrm>
            <a:off x="3606800" y="2146300"/>
            <a:ext cx="241300" cy="152400"/>
          </a:xfrm>
          <a:prstGeom prst="diamond">
            <a:avLst/>
          </a:prstGeom>
          <a:solidFill>
            <a:srgbClr val="0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grpSp>
        <p:nvGrpSpPr>
          <p:cNvPr id="488" name="Google Shape;488;p16"/>
          <p:cNvGrpSpPr/>
          <p:nvPr/>
        </p:nvGrpSpPr>
        <p:grpSpPr>
          <a:xfrm>
            <a:off x="2095500" y="1778000"/>
            <a:ext cx="1504950" cy="825500"/>
            <a:chOff x="3162" y="1988"/>
            <a:chExt cx="948" cy="520"/>
          </a:xfrm>
        </p:grpSpPr>
        <p:sp>
          <p:nvSpPr>
            <p:cNvPr id="489" name="Google Shape;489;p16"/>
            <p:cNvSpPr/>
            <p:nvPr/>
          </p:nvSpPr>
          <p:spPr>
            <a:xfrm>
              <a:off x="3162" y="1988"/>
              <a:ext cx="946" cy="52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cxnSp>
          <p:nvCxnSpPr>
            <p:cNvPr id="490" name="Google Shape;490;p16"/>
            <p:cNvCxnSpPr/>
            <p:nvPr/>
          </p:nvCxnSpPr>
          <p:spPr>
            <a:xfrm>
              <a:off x="3168" y="2378"/>
              <a:ext cx="942" cy="0"/>
            </a:xfrm>
            <a:prstGeom prst="straightConnector1">
              <a:avLst/>
            </a:prstGeom>
            <a:noFill/>
            <a:ln cap="flat" cmpd="sng" w="12700">
              <a:solidFill>
                <a:srgbClr val="990033"/>
              </a:solidFill>
              <a:prstDash val="solid"/>
              <a:round/>
              <a:headEnd len="sm" w="sm" type="none"/>
              <a:tailEnd len="sm" w="sm" type="none"/>
            </a:ln>
          </p:spPr>
        </p:cxnSp>
        <p:cxnSp>
          <p:nvCxnSpPr>
            <p:cNvPr id="491" name="Google Shape;491;p16"/>
            <p:cNvCxnSpPr/>
            <p:nvPr/>
          </p:nvCxnSpPr>
          <p:spPr>
            <a:xfrm>
              <a:off x="3168" y="2298"/>
              <a:ext cx="942" cy="0"/>
            </a:xfrm>
            <a:prstGeom prst="straightConnector1">
              <a:avLst/>
            </a:prstGeom>
            <a:noFill/>
            <a:ln cap="flat" cmpd="sng" w="12700">
              <a:solidFill>
                <a:srgbClr val="990033"/>
              </a:solidFill>
              <a:prstDash val="solid"/>
              <a:round/>
              <a:headEnd len="sm" w="sm" type="none"/>
              <a:tailEnd len="sm" w="sm" type="none"/>
            </a:ln>
          </p:spPr>
        </p:cxnSp>
      </p:grpSp>
      <p:sp>
        <p:nvSpPr>
          <p:cNvPr id="492" name="Google Shape;492;p16"/>
          <p:cNvSpPr/>
          <p:nvPr/>
        </p:nvSpPr>
        <p:spPr>
          <a:xfrm>
            <a:off x="2273300" y="1882775"/>
            <a:ext cx="1189038" cy="3365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Student</a:t>
            </a:r>
            <a:endParaRPr/>
          </a:p>
        </p:txBody>
      </p:sp>
      <p:sp>
        <p:nvSpPr>
          <p:cNvPr id="493" name="Google Shape;493;p16"/>
          <p:cNvSpPr/>
          <p:nvPr/>
        </p:nvSpPr>
        <p:spPr>
          <a:xfrm>
            <a:off x="1498600" y="3613150"/>
            <a:ext cx="2554288" cy="7715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494" name="Google Shape;494;p16"/>
          <p:cNvCxnSpPr/>
          <p:nvPr/>
        </p:nvCxnSpPr>
        <p:spPr>
          <a:xfrm>
            <a:off x="1511300" y="4232275"/>
            <a:ext cx="2544763" cy="1588"/>
          </a:xfrm>
          <a:prstGeom prst="straightConnector1">
            <a:avLst/>
          </a:prstGeom>
          <a:noFill/>
          <a:ln cap="flat" cmpd="sng" w="12700">
            <a:solidFill>
              <a:srgbClr val="990033"/>
            </a:solidFill>
            <a:prstDash val="solid"/>
            <a:round/>
            <a:headEnd len="sm" w="sm" type="none"/>
            <a:tailEnd len="sm" w="sm" type="none"/>
          </a:ln>
        </p:spPr>
      </p:cxnSp>
      <p:sp>
        <p:nvSpPr>
          <p:cNvPr id="495" name="Google Shape;495;p16"/>
          <p:cNvSpPr/>
          <p:nvPr/>
        </p:nvSpPr>
        <p:spPr>
          <a:xfrm>
            <a:off x="1450975" y="3717925"/>
            <a:ext cx="2668588" cy="3365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RegisterForCoursesForm</a:t>
            </a:r>
            <a:endParaRPr/>
          </a:p>
        </p:txBody>
      </p:sp>
      <p:cxnSp>
        <p:nvCxnSpPr>
          <p:cNvPr id="496" name="Google Shape;496;p16"/>
          <p:cNvCxnSpPr/>
          <p:nvPr/>
        </p:nvCxnSpPr>
        <p:spPr>
          <a:xfrm>
            <a:off x="1511300" y="4105275"/>
            <a:ext cx="2544763" cy="1588"/>
          </a:xfrm>
          <a:prstGeom prst="straightConnector1">
            <a:avLst/>
          </a:prstGeom>
          <a:noFill/>
          <a:ln cap="flat" cmpd="sng" w="12700">
            <a:solidFill>
              <a:srgbClr val="990033"/>
            </a:solidFill>
            <a:prstDash val="solid"/>
            <a:round/>
            <a:headEnd len="sm" w="sm" type="none"/>
            <a:tailEnd len="sm" w="sm" type="none"/>
          </a:ln>
        </p:spPr>
      </p:cxnSp>
      <p:sp>
        <p:nvSpPr>
          <p:cNvPr id="497" name="Google Shape;497;p16"/>
          <p:cNvSpPr/>
          <p:nvPr/>
        </p:nvSpPr>
        <p:spPr>
          <a:xfrm>
            <a:off x="4086225" y="3675063"/>
            <a:ext cx="270908"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1</a:t>
            </a:r>
            <a:endParaRPr/>
          </a:p>
        </p:txBody>
      </p:sp>
      <p:sp>
        <p:nvSpPr>
          <p:cNvPr id="498" name="Google Shape;498;p16"/>
          <p:cNvSpPr/>
          <p:nvPr/>
        </p:nvSpPr>
        <p:spPr>
          <a:xfrm>
            <a:off x="4937125" y="4068763"/>
            <a:ext cx="270908" cy="277641"/>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1</a:t>
            </a:r>
            <a:endParaRPr/>
          </a:p>
        </p:txBody>
      </p:sp>
      <p:cxnSp>
        <p:nvCxnSpPr>
          <p:cNvPr id="499" name="Google Shape;499;p16"/>
          <p:cNvCxnSpPr/>
          <p:nvPr/>
        </p:nvCxnSpPr>
        <p:spPr>
          <a:xfrm>
            <a:off x="4133850" y="4022725"/>
            <a:ext cx="1101725" cy="0"/>
          </a:xfrm>
          <a:prstGeom prst="straightConnector1">
            <a:avLst/>
          </a:prstGeom>
          <a:noFill/>
          <a:ln cap="flat" cmpd="sng" w="12700">
            <a:solidFill>
              <a:schemeClr val="dk1"/>
            </a:solidFill>
            <a:prstDash val="solid"/>
            <a:round/>
            <a:headEnd len="med" w="med" type="none"/>
            <a:tailEnd len="med" w="med" type="stealth"/>
          </a:ln>
        </p:spPr>
      </p:cxnSp>
      <p:sp>
        <p:nvSpPr>
          <p:cNvPr id="500" name="Google Shape;500;p16"/>
          <p:cNvSpPr/>
          <p:nvPr/>
        </p:nvSpPr>
        <p:spPr>
          <a:xfrm>
            <a:off x="4064000" y="3949700"/>
            <a:ext cx="241300" cy="152400"/>
          </a:xfrm>
          <a:prstGeom prst="diamond">
            <a:avLst/>
          </a:prstGeom>
          <a:solidFill>
            <a:srgbClr val="0000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01" name="Google Shape;501;p16"/>
          <p:cNvSpPr/>
          <p:nvPr/>
        </p:nvSpPr>
        <p:spPr>
          <a:xfrm>
            <a:off x="5245100" y="3613150"/>
            <a:ext cx="2554288" cy="77152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02" name="Google Shape;502;p16"/>
          <p:cNvCxnSpPr/>
          <p:nvPr/>
        </p:nvCxnSpPr>
        <p:spPr>
          <a:xfrm>
            <a:off x="5257800" y="4232275"/>
            <a:ext cx="2544763" cy="1588"/>
          </a:xfrm>
          <a:prstGeom prst="straightConnector1">
            <a:avLst/>
          </a:prstGeom>
          <a:noFill/>
          <a:ln cap="flat" cmpd="sng" w="12700">
            <a:solidFill>
              <a:srgbClr val="990033"/>
            </a:solidFill>
            <a:prstDash val="solid"/>
            <a:round/>
            <a:headEnd len="sm" w="sm" type="none"/>
            <a:tailEnd len="sm" w="sm" type="none"/>
          </a:ln>
        </p:spPr>
      </p:cxnSp>
      <p:sp>
        <p:nvSpPr>
          <p:cNvPr id="503" name="Google Shape;503;p16"/>
          <p:cNvSpPr/>
          <p:nvPr/>
        </p:nvSpPr>
        <p:spPr>
          <a:xfrm>
            <a:off x="5362575" y="3717925"/>
            <a:ext cx="2351088" cy="3365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RegistrationController</a:t>
            </a:r>
            <a:endParaRPr/>
          </a:p>
        </p:txBody>
      </p:sp>
      <p:cxnSp>
        <p:nvCxnSpPr>
          <p:cNvPr id="504" name="Google Shape;504;p16"/>
          <p:cNvCxnSpPr/>
          <p:nvPr/>
        </p:nvCxnSpPr>
        <p:spPr>
          <a:xfrm>
            <a:off x="5257800" y="4105275"/>
            <a:ext cx="2544763" cy="1588"/>
          </a:xfrm>
          <a:prstGeom prst="straightConnector1">
            <a:avLst/>
          </a:prstGeom>
          <a:noFill/>
          <a:ln cap="flat" cmpd="sng" w="12700">
            <a:solidFill>
              <a:srgbClr val="990033"/>
            </a:solidFill>
            <a:prstDash val="solid"/>
            <a:round/>
            <a:headEnd len="sm" w="sm" type="none"/>
            <a:tailEnd len="sm" w="sm" type="none"/>
          </a:ln>
        </p:spPr>
      </p:cxnSp>
      <p:sp>
        <p:nvSpPr>
          <p:cNvPr id="505" name="Google Shape;505;p16"/>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17"/>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Attributes vs. Composition</a:t>
            </a:r>
            <a:endParaRPr/>
          </a:p>
        </p:txBody>
      </p:sp>
      <p:sp>
        <p:nvSpPr>
          <p:cNvPr id="512" name="Google Shape;512;p17"/>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Use composition when</a:t>
            </a:r>
            <a:endParaRPr/>
          </a:p>
          <a:p>
            <a:pPr indent="-285750" lvl="1" marL="742950" rtl="0" algn="l">
              <a:spcBef>
                <a:spcPts val="400"/>
              </a:spcBef>
              <a:spcAft>
                <a:spcPts val="0"/>
              </a:spcAft>
              <a:buSzPts val="1000"/>
              <a:buChar char="🞇"/>
            </a:pPr>
            <a:r>
              <a:rPr lang="en-US" sz="2000"/>
              <a:t>Properties need independent identities</a:t>
            </a:r>
            <a:endParaRPr/>
          </a:p>
          <a:p>
            <a:pPr indent="-285750" lvl="1" marL="742950" rtl="0" algn="l">
              <a:spcBef>
                <a:spcPts val="400"/>
              </a:spcBef>
              <a:spcAft>
                <a:spcPts val="0"/>
              </a:spcAft>
              <a:buSzPts val="1000"/>
              <a:buChar char="🞇"/>
            </a:pPr>
            <a:r>
              <a:rPr lang="en-US" sz="2000"/>
              <a:t>Multiple classes have the same properties</a:t>
            </a:r>
            <a:endParaRPr/>
          </a:p>
          <a:p>
            <a:pPr indent="-285750" lvl="1" marL="742950" rtl="0" algn="l">
              <a:spcBef>
                <a:spcPts val="400"/>
              </a:spcBef>
              <a:spcAft>
                <a:spcPts val="0"/>
              </a:spcAft>
              <a:buSzPts val="1000"/>
              <a:buChar char="🞇"/>
            </a:pPr>
            <a:r>
              <a:rPr lang="en-US" sz="2000"/>
              <a:t>Properties have a complex structure and properties of their own</a:t>
            </a:r>
            <a:endParaRPr/>
          </a:p>
          <a:p>
            <a:pPr indent="-285750" lvl="1" marL="742950" rtl="0" algn="l">
              <a:spcBef>
                <a:spcPts val="400"/>
              </a:spcBef>
              <a:spcAft>
                <a:spcPts val="0"/>
              </a:spcAft>
              <a:buSzPts val="1000"/>
              <a:buChar char="🞇"/>
            </a:pPr>
            <a:r>
              <a:rPr lang="en-US" sz="2000"/>
              <a:t>Properties have complex behavior of their own</a:t>
            </a:r>
            <a:endParaRPr/>
          </a:p>
          <a:p>
            <a:pPr indent="-285750" lvl="1" marL="742950" rtl="0" algn="l">
              <a:spcBef>
                <a:spcPts val="400"/>
              </a:spcBef>
              <a:spcAft>
                <a:spcPts val="0"/>
              </a:spcAft>
              <a:buSzPts val="1000"/>
              <a:buChar char="🞇"/>
            </a:pPr>
            <a:r>
              <a:rPr lang="en-US" sz="2000"/>
              <a:t>Properties have relationships of their own</a:t>
            </a:r>
            <a:endParaRPr/>
          </a:p>
          <a:p>
            <a:pPr indent="-342900" lvl="0" marL="342900" rtl="0" algn="l">
              <a:spcBef>
                <a:spcPts val="400"/>
              </a:spcBef>
              <a:spcAft>
                <a:spcPts val="0"/>
              </a:spcAft>
              <a:buClr>
                <a:srgbClr val="000000"/>
              </a:buClr>
              <a:buSzPts val="2000"/>
              <a:buChar char="❖"/>
            </a:pPr>
            <a:r>
              <a:rPr lang="en-US" sz="2000"/>
              <a:t>Otherwise use attributes</a:t>
            </a:r>
            <a:endParaRPr/>
          </a:p>
        </p:txBody>
      </p:sp>
      <p:sp>
        <p:nvSpPr>
          <p:cNvPr id="513" name="Google Shape;513;p17"/>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18"/>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2800"/>
              <a:t>Example: Attributes vs. Composition</a:t>
            </a:r>
            <a:endParaRPr/>
          </a:p>
        </p:txBody>
      </p:sp>
      <p:sp>
        <p:nvSpPr>
          <p:cNvPr id="519" name="Google Shape;519;p18"/>
          <p:cNvSpPr txBox="1"/>
          <p:nvPr/>
        </p:nvSpPr>
        <p:spPr>
          <a:xfrm>
            <a:off x="3621088" y="4343400"/>
            <a:ext cx="18542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600">
                <a:solidFill>
                  <a:srgbClr val="FF0000"/>
                </a:solidFill>
                <a:latin typeface="Arial"/>
                <a:ea typeface="Arial"/>
                <a:cs typeface="Arial"/>
                <a:sym typeface="Arial"/>
              </a:rPr>
              <a:t>Composition of separate class</a:t>
            </a:r>
            <a:endParaRPr/>
          </a:p>
        </p:txBody>
      </p:sp>
      <p:cxnSp>
        <p:nvCxnSpPr>
          <p:cNvPr id="520" name="Google Shape;520;p18"/>
          <p:cNvCxnSpPr/>
          <p:nvPr/>
        </p:nvCxnSpPr>
        <p:spPr>
          <a:xfrm>
            <a:off x="4725988" y="1906588"/>
            <a:ext cx="850900" cy="844550"/>
          </a:xfrm>
          <a:prstGeom prst="straightConnector1">
            <a:avLst/>
          </a:prstGeom>
          <a:noFill/>
          <a:ln cap="flat" cmpd="sng" w="28575">
            <a:solidFill>
              <a:schemeClr val="hlink"/>
            </a:solidFill>
            <a:prstDash val="solid"/>
            <a:round/>
            <a:headEnd len="sm" w="sm" type="none"/>
            <a:tailEnd len="med" w="med" type="triangle"/>
          </a:ln>
        </p:spPr>
      </p:cxnSp>
      <p:sp>
        <p:nvSpPr>
          <p:cNvPr id="521" name="Google Shape;521;p18"/>
          <p:cNvSpPr txBox="1"/>
          <p:nvPr/>
        </p:nvSpPr>
        <p:spPr>
          <a:xfrm>
            <a:off x="4052888" y="1506538"/>
            <a:ext cx="1270000"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rgbClr val="FF0000"/>
                </a:solidFill>
                <a:latin typeface="Arial"/>
                <a:ea typeface="Arial"/>
                <a:cs typeface="Arial"/>
                <a:sym typeface="Arial"/>
              </a:rPr>
              <a:t>Attribute</a:t>
            </a:r>
            <a:endParaRPr/>
          </a:p>
        </p:txBody>
      </p:sp>
      <p:cxnSp>
        <p:nvCxnSpPr>
          <p:cNvPr id="522" name="Google Shape;522;p18"/>
          <p:cNvCxnSpPr/>
          <p:nvPr/>
        </p:nvCxnSpPr>
        <p:spPr>
          <a:xfrm rot="10800000">
            <a:off x="3544888" y="3494088"/>
            <a:ext cx="850900" cy="844550"/>
          </a:xfrm>
          <a:prstGeom prst="straightConnector1">
            <a:avLst/>
          </a:prstGeom>
          <a:noFill/>
          <a:ln cap="flat" cmpd="sng" w="28575">
            <a:solidFill>
              <a:schemeClr val="hlink"/>
            </a:solidFill>
            <a:prstDash val="solid"/>
            <a:round/>
            <a:headEnd len="sm" w="sm" type="none"/>
            <a:tailEnd len="med" w="med" type="triangle"/>
          </a:ln>
        </p:spPr>
      </p:cxnSp>
      <p:sp>
        <p:nvSpPr>
          <p:cNvPr id="523" name="Google Shape;523;p18"/>
          <p:cNvSpPr/>
          <p:nvPr/>
        </p:nvSpPr>
        <p:spPr>
          <a:xfrm>
            <a:off x="1098550" y="1722438"/>
            <a:ext cx="2219325" cy="345757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4" name="Google Shape;524;p18"/>
          <p:cNvSpPr/>
          <p:nvPr/>
        </p:nvSpPr>
        <p:spPr>
          <a:xfrm>
            <a:off x="1824038" y="1873250"/>
            <a:ext cx="706925"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Student</a:t>
            </a:r>
            <a:endParaRPr sz="1600">
              <a:solidFill>
                <a:srgbClr val="000000"/>
              </a:solidFill>
              <a:latin typeface="Arial"/>
              <a:ea typeface="Arial"/>
              <a:cs typeface="Arial"/>
              <a:sym typeface="Arial"/>
            </a:endParaRPr>
          </a:p>
        </p:txBody>
      </p:sp>
      <p:sp>
        <p:nvSpPr>
          <p:cNvPr id="525" name="Google Shape;525;p18"/>
          <p:cNvSpPr/>
          <p:nvPr/>
        </p:nvSpPr>
        <p:spPr>
          <a:xfrm>
            <a:off x="1098550" y="2301875"/>
            <a:ext cx="2219325" cy="2878138"/>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6" name="Google Shape;526;p18"/>
          <p:cNvSpPr/>
          <p:nvPr/>
        </p:nvSpPr>
        <p:spPr>
          <a:xfrm>
            <a:off x="1098550" y="3678238"/>
            <a:ext cx="2219325" cy="1501775"/>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27" name="Google Shape;527;p18"/>
          <p:cNvSpPr/>
          <p:nvPr/>
        </p:nvSpPr>
        <p:spPr>
          <a:xfrm>
            <a:off x="1144588" y="2333625"/>
            <a:ext cx="639599"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name</a:t>
            </a:r>
            <a:endParaRPr sz="1600">
              <a:solidFill>
                <a:srgbClr val="000000"/>
              </a:solidFill>
              <a:latin typeface="Arial"/>
              <a:ea typeface="Arial"/>
              <a:cs typeface="Arial"/>
              <a:sym typeface="Arial"/>
            </a:endParaRPr>
          </a:p>
        </p:txBody>
      </p:sp>
      <p:sp>
        <p:nvSpPr>
          <p:cNvPr id="528" name="Google Shape;528;p18"/>
          <p:cNvSpPr/>
          <p:nvPr/>
        </p:nvSpPr>
        <p:spPr>
          <a:xfrm>
            <a:off x="1144588" y="2582863"/>
            <a:ext cx="856004"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address</a:t>
            </a:r>
            <a:endParaRPr sz="900">
              <a:solidFill>
                <a:srgbClr val="000000"/>
              </a:solidFill>
              <a:latin typeface="Arial"/>
              <a:ea typeface="Arial"/>
              <a:cs typeface="Arial"/>
              <a:sym typeface="Arial"/>
            </a:endParaRPr>
          </a:p>
        </p:txBody>
      </p:sp>
      <p:sp>
        <p:nvSpPr>
          <p:cNvPr id="529" name="Google Shape;529;p18"/>
          <p:cNvSpPr/>
          <p:nvPr/>
        </p:nvSpPr>
        <p:spPr>
          <a:xfrm>
            <a:off x="1144588" y="2833688"/>
            <a:ext cx="1547988"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u="sng">
                <a:solidFill>
                  <a:srgbClr val="000000"/>
                </a:solidFill>
                <a:latin typeface="Arial"/>
                <a:ea typeface="Arial"/>
                <a:cs typeface="Arial"/>
                <a:sym typeface="Arial"/>
              </a:rPr>
              <a:t>- nextAvailID : int</a:t>
            </a:r>
            <a:endParaRPr sz="900" u="sng">
              <a:solidFill>
                <a:srgbClr val="000000"/>
              </a:solidFill>
              <a:latin typeface="Arial"/>
              <a:ea typeface="Arial"/>
              <a:cs typeface="Arial"/>
              <a:sym typeface="Arial"/>
            </a:endParaRPr>
          </a:p>
        </p:txBody>
      </p:sp>
      <p:sp>
        <p:nvSpPr>
          <p:cNvPr id="530" name="Google Shape;530;p18"/>
          <p:cNvSpPr/>
          <p:nvPr/>
        </p:nvSpPr>
        <p:spPr>
          <a:xfrm>
            <a:off x="1144588" y="3082925"/>
            <a:ext cx="1428276"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StudentID : int</a:t>
            </a:r>
            <a:endParaRPr sz="900">
              <a:solidFill>
                <a:srgbClr val="000000"/>
              </a:solidFill>
              <a:latin typeface="Arial"/>
              <a:ea typeface="Arial"/>
              <a:cs typeface="Arial"/>
              <a:sym typeface="Arial"/>
            </a:endParaRPr>
          </a:p>
        </p:txBody>
      </p:sp>
      <p:sp>
        <p:nvSpPr>
          <p:cNvPr id="531" name="Google Shape;531;p18"/>
          <p:cNvSpPr/>
          <p:nvPr/>
        </p:nvSpPr>
        <p:spPr>
          <a:xfrm>
            <a:off x="1144588" y="3333750"/>
            <a:ext cx="172483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dateofBirth : Date</a:t>
            </a:r>
            <a:endParaRPr sz="900">
              <a:solidFill>
                <a:srgbClr val="000000"/>
              </a:solidFill>
              <a:latin typeface="Arial"/>
              <a:ea typeface="Arial"/>
              <a:cs typeface="Arial"/>
              <a:sym typeface="Arial"/>
            </a:endParaRPr>
          </a:p>
        </p:txBody>
      </p:sp>
      <p:sp>
        <p:nvSpPr>
          <p:cNvPr id="532" name="Google Shape;532;p18"/>
          <p:cNvSpPr/>
          <p:nvPr/>
        </p:nvSpPr>
        <p:spPr>
          <a:xfrm>
            <a:off x="1144588" y="3833813"/>
            <a:ext cx="1567737"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addSchedule ()</a:t>
            </a:r>
            <a:endParaRPr sz="900">
              <a:solidFill>
                <a:srgbClr val="000000"/>
              </a:solidFill>
              <a:latin typeface="Arial"/>
              <a:ea typeface="Arial"/>
              <a:cs typeface="Arial"/>
              <a:sym typeface="Arial"/>
            </a:endParaRPr>
          </a:p>
        </p:txBody>
      </p:sp>
      <p:sp>
        <p:nvSpPr>
          <p:cNvPr id="533" name="Google Shape;533;p18"/>
          <p:cNvSpPr/>
          <p:nvPr/>
        </p:nvSpPr>
        <p:spPr>
          <a:xfrm>
            <a:off x="1144588" y="4084638"/>
            <a:ext cx="1511632"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getSchedule ()</a:t>
            </a:r>
            <a:endParaRPr sz="900">
              <a:solidFill>
                <a:srgbClr val="000000"/>
              </a:solidFill>
              <a:latin typeface="Arial"/>
              <a:ea typeface="Arial"/>
              <a:cs typeface="Arial"/>
              <a:sym typeface="Arial"/>
            </a:endParaRPr>
          </a:p>
        </p:txBody>
      </p:sp>
      <p:sp>
        <p:nvSpPr>
          <p:cNvPr id="534" name="Google Shape;534;p18"/>
          <p:cNvSpPr/>
          <p:nvPr/>
        </p:nvSpPr>
        <p:spPr>
          <a:xfrm>
            <a:off x="1144588" y="4335463"/>
            <a:ext cx="1841851"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delete Schedule ()</a:t>
            </a:r>
            <a:endParaRPr sz="900">
              <a:solidFill>
                <a:srgbClr val="000000"/>
              </a:solidFill>
              <a:latin typeface="Arial"/>
              <a:ea typeface="Arial"/>
              <a:cs typeface="Arial"/>
              <a:sym typeface="Arial"/>
            </a:endParaRPr>
          </a:p>
        </p:txBody>
      </p:sp>
      <p:sp>
        <p:nvSpPr>
          <p:cNvPr id="535" name="Google Shape;535;p18"/>
          <p:cNvSpPr/>
          <p:nvPr/>
        </p:nvSpPr>
        <p:spPr>
          <a:xfrm>
            <a:off x="1144588" y="4584700"/>
            <a:ext cx="1899559"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hasPrerequisites ()</a:t>
            </a:r>
            <a:endParaRPr sz="900">
              <a:solidFill>
                <a:srgbClr val="000000"/>
              </a:solidFill>
              <a:latin typeface="Arial"/>
              <a:ea typeface="Arial"/>
              <a:cs typeface="Arial"/>
              <a:sym typeface="Arial"/>
            </a:endParaRPr>
          </a:p>
        </p:txBody>
      </p:sp>
      <p:sp>
        <p:nvSpPr>
          <p:cNvPr id="536" name="Google Shape;536;p18"/>
          <p:cNvSpPr/>
          <p:nvPr/>
        </p:nvSpPr>
        <p:spPr>
          <a:xfrm>
            <a:off x="1144588" y="4835525"/>
            <a:ext cx="1380186"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hasPassed ()</a:t>
            </a:r>
            <a:endParaRPr sz="900">
              <a:solidFill>
                <a:srgbClr val="000000"/>
              </a:solidFill>
              <a:latin typeface="Arial"/>
              <a:ea typeface="Arial"/>
              <a:cs typeface="Arial"/>
              <a:sym typeface="Arial"/>
            </a:endParaRPr>
          </a:p>
        </p:txBody>
      </p:sp>
      <p:sp>
        <p:nvSpPr>
          <p:cNvPr id="537" name="Google Shape;537;p18"/>
          <p:cNvSpPr/>
          <p:nvPr/>
        </p:nvSpPr>
        <p:spPr>
          <a:xfrm>
            <a:off x="5641975" y="2025650"/>
            <a:ext cx="2406650" cy="2798763"/>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38" name="Google Shape;538;p18"/>
          <p:cNvSpPr/>
          <p:nvPr/>
        </p:nvSpPr>
        <p:spPr>
          <a:xfrm>
            <a:off x="6373813" y="2170113"/>
            <a:ext cx="852798"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Schedule</a:t>
            </a:r>
            <a:endParaRPr sz="1600">
              <a:solidFill>
                <a:srgbClr val="000000"/>
              </a:solidFill>
              <a:latin typeface="Arial"/>
              <a:ea typeface="Arial"/>
              <a:cs typeface="Arial"/>
              <a:sym typeface="Arial"/>
            </a:endParaRPr>
          </a:p>
        </p:txBody>
      </p:sp>
      <p:sp>
        <p:nvSpPr>
          <p:cNvPr id="539" name="Google Shape;539;p18"/>
          <p:cNvSpPr/>
          <p:nvPr/>
        </p:nvSpPr>
        <p:spPr>
          <a:xfrm>
            <a:off x="5641975" y="2608263"/>
            <a:ext cx="2406650" cy="2216150"/>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0" name="Google Shape;540;p18"/>
          <p:cNvSpPr/>
          <p:nvPr/>
        </p:nvSpPr>
        <p:spPr>
          <a:xfrm>
            <a:off x="5641975" y="2927350"/>
            <a:ext cx="2406650" cy="1897063"/>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41" name="Google Shape;541;p18"/>
          <p:cNvSpPr/>
          <p:nvPr/>
        </p:nvSpPr>
        <p:spPr>
          <a:xfrm>
            <a:off x="5680075" y="3005138"/>
            <a:ext cx="977832"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submit ()</a:t>
            </a:r>
            <a:endParaRPr sz="900">
              <a:solidFill>
                <a:srgbClr val="000000"/>
              </a:solidFill>
              <a:latin typeface="Arial"/>
              <a:ea typeface="Arial"/>
              <a:cs typeface="Arial"/>
              <a:sym typeface="Arial"/>
            </a:endParaRPr>
          </a:p>
        </p:txBody>
      </p:sp>
      <p:sp>
        <p:nvSpPr>
          <p:cNvPr id="542" name="Google Shape;542;p18"/>
          <p:cNvSpPr/>
          <p:nvPr/>
        </p:nvSpPr>
        <p:spPr>
          <a:xfrm>
            <a:off x="5680075" y="3290888"/>
            <a:ext cx="921727"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//save ()</a:t>
            </a:r>
            <a:endParaRPr sz="900">
              <a:solidFill>
                <a:srgbClr val="000000"/>
              </a:solidFill>
              <a:latin typeface="Arial"/>
              <a:ea typeface="Arial"/>
              <a:cs typeface="Arial"/>
              <a:sym typeface="Arial"/>
            </a:endParaRPr>
          </a:p>
        </p:txBody>
      </p:sp>
      <p:sp>
        <p:nvSpPr>
          <p:cNvPr id="543" name="Google Shape;543;p18"/>
          <p:cNvSpPr/>
          <p:nvPr/>
        </p:nvSpPr>
        <p:spPr>
          <a:xfrm>
            <a:off x="5680075" y="3576638"/>
            <a:ext cx="1609415"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any conflicts? ()</a:t>
            </a:r>
            <a:endParaRPr sz="900">
              <a:solidFill>
                <a:srgbClr val="000000"/>
              </a:solidFill>
              <a:latin typeface="Arial"/>
              <a:ea typeface="Arial"/>
              <a:cs typeface="Arial"/>
              <a:sym typeface="Arial"/>
            </a:endParaRPr>
          </a:p>
        </p:txBody>
      </p:sp>
      <p:sp>
        <p:nvSpPr>
          <p:cNvPr id="544" name="Google Shape;544;p18"/>
          <p:cNvSpPr/>
          <p:nvPr/>
        </p:nvSpPr>
        <p:spPr>
          <a:xfrm>
            <a:off x="5680075" y="3860800"/>
            <a:ext cx="2322239"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//create with offerings ()</a:t>
            </a:r>
            <a:endParaRPr sz="900">
              <a:solidFill>
                <a:srgbClr val="000000"/>
              </a:solidFill>
              <a:latin typeface="Arial"/>
              <a:ea typeface="Arial"/>
              <a:cs typeface="Arial"/>
              <a:sym typeface="Arial"/>
            </a:endParaRPr>
          </a:p>
        </p:txBody>
      </p:sp>
      <p:sp>
        <p:nvSpPr>
          <p:cNvPr id="545" name="Google Shape;545;p18"/>
          <p:cNvSpPr/>
          <p:nvPr/>
        </p:nvSpPr>
        <p:spPr>
          <a:xfrm>
            <a:off x="5680075" y="4148138"/>
            <a:ext cx="748603"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new ()</a:t>
            </a:r>
            <a:endParaRPr sz="900">
              <a:solidFill>
                <a:srgbClr val="000000"/>
              </a:solidFill>
              <a:latin typeface="Arial"/>
              <a:ea typeface="Arial"/>
              <a:cs typeface="Arial"/>
              <a:sym typeface="Arial"/>
            </a:endParaRPr>
          </a:p>
        </p:txBody>
      </p:sp>
      <p:sp>
        <p:nvSpPr>
          <p:cNvPr id="546" name="Google Shape;546;p18"/>
          <p:cNvSpPr/>
          <p:nvPr/>
        </p:nvSpPr>
        <p:spPr>
          <a:xfrm>
            <a:off x="5680075" y="4433888"/>
            <a:ext cx="1033937"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passed ()</a:t>
            </a:r>
            <a:endParaRPr sz="900">
              <a:solidFill>
                <a:srgbClr val="000000"/>
              </a:solidFill>
              <a:latin typeface="Arial"/>
              <a:ea typeface="Arial"/>
              <a:cs typeface="Arial"/>
              <a:sym typeface="Arial"/>
            </a:endParaRPr>
          </a:p>
        </p:txBody>
      </p:sp>
      <p:sp>
        <p:nvSpPr>
          <p:cNvPr id="547" name="Google Shape;547;p18"/>
          <p:cNvSpPr/>
          <p:nvPr/>
        </p:nvSpPr>
        <p:spPr>
          <a:xfrm>
            <a:off x="5735638" y="2633663"/>
            <a:ext cx="202299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 semester : Semester</a:t>
            </a:r>
            <a:endParaRPr sz="900">
              <a:solidFill>
                <a:srgbClr val="000000"/>
              </a:solidFill>
              <a:latin typeface="Arial"/>
              <a:ea typeface="Arial"/>
              <a:cs typeface="Arial"/>
              <a:sym typeface="Arial"/>
            </a:endParaRPr>
          </a:p>
        </p:txBody>
      </p:sp>
      <p:sp>
        <p:nvSpPr>
          <p:cNvPr id="548" name="Google Shape;548;p18"/>
          <p:cNvSpPr/>
          <p:nvPr/>
        </p:nvSpPr>
        <p:spPr>
          <a:xfrm>
            <a:off x="5251450" y="3446463"/>
            <a:ext cx="30938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0..*</a:t>
            </a:r>
            <a:endParaRPr/>
          </a:p>
        </p:txBody>
      </p:sp>
      <p:sp>
        <p:nvSpPr>
          <p:cNvPr id="549" name="Google Shape;549;p18"/>
          <p:cNvSpPr/>
          <p:nvPr/>
        </p:nvSpPr>
        <p:spPr>
          <a:xfrm>
            <a:off x="3324225" y="3275013"/>
            <a:ext cx="311150" cy="166687"/>
          </a:xfrm>
          <a:custGeom>
            <a:rect b="b" l="l" r="r" t="t"/>
            <a:pathLst>
              <a:path extrusionOk="0" h="105" w="196">
                <a:moveTo>
                  <a:pt x="0" y="58"/>
                </a:moveTo>
                <a:lnTo>
                  <a:pt x="92" y="105"/>
                </a:lnTo>
                <a:lnTo>
                  <a:pt x="196" y="58"/>
                </a:lnTo>
                <a:lnTo>
                  <a:pt x="92" y="0"/>
                </a:lnTo>
                <a:lnTo>
                  <a:pt x="0" y="58"/>
                </a:lnTo>
                <a:close/>
              </a:path>
            </a:pathLst>
          </a:custGeom>
          <a:solidFill>
            <a:srgbClr val="000000"/>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50" name="Google Shape;550;p18"/>
          <p:cNvSpPr/>
          <p:nvPr/>
        </p:nvSpPr>
        <p:spPr>
          <a:xfrm>
            <a:off x="3503613" y="2965450"/>
            <a:ext cx="113814"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1</a:t>
            </a:r>
            <a:endParaRPr/>
          </a:p>
        </p:txBody>
      </p:sp>
      <p:cxnSp>
        <p:nvCxnSpPr>
          <p:cNvPr id="551" name="Google Shape;551;p18"/>
          <p:cNvCxnSpPr/>
          <p:nvPr/>
        </p:nvCxnSpPr>
        <p:spPr>
          <a:xfrm>
            <a:off x="3638550" y="3362325"/>
            <a:ext cx="2000250" cy="0"/>
          </a:xfrm>
          <a:prstGeom prst="straightConnector1">
            <a:avLst/>
          </a:prstGeom>
          <a:noFill/>
          <a:ln cap="flat" cmpd="sng" w="9525">
            <a:solidFill>
              <a:schemeClr val="dk1"/>
            </a:solidFill>
            <a:prstDash val="solid"/>
            <a:round/>
            <a:headEnd len="med" w="med" type="none"/>
            <a:tailEnd len="med" w="med" type="none"/>
          </a:ln>
        </p:spPr>
      </p:cxnSp>
      <p:sp>
        <p:nvSpPr>
          <p:cNvPr id="552" name="Google Shape;552;p18"/>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19"/>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Review: What Is Navigability?</a:t>
            </a:r>
            <a:endParaRPr/>
          </a:p>
        </p:txBody>
      </p:sp>
      <p:sp>
        <p:nvSpPr>
          <p:cNvPr id="559" name="Google Shape;559;p19"/>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Indicates that it is possible to navigate from an associating class to the target class using the association</a:t>
            </a:r>
            <a:endParaRPr/>
          </a:p>
        </p:txBody>
      </p:sp>
      <p:cxnSp>
        <p:nvCxnSpPr>
          <p:cNvPr id="560" name="Google Shape;560;p19"/>
          <p:cNvCxnSpPr/>
          <p:nvPr/>
        </p:nvCxnSpPr>
        <p:spPr>
          <a:xfrm rot="10800000">
            <a:off x="4054475" y="5110163"/>
            <a:ext cx="1204913" cy="0"/>
          </a:xfrm>
          <a:prstGeom prst="straightConnector1">
            <a:avLst/>
          </a:prstGeom>
          <a:noFill/>
          <a:ln cap="flat" cmpd="sng" w="12700">
            <a:solidFill>
              <a:schemeClr val="dk1"/>
            </a:solidFill>
            <a:prstDash val="solid"/>
            <a:round/>
            <a:headEnd len="med" w="med" type="none"/>
            <a:tailEnd len="med" w="med" type="none"/>
          </a:ln>
        </p:spPr>
      </p:cxnSp>
      <p:sp>
        <p:nvSpPr>
          <p:cNvPr id="561" name="Google Shape;561;p19"/>
          <p:cNvSpPr/>
          <p:nvPr/>
        </p:nvSpPr>
        <p:spPr>
          <a:xfrm>
            <a:off x="2241550" y="2716213"/>
            <a:ext cx="2411413" cy="9271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2" name="Google Shape;562;p19"/>
          <p:cNvSpPr/>
          <p:nvPr/>
        </p:nvSpPr>
        <p:spPr>
          <a:xfrm>
            <a:off x="2497151" y="2997200"/>
            <a:ext cx="20748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RegistrationController</a:t>
            </a:r>
            <a:endParaRPr/>
          </a:p>
        </p:txBody>
      </p:sp>
      <p:sp>
        <p:nvSpPr>
          <p:cNvPr id="563" name="Google Shape;563;p19"/>
          <p:cNvSpPr/>
          <p:nvPr/>
        </p:nvSpPr>
        <p:spPr>
          <a:xfrm>
            <a:off x="2241550" y="3324225"/>
            <a:ext cx="2411413" cy="319088"/>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4" name="Google Shape;564;p19"/>
          <p:cNvSpPr/>
          <p:nvPr/>
        </p:nvSpPr>
        <p:spPr>
          <a:xfrm>
            <a:off x="2241550" y="3451225"/>
            <a:ext cx="2411413" cy="192088"/>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565" name="Google Shape;565;p19"/>
          <p:cNvSpPr/>
          <p:nvPr/>
        </p:nvSpPr>
        <p:spPr>
          <a:xfrm>
            <a:off x="2903538" y="2754313"/>
            <a:ext cx="113030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&lt;&lt;Control&gt;&gt;</a:t>
            </a:r>
            <a:endParaRPr sz="900">
              <a:solidFill>
                <a:srgbClr val="000000"/>
              </a:solidFill>
              <a:latin typeface="Arial"/>
              <a:ea typeface="Arial"/>
              <a:cs typeface="Arial"/>
              <a:sym typeface="Arial"/>
            </a:endParaRPr>
          </a:p>
        </p:txBody>
      </p:sp>
      <p:sp>
        <p:nvSpPr>
          <p:cNvPr id="566" name="Google Shape;566;p19"/>
          <p:cNvSpPr/>
          <p:nvPr/>
        </p:nvSpPr>
        <p:spPr>
          <a:xfrm>
            <a:off x="5259388" y="4645025"/>
            <a:ext cx="1693862" cy="9271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7" name="Google Shape;567;p19"/>
          <p:cNvSpPr/>
          <p:nvPr/>
        </p:nvSpPr>
        <p:spPr>
          <a:xfrm>
            <a:off x="5422900" y="4840288"/>
            <a:ext cx="1377950" cy="2444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CourseOffering</a:t>
            </a:r>
            <a:endParaRPr/>
          </a:p>
        </p:txBody>
      </p:sp>
      <p:sp>
        <p:nvSpPr>
          <p:cNvPr id="568" name="Google Shape;568;p19"/>
          <p:cNvSpPr/>
          <p:nvPr/>
        </p:nvSpPr>
        <p:spPr>
          <a:xfrm>
            <a:off x="5259388" y="5235575"/>
            <a:ext cx="1693862" cy="3365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69" name="Google Shape;569;p19"/>
          <p:cNvSpPr/>
          <p:nvPr/>
        </p:nvSpPr>
        <p:spPr>
          <a:xfrm>
            <a:off x="5259388" y="5364163"/>
            <a:ext cx="1693862" cy="20796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0" name="Google Shape;570;p19"/>
          <p:cNvSpPr/>
          <p:nvPr/>
        </p:nvSpPr>
        <p:spPr>
          <a:xfrm>
            <a:off x="2857500" y="4645025"/>
            <a:ext cx="1196975" cy="9271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1" name="Google Shape;571;p19"/>
          <p:cNvSpPr/>
          <p:nvPr/>
        </p:nvSpPr>
        <p:spPr>
          <a:xfrm>
            <a:off x="3009900" y="4840300"/>
            <a:ext cx="10239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Schedule</a:t>
            </a:r>
            <a:endParaRPr/>
          </a:p>
        </p:txBody>
      </p:sp>
      <p:sp>
        <p:nvSpPr>
          <p:cNvPr id="572" name="Google Shape;572;p19"/>
          <p:cNvSpPr/>
          <p:nvPr/>
        </p:nvSpPr>
        <p:spPr>
          <a:xfrm>
            <a:off x="2857500" y="5235575"/>
            <a:ext cx="1196975" cy="336550"/>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73" name="Google Shape;573;p19"/>
          <p:cNvSpPr/>
          <p:nvPr/>
        </p:nvSpPr>
        <p:spPr>
          <a:xfrm>
            <a:off x="2857500" y="5364163"/>
            <a:ext cx="1196975" cy="207962"/>
          </a:xfrm>
          <a:prstGeom prst="rect">
            <a:avLst/>
          </a:prstGeom>
          <a:no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574" name="Google Shape;574;p19"/>
          <p:cNvCxnSpPr/>
          <p:nvPr/>
        </p:nvCxnSpPr>
        <p:spPr>
          <a:xfrm flipH="1">
            <a:off x="3455988" y="3643313"/>
            <a:ext cx="1587" cy="1001712"/>
          </a:xfrm>
          <a:prstGeom prst="straightConnector1">
            <a:avLst/>
          </a:prstGeom>
          <a:noFill/>
          <a:ln cap="flat" cmpd="sng" w="12700">
            <a:solidFill>
              <a:schemeClr val="dk1"/>
            </a:solidFill>
            <a:prstDash val="solid"/>
            <a:round/>
            <a:headEnd len="med" w="med" type="none"/>
            <a:tailEnd len="lg" w="lg" type="stealth"/>
          </a:ln>
        </p:spPr>
      </p:cxnSp>
      <p:sp>
        <p:nvSpPr>
          <p:cNvPr id="575" name="Google Shape;575;p19"/>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20"/>
          <p:cNvSpPr/>
          <p:nvPr/>
        </p:nvSpPr>
        <p:spPr>
          <a:xfrm>
            <a:off x="1219200" y="1600200"/>
            <a:ext cx="5875338" cy="1473200"/>
          </a:xfrm>
          <a:prstGeom prst="rect">
            <a:avLst/>
          </a:prstGeom>
          <a:noFill/>
          <a:ln>
            <a:noFill/>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582" name="Google Shape;582;p20"/>
          <p:cNvSpPr txBox="1"/>
          <p:nvPr>
            <p:ph type="title"/>
          </p:nvPr>
        </p:nvSpPr>
        <p:spPr>
          <a:xfrm>
            <a:off x="1447800" y="206375"/>
            <a:ext cx="76962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Navigability: Which Directions Are Needed?</a:t>
            </a:r>
            <a:endParaRPr/>
          </a:p>
        </p:txBody>
      </p:sp>
      <p:sp>
        <p:nvSpPr>
          <p:cNvPr id="583" name="Google Shape;583;p20"/>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Explore interaction diagrams</a:t>
            </a:r>
            <a:endParaRPr/>
          </a:p>
          <a:p>
            <a:pPr indent="-342900" lvl="0" marL="342900" rtl="0" algn="l">
              <a:spcBef>
                <a:spcPts val="400"/>
              </a:spcBef>
              <a:spcAft>
                <a:spcPts val="0"/>
              </a:spcAft>
              <a:buClr>
                <a:srgbClr val="000000"/>
              </a:buClr>
              <a:buSzPts val="2000"/>
              <a:buChar char="❖"/>
            </a:pPr>
            <a:r>
              <a:rPr lang="en-US" sz="2000"/>
              <a:t>Even when both directions seem required, one may work</a:t>
            </a:r>
            <a:endParaRPr/>
          </a:p>
          <a:p>
            <a:pPr indent="-285750" lvl="1" marL="742950" rtl="0" algn="l">
              <a:spcBef>
                <a:spcPts val="400"/>
              </a:spcBef>
              <a:spcAft>
                <a:spcPts val="0"/>
              </a:spcAft>
              <a:buSzPts val="1000"/>
              <a:buChar char="🞇"/>
            </a:pPr>
            <a:r>
              <a:rPr lang="en-US" sz="2000"/>
              <a:t>Navigability in one direction is infrequent</a:t>
            </a:r>
            <a:endParaRPr/>
          </a:p>
          <a:p>
            <a:pPr indent="-285750" lvl="1" marL="742950" rtl="0" algn="l">
              <a:spcBef>
                <a:spcPts val="400"/>
              </a:spcBef>
              <a:spcAft>
                <a:spcPts val="0"/>
              </a:spcAft>
              <a:buSzPts val="1000"/>
              <a:buChar char="🞇"/>
            </a:pPr>
            <a:r>
              <a:rPr lang="en-US" sz="2000"/>
              <a:t>Number of instances of one class is small</a:t>
            </a:r>
            <a:endParaRPr/>
          </a:p>
        </p:txBody>
      </p:sp>
      <p:sp>
        <p:nvSpPr>
          <p:cNvPr id="584" name="Google Shape;584;p20"/>
          <p:cNvSpPr txBox="1"/>
          <p:nvPr/>
        </p:nvSpPr>
        <p:spPr>
          <a:xfrm>
            <a:off x="4249738" y="4044950"/>
            <a:ext cx="712787" cy="92333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rgbClr val="FF0000"/>
                </a:solidFill>
                <a:latin typeface="Libre Franklin Medium"/>
                <a:ea typeface="Libre Franklin Medium"/>
                <a:cs typeface="Libre Franklin Medium"/>
                <a:sym typeface="Libre Franklin Medium"/>
              </a:rPr>
              <a:t>?</a:t>
            </a:r>
            <a:endParaRPr/>
          </a:p>
        </p:txBody>
      </p:sp>
      <p:sp>
        <p:nvSpPr>
          <p:cNvPr id="585" name="Google Shape;585;p20"/>
          <p:cNvSpPr/>
          <p:nvPr/>
        </p:nvSpPr>
        <p:spPr>
          <a:xfrm>
            <a:off x="2892425" y="51419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86" name="Google Shape;586;p20"/>
          <p:cNvCxnSpPr/>
          <p:nvPr/>
        </p:nvCxnSpPr>
        <p:spPr>
          <a:xfrm>
            <a:off x="2892425" y="56213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587" name="Google Shape;587;p20"/>
          <p:cNvCxnSpPr/>
          <p:nvPr/>
        </p:nvCxnSpPr>
        <p:spPr>
          <a:xfrm>
            <a:off x="2892425" y="5757863"/>
            <a:ext cx="1585913" cy="1587"/>
          </a:xfrm>
          <a:prstGeom prst="straightConnector1">
            <a:avLst/>
          </a:prstGeom>
          <a:noFill/>
          <a:ln cap="flat" cmpd="sng" w="9525">
            <a:solidFill>
              <a:srgbClr val="8A0E5E"/>
            </a:solidFill>
            <a:prstDash val="solid"/>
            <a:round/>
            <a:headEnd len="med" w="med" type="none"/>
            <a:tailEnd len="med" w="med" type="none"/>
          </a:ln>
        </p:spPr>
      </p:cxnSp>
      <p:sp>
        <p:nvSpPr>
          <p:cNvPr id="588" name="Google Shape;588;p20"/>
          <p:cNvSpPr/>
          <p:nvPr/>
        </p:nvSpPr>
        <p:spPr>
          <a:xfrm>
            <a:off x="2449513" y="5770563"/>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0..4</a:t>
            </a:r>
            <a:endParaRPr/>
          </a:p>
        </p:txBody>
      </p:sp>
      <p:sp>
        <p:nvSpPr>
          <p:cNvPr id="589" name="Google Shape;589;p20"/>
          <p:cNvSpPr/>
          <p:nvPr/>
        </p:nvSpPr>
        <p:spPr>
          <a:xfrm>
            <a:off x="1431925" y="5770563"/>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a:p>
        </p:txBody>
      </p:sp>
      <p:sp>
        <p:nvSpPr>
          <p:cNvPr id="590" name="Google Shape;590;p20"/>
          <p:cNvSpPr txBox="1"/>
          <p:nvPr/>
        </p:nvSpPr>
        <p:spPr>
          <a:xfrm>
            <a:off x="1204913" y="5281613"/>
            <a:ext cx="1698625"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rgbClr val="000000"/>
                </a:solidFill>
                <a:latin typeface="Arial"/>
                <a:ea typeface="Arial"/>
                <a:cs typeface="Arial"/>
                <a:sym typeface="Arial"/>
              </a:rPr>
              <a:t>+ primaryCourses</a:t>
            </a:r>
            <a:endParaRPr/>
          </a:p>
        </p:txBody>
      </p:sp>
      <p:sp>
        <p:nvSpPr>
          <p:cNvPr id="591" name="Google Shape;591;p20"/>
          <p:cNvSpPr/>
          <p:nvPr/>
        </p:nvSpPr>
        <p:spPr>
          <a:xfrm>
            <a:off x="2997094" y="5248275"/>
            <a:ext cx="138768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CourseOffering</a:t>
            </a:r>
            <a:endParaRPr/>
          </a:p>
        </p:txBody>
      </p:sp>
      <p:sp>
        <p:nvSpPr>
          <p:cNvPr id="592" name="Google Shape;592;p20"/>
          <p:cNvSpPr/>
          <p:nvPr/>
        </p:nvSpPr>
        <p:spPr>
          <a:xfrm>
            <a:off x="252413" y="51419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3" name="Google Shape;593;p20"/>
          <p:cNvCxnSpPr/>
          <p:nvPr/>
        </p:nvCxnSpPr>
        <p:spPr>
          <a:xfrm>
            <a:off x="254000" y="56213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594" name="Google Shape;594;p20"/>
          <p:cNvCxnSpPr/>
          <p:nvPr/>
        </p:nvCxnSpPr>
        <p:spPr>
          <a:xfrm>
            <a:off x="254000" y="57578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595" name="Google Shape;595;p20"/>
          <p:cNvSpPr/>
          <p:nvPr/>
        </p:nvSpPr>
        <p:spPr>
          <a:xfrm>
            <a:off x="367351" y="5248275"/>
            <a:ext cx="85279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Schedule</a:t>
            </a:r>
            <a:endParaRPr/>
          </a:p>
        </p:txBody>
      </p:sp>
      <p:sp>
        <p:nvSpPr>
          <p:cNvPr id="596" name="Google Shape;596;p20"/>
          <p:cNvSpPr/>
          <p:nvPr/>
        </p:nvSpPr>
        <p:spPr>
          <a:xfrm>
            <a:off x="7350125" y="51419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597" name="Google Shape;597;p20"/>
          <p:cNvCxnSpPr/>
          <p:nvPr/>
        </p:nvCxnSpPr>
        <p:spPr>
          <a:xfrm>
            <a:off x="7350125" y="56213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598" name="Google Shape;598;p20"/>
          <p:cNvCxnSpPr/>
          <p:nvPr/>
        </p:nvCxnSpPr>
        <p:spPr>
          <a:xfrm>
            <a:off x="7350125" y="5757863"/>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599" name="Google Shape;599;p20"/>
          <p:cNvCxnSpPr/>
          <p:nvPr/>
        </p:nvCxnSpPr>
        <p:spPr>
          <a:xfrm flipH="1" rot="10800000">
            <a:off x="5786438" y="5630863"/>
            <a:ext cx="1565275" cy="1587"/>
          </a:xfrm>
          <a:prstGeom prst="straightConnector1">
            <a:avLst/>
          </a:prstGeom>
          <a:noFill/>
          <a:ln cap="flat" cmpd="sng" w="12700">
            <a:solidFill>
              <a:schemeClr val="dk1"/>
            </a:solidFill>
            <a:prstDash val="solid"/>
            <a:round/>
            <a:headEnd len="lg" w="lg" type="stealth"/>
            <a:tailEnd len="sm" w="sm" type="none"/>
          </a:ln>
        </p:spPr>
      </p:cxnSp>
      <p:sp>
        <p:nvSpPr>
          <p:cNvPr id="600" name="Google Shape;600;p20"/>
          <p:cNvSpPr/>
          <p:nvPr/>
        </p:nvSpPr>
        <p:spPr>
          <a:xfrm>
            <a:off x="6907213" y="5770563"/>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0..4</a:t>
            </a:r>
            <a:endParaRPr/>
          </a:p>
        </p:txBody>
      </p:sp>
      <p:sp>
        <p:nvSpPr>
          <p:cNvPr id="601" name="Google Shape;601;p20"/>
          <p:cNvSpPr/>
          <p:nvPr/>
        </p:nvSpPr>
        <p:spPr>
          <a:xfrm>
            <a:off x="5889625" y="5770563"/>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a:p>
        </p:txBody>
      </p:sp>
      <p:sp>
        <p:nvSpPr>
          <p:cNvPr id="602" name="Google Shape;602;p20"/>
          <p:cNvSpPr txBox="1"/>
          <p:nvPr/>
        </p:nvSpPr>
        <p:spPr>
          <a:xfrm>
            <a:off x="5662613" y="5281613"/>
            <a:ext cx="1698625"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rgbClr val="000000"/>
                </a:solidFill>
                <a:latin typeface="Arial"/>
                <a:ea typeface="Arial"/>
                <a:cs typeface="Arial"/>
                <a:sym typeface="Arial"/>
              </a:rPr>
              <a:t>+ primaryCourses</a:t>
            </a:r>
            <a:endParaRPr/>
          </a:p>
        </p:txBody>
      </p:sp>
      <p:sp>
        <p:nvSpPr>
          <p:cNvPr id="603" name="Google Shape;603;p20"/>
          <p:cNvSpPr/>
          <p:nvPr/>
        </p:nvSpPr>
        <p:spPr>
          <a:xfrm>
            <a:off x="7454794" y="5248275"/>
            <a:ext cx="138768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CourseOffering</a:t>
            </a:r>
            <a:endParaRPr/>
          </a:p>
        </p:txBody>
      </p:sp>
      <p:sp>
        <p:nvSpPr>
          <p:cNvPr id="604" name="Google Shape;604;p20"/>
          <p:cNvSpPr/>
          <p:nvPr/>
        </p:nvSpPr>
        <p:spPr>
          <a:xfrm>
            <a:off x="4710113" y="51419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5" name="Google Shape;605;p20"/>
          <p:cNvCxnSpPr/>
          <p:nvPr/>
        </p:nvCxnSpPr>
        <p:spPr>
          <a:xfrm>
            <a:off x="4711700" y="56213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606" name="Google Shape;606;p20"/>
          <p:cNvCxnSpPr/>
          <p:nvPr/>
        </p:nvCxnSpPr>
        <p:spPr>
          <a:xfrm>
            <a:off x="4711700" y="57578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607" name="Google Shape;607;p20"/>
          <p:cNvSpPr/>
          <p:nvPr/>
        </p:nvSpPr>
        <p:spPr>
          <a:xfrm>
            <a:off x="4825051" y="5248275"/>
            <a:ext cx="85279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Schedule</a:t>
            </a:r>
            <a:endParaRPr/>
          </a:p>
        </p:txBody>
      </p:sp>
      <p:sp>
        <p:nvSpPr>
          <p:cNvPr id="608" name="Google Shape;608;p20"/>
          <p:cNvSpPr/>
          <p:nvPr/>
        </p:nvSpPr>
        <p:spPr>
          <a:xfrm>
            <a:off x="5114925" y="31607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09" name="Google Shape;609;p20"/>
          <p:cNvCxnSpPr/>
          <p:nvPr/>
        </p:nvCxnSpPr>
        <p:spPr>
          <a:xfrm>
            <a:off x="5114925" y="36401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610" name="Google Shape;610;p20"/>
          <p:cNvCxnSpPr/>
          <p:nvPr/>
        </p:nvCxnSpPr>
        <p:spPr>
          <a:xfrm>
            <a:off x="5114925" y="3776663"/>
            <a:ext cx="1585913" cy="1587"/>
          </a:xfrm>
          <a:prstGeom prst="straightConnector1">
            <a:avLst/>
          </a:prstGeom>
          <a:noFill/>
          <a:ln cap="flat" cmpd="sng" w="9525">
            <a:solidFill>
              <a:srgbClr val="8A0E5E"/>
            </a:solidFill>
            <a:prstDash val="solid"/>
            <a:round/>
            <a:headEnd len="med" w="med" type="none"/>
            <a:tailEnd len="med" w="med" type="none"/>
          </a:ln>
        </p:spPr>
      </p:cxnSp>
      <p:sp>
        <p:nvSpPr>
          <p:cNvPr id="611" name="Google Shape;611;p20"/>
          <p:cNvSpPr/>
          <p:nvPr/>
        </p:nvSpPr>
        <p:spPr>
          <a:xfrm>
            <a:off x="4672013" y="3789363"/>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0..4</a:t>
            </a:r>
            <a:endParaRPr/>
          </a:p>
        </p:txBody>
      </p:sp>
      <p:sp>
        <p:nvSpPr>
          <p:cNvPr id="612" name="Google Shape;612;p20"/>
          <p:cNvSpPr/>
          <p:nvPr/>
        </p:nvSpPr>
        <p:spPr>
          <a:xfrm>
            <a:off x="3654425" y="3789363"/>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a:p>
        </p:txBody>
      </p:sp>
      <p:sp>
        <p:nvSpPr>
          <p:cNvPr id="613" name="Google Shape;613;p20"/>
          <p:cNvSpPr txBox="1"/>
          <p:nvPr/>
        </p:nvSpPr>
        <p:spPr>
          <a:xfrm>
            <a:off x="3427413" y="3300413"/>
            <a:ext cx="1698625" cy="276999"/>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rgbClr val="000000"/>
                </a:solidFill>
                <a:latin typeface="Arial"/>
                <a:ea typeface="Arial"/>
                <a:cs typeface="Arial"/>
                <a:sym typeface="Arial"/>
              </a:rPr>
              <a:t>+ primaryCourses</a:t>
            </a:r>
            <a:endParaRPr/>
          </a:p>
        </p:txBody>
      </p:sp>
      <p:sp>
        <p:nvSpPr>
          <p:cNvPr id="614" name="Google Shape;614;p20"/>
          <p:cNvSpPr/>
          <p:nvPr/>
        </p:nvSpPr>
        <p:spPr>
          <a:xfrm>
            <a:off x="5219594" y="3267075"/>
            <a:ext cx="138768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CourseOffering</a:t>
            </a:r>
            <a:endParaRPr/>
          </a:p>
        </p:txBody>
      </p:sp>
      <p:sp>
        <p:nvSpPr>
          <p:cNvPr id="615" name="Google Shape;615;p20"/>
          <p:cNvSpPr/>
          <p:nvPr/>
        </p:nvSpPr>
        <p:spPr>
          <a:xfrm>
            <a:off x="2474913" y="31607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16" name="Google Shape;616;p20"/>
          <p:cNvCxnSpPr/>
          <p:nvPr/>
        </p:nvCxnSpPr>
        <p:spPr>
          <a:xfrm>
            <a:off x="2476500" y="36401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617" name="Google Shape;617;p20"/>
          <p:cNvCxnSpPr/>
          <p:nvPr/>
        </p:nvCxnSpPr>
        <p:spPr>
          <a:xfrm>
            <a:off x="2476500" y="37766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618" name="Google Shape;618;p20"/>
          <p:cNvSpPr/>
          <p:nvPr/>
        </p:nvSpPr>
        <p:spPr>
          <a:xfrm>
            <a:off x="2589851" y="3267075"/>
            <a:ext cx="852798" cy="246221"/>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Schedule</a:t>
            </a:r>
            <a:endParaRPr/>
          </a:p>
        </p:txBody>
      </p:sp>
      <p:sp>
        <p:nvSpPr>
          <p:cNvPr id="619" name="Google Shape;619;p20"/>
          <p:cNvSpPr/>
          <p:nvPr/>
        </p:nvSpPr>
        <p:spPr>
          <a:xfrm>
            <a:off x="2159000" y="4572000"/>
            <a:ext cx="2082800" cy="596900"/>
          </a:xfrm>
          <a:custGeom>
            <a:rect b="b" l="l" r="r" t="t"/>
            <a:pathLst>
              <a:path extrusionOk="0" h="304" w="1312">
                <a:moveTo>
                  <a:pt x="1312" y="0"/>
                </a:moveTo>
                <a:lnTo>
                  <a:pt x="0" y="0"/>
                </a:lnTo>
                <a:lnTo>
                  <a:pt x="0" y="304"/>
                </a:lnTo>
              </a:path>
            </a:pathLst>
          </a:custGeom>
          <a:noFill/>
          <a:ln cap="flat" cmpd="sng" w="28575">
            <a:solidFill>
              <a:schemeClr val="hlink"/>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sp>
        <p:nvSpPr>
          <p:cNvPr id="620" name="Google Shape;620;p20"/>
          <p:cNvSpPr/>
          <p:nvPr/>
        </p:nvSpPr>
        <p:spPr>
          <a:xfrm flipH="1">
            <a:off x="4965700" y="4572000"/>
            <a:ext cx="1663700" cy="596900"/>
          </a:xfrm>
          <a:custGeom>
            <a:rect b="b" l="l" r="r" t="t"/>
            <a:pathLst>
              <a:path extrusionOk="0" h="304" w="1312">
                <a:moveTo>
                  <a:pt x="1312" y="0"/>
                </a:moveTo>
                <a:lnTo>
                  <a:pt x="0" y="0"/>
                </a:lnTo>
                <a:lnTo>
                  <a:pt x="0" y="304"/>
                </a:lnTo>
              </a:path>
            </a:pathLst>
          </a:custGeom>
          <a:noFill/>
          <a:ln cap="flat" cmpd="sng" w="28575">
            <a:solidFill>
              <a:schemeClr val="hlink"/>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600">
              <a:solidFill>
                <a:srgbClr val="000000"/>
              </a:solidFill>
              <a:latin typeface="Arial"/>
              <a:ea typeface="Arial"/>
              <a:cs typeface="Arial"/>
              <a:sym typeface="Arial"/>
            </a:endParaRPr>
          </a:p>
        </p:txBody>
      </p:sp>
      <p:cxnSp>
        <p:nvCxnSpPr>
          <p:cNvPr id="621" name="Google Shape;621;p20"/>
          <p:cNvCxnSpPr/>
          <p:nvPr/>
        </p:nvCxnSpPr>
        <p:spPr>
          <a:xfrm>
            <a:off x="3536950" y="3605213"/>
            <a:ext cx="1589088" cy="0"/>
          </a:xfrm>
          <a:prstGeom prst="straightConnector1">
            <a:avLst/>
          </a:prstGeom>
          <a:noFill/>
          <a:ln cap="flat" cmpd="sng" w="12700">
            <a:solidFill>
              <a:schemeClr val="dk1"/>
            </a:solidFill>
            <a:prstDash val="solid"/>
            <a:round/>
            <a:headEnd len="med" w="med" type="none"/>
            <a:tailEnd len="med" w="med" type="none"/>
          </a:ln>
        </p:spPr>
      </p:cxnSp>
      <p:cxnSp>
        <p:nvCxnSpPr>
          <p:cNvPr id="622" name="Google Shape;622;p20"/>
          <p:cNvCxnSpPr/>
          <p:nvPr/>
        </p:nvCxnSpPr>
        <p:spPr>
          <a:xfrm>
            <a:off x="1314450" y="5607050"/>
            <a:ext cx="1589088" cy="0"/>
          </a:xfrm>
          <a:prstGeom prst="straightConnector1">
            <a:avLst/>
          </a:prstGeom>
          <a:noFill/>
          <a:ln cap="flat" cmpd="sng" w="12700">
            <a:solidFill>
              <a:schemeClr val="dk1"/>
            </a:solidFill>
            <a:prstDash val="solid"/>
            <a:round/>
            <a:headEnd len="med" w="med" type="none"/>
            <a:tailEnd len="med" w="med" type="stealth"/>
          </a:ln>
        </p:spPr>
      </p:cxnSp>
      <p:sp>
        <p:nvSpPr>
          <p:cNvPr id="623" name="Google Shape;623;p20"/>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21"/>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Example: Navigability Refinement</a:t>
            </a:r>
            <a:endParaRPr/>
          </a:p>
        </p:txBody>
      </p:sp>
      <p:sp>
        <p:nvSpPr>
          <p:cNvPr id="630" name="Google Shape;630;p21"/>
          <p:cNvSpPr txBox="1"/>
          <p:nvPr>
            <p:ph idx="1" type="body"/>
          </p:nvPr>
        </p:nvSpPr>
        <p:spPr>
          <a:xfrm>
            <a:off x="361950" y="1447800"/>
            <a:ext cx="3732213" cy="5014119"/>
          </a:xfrm>
          <a:prstGeom prst="rect">
            <a:avLst/>
          </a:prstGeom>
          <a:noFill/>
          <a:ln>
            <a:noFill/>
          </a:ln>
        </p:spPr>
        <p:txBody>
          <a:bodyPr anchorCtr="0" anchor="t" bIns="45700" lIns="91425" spcFirstLastPara="1" rIns="91425" wrap="square" tIns="45700">
            <a:noAutofit/>
          </a:bodyPr>
          <a:lstStyle/>
          <a:p>
            <a:pPr indent="-339725" lvl="0" marL="339725" rtl="0" algn="l">
              <a:lnSpc>
                <a:spcPct val="110000"/>
              </a:lnSpc>
              <a:spcBef>
                <a:spcPts val="0"/>
              </a:spcBef>
              <a:spcAft>
                <a:spcPts val="0"/>
              </a:spcAft>
              <a:buClr>
                <a:srgbClr val="000000"/>
              </a:buClr>
              <a:buSzPts val="2000"/>
              <a:buChar char="❖"/>
            </a:pPr>
            <a:r>
              <a:rPr lang="en-US" sz="2000"/>
              <a:t>Total number of Schedules is small, or</a:t>
            </a:r>
            <a:endParaRPr/>
          </a:p>
          <a:p>
            <a:pPr indent="-339725" lvl="0" marL="339725" rtl="0" algn="l">
              <a:lnSpc>
                <a:spcPct val="110000"/>
              </a:lnSpc>
              <a:spcBef>
                <a:spcPts val="400"/>
              </a:spcBef>
              <a:spcAft>
                <a:spcPts val="0"/>
              </a:spcAft>
              <a:buClr>
                <a:srgbClr val="000000"/>
              </a:buClr>
              <a:buSzPts val="2000"/>
              <a:buChar char="❖"/>
            </a:pPr>
            <a:r>
              <a:rPr lang="en-US" sz="2000"/>
              <a:t>Never need a list of the Schedules on which the CourseOffering appears</a:t>
            </a:r>
            <a:endParaRPr/>
          </a:p>
          <a:p>
            <a:pPr indent="-339725" lvl="0" marL="339725" rtl="0" algn="l">
              <a:lnSpc>
                <a:spcPct val="110000"/>
              </a:lnSpc>
              <a:spcBef>
                <a:spcPts val="600"/>
              </a:spcBef>
              <a:spcAft>
                <a:spcPts val="0"/>
              </a:spcAft>
              <a:buClr>
                <a:srgbClr val="000000"/>
              </a:buClr>
              <a:buSzPts val="2000"/>
              <a:buChar char="❖"/>
            </a:pPr>
            <a:r>
              <a:rPr lang="en-US" sz="2000"/>
              <a:t>Total number of CourseOfferings is small, or</a:t>
            </a:r>
            <a:endParaRPr/>
          </a:p>
          <a:p>
            <a:pPr indent="-339725" lvl="0" marL="339725" rtl="0" algn="l">
              <a:lnSpc>
                <a:spcPct val="110000"/>
              </a:lnSpc>
              <a:spcBef>
                <a:spcPts val="600"/>
              </a:spcBef>
              <a:spcAft>
                <a:spcPts val="0"/>
              </a:spcAft>
              <a:buClr>
                <a:srgbClr val="000000"/>
              </a:buClr>
              <a:buSzPts val="2000"/>
              <a:buChar char="❖"/>
            </a:pPr>
            <a:r>
              <a:rPr lang="en-US" sz="2000"/>
              <a:t>Never need a list of CourseOfferings on a Schedule</a:t>
            </a:r>
            <a:endParaRPr/>
          </a:p>
          <a:p>
            <a:pPr indent="-339725" lvl="0" marL="339725" rtl="0" algn="l">
              <a:lnSpc>
                <a:spcPct val="110000"/>
              </a:lnSpc>
              <a:spcBef>
                <a:spcPts val="900"/>
              </a:spcBef>
              <a:spcAft>
                <a:spcPts val="0"/>
              </a:spcAft>
              <a:buClr>
                <a:srgbClr val="000000"/>
              </a:buClr>
              <a:buSzPts val="2000"/>
              <a:buChar char="❖"/>
            </a:pPr>
            <a:r>
              <a:rPr lang="en-US" sz="2000"/>
              <a:t>Total number of CourseOfferings and Schedules are not small</a:t>
            </a:r>
            <a:endParaRPr/>
          </a:p>
          <a:p>
            <a:pPr indent="-339725" lvl="0" marL="339725" rtl="0" algn="l">
              <a:lnSpc>
                <a:spcPct val="110000"/>
              </a:lnSpc>
              <a:spcBef>
                <a:spcPts val="400"/>
              </a:spcBef>
              <a:spcAft>
                <a:spcPts val="0"/>
              </a:spcAft>
              <a:buClr>
                <a:srgbClr val="000000"/>
              </a:buClr>
              <a:buSzPts val="2000"/>
              <a:buChar char="❖"/>
            </a:pPr>
            <a:r>
              <a:rPr lang="en-US" sz="2000"/>
              <a:t>Must be able to navigate in both directions</a:t>
            </a:r>
            <a:endParaRPr/>
          </a:p>
        </p:txBody>
      </p:sp>
      <p:sp>
        <p:nvSpPr>
          <p:cNvPr id="631" name="Google Shape;631;p21"/>
          <p:cNvSpPr/>
          <p:nvPr/>
        </p:nvSpPr>
        <p:spPr>
          <a:xfrm>
            <a:off x="3962400" y="1295400"/>
            <a:ext cx="4978400" cy="1498600"/>
          </a:xfrm>
          <a:prstGeom prst="roundRect">
            <a:avLst>
              <a:gd fmla="val 16667" name="adj"/>
            </a:avLst>
          </a:prstGeom>
          <a:noFill/>
          <a:ln cap="flat" cmpd="sng" w="38100">
            <a:solidFill>
              <a:schemeClr val="hlink"/>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32" name="Google Shape;632;p21"/>
          <p:cNvCxnSpPr/>
          <p:nvPr/>
        </p:nvCxnSpPr>
        <p:spPr>
          <a:xfrm flipH="1" rot="10800000">
            <a:off x="5237163" y="2100263"/>
            <a:ext cx="1892300" cy="1587"/>
          </a:xfrm>
          <a:prstGeom prst="straightConnector1">
            <a:avLst/>
          </a:prstGeom>
          <a:noFill/>
          <a:ln cap="flat" cmpd="sng" w="12700">
            <a:solidFill>
              <a:srgbClr val="FFFFFF"/>
            </a:solidFill>
            <a:prstDash val="solid"/>
            <a:round/>
            <a:headEnd len="sm" w="sm" type="none"/>
            <a:tailEnd len="lg" w="lg" type="stealth"/>
          </a:ln>
        </p:spPr>
      </p:cxnSp>
      <p:sp>
        <p:nvSpPr>
          <p:cNvPr id="633" name="Google Shape;633;p21"/>
          <p:cNvSpPr/>
          <p:nvPr/>
        </p:nvSpPr>
        <p:spPr>
          <a:xfrm>
            <a:off x="7134225" y="16240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34" name="Google Shape;634;p21"/>
          <p:cNvCxnSpPr/>
          <p:nvPr/>
        </p:nvCxnSpPr>
        <p:spPr>
          <a:xfrm>
            <a:off x="7134225" y="21034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635" name="Google Shape;635;p21"/>
          <p:cNvCxnSpPr/>
          <p:nvPr/>
        </p:nvCxnSpPr>
        <p:spPr>
          <a:xfrm>
            <a:off x="7134225" y="2239963"/>
            <a:ext cx="1585913" cy="1587"/>
          </a:xfrm>
          <a:prstGeom prst="straightConnector1">
            <a:avLst/>
          </a:prstGeom>
          <a:noFill/>
          <a:ln cap="flat" cmpd="sng" w="9525">
            <a:solidFill>
              <a:srgbClr val="8A0E5E"/>
            </a:solidFill>
            <a:prstDash val="solid"/>
            <a:round/>
            <a:headEnd len="med" w="med" type="none"/>
            <a:tailEnd len="med" w="med" type="none"/>
          </a:ln>
        </p:spPr>
      </p:cxnSp>
      <p:sp>
        <p:nvSpPr>
          <p:cNvPr id="636" name="Google Shape;636;p21"/>
          <p:cNvSpPr/>
          <p:nvPr/>
        </p:nvSpPr>
        <p:spPr>
          <a:xfrm>
            <a:off x="6691313" y="2252663"/>
            <a:ext cx="2540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0..4</a:t>
            </a:r>
            <a:endParaRPr/>
          </a:p>
        </p:txBody>
      </p:sp>
      <p:sp>
        <p:nvSpPr>
          <p:cNvPr id="637" name="Google Shape;637;p21"/>
          <p:cNvSpPr/>
          <p:nvPr/>
        </p:nvSpPr>
        <p:spPr>
          <a:xfrm>
            <a:off x="5353050" y="2252663"/>
            <a:ext cx="2286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a:t>
            </a:r>
            <a:endParaRPr/>
          </a:p>
        </p:txBody>
      </p:sp>
      <p:sp>
        <p:nvSpPr>
          <p:cNvPr id="638" name="Google Shape;638;p21"/>
          <p:cNvSpPr txBox="1"/>
          <p:nvPr/>
        </p:nvSpPr>
        <p:spPr>
          <a:xfrm>
            <a:off x="5446713" y="1763713"/>
            <a:ext cx="1698625"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 primaryCourses</a:t>
            </a:r>
            <a:endParaRPr/>
          </a:p>
        </p:txBody>
      </p:sp>
      <p:sp>
        <p:nvSpPr>
          <p:cNvPr id="639" name="Google Shape;639;p21"/>
          <p:cNvSpPr/>
          <p:nvPr/>
        </p:nvSpPr>
        <p:spPr>
          <a:xfrm>
            <a:off x="7243778" y="1749425"/>
            <a:ext cx="16986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CourseOffering</a:t>
            </a:r>
            <a:endParaRPr/>
          </a:p>
        </p:txBody>
      </p:sp>
      <p:sp>
        <p:nvSpPr>
          <p:cNvPr id="640" name="Google Shape;640;p21"/>
          <p:cNvSpPr/>
          <p:nvPr/>
        </p:nvSpPr>
        <p:spPr>
          <a:xfrm>
            <a:off x="4192588" y="16240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41" name="Google Shape;641;p21"/>
          <p:cNvCxnSpPr/>
          <p:nvPr/>
        </p:nvCxnSpPr>
        <p:spPr>
          <a:xfrm>
            <a:off x="4194175" y="21034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642" name="Google Shape;642;p21"/>
          <p:cNvCxnSpPr/>
          <p:nvPr/>
        </p:nvCxnSpPr>
        <p:spPr>
          <a:xfrm>
            <a:off x="4194175" y="22399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643" name="Google Shape;643;p21"/>
          <p:cNvSpPr/>
          <p:nvPr/>
        </p:nvSpPr>
        <p:spPr>
          <a:xfrm>
            <a:off x="4235450" y="1749425"/>
            <a:ext cx="10605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Schedule</a:t>
            </a:r>
            <a:endParaRPr/>
          </a:p>
        </p:txBody>
      </p:sp>
      <p:cxnSp>
        <p:nvCxnSpPr>
          <p:cNvPr id="644" name="Google Shape;644;p21"/>
          <p:cNvCxnSpPr/>
          <p:nvPr/>
        </p:nvCxnSpPr>
        <p:spPr>
          <a:xfrm flipH="1" rot="10800000">
            <a:off x="5240338" y="4043363"/>
            <a:ext cx="1892300" cy="1587"/>
          </a:xfrm>
          <a:prstGeom prst="straightConnector1">
            <a:avLst/>
          </a:prstGeom>
          <a:noFill/>
          <a:ln cap="flat" cmpd="sng" w="12700">
            <a:solidFill>
              <a:schemeClr val="dk1"/>
            </a:solidFill>
            <a:prstDash val="solid"/>
            <a:round/>
            <a:headEnd len="lg" w="lg" type="stealth"/>
            <a:tailEnd len="sm" w="sm" type="none"/>
          </a:ln>
        </p:spPr>
      </p:cxnSp>
      <p:sp>
        <p:nvSpPr>
          <p:cNvPr id="645" name="Google Shape;645;p21"/>
          <p:cNvSpPr/>
          <p:nvPr/>
        </p:nvSpPr>
        <p:spPr>
          <a:xfrm>
            <a:off x="7134225" y="35671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46" name="Google Shape;646;p21"/>
          <p:cNvCxnSpPr/>
          <p:nvPr/>
        </p:nvCxnSpPr>
        <p:spPr>
          <a:xfrm>
            <a:off x="7134225" y="40465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647" name="Google Shape;647;p21"/>
          <p:cNvCxnSpPr/>
          <p:nvPr/>
        </p:nvCxnSpPr>
        <p:spPr>
          <a:xfrm>
            <a:off x="7134225" y="4183063"/>
            <a:ext cx="1585913" cy="1587"/>
          </a:xfrm>
          <a:prstGeom prst="straightConnector1">
            <a:avLst/>
          </a:prstGeom>
          <a:noFill/>
          <a:ln cap="flat" cmpd="sng" w="9525">
            <a:solidFill>
              <a:srgbClr val="8A0E5E"/>
            </a:solidFill>
            <a:prstDash val="solid"/>
            <a:round/>
            <a:headEnd len="med" w="med" type="none"/>
            <a:tailEnd len="med" w="med" type="none"/>
          </a:ln>
        </p:spPr>
      </p:cxnSp>
      <p:sp>
        <p:nvSpPr>
          <p:cNvPr id="648" name="Google Shape;648;p21"/>
          <p:cNvSpPr/>
          <p:nvPr/>
        </p:nvSpPr>
        <p:spPr>
          <a:xfrm>
            <a:off x="6691313" y="4195763"/>
            <a:ext cx="2540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0..4</a:t>
            </a:r>
            <a:endParaRPr/>
          </a:p>
        </p:txBody>
      </p:sp>
      <p:sp>
        <p:nvSpPr>
          <p:cNvPr id="649" name="Google Shape;649;p21"/>
          <p:cNvSpPr/>
          <p:nvPr/>
        </p:nvSpPr>
        <p:spPr>
          <a:xfrm>
            <a:off x="5353050" y="4195763"/>
            <a:ext cx="2286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a:t>
            </a:r>
            <a:endParaRPr/>
          </a:p>
        </p:txBody>
      </p:sp>
      <p:sp>
        <p:nvSpPr>
          <p:cNvPr id="650" name="Google Shape;650;p21"/>
          <p:cNvSpPr txBox="1"/>
          <p:nvPr/>
        </p:nvSpPr>
        <p:spPr>
          <a:xfrm>
            <a:off x="5446713" y="3706813"/>
            <a:ext cx="1698625"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 primaryCourses</a:t>
            </a:r>
            <a:endParaRPr/>
          </a:p>
        </p:txBody>
      </p:sp>
      <p:sp>
        <p:nvSpPr>
          <p:cNvPr id="651" name="Google Shape;651;p21"/>
          <p:cNvSpPr/>
          <p:nvPr/>
        </p:nvSpPr>
        <p:spPr>
          <a:xfrm>
            <a:off x="7243778" y="3692525"/>
            <a:ext cx="17625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CourseOffering</a:t>
            </a:r>
            <a:endParaRPr/>
          </a:p>
        </p:txBody>
      </p:sp>
      <p:sp>
        <p:nvSpPr>
          <p:cNvPr id="652" name="Google Shape;652;p21"/>
          <p:cNvSpPr/>
          <p:nvPr/>
        </p:nvSpPr>
        <p:spPr>
          <a:xfrm>
            <a:off x="4192588" y="35671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53" name="Google Shape;653;p21"/>
          <p:cNvCxnSpPr/>
          <p:nvPr/>
        </p:nvCxnSpPr>
        <p:spPr>
          <a:xfrm>
            <a:off x="4194175" y="40465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654" name="Google Shape;654;p21"/>
          <p:cNvCxnSpPr/>
          <p:nvPr/>
        </p:nvCxnSpPr>
        <p:spPr>
          <a:xfrm>
            <a:off x="4194175" y="41830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655" name="Google Shape;655;p21"/>
          <p:cNvSpPr/>
          <p:nvPr/>
        </p:nvSpPr>
        <p:spPr>
          <a:xfrm>
            <a:off x="4159250" y="3692525"/>
            <a:ext cx="10635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656" name="Google Shape;656;p21"/>
          <p:cNvSpPr/>
          <p:nvPr/>
        </p:nvSpPr>
        <p:spPr>
          <a:xfrm>
            <a:off x="7134225" y="5230813"/>
            <a:ext cx="1595438"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57" name="Google Shape;657;p21"/>
          <p:cNvCxnSpPr/>
          <p:nvPr/>
        </p:nvCxnSpPr>
        <p:spPr>
          <a:xfrm>
            <a:off x="7134225" y="5710238"/>
            <a:ext cx="1585913" cy="1587"/>
          </a:xfrm>
          <a:prstGeom prst="straightConnector1">
            <a:avLst/>
          </a:prstGeom>
          <a:noFill/>
          <a:ln cap="flat" cmpd="sng" w="9525">
            <a:solidFill>
              <a:srgbClr val="8A0E5E"/>
            </a:solidFill>
            <a:prstDash val="solid"/>
            <a:round/>
            <a:headEnd len="med" w="med" type="none"/>
            <a:tailEnd len="med" w="med" type="none"/>
          </a:ln>
        </p:spPr>
      </p:cxnSp>
      <p:cxnSp>
        <p:nvCxnSpPr>
          <p:cNvPr id="658" name="Google Shape;658;p21"/>
          <p:cNvCxnSpPr/>
          <p:nvPr/>
        </p:nvCxnSpPr>
        <p:spPr>
          <a:xfrm>
            <a:off x="7134225" y="5846763"/>
            <a:ext cx="1585913" cy="1587"/>
          </a:xfrm>
          <a:prstGeom prst="straightConnector1">
            <a:avLst/>
          </a:prstGeom>
          <a:noFill/>
          <a:ln cap="flat" cmpd="sng" w="9525">
            <a:solidFill>
              <a:srgbClr val="8A0E5E"/>
            </a:solidFill>
            <a:prstDash val="solid"/>
            <a:round/>
            <a:headEnd len="med" w="med" type="none"/>
            <a:tailEnd len="med" w="med" type="none"/>
          </a:ln>
        </p:spPr>
      </p:cxnSp>
      <p:sp>
        <p:nvSpPr>
          <p:cNvPr id="659" name="Google Shape;659;p21"/>
          <p:cNvSpPr/>
          <p:nvPr/>
        </p:nvSpPr>
        <p:spPr>
          <a:xfrm>
            <a:off x="6691313" y="5859463"/>
            <a:ext cx="2540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0..4</a:t>
            </a:r>
            <a:endParaRPr/>
          </a:p>
        </p:txBody>
      </p:sp>
      <p:sp>
        <p:nvSpPr>
          <p:cNvPr id="660" name="Google Shape;660;p21"/>
          <p:cNvSpPr/>
          <p:nvPr/>
        </p:nvSpPr>
        <p:spPr>
          <a:xfrm>
            <a:off x="5353050" y="5859463"/>
            <a:ext cx="228600" cy="18256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a:t>
            </a:r>
            <a:endParaRPr/>
          </a:p>
        </p:txBody>
      </p:sp>
      <p:sp>
        <p:nvSpPr>
          <p:cNvPr id="661" name="Google Shape;661;p21"/>
          <p:cNvSpPr txBox="1"/>
          <p:nvPr/>
        </p:nvSpPr>
        <p:spPr>
          <a:xfrm>
            <a:off x="5446713" y="5370513"/>
            <a:ext cx="1698625" cy="274637"/>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lang="en-US" sz="1200">
                <a:solidFill>
                  <a:schemeClr val="dk1"/>
                </a:solidFill>
                <a:latin typeface="Arial"/>
                <a:ea typeface="Arial"/>
                <a:cs typeface="Arial"/>
                <a:sym typeface="Arial"/>
              </a:rPr>
              <a:t>+ primaryCourses</a:t>
            </a:r>
            <a:endParaRPr/>
          </a:p>
        </p:txBody>
      </p:sp>
      <p:sp>
        <p:nvSpPr>
          <p:cNvPr id="662" name="Google Shape;662;p21"/>
          <p:cNvSpPr/>
          <p:nvPr/>
        </p:nvSpPr>
        <p:spPr>
          <a:xfrm>
            <a:off x="7243778" y="5356225"/>
            <a:ext cx="16986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CourseOffering</a:t>
            </a:r>
            <a:endParaRPr/>
          </a:p>
        </p:txBody>
      </p:sp>
      <p:sp>
        <p:nvSpPr>
          <p:cNvPr id="663" name="Google Shape;663;p21"/>
          <p:cNvSpPr/>
          <p:nvPr/>
        </p:nvSpPr>
        <p:spPr>
          <a:xfrm>
            <a:off x="4192588" y="5230813"/>
            <a:ext cx="1063625" cy="855662"/>
          </a:xfrm>
          <a:prstGeom prst="rect">
            <a:avLst/>
          </a:prstGeom>
          <a:solidFill>
            <a:srgbClr val="FFFFCC"/>
          </a:solidFill>
          <a:ln cap="flat" cmpd="sng" w="9525">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664" name="Google Shape;664;p21"/>
          <p:cNvCxnSpPr/>
          <p:nvPr/>
        </p:nvCxnSpPr>
        <p:spPr>
          <a:xfrm>
            <a:off x="4194175" y="5710238"/>
            <a:ext cx="1060450" cy="1587"/>
          </a:xfrm>
          <a:prstGeom prst="straightConnector1">
            <a:avLst/>
          </a:prstGeom>
          <a:noFill/>
          <a:ln cap="flat" cmpd="sng" w="9525">
            <a:solidFill>
              <a:srgbClr val="8A0E5E"/>
            </a:solidFill>
            <a:prstDash val="solid"/>
            <a:round/>
            <a:headEnd len="med" w="med" type="none"/>
            <a:tailEnd len="med" w="med" type="none"/>
          </a:ln>
        </p:spPr>
      </p:cxnSp>
      <p:cxnSp>
        <p:nvCxnSpPr>
          <p:cNvPr id="665" name="Google Shape;665;p21"/>
          <p:cNvCxnSpPr/>
          <p:nvPr/>
        </p:nvCxnSpPr>
        <p:spPr>
          <a:xfrm>
            <a:off x="4194175" y="5846763"/>
            <a:ext cx="1060450" cy="1587"/>
          </a:xfrm>
          <a:prstGeom prst="straightConnector1">
            <a:avLst/>
          </a:prstGeom>
          <a:noFill/>
          <a:ln cap="flat" cmpd="sng" w="9525">
            <a:solidFill>
              <a:srgbClr val="8A0E5E"/>
            </a:solidFill>
            <a:prstDash val="solid"/>
            <a:round/>
            <a:headEnd len="med" w="med" type="none"/>
            <a:tailEnd len="med" w="med" type="none"/>
          </a:ln>
        </p:spPr>
      </p:cxnSp>
      <p:sp>
        <p:nvSpPr>
          <p:cNvPr id="666" name="Google Shape;666;p21"/>
          <p:cNvSpPr/>
          <p:nvPr/>
        </p:nvSpPr>
        <p:spPr>
          <a:xfrm>
            <a:off x="4235450" y="5356225"/>
            <a:ext cx="1063500" cy="244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chemeClr val="dk1"/>
                </a:solidFill>
                <a:latin typeface="Arial"/>
                <a:ea typeface="Arial"/>
                <a:cs typeface="Arial"/>
                <a:sym typeface="Arial"/>
              </a:rPr>
              <a:t>Schedule</a:t>
            </a:r>
            <a:endParaRPr/>
          </a:p>
        </p:txBody>
      </p:sp>
      <p:cxnSp>
        <p:nvCxnSpPr>
          <p:cNvPr id="667" name="Google Shape;667;p21"/>
          <p:cNvCxnSpPr/>
          <p:nvPr/>
        </p:nvCxnSpPr>
        <p:spPr>
          <a:xfrm>
            <a:off x="5240338" y="5676900"/>
            <a:ext cx="1893887" cy="0"/>
          </a:xfrm>
          <a:prstGeom prst="straightConnector1">
            <a:avLst/>
          </a:prstGeom>
          <a:noFill/>
          <a:ln cap="flat" cmpd="sng" w="12700">
            <a:solidFill>
              <a:schemeClr val="dk1"/>
            </a:solidFill>
            <a:prstDash val="solid"/>
            <a:round/>
            <a:headEnd len="med" w="med" type="none"/>
            <a:tailEnd len="med" w="med" type="none"/>
          </a:ln>
        </p:spPr>
      </p:cxnSp>
      <p:sp>
        <p:nvSpPr>
          <p:cNvPr id="668" name="Google Shape;668;p21"/>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22"/>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Association Class</a:t>
            </a:r>
            <a:endParaRPr/>
          </a:p>
        </p:txBody>
      </p:sp>
      <p:sp>
        <p:nvSpPr>
          <p:cNvPr id="675" name="Google Shape;675;p22"/>
          <p:cNvSpPr txBox="1"/>
          <p:nvPr>
            <p:ph idx="1" type="body"/>
          </p:nvPr>
        </p:nvSpPr>
        <p:spPr>
          <a:xfrm>
            <a:off x="184150" y="1376363"/>
            <a:ext cx="3721100" cy="5329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A class is “attached” to an association</a:t>
            </a:r>
            <a:endParaRPr/>
          </a:p>
          <a:p>
            <a:pPr indent="-342900" lvl="0" marL="342900" rtl="0" algn="l">
              <a:spcBef>
                <a:spcPts val="400"/>
              </a:spcBef>
              <a:spcAft>
                <a:spcPts val="0"/>
              </a:spcAft>
              <a:buClr>
                <a:srgbClr val="000000"/>
              </a:buClr>
              <a:buSzPts val="2000"/>
              <a:buChar char="❖"/>
            </a:pPr>
            <a:r>
              <a:rPr lang="en-US" sz="2000"/>
              <a:t>Contains properties of a relationship</a:t>
            </a:r>
            <a:endParaRPr/>
          </a:p>
          <a:p>
            <a:pPr indent="-342900" lvl="0" marL="342900" rtl="0" algn="l">
              <a:spcBef>
                <a:spcPts val="400"/>
              </a:spcBef>
              <a:spcAft>
                <a:spcPts val="0"/>
              </a:spcAft>
              <a:buClr>
                <a:srgbClr val="000000"/>
              </a:buClr>
              <a:buSzPts val="2000"/>
              <a:buChar char="❖"/>
            </a:pPr>
            <a:r>
              <a:rPr lang="en-US" sz="2000"/>
              <a:t>Has one instance per link</a:t>
            </a:r>
            <a:endParaRPr/>
          </a:p>
        </p:txBody>
      </p:sp>
      <p:cxnSp>
        <p:nvCxnSpPr>
          <p:cNvPr id="676" name="Google Shape;676;p22"/>
          <p:cNvCxnSpPr/>
          <p:nvPr/>
        </p:nvCxnSpPr>
        <p:spPr>
          <a:xfrm>
            <a:off x="6346825" y="2584450"/>
            <a:ext cx="0" cy="820738"/>
          </a:xfrm>
          <a:prstGeom prst="straightConnector1">
            <a:avLst/>
          </a:prstGeom>
          <a:noFill/>
          <a:ln cap="flat" cmpd="sng" w="12700">
            <a:solidFill>
              <a:schemeClr val="dk1"/>
            </a:solidFill>
            <a:prstDash val="dash"/>
            <a:round/>
            <a:headEnd len="med" w="med" type="none"/>
            <a:tailEnd len="med" w="med" type="none"/>
          </a:ln>
        </p:spPr>
      </p:cxnSp>
      <p:cxnSp>
        <p:nvCxnSpPr>
          <p:cNvPr id="677" name="Google Shape;677;p22"/>
          <p:cNvCxnSpPr/>
          <p:nvPr/>
        </p:nvCxnSpPr>
        <p:spPr>
          <a:xfrm rot="10800000">
            <a:off x="5492750" y="3629025"/>
            <a:ext cx="0" cy="1077913"/>
          </a:xfrm>
          <a:prstGeom prst="straightConnector1">
            <a:avLst/>
          </a:prstGeom>
          <a:noFill/>
          <a:ln cap="flat" cmpd="sng" w="12700">
            <a:solidFill>
              <a:schemeClr val="dk1"/>
            </a:solidFill>
            <a:prstDash val="dash"/>
            <a:round/>
            <a:headEnd len="med" w="med" type="none"/>
            <a:tailEnd len="med" w="med" type="none"/>
          </a:ln>
        </p:spPr>
      </p:cxnSp>
      <p:sp>
        <p:nvSpPr>
          <p:cNvPr id="678" name="Google Shape;678;p22"/>
          <p:cNvSpPr/>
          <p:nvPr/>
        </p:nvSpPr>
        <p:spPr>
          <a:xfrm>
            <a:off x="7415213" y="3349625"/>
            <a:ext cx="1244600" cy="56197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79" name="Google Shape;679;p22"/>
          <p:cNvSpPr/>
          <p:nvPr/>
        </p:nvSpPr>
        <p:spPr>
          <a:xfrm>
            <a:off x="5289550" y="1193800"/>
            <a:ext cx="1724025" cy="14049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&lt;&lt;entity&gt;&gt;</a:t>
            </a:r>
            <a:endParaRPr/>
          </a:p>
        </p:txBody>
      </p:sp>
      <p:sp>
        <p:nvSpPr>
          <p:cNvPr id="680" name="Google Shape;680;p22"/>
          <p:cNvSpPr/>
          <p:nvPr/>
        </p:nvSpPr>
        <p:spPr>
          <a:xfrm>
            <a:off x="5461000" y="1390650"/>
            <a:ext cx="1427163" cy="2286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lang="en-US" sz="1200">
                <a:solidFill>
                  <a:srgbClr val="000000"/>
                </a:solidFill>
                <a:latin typeface="Arial"/>
                <a:ea typeface="Arial"/>
                <a:cs typeface="Arial"/>
                <a:sym typeface="Arial"/>
              </a:rPr>
              <a:t>ScheduleOfferingInfo</a:t>
            </a:r>
            <a:endParaRPr/>
          </a:p>
        </p:txBody>
      </p:sp>
      <p:sp>
        <p:nvSpPr>
          <p:cNvPr id="681" name="Google Shape;681;p22"/>
          <p:cNvSpPr/>
          <p:nvPr/>
        </p:nvSpPr>
        <p:spPr>
          <a:xfrm>
            <a:off x="5289550" y="1620838"/>
            <a:ext cx="1724025" cy="977900"/>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2" name="Google Shape;682;p22"/>
          <p:cNvSpPr/>
          <p:nvPr/>
        </p:nvSpPr>
        <p:spPr>
          <a:xfrm>
            <a:off x="5289550" y="1890713"/>
            <a:ext cx="1724025" cy="70802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83" name="Google Shape;683;p22"/>
          <p:cNvSpPr/>
          <p:nvPr/>
        </p:nvSpPr>
        <p:spPr>
          <a:xfrm>
            <a:off x="5349875" y="1668463"/>
            <a:ext cx="50494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status</a:t>
            </a:r>
            <a:endParaRPr sz="1000">
              <a:solidFill>
                <a:srgbClr val="000000"/>
              </a:solidFill>
              <a:latin typeface="Arial"/>
              <a:ea typeface="Arial"/>
              <a:cs typeface="Arial"/>
              <a:sym typeface="Arial"/>
            </a:endParaRPr>
          </a:p>
        </p:txBody>
      </p:sp>
      <p:sp>
        <p:nvSpPr>
          <p:cNvPr id="684" name="Google Shape;684;p22"/>
          <p:cNvSpPr/>
          <p:nvPr/>
        </p:nvSpPr>
        <p:spPr>
          <a:xfrm>
            <a:off x="5324475" y="2003425"/>
            <a:ext cx="113332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is selected ()</a:t>
            </a:r>
            <a:endParaRPr sz="1000">
              <a:solidFill>
                <a:srgbClr val="000000"/>
              </a:solidFill>
              <a:latin typeface="Arial"/>
              <a:ea typeface="Arial"/>
              <a:cs typeface="Arial"/>
              <a:sym typeface="Arial"/>
            </a:endParaRPr>
          </a:p>
        </p:txBody>
      </p:sp>
      <p:sp>
        <p:nvSpPr>
          <p:cNvPr id="685" name="Google Shape;685;p22"/>
          <p:cNvSpPr/>
          <p:nvPr/>
        </p:nvSpPr>
        <p:spPr>
          <a:xfrm>
            <a:off x="5324475" y="2182813"/>
            <a:ext cx="156934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mark as selected ()</a:t>
            </a:r>
            <a:endParaRPr sz="1000">
              <a:solidFill>
                <a:srgbClr val="000000"/>
              </a:solidFill>
              <a:latin typeface="Arial"/>
              <a:ea typeface="Arial"/>
              <a:cs typeface="Arial"/>
              <a:sym typeface="Arial"/>
            </a:endParaRPr>
          </a:p>
        </p:txBody>
      </p:sp>
      <p:sp>
        <p:nvSpPr>
          <p:cNvPr id="686" name="Google Shape;686;p22"/>
          <p:cNvSpPr/>
          <p:nvPr/>
        </p:nvSpPr>
        <p:spPr>
          <a:xfrm>
            <a:off x="5324475" y="2363788"/>
            <a:ext cx="1644681"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mark as cancelled ()</a:t>
            </a:r>
            <a:endParaRPr sz="1000">
              <a:solidFill>
                <a:srgbClr val="000000"/>
              </a:solidFill>
              <a:latin typeface="Arial"/>
              <a:ea typeface="Arial"/>
              <a:cs typeface="Arial"/>
              <a:sym typeface="Arial"/>
            </a:endParaRPr>
          </a:p>
        </p:txBody>
      </p:sp>
      <p:sp>
        <p:nvSpPr>
          <p:cNvPr id="687" name="Google Shape;687;p22"/>
          <p:cNvSpPr/>
          <p:nvPr/>
        </p:nvSpPr>
        <p:spPr>
          <a:xfrm>
            <a:off x="7519511" y="3467100"/>
            <a:ext cx="1037592"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CourseOffering</a:t>
            </a:r>
            <a:endParaRPr/>
          </a:p>
        </p:txBody>
      </p:sp>
      <p:sp>
        <p:nvSpPr>
          <p:cNvPr id="688" name="Google Shape;688;p22"/>
          <p:cNvSpPr/>
          <p:nvPr/>
        </p:nvSpPr>
        <p:spPr>
          <a:xfrm>
            <a:off x="3760788" y="3286125"/>
            <a:ext cx="800100" cy="561975"/>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b="1" sz="1400">
              <a:solidFill>
                <a:srgbClr val="000000"/>
              </a:solidFill>
              <a:latin typeface="Arial"/>
              <a:ea typeface="Arial"/>
              <a:cs typeface="Arial"/>
              <a:sym typeface="Arial"/>
            </a:endParaRPr>
          </a:p>
        </p:txBody>
      </p:sp>
      <p:sp>
        <p:nvSpPr>
          <p:cNvPr id="689" name="Google Shape;689;p22"/>
          <p:cNvSpPr/>
          <p:nvPr/>
        </p:nvSpPr>
        <p:spPr>
          <a:xfrm>
            <a:off x="3838665" y="3395663"/>
            <a:ext cx="637995"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Schedule</a:t>
            </a:r>
            <a:endParaRPr/>
          </a:p>
        </p:txBody>
      </p:sp>
      <p:sp>
        <p:nvSpPr>
          <p:cNvPr id="690" name="Google Shape;690;p22"/>
          <p:cNvSpPr/>
          <p:nvPr/>
        </p:nvSpPr>
        <p:spPr>
          <a:xfrm>
            <a:off x="4618038" y="3690938"/>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sz="1200">
              <a:solidFill>
                <a:srgbClr val="000000"/>
              </a:solidFill>
              <a:latin typeface="Arial"/>
              <a:ea typeface="Arial"/>
              <a:cs typeface="Arial"/>
              <a:sym typeface="Arial"/>
            </a:endParaRPr>
          </a:p>
        </p:txBody>
      </p:sp>
      <p:sp>
        <p:nvSpPr>
          <p:cNvPr id="691" name="Google Shape;691;p22"/>
          <p:cNvSpPr/>
          <p:nvPr/>
        </p:nvSpPr>
        <p:spPr>
          <a:xfrm>
            <a:off x="7121525" y="3687763"/>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0..4</a:t>
            </a:r>
            <a:endParaRPr sz="1200">
              <a:solidFill>
                <a:srgbClr val="000000"/>
              </a:solidFill>
              <a:latin typeface="Arial"/>
              <a:ea typeface="Arial"/>
              <a:cs typeface="Arial"/>
              <a:sym typeface="Arial"/>
            </a:endParaRPr>
          </a:p>
        </p:txBody>
      </p:sp>
      <p:sp>
        <p:nvSpPr>
          <p:cNvPr id="692" name="Google Shape;692;p22"/>
          <p:cNvSpPr/>
          <p:nvPr/>
        </p:nvSpPr>
        <p:spPr>
          <a:xfrm>
            <a:off x="5797550" y="3683000"/>
            <a:ext cx="121507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primaryCourses</a:t>
            </a:r>
            <a:endParaRPr sz="1000">
              <a:solidFill>
                <a:srgbClr val="000000"/>
              </a:solidFill>
              <a:latin typeface="Arial"/>
              <a:ea typeface="Arial"/>
              <a:cs typeface="Arial"/>
              <a:sym typeface="Arial"/>
            </a:endParaRPr>
          </a:p>
        </p:txBody>
      </p:sp>
      <p:sp>
        <p:nvSpPr>
          <p:cNvPr id="693" name="Google Shape;693;p22"/>
          <p:cNvSpPr/>
          <p:nvPr/>
        </p:nvSpPr>
        <p:spPr>
          <a:xfrm>
            <a:off x="4916488" y="3182938"/>
            <a:ext cx="130003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alternateCourses</a:t>
            </a:r>
            <a:endParaRPr sz="1000">
              <a:solidFill>
                <a:srgbClr val="000000"/>
              </a:solidFill>
              <a:latin typeface="Arial"/>
              <a:ea typeface="Arial"/>
              <a:cs typeface="Arial"/>
              <a:sym typeface="Arial"/>
            </a:endParaRPr>
          </a:p>
        </p:txBody>
      </p:sp>
      <p:sp>
        <p:nvSpPr>
          <p:cNvPr id="694" name="Google Shape;694;p22"/>
          <p:cNvSpPr/>
          <p:nvPr/>
        </p:nvSpPr>
        <p:spPr>
          <a:xfrm>
            <a:off x="4611688" y="3184525"/>
            <a:ext cx="230832"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a:t>
            </a:r>
            <a:endParaRPr sz="1200">
              <a:solidFill>
                <a:srgbClr val="000000"/>
              </a:solidFill>
              <a:latin typeface="Arial"/>
              <a:ea typeface="Arial"/>
              <a:cs typeface="Arial"/>
              <a:sym typeface="Arial"/>
            </a:endParaRPr>
          </a:p>
        </p:txBody>
      </p:sp>
      <p:sp>
        <p:nvSpPr>
          <p:cNvPr id="695" name="Google Shape;695;p22"/>
          <p:cNvSpPr/>
          <p:nvPr/>
        </p:nvSpPr>
        <p:spPr>
          <a:xfrm>
            <a:off x="7096125" y="3149600"/>
            <a:ext cx="25648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0..2</a:t>
            </a:r>
            <a:endParaRPr sz="1200">
              <a:solidFill>
                <a:srgbClr val="000000"/>
              </a:solidFill>
              <a:latin typeface="Arial"/>
              <a:ea typeface="Arial"/>
              <a:cs typeface="Arial"/>
              <a:sym typeface="Arial"/>
            </a:endParaRPr>
          </a:p>
        </p:txBody>
      </p:sp>
      <p:sp>
        <p:nvSpPr>
          <p:cNvPr id="696" name="Google Shape;696;p22"/>
          <p:cNvSpPr/>
          <p:nvPr/>
        </p:nvSpPr>
        <p:spPr>
          <a:xfrm>
            <a:off x="4121150" y="4643438"/>
            <a:ext cx="2406650" cy="1404937"/>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7" name="Google Shape;697;p22"/>
          <p:cNvSpPr/>
          <p:nvPr/>
        </p:nvSpPr>
        <p:spPr>
          <a:xfrm>
            <a:off x="4365415" y="4867275"/>
            <a:ext cx="1967333" cy="184666"/>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PrimaryScheduleOfferingInfo</a:t>
            </a:r>
            <a:endParaRPr/>
          </a:p>
        </p:txBody>
      </p:sp>
      <p:sp>
        <p:nvSpPr>
          <p:cNvPr id="698" name="Google Shape;698;p22"/>
          <p:cNvSpPr/>
          <p:nvPr/>
        </p:nvSpPr>
        <p:spPr>
          <a:xfrm>
            <a:off x="4121150" y="5059363"/>
            <a:ext cx="2406650" cy="989012"/>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699" name="Google Shape;699;p22"/>
          <p:cNvSpPr/>
          <p:nvPr/>
        </p:nvSpPr>
        <p:spPr>
          <a:xfrm>
            <a:off x="4121150" y="5329238"/>
            <a:ext cx="2406650" cy="719137"/>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00" name="Google Shape;700;p22"/>
          <p:cNvSpPr/>
          <p:nvPr/>
        </p:nvSpPr>
        <p:spPr>
          <a:xfrm>
            <a:off x="4173538" y="5100638"/>
            <a:ext cx="48571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grade</a:t>
            </a:r>
            <a:endParaRPr sz="1000">
              <a:solidFill>
                <a:srgbClr val="000000"/>
              </a:solidFill>
              <a:latin typeface="Arial"/>
              <a:ea typeface="Arial"/>
              <a:cs typeface="Arial"/>
              <a:sym typeface="Arial"/>
            </a:endParaRPr>
          </a:p>
        </p:txBody>
      </p:sp>
      <p:sp>
        <p:nvSpPr>
          <p:cNvPr id="701" name="Google Shape;701;p22"/>
          <p:cNvSpPr/>
          <p:nvPr/>
        </p:nvSpPr>
        <p:spPr>
          <a:xfrm>
            <a:off x="4154488" y="5441950"/>
            <a:ext cx="1352934"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is enrolled in? ()</a:t>
            </a:r>
            <a:endParaRPr sz="1000">
              <a:solidFill>
                <a:srgbClr val="000000"/>
              </a:solidFill>
              <a:latin typeface="Arial"/>
              <a:ea typeface="Arial"/>
              <a:cs typeface="Arial"/>
              <a:sym typeface="Arial"/>
            </a:endParaRPr>
          </a:p>
        </p:txBody>
      </p:sp>
      <p:sp>
        <p:nvSpPr>
          <p:cNvPr id="702" name="Google Shape;702;p22"/>
          <p:cNvSpPr/>
          <p:nvPr/>
        </p:nvSpPr>
        <p:spPr>
          <a:xfrm>
            <a:off x="4154488" y="5621338"/>
            <a:ext cx="1703993"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mark as enrolled in ()</a:t>
            </a:r>
            <a:endParaRPr sz="1000">
              <a:solidFill>
                <a:srgbClr val="000000"/>
              </a:solidFill>
              <a:latin typeface="Arial"/>
              <a:ea typeface="Arial"/>
              <a:cs typeface="Arial"/>
              <a:sym typeface="Arial"/>
            </a:endParaRPr>
          </a:p>
        </p:txBody>
      </p:sp>
      <p:sp>
        <p:nvSpPr>
          <p:cNvPr id="703" name="Google Shape;703;p22"/>
          <p:cNvSpPr/>
          <p:nvPr/>
        </p:nvSpPr>
        <p:spPr>
          <a:xfrm>
            <a:off x="4154488" y="5800725"/>
            <a:ext cx="1707199"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200">
                <a:solidFill>
                  <a:srgbClr val="000000"/>
                </a:solidFill>
                <a:latin typeface="Arial"/>
                <a:ea typeface="Arial"/>
                <a:cs typeface="Arial"/>
                <a:sym typeface="Arial"/>
              </a:rPr>
              <a:t>+ // mark as committed ()</a:t>
            </a:r>
            <a:endParaRPr sz="1000">
              <a:solidFill>
                <a:srgbClr val="000000"/>
              </a:solidFill>
              <a:latin typeface="Arial"/>
              <a:ea typeface="Arial"/>
              <a:cs typeface="Arial"/>
              <a:sym typeface="Arial"/>
            </a:endParaRPr>
          </a:p>
        </p:txBody>
      </p:sp>
      <p:cxnSp>
        <p:nvCxnSpPr>
          <p:cNvPr id="704" name="Google Shape;704;p22"/>
          <p:cNvCxnSpPr/>
          <p:nvPr/>
        </p:nvCxnSpPr>
        <p:spPr>
          <a:xfrm>
            <a:off x="3759200" y="3695700"/>
            <a:ext cx="800100" cy="0"/>
          </a:xfrm>
          <a:prstGeom prst="straightConnector1">
            <a:avLst/>
          </a:prstGeom>
          <a:noFill/>
          <a:ln cap="flat" cmpd="sng" w="12700">
            <a:solidFill>
              <a:srgbClr val="990033"/>
            </a:solidFill>
            <a:prstDash val="solid"/>
            <a:round/>
            <a:headEnd len="med" w="med" type="none"/>
            <a:tailEnd len="med" w="med" type="none"/>
          </a:ln>
        </p:spPr>
      </p:cxnSp>
      <p:cxnSp>
        <p:nvCxnSpPr>
          <p:cNvPr id="705" name="Google Shape;705;p22"/>
          <p:cNvCxnSpPr/>
          <p:nvPr/>
        </p:nvCxnSpPr>
        <p:spPr>
          <a:xfrm>
            <a:off x="3759200" y="3771900"/>
            <a:ext cx="800100" cy="0"/>
          </a:xfrm>
          <a:prstGeom prst="straightConnector1">
            <a:avLst/>
          </a:prstGeom>
          <a:noFill/>
          <a:ln cap="flat" cmpd="sng" w="12700">
            <a:solidFill>
              <a:srgbClr val="990033"/>
            </a:solidFill>
            <a:prstDash val="solid"/>
            <a:round/>
            <a:headEnd len="med" w="med" type="none"/>
            <a:tailEnd len="med" w="med" type="none"/>
          </a:ln>
        </p:spPr>
      </p:cxnSp>
      <p:cxnSp>
        <p:nvCxnSpPr>
          <p:cNvPr id="706" name="Google Shape;706;p22"/>
          <p:cNvCxnSpPr/>
          <p:nvPr/>
        </p:nvCxnSpPr>
        <p:spPr>
          <a:xfrm>
            <a:off x="7413625" y="3759200"/>
            <a:ext cx="1243013" cy="0"/>
          </a:xfrm>
          <a:prstGeom prst="straightConnector1">
            <a:avLst/>
          </a:prstGeom>
          <a:noFill/>
          <a:ln cap="flat" cmpd="sng" w="12700">
            <a:solidFill>
              <a:srgbClr val="990033"/>
            </a:solidFill>
            <a:prstDash val="solid"/>
            <a:round/>
            <a:headEnd len="med" w="med" type="none"/>
            <a:tailEnd len="med" w="med" type="none"/>
          </a:ln>
        </p:spPr>
      </p:cxnSp>
      <p:cxnSp>
        <p:nvCxnSpPr>
          <p:cNvPr id="707" name="Google Shape;707;p22"/>
          <p:cNvCxnSpPr/>
          <p:nvPr/>
        </p:nvCxnSpPr>
        <p:spPr>
          <a:xfrm>
            <a:off x="7413625" y="3835400"/>
            <a:ext cx="1243013" cy="0"/>
          </a:xfrm>
          <a:prstGeom prst="straightConnector1">
            <a:avLst/>
          </a:prstGeom>
          <a:noFill/>
          <a:ln cap="flat" cmpd="sng" w="12700">
            <a:solidFill>
              <a:srgbClr val="990033"/>
            </a:solidFill>
            <a:prstDash val="solid"/>
            <a:round/>
            <a:headEnd len="med" w="med" type="none"/>
            <a:tailEnd len="med" w="med" type="none"/>
          </a:ln>
        </p:spPr>
      </p:cxnSp>
      <p:sp>
        <p:nvSpPr>
          <p:cNvPr id="708" name="Google Shape;708;p22"/>
          <p:cNvSpPr/>
          <p:nvPr/>
        </p:nvSpPr>
        <p:spPr>
          <a:xfrm rot="-5400000">
            <a:off x="7040563" y="1778000"/>
            <a:ext cx="165100" cy="203200"/>
          </a:xfrm>
          <a:prstGeom prst="triangle">
            <a:avLst>
              <a:gd fmla="val 50000" name="adj"/>
            </a:avLst>
          </a:prstGeom>
          <a:no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09" name="Google Shape;709;p22"/>
          <p:cNvCxnSpPr/>
          <p:nvPr/>
        </p:nvCxnSpPr>
        <p:spPr>
          <a:xfrm>
            <a:off x="4559300" y="3424238"/>
            <a:ext cx="2855913" cy="0"/>
          </a:xfrm>
          <a:prstGeom prst="straightConnector1">
            <a:avLst/>
          </a:prstGeom>
          <a:noFill/>
          <a:ln cap="flat" cmpd="sng" w="12700">
            <a:solidFill>
              <a:schemeClr val="dk1"/>
            </a:solidFill>
            <a:prstDash val="solid"/>
            <a:round/>
            <a:headEnd len="med" w="med" type="none"/>
            <a:tailEnd len="med" w="med" type="none"/>
          </a:ln>
        </p:spPr>
      </p:cxnSp>
      <p:cxnSp>
        <p:nvCxnSpPr>
          <p:cNvPr id="710" name="Google Shape;710;p22"/>
          <p:cNvCxnSpPr/>
          <p:nvPr/>
        </p:nvCxnSpPr>
        <p:spPr>
          <a:xfrm>
            <a:off x="4559300" y="3629025"/>
            <a:ext cx="2855913" cy="0"/>
          </a:xfrm>
          <a:prstGeom prst="straightConnector1">
            <a:avLst/>
          </a:prstGeom>
          <a:noFill/>
          <a:ln cap="flat" cmpd="sng" w="12700">
            <a:solidFill>
              <a:schemeClr val="dk1"/>
            </a:solidFill>
            <a:prstDash val="solid"/>
            <a:round/>
            <a:headEnd len="med" w="med" type="none"/>
            <a:tailEnd len="med" w="med" type="none"/>
          </a:ln>
        </p:spPr>
      </p:cxnSp>
      <p:sp>
        <p:nvSpPr>
          <p:cNvPr id="711" name="Google Shape;711;p22"/>
          <p:cNvSpPr/>
          <p:nvPr/>
        </p:nvSpPr>
        <p:spPr>
          <a:xfrm>
            <a:off x="6515100" y="1876425"/>
            <a:ext cx="2247900" cy="3352800"/>
          </a:xfrm>
          <a:custGeom>
            <a:rect b="b" l="l" r="r" t="t"/>
            <a:pathLst>
              <a:path extrusionOk="0" h="2112" w="1416">
                <a:moveTo>
                  <a:pt x="444" y="0"/>
                </a:moveTo>
                <a:lnTo>
                  <a:pt x="1416" y="0"/>
                </a:lnTo>
                <a:lnTo>
                  <a:pt x="1416" y="2010"/>
                </a:lnTo>
                <a:lnTo>
                  <a:pt x="1416" y="2112"/>
                </a:lnTo>
                <a:lnTo>
                  <a:pt x="0" y="2112"/>
                </a:lnTo>
              </a:path>
            </a:pathLst>
          </a:custGeom>
          <a:noFill/>
          <a:ln cap="flat" cmpd="sng" w="12700">
            <a:solidFill>
              <a:schemeClr val="dk1"/>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12" name="Google Shape;712;p22"/>
          <p:cNvSpPr txBox="1"/>
          <p:nvPr/>
        </p:nvSpPr>
        <p:spPr>
          <a:xfrm>
            <a:off x="4837113" y="4643438"/>
            <a:ext cx="903287" cy="27463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&lt;&lt;entity&gt;&gt;</a:t>
            </a:r>
            <a:endParaRPr/>
          </a:p>
        </p:txBody>
      </p:sp>
      <p:sp>
        <p:nvSpPr>
          <p:cNvPr id="713" name="Google Shape;713;p22"/>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cxnSp>
        <p:nvCxnSpPr>
          <p:cNvPr id="720" name="Google Shape;720;p23"/>
          <p:cNvCxnSpPr/>
          <p:nvPr/>
        </p:nvCxnSpPr>
        <p:spPr>
          <a:xfrm>
            <a:off x="2351088" y="2743200"/>
            <a:ext cx="1549400" cy="1588"/>
          </a:xfrm>
          <a:prstGeom prst="straightConnector1">
            <a:avLst/>
          </a:prstGeom>
          <a:noFill/>
          <a:ln cap="flat" cmpd="sng" w="28575">
            <a:solidFill>
              <a:schemeClr val="dk1"/>
            </a:solidFill>
            <a:prstDash val="solid"/>
            <a:round/>
            <a:headEnd len="med" w="med" type="none"/>
            <a:tailEnd len="med" w="med" type="none"/>
          </a:ln>
        </p:spPr>
      </p:cxnSp>
      <p:cxnSp>
        <p:nvCxnSpPr>
          <p:cNvPr id="721" name="Google Shape;721;p23"/>
          <p:cNvCxnSpPr/>
          <p:nvPr/>
        </p:nvCxnSpPr>
        <p:spPr>
          <a:xfrm flipH="1">
            <a:off x="5216525" y="2743200"/>
            <a:ext cx="1962150" cy="1588"/>
          </a:xfrm>
          <a:prstGeom prst="straightConnector1">
            <a:avLst/>
          </a:prstGeom>
          <a:noFill/>
          <a:ln cap="flat" cmpd="sng" w="28575">
            <a:solidFill>
              <a:schemeClr val="dk1"/>
            </a:solidFill>
            <a:prstDash val="solid"/>
            <a:round/>
            <a:headEnd len="med" w="med" type="none"/>
            <a:tailEnd len="med" w="med" type="none"/>
          </a:ln>
        </p:spPr>
      </p:cxnSp>
      <p:sp>
        <p:nvSpPr>
          <p:cNvPr id="722" name="Google Shape;722;p23"/>
          <p:cNvSpPr/>
          <p:nvPr/>
        </p:nvSpPr>
        <p:spPr>
          <a:xfrm>
            <a:off x="4545013" y="5405438"/>
            <a:ext cx="1208087" cy="652462"/>
          </a:xfrm>
          <a:custGeom>
            <a:rect b="b" l="l" r="r" t="t"/>
            <a:pathLst>
              <a:path extrusionOk="0" h="411" w="809">
                <a:moveTo>
                  <a:pt x="809" y="229"/>
                </a:moveTo>
                <a:lnTo>
                  <a:pt x="809" y="411"/>
                </a:lnTo>
                <a:lnTo>
                  <a:pt x="0" y="411"/>
                </a:lnTo>
                <a:lnTo>
                  <a:pt x="0" y="0"/>
                </a:lnTo>
              </a:path>
            </a:pathLst>
          </a:custGeom>
          <a:noFill/>
          <a:ln cap="flat" cmpd="sng" w="28575">
            <a:solidFill>
              <a:schemeClr val="dk1"/>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3" name="Google Shape;723;p23"/>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What Are Roles?</a:t>
            </a:r>
            <a:endParaRPr/>
          </a:p>
        </p:txBody>
      </p:sp>
      <p:sp>
        <p:nvSpPr>
          <p:cNvPr id="724" name="Google Shape;724;p23"/>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“face” that a class plays in the association</a:t>
            </a:r>
            <a:endParaRPr/>
          </a:p>
        </p:txBody>
      </p:sp>
      <p:sp>
        <p:nvSpPr>
          <p:cNvPr id="725" name="Google Shape;725;p23"/>
          <p:cNvSpPr txBox="1"/>
          <p:nvPr/>
        </p:nvSpPr>
        <p:spPr>
          <a:xfrm>
            <a:off x="2489200" y="3784600"/>
            <a:ext cx="13843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Role Name</a:t>
            </a:r>
            <a:endParaRPr sz="1800">
              <a:solidFill>
                <a:srgbClr val="FF0000"/>
              </a:solidFill>
              <a:latin typeface="Arial"/>
              <a:ea typeface="Arial"/>
              <a:cs typeface="Arial"/>
              <a:sym typeface="Arial"/>
            </a:endParaRPr>
          </a:p>
        </p:txBody>
      </p:sp>
      <p:cxnSp>
        <p:nvCxnSpPr>
          <p:cNvPr id="726" name="Google Shape;726;p23"/>
          <p:cNvCxnSpPr/>
          <p:nvPr/>
        </p:nvCxnSpPr>
        <p:spPr>
          <a:xfrm rot="10800000">
            <a:off x="3200400" y="2819400"/>
            <a:ext cx="0" cy="990600"/>
          </a:xfrm>
          <a:prstGeom prst="straightConnector1">
            <a:avLst/>
          </a:prstGeom>
          <a:noFill/>
          <a:ln cap="flat" cmpd="sng" w="38100">
            <a:solidFill>
              <a:schemeClr val="hlink"/>
            </a:solidFill>
            <a:prstDash val="solid"/>
            <a:round/>
            <a:headEnd len="sm" w="sm" type="none"/>
            <a:tailEnd len="med" w="med" type="triangle"/>
          </a:ln>
        </p:spPr>
      </p:cxnSp>
      <p:cxnSp>
        <p:nvCxnSpPr>
          <p:cNvPr id="727" name="Google Shape;727;p23"/>
          <p:cNvCxnSpPr/>
          <p:nvPr/>
        </p:nvCxnSpPr>
        <p:spPr>
          <a:xfrm flipH="1" rot="10800000">
            <a:off x="3810000" y="3124200"/>
            <a:ext cx="2133600" cy="838200"/>
          </a:xfrm>
          <a:prstGeom prst="straightConnector1">
            <a:avLst/>
          </a:prstGeom>
          <a:noFill/>
          <a:ln cap="flat" cmpd="sng" w="38100">
            <a:solidFill>
              <a:schemeClr val="hlink"/>
            </a:solidFill>
            <a:prstDash val="solid"/>
            <a:round/>
            <a:headEnd len="sm" w="sm" type="none"/>
            <a:tailEnd len="med" w="med" type="triangle"/>
          </a:ln>
        </p:spPr>
      </p:cxnSp>
      <p:cxnSp>
        <p:nvCxnSpPr>
          <p:cNvPr id="728" name="Google Shape;728;p23"/>
          <p:cNvCxnSpPr/>
          <p:nvPr/>
        </p:nvCxnSpPr>
        <p:spPr>
          <a:xfrm>
            <a:off x="3200400" y="4191000"/>
            <a:ext cx="0" cy="1219200"/>
          </a:xfrm>
          <a:prstGeom prst="straightConnector1">
            <a:avLst/>
          </a:prstGeom>
          <a:noFill/>
          <a:ln cap="flat" cmpd="sng" w="38100">
            <a:solidFill>
              <a:schemeClr val="hlink"/>
            </a:solidFill>
            <a:prstDash val="solid"/>
            <a:round/>
            <a:headEnd len="sm" w="sm" type="none"/>
            <a:tailEnd len="med" w="med" type="triangle"/>
          </a:ln>
        </p:spPr>
      </p:cxnSp>
      <p:sp>
        <p:nvSpPr>
          <p:cNvPr id="729" name="Google Shape;729;p23"/>
          <p:cNvSpPr/>
          <p:nvPr/>
        </p:nvSpPr>
        <p:spPr>
          <a:xfrm>
            <a:off x="541338" y="2209800"/>
            <a:ext cx="1833562" cy="10668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0" name="Google Shape;730;p23"/>
          <p:cNvSpPr/>
          <p:nvPr/>
        </p:nvSpPr>
        <p:spPr>
          <a:xfrm>
            <a:off x="769938" y="2476500"/>
            <a:ext cx="13779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CourseOffering</a:t>
            </a:r>
            <a:endParaRPr sz="1600">
              <a:solidFill>
                <a:schemeClr val="dk1"/>
              </a:solidFill>
              <a:latin typeface="Arial"/>
              <a:ea typeface="Arial"/>
              <a:cs typeface="Arial"/>
              <a:sym typeface="Arial"/>
            </a:endParaRPr>
          </a:p>
        </p:txBody>
      </p:sp>
      <p:sp>
        <p:nvSpPr>
          <p:cNvPr id="731" name="Google Shape;731;p23"/>
          <p:cNvSpPr/>
          <p:nvPr/>
        </p:nvSpPr>
        <p:spPr>
          <a:xfrm>
            <a:off x="541338" y="2874963"/>
            <a:ext cx="1833562" cy="4016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2" name="Google Shape;732;p23"/>
          <p:cNvSpPr/>
          <p:nvPr/>
        </p:nvSpPr>
        <p:spPr>
          <a:xfrm>
            <a:off x="541338" y="3052763"/>
            <a:ext cx="1833562" cy="22225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3" name="Google Shape;733;p23"/>
          <p:cNvSpPr/>
          <p:nvPr/>
        </p:nvSpPr>
        <p:spPr>
          <a:xfrm>
            <a:off x="960438" y="2219325"/>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sp>
        <p:nvSpPr>
          <p:cNvPr id="734" name="Google Shape;734;p23"/>
          <p:cNvSpPr/>
          <p:nvPr/>
        </p:nvSpPr>
        <p:spPr>
          <a:xfrm>
            <a:off x="3917950" y="2209800"/>
            <a:ext cx="1311275" cy="10668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5" name="Google Shape;735;p23"/>
          <p:cNvSpPr/>
          <p:nvPr/>
        </p:nvSpPr>
        <p:spPr>
          <a:xfrm>
            <a:off x="4152900" y="2476500"/>
            <a:ext cx="8699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Professor</a:t>
            </a:r>
            <a:endParaRPr sz="1600">
              <a:solidFill>
                <a:schemeClr val="dk1"/>
              </a:solidFill>
              <a:latin typeface="Arial"/>
              <a:ea typeface="Arial"/>
              <a:cs typeface="Arial"/>
              <a:sym typeface="Arial"/>
            </a:endParaRPr>
          </a:p>
        </p:txBody>
      </p:sp>
      <p:sp>
        <p:nvSpPr>
          <p:cNvPr id="736" name="Google Shape;736;p23"/>
          <p:cNvSpPr/>
          <p:nvPr/>
        </p:nvSpPr>
        <p:spPr>
          <a:xfrm>
            <a:off x="3917950" y="2911475"/>
            <a:ext cx="1311275" cy="3651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7" name="Google Shape;737;p23"/>
          <p:cNvSpPr/>
          <p:nvPr/>
        </p:nvSpPr>
        <p:spPr>
          <a:xfrm>
            <a:off x="4108450" y="2219325"/>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sp>
        <p:nvSpPr>
          <p:cNvPr id="738" name="Google Shape;738;p23"/>
          <p:cNvSpPr/>
          <p:nvPr/>
        </p:nvSpPr>
        <p:spPr>
          <a:xfrm>
            <a:off x="3021013" y="2417763"/>
            <a:ext cx="849312"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2"/>
                </a:solidFill>
                <a:latin typeface="Arial"/>
                <a:ea typeface="Arial"/>
                <a:cs typeface="Arial"/>
                <a:sym typeface="Arial"/>
              </a:rPr>
              <a:t>Instructor</a:t>
            </a:r>
            <a:endParaRPr/>
          </a:p>
        </p:txBody>
      </p:sp>
      <p:sp>
        <p:nvSpPr>
          <p:cNvPr id="739" name="Google Shape;739;p23"/>
          <p:cNvSpPr/>
          <p:nvPr/>
        </p:nvSpPr>
        <p:spPr>
          <a:xfrm>
            <a:off x="7162800" y="2209800"/>
            <a:ext cx="1524000" cy="10668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0" name="Google Shape;740;p23"/>
          <p:cNvSpPr/>
          <p:nvPr/>
        </p:nvSpPr>
        <p:spPr>
          <a:xfrm>
            <a:off x="7419975" y="2476500"/>
            <a:ext cx="1062038"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Department</a:t>
            </a:r>
            <a:endParaRPr sz="1600">
              <a:solidFill>
                <a:schemeClr val="dk1"/>
              </a:solidFill>
              <a:latin typeface="Arial"/>
              <a:ea typeface="Arial"/>
              <a:cs typeface="Arial"/>
              <a:sym typeface="Arial"/>
            </a:endParaRPr>
          </a:p>
        </p:txBody>
      </p:sp>
      <p:sp>
        <p:nvSpPr>
          <p:cNvPr id="741" name="Google Shape;741;p23"/>
          <p:cNvSpPr/>
          <p:nvPr/>
        </p:nvSpPr>
        <p:spPr>
          <a:xfrm>
            <a:off x="7162800" y="2874963"/>
            <a:ext cx="1524000" cy="4016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2" name="Google Shape;742;p23"/>
          <p:cNvSpPr/>
          <p:nvPr/>
        </p:nvSpPr>
        <p:spPr>
          <a:xfrm>
            <a:off x="7162800" y="3027363"/>
            <a:ext cx="1524000" cy="2492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3" name="Google Shape;743;p23"/>
          <p:cNvSpPr/>
          <p:nvPr/>
        </p:nvSpPr>
        <p:spPr>
          <a:xfrm>
            <a:off x="7435850" y="2219325"/>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cxnSp>
        <p:nvCxnSpPr>
          <p:cNvPr id="744" name="Google Shape;744;p23"/>
          <p:cNvCxnSpPr/>
          <p:nvPr/>
        </p:nvCxnSpPr>
        <p:spPr>
          <a:xfrm>
            <a:off x="6124575" y="2743200"/>
            <a:ext cx="1038225" cy="1588"/>
          </a:xfrm>
          <a:prstGeom prst="straightConnector1">
            <a:avLst/>
          </a:prstGeom>
          <a:noFill/>
          <a:ln cap="flat" cmpd="sng" w="9525">
            <a:solidFill>
              <a:schemeClr val="dk1"/>
            </a:solidFill>
            <a:prstDash val="solid"/>
            <a:round/>
            <a:headEnd len="med" w="med" type="none"/>
            <a:tailEnd len="med" w="med" type="none"/>
          </a:ln>
        </p:spPr>
      </p:cxnSp>
      <p:sp>
        <p:nvSpPr>
          <p:cNvPr id="745" name="Google Shape;745;p23"/>
          <p:cNvSpPr/>
          <p:nvPr/>
        </p:nvSpPr>
        <p:spPr>
          <a:xfrm>
            <a:off x="5283200" y="2835275"/>
            <a:ext cx="160337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2"/>
                </a:solidFill>
                <a:latin typeface="Arial"/>
                <a:ea typeface="Arial"/>
                <a:cs typeface="Arial"/>
                <a:sym typeface="Arial"/>
              </a:rPr>
              <a:t>Department Head</a:t>
            </a:r>
            <a:endParaRPr/>
          </a:p>
        </p:txBody>
      </p:sp>
      <p:sp>
        <p:nvSpPr>
          <p:cNvPr id="746" name="Google Shape;746;p23"/>
          <p:cNvSpPr/>
          <p:nvPr/>
        </p:nvSpPr>
        <p:spPr>
          <a:xfrm>
            <a:off x="3919538" y="4267200"/>
            <a:ext cx="1249362" cy="11382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7" name="Google Shape;747;p23"/>
          <p:cNvSpPr/>
          <p:nvPr/>
        </p:nvSpPr>
        <p:spPr>
          <a:xfrm>
            <a:off x="4221178" y="4583125"/>
            <a:ext cx="8493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Course</a:t>
            </a:r>
            <a:endParaRPr sz="1600">
              <a:solidFill>
                <a:schemeClr val="dk1"/>
              </a:solidFill>
              <a:latin typeface="Arial"/>
              <a:ea typeface="Arial"/>
              <a:cs typeface="Arial"/>
              <a:sym typeface="Arial"/>
            </a:endParaRPr>
          </a:p>
        </p:txBody>
      </p:sp>
      <p:sp>
        <p:nvSpPr>
          <p:cNvPr id="748" name="Google Shape;748;p23"/>
          <p:cNvSpPr/>
          <p:nvPr/>
        </p:nvSpPr>
        <p:spPr>
          <a:xfrm>
            <a:off x="3919538" y="5011738"/>
            <a:ext cx="1249362" cy="393700"/>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49" name="Google Shape;749;p23"/>
          <p:cNvSpPr/>
          <p:nvPr/>
        </p:nvSpPr>
        <p:spPr>
          <a:xfrm>
            <a:off x="3919538" y="5149850"/>
            <a:ext cx="1249362" cy="255588"/>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0" name="Google Shape;750;p23"/>
          <p:cNvSpPr/>
          <p:nvPr/>
        </p:nvSpPr>
        <p:spPr>
          <a:xfrm>
            <a:off x="4057650" y="4294188"/>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sp>
        <p:nvSpPr>
          <p:cNvPr id="751" name="Google Shape;751;p23"/>
          <p:cNvSpPr/>
          <p:nvPr/>
        </p:nvSpPr>
        <p:spPr>
          <a:xfrm>
            <a:off x="5168900" y="4835525"/>
            <a:ext cx="584200" cy="1039813"/>
          </a:xfrm>
          <a:custGeom>
            <a:rect b="b" l="l" r="r" t="t"/>
            <a:pathLst>
              <a:path extrusionOk="0" h="53" w="37">
                <a:moveTo>
                  <a:pt x="37" y="53"/>
                </a:moveTo>
                <a:lnTo>
                  <a:pt x="37" y="0"/>
                </a:lnTo>
                <a:lnTo>
                  <a:pt x="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52" name="Google Shape;752;p23"/>
          <p:cNvSpPr/>
          <p:nvPr/>
        </p:nvSpPr>
        <p:spPr>
          <a:xfrm>
            <a:off x="2609850" y="5441950"/>
            <a:ext cx="13842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chemeClr val="dk2"/>
                </a:solidFill>
                <a:latin typeface="Arial"/>
                <a:ea typeface="Arial"/>
                <a:cs typeface="Arial"/>
                <a:sym typeface="Arial"/>
              </a:rPr>
              <a:t>Prerequisites</a:t>
            </a:r>
            <a:endParaRPr/>
          </a:p>
        </p:txBody>
      </p:sp>
      <p:cxnSp>
        <p:nvCxnSpPr>
          <p:cNvPr id="753" name="Google Shape;753;p23"/>
          <p:cNvCxnSpPr/>
          <p:nvPr/>
        </p:nvCxnSpPr>
        <p:spPr>
          <a:xfrm>
            <a:off x="3919538" y="3038475"/>
            <a:ext cx="1309687" cy="0"/>
          </a:xfrm>
          <a:prstGeom prst="straightConnector1">
            <a:avLst/>
          </a:prstGeom>
          <a:noFill/>
          <a:ln cap="flat" cmpd="sng" w="9525">
            <a:solidFill>
              <a:srgbClr val="990033"/>
            </a:solidFill>
            <a:prstDash val="solid"/>
            <a:round/>
            <a:headEnd len="sm" w="sm" type="none"/>
            <a:tailEnd len="med" w="med" type="none"/>
          </a:ln>
        </p:spPr>
      </p:cxnSp>
      <p:sp>
        <p:nvSpPr>
          <p:cNvPr id="754" name="Google Shape;754;p23"/>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cxnSp>
        <p:nvCxnSpPr>
          <p:cNvPr id="759" name="Google Shape;759;p24"/>
          <p:cNvCxnSpPr/>
          <p:nvPr/>
        </p:nvCxnSpPr>
        <p:spPr>
          <a:xfrm rot="10800000">
            <a:off x="6070600" y="4940300"/>
            <a:ext cx="0" cy="533400"/>
          </a:xfrm>
          <a:prstGeom prst="straightConnector1">
            <a:avLst/>
          </a:prstGeom>
          <a:noFill/>
          <a:ln cap="flat" cmpd="sng" w="12700">
            <a:solidFill>
              <a:schemeClr val="dk1"/>
            </a:solidFill>
            <a:prstDash val="solid"/>
            <a:round/>
            <a:headEnd len="med" w="med" type="none"/>
            <a:tailEnd len="med" w="med" type="stealth"/>
          </a:ln>
        </p:spPr>
      </p:cxnSp>
      <p:cxnSp>
        <p:nvCxnSpPr>
          <p:cNvPr id="760" name="Google Shape;760;p24"/>
          <p:cNvCxnSpPr/>
          <p:nvPr/>
        </p:nvCxnSpPr>
        <p:spPr>
          <a:xfrm>
            <a:off x="2946400" y="4737100"/>
            <a:ext cx="990600" cy="990600"/>
          </a:xfrm>
          <a:prstGeom prst="straightConnector1">
            <a:avLst/>
          </a:prstGeom>
          <a:noFill/>
          <a:ln cap="flat" cmpd="sng" w="12700">
            <a:solidFill>
              <a:schemeClr val="dk1"/>
            </a:solidFill>
            <a:prstDash val="solid"/>
            <a:round/>
            <a:headEnd len="med" w="med" type="none"/>
            <a:tailEnd len="med" w="med" type="stealth"/>
          </a:ln>
        </p:spPr>
      </p:cxnSp>
      <p:cxnSp>
        <p:nvCxnSpPr>
          <p:cNvPr id="761" name="Google Shape;761;p24"/>
          <p:cNvCxnSpPr/>
          <p:nvPr/>
        </p:nvCxnSpPr>
        <p:spPr>
          <a:xfrm>
            <a:off x="2959100" y="4597400"/>
            <a:ext cx="2743200" cy="0"/>
          </a:xfrm>
          <a:prstGeom prst="straightConnector1">
            <a:avLst/>
          </a:prstGeom>
          <a:noFill/>
          <a:ln cap="flat" cmpd="sng" w="12700">
            <a:solidFill>
              <a:schemeClr val="dk1"/>
            </a:solidFill>
            <a:prstDash val="solid"/>
            <a:round/>
            <a:headEnd len="med" w="med" type="none"/>
            <a:tailEnd len="med" w="med" type="none"/>
          </a:ln>
        </p:spPr>
      </p:cxnSp>
      <p:sp>
        <p:nvSpPr>
          <p:cNvPr id="762" name="Google Shape;762;p24"/>
          <p:cNvSpPr txBox="1"/>
          <p:nvPr>
            <p:ph type="title"/>
          </p:nvPr>
        </p:nvSpPr>
        <p:spPr>
          <a:xfrm>
            <a:off x="1447800" y="206375"/>
            <a:ext cx="68580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sz="2800"/>
              <a:t>Example: Association Class Design</a:t>
            </a:r>
            <a:endParaRPr/>
          </a:p>
        </p:txBody>
      </p:sp>
      <p:sp>
        <p:nvSpPr>
          <p:cNvPr id="763" name="Google Shape;763;p24"/>
          <p:cNvSpPr txBox="1"/>
          <p:nvPr/>
        </p:nvSpPr>
        <p:spPr>
          <a:xfrm>
            <a:off x="3530600" y="3568700"/>
            <a:ext cx="208280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Design Decisions</a:t>
            </a:r>
            <a:endParaRPr/>
          </a:p>
        </p:txBody>
      </p:sp>
      <p:sp>
        <p:nvSpPr>
          <p:cNvPr id="764" name="Google Shape;764;p24"/>
          <p:cNvSpPr/>
          <p:nvPr/>
        </p:nvSpPr>
        <p:spPr>
          <a:xfrm>
            <a:off x="2530475" y="3597275"/>
            <a:ext cx="374650" cy="434975"/>
          </a:xfrm>
          <a:prstGeom prst="downArrow">
            <a:avLst>
              <a:gd fmla="val 60167" name="adj1"/>
              <a:gd fmla="val 50848" name="adj2"/>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765" name="Google Shape;765;p24"/>
          <p:cNvCxnSpPr/>
          <p:nvPr/>
        </p:nvCxnSpPr>
        <p:spPr>
          <a:xfrm rot="10800000">
            <a:off x="3709988" y="1566863"/>
            <a:ext cx="0" cy="812800"/>
          </a:xfrm>
          <a:prstGeom prst="straightConnector1">
            <a:avLst/>
          </a:prstGeom>
          <a:noFill/>
          <a:ln cap="flat" cmpd="sng" w="12700">
            <a:solidFill>
              <a:schemeClr val="dk1"/>
            </a:solidFill>
            <a:prstDash val="dash"/>
            <a:round/>
            <a:headEnd len="med" w="med" type="none"/>
            <a:tailEnd len="med" w="med" type="none"/>
          </a:ln>
        </p:spPr>
      </p:cxnSp>
      <p:sp>
        <p:nvSpPr>
          <p:cNvPr id="766" name="Google Shape;766;p24"/>
          <p:cNvSpPr/>
          <p:nvPr/>
        </p:nvSpPr>
        <p:spPr>
          <a:xfrm>
            <a:off x="3011488" y="1657350"/>
            <a:ext cx="190758"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a:t>
            </a:r>
            <a:endParaRPr sz="1000">
              <a:solidFill>
                <a:srgbClr val="000000"/>
              </a:solidFill>
              <a:latin typeface="Arial"/>
              <a:ea typeface="Arial"/>
              <a:cs typeface="Arial"/>
              <a:sym typeface="Arial"/>
            </a:endParaRPr>
          </a:p>
        </p:txBody>
      </p:sp>
      <p:sp>
        <p:nvSpPr>
          <p:cNvPr id="767" name="Google Shape;767;p24"/>
          <p:cNvSpPr/>
          <p:nvPr/>
        </p:nvSpPr>
        <p:spPr>
          <a:xfrm>
            <a:off x="5280025" y="1657350"/>
            <a:ext cx="374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0..4</a:t>
            </a:r>
            <a:endParaRPr sz="1000">
              <a:solidFill>
                <a:srgbClr val="000000"/>
              </a:solidFill>
              <a:latin typeface="Arial"/>
              <a:ea typeface="Arial"/>
              <a:cs typeface="Arial"/>
              <a:sym typeface="Arial"/>
            </a:endParaRPr>
          </a:p>
        </p:txBody>
      </p:sp>
      <p:sp>
        <p:nvSpPr>
          <p:cNvPr id="768" name="Google Shape;768;p24"/>
          <p:cNvSpPr/>
          <p:nvPr/>
        </p:nvSpPr>
        <p:spPr>
          <a:xfrm>
            <a:off x="3982979" y="1657350"/>
            <a:ext cx="1343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primaryCourses</a:t>
            </a:r>
            <a:endParaRPr sz="1000">
              <a:solidFill>
                <a:srgbClr val="000000"/>
              </a:solidFill>
              <a:latin typeface="Arial"/>
              <a:ea typeface="Arial"/>
              <a:cs typeface="Arial"/>
              <a:sym typeface="Arial"/>
            </a:endParaRPr>
          </a:p>
        </p:txBody>
      </p:sp>
      <p:sp>
        <p:nvSpPr>
          <p:cNvPr id="769" name="Google Shape;769;p24"/>
          <p:cNvSpPr/>
          <p:nvPr/>
        </p:nvSpPr>
        <p:spPr>
          <a:xfrm>
            <a:off x="4008453" y="1203325"/>
            <a:ext cx="1343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alternateCourses</a:t>
            </a:r>
            <a:endParaRPr sz="1000">
              <a:solidFill>
                <a:srgbClr val="000000"/>
              </a:solidFill>
              <a:latin typeface="Arial"/>
              <a:ea typeface="Arial"/>
              <a:cs typeface="Arial"/>
              <a:sym typeface="Arial"/>
            </a:endParaRPr>
          </a:p>
        </p:txBody>
      </p:sp>
      <p:sp>
        <p:nvSpPr>
          <p:cNvPr id="770" name="Google Shape;770;p24"/>
          <p:cNvSpPr/>
          <p:nvPr/>
        </p:nvSpPr>
        <p:spPr>
          <a:xfrm>
            <a:off x="3011488" y="1193800"/>
            <a:ext cx="190758"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a:t>
            </a:r>
            <a:endParaRPr sz="1000">
              <a:solidFill>
                <a:srgbClr val="000000"/>
              </a:solidFill>
              <a:latin typeface="Arial"/>
              <a:ea typeface="Arial"/>
              <a:cs typeface="Arial"/>
              <a:sym typeface="Arial"/>
            </a:endParaRPr>
          </a:p>
        </p:txBody>
      </p:sp>
      <p:sp>
        <p:nvSpPr>
          <p:cNvPr id="771" name="Google Shape;771;p24"/>
          <p:cNvSpPr/>
          <p:nvPr/>
        </p:nvSpPr>
        <p:spPr>
          <a:xfrm>
            <a:off x="5364075" y="1196975"/>
            <a:ext cx="265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0..2</a:t>
            </a:r>
            <a:endParaRPr sz="1000">
              <a:solidFill>
                <a:srgbClr val="000000"/>
              </a:solidFill>
              <a:latin typeface="Arial"/>
              <a:ea typeface="Arial"/>
              <a:cs typeface="Arial"/>
              <a:sym typeface="Arial"/>
            </a:endParaRPr>
          </a:p>
        </p:txBody>
      </p:sp>
      <p:sp>
        <p:nvSpPr>
          <p:cNvPr id="772" name="Google Shape;772;p24"/>
          <p:cNvSpPr/>
          <p:nvPr/>
        </p:nvSpPr>
        <p:spPr>
          <a:xfrm>
            <a:off x="2508250" y="2379663"/>
            <a:ext cx="2406650" cy="9858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3" name="Google Shape;773;p24"/>
          <p:cNvSpPr/>
          <p:nvPr/>
        </p:nvSpPr>
        <p:spPr>
          <a:xfrm>
            <a:off x="2873375" y="2447925"/>
            <a:ext cx="1792288"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PrimaryScheduleOfferingInfo</a:t>
            </a:r>
            <a:endParaRPr/>
          </a:p>
        </p:txBody>
      </p:sp>
      <p:sp>
        <p:nvSpPr>
          <p:cNvPr id="774" name="Google Shape;774;p24"/>
          <p:cNvSpPr/>
          <p:nvPr/>
        </p:nvSpPr>
        <p:spPr>
          <a:xfrm>
            <a:off x="2508250" y="2693988"/>
            <a:ext cx="2406650" cy="6715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5" name="Google Shape;775;p24"/>
          <p:cNvSpPr/>
          <p:nvPr/>
        </p:nvSpPr>
        <p:spPr>
          <a:xfrm>
            <a:off x="2508250" y="2874963"/>
            <a:ext cx="2406650" cy="4905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76" name="Google Shape;776;p24"/>
          <p:cNvSpPr/>
          <p:nvPr/>
        </p:nvSpPr>
        <p:spPr>
          <a:xfrm>
            <a:off x="2560672" y="2709875"/>
            <a:ext cx="11145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grade</a:t>
            </a:r>
            <a:endParaRPr sz="1000">
              <a:solidFill>
                <a:srgbClr val="000000"/>
              </a:solidFill>
              <a:latin typeface="Arial"/>
              <a:ea typeface="Arial"/>
              <a:cs typeface="Arial"/>
              <a:sym typeface="Arial"/>
            </a:endParaRPr>
          </a:p>
        </p:txBody>
      </p:sp>
      <p:sp>
        <p:nvSpPr>
          <p:cNvPr id="777" name="Google Shape;777;p24"/>
          <p:cNvSpPr/>
          <p:nvPr/>
        </p:nvSpPr>
        <p:spPr>
          <a:xfrm>
            <a:off x="2541608" y="2898775"/>
            <a:ext cx="1792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is enrolled in? ()</a:t>
            </a:r>
            <a:endParaRPr sz="1000">
              <a:solidFill>
                <a:srgbClr val="000000"/>
              </a:solidFill>
              <a:latin typeface="Arial"/>
              <a:ea typeface="Arial"/>
              <a:cs typeface="Arial"/>
              <a:sym typeface="Arial"/>
            </a:endParaRPr>
          </a:p>
        </p:txBody>
      </p:sp>
      <p:sp>
        <p:nvSpPr>
          <p:cNvPr id="778" name="Google Shape;778;p24"/>
          <p:cNvSpPr/>
          <p:nvPr/>
        </p:nvSpPr>
        <p:spPr>
          <a:xfrm>
            <a:off x="2541604" y="3040075"/>
            <a:ext cx="1901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mark as enrolled in ()</a:t>
            </a:r>
            <a:endParaRPr sz="1000">
              <a:solidFill>
                <a:srgbClr val="000000"/>
              </a:solidFill>
              <a:latin typeface="Arial"/>
              <a:ea typeface="Arial"/>
              <a:cs typeface="Arial"/>
              <a:sym typeface="Arial"/>
            </a:endParaRPr>
          </a:p>
        </p:txBody>
      </p:sp>
      <p:sp>
        <p:nvSpPr>
          <p:cNvPr id="779" name="Google Shape;779;p24"/>
          <p:cNvSpPr/>
          <p:nvPr/>
        </p:nvSpPr>
        <p:spPr>
          <a:xfrm>
            <a:off x="2541588" y="3181350"/>
            <a:ext cx="1418658"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mark as committed ()</a:t>
            </a:r>
            <a:endParaRPr sz="1000">
              <a:solidFill>
                <a:srgbClr val="000000"/>
              </a:solidFill>
              <a:latin typeface="Arial"/>
              <a:ea typeface="Arial"/>
              <a:cs typeface="Arial"/>
              <a:sym typeface="Arial"/>
            </a:endParaRPr>
          </a:p>
        </p:txBody>
      </p:sp>
      <p:sp>
        <p:nvSpPr>
          <p:cNvPr id="780" name="Google Shape;780;p24"/>
          <p:cNvSpPr/>
          <p:nvPr/>
        </p:nvSpPr>
        <p:spPr>
          <a:xfrm>
            <a:off x="2160588" y="1304925"/>
            <a:ext cx="800100" cy="485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1" name="Google Shape;781;p24"/>
          <p:cNvSpPr/>
          <p:nvPr/>
        </p:nvSpPr>
        <p:spPr>
          <a:xfrm>
            <a:off x="2263775" y="1423988"/>
            <a:ext cx="58420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Schedule</a:t>
            </a:r>
            <a:endParaRPr/>
          </a:p>
        </p:txBody>
      </p:sp>
      <p:cxnSp>
        <p:nvCxnSpPr>
          <p:cNvPr id="782" name="Google Shape;782;p24"/>
          <p:cNvCxnSpPr/>
          <p:nvPr/>
        </p:nvCxnSpPr>
        <p:spPr>
          <a:xfrm>
            <a:off x="2159000" y="1625600"/>
            <a:ext cx="800100" cy="0"/>
          </a:xfrm>
          <a:prstGeom prst="straightConnector1">
            <a:avLst/>
          </a:prstGeom>
          <a:noFill/>
          <a:ln cap="flat" cmpd="sng" w="12700">
            <a:solidFill>
              <a:srgbClr val="990033"/>
            </a:solidFill>
            <a:prstDash val="solid"/>
            <a:round/>
            <a:headEnd len="med" w="med" type="none"/>
            <a:tailEnd len="med" w="med" type="none"/>
          </a:ln>
        </p:spPr>
      </p:cxnSp>
      <p:cxnSp>
        <p:nvCxnSpPr>
          <p:cNvPr id="783" name="Google Shape;783;p24"/>
          <p:cNvCxnSpPr/>
          <p:nvPr/>
        </p:nvCxnSpPr>
        <p:spPr>
          <a:xfrm>
            <a:off x="2159000" y="1701800"/>
            <a:ext cx="800100" cy="0"/>
          </a:xfrm>
          <a:prstGeom prst="straightConnector1">
            <a:avLst/>
          </a:prstGeom>
          <a:noFill/>
          <a:ln cap="flat" cmpd="sng" w="12700">
            <a:solidFill>
              <a:srgbClr val="990033"/>
            </a:solidFill>
            <a:prstDash val="solid"/>
            <a:round/>
            <a:headEnd len="med" w="med" type="none"/>
            <a:tailEnd len="med" w="med" type="none"/>
          </a:ln>
        </p:spPr>
      </p:cxnSp>
      <p:sp>
        <p:nvSpPr>
          <p:cNvPr id="784" name="Google Shape;784;p24"/>
          <p:cNvSpPr/>
          <p:nvPr/>
        </p:nvSpPr>
        <p:spPr>
          <a:xfrm>
            <a:off x="5691188" y="1304925"/>
            <a:ext cx="1244600" cy="485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5" name="Google Shape;785;p24"/>
          <p:cNvSpPr/>
          <p:nvPr/>
        </p:nvSpPr>
        <p:spPr>
          <a:xfrm>
            <a:off x="5832475" y="1419225"/>
            <a:ext cx="9461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CourseOffering</a:t>
            </a:r>
            <a:endParaRPr/>
          </a:p>
        </p:txBody>
      </p:sp>
      <p:cxnSp>
        <p:nvCxnSpPr>
          <p:cNvPr id="786" name="Google Shape;786;p24"/>
          <p:cNvCxnSpPr/>
          <p:nvPr/>
        </p:nvCxnSpPr>
        <p:spPr>
          <a:xfrm>
            <a:off x="5689600" y="1625600"/>
            <a:ext cx="1243013" cy="0"/>
          </a:xfrm>
          <a:prstGeom prst="straightConnector1">
            <a:avLst/>
          </a:prstGeom>
          <a:noFill/>
          <a:ln cap="flat" cmpd="sng" w="12700">
            <a:solidFill>
              <a:srgbClr val="990033"/>
            </a:solidFill>
            <a:prstDash val="solid"/>
            <a:round/>
            <a:headEnd len="med" w="med" type="none"/>
            <a:tailEnd len="med" w="med" type="none"/>
          </a:ln>
        </p:spPr>
      </p:cxnSp>
      <p:cxnSp>
        <p:nvCxnSpPr>
          <p:cNvPr id="787" name="Google Shape;787;p24"/>
          <p:cNvCxnSpPr/>
          <p:nvPr/>
        </p:nvCxnSpPr>
        <p:spPr>
          <a:xfrm>
            <a:off x="5689600" y="1701800"/>
            <a:ext cx="1243013" cy="0"/>
          </a:xfrm>
          <a:prstGeom prst="straightConnector1">
            <a:avLst/>
          </a:prstGeom>
          <a:noFill/>
          <a:ln cap="flat" cmpd="sng" w="12700">
            <a:solidFill>
              <a:srgbClr val="990033"/>
            </a:solidFill>
            <a:prstDash val="solid"/>
            <a:round/>
            <a:headEnd len="med" w="med" type="none"/>
            <a:tailEnd len="med" w="med" type="none"/>
          </a:ln>
        </p:spPr>
      </p:cxnSp>
      <p:sp>
        <p:nvSpPr>
          <p:cNvPr id="788" name="Google Shape;788;p24"/>
          <p:cNvSpPr/>
          <p:nvPr/>
        </p:nvSpPr>
        <p:spPr>
          <a:xfrm>
            <a:off x="5691188" y="4441825"/>
            <a:ext cx="1244600" cy="485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89" name="Google Shape;789;p24"/>
          <p:cNvSpPr/>
          <p:nvPr/>
        </p:nvSpPr>
        <p:spPr>
          <a:xfrm>
            <a:off x="5832475" y="4537075"/>
            <a:ext cx="9461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CourseOffering</a:t>
            </a:r>
            <a:endParaRPr/>
          </a:p>
        </p:txBody>
      </p:sp>
      <p:sp>
        <p:nvSpPr>
          <p:cNvPr id="790" name="Google Shape;790;p24"/>
          <p:cNvSpPr/>
          <p:nvPr/>
        </p:nvSpPr>
        <p:spPr>
          <a:xfrm>
            <a:off x="2160588" y="4378325"/>
            <a:ext cx="800100" cy="485775"/>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1" name="Google Shape;791;p24"/>
          <p:cNvSpPr/>
          <p:nvPr/>
        </p:nvSpPr>
        <p:spPr>
          <a:xfrm>
            <a:off x="2263775" y="4478338"/>
            <a:ext cx="58420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Schedule</a:t>
            </a:r>
            <a:endParaRPr/>
          </a:p>
        </p:txBody>
      </p:sp>
      <p:sp>
        <p:nvSpPr>
          <p:cNvPr id="792" name="Google Shape;792;p24"/>
          <p:cNvSpPr/>
          <p:nvPr/>
        </p:nvSpPr>
        <p:spPr>
          <a:xfrm>
            <a:off x="2998788" y="4906963"/>
            <a:ext cx="698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1</a:t>
            </a:r>
            <a:endParaRPr sz="1000">
              <a:solidFill>
                <a:srgbClr val="000000"/>
              </a:solidFill>
              <a:latin typeface="Arial"/>
              <a:ea typeface="Arial"/>
              <a:cs typeface="Arial"/>
              <a:sym typeface="Arial"/>
            </a:endParaRPr>
          </a:p>
        </p:txBody>
      </p:sp>
      <p:sp>
        <p:nvSpPr>
          <p:cNvPr id="793" name="Google Shape;793;p24"/>
          <p:cNvSpPr/>
          <p:nvPr/>
        </p:nvSpPr>
        <p:spPr>
          <a:xfrm>
            <a:off x="6169025" y="5195900"/>
            <a:ext cx="400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a:t>
            </a:r>
            <a:endParaRPr sz="1000">
              <a:solidFill>
                <a:srgbClr val="000000"/>
              </a:solidFill>
              <a:latin typeface="Arial"/>
              <a:ea typeface="Arial"/>
              <a:cs typeface="Arial"/>
              <a:sym typeface="Arial"/>
            </a:endParaRPr>
          </a:p>
        </p:txBody>
      </p:sp>
      <p:sp>
        <p:nvSpPr>
          <p:cNvPr id="794" name="Google Shape;794;p24"/>
          <p:cNvSpPr/>
          <p:nvPr/>
        </p:nvSpPr>
        <p:spPr>
          <a:xfrm>
            <a:off x="4364054" y="5162550"/>
            <a:ext cx="15621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theCourseOffering</a:t>
            </a:r>
            <a:endParaRPr sz="1000">
              <a:solidFill>
                <a:srgbClr val="000000"/>
              </a:solidFill>
              <a:latin typeface="Arial"/>
              <a:ea typeface="Arial"/>
              <a:cs typeface="Arial"/>
              <a:sym typeface="Arial"/>
            </a:endParaRPr>
          </a:p>
        </p:txBody>
      </p:sp>
      <p:sp>
        <p:nvSpPr>
          <p:cNvPr id="795" name="Google Shape;795;p24"/>
          <p:cNvSpPr/>
          <p:nvPr/>
        </p:nvSpPr>
        <p:spPr>
          <a:xfrm>
            <a:off x="4043377" y="4378325"/>
            <a:ext cx="1244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alternateCourses</a:t>
            </a:r>
            <a:endParaRPr sz="1000">
              <a:solidFill>
                <a:srgbClr val="000000"/>
              </a:solidFill>
              <a:latin typeface="Arial"/>
              <a:ea typeface="Arial"/>
              <a:cs typeface="Arial"/>
              <a:sym typeface="Arial"/>
            </a:endParaRPr>
          </a:p>
        </p:txBody>
      </p:sp>
      <p:sp>
        <p:nvSpPr>
          <p:cNvPr id="796" name="Google Shape;796;p24"/>
          <p:cNvSpPr/>
          <p:nvPr/>
        </p:nvSpPr>
        <p:spPr>
          <a:xfrm>
            <a:off x="3049588" y="4406900"/>
            <a:ext cx="190758"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a:t>
            </a:r>
            <a:endParaRPr sz="1000">
              <a:solidFill>
                <a:srgbClr val="000000"/>
              </a:solidFill>
              <a:latin typeface="Arial"/>
              <a:ea typeface="Arial"/>
              <a:cs typeface="Arial"/>
              <a:sym typeface="Arial"/>
            </a:endParaRPr>
          </a:p>
        </p:txBody>
      </p:sp>
      <p:sp>
        <p:nvSpPr>
          <p:cNvPr id="797" name="Google Shape;797;p24"/>
          <p:cNvSpPr/>
          <p:nvPr/>
        </p:nvSpPr>
        <p:spPr>
          <a:xfrm>
            <a:off x="5326075" y="4394200"/>
            <a:ext cx="265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0..2</a:t>
            </a:r>
            <a:endParaRPr sz="1000">
              <a:solidFill>
                <a:srgbClr val="000000"/>
              </a:solidFill>
              <a:latin typeface="Arial"/>
              <a:ea typeface="Arial"/>
              <a:cs typeface="Arial"/>
              <a:sym typeface="Arial"/>
            </a:endParaRPr>
          </a:p>
        </p:txBody>
      </p:sp>
      <p:sp>
        <p:nvSpPr>
          <p:cNvPr id="798" name="Google Shape;798;p24"/>
          <p:cNvSpPr/>
          <p:nvPr/>
        </p:nvSpPr>
        <p:spPr>
          <a:xfrm>
            <a:off x="3956050" y="5414963"/>
            <a:ext cx="2406650" cy="9858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799" name="Google Shape;799;p24"/>
          <p:cNvSpPr/>
          <p:nvPr/>
        </p:nvSpPr>
        <p:spPr>
          <a:xfrm>
            <a:off x="4321175" y="5502275"/>
            <a:ext cx="1792288"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PrimaryScheduleOfferingInfo</a:t>
            </a:r>
            <a:endParaRPr/>
          </a:p>
        </p:txBody>
      </p:sp>
      <p:sp>
        <p:nvSpPr>
          <p:cNvPr id="800" name="Google Shape;800;p24"/>
          <p:cNvSpPr/>
          <p:nvPr/>
        </p:nvSpPr>
        <p:spPr>
          <a:xfrm>
            <a:off x="3956050" y="5729288"/>
            <a:ext cx="2406650" cy="67151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01" name="Google Shape;801;p24"/>
          <p:cNvSpPr/>
          <p:nvPr/>
        </p:nvSpPr>
        <p:spPr>
          <a:xfrm>
            <a:off x="3956050" y="5910263"/>
            <a:ext cx="2406650" cy="49053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02" name="Google Shape;802;p24"/>
          <p:cNvSpPr/>
          <p:nvPr/>
        </p:nvSpPr>
        <p:spPr>
          <a:xfrm>
            <a:off x="4008475" y="5745175"/>
            <a:ext cx="1244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grade</a:t>
            </a:r>
            <a:endParaRPr sz="1000">
              <a:solidFill>
                <a:srgbClr val="000000"/>
              </a:solidFill>
              <a:latin typeface="Arial"/>
              <a:ea typeface="Arial"/>
              <a:cs typeface="Arial"/>
              <a:sym typeface="Arial"/>
            </a:endParaRPr>
          </a:p>
        </p:txBody>
      </p:sp>
      <p:sp>
        <p:nvSpPr>
          <p:cNvPr id="803" name="Google Shape;803;p24"/>
          <p:cNvSpPr/>
          <p:nvPr/>
        </p:nvSpPr>
        <p:spPr>
          <a:xfrm>
            <a:off x="3989403" y="5934075"/>
            <a:ext cx="14034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is enrolled in? ()</a:t>
            </a:r>
            <a:endParaRPr sz="1000">
              <a:solidFill>
                <a:srgbClr val="000000"/>
              </a:solidFill>
              <a:latin typeface="Arial"/>
              <a:ea typeface="Arial"/>
              <a:cs typeface="Arial"/>
              <a:sym typeface="Arial"/>
            </a:endParaRPr>
          </a:p>
        </p:txBody>
      </p:sp>
      <p:sp>
        <p:nvSpPr>
          <p:cNvPr id="804" name="Google Shape;804;p24"/>
          <p:cNvSpPr/>
          <p:nvPr/>
        </p:nvSpPr>
        <p:spPr>
          <a:xfrm>
            <a:off x="3989403" y="6075375"/>
            <a:ext cx="1792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mark as enrolled in ()</a:t>
            </a:r>
            <a:endParaRPr sz="1000">
              <a:solidFill>
                <a:srgbClr val="000000"/>
              </a:solidFill>
              <a:latin typeface="Arial"/>
              <a:ea typeface="Arial"/>
              <a:cs typeface="Arial"/>
              <a:sym typeface="Arial"/>
            </a:endParaRPr>
          </a:p>
        </p:txBody>
      </p:sp>
      <p:sp>
        <p:nvSpPr>
          <p:cNvPr id="805" name="Google Shape;805;p24"/>
          <p:cNvSpPr/>
          <p:nvPr/>
        </p:nvSpPr>
        <p:spPr>
          <a:xfrm>
            <a:off x="3989388" y="6216650"/>
            <a:ext cx="1418658"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 mark as committed ()</a:t>
            </a:r>
            <a:endParaRPr sz="1000">
              <a:solidFill>
                <a:srgbClr val="000000"/>
              </a:solidFill>
              <a:latin typeface="Arial"/>
              <a:ea typeface="Arial"/>
              <a:cs typeface="Arial"/>
              <a:sym typeface="Arial"/>
            </a:endParaRPr>
          </a:p>
        </p:txBody>
      </p:sp>
      <p:cxnSp>
        <p:nvCxnSpPr>
          <p:cNvPr id="806" name="Google Shape;806;p24"/>
          <p:cNvCxnSpPr/>
          <p:nvPr/>
        </p:nvCxnSpPr>
        <p:spPr>
          <a:xfrm>
            <a:off x="2159000" y="4699000"/>
            <a:ext cx="800100" cy="0"/>
          </a:xfrm>
          <a:prstGeom prst="straightConnector1">
            <a:avLst/>
          </a:prstGeom>
          <a:noFill/>
          <a:ln cap="flat" cmpd="sng" w="12700">
            <a:solidFill>
              <a:srgbClr val="990033"/>
            </a:solidFill>
            <a:prstDash val="solid"/>
            <a:round/>
            <a:headEnd len="med" w="med" type="none"/>
            <a:tailEnd len="med" w="med" type="none"/>
          </a:ln>
        </p:spPr>
      </p:cxnSp>
      <p:cxnSp>
        <p:nvCxnSpPr>
          <p:cNvPr id="807" name="Google Shape;807;p24"/>
          <p:cNvCxnSpPr/>
          <p:nvPr/>
        </p:nvCxnSpPr>
        <p:spPr>
          <a:xfrm>
            <a:off x="2159000" y="4775200"/>
            <a:ext cx="800100" cy="0"/>
          </a:xfrm>
          <a:prstGeom prst="straightConnector1">
            <a:avLst/>
          </a:prstGeom>
          <a:noFill/>
          <a:ln cap="flat" cmpd="sng" w="12700">
            <a:solidFill>
              <a:srgbClr val="990033"/>
            </a:solidFill>
            <a:prstDash val="solid"/>
            <a:round/>
            <a:headEnd len="med" w="med" type="none"/>
            <a:tailEnd len="med" w="med" type="none"/>
          </a:ln>
        </p:spPr>
      </p:cxnSp>
      <p:cxnSp>
        <p:nvCxnSpPr>
          <p:cNvPr id="808" name="Google Shape;808;p24"/>
          <p:cNvCxnSpPr/>
          <p:nvPr/>
        </p:nvCxnSpPr>
        <p:spPr>
          <a:xfrm>
            <a:off x="5689600" y="4762500"/>
            <a:ext cx="1243013" cy="0"/>
          </a:xfrm>
          <a:prstGeom prst="straightConnector1">
            <a:avLst/>
          </a:prstGeom>
          <a:noFill/>
          <a:ln cap="flat" cmpd="sng" w="12700">
            <a:solidFill>
              <a:srgbClr val="990033"/>
            </a:solidFill>
            <a:prstDash val="solid"/>
            <a:round/>
            <a:headEnd len="med" w="med" type="none"/>
            <a:tailEnd len="med" w="med" type="none"/>
          </a:ln>
        </p:spPr>
      </p:cxnSp>
      <p:cxnSp>
        <p:nvCxnSpPr>
          <p:cNvPr id="809" name="Google Shape;809;p24"/>
          <p:cNvCxnSpPr/>
          <p:nvPr/>
        </p:nvCxnSpPr>
        <p:spPr>
          <a:xfrm>
            <a:off x="5689600" y="4838700"/>
            <a:ext cx="1243013" cy="0"/>
          </a:xfrm>
          <a:prstGeom prst="straightConnector1">
            <a:avLst/>
          </a:prstGeom>
          <a:noFill/>
          <a:ln cap="flat" cmpd="sng" w="12700">
            <a:solidFill>
              <a:srgbClr val="990033"/>
            </a:solidFill>
            <a:prstDash val="solid"/>
            <a:round/>
            <a:headEnd len="med" w="med" type="none"/>
            <a:tailEnd len="med" w="med" type="none"/>
          </a:ln>
        </p:spPr>
      </p:cxnSp>
      <p:sp>
        <p:nvSpPr>
          <p:cNvPr id="810" name="Google Shape;810;p24"/>
          <p:cNvSpPr/>
          <p:nvPr/>
        </p:nvSpPr>
        <p:spPr>
          <a:xfrm>
            <a:off x="1909750" y="5495925"/>
            <a:ext cx="17922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primaryCourseOfferingInfo</a:t>
            </a:r>
            <a:endParaRPr/>
          </a:p>
        </p:txBody>
      </p:sp>
      <p:sp>
        <p:nvSpPr>
          <p:cNvPr id="811" name="Google Shape;811;p24"/>
          <p:cNvSpPr/>
          <p:nvPr/>
        </p:nvSpPr>
        <p:spPr>
          <a:xfrm>
            <a:off x="3710016" y="5275275"/>
            <a:ext cx="50970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0..4</a:t>
            </a:r>
            <a:endParaRPr sz="1000">
              <a:solidFill>
                <a:srgbClr val="000000"/>
              </a:solidFill>
              <a:latin typeface="Arial"/>
              <a:ea typeface="Arial"/>
              <a:cs typeface="Arial"/>
              <a:sym typeface="Arial"/>
            </a:endParaRPr>
          </a:p>
        </p:txBody>
      </p:sp>
      <p:sp>
        <p:nvSpPr>
          <p:cNvPr id="812" name="Google Shape;812;p24"/>
          <p:cNvSpPr/>
          <p:nvPr/>
        </p:nvSpPr>
        <p:spPr>
          <a:xfrm>
            <a:off x="5856288" y="4970463"/>
            <a:ext cx="69850" cy="152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1</a:t>
            </a:r>
            <a:endParaRPr sz="1000">
              <a:solidFill>
                <a:srgbClr val="000000"/>
              </a:solidFill>
              <a:latin typeface="Arial"/>
              <a:ea typeface="Arial"/>
              <a:cs typeface="Arial"/>
              <a:sym typeface="Arial"/>
            </a:endParaRPr>
          </a:p>
        </p:txBody>
      </p:sp>
      <p:cxnSp>
        <p:nvCxnSpPr>
          <p:cNvPr id="813" name="Google Shape;813;p24"/>
          <p:cNvCxnSpPr/>
          <p:nvPr/>
        </p:nvCxnSpPr>
        <p:spPr>
          <a:xfrm>
            <a:off x="927100" y="3746500"/>
            <a:ext cx="1562100" cy="0"/>
          </a:xfrm>
          <a:prstGeom prst="straightConnector1">
            <a:avLst/>
          </a:prstGeom>
          <a:noFill/>
          <a:ln cap="flat" cmpd="sng" w="28575">
            <a:solidFill>
              <a:srgbClr val="00CCFF"/>
            </a:solidFill>
            <a:prstDash val="dash"/>
            <a:round/>
            <a:headEnd len="med" w="med" type="none"/>
            <a:tailEnd len="med" w="med" type="none"/>
          </a:ln>
        </p:spPr>
      </p:cxnSp>
      <p:cxnSp>
        <p:nvCxnSpPr>
          <p:cNvPr id="814" name="Google Shape;814;p24"/>
          <p:cNvCxnSpPr/>
          <p:nvPr/>
        </p:nvCxnSpPr>
        <p:spPr>
          <a:xfrm>
            <a:off x="6591300" y="3746500"/>
            <a:ext cx="1562100" cy="0"/>
          </a:xfrm>
          <a:prstGeom prst="straightConnector1">
            <a:avLst/>
          </a:prstGeom>
          <a:noFill/>
          <a:ln cap="flat" cmpd="sng" w="28575">
            <a:solidFill>
              <a:srgbClr val="00CCFF"/>
            </a:solidFill>
            <a:prstDash val="dash"/>
            <a:round/>
            <a:headEnd len="med" w="med" type="none"/>
            <a:tailEnd len="med" w="med" type="none"/>
          </a:ln>
        </p:spPr>
      </p:cxnSp>
      <p:cxnSp>
        <p:nvCxnSpPr>
          <p:cNvPr id="815" name="Google Shape;815;p24"/>
          <p:cNvCxnSpPr/>
          <p:nvPr/>
        </p:nvCxnSpPr>
        <p:spPr>
          <a:xfrm>
            <a:off x="2946400" y="3746500"/>
            <a:ext cx="596900" cy="0"/>
          </a:xfrm>
          <a:prstGeom prst="straightConnector1">
            <a:avLst/>
          </a:prstGeom>
          <a:noFill/>
          <a:ln cap="flat" cmpd="sng" w="28575">
            <a:solidFill>
              <a:srgbClr val="00CCFF"/>
            </a:solidFill>
            <a:prstDash val="dash"/>
            <a:round/>
            <a:headEnd len="med" w="med" type="none"/>
            <a:tailEnd len="med" w="med" type="none"/>
          </a:ln>
        </p:spPr>
      </p:cxnSp>
      <p:cxnSp>
        <p:nvCxnSpPr>
          <p:cNvPr id="816" name="Google Shape;816;p24"/>
          <p:cNvCxnSpPr/>
          <p:nvPr/>
        </p:nvCxnSpPr>
        <p:spPr>
          <a:xfrm>
            <a:off x="5511800" y="3746500"/>
            <a:ext cx="596900" cy="0"/>
          </a:xfrm>
          <a:prstGeom prst="straightConnector1">
            <a:avLst/>
          </a:prstGeom>
          <a:noFill/>
          <a:ln cap="flat" cmpd="sng" w="28575">
            <a:solidFill>
              <a:srgbClr val="00CCFF"/>
            </a:solidFill>
            <a:prstDash val="dash"/>
            <a:round/>
            <a:headEnd len="med" w="med" type="none"/>
            <a:tailEnd len="med" w="med" type="none"/>
          </a:ln>
        </p:spPr>
      </p:cxnSp>
      <p:sp>
        <p:nvSpPr>
          <p:cNvPr id="817" name="Google Shape;817;p24"/>
          <p:cNvSpPr/>
          <p:nvPr/>
        </p:nvSpPr>
        <p:spPr>
          <a:xfrm>
            <a:off x="6180138" y="3597275"/>
            <a:ext cx="374650" cy="434975"/>
          </a:xfrm>
          <a:prstGeom prst="downArrow">
            <a:avLst>
              <a:gd fmla="val 60167" name="adj1"/>
              <a:gd fmla="val 50848" name="adj2"/>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18" name="Google Shape;818;p24"/>
          <p:cNvCxnSpPr/>
          <p:nvPr/>
        </p:nvCxnSpPr>
        <p:spPr>
          <a:xfrm>
            <a:off x="2959100" y="1416050"/>
            <a:ext cx="2743200" cy="0"/>
          </a:xfrm>
          <a:prstGeom prst="straightConnector1">
            <a:avLst/>
          </a:prstGeom>
          <a:noFill/>
          <a:ln cap="flat" cmpd="sng" w="12700">
            <a:solidFill>
              <a:schemeClr val="dk1"/>
            </a:solidFill>
            <a:prstDash val="solid"/>
            <a:round/>
            <a:headEnd len="med" w="med" type="none"/>
            <a:tailEnd len="med" w="med" type="none"/>
          </a:ln>
        </p:spPr>
      </p:cxnSp>
      <p:cxnSp>
        <p:nvCxnSpPr>
          <p:cNvPr id="819" name="Google Shape;819;p24"/>
          <p:cNvCxnSpPr/>
          <p:nvPr/>
        </p:nvCxnSpPr>
        <p:spPr>
          <a:xfrm>
            <a:off x="2959100" y="1577975"/>
            <a:ext cx="2743200" cy="0"/>
          </a:xfrm>
          <a:prstGeom prst="straightConnector1">
            <a:avLst/>
          </a:prstGeom>
          <a:noFill/>
          <a:ln cap="flat" cmpd="sng" w="12700">
            <a:solidFill>
              <a:schemeClr val="dk1"/>
            </a:solidFill>
            <a:prstDash val="solid"/>
            <a:round/>
            <a:headEnd len="med" w="med" type="none"/>
            <a:tailEnd len="med" w="med" type="none"/>
          </a:ln>
        </p:spPr>
      </p:cxnSp>
      <p:sp>
        <p:nvSpPr>
          <p:cNvPr id="820" name="Google Shape;820;p24"/>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25"/>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Multiplicity Design</a:t>
            </a:r>
            <a:endParaRPr/>
          </a:p>
        </p:txBody>
      </p:sp>
      <p:sp>
        <p:nvSpPr>
          <p:cNvPr id="826" name="Google Shape;826;p25"/>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Multiplicity = 1, or Multiplicity = 0..1</a:t>
            </a:r>
            <a:endParaRPr/>
          </a:p>
          <a:p>
            <a:pPr indent="-285750" lvl="1" marL="742950" rtl="0" algn="l">
              <a:spcBef>
                <a:spcPts val="360"/>
              </a:spcBef>
              <a:spcAft>
                <a:spcPts val="0"/>
              </a:spcAft>
              <a:buSzPts val="900"/>
              <a:buChar char="🞇"/>
            </a:pPr>
            <a:r>
              <a:rPr lang="en-US" sz="1800"/>
              <a:t>May be implemented directly as a simple value or pointer</a:t>
            </a:r>
            <a:endParaRPr/>
          </a:p>
          <a:p>
            <a:pPr indent="-285750" lvl="1" marL="742950" rtl="0" algn="l">
              <a:spcBef>
                <a:spcPts val="360"/>
              </a:spcBef>
              <a:spcAft>
                <a:spcPts val="0"/>
              </a:spcAft>
              <a:buSzPts val="900"/>
              <a:buChar char="🞇"/>
            </a:pPr>
            <a:r>
              <a:rPr lang="en-US" sz="1800"/>
              <a:t>No further “design” is required</a:t>
            </a:r>
            <a:endParaRPr/>
          </a:p>
          <a:p>
            <a:pPr indent="-215900" lvl="0" marL="342900" rtl="0" algn="l">
              <a:spcBef>
                <a:spcPts val="400"/>
              </a:spcBef>
              <a:spcAft>
                <a:spcPts val="0"/>
              </a:spcAft>
              <a:buClr>
                <a:srgbClr val="000000"/>
              </a:buClr>
              <a:buSzPts val="2000"/>
              <a:buNone/>
            </a:pPr>
            <a:r>
              <a:t/>
            </a:r>
            <a:endParaRPr sz="2000"/>
          </a:p>
          <a:p>
            <a:pPr indent="-215900" lvl="0" marL="342900" rtl="0" algn="l">
              <a:spcBef>
                <a:spcPts val="400"/>
              </a:spcBef>
              <a:spcAft>
                <a:spcPts val="0"/>
              </a:spcAft>
              <a:buClr>
                <a:srgbClr val="000000"/>
              </a:buClr>
              <a:buSzPts val="2000"/>
              <a:buNone/>
            </a:pPr>
            <a:r>
              <a:t/>
            </a:r>
            <a:endParaRPr sz="2000"/>
          </a:p>
          <a:p>
            <a:pPr indent="-215900" lvl="0" marL="342900" rtl="0" algn="l">
              <a:spcBef>
                <a:spcPts val="400"/>
              </a:spcBef>
              <a:spcAft>
                <a:spcPts val="0"/>
              </a:spcAft>
              <a:buClr>
                <a:srgbClr val="000000"/>
              </a:buClr>
              <a:buSzPts val="2000"/>
              <a:buNone/>
            </a:pPr>
            <a:r>
              <a:t/>
            </a:r>
            <a:endParaRPr sz="2000"/>
          </a:p>
          <a:p>
            <a:pPr indent="-342900" lvl="0" marL="342900" rtl="0" algn="l">
              <a:spcBef>
                <a:spcPts val="400"/>
              </a:spcBef>
              <a:spcAft>
                <a:spcPts val="0"/>
              </a:spcAft>
              <a:buClr>
                <a:srgbClr val="000000"/>
              </a:buClr>
              <a:buSzPts val="2000"/>
              <a:buChar char="❖"/>
            </a:pPr>
            <a:r>
              <a:rPr lang="en-US" sz="2000"/>
              <a:t>Multiplicity &gt; 1</a:t>
            </a:r>
            <a:endParaRPr/>
          </a:p>
          <a:p>
            <a:pPr indent="-285750" lvl="1" marL="742950" rtl="0" algn="l">
              <a:spcBef>
                <a:spcPts val="360"/>
              </a:spcBef>
              <a:spcAft>
                <a:spcPts val="0"/>
              </a:spcAft>
              <a:buSzPts val="900"/>
              <a:buChar char="🞇"/>
            </a:pPr>
            <a:r>
              <a:rPr lang="en-US" sz="1800"/>
              <a:t>Cannot use a simple value or pointer</a:t>
            </a:r>
            <a:endParaRPr/>
          </a:p>
          <a:p>
            <a:pPr indent="-285750" lvl="1" marL="742950" rtl="0" algn="l">
              <a:spcBef>
                <a:spcPts val="360"/>
              </a:spcBef>
              <a:spcAft>
                <a:spcPts val="0"/>
              </a:spcAft>
              <a:buSzPts val="900"/>
              <a:buChar char="🞇"/>
            </a:pPr>
            <a:r>
              <a:rPr lang="en-US" sz="1800"/>
              <a:t>Further “design” may be required</a:t>
            </a:r>
            <a:endParaRPr/>
          </a:p>
        </p:txBody>
      </p:sp>
      <p:sp>
        <p:nvSpPr>
          <p:cNvPr id="827" name="Google Shape;827;p25"/>
          <p:cNvSpPr txBox="1"/>
          <p:nvPr/>
        </p:nvSpPr>
        <p:spPr>
          <a:xfrm>
            <a:off x="473075" y="4876800"/>
            <a:ext cx="1993900" cy="931862"/>
          </a:xfrm>
          <a:prstGeom prst="rect">
            <a:avLst/>
          </a:prstGeom>
          <a:noFill/>
          <a:ln>
            <a:noFill/>
          </a:ln>
        </p:spPr>
        <p:txBody>
          <a:bodyPr anchorCtr="0" anchor="t" bIns="53975" lIns="107950" spcFirstLastPara="1" rIns="107950" wrap="square" tIns="53975">
            <a:spAutoFit/>
          </a:bodyPr>
          <a:lstStyle/>
          <a:p>
            <a:pPr indent="0" lvl="0" marL="0" marR="0" rtl="0" algn="r">
              <a:spcBef>
                <a:spcPts val="0"/>
              </a:spcBef>
              <a:spcAft>
                <a:spcPts val="0"/>
              </a:spcAft>
              <a:buNone/>
            </a:pPr>
            <a:r>
              <a:rPr i="1" lang="en-US" sz="1800">
                <a:solidFill>
                  <a:srgbClr val="FF0000"/>
                </a:solidFill>
                <a:latin typeface="Arial"/>
                <a:ea typeface="Arial"/>
                <a:cs typeface="Arial"/>
                <a:sym typeface="Arial"/>
              </a:rPr>
              <a:t>Needs a container for CourseOfferings</a:t>
            </a:r>
            <a:endParaRPr i="1" sz="1800">
              <a:solidFill>
                <a:srgbClr val="FF0000"/>
              </a:solidFill>
              <a:latin typeface="Arial"/>
              <a:ea typeface="Arial"/>
              <a:cs typeface="Arial"/>
              <a:sym typeface="Arial"/>
            </a:endParaRPr>
          </a:p>
        </p:txBody>
      </p:sp>
      <p:cxnSp>
        <p:nvCxnSpPr>
          <p:cNvPr id="828" name="Google Shape;828;p25"/>
          <p:cNvCxnSpPr/>
          <p:nvPr/>
        </p:nvCxnSpPr>
        <p:spPr>
          <a:xfrm>
            <a:off x="4090988" y="3032125"/>
            <a:ext cx="1387475" cy="0"/>
          </a:xfrm>
          <a:prstGeom prst="straightConnector1">
            <a:avLst/>
          </a:prstGeom>
          <a:noFill/>
          <a:ln cap="flat" cmpd="sng" w="12700">
            <a:solidFill>
              <a:schemeClr val="dk1"/>
            </a:solidFill>
            <a:prstDash val="solid"/>
            <a:round/>
            <a:headEnd len="med" w="med" type="none"/>
            <a:tailEnd len="med" w="med" type="none"/>
          </a:ln>
        </p:spPr>
      </p:cxnSp>
      <p:sp>
        <p:nvSpPr>
          <p:cNvPr id="829" name="Google Shape;829;p25"/>
          <p:cNvSpPr/>
          <p:nvPr/>
        </p:nvSpPr>
        <p:spPr>
          <a:xfrm>
            <a:off x="4075113" y="2747963"/>
            <a:ext cx="484107"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830" name="Google Shape;830;p25"/>
          <p:cNvSpPr/>
          <p:nvPr/>
        </p:nvSpPr>
        <p:spPr>
          <a:xfrm>
            <a:off x="5106988" y="2747963"/>
            <a:ext cx="45525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sp>
        <p:nvSpPr>
          <p:cNvPr id="831" name="Google Shape;831;p25"/>
          <p:cNvSpPr/>
          <p:nvPr/>
        </p:nvSpPr>
        <p:spPr>
          <a:xfrm>
            <a:off x="5487988" y="2667000"/>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32" name="Google Shape;832;p25"/>
          <p:cNvCxnSpPr/>
          <p:nvPr/>
        </p:nvCxnSpPr>
        <p:spPr>
          <a:xfrm>
            <a:off x="5497513" y="3184525"/>
            <a:ext cx="1584325" cy="0"/>
          </a:xfrm>
          <a:prstGeom prst="straightConnector1">
            <a:avLst/>
          </a:prstGeom>
          <a:noFill/>
          <a:ln cap="flat" cmpd="sng" w="12700">
            <a:solidFill>
              <a:srgbClr val="990033"/>
            </a:solidFill>
            <a:prstDash val="solid"/>
            <a:round/>
            <a:headEnd len="sm" w="sm" type="none"/>
            <a:tailEnd len="sm" w="sm" type="none"/>
          </a:ln>
        </p:spPr>
      </p:cxnSp>
      <p:cxnSp>
        <p:nvCxnSpPr>
          <p:cNvPr id="833" name="Google Shape;833;p25"/>
          <p:cNvCxnSpPr/>
          <p:nvPr/>
        </p:nvCxnSpPr>
        <p:spPr>
          <a:xfrm>
            <a:off x="5497513" y="3095625"/>
            <a:ext cx="1584325" cy="0"/>
          </a:xfrm>
          <a:prstGeom prst="straightConnector1">
            <a:avLst/>
          </a:prstGeom>
          <a:noFill/>
          <a:ln cap="flat" cmpd="sng" w="12700">
            <a:solidFill>
              <a:srgbClr val="990033"/>
            </a:solidFill>
            <a:prstDash val="solid"/>
            <a:round/>
            <a:headEnd len="sm" w="sm" type="none"/>
            <a:tailEnd len="sm" w="sm" type="none"/>
          </a:ln>
        </p:spPr>
      </p:cxnSp>
      <p:sp>
        <p:nvSpPr>
          <p:cNvPr id="834" name="Google Shape;834;p25"/>
          <p:cNvSpPr/>
          <p:nvPr/>
        </p:nvSpPr>
        <p:spPr>
          <a:xfrm>
            <a:off x="2503488" y="2667000"/>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35" name="Google Shape;835;p25"/>
          <p:cNvCxnSpPr/>
          <p:nvPr/>
        </p:nvCxnSpPr>
        <p:spPr>
          <a:xfrm>
            <a:off x="2513013" y="3184525"/>
            <a:ext cx="1584325" cy="0"/>
          </a:xfrm>
          <a:prstGeom prst="straightConnector1">
            <a:avLst/>
          </a:prstGeom>
          <a:noFill/>
          <a:ln cap="flat" cmpd="sng" w="12700">
            <a:solidFill>
              <a:srgbClr val="990033"/>
            </a:solidFill>
            <a:prstDash val="solid"/>
            <a:round/>
            <a:headEnd len="sm" w="sm" type="none"/>
            <a:tailEnd len="sm" w="sm" type="none"/>
          </a:ln>
        </p:spPr>
      </p:cxnSp>
      <p:cxnSp>
        <p:nvCxnSpPr>
          <p:cNvPr id="836" name="Google Shape;836;p25"/>
          <p:cNvCxnSpPr/>
          <p:nvPr/>
        </p:nvCxnSpPr>
        <p:spPr>
          <a:xfrm>
            <a:off x="2513013" y="3095625"/>
            <a:ext cx="1584325" cy="0"/>
          </a:xfrm>
          <a:prstGeom prst="straightConnector1">
            <a:avLst/>
          </a:prstGeom>
          <a:noFill/>
          <a:ln cap="flat" cmpd="sng" w="12700">
            <a:solidFill>
              <a:srgbClr val="990033"/>
            </a:solidFill>
            <a:prstDash val="solid"/>
            <a:round/>
            <a:headEnd len="sm" w="sm" type="none"/>
            <a:tailEnd len="sm" w="sm" type="none"/>
          </a:ln>
        </p:spPr>
      </p:cxnSp>
      <p:sp>
        <p:nvSpPr>
          <p:cNvPr id="837" name="Google Shape;837;p25"/>
          <p:cNvSpPr/>
          <p:nvPr/>
        </p:nvSpPr>
        <p:spPr>
          <a:xfrm>
            <a:off x="2706688" y="2752725"/>
            <a:ext cx="1189037" cy="308419"/>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Professor</a:t>
            </a:r>
            <a:endParaRPr/>
          </a:p>
        </p:txBody>
      </p:sp>
      <p:sp>
        <p:nvSpPr>
          <p:cNvPr id="838" name="Google Shape;838;p25"/>
          <p:cNvSpPr/>
          <p:nvPr/>
        </p:nvSpPr>
        <p:spPr>
          <a:xfrm>
            <a:off x="5538788" y="2752725"/>
            <a:ext cx="1608137" cy="308419"/>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CourseOffering</a:t>
            </a:r>
            <a:endParaRPr/>
          </a:p>
        </p:txBody>
      </p:sp>
      <p:sp>
        <p:nvSpPr>
          <p:cNvPr id="839" name="Google Shape;839;p25"/>
          <p:cNvSpPr/>
          <p:nvPr/>
        </p:nvSpPr>
        <p:spPr>
          <a:xfrm>
            <a:off x="3944938" y="3063875"/>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 Instructor</a:t>
            </a:r>
            <a:endParaRPr/>
          </a:p>
        </p:txBody>
      </p:sp>
      <p:cxnSp>
        <p:nvCxnSpPr>
          <p:cNvPr id="840" name="Google Shape;840;p25"/>
          <p:cNvCxnSpPr/>
          <p:nvPr/>
        </p:nvCxnSpPr>
        <p:spPr>
          <a:xfrm>
            <a:off x="4090988" y="5373687"/>
            <a:ext cx="1387475" cy="0"/>
          </a:xfrm>
          <a:prstGeom prst="straightConnector1">
            <a:avLst/>
          </a:prstGeom>
          <a:noFill/>
          <a:ln cap="flat" cmpd="sng" w="12700">
            <a:solidFill>
              <a:schemeClr val="dk1"/>
            </a:solidFill>
            <a:prstDash val="solid"/>
            <a:round/>
            <a:headEnd len="med" w="med" type="none"/>
            <a:tailEnd len="med" w="med" type="none"/>
          </a:ln>
        </p:spPr>
      </p:cxnSp>
      <p:sp>
        <p:nvSpPr>
          <p:cNvPr id="841" name="Google Shape;841;p25"/>
          <p:cNvSpPr/>
          <p:nvPr/>
        </p:nvSpPr>
        <p:spPr>
          <a:xfrm>
            <a:off x="4075113" y="5089525"/>
            <a:ext cx="484107"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842" name="Google Shape;842;p25"/>
          <p:cNvSpPr/>
          <p:nvPr/>
        </p:nvSpPr>
        <p:spPr>
          <a:xfrm>
            <a:off x="5106988" y="5089525"/>
            <a:ext cx="45525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sp>
        <p:nvSpPr>
          <p:cNvPr id="843" name="Google Shape;843;p25"/>
          <p:cNvSpPr/>
          <p:nvPr/>
        </p:nvSpPr>
        <p:spPr>
          <a:xfrm>
            <a:off x="5487988" y="5008562"/>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44" name="Google Shape;844;p25"/>
          <p:cNvCxnSpPr/>
          <p:nvPr/>
        </p:nvCxnSpPr>
        <p:spPr>
          <a:xfrm>
            <a:off x="5497513" y="5526087"/>
            <a:ext cx="1584325" cy="0"/>
          </a:xfrm>
          <a:prstGeom prst="straightConnector1">
            <a:avLst/>
          </a:prstGeom>
          <a:noFill/>
          <a:ln cap="flat" cmpd="sng" w="12700">
            <a:solidFill>
              <a:srgbClr val="990033"/>
            </a:solidFill>
            <a:prstDash val="solid"/>
            <a:round/>
            <a:headEnd len="sm" w="sm" type="none"/>
            <a:tailEnd len="sm" w="sm" type="none"/>
          </a:ln>
        </p:spPr>
      </p:cxnSp>
      <p:cxnSp>
        <p:nvCxnSpPr>
          <p:cNvPr id="845" name="Google Shape;845;p25"/>
          <p:cNvCxnSpPr/>
          <p:nvPr/>
        </p:nvCxnSpPr>
        <p:spPr>
          <a:xfrm>
            <a:off x="5497513" y="5437187"/>
            <a:ext cx="1584325" cy="0"/>
          </a:xfrm>
          <a:prstGeom prst="straightConnector1">
            <a:avLst/>
          </a:prstGeom>
          <a:noFill/>
          <a:ln cap="flat" cmpd="sng" w="12700">
            <a:solidFill>
              <a:srgbClr val="990033"/>
            </a:solidFill>
            <a:prstDash val="solid"/>
            <a:round/>
            <a:headEnd len="sm" w="sm" type="none"/>
            <a:tailEnd len="sm" w="sm" type="none"/>
          </a:ln>
        </p:spPr>
      </p:cxnSp>
      <p:sp>
        <p:nvSpPr>
          <p:cNvPr id="846" name="Google Shape;846;p25"/>
          <p:cNvSpPr/>
          <p:nvPr/>
        </p:nvSpPr>
        <p:spPr>
          <a:xfrm>
            <a:off x="2503488" y="5008562"/>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47" name="Google Shape;847;p25"/>
          <p:cNvCxnSpPr/>
          <p:nvPr/>
        </p:nvCxnSpPr>
        <p:spPr>
          <a:xfrm>
            <a:off x="2513013" y="5526087"/>
            <a:ext cx="1584325" cy="0"/>
          </a:xfrm>
          <a:prstGeom prst="straightConnector1">
            <a:avLst/>
          </a:prstGeom>
          <a:noFill/>
          <a:ln cap="flat" cmpd="sng" w="12700">
            <a:solidFill>
              <a:srgbClr val="990033"/>
            </a:solidFill>
            <a:prstDash val="solid"/>
            <a:round/>
            <a:headEnd len="sm" w="sm" type="none"/>
            <a:tailEnd len="sm" w="sm" type="none"/>
          </a:ln>
        </p:spPr>
      </p:cxnSp>
      <p:cxnSp>
        <p:nvCxnSpPr>
          <p:cNvPr id="848" name="Google Shape;848;p25"/>
          <p:cNvCxnSpPr/>
          <p:nvPr/>
        </p:nvCxnSpPr>
        <p:spPr>
          <a:xfrm>
            <a:off x="2513013" y="5437187"/>
            <a:ext cx="1584325" cy="0"/>
          </a:xfrm>
          <a:prstGeom prst="straightConnector1">
            <a:avLst/>
          </a:prstGeom>
          <a:noFill/>
          <a:ln cap="flat" cmpd="sng" w="12700">
            <a:solidFill>
              <a:srgbClr val="990033"/>
            </a:solidFill>
            <a:prstDash val="solid"/>
            <a:round/>
            <a:headEnd len="sm" w="sm" type="none"/>
            <a:tailEnd len="sm" w="sm" type="none"/>
          </a:ln>
        </p:spPr>
      </p:cxnSp>
      <p:sp>
        <p:nvSpPr>
          <p:cNvPr id="849" name="Google Shape;849;p25"/>
          <p:cNvSpPr/>
          <p:nvPr/>
        </p:nvSpPr>
        <p:spPr>
          <a:xfrm>
            <a:off x="2706688" y="5094287"/>
            <a:ext cx="1189037" cy="308419"/>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Professor</a:t>
            </a:r>
            <a:endParaRPr/>
          </a:p>
        </p:txBody>
      </p:sp>
      <p:sp>
        <p:nvSpPr>
          <p:cNvPr id="850" name="Google Shape;850;p25"/>
          <p:cNvSpPr/>
          <p:nvPr/>
        </p:nvSpPr>
        <p:spPr>
          <a:xfrm>
            <a:off x="5538788" y="5094287"/>
            <a:ext cx="1608137" cy="308419"/>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400">
                <a:solidFill>
                  <a:srgbClr val="000000"/>
                </a:solidFill>
                <a:latin typeface="Arial"/>
                <a:ea typeface="Arial"/>
                <a:cs typeface="Arial"/>
                <a:sym typeface="Arial"/>
              </a:rPr>
              <a:t>CourseOffering</a:t>
            </a:r>
            <a:endParaRPr/>
          </a:p>
        </p:txBody>
      </p:sp>
      <p:sp>
        <p:nvSpPr>
          <p:cNvPr id="851" name="Google Shape;851;p25"/>
          <p:cNvSpPr/>
          <p:nvPr/>
        </p:nvSpPr>
        <p:spPr>
          <a:xfrm>
            <a:off x="3944938" y="5405437"/>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 Instructor</a:t>
            </a:r>
            <a:endParaRPr/>
          </a:p>
        </p:txBody>
      </p:sp>
      <p:sp>
        <p:nvSpPr>
          <p:cNvPr id="852" name="Google Shape;852;p25"/>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grpSp>
        <p:nvGrpSpPr>
          <p:cNvPr id="858" name="Google Shape;858;p26"/>
          <p:cNvGrpSpPr/>
          <p:nvPr/>
        </p:nvGrpSpPr>
        <p:grpSpPr>
          <a:xfrm>
            <a:off x="2846388" y="4978400"/>
            <a:ext cx="1466850" cy="622300"/>
            <a:chOff x="1873" y="2152"/>
            <a:chExt cx="1004" cy="392"/>
          </a:xfrm>
        </p:grpSpPr>
        <p:sp>
          <p:nvSpPr>
            <p:cNvPr id="859" name="Google Shape;859;p26"/>
            <p:cNvSpPr/>
            <p:nvPr/>
          </p:nvSpPr>
          <p:spPr>
            <a:xfrm>
              <a:off x="1873" y="2152"/>
              <a:ext cx="1002" cy="39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60" name="Google Shape;860;p26"/>
            <p:cNvCxnSpPr/>
            <p:nvPr/>
          </p:nvCxnSpPr>
          <p:spPr>
            <a:xfrm>
              <a:off x="1879" y="2478"/>
              <a:ext cx="998" cy="0"/>
            </a:xfrm>
            <a:prstGeom prst="straightConnector1">
              <a:avLst/>
            </a:prstGeom>
            <a:noFill/>
            <a:ln cap="flat" cmpd="sng" w="12700">
              <a:solidFill>
                <a:srgbClr val="990033"/>
              </a:solidFill>
              <a:prstDash val="solid"/>
              <a:round/>
              <a:headEnd len="sm" w="sm" type="none"/>
              <a:tailEnd len="sm" w="sm" type="none"/>
            </a:ln>
          </p:spPr>
        </p:cxnSp>
        <p:cxnSp>
          <p:nvCxnSpPr>
            <p:cNvPr id="861" name="Google Shape;861;p26"/>
            <p:cNvCxnSpPr/>
            <p:nvPr/>
          </p:nvCxnSpPr>
          <p:spPr>
            <a:xfrm>
              <a:off x="1879" y="2422"/>
              <a:ext cx="998" cy="0"/>
            </a:xfrm>
            <a:prstGeom prst="straightConnector1">
              <a:avLst/>
            </a:prstGeom>
            <a:noFill/>
            <a:ln cap="flat" cmpd="sng" w="12700">
              <a:solidFill>
                <a:srgbClr val="990033"/>
              </a:solidFill>
              <a:prstDash val="solid"/>
              <a:round/>
              <a:headEnd len="sm" w="sm" type="none"/>
              <a:tailEnd len="sm" w="sm" type="none"/>
            </a:ln>
          </p:spPr>
        </p:cxnSp>
      </p:grpSp>
      <p:cxnSp>
        <p:nvCxnSpPr>
          <p:cNvPr id="862" name="Google Shape;862;p26"/>
          <p:cNvCxnSpPr/>
          <p:nvPr/>
        </p:nvCxnSpPr>
        <p:spPr>
          <a:xfrm flipH="1" rot="-5400000">
            <a:off x="3299619" y="4679157"/>
            <a:ext cx="549275" cy="1587"/>
          </a:xfrm>
          <a:prstGeom prst="straightConnector1">
            <a:avLst/>
          </a:prstGeom>
          <a:noFill/>
          <a:ln cap="flat" cmpd="sng" w="12700">
            <a:solidFill>
              <a:schemeClr val="dk1"/>
            </a:solidFill>
            <a:prstDash val="solid"/>
            <a:round/>
            <a:headEnd len="med" w="med" type="none"/>
            <a:tailEnd len="med" w="med" type="stealth"/>
          </a:ln>
        </p:spPr>
      </p:cxnSp>
      <p:sp>
        <p:nvSpPr>
          <p:cNvPr id="863" name="Google Shape;863;p26"/>
          <p:cNvSpPr txBox="1"/>
          <p:nvPr>
            <p:ph type="title"/>
          </p:nvPr>
        </p:nvSpPr>
        <p:spPr>
          <a:xfrm>
            <a:off x="1447800" y="206375"/>
            <a:ext cx="68580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a:t>Multiplicity Design Options</a:t>
            </a:r>
            <a:endParaRPr/>
          </a:p>
        </p:txBody>
      </p:sp>
      <p:sp>
        <p:nvSpPr>
          <p:cNvPr id="864" name="Google Shape;864;p26"/>
          <p:cNvSpPr txBox="1"/>
          <p:nvPr>
            <p:ph idx="1" type="body"/>
          </p:nvPr>
        </p:nvSpPr>
        <p:spPr>
          <a:xfrm>
            <a:off x="533400" y="3266930"/>
            <a:ext cx="4241800" cy="238270"/>
          </a:xfrm>
          <a:prstGeom prst="rect">
            <a:avLst/>
          </a:prstGeom>
          <a:noFill/>
          <a:ln>
            <a:noFill/>
          </a:ln>
        </p:spPr>
        <p:txBody>
          <a:bodyPr anchorCtr="0" anchor="t" bIns="53975" lIns="107950" spcFirstLastPara="1" rIns="107950" wrap="square" tIns="53975">
            <a:spAutoFit/>
          </a:bodyPr>
          <a:lstStyle/>
          <a:p>
            <a:pPr indent="-342900" lvl="0" marL="342900" rtl="0" algn="l">
              <a:lnSpc>
                <a:spcPct val="60000"/>
              </a:lnSpc>
              <a:spcBef>
                <a:spcPts val="0"/>
              </a:spcBef>
              <a:spcAft>
                <a:spcPts val="0"/>
              </a:spcAft>
              <a:buClr>
                <a:srgbClr val="000000"/>
              </a:buClr>
              <a:buSzPts val="1400"/>
              <a:buFont typeface="Noto Sans Symbols"/>
              <a:buNone/>
            </a:pPr>
            <a:r>
              <a:rPr lang="en-US" sz="1400"/>
              <a:t>Explicit Modeling of a Container Class</a:t>
            </a:r>
            <a:endParaRPr/>
          </a:p>
        </p:txBody>
      </p:sp>
      <p:sp>
        <p:nvSpPr>
          <p:cNvPr id="865" name="Google Shape;865;p26"/>
          <p:cNvSpPr/>
          <p:nvPr/>
        </p:nvSpPr>
        <p:spPr>
          <a:xfrm>
            <a:off x="5359400" y="3160713"/>
            <a:ext cx="2771775" cy="238270"/>
          </a:xfrm>
          <a:prstGeom prst="rect">
            <a:avLst/>
          </a:prstGeom>
          <a:noFill/>
          <a:ln>
            <a:noFill/>
          </a:ln>
        </p:spPr>
        <p:txBody>
          <a:bodyPr anchorCtr="0" anchor="t" bIns="53975" lIns="107950" spcFirstLastPara="1" rIns="107950" wrap="square" tIns="53975">
            <a:spAutoFit/>
          </a:bodyPr>
          <a:lstStyle/>
          <a:p>
            <a:pPr indent="-342900" lvl="0" marL="342900" marR="0" rtl="0" algn="just">
              <a:lnSpc>
                <a:spcPct val="60000"/>
              </a:lnSpc>
              <a:spcBef>
                <a:spcPts val="0"/>
              </a:spcBef>
              <a:spcAft>
                <a:spcPts val="0"/>
              </a:spcAft>
              <a:buClr>
                <a:schemeClr val="dk1"/>
              </a:buClr>
              <a:buSzPts val="980"/>
              <a:buFont typeface="Noto Sans Symbols"/>
              <a:buNone/>
            </a:pPr>
            <a:r>
              <a:rPr lang="en-US" sz="1400">
                <a:solidFill>
                  <a:srgbClr val="000000"/>
                </a:solidFill>
                <a:latin typeface="Arial"/>
                <a:ea typeface="Arial"/>
                <a:cs typeface="Arial"/>
                <a:sym typeface="Arial"/>
              </a:rPr>
              <a:t>Detail Container via Note</a:t>
            </a:r>
            <a:endParaRPr/>
          </a:p>
        </p:txBody>
      </p:sp>
      <p:sp>
        <p:nvSpPr>
          <p:cNvPr id="866" name="Google Shape;866;p26"/>
          <p:cNvSpPr/>
          <p:nvPr/>
        </p:nvSpPr>
        <p:spPr>
          <a:xfrm>
            <a:off x="2333625" y="2378075"/>
            <a:ext cx="508000" cy="438150"/>
          </a:xfrm>
          <a:prstGeom prst="downArrow">
            <a:avLst>
              <a:gd fmla="val 54370" name="adj1"/>
              <a:gd fmla="val 58333" name="adj2"/>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867" name="Google Shape;867;p26"/>
          <p:cNvSpPr/>
          <p:nvPr/>
        </p:nvSpPr>
        <p:spPr>
          <a:xfrm>
            <a:off x="6410325" y="2378075"/>
            <a:ext cx="508000" cy="438150"/>
          </a:xfrm>
          <a:prstGeom prst="downArrow">
            <a:avLst>
              <a:gd fmla="val 54370" name="adj1"/>
              <a:gd fmla="val 58333" name="adj2"/>
            </a:avLst>
          </a:prstGeom>
          <a:solidFill>
            <a:schemeClr va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68" name="Google Shape;868;p26"/>
          <p:cNvCxnSpPr/>
          <p:nvPr/>
        </p:nvCxnSpPr>
        <p:spPr>
          <a:xfrm>
            <a:off x="4027488" y="1698625"/>
            <a:ext cx="1177925" cy="0"/>
          </a:xfrm>
          <a:prstGeom prst="straightConnector1">
            <a:avLst/>
          </a:prstGeom>
          <a:noFill/>
          <a:ln cap="flat" cmpd="sng" w="12700">
            <a:solidFill>
              <a:schemeClr val="dk1"/>
            </a:solidFill>
            <a:prstDash val="solid"/>
            <a:round/>
            <a:headEnd len="med" w="med" type="none"/>
            <a:tailEnd len="med" w="med" type="none"/>
          </a:ln>
        </p:spPr>
      </p:cxnSp>
      <p:sp>
        <p:nvSpPr>
          <p:cNvPr id="869" name="Google Shape;869;p26"/>
          <p:cNvSpPr/>
          <p:nvPr/>
        </p:nvSpPr>
        <p:spPr>
          <a:xfrm>
            <a:off x="4011613" y="1414463"/>
            <a:ext cx="484107"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870" name="Google Shape;870;p26"/>
          <p:cNvSpPr/>
          <p:nvPr/>
        </p:nvSpPr>
        <p:spPr>
          <a:xfrm>
            <a:off x="4767263" y="1414463"/>
            <a:ext cx="45525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sp>
        <p:nvSpPr>
          <p:cNvPr id="871" name="Google Shape;871;p26"/>
          <p:cNvSpPr/>
          <p:nvPr/>
        </p:nvSpPr>
        <p:spPr>
          <a:xfrm>
            <a:off x="5195888" y="1333500"/>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72" name="Google Shape;872;p26"/>
          <p:cNvCxnSpPr/>
          <p:nvPr/>
        </p:nvCxnSpPr>
        <p:spPr>
          <a:xfrm>
            <a:off x="5205413" y="1851025"/>
            <a:ext cx="1584325" cy="0"/>
          </a:xfrm>
          <a:prstGeom prst="straightConnector1">
            <a:avLst/>
          </a:prstGeom>
          <a:noFill/>
          <a:ln cap="flat" cmpd="sng" w="12700">
            <a:solidFill>
              <a:srgbClr val="990033"/>
            </a:solidFill>
            <a:prstDash val="solid"/>
            <a:round/>
            <a:headEnd len="sm" w="sm" type="none"/>
            <a:tailEnd len="sm" w="sm" type="none"/>
          </a:ln>
        </p:spPr>
      </p:cxnSp>
      <p:cxnSp>
        <p:nvCxnSpPr>
          <p:cNvPr id="873" name="Google Shape;873;p26"/>
          <p:cNvCxnSpPr/>
          <p:nvPr/>
        </p:nvCxnSpPr>
        <p:spPr>
          <a:xfrm>
            <a:off x="5205413" y="1762125"/>
            <a:ext cx="1584325" cy="0"/>
          </a:xfrm>
          <a:prstGeom prst="straightConnector1">
            <a:avLst/>
          </a:prstGeom>
          <a:noFill/>
          <a:ln cap="flat" cmpd="sng" w="12700">
            <a:solidFill>
              <a:srgbClr val="990033"/>
            </a:solidFill>
            <a:prstDash val="solid"/>
            <a:round/>
            <a:headEnd len="sm" w="sm" type="none"/>
            <a:tailEnd len="sm" w="sm" type="none"/>
          </a:ln>
        </p:spPr>
      </p:cxnSp>
      <p:sp>
        <p:nvSpPr>
          <p:cNvPr id="874" name="Google Shape;874;p26"/>
          <p:cNvSpPr/>
          <p:nvPr/>
        </p:nvSpPr>
        <p:spPr>
          <a:xfrm>
            <a:off x="2439988" y="1333500"/>
            <a:ext cx="1590675" cy="622300"/>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75" name="Google Shape;875;p26"/>
          <p:cNvCxnSpPr/>
          <p:nvPr/>
        </p:nvCxnSpPr>
        <p:spPr>
          <a:xfrm>
            <a:off x="2449513" y="1851025"/>
            <a:ext cx="1584325" cy="0"/>
          </a:xfrm>
          <a:prstGeom prst="straightConnector1">
            <a:avLst/>
          </a:prstGeom>
          <a:noFill/>
          <a:ln cap="flat" cmpd="sng" w="12700">
            <a:solidFill>
              <a:srgbClr val="990033"/>
            </a:solidFill>
            <a:prstDash val="solid"/>
            <a:round/>
            <a:headEnd len="sm" w="sm" type="none"/>
            <a:tailEnd len="sm" w="sm" type="none"/>
          </a:ln>
        </p:spPr>
      </p:cxnSp>
      <p:cxnSp>
        <p:nvCxnSpPr>
          <p:cNvPr id="876" name="Google Shape;876;p26"/>
          <p:cNvCxnSpPr/>
          <p:nvPr/>
        </p:nvCxnSpPr>
        <p:spPr>
          <a:xfrm>
            <a:off x="2449513" y="1762125"/>
            <a:ext cx="1584325" cy="0"/>
          </a:xfrm>
          <a:prstGeom prst="straightConnector1">
            <a:avLst/>
          </a:prstGeom>
          <a:noFill/>
          <a:ln cap="flat" cmpd="sng" w="12700">
            <a:solidFill>
              <a:srgbClr val="990033"/>
            </a:solidFill>
            <a:prstDash val="solid"/>
            <a:round/>
            <a:headEnd len="sm" w="sm" type="none"/>
            <a:tailEnd len="sm" w="sm" type="none"/>
          </a:ln>
        </p:spPr>
      </p:cxnSp>
      <p:sp>
        <p:nvSpPr>
          <p:cNvPr id="877" name="Google Shape;877;p26"/>
          <p:cNvSpPr/>
          <p:nvPr/>
        </p:nvSpPr>
        <p:spPr>
          <a:xfrm>
            <a:off x="2643188" y="1428750"/>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Professor</a:t>
            </a:r>
            <a:endParaRPr/>
          </a:p>
        </p:txBody>
      </p:sp>
      <p:sp>
        <p:nvSpPr>
          <p:cNvPr id="878" name="Google Shape;878;p26"/>
          <p:cNvSpPr/>
          <p:nvPr/>
        </p:nvSpPr>
        <p:spPr>
          <a:xfrm>
            <a:off x="5246688" y="1428750"/>
            <a:ext cx="16081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CourseOffering</a:t>
            </a:r>
            <a:endParaRPr/>
          </a:p>
        </p:txBody>
      </p:sp>
      <p:sp>
        <p:nvSpPr>
          <p:cNvPr id="879" name="Google Shape;879;p26"/>
          <p:cNvSpPr/>
          <p:nvPr/>
        </p:nvSpPr>
        <p:spPr>
          <a:xfrm>
            <a:off x="3871913" y="1730375"/>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 Instructor</a:t>
            </a:r>
            <a:endParaRPr/>
          </a:p>
        </p:txBody>
      </p:sp>
      <p:sp>
        <p:nvSpPr>
          <p:cNvPr id="880" name="Google Shape;880;p26"/>
          <p:cNvSpPr/>
          <p:nvPr/>
        </p:nvSpPr>
        <p:spPr>
          <a:xfrm rot="5400000">
            <a:off x="3460750" y="4300538"/>
            <a:ext cx="246063" cy="128587"/>
          </a:xfrm>
          <a:custGeom>
            <a:rect b="b" l="l" r="r" t="t"/>
            <a:pathLst>
              <a:path extrusionOk="0" h="105" w="196">
                <a:moveTo>
                  <a:pt x="0" y="58"/>
                </a:moveTo>
                <a:lnTo>
                  <a:pt x="92" y="105"/>
                </a:lnTo>
                <a:lnTo>
                  <a:pt x="196" y="58"/>
                </a:lnTo>
                <a:lnTo>
                  <a:pt x="92" y="0"/>
                </a:lnTo>
                <a:lnTo>
                  <a:pt x="0" y="58"/>
                </a:lnTo>
                <a:close/>
              </a:path>
            </a:pathLst>
          </a:custGeom>
          <a:solidFill>
            <a:srgbClr val="000000"/>
          </a:solid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81" name="Google Shape;881;p26"/>
          <p:cNvCxnSpPr/>
          <p:nvPr/>
        </p:nvCxnSpPr>
        <p:spPr>
          <a:xfrm>
            <a:off x="1690688" y="3971925"/>
            <a:ext cx="1133475" cy="0"/>
          </a:xfrm>
          <a:prstGeom prst="straightConnector1">
            <a:avLst/>
          </a:prstGeom>
          <a:noFill/>
          <a:ln cap="flat" cmpd="sng" w="12700">
            <a:solidFill>
              <a:schemeClr val="dk1"/>
            </a:solidFill>
            <a:prstDash val="solid"/>
            <a:round/>
            <a:headEnd len="med" w="med" type="none"/>
            <a:tailEnd len="med" w="med" type="stealth"/>
          </a:ln>
        </p:spPr>
      </p:cxnSp>
      <p:sp>
        <p:nvSpPr>
          <p:cNvPr id="882" name="Google Shape;882;p26"/>
          <p:cNvSpPr/>
          <p:nvPr/>
        </p:nvSpPr>
        <p:spPr>
          <a:xfrm>
            <a:off x="1662113" y="3687763"/>
            <a:ext cx="484107"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883" name="Google Shape;883;p26"/>
          <p:cNvSpPr/>
          <p:nvPr/>
        </p:nvSpPr>
        <p:spPr>
          <a:xfrm>
            <a:off x="2379663" y="3687763"/>
            <a:ext cx="45525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grpSp>
        <p:nvGrpSpPr>
          <p:cNvPr id="884" name="Google Shape;884;p26"/>
          <p:cNvGrpSpPr/>
          <p:nvPr/>
        </p:nvGrpSpPr>
        <p:grpSpPr>
          <a:xfrm>
            <a:off x="2846388" y="3606800"/>
            <a:ext cx="1466850" cy="622300"/>
            <a:chOff x="1873" y="2152"/>
            <a:chExt cx="1004" cy="392"/>
          </a:xfrm>
        </p:grpSpPr>
        <p:sp>
          <p:nvSpPr>
            <p:cNvPr id="885" name="Google Shape;885;p26"/>
            <p:cNvSpPr/>
            <p:nvPr/>
          </p:nvSpPr>
          <p:spPr>
            <a:xfrm>
              <a:off x="1873" y="2152"/>
              <a:ext cx="1002" cy="39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86" name="Google Shape;886;p26"/>
            <p:cNvCxnSpPr/>
            <p:nvPr/>
          </p:nvCxnSpPr>
          <p:spPr>
            <a:xfrm>
              <a:off x="1879" y="2478"/>
              <a:ext cx="998" cy="0"/>
            </a:xfrm>
            <a:prstGeom prst="straightConnector1">
              <a:avLst/>
            </a:prstGeom>
            <a:noFill/>
            <a:ln cap="flat" cmpd="sng" w="12700">
              <a:solidFill>
                <a:srgbClr val="990033"/>
              </a:solidFill>
              <a:prstDash val="solid"/>
              <a:round/>
              <a:headEnd len="sm" w="sm" type="none"/>
              <a:tailEnd len="sm" w="sm" type="none"/>
            </a:ln>
          </p:spPr>
        </p:cxnSp>
        <p:cxnSp>
          <p:nvCxnSpPr>
            <p:cNvPr id="887" name="Google Shape;887;p26"/>
            <p:cNvCxnSpPr/>
            <p:nvPr/>
          </p:nvCxnSpPr>
          <p:spPr>
            <a:xfrm>
              <a:off x="1879" y="2422"/>
              <a:ext cx="998" cy="0"/>
            </a:xfrm>
            <a:prstGeom prst="straightConnector1">
              <a:avLst/>
            </a:prstGeom>
            <a:noFill/>
            <a:ln cap="flat" cmpd="sng" w="12700">
              <a:solidFill>
                <a:srgbClr val="990033"/>
              </a:solidFill>
              <a:prstDash val="solid"/>
              <a:round/>
              <a:headEnd len="sm" w="sm" type="none"/>
              <a:tailEnd len="sm" w="sm" type="none"/>
            </a:ln>
          </p:spPr>
        </p:cxnSp>
      </p:grpSp>
      <p:grpSp>
        <p:nvGrpSpPr>
          <p:cNvPr id="888" name="Google Shape;888;p26"/>
          <p:cNvGrpSpPr/>
          <p:nvPr/>
        </p:nvGrpSpPr>
        <p:grpSpPr>
          <a:xfrm>
            <a:off x="407988" y="3606800"/>
            <a:ext cx="1289050" cy="622300"/>
            <a:chOff x="137" y="2152"/>
            <a:chExt cx="1004" cy="392"/>
          </a:xfrm>
        </p:grpSpPr>
        <p:sp>
          <p:nvSpPr>
            <p:cNvPr id="889" name="Google Shape;889;p26"/>
            <p:cNvSpPr/>
            <p:nvPr/>
          </p:nvSpPr>
          <p:spPr>
            <a:xfrm>
              <a:off x="137" y="2152"/>
              <a:ext cx="1002" cy="39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890" name="Google Shape;890;p26"/>
            <p:cNvCxnSpPr/>
            <p:nvPr/>
          </p:nvCxnSpPr>
          <p:spPr>
            <a:xfrm>
              <a:off x="143" y="2478"/>
              <a:ext cx="998" cy="0"/>
            </a:xfrm>
            <a:prstGeom prst="straightConnector1">
              <a:avLst/>
            </a:prstGeom>
            <a:noFill/>
            <a:ln cap="flat" cmpd="sng" w="12700">
              <a:solidFill>
                <a:srgbClr val="990033"/>
              </a:solidFill>
              <a:prstDash val="solid"/>
              <a:round/>
              <a:headEnd len="sm" w="sm" type="none"/>
              <a:tailEnd len="sm" w="sm" type="none"/>
            </a:ln>
          </p:spPr>
        </p:cxnSp>
        <p:cxnSp>
          <p:nvCxnSpPr>
            <p:cNvPr id="891" name="Google Shape;891;p26"/>
            <p:cNvCxnSpPr/>
            <p:nvPr/>
          </p:nvCxnSpPr>
          <p:spPr>
            <a:xfrm>
              <a:off x="143" y="2422"/>
              <a:ext cx="998" cy="0"/>
            </a:xfrm>
            <a:prstGeom prst="straightConnector1">
              <a:avLst/>
            </a:prstGeom>
            <a:noFill/>
            <a:ln cap="flat" cmpd="sng" w="12700">
              <a:solidFill>
                <a:srgbClr val="990033"/>
              </a:solidFill>
              <a:prstDash val="solid"/>
              <a:round/>
              <a:headEnd len="sm" w="sm" type="none"/>
              <a:tailEnd len="sm" w="sm" type="none"/>
            </a:ln>
          </p:spPr>
        </p:cxnSp>
      </p:grpSp>
      <p:sp>
        <p:nvSpPr>
          <p:cNvPr id="892" name="Google Shape;892;p26"/>
          <p:cNvSpPr/>
          <p:nvPr/>
        </p:nvSpPr>
        <p:spPr>
          <a:xfrm>
            <a:off x="446088" y="3711575"/>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Professor</a:t>
            </a:r>
            <a:endParaRPr/>
          </a:p>
        </p:txBody>
      </p:sp>
      <p:sp>
        <p:nvSpPr>
          <p:cNvPr id="893" name="Google Shape;893;p26"/>
          <p:cNvSpPr/>
          <p:nvPr/>
        </p:nvSpPr>
        <p:spPr>
          <a:xfrm>
            <a:off x="2808288" y="3698875"/>
            <a:ext cx="16208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CourseOfferingList</a:t>
            </a:r>
            <a:endParaRPr/>
          </a:p>
        </p:txBody>
      </p:sp>
      <p:sp>
        <p:nvSpPr>
          <p:cNvPr id="894" name="Google Shape;894;p26"/>
          <p:cNvSpPr/>
          <p:nvPr/>
        </p:nvSpPr>
        <p:spPr>
          <a:xfrm>
            <a:off x="1512888" y="4003675"/>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 Instructor</a:t>
            </a:r>
            <a:endParaRPr/>
          </a:p>
        </p:txBody>
      </p:sp>
      <p:sp>
        <p:nvSpPr>
          <p:cNvPr id="895" name="Google Shape;895;p26"/>
          <p:cNvSpPr/>
          <p:nvPr/>
        </p:nvSpPr>
        <p:spPr>
          <a:xfrm>
            <a:off x="2916238" y="5060950"/>
            <a:ext cx="13033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CourseOffering</a:t>
            </a:r>
            <a:endParaRPr/>
          </a:p>
        </p:txBody>
      </p:sp>
      <p:cxnSp>
        <p:nvCxnSpPr>
          <p:cNvPr id="896" name="Google Shape;896;p26"/>
          <p:cNvCxnSpPr/>
          <p:nvPr/>
        </p:nvCxnSpPr>
        <p:spPr>
          <a:xfrm>
            <a:off x="6096000" y="4089400"/>
            <a:ext cx="698500" cy="1244600"/>
          </a:xfrm>
          <a:prstGeom prst="straightConnector1">
            <a:avLst/>
          </a:prstGeom>
          <a:noFill/>
          <a:ln cap="flat" cmpd="sng" w="9525">
            <a:solidFill>
              <a:schemeClr val="dk1"/>
            </a:solidFill>
            <a:prstDash val="dash"/>
            <a:round/>
            <a:headEnd len="med" w="med" type="none"/>
            <a:tailEnd len="med" w="med" type="none"/>
          </a:ln>
        </p:spPr>
      </p:cxnSp>
      <p:cxnSp>
        <p:nvCxnSpPr>
          <p:cNvPr id="897" name="Google Shape;897;p26"/>
          <p:cNvCxnSpPr/>
          <p:nvPr/>
        </p:nvCxnSpPr>
        <p:spPr>
          <a:xfrm>
            <a:off x="6110288" y="5343525"/>
            <a:ext cx="1133475" cy="0"/>
          </a:xfrm>
          <a:prstGeom prst="straightConnector1">
            <a:avLst/>
          </a:prstGeom>
          <a:noFill/>
          <a:ln cap="flat" cmpd="sng" w="12700">
            <a:solidFill>
              <a:schemeClr val="dk1"/>
            </a:solidFill>
            <a:prstDash val="solid"/>
            <a:round/>
            <a:headEnd len="med" w="med" type="none"/>
            <a:tailEnd len="med" w="med" type="stealth"/>
          </a:ln>
        </p:spPr>
      </p:cxnSp>
      <p:sp>
        <p:nvSpPr>
          <p:cNvPr id="898" name="Google Shape;898;p26"/>
          <p:cNvSpPr/>
          <p:nvPr/>
        </p:nvSpPr>
        <p:spPr>
          <a:xfrm>
            <a:off x="6081713" y="5059363"/>
            <a:ext cx="484107"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899" name="Google Shape;899;p26"/>
          <p:cNvSpPr/>
          <p:nvPr/>
        </p:nvSpPr>
        <p:spPr>
          <a:xfrm>
            <a:off x="6799263" y="5059363"/>
            <a:ext cx="45525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grpSp>
        <p:nvGrpSpPr>
          <p:cNvPr id="900" name="Google Shape;900;p26"/>
          <p:cNvGrpSpPr/>
          <p:nvPr/>
        </p:nvGrpSpPr>
        <p:grpSpPr>
          <a:xfrm>
            <a:off x="7265988" y="4978400"/>
            <a:ext cx="1466850" cy="622300"/>
            <a:chOff x="1873" y="2152"/>
            <a:chExt cx="1004" cy="392"/>
          </a:xfrm>
        </p:grpSpPr>
        <p:sp>
          <p:nvSpPr>
            <p:cNvPr id="901" name="Google Shape;901;p26"/>
            <p:cNvSpPr/>
            <p:nvPr/>
          </p:nvSpPr>
          <p:spPr>
            <a:xfrm>
              <a:off x="1873" y="2152"/>
              <a:ext cx="1002" cy="39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02" name="Google Shape;902;p26"/>
            <p:cNvCxnSpPr/>
            <p:nvPr/>
          </p:nvCxnSpPr>
          <p:spPr>
            <a:xfrm>
              <a:off x="1879" y="2478"/>
              <a:ext cx="998" cy="0"/>
            </a:xfrm>
            <a:prstGeom prst="straightConnector1">
              <a:avLst/>
            </a:prstGeom>
            <a:noFill/>
            <a:ln cap="flat" cmpd="sng" w="12700">
              <a:solidFill>
                <a:srgbClr val="990033"/>
              </a:solidFill>
              <a:prstDash val="solid"/>
              <a:round/>
              <a:headEnd len="sm" w="sm" type="none"/>
              <a:tailEnd len="sm" w="sm" type="none"/>
            </a:ln>
          </p:spPr>
        </p:cxnSp>
        <p:cxnSp>
          <p:nvCxnSpPr>
            <p:cNvPr id="903" name="Google Shape;903;p26"/>
            <p:cNvCxnSpPr/>
            <p:nvPr/>
          </p:nvCxnSpPr>
          <p:spPr>
            <a:xfrm>
              <a:off x="1879" y="2422"/>
              <a:ext cx="998" cy="0"/>
            </a:xfrm>
            <a:prstGeom prst="straightConnector1">
              <a:avLst/>
            </a:prstGeom>
            <a:noFill/>
            <a:ln cap="flat" cmpd="sng" w="12700">
              <a:solidFill>
                <a:srgbClr val="990033"/>
              </a:solidFill>
              <a:prstDash val="solid"/>
              <a:round/>
              <a:headEnd len="sm" w="sm" type="none"/>
              <a:tailEnd len="sm" w="sm" type="none"/>
            </a:ln>
          </p:spPr>
        </p:cxnSp>
      </p:grpSp>
      <p:grpSp>
        <p:nvGrpSpPr>
          <p:cNvPr id="904" name="Google Shape;904;p26"/>
          <p:cNvGrpSpPr/>
          <p:nvPr/>
        </p:nvGrpSpPr>
        <p:grpSpPr>
          <a:xfrm>
            <a:off x="4827588" y="4978400"/>
            <a:ext cx="1289050" cy="622300"/>
            <a:chOff x="137" y="2152"/>
            <a:chExt cx="1004" cy="392"/>
          </a:xfrm>
        </p:grpSpPr>
        <p:sp>
          <p:nvSpPr>
            <p:cNvPr id="905" name="Google Shape;905;p26"/>
            <p:cNvSpPr/>
            <p:nvPr/>
          </p:nvSpPr>
          <p:spPr>
            <a:xfrm>
              <a:off x="137" y="2152"/>
              <a:ext cx="1002" cy="392"/>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06" name="Google Shape;906;p26"/>
            <p:cNvCxnSpPr/>
            <p:nvPr/>
          </p:nvCxnSpPr>
          <p:spPr>
            <a:xfrm>
              <a:off x="143" y="2478"/>
              <a:ext cx="998" cy="0"/>
            </a:xfrm>
            <a:prstGeom prst="straightConnector1">
              <a:avLst/>
            </a:prstGeom>
            <a:noFill/>
            <a:ln cap="flat" cmpd="sng" w="12700">
              <a:solidFill>
                <a:srgbClr val="990033"/>
              </a:solidFill>
              <a:prstDash val="solid"/>
              <a:round/>
              <a:headEnd len="sm" w="sm" type="none"/>
              <a:tailEnd len="sm" w="sm" type="none"/>
            </a:ln>
          </p:spPr>
        </p:cxnSp>
        <p:cxnSp>
          <p:nvCxnSpPr>
            <p:cNvPr id="907" name="Google Shape;907;p26"/>
            <p:cNvCxnSpPr/>
            <p:nvPr/>
          </p:nvCxnSpPr>
          <p:spPr>
            <a:xfrm>
              <a:off x="143" y="2422"/>
              <a:ext cx="998" cy="0"/>
            </a:xfrm>
            <a:prstGeom prst="straightConnector1">
              <a:avLst/>
            </a:prstGeom>
            <a:noFill/>
            <a:ln cap="flat" cmpd="sng" w="12700">
              <a:solidFill>
                <a:srgbClr val="990033"/>
              </a:solidFill>
              <a:prstDash val="solid"/>
              <a:round/>
              <a:headEnd len="sm" w="sm" type="none"/>
              <a:tailEnd len="sm" w="sm" type="none"/>
            </a:ln>
          </p:spPr>
        </p:cxnSp>
      </p:grpSp>
      <p:sp>
        <p:nvSpPr>
          <p:cNvPr id="908" name="Google Shape;908;p26"/>
          <p:cNvSpPr/>
          <p:nvPr/>
        </p:nvSpPr>
        <p:spPr>
          <a:xfrm>
            <a:off x="4884738" y="5073650"/>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Professor</a:t>
            </a:r>
            <a:endParaRPr/>
          </a:p>
        </p:txBody>
      </p:sp>
      <p:sp>
        <p:nvSpPr>
          <p:cNvPr id="909" name="Google Shape;909;p26"/>
          <p:cNvSpPr/>
          <p:nvPr/>
        </p:nvSpPr>
        <p:spPr>
          <a:xfrm>
            <a:off x="5970588" y="5375275"/>
            <a:ext cx="11890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 Instructor</a:t>
            </a:r>
            <a:endParaRPr/>
          </a:p>
        </p:txBody>
      </p:sp>
      <p:sp>
        <p:nvSpPr>
          <p:cNvPr id="910" name="Google Shape;910;p26"/>
          <p:cNvSpPr/>
          <p:nvPr/>
        </p:nvSpPr>
        <p:spPr>
          <a:xfrm>
            <a:off x="7361238" y="5060950"/>
            <a:ext cx="1303337" cy="277641"/>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200">
                <a:solidFill>
                  <a:srgbClr val="000000"/>
                </a:solidFill>
                <a:latin typeface="Arial"/>
                <a:ea typeface="Arial"/>
                <a:cs typeface="Arial"/>
                <a:sym typeface="Arial"/>
              </a:rPr>
              <a:t>CourseOffering</a:t>
            </a:r>
            <a:endParaRPr/>
          </a:p>
        </p:txBody>
      </p:sp>
      <p:sp>
        <p:nvSpPr>
          <p:cNvPr id="911" name="Google Shape;911;p26"/>
          <p:cNvSpPr/>
          <p:nvPr/>
        </p:nvSpPr>
        <p:spPr>
          <a:xfrm>
            <a:off x="5676900" y="3670300"/>
            <a:ext cx="800100" cy="495300"/>
          </a:xfrm>
          <a:custGeom>
            <a:rect b="b" l="l" r="r" t="t"/>
            <a:pathLst>
              <a:path extrusionOk="0" h="312" w="504">
                <a:moveTo>
                  <a:pt x="434" y="0"/>
                </a:moveTo>
                <a:lnTo>
                  <a:pt x="0" y="0"/>
                </a:lnTo>
                <a:lnTo>
                  <a:pt x="0" y="312"/>
                </a:lnTo>
                <a:lnTo>
                  <a:pt x="504" y="312"/>
                </a:lnTo>
                <a:lnTo>
                  <a:pt x="504" y="72"/>
                </a:lnTo>
                <a:lnTo>
                  <a:pt x="433" y="0"/>
                </a:lnTo>
              </a:path>
            </a:pathLst>
          </a:custGeom>
          <a:solidFill>
            <a:srgbClr val="FFFFCC"/>
          </a:solidFill>
          <a:ln cap="flat" cmpd="sng" w="12700">
            <a:solidFill>
              <a:srgbClr val="990033"/>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12" name="Google Shape;912;p26"/>
          <p:cNvSpPr/>
          <p:nvPr/>
        </p:nvSpPr>
        <p:spPr>
          <a:xfrm>
            <a:off x="6359525" y="3670300"/>
            <a:ext cx="114300" cy="119063"/>
          </a:xfrm>
          <a:custGeom>
            <a:rect b="b" l="l" r="r" t="t"/>
            <a:pathLst>
              <a:path extrusionOk="0" h="75" w="72">
                <a:moveTo>
                  <a:pt x="0" y="0"/>
                </a:moveTo>
                <a:lnTo>
                  <a:pt x="0" y="75"/>
                </a:lnTo>
                <a:lnTo>
                  <a:pt x="72" y="75"/>
                </a:lnTo>
              </a:path>
            </a:pathLst>
          </a:custGeom>
          <a:noFill/>
          <a:ln cap="flat" cmpd="sng" w="12700">
            <a:solidFill>
              <a:srgbClr val="990033"/>
            </a:solidFill>
            <a:prstDash val="solid"/>
            <a:round/>
            <a:headEnd len="med" w="med" type="none"/>
            <a:tailEnd len="med" w="med"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13" name="Google Shape;913;p26"/>
          <p:cNvSpPr/>
          <p:nvPr/>
        </p:nvSpPr>
        <p:spPr>
          <a:xfrm>
            <a:off x="5856288" y="3813175"/>
            <a:ext cx="452437" cy="260350"/>
          </a:xfrm>
          <a:prstGeom prst="rect">
            <a:avLst/>
          </a:prstGeom>
          <a:noFill/>
          <a:ln>
            <a:noFill/>
          </a:ln>
        </p:spPr>
        <p:txBody>
          <a:bodyPr anchorCtr="0" anchor="t" bIns="46025" lIns="92075" spcFirstLastPara="1" rIns="92075" wrap="square" tIns="46025">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List</a:t>
            </a:r>
            <a:endParaRPr/>
          </a:p>
        </p:txBody>
      </p:sp>
      <p:grpSp>
        <p:nvGrpSpPr>
          <p:cNvPr id="914" name="Google Shape;914;p26"/>
          <p:cNvGrpSpPr/>
          <p:nvPr/>
        </p:nvGrpSpPr>
        <p:grpSpPr>
          <a:xfrm>
            <a:off x="241300" y="3314700"/>
            <a:ext cx="4251325" cy="2514600"/>
            <a:chOff x="104" y="1936"/>
            <a:chExt cx="2678" cy="1792"/>
          </a:xfrm>
        </p:grpSpPr>
        <p:sp>
          <p:nvSpPr>
            <p:cNvPr id="915" name="Google Shape;915;p26"/>
            <p:cNvSpPr/>
            <p:nvPr/>
          </p:nvSpPr>
          <p:spPr>
            <a:xfrm>
              <a:off x="104" y="1936"/>
              <a:ext cx="118" cy="1792"/>
            </a:xfrm>
            <a:prstGeom prst="leftBracket">
              <a:avLst>
                <a:gd fmla="val 126554" name="adj"/>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16" name="Google Shape;916;p26"/>
            <p:cNvSpPr/>
            <p:nvPr/>
          </p:nvSpPr>
          <p:spPr>
            <a:xfrm flipH="1">
              <a:off x="2664" y="1936"/>
              <a:ext cx="118" cy="1792"/>
            </a:xfrm>
            <a:prstGeom prst="leftBracket">
              <a:avLst>
                <a:gd fmla="val 126554" name="adj"/>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17" name="Google Shape;917;p26"/>
            <p:cNvCxnSpPr/>
            <p:nvPr/>
          </p:nvCxnSpPr>
          <p:spPr>
            <a:xfrm>
              <a:off x="204" y="3728"/>
              <a:ext cx="2476" cy="0"/>
            </a:xfrm>
            <a:prstGeom prst="straightConnector1">
              <a:avLst/>
            </a:prstGeom>
            <a:noFill/>
            <a:ln cap="flat" cmpd="sng" w="28575">
              <a:solidFill>
                <a:srgbClr val="00CCFF"/>
              </a:solidFill>
              <a:prstDash val="solid"/>
              <a:round/>
              <a:headEnd len="med" w="med" type="none"/>
              <a:tailEnd len="med" w="med" type="none"/>
            </a:ln>
          </p:spPr>
        </p:cxnSp>
      </p:grpSp>
      <p:sp>
        <p:nvSpPr>
          <p:cNvPr id="918" name="Google Shape;918;p26"/>
          <p:cNvSpPr/>
          <p:nvPr/>
        </p:nvSpPr>
        <p:spPr>
          <a:xfrm>
            <a:off x="4654550" y="3314700"/>
            <a:ext cx="187325" cy="2514600"/>
          </a:xfrm>
          <a:prstGeom prst="leftBracket">
            <a:avLst>
              <a:gd fmla="val 111864" name="adj"/>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919" name="Google Shape;919;p26"/>
          <p:cNvSpPr/>
          <p:nvPr/>
        </p:nvSpPr>
        <p:spPr>
          <a:xfrm flipH="1">
            <a:off x="8718550" y="3314700"/>
            <a:ext cx="187325" cy="2514600"/>
          </a:xfrm>
          <a:prstGeom prst="leftBracket">
            <a:avLst>
              <a:gd fmla="val 111864" name="adj"/>
            </a:avLst>
          </a:prstGeom>
          <a:noFill/>
          <a:ln cap="flat" cmpd="sng" w="28575">
            <a:solidFill>
              <a:srgbClr val="00CC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20" name="Google Shape;920;p26"/>
          <p:cNvCxnSpPr/>
          <p:nvPr/>
        </p:nvCxnSpPr>
        <p:spPr>
          <a:xfrm>
            <a:off x="4813300" y="5829300"/>
            <a:ext cx="3930650" cy="0"/>
          </a:xfrm>
          <a:prstGeom prst="straightConnector1">
            <a:avLst/>
          </a:prstGeom>
          <a:noFill/>
          <a:ln cap="flat" cmpd="sng" w="28575">
            <a:solidFill>
              <a:srgbClr val="00CCFF"/>
            </a:solidFill>
            <a:prstDash val="solid"/>
            <a:round/>
            <a:headEnd len="med" w="med" type="none"/>
            <a:tailEnd len="med" w="med" type="none"/>
          </a:ln>
        </p:spPr>
      </p:cxnSp>
      <p:cxnSp>
        <p:nvCxnSpPr>
          <p:cNvPr id="921" name="Google Shape;921;p26"/>
          <p:cNvCxnSpPr/>
          <p:nvPr/>
        </p:nvCxnSpPr>
        <p:spPr>
          <a:xfrm>
            <a:off x="4838700" y="3308350"/>
            <a:ext cx="604838" cy="0"/>
          </a:xfrm>
          <a:prstGeom prst="straightConnector1">
            <a:avLst/>
          </a:prstGeom>
          <a:noFill/>
          <a:ln cap="flat" cmpd="sng" w="28575">
            <a:solidFill>
              <a:srgbClr val="00CCFF"/>
            </a:solidFill>
            <a:prstDash val="solid"/>
            <a:round/>
            <a:headEnd len="med" w="med" type="none"/>
            <a:tailEnd len="med" w="med" type="none"/>
          </a:ln>
        </p:spPr>
      </p:cxnSp>
      <p:cxnSp>
        <p:nvCxnSpPr>
          <p:cNvPr id="922" name="Google Shape;922;p26"/>
          <p:cNvCxnSpPr/>
          <p:nvPr/>
        </p:nvCxnSpPr>
        <p:spPr>
          <a:xfrm>
            <a:off x="8051800" y="3308350"/>
            <a:ext cx="673100" cy="0"/>
          </a:xfrm>
          <a:prstGeom prst="straightConnector1">
            <a:avLst/>
          </a:prstGeom>
          <a:noFill/>
          <a:ln cap="flat" cmpd="sng" w="28575">
            <a:solidFill>
              <a:srgbClr val="00CCFF"/>
            </a:solidFill>
            <a:prstDash val="solid"/>
            <a:round/>
            <a:headEnd len="med" w="med" type="none"/>
            <a:tailEnd len="med" w="med" type="none"/>
          </a:ln>
        </p:spPr>
      </p:cxnSp>
      <p:sp>
        <p:nvSpPr>
          <p:cNvPr id="923" name="Google Shape;923;p26"/>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27"/>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Multiplicity Design: Optionality</a:t>
            </a:r>
            <a:endParaRPr/>
          </a:p>
        </p:txBody>
      </p:sp>
      <p:sp>
        <p:nvSpPr>
          <p:cNvPr id="929" name="Google Shape;929;p27"/>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If a link is optional, make sure to include an operation to test for the existence of the link</a:t>
            </a:r>
            <a:endParaRPr/>
          </a:p>
        </p:txBody>
      </p:sp>
      <p:cxnSp>
        <p:nvCxnSpPr>
          <p:cNvPr id="930" name="Google Shape;930;p27"/>
          <p:cNvCxnSpPr/>
          <p:nvPr/>
        </p:nvCxnSpPr>
        <p:spPr>
          <a:xfrm>
            <a:off x="4051300" y="2971800"/>
            <a:ext cx="1066800" cy="0"/>
          </a:xfrm>
          <a:prstGeom prst="straightConnector1">
            <a:avLst/>
          </a:prstGeom>
          <a:noFill/>
          <a:ln cap="flat" cmpd="sng" w="12700">
            <a:solidFill>
              <a:schemeClr val="dk1"/>
            </a:solidFill>
            <a:prstDash val="solid"/>
            <a:round/>
            <a:headEnd len="med" w="med" type="none"/>
            <a:tailEnd len="med" w="med" type="none"/>
          </a:ln>
        </p:spPr>
      </p:cxnSp>
      <p:sp>
        <p:nvSpPr>
          <p:cNvPr id="931" name="Google Shape;931;p27"/>
          <p:cNvSpPr/>
          <p:nvPr/>
        </p:nvSpPr>
        <p:spPr>
          <a:xfrm>
            <a:off x="1708150" y="2557463"/>
            <a:ext cx="2376488" cy="89058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32" name="Google Shape;932;p27"/>
          <p:cNvCxnSpPr/>
          <p:nvPr/>
        </p:nvCxnSpPr>
        <p:spPr>
          <a:xfrm>
            <a:off x="1714500" y="3168650"/>
            <a:ext cx="2370138" cy="0"/>
          </a:xfrm>
          <a:prstGeom prst="straightConnector1">
            <a:avLst/>
          </a:prstGeom>
          <a:noFill/>
          <a:ln cap="flat" cmpd="sng" w="12700">
            <a:solidFill>
              <a:srgbClr val="990033"/>
            </a:solidFill>
            <a:prstDash val="solid"/>
            <a:round/>
            <a:headEnd len="med" w="med" type="none"/>
            <a:tailEnd len="med" w="med" type="none"/>
          </a:ln>
        </p:spPr>
      </p:cxnSp>
      <p:sp>
        <p:nvSpPr>
          <p:cNvPr id="933" name="Google Shape;933;p27"/>
          <p:cNvSpPr/>
          <p:nvPr/>
        </p:nvSpPr>
        <p:spPr>
          <a:xfrm>
            <a:off x="2335213" y="2628900"/>
            <a:ext cx="1031875"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Professor</a:t>
            </a:r>
            <a:endParaRPr/>
          </a:p>
        </p:txBody>
      </p:sp>
      <p:sp>
        <p:nvSpPr>
          <p:cNvPr id="934" name="Google Shape;934;p27"/>
          <p:cNvSpPr/>
          <p:nvPr/>
        </p:nvSpPr>
        <p:spPr>
          <a:xfrm>
            <a:off x="5035550" y="2551113"/>
            <a:ext cx="2376488" cy="890587"/>
          </a:xfrm>
          <a:prstGeom prst="rect">
            <a:avLst/>
          </a:prstGeom>
          <a:solidFill>
            <a:srgbClr val="FFFFCC"/>
          </a:solidFill>
          <a:ln cap="flat" cmpd="sng" w="12700">
            <a:solidFill>
              <a:srgbClr val="99003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cxnSp>
        <p:nvCxnSpPr>
          <p:cNvPr id="935" name="Google Shape;935;p27"/>
          <p:cNvCxnSpPr/>
          <p:nvPr/>
        </p:nvCxnSpPr>
        <p:spPr>
          <a:xfrm>
            <a:off x="5051425" y="3175000"/>
            <a:ext cx="2363788" cy="0"/>
          </a:xfrm>
          <a:prstGeom prst="straightConnector1">
            <a:avLst/>
          </a:prstGeom>
          <a:noFill/>
          <a:ln cap="flat" cmpd="sng" w="12700">
            <a:solidFill>
              <a:srgbClr val="990033"/>
            </a:solidFill>
            <a:prstDash val="solid"/>
            <a:round/>
            <a:headEnd len="med" w="med" type="none"/>
            <a:tailEnd len="med" w="med" type="none"/>
          </a:ln>
        </p:spPr>
      </p:cxnSp>
      <p:sp>
        <p:nvSpPr>
          <p:cNvPr id="936" name="Google Shape;936;p27"/>
          <p:cNvSpPr/>
          <p:nvPr/>
        </p:nvSpPr>
        <p:spPr>
          <a:xfrm>
            <a:off x="5383213" y="2628900"/>
            <a:ext cx="1781175" cy="276999"/>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CourseOffering</a:t>
            </a:r>
            <a:endParaRPr/>
          </a:p>
        </p:txBody>
      </p:sp>
      <p:sp>
        <p:nvSpPr>
          <p:cNvPr id="937" name="Google Shape;937;p27"/>
          <p:cNvSpPr/>
          <p:nvPr/>
        </p:nvSpPr>
        <p:spPr>
          <a:xfrm>
            <a:off x="1763713" y="3197225"/>
            <a:ext cx="2084387"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isTeaching () : boolean</a:t>
            </a:r>
            <a:endParaRPr/>
          </a:p>
        </p:txBody>
      </p:sp>
      <p:sp>
        <p:nvSpPr>
          <p:cNvPr id="938" name="Google Shape;938;p27"/>
          <p:cNvSpPr txBox="1"/>
          <p:nvPr/>
        </p:nvSpPr>
        <p:spPr>
          <a:xfrm>
            <a:off x="4102100" y="2601913"/>
            <a:ext cx="4953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0..1</a:t>
            </a:r>
            <a:endParaRPr/>
          </a:p>
        </p:txBody>
      </p:sp>
      <p:sp>
        <p:nvSpPr>
          <p:cNvPr id="939" name="Google Shape;939;p27"/>
          <p:cNvSpPr txBox="1"/>
          <p:nvPr/>
        </p:nvSpPr>
        <p:spPr>
          <a:xfrm>
            <a:off x="4610100" y="3033713"/>
            <a:ext cx="482600"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0..*</a:t>
            </a:r>
            <a:endParaRPr/>
          </a:p>
        </p:txBody>
      </p:sp>
      <p:sp>
        <p:nvSpPr>
          <p:cNvPr id="940" name="Google Shape;940;p27"/>
          <p:cNvSpPr/>
          <p:nvPr/>
        </p:nvSpPr>
        <p:spPr>
          <a:xfrm>
            <a:off x="5103813" y="3197225"/>
            <a:ext cx="2274887"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hasProfessor () : boolean</a:t>
            </a:r>
            <a:endParaRPr/>
          </a:p>
        </p:txBody>
      </p:sp>
      <p:cxnSp>
        <p:nvCxnSpPr>
          <p:cNvPr id="941" name="Google Shape;941;p27"/>
          <p:cNvCxnSpPr/>
          <p:nvPr/>
        </p:nvCxnSpPr>
        <p:spPr>
          <a:xfrm>
            <a:off x="1714500" y="2940050"/>
            <a:ext cx="2370138" cy="0"/>
          </a:xfrm>
          <a:prstGeom prst="straightConnector1">
            <a:avLst/>
          </a:prstGeom>
          <a:noFill/>
          <a:ln cap="flat" cmpd="sng" w="12700">
            <a:solidFill>
              <a:srgbClr val="990033"/>
            </a:solidFill>
            <a:prstDash val="solid"/>
            <a:round/>
            <a:headEnd len="med" w="med" type="none"/>
            <a:tailEnd len="med" w="med" type="none"/>
          </a:ln>
        </p:spPr>
      </p:cxnSp>
      <p:cxnSp>
        <p:nvCxnSpPr>
          <p:cNvPr id="942" name="Google Shape;942;p27"/>
          <p:cNvCxnSpPr/>
          <p:nvPr/>
        </p:nvCxnSpPr>
        <p:spPr>
          <a:xfrm>
            <a:off x="5051425" y="2946400"/>
            <a:ext cx="2363788" cy="0"/>
          </a:xfrm>
          <a:prstGeom prst="straightConnector1">
            <a:avLst/>
          </a:prstGeom>
          <a:noFill/>
          <a:ln cap="flat" cmpd="sng" w="12700">
            <a:solidFill>
              <a:srgbClr val="990033"/>
            </a:solidFill>
            <a:prstDash val="solid"/>
            <a:round/>
            <a:headEnd len="med" w="med" type="none"/>
            <a:tailEnd len="med" w="med" type="none"/>
          </a:ln>
        </p:spPr>
      </p:cxnSp>
      <p:sp>
        <p:nvSpPr>
          <p:cNvPr id="943" name="Google Shape;943;p27"/>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28"/>
          <p:cNvSpPr/>
          <p:nvPr/>
        </p:nvSpPr>
        <p:spPr>
          <a:xfrm>
            <a:off x="6383338" y="4635500"/>
            <a:ext cx="1454150" cy="866775"/>
          </a:xfrm>
          <a:custGeom>
            <a:rect b="b" l="l" r="r" t="t"/>
            <a:pathLst>
              <a:path extrusionOk="0" h="43" w="72">
                <a:moveTo>
                  <a:pt x="72" y="24"/>
                </a:moveTo>
                <a:lnTo>
                  <a:pt x="72" y="43"/>
                </a:lnTo>
                <a:lnTo>
                  <a:pt x="0" y="43"/>
                </a:lnTo>
                <a:lnTo>
                  <a:pt x="0" y="0"/>
                </a:lnTo>
              </a:path>
            </a:pathLst>
          </a:custGeom>
          <a:noFill/>
          <a:ln cap="flat" cmpd="sng" w="28575">
            <a:solidFill>
              <a:schemeClr val="dk1"/>
            </a:solidFill>
            <a:prstDash val="solid"/>
            <a:round/>
            <a:headEnd len="med" w="med" type="none"/>
            <a:tailEnd len="med" w="med" type="stealth"/>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1" name="Google Shape;951;p28"/>
          <p:cNvSpPr/>
          <p:nvPr/>
        </p:nvSpPr>
        <p:spPr>
          <a:xfrm>
            <a:off x="7089775" y="4051300"/>
            <a:ext cx="747713" cy="1068388"/>
          </a:xfrm>
          <a:custGeom>
            <a:rect b="b" l="l" r="r" t="t"/>
            <a:pathLst>
              <a:path extrusionOk="0" h="53" w="37">
                <a:moveTo>
                  <a:pt x="37" y="53"/>
                </a:moveTo>
                <a:lnTo>
                  <a:pt x="37" y="0"/>
                </a:lnTo>
                <a:lnTo>
                  <a:pt x="0" y="0"/>
                </a:lnTo>
              </a:path>
            </a:pathLst>
          </a:custGeom>
          <a:noFill/>
          <a:ln cap="flat" cmpd="sng" w="28575">
            <a:solidFill>
              <a:schemeClr val="dk1"/>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52" name="Google Shape;952;p28"/>
          <p:cNvCxnSpPr/>
          <p:nvPr/>
        </p:nvCxnSpPr>
        <p:spPr>
          <a:xfrm flipH="1">
            <a:off x="2874963" y="4049713"/>
            <a:ext cx="2986087" cy="3175"/>
          </a:xfrm>
          <a:prstGeom prst="straightConnector1">
            <a:avLst/>
          </a:prstGeom>
          <a:noFill/>
          <a:ln cap="flat" cmpd="sng" w="28575">
            <a:solidFill>
              <a:schemeClr val="dk1"/>
            </a:solidFill>
            <a:prstDash val="solid"/>
            <a:round/>
            <a:headEnd len="med" w="med" type="none"/>
            <a:tailEnd len="med" w="med" type="none"/>
          </a:ln>
        </p:spPr>
      </p:cxnSp>
      <p:sp>
        <p:nvSpPr>
          <p:cNvPr id="953" name="Google Shape;953;p28"/>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What Does Multiplicity Mean?</a:t>
            </a:r>
            <a:endParaRPr/>
          </a:p>
        </p:txBody>
      </p:sp>
      <p:sp>
        <p:nvSpPr>
          <p:cNvPr id="954" name="Google Shape;954;p28"/>
          <p:cNvSpPr txBox="1"/>
          <p:nvPr>
            <p:ph idx="1" type="body"/>
          </p:nvPr>
        </p:nvSpPr>
        <p:spPr>
          <a:xfrm>
            <a:off x="184150" y="1325563"/>
            <a:ext cx="8775700" cy="2027237"/>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Multiplicity answers two questions:</a:t>
            </a:r>
            <a:endParaRPr/>
          </a:p>
          <a:p>
            <a:pPr indent="-285750" lvl="1" marL="742950" rtl="0" algn="l">
              <a:spcBef>
                <a:spcPts val="400"/>
              </a:spcBef>
              <a:spcAft>
                <a:spcPts val="0"/>
              </a:spcAft>
              <a:buSzPts val="1000"/>
              <a:buChar char="🞇"/>
            </a:pPr>
            <a:r>
              <a:rPr lang="en-US" sz="2000"/>
              <a:t>Is the association mandatory or optional?</a:t>
            </a:r>
            <a:endParaRPr/>
          </a:p>
          <a:p>
            <a:pPr indent="-285750" lvl="1" marL="742950" rtl="0" algn="l">
              <a:spcBef>
                <a:spcPts val="400"/>
              </a:spcBef>
              <a:spcAft>
                <a:spcPts val="0"/>
              </a:spcAft>
              <a:buSzPts val="1000"/>
              <a:buChar char="🞇"/>
            </a:pPr>
            <a:r>
              <a:rPr lang="en-US" sz="2000"/>
              <a:t>What is the minimum and maximum number of instances that can be linked to one instance?</a:t>
            </a:r>
            <a:endParaRPr/>
          </a:p>
        </p:txBody>
      </p:sp>
      <p:sp>
        <p:nvSpPr>
          <p:cNvPr id="955" name="Google Shape;955;p28"/>
          <p:cNvSpPr/>
          <p:nvPr/>
        </p:nvSpPr>
        <p:spPr>
          <a:xfrm>
            <a:off x="5676900" y="3467100"/>
            <a:ext cx="1412875" cy="11684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6" name="Google Shape;956;p28"/>
          <p:cNvSpPr/>
          <p:nvPr/>
        </p:nvSpPr>
        <p:spPr>
          <a:xfrm>
            <a:off x="5861053" y="3756025"/>
            <a:ext cx="8493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Course</a:t>
            </a:r>
            <a:endParaRPr sz="1600">
              <a:solidFill>
                <a:schemeClr val="dk1"/>
              </a:solidFill>
              <a:latin typeface="Arial"/>
              <a:ea typeface="Arial"/>
              <a:cs typeface="Arial"/>
              <a:sym typeface="Arial"/>
            </a:endParaRPr>
          </a:p>
        </p:txBody>
      </p:sp>
      <p:sp>
        <p:nvSpPr>
          <p:cNvPr id="957" name="Google Shape;957;p28"/>
          <p:cNvSpPr/>
          <p:nvPr/>
        </p:nvSpPr>
        <p:spPr>
          <a:xfrm>
            <a:off x="5676900" y="4232275"/>
            <a:ext cx="1412875" cy="4032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8" name="Google Shape;958;p28"/>
          <p:cNvSpPr/>
          <p:nvPr/>
        </p:nvSpPr>
        <p:spPr>
          <a:xfrm>
            <a:off x="5676900" y="4373563"/>
            <a:ext cx="1412875" cy="2619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59" name="Google Shape;959;p28"/>
          <p:cNvSpPr/>
          <p:nvPr/>
        </p:nvSpPr>
        <p:spPr>
          <a:xfrm>
            <a:off x="5919788" y="3471863"/>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sp>
        <p:nvSpPr>
          <p:cNvPr id="960" name="Google Shape;960;p28"/>
          <p:cNvSpPr/>
          <p:nvPr/>
        </p:nvSpPr>
        <p:spPr>
          <a:xfrm>
            <a:off x="4457028" y="4732350"/>
            <a:ext cx="1704000" cy="27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Prerequisites</a:t>
            </a:r>
            <a:endParaRPr/>
          </a:p>
        </p:txBody>
      </p:sp>
      <p:sp>
        <p:nvSpPr>
          <p:cNvPr id="961" name="Google Shape;961;p28"/>
          <p:cNvSpPr/>
          <p:nvPr/>
        </p:nvSpPr>
        <p:spPr>
          <a:xfrm>
            <a:off x="6545284" y="4776800"/>
            <a:ext cx="665100" cy="27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0..3</a:t>
            </a:r>
            <a:endParaRPr/>
          </a:p>
        </p:txBody>
      </p:sp>
      <p:sp>
        <p:nvSpPr>
          <p:cNvPr id="962" name="Google Shape;962;p28"/>
          <p:cNvSpPr/>
          <p:nvPr/>
        </p:nvSpPr>
        <p:spPr>
          <a:xfrm>
            <a:off x="7210425" y="4252925"/>
            <a:ext cx="533100" cy="27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a:t>
            </a:r>
            <a:endParaRPr/>
          </a:p>
        </p:txBody>
      </p:sp>
      <p:sp>
        <p:nvSpPr>
          <p:cNvPr id="963" name="Google Shape;963;p28"/>
          <p:cNvSpPr/>
          <p:nvPr/>
        </p:nvSpPr>
        <p:spPr>
          <a:xfrm>
            <a:off x="952500" y="3467100"/>
            <a:ext cx="1998663" cy="11684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4" name="Google Shape;964;p28"/>
          <p:cNvSpPr/>
          <p:nvPr/>
        </p:nvSpPr>
        <p:spPr>
          <a:xfrm>
            <a:off x="1241425" y="3756025"/>
            <a:ext cx="1377950"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CourseOffering</a:t>
            </a:r>
            <a:endParaRPr sz="1600">
              <a:solidFill>
                <a:schemeClr val="dk1"/>
              </a:solidFill>
              <a:latin typeface="Arial"/>
              <a:ea typeface="Arial"/>
              <a:cs typeface="Arial"/>
              <a:sym typeface="Arial"/>
            </a:endParaRPr>
          </a:p>
        </p:txBody>
      </p:sp>
      <p:sp>
        <p:nvSpPr>
          <p:cNvPr id="965" name="Google Shape;965;p28"/>
          <p:cNvSpPr/>
          <p:nvPr/>
        </p:nvSpPr>
        <p:spPr>
          <a:xfrm>
            <a:off x="952500" y="4232275"/>
            <a:ext cx="1998663" cy="403225"/>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6" name="Google Shape;966;p28"/>
          <p:cNvSpPr/>
          <p:nvPr/>
        </p:nvSpPr>
        <p:spPr>
          <a:xfrm>
            <a:off x="952500" y="4373563"/>
            <a:ext cx="1998663" cy="261937"/>
          </a:xfrm>
          <a:prstGeom prst="rect">
            <a:avLst/>
          </a:prstGeom>
          <a:no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67" name="Google Shape;967;p28"/>
          <p:cNvSpPr/>
          <p:nvPr/>
        </p:nvSpPr>
        <p:spPr>
          <a:xfrm>
            <a:off x="1498600" y="3471863"/>
            <a:ext cx="962025" cy="2444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600">
                <a:solidFill>
                  <a:srgbClr val="000000"/>
                </a:solidFill>
                <a:latin typeface="Arial"/>
                <a:ea typeface="Arial"/>
                <a:cs typeface="Arial"/>
                <a:sym typeface="Arial"/>
              </a:rPr>
              <a:t>&lt;&lt;entity&gt;&gt;</a:t>
            </a:r>
            <a:endParaRPr sz="1600">
              <a:solidFill>
                <a:schemeClr val="dk1"/>
              </a:solidFill>
              <a:latin typeface="Arial"/>
              <a:ea typeface="Arial"/>
              <a:cs typeface="Arial"/>
              <a:sym typeface="Arial"/>
            </a:endParaRPr>
          </a:p>
        </p:txBody>
      </p:sp>
      <p:sp>
        <p:nvSpPr>
          <p:cNvPr id="968" name="Google Shape;968;p28"/>
          <p:cNvSpPr/>
          <p:nvPr/>
        </p:nvSpPr>
        <p:spPr>
          <a:xfrm>
            <a:off x="3011521" y="3568700"/>
            <a:ext cx="962100" cy="274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0..*</a:t>
            </a:r>
            <a:endParaRPr/>
          </a:p>
        </p:txBody>
      </p:sp>
      <p:sp>
        <p:nvSpPr>
          <p:cNvPr id="969" name="Google Shape;969;p28"/>
          <p:cNvSpPr/>
          <p:nvPr/>
        </p:nvSpPr>
        <p:spPr>
          <a:xfrm>
            <a:off x="5454650" y="3568700"/>
            <a:ext cx="127000" cy="27463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800">
                <a:solidFill>
                  <a:schemeClr val="dk2"/>
                </a:solidFill>
                <a:latin typeface="Arial"/>
                <a:ea typeface="Arial"/>
                <a:cs typeface="Arial"/>
                <a:sym typeface="Arial"/>
              </a:rPr>
              <a:t>1</a:t>
            </a:r>
            <a:endParaRPr/>
          </a:p>
        </p:txBody>
      </p:sp>
      <p:sp>
        <p:nvSpPr>
          <p:cNvPr id="970" name="Google Shape;970;p28"/>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29"/>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lnSpc>
                <a:spcPct val="70000"/>
              </a:lnSpc>
              <a:spcBef>
                <a:spcPts val="0"/>
              </a:spcBef>
              <a:spcAft>
                <a:spcPts val="0"/>
              </a:spcAft>
              <a:buClr>
                <a:srgbClr val="000000"/>
              </a:buClr>
              <a:buSzPts val="2000"/>
              <a:buChar char="❖"/>
            </a:pPr>
            <a:r>
              <a:rPr lang="en-US" sz="2000"/>
              <a:t>What Is a Dependency?</a:t>
            </a:r>
            <a:endParaRPr/>
          </a:p>
          <a:p>
            <a:pPr indent="-285750" lvl="1" marL="742950" rtl="0" algn="l">
              <a:lnSpc>
                <a:spcPct val="77000"/>
              </a:lnSpc>
              <a:spcBef>
                <a:spcPts val="400"/>
              </a:spcBef>
              <a:spcAft>
                <a:spcPts val="0"/>
              </a:spcAft>
              <a:buSzPts val="1000"/>
              <a:buChar char="🞇"/>
            </a:pPr>
            <a:r>
              <a:rPr lang="en-US" sz="2000"/>
              <a:t>A relationship between two objects</a:t>
            </a:r>
            <a:endParaRPr/>
          </a:p>
          <a:p>
            <a:pPr indent="-222250" lvl="1" marL="742950" rtl="0" algn="l">
              <a:lnSpc>
                <a:spcPct val="77000"/>
              </a:lnSpc>
              <a:spcBef>
                <a:spcPts val="400"/>
              </a:spcBef>
              <a:spcAft>
                <a:spcPts val="0"/>
              </a:spcAft>
              <a:buSzPts val="1000"/>
              <a:buNone/>
            </a:pPr>
            <a:r>
              <a:t/>
            </a:r>
            <a:endParaRPr sz="2000"/>
          </a:p>
          <a:p>
            <a:pPr indent="-222250" lvl="1" marL="742950" rtl="0" algn="l">
              <a:lnSpc>
                <a:spcPct val="77000"/>
              </a:lnSpc>
              <a:spcBef>
                <a:spcPts val="400"/>
              </a:spcBef>
              <a:spcAft>
                <a:spcPts val="0"/>
              </a:spcAft>
              <a:buSzPts val="1000"/>
              <a:buNone/>
            </a:pPr>
            <a:r>
              <a:t/>
            </a:r>
            <a:endParaRPr sz="2000"/>
          </a:p>
          <a:p>
            <a:pPr indent="-222250" lvl="1" marL="742950" rtl="0" algn="l">
              <a:lnSpc>
                <a:spcPct val="77000"/>
              </a:lnSpc>
              <a:spcBef>
                <a:spcPts val="400"/>
              </a:spcBef>
              <a:spcAft>
                <a:spcPts val="0"/>
              </a:spcAft>
              <a:buSzPts val="1000"/>
              <a:buNone/>
            </a:pPr>
            <a:r>
              <a:t/>
            </a:r>
            <a:endParaRPr sz="2000"/>
          </a:p>
          <a:p>
            <a:pPr indent="-222250" lvl="1" marL="742950" rtl="0" algn="l">
              <a:lnSpc>
                <a:spcPct val="77000"/>
              </a:lnSpc>
              <a:spcBef>
                <a:spcPts val="400"/>
              </a:spcBef>
              <a:spcAft>
                <a:spcPts val="0"/>
              </a:spcAft>
              <a:buSzPts val="1000"/>
              <a:buNone/>
            </a:pPr>
            <a:r>
              <a:t/>
            </a:r>
            <a:endParaRPr sz="2000"/>
          </a:p>
          <a:p>
            <a:pPr indent="-342900" lvl="0" marL="342900" rtl="0" algn="l">
              <a:lnSpc>
                <a:spcPct val="70000"/>
              </a:lnSpc>
              <a:spcBef>
                <a:spcPts val="400"/>
              </a:spcBef>
              <a:spcAft>
                <a:spcPts val="0"/>
              </a:spcAft>
              <a:buClr>
                <a:srgbClr val="000000"/>
              </a:buClr>
              <a:buSzPts val="2000"/>
              <a:buChar char="❖"/>
            </a:pPr>
            <a:r>
              <a:rPr lang="en-US" sz="2000"/>
              <a:t>Purpose</a:t>
            </a:r>
            <a:endParaRPr/>
          </a:p>
          <a:p>
            <a:pPr indent="-285750" lvl="1" marL="742950" rtl="0" algn="l">
              <a:lnSpc>
                <a:spcPct val="77000"/>
              </a:lnSpc>
              <a:spcBef>
                <a:spcPts val="400"/>
              </a:spcBef>
              <a:spcAft>
                <a:spcPts val="0"/>
              </a:spcAft>
              <a:buSzPts val="1000"/>
              <a:buChar char="🞇"/>
            </a:pPr>
            <a:r>
              <a:rPr lang="en-US" sz="2000"/>
              <a:t>Determine where structural relationships are NOT required</a:t>
            </a:r>
            <a:endParaRPr/>
          </a:p>
          <a:p>
            <a:pPr indent="-215900" lvl="0" marL="342900" rtl="0" algn="l">
              <a:lnSpc>
                <a:spcPct val="70000"/>
              </a:lnSpc>
              <a:spcBef>
                <a:spcPts val="400"/>
              </a:spcBef>
              <a:spcAft>
                <a:spcPts val="0"/>
              </a:spcAft>
              <a:buClr>
                <a:srgbClr val="000000"/>
              </a:buClr>
              <a:buSzPts val="2000"/>
              <a:buNone/>
            </a:pPr>
            <a:r>
              <a:t/>
            </a:r>
            <a:endParaRPr sz="2000"/>
          </a:p>
          <a:p>
            <a:pPr indent="-342900" lvl="0" marL="342900" rtl="0" algn="l">
              <a:lnSpc>
                <a:spcPct val="70000"/>
              </a:lnSpc>
              <a:spcBef>
                <a:spcPts val="400"/>
              </a:spcBef>
              <a:spcAft>
                <a:spcPts val="0"/>
              </a:spcAft>
              <a:buClr>
                <a:srgbClr val="000000"/>
              </a:buClr>
              <a:buSzPts val="2000"/>
              <a:buChar char="❖"/>
            </a:pPr>
            <a:r>
              <a:rPr lang="en-US" sz="2000"/>
              <a:t>Things to look for :</a:t>
            </a:r>
            <a:endParaRPr/>
          </a:p>
          <a:p>
            <a:pPr indent="-285750" lvl="1" marL="742950" rtl="0" algn="l">
              <a:lnSpc>
                <a:spcPct val="77000"/>
              </a:lnSpc>
              <a:spcBef>
                <a:spcPts val="400"/>
              </a:spcBef>
              <a:spcAft>
                <a:spcPts val="0"/>
              </a:spcAft>
              <a:buSzPts val="1000"/>
              <a:buChar char="🞇"/>
            </a:pPr>
            <a:r>
              <a:rPr lang="en-US" sz="2000"/>
              <a:t>What causes the supplier to be visible to the client</a:t>
            </a:r>
            <a:endParaRPr/>
          </a:p>
          <a:p>
            <a:pPr indent="-215900" lvl="0" marL="342900" rtl="0" algn="l">
              <a:lnSpc>
                <a:spcPct val="70000"/>
              </a:lnSpc>
              <a:spcBef>
                <a:spcPts val="400"/>
              </a:spcBef>
              <a:spcAft>
                <a:spcPts val="0"/>
              </a:spcAft>
              <a:buClr>
                <a:srgbClr val="000000"/>
              </a:buClr>
              <a:buSzPts val="2000"/>
              <a:buNone/>
            </a:pPr>
            <a:r>
              <a:t/>
            </a:r>
            <a:endParaRPr sz="2000"/>
          </a:p>
        </p:txBody>
      </p:sp>
      <p:sp>
        <p:nvSpPr>
          <p:cNvPr id="976" name="Google Shape;976;p29"/>
          <p:cNvSpPr/>
          <p:nvPr/>
        </p:nvSpPr>
        <p:spPr>
          <a:xfrm>
            <a:off x="1828800" y="2971800"/>
            <a:ext cx="5257800" cy="1371600"/>
          </a:xfrm>
          <a:prstGeom prst="rect">
            <a:avLst/>
          </a:prstGeom>
          <a:noFill/>
          <a:ln>
            <a:noFill/>
          </a:ln>
          <a:effectLst>
            <a:outerShdw rotWithShape="0" algn="ctr" dir="2700000" dist="35921">
              <a:srgbClr val="000000"/>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77" name="Google Shape;977;p29"/>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Define Dependency</a:t>
            </a:r>
            <a:endParaRPr/>
          </a:p>
        </p:txBody>
      </p:sp>
      <p:sp>
        <p:nvSpPr>
          <p:cNvPr id="978" name="Google Shape;978;p29"/>
          <p:cNvSpPr/>
          <p:nvPr/>
        </p:nvSpPr>
        <p:spPr>
          <a:xfrm>
            <a:off x="5549900" y="2159000"/>
            <a:ext cx="1597025" cy="7826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79" name="Google Shape;979;p29"/>
          <p:cNvCxnSpPr/>
          <p:nvPr/>
        </p:nvCxnSpPr>
        <p:spPr>
          <a:xfrm>
            <a:off x="5549900" y="2727325"/>
            <a:ext cx="1597025" cy="0"/>
          </a:xfrm>
          <a:prstGeom prst="straightConnector1">
            <a:avLst/>
          </a:prstGeom>
          <a:noFill/>
          <a:ln cap="flat" cmpd="sng" w="12700">
            <a:solidFill>
              <a:srgbClr val="8A0E5E"/>
            </a:solidFill>
            <a:prstDash val="solid"/>
            <a:round/>
            <a:headEnd len="sm" w="sm" type="none"/>
            <a:tailEnd len="sm" w="sm" type="none"/>
          </a:ln>
        </p:spPr>
      </p:cxnSp>
      <p:cxnSp>
        <p:nvCxnSpPr>
          <p:cNvPr id="980" name="Google Shape;980;p29"/>
          <p:cNvCxnSpPr/>
          <p:nvPr/>
        </p:nvCxnSpPr>
        <p:spPr>
          <a:xfrm>
            <a:off x="5549900" y="2590800"/>
            <a:ext cx="1597025" cy="0"/>
          </a:xfrm>
          <a:prstGeom prst="straightConnector1">
            <a:avLst/>
          </a:prstGeom>
          <a:noFill/>
          <a:ln cap="flat" cmpd="sng" w="12700">
            <a:solidFill>
              <a:srgbClr val="8A0E5E"/>
            </a:solidFill>
            <a:prstDash val="solid"/>
            <a:round/>
            <a:headEnd len="sm" w="sm" type="none"/>
            <a:tailEnd len="sm" w="sm" type="none"/>
          </a:ln>
        </p:spPr>
      </p:cxnSp>
      <p:sp>
        <p:nvSpPr>
          <p:cNvPr id="981" name="Google Shape;981;p29"/>
          <p:cNvSpPr txBox="1"/>
          <p:nvPr/>
        </p:nvSpPr>
        <p:spPr>
          <a:xfrm>
            <a:off x="5933157" y="2271713"/>
            <a:ext cx="846386" cy="276999"/>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Supplier</a:t>
            </a:r>
            <a:endParaRPr/>
          </a:p>
        </p:txBody>
      </p:sp>
      <p:sp>
        <p:nvSpPr>
          <p:cNvPr id="982" name="Google Shape;982;p29"/>
          <p:cNvSpPr/>
          <p:nvPr/>
        </p:nvSpPr>
        <p:spPr>
          <a:xfrm>
            <a:off x="2057400" y="2159000"/>
            <a:ext cx="1597025" cy="782638"/>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983" name="Google Shape;983;p29"/>
          <p:cNvCxnSpPr/>
          <p:nvPr/>
        </p:nvCxnSpPr>
        <p:spPr>
          <a:xfrm>
            <a:off x="2057400" y="2727325"/>
            <a:ext cx="1597025" cy="0"/>
          </a:xfrm>
          <a:prstGeom prst="straightConnector1">
            <a:avLst/>
          </a:prstGeom>
          <a:noFill/>
          <a:ln cap="flat" cmpd="sng" w="12700">
            <a:solidFill>
              <a:srgbClr val="8A0E5E"/>
            </a:solidFill>
            <a:prstDash val="solid"/>
            <a:round/>
            <a:headEnd len="sm" w="sm" type="none"/>
            <a:tailEnd len="sm" w="sm" type="none"/>
          </a:ln>
        </p:spPr>
      </p:cxnSp>
      <p:cxnSp>
        <p:nvCxnSpPr>
          <p:cNvPr id="984" name="Google Shape;984;p29"/>
          <p:cNvCxnSpPr/>
          <p:nvPr/>
        </p:nvCxnSpPr>
        <p:spPr>
          <a:xfrm>
            <a:off x="2057400" y="2603500"/>
            <a:ext cx="1597025" cy="0"/>
          </a:xfrm>
          <a:prstGeom prst="straightConnector1">
            <a:avLst/>
          </a:prstGeom>
          <a:noFill/>
          <a:ln cap="flat" cmpd="sng" w="12700">
            <a:solidFill>
              <a:srgbClr val="8A0E5E"/>
            </a:solidFill>
            <a:prstDash val="solid"/>
            <a:round/>
            <a:headEnd len="sm" w="sm" type="none"/>
            <a:tailEnd len="sm" w="sm" type="none"/>
          </a:ln>
        </p:spPr>
      </p:cxnSp>
      <p:sp>
        <p:nvSpPr>
          <p:cNvPr id="985" name="Google Shape;985;p29"/>
          <p:cNvSpPr txBox="1"/>
          <p:nvPr/>
        </p:nvSpPr>
        <p:spPr>
          <a:xfrm>
            <a:off x="2564135" y="2271713"/>
            <a:ext cx="589906" cy="276999"/>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Client</a:t>
            </a:r>
            <a:endParaRPr/>
          </a:p>
        </p:txBody>
      </p:sp>
      <p:cxnSp>
        <p:nvCxnSpPr>
          <p:cNvPr id="986" name="Google Shape;986;p29"/>
          <p:cNvCxnSpPr/>
          <p:nvPr/>
        </p:nvCxnSpPr>
        <p:spPr>
          <a:xfrm>
            <a:off x="3663950" y="2527300"/>
            <a:ext cx="1873250" cy="0"/>
          </a:xfrm>
          <a:prstGeom prst="straightConnector1">
            <a:avLst/>
          </a:prstGeom>
          <a:noFill/>
          <a:ln cap="flat" cmpd="sng" w="12700">
            <a:solidFill>
              <a:schemeClr val="dk1"/>
            </a:solidFill>
            <a:prstDash val="dash"/>
            <a:round/>
            <a:headEnd len="sm" w="sm" type="none"/>
            <a:tailEnd len="lg" w="lg" type="stealth"/>
          </a:ln>
        </p:spPr>
      </p:cxnSp>
      <p:sp>
        <p:nvSpPr>
          <p:cNvPr id="987" name="Google Shape;987;p29"/>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30"/>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Dependencies vs. Associations</a:t>
            </a:r>
            <a:endParaRPr/>
          </a:p>
        </p:txBody>
      </p:sp>
      <p:sp>
        <p:nvSpPr>
          <p:cNvPr id="993" name="Google Shape;993;p30"/>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Associations are structural relationships</a:t>
            </a:r>
            <a:endParaRPr/>
          </a:p>
          <a:p>
            <a:pPr indent="-342900" lvl="0" marL="342900" rtl="0" algn="l">
              <a:spcBef>
                <a:spcPts val="400"/>
              </a:spcBef>
              <a:spcAft>
                <a:spcPts val="0"/>
              </a:spcAft>
              <a:buClr>
                <a:srgbClr val="000000"/>
              </a:buClr>
              <a:buSzPts val="2000"/>
              <a:buChar char="❖"/>
            </a:pPr>
            <a:r>
              <a:rPr lang="en-US" sz="2000"/>
              <a:t>Dependencies are non-structural relationships</a:t>
            </a:r>
            <a:endParaRPr/>
          </a:p>
          <a:p>
            <a:pPr indent="-342900" lvl="0" marL="342900" rtl="0" algn="l">
              <a:spcBef>
                <a:spcPts val="400"/>
              </a:spcBef>
              <a:spcAft>
                <a:spcPts val="0"/>
              </a:spcAft>
              <a:buClr>
                <a:srgbClr val="000000"/>
              </a:buClr>
              <a:buSzPts val="2000"/>
              <a:buChar char="❖"/>
            </a:pPr>
            <a:r>
              <a:rPr lang="en-US" sz="2000"/>
              <a:t>In order for objects to “know each other”                                          they must be visible</a:t>
            </a:r>
            <a:endParaRPr/>
          </a:p>
          <a:p>
            <a:pPr indent="-285750" lvl="1" marL="742950" rtl="0" algn="l">
              <a:spcBef>
                <a:spcPts val="400"/>
              </a:spcBef>
              <a:spcAft>
                <a:spcPts val="0"/>
              </a:spcAft>
              <a:buSzPts val="1000"/>
              <a:buChar char="🞇"/>
            </a:pPr>
            <a:r>
              <a:rPr lang="en-US" sz="2000"/>
              <a:t>Local variable reference</a:t>
            </a:r>
            <a:endParaRPr/>
          </a:p>
          <a:p>
            <a:pPr indent="-285750" lvl="1" marL="742950" rtl="0" algn="l">
              <a:spcBef>
                <a:spcPts val="400"/>
              </a:spcBef>
              <a:spcAft>
                <a:spcPts val="0"/>
              </a:spcAft>
              <a:buSzPts val="1000"/>
              <a:buChar char="🞇"/>
            </a:pPr>
            <a:r>
              <a:rPr lang="en-US" sz="2000"/>
              <a:t>Parameter reference</a:t>
            </a:r>
            <a:endParaRPr/>
          </a:p>
          <a:p>
            <a:pPr indent="-285750" lvl="1" marL="742950" rtl="0" algn="l">
              <a:spcBef>
                <a:spcPts val="400"/>
              </a:spcBef>
              <a:spcAft>
                <a:spcPts val="0"/>
              </a:spcAft>
              <a:buSzPts val="1000"/>
              <a:buChar char="🞇"/>
            </a:pPr>
            <a:r>
              <a:rPr lang="en-US" sz="2000"/>
              <a:t>Global reference</a:t>
            </a:r>
            <a:endParaRPr/>
          </a:p>
          <a:p>
            <a:pPr indent="-285750" lvl="1" marL="742950" rtl="0" algn="l">
              <a:spcBef>
                <a:spcPts val="400"/>
              </a:spcBef>
              <a:spcAft>
                <a:spcPts val="0"/>
              </a:spcAft>
              <a:buSzPts val="1000"/>
              <a:buChar char="🞇"/>
            </a:pPr>
            <a:r>
              <a:rPr lang="en-US" sz="2000"/>
              <a:t>Field reference</a:t>
            </a:r>
            <a:endParaRPr/>
          </a:p>
          <a:p>
            <a:pPr indent="-215900" lvl="0" marL="342900" rtl="0" algn="l">
              <a:spcBef>
                <a:spcPts val="400"/>
              </a:spcBef>
              <a:spcAft>
                <a:spcPts val="0"/>
              </a:spcAft>
              <a:buClr>
                <a:srgbClr val="000000"/>
              </a:buClr>
              <a:buSzPts val="2000"/>
              <a:buNone/>
            </a:pPr>
            <a:r>
              <a:t/>
            </a:r>
            <a:endParaRPr sz="2000"/>
          </a:p>
        </p:txBody>
      </p:sp>
      <p:sp>
        <p:nvSpPr>
          <p:cNvPr id="994" name="Google Shape;994;p30"/>
          <p:cNvSpPr txBox="1"/>
          <p:nvPr/>
        </p:nvSpPr>
        <p:spPr>
          <a:xfrm>
            <a:off x="4772025" y="3930647"/>
            <a:ext cx="18669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70C0"/>
                </a:solidFill>
                <a:latin typeface="Arial"/>
                <a:ea typeface="Arial"/>
                <a:cs typeface="Arial"/>
                <a:sym typeface="Arial"/>
              </a:rPr>
              <a:t>Association</a:t>
            </a:r>
            <a:endParaRPr/>
          </a:p>
        </p:txBody>
      </p:sp>
      <p:sp>
        <p:nvSpPr>
          <p:cNvPr id="995" name="Google Shape;995;p30"/>
          <p:cNvSpPr/>
          <p:nvPr/>
        </p:nvSpPr>
        <p:spPr>
          <a:xfrm>
            <a:off x="4552950" y="2755897"/>
            <a:ext cx="188913" cy="1079500"/>
          </a:xfrm>
          <a:prstGeom prst="rightBrace">
            <a:avLst>
              <a:gd fmla="val 47619" name="adj1"/>
              <a:gd fmla="val 50000" name="adj2"/>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70C0"/>
              </a:solidFill>
              <a:latin typeface="Arial"/>
              <a:ea typeface="Arial"/>
              <a:cs typeface="Arial"/>
              <a:sym typeface="Arial"/>
            </a:endParaRPr>
          </a:p>
        </p:txBody>
      </p:sp>
      <p:sp>
        <p:nvSpPr>
          <p:cNvPr id="996" name="Google Shape;996;p30"/>
          <p:cNvSpPr txBox="1"/>
          <p:nvPr/>
        </p:nvSpPr>
        <p:spPr>
          <a:xfrm>
            <a:off x="4772025" y="3121022"/>
            <a:ext cx="17272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2000">
                <a:solidFill>
                  <a:srgbClr val="0070C0"/>
                </a:solidFill>
                <a:latin typeface="Arial"/>
                <a:ea typeface="Arial"/>
                <a:cs typeface="Arial"/>
                <a:sym typeface="Arial"/>
              </a:rPr>
              <a:t>Dependency</a:t>
            </a:r>
            <a:endParaRPr/>
          </a:p>
        </p:txBody>
      </p:sp>
      <p:cxnSp>
        <p:nvCxnSpPr>
          <p:cNvPr id="997" name="Google Shape;997;p30"/>
          <p:cNvCxnSpPr/>
          <p:nvPr/>
        </p:nvCxnSpPr>
        <p:spPr>
          <a:xfrm flipH="1" rot="10800000">
            <a:off x="6388100" y="2835271"/>
            <a:ext cx="1403350" cy="484187"/>
          </a:xfrm>
          <a:prstGeom prst="straightConnector1">
            <a:avLst/>
          </a:prstGeom>
          <a:noFill/>
          <a:ln cap="flat" cmpd="sng" w="12700">
            <a:solidFill>
              <a:schemeClr val="hlink"/>
            </a:solidFill>
            <a:prstDash val="solid"/>
            <a:round/>
            <a:headEnd len="sm" w="sm" type="none"/>
            <a:tailEnd len="lg" w="lg" type="triangle"/>
          </a:ln>
        </p:spPr>
      </p:cxnSp>
      <p:cxnSp>
        <p:nvCxnSpPr>
          <p:cNvPr id="998" name="Google Shape;998;p30"/>
          <p:cNvCxnSpPr/>
          <p:nvPr/>
        </p:nvCxnSpPr>
        <p:spPr>
          <a:xfrm rot="-4506589">
            <a:off x="6901831" y="3473663"/>
            <a:ext cx="247302" cy="1523717"/>
          </a:xfrm>
          <a:prstGeom prst="straightConnector1">
            <a:avLst/>
          </a:prstGeom>
          <a:noFill/>
          <a:ln cap="flat" cmpd="sng" w="12700">
            <a:solidFill>
              <a:schemeClr val="hlink"/>
            </a:solidFill>
            <a:prstDash val="solid"/>
            <a:round/>
            <a:headEnd len="sm" w="sm" type="none"/>
            <a:tailEnd len="lg" w="lg" type="triangle"/>
          </a:ln>
        </p:spPr>
      </p:cxnSp>
      <p:sp>
        <p:nvSpPr>
          <p:cNvPr id="999" name="Google Shape;999;p30"/>
          <p:cNvSpPr/>
          <p:nvPr/>
        </p:nvSpPr>
        <p:spPr>
          <a:xfrm>
            <a:off x="4552950" y="3987797"/>
            <a:ext cx="190500" cy="342900"/>
          </a:xfrm>
          <a:prstGeom prst="rightBrace">
            <a:avLst>
              <a:gd fmla="val 24483" name="adj1"/>
              <a:gd fmla="val 50000" name="adj2"/>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70C0"/>
              </a:solidFill>
              <a:latin typeface="Arial"/>
              <a:ea typeface="Arial"/>
              <a:cs typeface="Arial"/>
              <a:sym typeface="Arial"/>
            </a:endParaRPr>
          </a:p>
        </p:txBody>
      </p:sp>
      <p:grpSp>
        <p:nvGrpSpPr>
          <p:cNvPr id="1000" name="Google Shape;1000;p30"/>
          <p:cNvGrpSpPr/>
          <p:nvPr/>
        </p:nvGrpSpPr>
        <p:grpSpPr>
          <a:xfrm>
            <a:off x="7315200" y="1752600"/>
            <a:ext cx="1228725" cy="782639"/>
            <a:chOff x="4504" y="1432"/>
            <a:chExt cx="1006" cy="493"/>
          </a:xfrm>
        </p:grpSpPr>
        <p:sp>
          <p:nvSpPr>
            <p:cNvPr id="1001" name="Google Shape;1001;p30"/>
            <p:cNvSpPr/>
            <p:nvPr/>
          </p:nvSpPr>
          <p:spPr>
            <a:xfrm>
              <a:off x="4504" y="1432"/>
              <a:ext cx="1006" cy="49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02" name="Google Shape;1002;p30"/>
            <p:cNvCxnSpPr/>
            <p:nvPr/>
          </p:nvCxnSpPr>
          <p:spPr>
            <a:xfrm>
              <a:off x="4504" y="1790"/>
              <a:ext cx="1006" cy="0"/>
            </a:xfrm>
            <a:prstGeom prst="straightConnector1">
              <a:avLst/>
            </a:prstGeom>
            <a:noFill/>
            <a:ln cap="flat" cmpd="sng" w="12700">
              <a:solidFill>
                <a:srgbClr val="8A0E5E"/>
              </a:solidFill>
              <a:prstDash val="solid"/>
              <a:round/>
              <a:headEnd len="sm" w="sm" type="none"/>
              <a:tailEnd len="sm" w="sm" type="none"/>
            </a:ln>
          </p:spPr>
        </p:cxnSp>
        <p:cxnSp>
          <p:nvCxnSpPr>
            <p:cNvPr id="1003" name="Google Shape;1003;p30"/>
            <p:cNvCxnSpPr/>
            <p:nvPr/>
          </p:nvCxnSpPr>
          <p:spPr>
            <a:xfrm>
              <a:off x="4504" y="1704"/>
              <a:ext cx="1006" cy="0"/>
            </a:xfrm>
            <a:prstGeom prst="straightConnector1">
              <a:avLst/>
            </a:prstGeom>
            <a:noFill/>
            <a:ln cap="flat" cmpd="sng" w="12700">
              <a:solidFill>
                <a:srgbClr val="8A0E5E"/>
              </a:solidFill>
              <a:prstDash val="solid"/>
              <a:round/>
              <a:headEnd len="sm" w="sm" type="none"/>
              <a:tailEnd len="sm" w="sm" type="none"/>
            </a:ln>
          </p:spPr>
        </p:cxnSp>
      </p:grpSp>
      <p:sp>
        <p:nvSpPr>
          <p:cNvPr id="1004" name="Google Shape;1004;p30"/>
          <p:cNvSpPr txBox="1"/>
          <p:nvPr/>
        </p:nvSpPr>
        <p:spPr>
          <a:xfrm>
            <a:off x="7457331" y="1814510"/>
            <a:ext cx="974627" cy="276999"/>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Supplier2</a:t>
            </a:r>
            <a:endParaRPr/>
          </a:p>
        </p:txBody>
      </p:sp>
      <p:grpSp>
        <p:nvGrpSpPr>
          <p:cNvPr id="1005" name="Google Shape;1005;p30"/>
          <p:cNvGrpSpPr/>
          <p:nvPr/>
        </p:nvGrpSpPr>
        <p:grpSpPr>
          <a:xfrm>
            <a:off x="7315200" y="3232151"/>
            <a:ext cx="1228725" cy="782639"/>
            <a:chOff x="4504" y="2364"/>
            <a:chExt cx="1006" cy="493"/>
          </a:xfrm>
        </p:grpSpPr>
        <p:sp>
          <p:nvSpPr>
            <p:cNvPr id="1006" name="Google Shape;1006;p30"/>
            <p:cNvSpPr/>
            <p:nvPr/>
          </p:nvSpPr>
          <p:spPr>
            <a:xfrm>
              <a:off x="4504" y="2364"/>
              <a:ext cx="1006" cy="49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07" name="Google Shape;1007;p30"/>
            <p:cNvCxnSpPr/>
            <p:nvPr/>
          </p:nvCxnSpPr>
          <p:spPr>
            <a:xfrm>
              <a:off x="4504" y="2722"/>
              <a:ext cx="1006" cy="0"/>
            </a:xfrm>
            <a:prstGeom prst="straightConnector1">
              <a:avLst/>
            </a:prstGeom>
            <a:noFill/>
            <a:ln cap="flat" cmpd="sng" w="12700">
              <a:solidFill>
                <a:srgbClr val="8A0E5E"/>
              </a:solidFill>
              <a:prstDash val="solid"/>
              <a:round/>
              <a:headEnd len="sm" w="sm" type="none"/>
              <a:tailEnd len="sm" w="sm" type="none"/>
            </a:ln>
          </p:spPr>
        </p:cxnSp>
        <p:cxnSp>
          <p:nvCxnSpPr>
            <p:cNvPr id="1008" name="Google Shape;1008;p30"/>
            <p:cNvCxnSpPr/>
            <p:nvPr/>
          </p:nvCxnSpPr>
          <p:spPr>
            <a:xfrm>
              <a:off x="4504" y="2644"/>
              <a:ext cx="1006" cy="0"/>
            </a:xfrm>
            <a:prstGeom prst="straightConnector1">
              <a:avLst/>
            </a:prstGeom>
            <a:noFill/>
            <a:ln cap="flat" cmpd="sng" w="12700">
              <a:solidFill>
                <a:srgbClr val="8A0E5E"/>
              </a:solidFill>
              <a:prstDash val="solid"/>
              <a:round/>
              <a:headEnd len="sm" w="sm" type="none"/>
              <a:tailEnd len="sm" w="sm" type="none"/>
            </a:ln>
          </p:spPr>
        </p:cxnSp>
      </p:grpSp>
      <p:sp>
        <p:nvSpPr>
          <p:cNvPr id="1009" name="Google Shape;1009;p30"/>
          <p:cNvSpPr txBox="1"/>
          <p:nvPr/>
        </p:nvSpPr>
        <p:spPr>
          <a:xfrm>
            <a:off x="7656835" y="3294060"/>
            <a:ext cx="589906" cy="276999"/>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Client</a:t>
            </a:r>
            <a:endParaRPr/>
          </a:p>
        </p:txBody>
      </p:sp>
      <p:cxnSp>
        <p:nvCxnSpPr>
          <p:cNvPr id="1010" name="Google Shape;1010;p30"/>
          <p:cNvCxnSpPr/>
          <p:nvPr/>
        </p:nvCxnSpPr>
        <p:spPr>
          <a:xfrm rot="-5400000">
            <a:off x="7588250" y="2897185"/>
            <a:ext cx="679450" cy="0"/>
          </a:xfrm>
          <a:prstGeom prst="straightConnector1">
            <a:avLst/>
          </a:prstGeom>
          <a:noFill/>
          <a:ln cap="flat" cmpd="sng" w="12700">
            <a:solidFill>
              <a:schemeClr val="dk1"/>
            </a:solidFill>
            <a:prstDash val="dash"/>
            <a:round/>
            <a:headEnd len="sm" w="sm" type="none"/>
            <a:tailEnd len="lg" w="lg" type="stealth"/>
          </a:ln>
        </p:spPr>
      </p:cxnSp>
      <p:grpSp>
        <p:nvGrpSpPr>
          <p:cNvPr id="1011" name="Google Shape;1011;p30"/>
          <p:cNvGrpSpPr/>
          <p:nvPr/>
        </p:nvGrpSpPr>
        <p:grpSpPr>
          <a:xfrm>
            <a:off x="7315200" y="4724404"/>
            <a:ext cx="1228725" cy="782639"/>
            <a:chOff x="4504" y="3296"/>
            <a:chExt cx="1006" cy="493"/>
          </a:xfrm>
        </p:grpSpPr>
        <p:sp>
          <p:nvSpPr>
            <p:cNvPr id="1012" name="Google Shape;1012;p30"/>
            <p:cNvSpPr/>
            <p:nvPr/>
          </p:nvSpPr>
          <p:spPr>
            <a:xfrm>
              <a:off x="4504" y="3296"/>
              <a:ext cx="1006" cy="49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13" name="Google Shape;1013;p30"/>
            <p:cNvCxnSpPr/>
            <p:nvPr/>
          </p:nvCxnSpPr>
          <p:spPr>
            <a:xfrm>
              <a:off x="4504" y="3654"/>
              <a:ext cx="1006" cy="0"/>
            </a:xfrm>
            <a:prstGeom prst="straightConnector1">
              <a:avLst/>
            </a:prstGeom>
            <a:noFill/>
            <a:ln cap="flat" cmpd="sng" w="12700">
              <a:solidFill>
                <a:srgbClr val="8A0E5E"/>
              </a:solidFill>
              <a:prstDash val="solid"/>
              <a:round/>
              <a:headEnd len="sm" w="sm" type="none"/>
              <a:tailEnd len="sm" w="sm" type="none"/>
            </a:ln>
          </p:spPr>
        </p:cxnSp>
        <p:cxnSp>
          <p:nvCxnSpPr>
            <p:cNvPr id="1014" name="Google Shape;1014;p30"/>
            <p:cNvCxnSpPr/>
            <p:nvPr/>
          </p:nvCxnSpPr>
          <p:spPr>
            <a:xfrm>
              <a:off x="4504" y="3568"/>
              <a:ext cx="1006" cy="0"/>
            </a:xfrm>
            <a:prstGeom prst="straightConnector1">
              <a:avLst/>
            </a:prstGeom>
            <a:noFill/>
            <a:ln cap="flat" cmpd="sng" w="12700">
              <a:solidFill>
                <a:srgbClr val="8A0E5E"/>
              </a:solidFill>
              <a:prstDash val="solid"/>
              <a:round/>
              <a:headEnd len="sm" w="sm" type="none"/>
              <a:tailEnd len="sm" w="sm" type="none"/>
            </a:ln>
          </p:spPr>
        </p:cxnSp>
      </p:grpSp>
      <p:sp>
        <p:nvSpPr>
          <p:cNvPr id="1015" name="Google Shape;1015;p30"/>
          <p:cNvSpPr txBox="1"/>
          <p:nvPr/>
        </p:nvSpPr>
        <p:spPr>
          <a:xfrm>
            <a:off x="7457331" y="4786310"/>
            <a:ext cx="974627" cy="276999"/>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800">
                <a:solidFill>
                  <a:srgbClr val="000000"/>
                </a:solidFill>
                <a:latin typeface="Arial"/>
                <a:ea typeface="Arial"/>
                <a:cs typeface="Arial"/>
                <a:sym typeface="Arial"/>
              </a:rPr>
              <a:t>Supplier1</a:t>
            </a:r>
            <a:endParaRPr/>
          </a:p>
        </p:txBody>
      </p:sp>
      <p:cxnSp>
        <p:nvCxnSpPr>
          <p:cNvPr id="1016" name="Google Shape;1016;p30"/>
          <p:cNvCxnSpPr/>
          <p:nvPr/>
        </p:nvCxnSpPr>
        <p:spPr>
          <a:xfrm rot="5400000">
            <a:off x="7588250" y="4370385"/>
            <a:ext cx="679450" cy="0"/>
          </a:xfrm>
          <a:prstGeom prst="straightConnector1">
            <a:avLst/>
          </a:prstGeom>
          <a:noFill/>
          <a:ln cap="flat" cmpd="sng" w="12700">
            <a:solidFill>
              <a:schemeClr val="dk1"/>
            </a:solidFill>
            <a:prstDash val="solid"/>
            <a:round/>
            <a:headEnd len="sm" w="sm" type="none"/>
            <a:tailEnd len="lg" w="lg" type="stealth"/>
          </a:ln>
        </p:spPr>
      </p:cxnSp>
      <p:sp>
        <p:nvSpPr>
          <p:cNvPr id="1017" name="Google Shape;1017;p30"/>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2" name="Shape 1022"/>
        <p:cNvGrpSpPr/>
        <p:nvPr/>
      </p:nvGrpSpPr>
      <p:grpSpPr>
        <a:xfrm>
          <a:off x="0" y="0"/>
          <a:ext cx="0" cy="0"/>
          <a:chOff x="0" y="0"/>
          <a:chExt cx="0" cy="0"/>
        </a:xfrm>
      </p:grpSpPr>
      <p:sp>
        <p:nvSpPr>
          <p:cNvPr id="1023" name="Google Shape;1023;p31"/>
          <p:cNvSpPr txBox="1"/>
          <p:nvPr>
            <p:ph type="title"/>
          </p:nvPr>
        </p:nvSpPr>
        <p:spPr>
          <a:xfrm>
            <a:off x="1143000" y="206375"/>
            <a:ext cx="83058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Associations vs. Dependencies in Collaborations</a:t>
            </a:r>
            <a:endParaRPr/>
          </a:p>
        </p:txBody>
      </p:sp>
      <p:sp>
        <p:nvSpPr>
          <p:cNvPr id="1024" name="Google Shape;1024;p31"/>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An instance of an association is a link</a:t>
            </a:r>
            <a:endParaRPr/>
          </a:p>
          <a:p>
            <a:pPr indent="-285750" lvl="1" marL="742950" rtl="0" algn="l">
              <a:spcBef>
                <a:spcPts val="400"/>
              </a:spcBef>
              <a:spcAft>
                <a:spcPts val="0"/>
              </a:spcAft>
              <a:buSzPts val="1000"/>
              <a:buChar char="🞇"/>
            </a:pPr>
            <a:r>
              <a:rPr lang="en-US" sz="2000"/>
              <a:t>All links become associations unless they have global, local, or parameter visibility</a:t>
            </a:r>
            <a:endParaRPr/>
          </a:p>
          <a:p>
            <a:pPr indent="-285750" lvl="1" marL="742950" rtl="0" algn="l">
              <a:spcBef>
                <a:spcPts val="400"/>
              </a:spcBef>
              <a:spcAft>
                <a:spcPts val="0"/>
              </a:spcAft>
              <a:buSzPts val="1000"/>
              <a:buChar char="🞇"/>
            </a:pPr>
            <a:r>
              <a:rPr lang="en-US" sz="2000"/>
              <a:t>Relationships are context-dependent</a:t>
            </a:r>
            <a:endParaRPr/>
          </a:p>
          <a:p>
            <a:pPr indent="-342900" lvl="0" marL="342900" rtl="0" algn="l">
              <a:spcBef>
                <a:spcPts val="400"/>
              </a:spcBef>
              <a:spcAft>
                <a:spcPts val="0"/>
              </a:spcAft>
              <a:buClr>
                <a:srgbClr val="000000"/>
              </a:buClr>
              <a:buSzPts val="2000"/>
              <a:buChar char="❖"/>
            </a:pPr>
            <a:r>
              <a:rPr lang="en-US" sz="2000"/>
              <a:t>Dependencies are transient links with:</a:t>
            </a:r>
            <a:endParaRPr/>
          </a:p>
          <a:p>
            <a:pPr indent="-285750" lvl="1" marL="742950" rtl="0" algn="l">
              <a:spcBef>
                <a:spcPts val="400"/>
              </a:spcBef>
              <a:spcAft>
                <a:spcPts val="0"/>
              </a:spcAft>
              <a:buSzPts val="1000"/>
              <a:buChar char="🞇"/>
            </a:pPr>
            <a:r>
              <a:rPr lang="en-US" sz="2000"/>
              <a:t>A limited duration</a:t>
            </a:r>
            <a:endParaRPr/>
          </a:p>
          <a:p>
            <a:pPr indent="-285750" lvl="1" marL="742950" rtl="0" algn="l">
              <a:spcBef>
                <a:spcPts val="400"/>
              </a:spcBef>
              <a:spcAft>
                <a:spcPts val="0"/>
              </a:spcAft>
              <a:buSzPts val="1000"/>
              <a:buChar char="🞇"/>
            </a:pPr>
            <a:r>
              <a:rPr lang="en-US" sz="2000"/>
              <a:t>A context-independent relationship</a:t>
            </a:r>
            <a:endParaRPr/>
          </a:p>
          <a:p>
            <a:pPr indent="-285750" lvl="1" marL="742950" rtl="0" algn="l">
              <a:spcBef>
                <a:spcPts val="400"/>
              </a:spcBef>
              <a:spcAft>
                <a:spcPts val="0"/>
              </a:spcAft>
              <a:buSzPts val="1000"/>
              <a:buChar char="🞇"/>
            </a:pPr>
            <a:r>
              <a:rPr lang="en-US" sz="2000"/>
              <a:t>A summary relationship</a:t>
            </a:r>
            <a:endParaRPr/>
          </a:p>
          <a:p>
            <a:pPr indent="-342900" lvl="0" marL="342900" rtl="0" algn="l">
              <a:spcBef>
                <a:spcPts val="400"/>
              </a:spcBef>
              <a:spcAft>
                <a:spcPts val="0"/>
              </a:spcAft>
              <a:buClr>
                <a:srgbClr val="000000"/>
              </a:buClr>
              <a:buSzPts val="2000"/>
              <a:buFont typeface="Noto Sans Symbols"/>
              <a:buNone/>
            </a:pPr>
            <a:r>
              <a:t/>
            </a:r>
            <a:endParaRPr sz="2000"/>
          </a:p>
          <a:p>
            <a:pPr indent="-215900" lvl="0" marL="342900" rtl="0" algn="l">
              <a:spcBef>
                <a:spcPts val="400"/>
              </a:spcBef>
              <a:spcAft>
                <a:spcPts val="0"/>
              </a:spcAft>
              <a:buClr>
                <a:srgbClr val="000000"/>
              </a:buClr>
              <a:buSzPts val="2000"/>
              <a:buNone/>
            </a:pPr>
            <a:r>
              <a:t/>
            </a:r>
            <a:endParaRPr sz="2000"/>
          </a:p>
        </p:txBody>
      </p:sp>
      <p:sp>
        <p:nvSpPr>
          <p:cNvPr id="1025" name="Google Shape;1025;p31"/>
          <p:cNvSpPr txBox="1"/>
          <p:nvPr/>
        </p:nvSpPr>
        <p:spPr>
          <a:xfrm>
            <a:off x="609600" y="5281613"/>
            <a:ext cx="7980363" cy="1022350"/>
          </a:xfrm>
          <a:prstGeom prst="rect">
            <a:avLst/>
          </a:prstGeom>
          <a:noFill/>
          <a:ln>
            <a:noFill/>
          </a:ln>
        </p:spPr>
        <p:txBody>
          <a:bodyPr anchorCtr="0" anchor="t" bIns="53975" lIns="107950" spcFirstLastPara="1" rIns="107950" wrap="square" tIns="53975">
            <a:spAutoFit/>
          </a:bodyPr>
          <a:lstStyle/>
          <a:p>
            <a:pPr indent="0" lvl="0" marL="0" marR="0" rtl="0" algn="just">
              <a:spcBef>
                <a:spcPts val="0"/>
              </a:spcBef>
              <a:spcAft>
                <a:spcPts val="0"/>
              </a:spcAft>
              <a:buNone/>
            </a:pPr>
            <a:r>
              <a:rPr lang="en-US" sz="2000">
                <a:solidFill>
                  <a:srgbClr val="0070C0"/>
                </a:solidFill>
                <a:latin typeface="Arial"/>
                <a:ea typeface="Arial"/>
                <a:cs typeface="Arial"/>
                <a:sym typeface="Arial"/>
              </a:rPr>
              <a:t>A dependency is a secondary type of relationship in that it doesn't tell</a:t>
            </a:r>
            <a:endParaRPr/>
          </a:p>
          <a:p>
            <a:pPr indent="0" lvl="0" marL="0" marR="0" rtl="0" algn="just">
              <a:spcBef>
                <a:spcPts val="0"/>
              </a:spcBef>
              <a:spcAft>
                <a:spcPts val="0"/>
              </a:spcAft>
              <a:buNone/>
            </a:pPr>
            <a:r>
              <a:rPr lang="en-US" sz="2000">
                <a:solidFill>
                  <a:srgbClr val="0070C0"/>
                </a:solidFill>
                <a:latin typeface="Arial"/>
                <a:ea typeface="Arial"/>
                <a:cs typeface="Arial"/>
                <a:sym typeface="Arial"/>
              </a:rPr>
              <a:t>you much about the relationship. For details you need to consult the</a:t>
            </a:r>
            <a:endParaRPr/>
          </a:p>
          <a:p>
            <a:pPr indent="0" lvl="0" marL="0" marR="0" rtl="0" algn="just">
              <a:spcBef>
                <a:spcPts val="0"/>
              </a:spcBef>
              <a:spcAft>
                <a:spcPts val="0"/>
              </a:spcAft>
              <a:buNone/>
            </a:pPr>
            <a:r>
              <a:rPr lang="en-US" sz="2000">
                <a:solidFill>
                  <a:srgbClr val="0070C0"/>
                </a:solidFill>
                <a:latin typeface="Arial"/>
                <a:ea typeface="Arial"/>
                <a:cs typeface="Arial"/>
                <a:sym typeface="Arial"/>
              </a:rPr>
              <a:t>collaborations.</a:t>
            </a:r>
            <a:endParaRPr/>
          </a:p>
        </p:txBody>
      </p:sp>
      <p:sp>
        <p:nvSpPr>
          <p:cNvPr id="1026" name="Google Shape;1026;p31"/>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p32"/>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Local Variable Visibility</a:t>
            </a:r>
            <a:endParaRPr/>
          </a:p>
        </p:txBody>
      </p:sp>
      <p:sp>
        <p:nvSpPr>
          <p:cNvPr id="1033" name="Google Shape;1033;p32"/>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op1() operation contains a local variable of type ClassB</a:t>
            </a:r>
            <a:endParaRPr sz="2000"/>
          </a:p>
        </p:txBody>
      </p:sp>
      <p:sp>
        <p:nvSpPr>
          <p:cNvPr id="1034" name="Google Shape;1034;p32"/>
          <p:cNvSpPr/>
          <p:nvPr/>
        </p:nvSpPr>
        <p:spPr>
          <a:xfrm>
            <a:off x="3924300" y="2794000"/>
            <a:ext cx="1228725" cy="84931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35" name="Google Shape;1035;p32"/>
          <p:cNvCxnSpPr/>
          <p:nvPr/>
        </p:nvCxnSpPr>
        <p:spPr>
          <a:xfrm>
            <a:off x="3924300" y="3362325"/>
            <a:ext cx="1228725" cy="0"/>
          </a:xfrm>
          <a:prstGeom prst="straightConnector1">
            <a:avLst/>
          </a:prstGeom>
          <a:noFill/>
          <a:ln cap="flat" cmpd="sng" w="12700">
            <a:solidFill>
              <a:srgbClr val="8A0E5E"/>
            </a:solidFill>
            <a:prstDash val="solid"/>
            <a:round/>
            <a:headEnd len="sm" w="sm" type="none"/>
            <a:tailEnd len="sm" w="sm" type="none"/>
          </a:ln>
        </p:spPr>
      </p:cxnSp>
      <p:cxnSp>
        <p:nvCxnSpPr>
          <p:cNvPr id="1036" name="Google Shape;1036;p32"/>
          <p:cNvCxnSpPr/>
          <p:nvPr/>
        </p:nvCxnSpPr>
        <p:spPr>
          <a:xfrm>
            <a:off x="3924300" y="3225800"/>
            <a:ext cx="1228725" cy="0"/>
          </a:xfrm>
          <a:prstGeom prst="straightConnector1">
            <a:avLst/>
          </a:prstGeom>
          <a:noFill/>
          <a:ln cap="flat" cmpd="sng" w="12700">
            <a:solidFill>
              <a:srgbClr val="8A0E5E"/>
            </a:solidFill>
            <a:prstDash val="solid"/>
            <a:round/>
            <a:headEnd len="sm" w="sm" type="none"/>
            <a:tailEnd len="sm" w="sm" type="none"/>
          </a:ln>
        </p:spPr>
      </p:cxnSp>
      <p:sp>
        <p:nvSpPr>
          <p:cNvPr id="1037" name="Google Shape;1037;p32"/>
          <p:cNvSpPr txBox="1"/>
          <p:nvPr/>
        </p:nvSpPr>
        <p:spPr>
          <a:xfrm>
            <a:off x="4230732" y="2874963"/>
            <a:ext cx="647613"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ClassA</a:t>
            </a:r>
            <a:endParaRPr sz="1600">
              <a:solidFill>
                <a:srgbClr val="000000"/>
              </a:solidFill>
              <a:latin typeface="Arial"/>
              <a:ea typeface="Arial"/>
              <a:cs typeface="Arial"/>
              <a:sym typeface="Arial"/>
            </a:endParaRPr>
          </a:p>
        </p:txBody>
      </p:sp>
      <p:sp>
        <p:nvSpPr>
          <p:cNvPr id="1038" name="Google Shape;1038;p32"/>
          <p:cNvSpPr/>
          <p:nvPr/>
        </p:nvSpPr>
        <p:spPr>
          <a:xfrm>
            <a:off x="3870325" y="3341688"/>
            <a:ext cx="8620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op1 ( )</a:t>
            </a:r>
            <a:endParaRPr/>
          </a:p>
        </p:txBody>
      </p:sp>
      <p:sp>
        <p:nvSpPr>
          <p:cNvPr id="1039" name="Google Shape;1039;p32"/>
          <p:cNvSpPr/>
          <p:nvPr/>
        </p:nvSpPr>
        <p:spPr>
          <a:xfrm>
            <a:off x="3924300" y="4975225"/>
            <a:ext cx="1228725" cy="71596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40" name="Google Shape;1040;p32"/>
          <p:cNvCxnSpPr/>
          <p:nvPr/>
        </p:nvCxnSpPr>
        <p:spPr>
          <a:xfrm>
            <a:off x="3924300" y="5543550"/>
            <a:ext cx="1228725" cy="0"/>
          </a:xfrm>
          <a:prstGeom prst="straightConnector1">
            <a:avLst/>
          </a:prstGeom>
          <a:noFill/>
          <a:ln cap="flat" cmpd="sng" w="12700">
            <a:solidFill>
              <a:srgbClr val="8A0E5E"/>
            </a:solidFill>
            <a:prstDash val="solid"/>
            <a:round/>
            <a:headEnd len="sm" w="sm" type="none"/>
            <a:tailEnd len="sm" w="sm" type="none"/>
          </a:ln>
        </p:spPr>
      </p:cxnSp>
      <p:cxnSp>
        <p:nvCxnSpPr>
          <p:cNvPr id="1041" name="Google Shape;1041;p32"/>
          <p:cNvCxnSpPr/>
          <p:nvPr/>
        </p:nvCxnSpPr>
        <p:spPr>
          <a:xfrm>
            <a:off x="3924300" y="5407025"/>
            <a:ext cx="1228725" cy="0"/>
          </a:xfrm>
          <a:prstGeom prst="straightConnector1">
            <a:avLst/>
          </a:prstGeom>
          <a:noFill/>
          <a:ln cap="flat" cmpd="sng" w="12700">
            <a:solidFill>
              <a:srgbClr val="8A0E5E"/>
            </a:solidFill>
            <a:prstDash val="solid"/>
            <a:round/>
            <a:headEnd len="sm" w="sm" type="none"/>
            <a:tailEnd len="sm" w="sm" type="none"/>
          </a:ln>
        </p:spPr>
      </p:cxnSp>
      <p:sp>
        <p:nvSpPr>
          <p:cNvPr id="1042" name="Google Shape;1042;p32"/>
          <p:cNvSpPr txBox="1"/>
          <p:nvPr/>
        </p:nvSpPr>
        <p:spPr>
          <a:xfrm>
            <a:off x="4230732" y="5056188"/>
            <a:ext cx="647613"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ClassB</a:t>
            </a:r>
            <a:endParaRPr sz="1600">
              <a:solidFill>
                <a:srgbClr val="000000"/>
              </a:solidFill>
              <a:latin typeface="Arial"/>
              <a:ea typeface="Arial"/>
              <a:cs typeface="Arial"/>
              <a:sym typeface="Arial"/>
            </a:endParaRPr>
          </a:p>
        </p:txBody>
      </p:sp>
      <p:cxnSp>
        <p:nvCxnSpPr>
          <p:cNvPr id="1043" name="Google Shape;1043;p32"/>
          <p:cNvCxnSpPr/>
          <p:nvPr/>
        </p:nvCxnSpPr>
        <p:spPr>
          <a:xfrm>
            <a:off x="4543425" y="3657600"/>
            <a:ext cx="0" cy="1304925"/>
          </a:xfrm>
          <a:prstGeom prst="straightConnector1">
            <a:avLst/>
          </a:prstGeom>
          <a:noFill/>
          <a:ln cap="flat" cmpd="sng" w="12700">
            <a:solidFill>
              <a:schemeClr val="dk1"/>
            </a:solidFill>
            <a:prstDash val="dash"/>
            <a:round/>
            <a:headEnd len="med" w="med" type="none"/>
            <a:tailEnd len="lg" w="lg" type="stealth"/>
          </a:ln>
        </p:spPr>
      </p:cxnSp>
      <p:sp>
        <p:nvSpPr>
          <p:cNvPr id="1044" name="Google Shape;1044;p32"/>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8" name="Shape 1048"/>
        <p:cNvGrpSpPr/>
        <p:nvPr/>
      </p:nvGrpSpPr>
      <p:grpSpPr>
        <a:xfrm>
          <a:off x="0" y="0"/>
          <a:ext cx="0" cy="0"/>
          <a:chOff x="0" y="0"/>
          <a:chExt cx="0" cy="0"/>
        </a:xfrm>
      </p:grpSpPr>
      <p:sp>
        <p:nvSpPr>
          <p:cNvPr id="1049" name="Google Shape;1049;p33"/>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Parameter Visibility</a:t>
            </a:r>
            <a:endParaRPr/>
          </a:p>
        </p:txBody>
      </p:sp>
      <p:sp>
        <p:nvSpPr>
          <p:cNvPr id="1050" name="Google Shape;1050;p33"/>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ClassB instance is passed to the ClassA instance</a:t>
            </a:r>
            <a:endParaRPr/>
          </a:p>
        </p:txBody>
      </p:sp>
      <p:sp>
        <p:nvSpPr>
          <p:cNvPr id="1051" name="Google Shape;1051;p33"/>
          <p:cNvSpPr/>
          <p:nvPr/>
        </p:nvSpPr>
        <p:spPr>
          <a:xfrm>
            <a:off x="3330575" y="2794000"/>
            <a:ext cx="2447925" cy="84931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2" name="Google Shape;1052;p33"/>
          <p:cNvCxnSpPr/>
          <p:nvPr/>
        </p:nvCxnSpPr>
        <p:spPr>
          <a:xfrm>
            <a:off x="3336925" y="3362325"/>
            <a:ext cx="2435225" cy="0"/>
          </a:xfrm>
          <a:prstGeom prst="straightConnector1">
            <a:avLst/>
          </a:prstGeom>
          <a:noFill/>
          <a:ln cap="flat" cmpd="sng" w="12700">
            <a:solidFill>
              <a:srgbClr val="8A0E5E"/>
            </a:solidFill>
            <a:prstDash val="solid"/>
            <a:round/>
            <a:headEnd len="sm" w="sm" type="none"/>
            <a:tailEnd len="sm" w="sm" type="none"/>
          </a:ln>
        </p:spPr>
      </p:cxnSp>
      <p:cxnSp>
        <p:nvCxnSpPr>
          <p:cNvPr id="1053" name="Google Shape;1053;p33"/>
          <p:cNvCxnSpPr/>
          <p:nvPr/>
        </p:nvCxnSpPr>
        <p:spPr>
          <a:xfrm>
            <a:off x="3330575" y="3225800"/>
            <a:ext cx="2441575" cy="0"/>
          </a:xfrm>
          <a:prstGeom prst="straightConnector1">
            <a:avLst/>
          </a:prstGeom>
          <a:noFill/>
          <a:ln cap="flat" cmpd="sng" w="12700">
            <a:solidFill>
              <a:srgbClr val="8A0E5E"/>
            </a:solidFill>
            <a:prstDash val="solid"/>
            <a:round/>
            <a:headEnd len="sm" w="sm" type="none"/>
            <a:tailEnd len="sm" w="sm" type="none"/>
          </a:ln>
        </p:spPr>
      </p:cxnSp>
      <p:sp>
        <p:nvSpPr>
          <p:cNvPr id="1054" name="Google Shape;1054;p33"/>
          <p:cNvSpPr txBox="1"/>
          <p:nvPr/>
        </p:nvSpPr>
        <p:spPr>
          <a:xfrm>
            <a:off x="4256132" y="2874963"/>
            <a:ext cx="647613"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ClassA</a:t>
            </a:r>
            <a:endParaRPr/>
          </a:p>
        </p:txBody>
      </p:sp>
      <p:sp>
        <p:nvSpPr>
          <p:cNvPr id="1055" name="Google Shape;1055;p33"/>
          <p:cNvSpPr/>
          <p:nvPr/>
        </p:nvSpPr>
        <p:spPr>
          <a:xfrm>
            <a:off x="3295650" y="3341688"/>
            <a:ext cx="25384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op1 ( [in] aParam : ClassB )</a:t>
            </a:r>
            <a:endParaRPr/>
          </a:p>
        </p:txBody>
      </p:sp>
      <p:grpSp>
        <p:nvGrpSpPr>
          <p:cNvPr id="1056" name="Google Shape;1056;p33"/>
          <p:cNvGrpSpPr/>
          <p:nvPr/>
        </p:nvGrpSpPr>
        <p:grpSpPr>
          <a:xfrm>
            <a:off x="3327400" y="4975225"/>
            <a:ext cx="2451100" cy="715963"/>
            <a:chOff x="1128" y="3134"/>
            <a:chExt cx="774" cy="451"/>
          </a:xfrm>
        </p:grpSpPr>
        <p:sp>
          <p:nvSpPr>
            <p:cNvPr id="1057" name="Google Shape;1057;p33"/>
            <p:cNvSpPr/>
            <p:nvPr/>
          </p:nvSpPr>
          <p:spPr>
            <a:xfrm>
              <a:off x="1128" y="3134"/>
              <a:ext cx="774" cy="451"/>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58" name="Google Shape;1058;p33"/>
            <p:cNvCxnSpPr/>
            <p:nvPr/>
          </p:nvCxnSpPr>
          <p:spPr>
            <a:xfrm>
              <a:off x="1128" y="3492"/>
              <a:ext cx="774" cy="0"/>
            </a:xfrm>
            <a:prstGeom prst="straightConnector1">
              <a:avLst/>
            </a:prstGeom>
            <a:noFill/>
            <a:ln cap="flat" cmpd="sng" w="12700">
              <a:solidFill>
                <a:srgbClr val="8A0E5E"/>
              </a:solidFill>
              <a:prstDash val="solid"/>
              <a:round/>
              <a:headEnd len="sm" w="sm" type="none"/>
              <a:tailEnd len="sm" w="sm" type="none"/>
            </a:ln>
          </p:spPr>
        </p:cxnSp>
        <p:cxnSp>
          <p:nvCxnSpPr>
            <p:cNvPr id="1059" name="Google Shape;1059;p33"/>
            <p:cNvCxnSpPr/>
            <p:nvPr/>
          </p:nvCxnSpPr>
          <p:spPr>
            <a:xfrm>
              <a:off x="1128" y="3406"/>
              <a:ext cx="774" cy="0"/>
            </a:xfrm>
            <a:prstGeom prst="straightConnector1">
              <a:avLst/>
            </a:prstGeom>
            <a:noFill/>
            <a:ln cap="flat" cmpd="sng" w="12700">
              <a:solidFill>
                <a:srgbClr val="8A0E5E"/>
              </a:solidFill>
              <a:prstDash val="solid"/>
              <a:round/>
              <a:headEnd len="sm" w="sm" type="none"/>
              <a:tailEnd len="sm" w="sm" type="none"/>
            </a:ln>
          </p:spPr>
        </p:cxnSp>
      </p:grpSp>
      <p:sp>
        <p:nvSpPr>
          <p:cNvPr id="1060" name="Google Shape;1060;p33"/>
          <p:cNvSpPr txBox="1"/>
          <p:nvPr/>
        </p:nvSpPr>
        <p:spPr>
          <a:xfrm>
            <a:off x="4256132" y="5056188"/>
            <a:ext cx="647613"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ClassB</a:t>
            </a:r>
            <a:endParaRPr/>
          </a:p>
        </p:txBody>
      </p:sp>
      <p:cxnSp>
        <p:nvCxnSpPr>
          <p:cNvPr id="1061" name="Google Shape;1061;p33"/>
          <p:cNvCxnSpPr/>
          <p:nvPr/>
        </p:nvCxnSpPr>
        <p:spPr>
          <a:xfrm>
            <a:off x="4568825" y="3657600"/>
            <a:ext cx="0" cy="1304925"/>
          </a:xfrm>
          <a:prstGeom prst="straightConnector1">
            <a:avLst/>
          </a:prstGeom>
          <a:noFill/>
          <a:ln cap="flat" cmpd="sng" w="12700">
            <a:solidFill>
              <a:schemeClr val="dk1"/>
            </a:solidFill>
            <a:prstDash val="dash"/>
            <a:round/>
            <a:headEnd len="med" w="med" type="none"/>
            <a:tailEnd len="lg" w="lg" type="stealth"/>
          </a:ln>
        </p:spPr>
      </p:cxnSp>
      <p:sp>
        <p:nvSpPr>
          <p:cNvPr id="1062" name="Google Shape;1062;p33"/>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p34"/>
          <p:cNvSpPr/>
          <p:nvPr/>
        </p:nvSpPr>
        <p:spPr>
          <a:xfrm>
            <a:off x="3937000" y="4632325"/>
            <a:ext cx="1228725" cy="84931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8" name="Google Shape;1068;p34"/>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Global Visibility</a:t>
            </a:r>
            <a:endParaRPr/>
          </a:p>
        </p:txBody>
      </p:sp>
      <p:sp>
        <p:nvSpPr>
          <p:cNvPr id="1069" name="Google Shape;1069;p34"/>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00"/>
              </a:buClr>
              <a:buSzPts val="2000"/>
              <a:buChar char="❖"/>
            </a:pPr>
            <a:r>
              <a:rPr lang="en-US" sz="2000"/>
              <a:t>The ClassUtility instance is visible because it is global</a:t>
            </a:r>
            <a:endParaRPr/>
          </a:p>
        </p:txBody>
      </p:sp>
      <p:sp>
        <p:nvSpPr>
          <p:cNvPr id="1070" name="Google Shape;1070;p34"/>
          <p:cNvSpPr/>
          <p:nvPr/>
        </p:nvSpPr>
        <p:spPr>
          <a:xfrm>
            <a:off x="3937000" y="2451100"/>
            <a:ext cx="1228725" cy="849313"/>
          </a:xfrm>
          <a:prstGeom prst="rect">
            <a:avLst/>
          </a:prstGeom>
          <a:solidFill>
            <a:srgbClr val="FFFFCC"/>
          </a:solidFill>
          <a:ln cap="flat" cmpd="sng" w="12700">
            <a:solidFill>
              <a:srgbClr val="8A0E5E"/>
            </a:solidFill>
            <a:prstDash val="solid"/>
            <a:miter lim="800000"/>
            <a:headEnd len="sm" w="sm" type="none"/>
            <a:tailEnd len="sm" w="sm" type="none"/>
          </a:ln>
        </p:spPr>
        <p:txBody>
          <a:bodyPr anchorCtr="0" anchor="ctr" bIns="0" lIns="0" spcFirstLastPara="1" rIns="0" wrap="square" tIns="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cxnSp>
        <p:nvCxnSpPr>
          <p:cNvPr id="1071" name="Google Shape;1071;p34"/>
          <p:cNvCxnSpPr/>
          <p:nvPr/>
        </p:nvCxnSpPr>
        <p:spPr>
          <a:xfrm>
            <a:off x="3937000" y="3019425"/>
            <a:ext cx="1228725" cy="0"/>
          </a:xfrm>
          <a:prstGeom prst="straightConnector1">
            <a:avLst/>
          </a:prstGeom>
          <a:noFill/>
          <a:ln cap="flat" cmpd="sng" w="12700">
            <a:solidFill>
              <a:srgbClr val="8A0E5E"/>
            </a:solidFill>
            <a:prstDash val="solid"/>
            <a:round/>
            <a:headEnd len="sm" w="sm" type="none"/>
            <a:tailEnd len="sm" w="sm" type="none"/>
          </a:ln>
        </p:spPr>
      </p:cxnSp>
      <p:cxnSp>
        <p:nvCxnSpPr>
          <p:cNvPr id="1072" name="Google Shape;1072;p34"/>
          <p:cNvCxnSpPr/>
          <p:nvPr/>
        </p:nvCxnSpPr>
        <p:spPr>
          <a:xfrm>
            <a:off x="3937000" y="2882900"/>
            <a:ext cx="1228725" cy="0"/>
          </a:xfrm>
          <a:prstGeom prst="straightConnector1">
            <a:avLst/>
          </a:prstGeom>
          <a:noFill/>
          <a:ln cap="flat" cmpd="sng" w="12700">
            <a:solidFill>
              <a:srgbClr val="8A0E5E"/>
            </a:solidFill>
            <a:prstDash val="solid"/>
            <a:round/>
            <a:headEnd len="sm" w="sm" type="none"/>
            <a:tailEnd len="sm" w="sm" type="none"/>
          </a:ln>
        </p:spPr>
      </p:cxnSp>
      <p:sp>
        <p:nvSpPr>
          <p:cNvPr id="1073" name="Google Shape;1073;p34"/>
          <p:cNvSpPr txBox="1"/>
          <p:nvPr/>
        </p:nvSpPr>
        <p:spPr>
          <a:xfrm>
            <a:off x="4243432" y="2532063"/>
            <a:ext cx="647613" cy="246221"/>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ClassA</a:t>
            </a:r>
            <a:endParaRPr/>
          </a:p>
        </p:txBody>
      </p:sp>
      <p:sp>
        <p:nvSpPr>
          <p:cNvPr id="1074" name="Google Shape;1074;p34"/>
          <p:cNvSpPr/>
          <p:nvPr/>
        </p:nvSpPr>
        <p:spPr>
          <a:xfrm>
            <a:off x="3883025" y="2998788"/>
            <a:ext cx="8620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op1 ( )</a:t>
            </a:r>
            <a:endParaRPr/>
          </a:p>
        </p:txBody>
      </p:sp>
      <p:cxnSp>
        <p:nvCxnSpPr>
          <p:cNvPr id="1075" name="Google Shape;1075;p34"/>
          <p:cNvCxnSpPr/>
          <p:nvPr/>
        </p:nvCxnSpPr>
        <p:spPr>
          <a:xfrm>
            <a:off x="3937000" y="5200650"/>
            <a:ext cx="1228725" cy="0"/>
          </a:xfrm>
          <a:prstGeom prst="straightConnector1">
            <a:avLst/>
          </a:prstGeom>
          <a:noFill/>
          <a:ln cap="flat" cmpd="sng" w="12700">
            <a:solidFill>
              <a:srgbClr val="8A0E5E"/>
            </a:solidFill>
            <a:prstDash val="solid"/>
            <a:round/>
            <a:headEnd len="sm" w="sm" type="none"/>
            <a:tailEnd len="sm" w="sm" type="none"/>
          </a:ln>
        </p:spPr>
      </p:cxnSp>
      <p:cxnSp>
        <p:nvCxnSpPr>
          <p:cNvPr id="1076" name="Google Shape;1076;p34"/>
          <p:cNvCxnSpPr/>
          <p:nvPr/>
        </p:nvCxnSpPr>
        <p:spPr>
          <a:xfrm>
            <a:off x="3937000" y="5064125"/>
            <a:ext cx="1228725" cy="0"/>
          </a:xfrm>
          <a:prstGeom prst="straightConnector1">
            <a:avLst/>
          </a:prstGeom>
          <a:noFill/>
          <a:ln cap="flat" cmpd="sng" w="12700">
            <a:solidFill>
              <a:srgbClr val="8A0E5E"/>
            </a:solidFill>
            <a:prstDash val="solid"/>
            <a:round/>
            <a:headEnd len="sm" w="sm" type="none"/>
            <a:tailEnd len="sm" w="sm" type="none"/>
          </a:ln>
        </p:spPr>
      </p:cxnSp>
      <p:sp>
        <p:nvSpPr>
          <p:cNvPr id="1077" name="Google Shape;1077;p34"/>
          <p:cNvSpPr txBox="1"/>
          <p:nvPr/>
        </p:nvSpPr>
        <p:spPr>
          <a:xfrm>
            <a:off x="4246563" y="4713288"/>
            <a:ext cx="641350" cy="244475"/>
          </a:xfrm>
          <a:prstGeom prst="rect">
            <a:avLst/>
          </a:prstGeom>
          <a:solidFill>
            <a:srgbClr val="FFFFCC"/>
          </a:solid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600">
                <a:solidFill>
                  <a:srgbClr val="000000"/>
                </a:solidFill>
                <a:latin typeface="Arial"/>
                <a:ea typeface="Arial"/>
                <a:cs typeface="Arial"/>
                <a:sym typeface="Arial"/>
              </a:rPr>
              <a:t>ClassB</a:t>
            </a:r>
            <a:endParaRPr/>
          </a:p>
        </p:txBody>
      </p:sp>
      <p:cxnSp>
        <p:nvCxnSpPr>
          <p:cNvPr id="1078" name="Google Shape;1078;p34"/>
          <p:cNvCxnSpPr/>
          <p:nvPr/>
        </p:nvCxnSpPr>
        <p:spPr>
          <a:xfrm>
            <a:off x="4556125" y="3314700"/>
            <a:ext cx="0" cy="1304925"/>
          </a:xfrm>
          <a:prstGeom prst="straightConnector1">
            <a:avLst/>
          </a:prstGeom>
          <a:noFill/>
          <a:ln cap="flat" cmpd="sng" w="12700">
            <a:solidFill>
              <a:schemeClr val="dk1"/>
            </a:solidFill>
            <a:prstDash val="dash"/>
            <a:round/>
            <a:headEnd len="med" w="med" type="none"/>
            <a:tailEnd len="lg" w="lg" type="stealth"/>
          </a:ln>
        </p:spPr>
      </p:cxnSp>
      <p:sp>
        <p:nvSpPr>
          <p:cNvPr id="1079" name="Google Shape;1079;p34"/>
          <p:cNvSpPr/>
          <p:nvPr/>
        </p:nvSpPr>
        <p:spPr>
          <a:xfrm>
            <a:off x="3883025" y="5180013"/>
            <a:ext cx="1319213" cy="308419"/>
          </a:xfrm>
          <a:prstGeom prst="rect">
            <a:avLst/>
          </a:prstGeom>
          <a:noFill/>
          <a:ln>
            <a:noFill/>
          </a:ln>
        </p:spPr>
        <p:txBody>
          <a:bodyPr anchorCtr="0" anchor="t" bIns="46025" lIns="92075" spcFirstLastPara="1" rIns="92075" wrap="square" tIns="46025">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 utilityOp ( )</a:t>
            </a:r>
            <a:endParaRPr/>
          </a:p>
        </p:txBody>
      </p:sp>
      <p:sp>
        <p:nvSpPr>
          <p:cNvPr id="1080" name="Google Shape;1080;p34"/>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5" name="Shape 1085"/>
        <p:cNvGrpSpPr/>
        <p:nvPr/>
      </p:nvGrpSpPr>
      <p:grpSpPr>
        <a:xfrm>
          <a:off x="0" y="0"/>
          <a:ext cx="0" cy="0"/>
          <a:chOff x="0" y="0"/>
          <a:chExt cx="0" cy="0"/>
        </a:xfrm>
      </p:grpSpPr>
      <p:sp>
        <p:nvSpPr>
          <p:cNvPr id="1086" name="Google Shape;1086;p35"/>
          <p:cNvSpPr txBox="1"/>
          <p:nvPr>
            <p:ph idx="1" type="body"/>
          </p:nvPr>
        </p:nvSpPr>
        <p:spPr>
          <a:xfrm>
            <a:off x="457200" y="1371600"/>
            <a:ext cx="8229600" cy="5026025"/>
          </a:xfrm>
          <a:prstGeom prst="rect">
            <a:avLst/>
          </a:prstGeom>
          <a:noFill/>
          <a:ln>
            <a:noFill/>
          </a:ln>
        </p:spPr>
        <p:txBody>
          <a:bodyPr anchorCtr="0" anchor="t" bIns="45700" lIns="91425" spcFirstLastPara="1" rIns="91425" wrap="square" tIns="45700">
            <a:noAutofit/>
          </a:bodyPr>
          <a:lstStyle/>
          <a:p>
            <a:pPr indent="-339725" lvl="0" marL="339725" rtl="0" algn="l">
              <a:spcBef>
                <a:spcPts val="0"/>
              </a:spcBef>
              <a:spcAft>
                <a:spcPts val="0"/>
              </a:spcAft>
              <a:buClr>
                <a:srgbClr val="000000"/>
              </a:buClr>
              <a:buSzPts val="2000"/>
              <a:buChar char="❖"/>
            </a:pPr>
            <a:r>
              <a:rPr lang="en-US" sz="2000"/>
              <a:t>Permanent relationships — Association (field visibility)</a:t>
            </a:r>
            <a:endParaRPr/>
          </a:p>
          <a:p>
            <a:pPr indent="-339725" lvl="0" marL="339725" rtl="0" algn="l">
              <a:spcBef>
                <a:spcPts val="400"/>
              </a:spcBef>
              <a:spcAft>
                <a:spcPts val="0"/>
              </a:spcAft>
              <a:buClr>
                <a:srgbClr val="000000"/>
              </a:buClr>
              <a:buSzPts val="2000"/>
              <a:buChar char="❖"/>
            </a:pPr>
            <a:r>
              <a:rPr lang="en-US" sz="2000"/>
              <a:t>Transient relationships </a:t>
            </a:r>
            <a:r>
              <a:rPr lang="en-US" sz="2000">
                <a:latin typeface="Arial"/>
                <a:ea typeface="Arial"/>
                <a:cs typeface="Arial"/>
                <a:sym typeface="Arial"/>
              </a:rPr>
              <a:t>—</a:t>
            </a:r>
            <a:r>
              <a:rPr lang="en-US" sz="2000"/>
              <a:t> Dependency</a:t>
            </a:r>
            <a:endParaRPr/>
          </a:p>
          <a:p>
            <a:pPr indent="-342900" lvl="1" marL="798513" rtl="0" algn="l">
              <a:spcBef>
                <a:spcPts val="400"/>
              </a:spcBef>
              <a:spcAft>
                <a:spcPts val="0"/>
              </a:spcAft>
              <a:buSzPts val="1000"/>
              <a:buChar char="🞇"/>
            </a:pPr>
            <a:r>
              <a:rPr lang="en-US" sz="2000"/>
              <a:t>Multiple objects share the same instance</a:t>
            </a:r>
            <a:endParaRPr/>
          </a:p>
          <a:p>
            <a:pPr indent="-287338" lvl="2" marL="1200150" rtl="0" algn="l">
              <a:spcBef>
                <a:spcPts val="400"/>
              </a:spcBef>
              <a:spcAft>
                <a:spcPts val="0"/>
              </a:spcAft>
              <a:buSzPts val="2000"/>
              <a:buChar char="▪"/>
            </a:pPr>
            <a:r>
              <a:rPr lang="en-US"/>
              <a:t>Pass instance as a parameter (parameter visibility)</a:t>
            </a:r>
            <a:endParaRPr/>
          </a:p>
          <a:p>
            <a:pPr indent="-287338" lvl="2" marL="1200150" rtl="0" algn="l">
              <a:spcBef>
                <a:spcPts val="400"/>
              </a:spcBef>
              <a:spcAft>
                <a:spcPts val="0"/>
              </a:spcAft>
              <a:buSzPts val="2000"/>
              <a:buChar char="▪"/>
            </a:pPr>
            <a:r>
              <a:rPr lang="en-US"/>
              <a:t>Make instance a managed global (global visibility)</a:t>
            </a:r>
            <a:endParaRPr/>
          </a:p>
          <a:p>
            <a:pPr indent="-342900" lvl="1" marL="798513" rtl="0" algn="l">
              <a:spcBef>
                <a:spcPts val="400"/>
              </a:spcBef>
              <a:spcAft>
                <a:spcPts val="0"/>
              </a:spcAft>
              <a:buSzPts val="1000"/>
              <a:buChar char="🞇"/>
            </a:pPr>
            <a:r>
              <a:rPr lang="en-US" sz="2000"/>
              <a:t>Multiple objects don’t share the same instance (local visibility)</a:t>
            </a:r>
            <a:endParaRPr/>
          </a:p>
          <a:p>
            <a:pPr indent="-339725" lvl="0" marL="339725" rtl="0" algn="l">
              <a:spcBef>
                <a:spcPts val="400"/>
              </a:spcBef>
              <a:spcAft>
                <a:spcPts val="0"/>
              </a:spcAft>
              <a:buClr>
                <a:srgbClr val="000000"/>
              </a:buClr>
              <a:buSzPts val="2000"/>
              <a:buChar char="❖"/>
            </a:pPr>
            <a:r>
              <a:rPr lang="en-US" sz="2000"/>
              <a:t>How long does it take to create/destroy?</a:t>
            </a:r>
            <a:endParaRPr/>
          </a:p>
          <a:p>
            <a:pPr indent="-342900" lvl="1" marL="798513" rtl="0" algn="l">
              <a:spcBef>
                <a:spcPts val="400"/>
              </a:spcBef>
              <a:spcAft>
                <a:spcPts val="0"/>
              </a:spcAft>
              <a:buSzPts val="1000"/>
              <a:buChar char="🞇"/>
            </a:pPr>
            <a:r>
              <a:rPr lang="en-US" sz="2000"/>
              <a:t>Expensive?  Use field, parameter, or global visibility</a:t>
            </a:r>
            <a:endParaRPr/>
          </a:p>
          <a:p>
            <a:pPr indent="-342900" lvl="1" marL="798513" rtl="0" algn="l">
              <a:spcBef>
                <a:spcPts val="400"/>
              </a:spcBef>
              <a:spcAft>
                <a:spcPts val="0"/>
              </a:spcAft>
              <a:buSzPts val="1000"/>
              <a:buChar char="🞇"/>
            </a:pPr>
            <a:r>
              <a:rPr lang="en-US" sz="2000"/>
              <a:t>Strive for the lightest relationships possible</a:t>
            </a:r>
            <a:endParaRPr/>
          </a:p>
          <a:p>
            <a:pPr indent="-279400" lvl="1" marL="798513" rtl="0" algn="l">
              <a:spcBef>
                <a:spcPts val="400"/>
              </a:spcBef>
              <a:spcAft>
                <a:spcPts val="0"/>
              </a:spcAft>
              <a:buSzPts val="1000"/>
              <a:buNone/>
            </a:pPr>
            <a:r>
              <a:t/>
            </a:r>
            <a:endParaRPr sz="2000"/>
          </a:p>
        </p:txBody>
      </p:sp>
      <p:sp>
        <p:nvSpPr>
          <p:cNvPr id="1087" name="Google Shape;1087;p35"/>
          <p:cNvSpPr txBox="1"/>
          <p:nvPr>
            <p:ph type="title"/>
          </p:nvPr>
        </p:nvSpPr>
        <p:spPr>
          <a:xfrm>
            <a:off x="1447800" y="206375"/>
            <a:ext cx="6858000" cy="5334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Identifying Dependencies: Considerations</a:t>
            </a:r>
            <a:endParaRPr/>
          </a:p>
        </p:txBody>
      </p:sp>
      <p:sp>
        <p:nvSpPr>
          <p:cNvPr id="1088" name="Google Shape;1088;p35"/>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2" name="Shape 1092"/>
        <p:cNvGrpSpPr/>
        <p:nvPr/>
      </p:nvGrpSpPr>
      <p:grpSpPr>
        <a:xfrm>
          <a:off x="0" y="0"/>
          <a:ext cx="0" cy="0"/>
          <a:chOff x="0" y="0"/>
          <a:chExt cx="0" cy="0"/>
        </a:xfrm>
      </p:grpSpPr>
      <p:cxnSp>
        <p:nvCxnSpPr>
          <p:cNvPr id="1093" name="Google Shape;1093;p36"/>
          <p:cNvCxnSpPr/>
          <p:nvPr/>
        </p:nvCxnSpPr>
        <p:spPr>
          <a:xfrm>
            <a:off x="2814638" y="2487613"/>
            <a:ext cx="3028950" cy="635000"/>
          </a:xfrm>
          <a:prstGeom prst="straightConnector1">
            <a:avLst/>
          </a:prstGeom>
          <a:noFill/>
          <a:ln cap="flat" cmpd="sng" w="12700">
            <a:solidFill>
              <a:schemeClr val="dk1"/>
            </a:solidFill>
            <a:prstDash val="solid"/>
            <a:round/>
            <a:headEnd len="med" w="med" type="none"/>
            <a:tailEnd len="lg" w="lg" type="stealth"/>
          </a:ln>
        </p:spPr>
      </p:cxnSp>
      <p:cxnSp>
        <p:nvCxnSpPr>
          <p:cNvPr id="1094" name="Google Shape;1094;p36"/>
          <p:cNvCxnSpPr/>
          <p:nvPr/>
        </p:nvCxnSpPr>
        <p:spPr>
          <a:xfrm>
            <a:off x="4838700" y="5695950"/>
            <a:ext cx="723900" cy="0"/>
          </a:xfrm>
          <a:prstGeom prst="straightConnector1">
            <a:avLst/>
          </a:prstGeom>
          <a:noFill/>
          <a:ln cap="flat" cmpd="sng" w="12700">
            <a:solidFill>
              <a:schemeClr val="dk1"/>
            </a:solidFill>
            <a:prstDash val="lgDash"/>
            <a:round/>
            <a:headEnd len="med" w="med" type="none"/>
            <a:tailEnd len="lg" w="lg" type="stealth"/>
          </a:ln>
        </p:spPr>
      </p:cxnSp>
      <p:sp>
        <p:nvSpPr>
          <p:cNvPr id="1095" name="Google Shape;1095;p36"/>
          <p:cNvSpPr txBox="1"/>
          <p:nvPr>
            <p:ph type="title"/>
          </p:nvPr>
        </p:nvSpPr>
        <p:spPr>
          <a:xfrm>
            <a:off x="1447800" y="206375"/>
            <a:ext cx="76962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sz="2800"/>
              <a:t>Example:  Define Dependencies (before)</a:t>
            </a:r>
            <a:endParaRPr/>
          </a:p>
        </p:txBody>
      </p:sp>
      <p:sp>
        <p:nvSpPr>
          <p:cNvPr id="1096" name="Google Shape;1096;p36"/>
          <p:cNvSpPr/>
          <p:nvPr/>
        </p:nvSpPr>
        <p:spPr>
          <a:xfrm>
            <a:off x="4165600" y="1327150"/>
            <a:ext cx="4613275" cy="9096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7" name="Google Shape;1097;p36"/>
          <p:cNvSpPr/>
          <p:nvPr/>
        </p:nvSpPr>
        <p:spPr>
          <a:xfrm>
            <a:off x="5725448" y="1436688"/>
            <a:ext cx="1450718" cy="338554"/>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&lt;&lt;interface&gt;&gt;</a:t>
            </a:r>
            <a:endParaRPr/>
          </a:p>
          <a:p>
            <a:pPr indent="0" lvl="0" marL="0" marR="0" rtl="0" algn="ctr">
              <a:spcBef>
                <a:spcPts val="0"/>
              </a:spcBef>
              <a:spcAft>
                <a:spcPts val="0"/>
              </a:spcAft>
              <a:buNone/>
            </a:pPr>
            <a:r>
              <a:rPr lang="en-US" sz="1100">
                <a:solidFill>
                  <a:srgbClr val="000000"/>
                </a:solidFill>
                <a:latin typeface="Arial"/>
                <a:ea typeface="Arial"/>
                <a:cs typeface="Arial"/>
                <a:sym typeface="Arial"/>
              </a:rPr>
              <a:t>ICourseCatalogSystem</a:t>
            </a:r>
            <a:endParaRPr sz="1100">
              <a:solidFill>
                <a:srgbClr val="000000"/>
              </a:solidFill>
              <a:latin typeface="Arial"/>
              <a:ea typeface="Arial"/>
              <a:cs typeface="Arial"/>
              <a:sym typeface="Arial"/>
            </a:endParaRPr>
          </a:p>
        </p:txBody>
      </p:sp>
      <p:sp>
        <p:nvSpPr>
          <p:cNvPr id="1098" name="Google Shape;1098;p36"/>
          <p:cNvSpPr/>
          <p:nvPr/>
        </p:nvSpPr>
        <p:spPr>
          <a:xfrm>
            <a:off x="4165600" y="1812925"/>
            <a:ext cx="4613275" cy="4238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99" name="Google Shape;1099;p36"/>
          <p:cNvSpPr/>
          <p:nvPr/>
        </p:nvSpPr>
        <p:spPr>
          <a:xfrm>
            <a:off x="4165600" y="1909763"/>
            <a:ext cx="4613275" cy="3270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0" name="Google Shape;1100;p36"/>
          <p:cNvSpPr/>
          <p:nvPr/>
        </p:nvSpPr>
        <p:spPr>
          <a:xfrm>
            <a:off x="4206875" y="2008200"/>
            <a:ext cx="50169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getCourseOfferings ( [in] forSemester : Semester) : CourseOfferingList</a:t>
            </a:r>
            <a:endParaRPr sz="1100">
              <a:solidFill>
                <a:srgbClr val="000000"/>
              </a:solidFill>
              <a:latin typeface="Arial"/>
              <a:ea typeface="Arial"/>
              <a:cs typeface="Arial"/>
              <a:sym typeface="Arial"/>
            </a:endParaRPr>
          </a:p>
        </p:txBody>
      </p:sp>
      <p:sp>
        <p:nvSpPr>
          <p:cNvPr id="1101" name="Google Shape;1101;p36"/>
          <p:cNvSpPr/>
          <p:nvPr/>
        </p:nvSpPr>
        <p:spPr>
          <a:xfrm>
            <a:off x="377825" y="4487863"/>
            <a:ext cx="4467225" cy="18573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2" name="Google Shape;1102;p36"/>
          <p:cNvSpPr/>
          <p:nvPr/>
        </p:nvSpPr>
        <p:spPr>
          <a:xfrm>
            <a:off x="2387600" y="4694238"/>
            <a:ext cx="481013"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Student</a:t>
            </a:r>
            <a:endParaRPr sz="1100">
              <a:solidFill>
                <a:srgbClr val="000000"/>
              </a:solidFill>
              <a:latin typeface="Arial"/>
              <a:ea typeface="Arial"/>
              <a:cs typeface="Arial"/>
              <a:sym typeface="Arial"/>
            </a:endParaRPr>
          </a:p>
        </p:txBody>
      </p:sp>
      <p:sp>
        <p:nvSpPr>
          <p:cNvPr id="1103" name="Google Shape;1103;p36"/>
          <p:cNvSpPr/>
          <p:nvPr/>
        </p:nvSpPr>
        <p:spPr>
          <a:xfrm>
            <a:off x="377825" y="4991100"/>
            <a:ext cx="4467225" cy="13541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4" name="Google Shape;1104;p36"/>
          <p:cNvSpPr/>
          <p:nvPr/>
        </p:nvSpPr>
        <p:spPr>
          <a:xfrm>
            <a:off x="377825" y="5545138"/>
            <a:ext cx="4467225" cy="8001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05" name="Google Shape;1105;p36"/>
          <p:cNvSpPr/>
          <p:nvPr/>
        </p:nvSpPr>
        <p:spPr>
          <a:xfrm>
            <a:off x="434975" y="5037150"/>
            <a:ext cx="16185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name</a:t>
            </a:r>
            <a:endParaRPr sz="1100">
              <a:solidFill>
                <a:srgbClr val="000000"/>
              </a:solidFill>
              <a:latin typeface="Arial"/>
              <a:ea typeface="Arial"/>
              <a:cs typeface="Arial"/>
              <a:sym typeface="Arial"/>
            </a:endParaRPr>
          </a:p>
        </p:txBody>
      </p:sp>
      <p:sp>
        <p:nvSpPr>
          <p:cNvPr id="1106" name="Google Shape;1106;p36"/>
          <p:cNvSpPr/>
          <p:nvPr/>
        </p:nvSpPr>
        <p:spPr>
          <a:xfrm>
            <a:off x="434975" y="5194300"/>
            <a:ext cx="23781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address</a:t>
            </a:r>
            <a:endParaRPr sz="1100">
              <a:solidFill>
                <a:srgbClr val="000000"/>
              </a:solidFill>
              <a:latin typeface="Arial"/>
              <a:ea typeface="Arial"/>
              <a:cs typeface="Arial"/>
              <a:sym typeface="Arial"/>
            </a:endParaRPr>
          </a:p>
        </p:txBody>
      </p:sp>
      <p:sp>
        <p:nvSpPr>
          <p:cNvPr id="1107" name="Google Shape;1107;p36"/>
          <p:cNvSpPr/>
          <p:nvPr/>
        </p:nvSpPr>
        <p:spPr>
          <a:xfrm>
            <a:off x="434975" y="5353050"/>
            <a:ext cx="2133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StudentID : int</a:t>
            </a:r>
            <a:endParaRPr sz="1100">
              <a:solidFill>
                <a:srgbClr val="000000"/>
              </a:solidFill>
              <a:latin typeface="Arial"/>
              <a:ea typeface="Arial"/>
              <a:cs typeface="Arial"/>
              <a:sym typeface="Arial"/>
            </a:endParaRPr>
          </a:p>
        </p:txBody>
      </p:sp>
      <p:sp>
        <p:nvSpPr>
          <p:cNvPr id="1108" name="Google Shape;1108;p36"/>
          <p:cNvSpPr/>
          <p:nvPr/>
        </p:nvSpPr>
        <p:spPr>
          <a:xfrm>
            <a:off x="434975" y="5643575"/>
            <a:ext cx="3845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addSchedule ( [in] aSchedule : Schedule )</a:t>
            </a:r>
            <a:endParaRPr sz="1100">
              <a:solidFill>
                <a:srgbClr val="000000"/>
              </a:solidFill>
              <a:latin typeface="Arial"/>
              <a:ea typeface="Arial"/>
              <a:cs typeface="Arial"/>
              <a:sym typeface="Arial"/>
            </a:endParaRPr>
          </a:p>
        </p:txBody>
      </p:sp>
      <p:sp>
        <p:nvSpPr>
          <p:cNvPr id="1109" name="Google Shape;1109;p36"/>
          <p:cNvSpPr/>
          <p:nvPr/>
        </p:nvSpPr>
        <p:spPr>
          <a:xfrm>
            <a:off x="434975" y="5802325"/>
            <a:ext cx="43719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getSchedule ( [in] forSemester : Semester ) : Schedule</a:t>
            </a:r>
            <a:endParaRPr/>
          </a:p>
        </p:txBody>
      </p:sp>
      <p:sp>
        <p:nvSpPr>
          <p:cNvPr id="1110" name="Google Shape;1110;p36"/>
          <p:cNvSpPr/>
          <p:nvPr/>
        </p:nvSpPr>
        <p:spPr>
          <a:xfrm>
            <a:off x="434975" y="5959475"/>
            <a:ext cx="4687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hasPrerequisites ( [in] forCourseOffering : CourseOffering ) : boolean</a:t>
            </a:r>
            <a:endParaRPr/>
          </a:p>
        </p:txBody>
      </p:sp>
      <p:sp>
        <p:nvSpPr>
          <p:cNvPr id="1111" name="Google Shape;1111;p36"/>
          <p:cNvSpPr/>
          <p:nvPr/>
        </p:nvSpPr>
        <p:spPr>
          <a:xfrm>
            <a:off x="434975" y="6118225"/>
            <a:ext cx="44673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passed ( [in] aCourseOffering : CourseOffering ) : boolean</a:t>
            </a:r>
            <a:endParaRPr/>
          </a:p>
        </p:txBody>
      </p:sp>
      <p:grpSp>
        <p:nvGrpSpPr>
          <p:cNvPr id="1112" name="Google Shape;1112;p36"/>
          <p:cNvGrpSpPr/>
          <p:nvPr/>
        </p:nvGrpSpPr>
        <p:grpSpPr>
          <a:xfrm>
            <a:off x="374650" y="1339850"/>
            <a:ext cx="2438400" cy="1384300"/>
            <a:chOff x="452" y="1360"/>
            <a:chExt cx="2304" cy="872"/>
          </a:xfrm>
        </p:grpSpPr>
        <p:sp>
          <p:nvSpPr>
            <p:cNvPr id="1113" name="Google Shape;1113;p36"/>
            <p:cNvSpPr/>
            <p:nvPr/>
          </p:nvSpPr>
          <p:spPr>
            <a:xfrm>
              <a:off x="452" y="1360"/>
              <a:ext cx="2304" cy="87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4" name="Google Shape;1114;p36"/>
            <p:cNvSpPr/>
            <p:nvPr/>
          </p:nvSpPr>
          <p:spPr>
            <a:xfrm>
              <a:off x="452" y="1654"/>
              <a:ext cx="2304" cy="57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15" name="Google Shape;1115;p36"/>
            <p:cNvSpPr/>
            <p:nvPr/>
          </p:nvSpPr>
          <p:spPr>
            <a:xfrm>
              <a:off x="452" y="1727"/>
              <a:ext cx="2304" cy="50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116" name="Google Shape;1116;p36"/>
          <p:cNvSpPr/>
          <p:nvPr/>
        </p:nvSpPr>
        <p:spPr>
          <a:xfrm>
            <a:off x="857250" y="1538288"/>
            <a:ext cx="13525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RegistrationController</a:t>
            </a:r>
            <a:endParaRPr sz="1100">
              <a:solidFill>
                <a:srgbClr val="000000"/>
              </a:solidFill>
              <a:latin typeface="Arial"/>
              <a:ea typeface="Arial"/>
              <a:cs typeface="Arial"/>
              <a:sym typeface="Arial"/>
            </a:endParaRPr>
          </a:p>
        </p:txBody>
      </p:sp>
      <p:sp>
        <p:nvSpPr>
          <p:cNvPr id="1117" name="Google Shape;1117;p36"/>
          <p:cNvSpPr/>
          <p:nvPr/>
        </p:nvSpPr>
        <p:spPr>
          <a:xfrm>
            <a:off x="431800" y="2022475"/>
            <a:ext cx="2056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submit schedule ()</a:t>
            </a:r>
            <a:endParaRPr sz="1100">
              <a:solidFill>
                <a:srgbClr val="000000"/>
              </a:solidFill>
              <a:latin typeface="Arial"/>
              <a:ea typeface="Arial"/>
              <a:cs typeface="Arial"/>
              <a:sym typeface="Arial"/>
            </a:endParaRPr>
          </a:p>
        </p:txBody>
      </p:sp>
      <p:sp>
        <p:nvSpPr>
          <p:cNvPr id="1118" name="Google Shape;1118;p36"/>
          <p:cNvSpPr/>
          <p:nvPr/>
        </p:nvSpPr>
        <p:spPr>
          <a:xfrm>
            <a:off x="431800" y="2179650"/>
            <a:ext cx="2133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save schedule ()</a:t>
            </a:r>
            <a:endParaRPr sz="1100">
              <a:solidFill>
                <a:srgbClr val="000000"/>
              </a:solidFill>
              <a:latin typeface="Arial"/>
              <a:ea typeface="Arial"/>
              <a:cs typeface="Arial"/>
              <a:sym typeface="Arial"/>
            </a:endParaRPr>
          </a:p>
        </p:txBody>
      </p:sp>
      <p:sp>
        <p:nvSpPr>
          <p:cNvPr id="1119" name="Google Shape;1119;p36"/>
          <p:cNvSpPr/>
          <p:nvPr/>
        </p:nvSpPr>
        <p:spPr>
          <a:xfrm>
            <a:off x="431800" y="2338400"/>
            <a:ext cx="2438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create schedule with offerings ()</a:t>
            </a:r>
            <a:endParaRPr sz="1100">
              <a:solidFill>
                <a:srgbClr val="000000"/>
              </a:solidFill>
              <a:latin typeface="Arial"/>
              <a:ea typeface="Arial"/>
              <a:cs typeface="Arial"/>
              <a:sym typeface="Arial"/>
            </a:endParaRPr>
          </a:p>
        </p:txBody>
      </p:sp>
      <p:sp>
        <p:nvSpPr>
          <p:cNvPr id="1120" name="Google Shape;1120;p36"/>
          <p:cNvSpPr/>
          <p:nvPr/>
        </p:nvSpPr>
        <p:spPr>
          <a:xfrm>
            <a:off x="431800" y="2495550"/>
            <a:ext cx="2133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get course offerings ()</a:t>
            </a:r>
            <a:endParaRPr sz="1100">
              <a:solidFill>
                <a:srgbClr val="000000"/>
              </a:solidFill>
              <a:latin typeface="Arial"/>
              <a:ea typeface="Arial"/>
              <a:cs typeface="Arial"/>
              <a:sym typeface="Arial"/>
            </a:endParaRPr>
          </a:p>
        </p:txBody>
      </p:sp>
      <p:sp>
        <p:nvSpPr>
          <p:cNvPr id="1121" name="Google Shape;1121;p36"/>
          <p:cNvSpPr/>
          <p:nvPr/>
        </p:nvSpPr>
        <p:spPr>
          <a:xfrm>
            <a:off x="1400175" y="2806700"/>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cxnSp>
        <p:nvCxnSpPr>
          <p:cNvPr id="1122" name="Google Shape;1122;p36"/>
          <p:cNvCxnSpPr/>
          <p:nvPr/>
        </p:nvCxnSpPr>
        <p:spPr>
          <a:xfrm>
            <a:off x="1300163" y="2741613"/>
            <a:ext cx="0" cy="1744662"/>
          </a:xfrm>
          <a:prstGeom prst="straightConnector1">
            <a:avLst/>
          </a:prstGeom>
          <a:noFill/>
          <a:ln cap="flat" cmpd="sng" w="12700">
            <a:solidFill>
              <a:schemeClr val="dk1"/>
            </a:solidFill>
            <a:prstDash val="solid"/>
            <a:round/>
            <a:headEnd len="med" w="med" type="none"/>
            <a:tailEnd len="lg" w="lg" type="stealth"/>
          </a:ln>
        </p:spPr>
      </p:cxnSp>
      <p:sp>
        <p:nvSpPr>
          <p:cNvPr id="1123" name="Google Shape;1123;p36"/>
          <p:cNvSpPr/>
          <p:nvPr/>
        </p:nvSpPr>
        <p:spPr>
          <a:xfrm>
            <a:off x="950913" y="4217988"/>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124" name="Google Shape;1124;p36"/>
          <p:cNvSpPr/>
          <p:nvPr/>
        </p:nvSpPr>
        <p:spPr>
          <a:xfrm>
            <a:off x="1401763" y="4252913"/>
            <a:ext cx="745397"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registrant </a:t>
            </a:r>
            <a:endParaRPr sz="1100">
              <a:solidFill>
                <a:srgbClr val="000000"/>
              </a:solidFill>
              <a:latin typeface="Arial"/>
              <a:ea typeface="Arial"/>
              <a:cs typeface="Arial"/>
              <a:sym typeface="Arial"/>
            </a:endParaRPr>
          </a:p>
        </p:txBody>
      </p:sp>
      <p:sp>
        <p:nvSpPr>
          <p:cNvPr id="1125" name="Google Shape;1125;p36"/>
          <p:cNvSpPr/>
          <p:nvPr/>
        </p:nvSpPr>
        <p:spPr>
          <a:xfrm>
            <a:off x="2944813" y="1679575"/>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cxnSp>
        <p:nvCxnSpPr>
          <p:cNvPr id="1126" name="Google Shape;1126;p36"/>
          <p:cNvCxnSpPr/>
          <p:nvPr/>
        </p:nvCxnSpPr>
        <p:spPr>
          <a:xfrm>
            <a:off x="2816225" y="1958975"/>
            <a:ext cx="1330325" cy="0"/>
          </a:xfrm>
          <a:prstGeom prst="straightConnector1">
            <a:avLst/>
          </a:prstGeom>
          <a:noFill/>
          <a:ln cap="flat" cmpd="sng" w="12700">
            <a:solidFill>
              <a:schemeClr val="dk1"/>
            </a:solidFill>
            <a:prstDash val="solid"/>
            <a:round/>
            <a:headEnd len="med" w="med" type="none"/>
            <a:tailEnd len="lg" w="lg" type="stealth"/>
          </a:ln>
        </p:spPr>
      </p:cxnSp>
      <p:sp>
        <p:nvSpPr>
          <p:cNvPr id="1127" name="Google Shape;1127;p36"/>
          <p:cNvSpPr/>
          <p:nvPr/>
        </p:nvSpPr>
        <p:spPr>
          <a:xfrm>
            <a:off x="3963988" y="1679575"/>
            <a:ext cx="78548"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1</a:t>
            </a:r>
            <a:endParaRPr sz="1100">
              <a:solidFill>
                <a:srgbClr val="000000"/>
              </a:solidFill>
              <a:latin typeface="Arial"/>
              <a:ea typeface="Arial"/>
              <a:cs typeface="Arial"/>
              <a:sym typeface="Arial"/>
            </a:endParaRPr>
          </a:p>
        </p:txBody>
      </p:sp>
      <p:sp>
        <p:nvSpPr>
          <p:cNvPr id="1128" name="Google Shape;1128;p36"/>
          <p:cNvSpPr/>
          <p:nvPr/>
        </p:nvSpPr>
        <p:spPr>
          <a:xfrm>
            <a:off x="2955925" y="2006600"/>
            <a:ext cx="1020763"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courseCatalog</a:t>
            </a:r>
            <a:endParaRPr sz="1100">
              <a:solidFill>
                <a:srgbClr val="000000"/>
              </a:solidFill>
              <a:latin typeface="Arial"/>
              <a:ea typeface="Arial"/>
              <a:cs typeface="Arial"/>
              <a:sym typeface="Arial"/>
            </a:endParaRPr>
          </a:p>
        </p:txBody>
      </p:sp>
      <p:sp>
        <p:nvSpPr>
          <p:cNvPr id="1129" name="Google Shape;1129;p36"/>
          <p:cNvSpPr/>
          <p:nvPr/>
        </p:nvSpPr>
        <p:spPr>
          <a:xfrm>
            <a:off x="5661025" y="2454275"/>
            <a:ext cx="1824038" cy="15414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0" name="Google Shape;1130;p36"/>
          <p:cNvSpPr/>
          <p:nvPr/>
        </p:nvSpPr>
        <p:spPr>
          <a:xfrm>
            <a:off x="6253163" y="2652713"/>
            <a:ext cx="58420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Schedule</a:t>
            </a:r>
            <a:endParaRPr sz="1100">
              <a:solidFill>
                <a:srgbClr val="000000"/>
              </a:solidFill>
              <a:latin typeface="Arial"/>
              <a:ea typeface="Arial"/>
              <a:cs typeface="Arial"/>
              <a:sym typeface="Arial"/>
            </a:endParaRPr>
          </a:p>
        </p:txBody>
      </p:sp>
      <p:sp>
        <p:nvSpPr>
          <p:cNvPr id="1131" name="Google Shape;1131;p36"/>
          <p:cNvSpPr/>
          <p:nvPr/>
        </p:nvSpPr>
        <p:spPr>
          <a:xfrm>
            <a:off x="5661025" y="2959100"/>
            <a:ext cx="1824038" cy="10366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2" name="Google Shape;1132;p36"/>
          <p:cNvSpPr/>
          <p:nvPr/>
        </p:nvSpPr>
        <p:spPr>
          <a:xfrm>
            <a:off x="5661025" y="3195638"/>
            <a:ext cx="1824038" cy="8001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33" name="Google Shape;1133;p36"/>
          <p:cNvSpPr/>
          <p:nvPr/>
        </p:nvSpPr>
        <p:spPr>
          <a:xfrm>
            <a:off x="5703914" y="2978150"/>
            <a:ext cx="2932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semester : Semester</a:t>
            </a:r>
            <a:endParaRPr sz="1100">
              <a:solidFill>
                <a:srgbClr val="000000"/>
              </a:solidFill>
              <a:latin typeface="Arial"/>
              <a:ea typeface="Arial"/>
              <a:cs typeface="Arial"/>
              <a:sym typeface="Arial"/>
            </a:endParaRPr>
          </a:p>
        </p:txBody>
      </p:sp>
      <p:sp>
        <p:nvSpPr>
          <p:cNvPr id="1134" name="Google Shape;1134;p36"/>
          <p:cNvSpPr/>
          <p:nvPr/>
        </p:nvSpPr>
        <p:spPr>
          <a:xfrm>
            <a:off x="5716588" y="3294063"/>
            <a:ext cx="836612"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submit ()</a:t>
            </a:r>
            <a:endParaRPr sz="1100">
              <a:solidFill>
                <a:srgbClr val="000000"/>
              </a:solidFill>
              <a:latin typeface="Arial"/>
              <a:ea typeface="Arial"/>
              <a:cs typeface="Arial"/>
              <a:sym typeface="Arial"/>
            </a:endParaRPr>
          </a:p>
        </p:txBody>
      </p:sp>
      <p:sp>
        <p:nvSpPr>
          <p:cNvPr id="1135" name="Google Shape;1135;p36"/>
          <p:cNvSpPr/>
          <p:nvPr/>
        </p:nvSpPr>
        <p:spPr>
          <a:xfrm>
            <a:off x="5716588" y="3452813"/>
            <a:ext cx="950912"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//save ()</a:t>
            </a:r>
            <a:endParaRPr sz="1100">
              <a:solidFill>
                <a:srgbClr val="000000"/>
              </a:solidFill>
              <a:latin typeface="Arial"/>
              <a:ea typeface="Arial"/>
              <a:cs typeface="Arial"/>
              <a:sym typeface="Arial"/>
            </a:endParaRPr>
          </a:p>
        </p:txBody>
      </p:sp>
      <p:sp>
        <p:nvSpPr>
          <p:cNvPr id="1136" name="Google Shape;1136;p36"/>
          <p:cNvSpPr/>
          <p:nvPr/>
        </p:nvSpPr>
        <p:spPr>
          <a:xfrm>
            <a:off x="5716609" y="3611575"/>
            <a:ext cx="1918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any conflicts? ()</a:t>
            </a:r>
            <a:endParaRPr sz="1100">
              <a:solidFill>
                <a:srgbClr val="000000"/>
              </a:solidFill>
              <a:latin typeface="Arial"/>
              <a:ea typeface="Arial"/>
              <a:cs typeface="Arial"/>
              <a:sym typeface="Arial"/>
            </a:endParaRPr>
          </a:p>
        </p:txBody>
      </p:sp>
      <p:sp>
        <p:nvSpPr>
          <p:cNvPr id="1137" name="Google Shape;1137;p36"/>
          <p:cNvSpPr/>
          <p:nvPr/>
        </p:nvSpPr>
        <p:spPr>
          <a:xfrm>
            <a:off x="5716588" y="3768725"/>
            <a:ext cx="155010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//create with offerings()</a:t>
            </a:r>
            <a:endParaRPr sz="1100">
              <a:solidFill>
                <a:srgbClr val="000000"/>
              </a:solidFill>
              <a:latin typeface="Arial"/>
              <a:ea typeface="Arial"/>
              <a:cs typeface="Arial"/>
              <a:sym typeface="Arial"/>
            </a:endParaRPr>
          </a:p>
        </p:txBody>
      </p:sp>
      <p:sp>
        <p:nvSpPr>
          <p:cNvPr id="1138" name="Google Shape;1138;p36"/>
          <p:cNvSpPr/>
          <p:nvPr/>
        </p:nvSpPr>
        <p:spPr>
          <a:xfrm>
            <a:off x="5367338" y="3932238"/>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cxnSp>
        <p:nvCxnSpPr>
          <p:cNvPr id="1139" name="Google Shape;1139;p36"/>
          <p:cNvCxnSpPr/>
          <p:nvPr/>
        </p:nvCxnSpPr>
        <p:spPr>
          <a:xfrm flipH="1">
            <a:off x="4781550" y="3630613"/>
            <a:ext cx="877888" cy="736600"/>
          </a:xfrm>
          <a:prstGeom prst="straightConnector1">
            <a:avLst/>
          </a:prstGeom>
          <a:noFill/>
          <a:ln cap="flat" cmpd="sng" w="12700">
            <a:solidFill>
              <a:schemeClr val="dk1"/>
            </a:solidFill>
            <a:prstDash val="solid"/>
            <a:round/>
            <a:headEnd len="med" w="med" type="none"/>
            <a:tailEnd len="med" w="med" type="none"/>
          </a:ln>
        </p:spPr>
      </p:cxnSp>
      <p:sp>
        <p:nvSpPr>
          <p:cNvPr id="1140" name="Google Shape;1140;p36"/>
          <p:cNvSpPr/>
          <p:nvPr/>
        </p:nvSpPr>
        <p:spPr>
          <a:xfrm>
            <a:off x="4533900" y="4235450"/>
            <a:ext cx="77788"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1</a:t>
            </a:r>
            <a:endParaRPr sz="1100">
              <a:solidFill>
                <a:srgbClr val="000000"/>
              </a:solidFill>
              <a:latin typeface="Arial"/>
              <a:ea typeface="Arial"/>
              <a:cs typeface="Arial"/>
              <a:sym typeface="Arial"/>
            </a:endParaRPr>
          </a:p>
        </p:txBody>
      </p:sp>
      <p:sp>
        <p:nvSpPr>
          <p:cNvPr id="1141" name="Google Shape;1141;p36"/>
          <p:cNvSpPr/>
          <p:nvPr/>
        </p:nvSpPr>
        <p:spPr>
          <a:xfrm rot="-289266">
            <a:off x="4630738" y="4368800"/>
            <a:ext cx="157162" cy="104775"/>
          </a:xfrm>
          <a:custGeom>
            <a:rect b="b" l="l" r="r" t="t"/>
            <a:pathLst>
              <a:path extrusionOk="0" h="56" w="99">
                <a:moveTo>
                  <a:pt x="0" y="56"/>
                </a:moveTo>
                <a:lnTo>
                  <a:pt x="66" y="50"/>
                </a:lnTo>
                <a:lnTo>
                  <a:pt x="99" y="0"/>
                </a:lnTo>
                <a:lnTo>
                  <a:pt x="33" y="6"/>
                </a:lnTo>
                <a:lnTo>
                  <a:pt x="0" y="56"/>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42" name="Google Shape;1142;p36"/>
          <p:cNvSpPr/>
          <p:nvPr/>
        </p:nvSpPr>
        <p:spPr>
          <a:xfrm>
            <a:off x="2949575" y="2663825"/>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143" name="Google Shape;1143;p36"/>
          <p:cNvSpPr/>
          <p:nvPr/>
        </p:nvSpPr>
        <p:spPr>
          <a:xfrm>
            <a:off x="5267325" y="3200400"/>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144" name="Google Shape;1144;p36"/>
          <p:cNvSpPr/>
          <p:nvPr/>
        </p:nvSpPr>
        <p:spPr>
          <a:xfrm>
            <a:off x="4483100" y="3403600"/>
            <a:ext cx="113665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currentSchedule</a:t>
            </a:r>
            <a:endParaRPr sz="1100">
              <a:solidFill>
                <a:srgbClr val="000000"/>
              </a:solidFill>
              <a:latin typeface="Arial"/>
              <a:ea typeface="Arial"/>
              <a:cs typeface="Arial"/>
              <a:sym typeface="Arial"/>
            </a:endParaRPr>
          </a:p>
        </p:txBody>
      </p:sp>
      <p:sp>
        <p:nvSpPr>
          <p:cNvPr id="1145" name="Google Shape;1145;p36"/>
          <p:cNvSpPr/>
          <p:nvPr/>
        </p:nvSpPr>
        <p:spPr>
          <a:xfrm>
            <a:off x="5568950" y="4765675"/>
            <a:ext cx="3200400" cy="20161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46" name="Google Shape;1146;p36"/>
          <p:cNvSpPr/>
          <p:nvPr/>
        </p:nvSpPr>
        <p:spPr>
          <a:xfrm>
            <a:off x="6597650" y="4962525"/>
            <a:ext cx="9461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CourseOffering</a:t>
            </a:r>
            <a:endParaRPr sz="1100">
              <a:solidFill>
                <a:srgbClr val="000000"/>
              </a:solidFill>
              <a:latin typeface="Arial"/>
              <a:ea typeface="Arial"/>
              <a:cs typeface="Arial"/>
              <a:sym typeface="Arial"/>
            </a:endParaRPr>
          </a:p>
        </p:txBody>
      </p:sp>
      <p:sp>
        <p:nvSpPr>
          <p:cNvPr id="1147" name="Google Shape;1147;p36"/>
          <p:cNvSpPr/>
          <p:nvPr/>
        </p:nvSpPr>
        <p:spPr>
          <a:xfrm>
            <a:off x="5568950" y="5268913"/>
            <a:ext cx="3200400" cy="15128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48" name="Google Shape;1148;p36"/>
          <p:cNvSpPr/>
          <p:nvPr/>
        </p:nvSpPr>
        <p:spPr>
          <a:xfrm>
            <a:off x="5568950" y="5980113"/>
            <a:ext cx="3200400" cy="8016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49" name="Google Shape;1149;p36"/>
          <p:cNvSpPr/>
          <p:nvPr/>
        </p:nvSpPr>
        <p:spPr>
          <a:xfrm>
            <a:off x="5624513" y="5302250"/>
            <a:ext cx="1540486"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number : String = "100"</a:t>
            </a:r>
            <a:endParaRPr sz="1100">
              <a:solidFill>
                <a:srgbClr val="000000"/>
              </a:solidFill>
              <a:latin typeface="Arial"/>
              <a:ea typeface="Arial"/>
              <a:cs typeface="Arial"/>
              <a:sym typeface="Arial"/>
            </a:endParaRPr>
          </a:p>
        </p:txBody>
      </p:sp>
      <p:sp>
        <p:nvSpPr>
          <p:cNvPr id="1150" name="Google Shape;1150;p36"/>
          <p:cNvSpPr/>
          <p:nvPr/>
        </p:nvSpPr>
        <p:spPr>
          <a:xfrm>
            <a:off x="5624513" y="5459413"/>
            <a:ext cx="110126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startTime : Time</a:t>
            </a:r>
            <a:endParaRPr sz="1100">
              <a:solidFill>
                <a:srgbClr val="000000"/>
              </a:solidFill>
              <a:latin typeface="Arial"/>
              <a:ea typeface="Arial"/>
              <a:cs typeface="Arial"/>
              <a:sym typeface="Arial"/>
            </a:endParaRPr>
          </a:p>
        </p:txBody>
      </p:sp>
      <p:sp>
        <p:nvSpPr>
          <p:cNvPr id="1151" name="Google Shape;1151;p36"/>
          <p:cNvSpPr/>
          <p:nvPr/>
        </p:nvSpPr>
        <p:spPr>
          <a:xfrm>
            <a:off x="5624513" y="5618163"/>
            <a:ext cx="105410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endTime : Time</a:t>
            </a:r>
            <a:endParaRPr sz="1100">
              <a:solidFill>
                <a:srgbClr val="000000"/>
              </a:solidFill>
              <a:latin typeface="Arial"/>
              <a:ea typeface="Arial"/>
              <a:cs typeface="Arial"/>
              <a:sym typeface="Arial"/>
            </a:endParaRPr>
          </a:p>
        </p:txBody>
      </p:sp>
      <p:sp>
        <p:nvSpPr>
          <p:cNvPr id="1152" name="Google Shape;1152;p36"/>
          <p:cNvSpPr/>
          <p:nvPr/>
        </p:nvSpPr>
        <p:spPr>
          <a:xfrm>
            <a:off x="5624513" y="5775325"/>
            <a:ext cx="796693"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day : String</a:t>
            </a:r>
            <a:endParaRPr sz="1100">
              <a:solidFill>
                <a:srgbClr val="000000"/>
              </a:solidFill>
              <a:latin typeface="Arial"/>
              <a:ea typeface="Arial"/>
              <a:cs typeface="Arial"/>
              <a:sym typeface="Arial"/>
            </a:endParaRPr>
          </a:p>
        </p:txBody>
      </p:sp>
      <p:sp>
        <p:nvSpPr>
          <p:cNvPr id="1153" name="Google Shape;1153;p36"/>
          <p:cNvSpPr/>
          <p:nvPr/>
        </p:nvSpPr>
        <p:spPr>
          <a:xfrm>
            <a:off x="5624513" y="6080125"/>
            <a:ext cx="3176587"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addStudent ( [in] aStudentSchedule : Schedule)</a:t>
            </a:r>
            <a:endParaRPr/>
          </a:p>
        </p:txBody>
      </p:sp>
      <p:sp>
        <p:nvSpPr>
          <p:cNvPr id="1154" name="Google Shape;1154;p36"/>
          <p:cNvSpPr/>
          <p:nvPr/>
        </p:nvSpPr>
        <p:spPr>
          <a:xfrm>
            <a:off x="5624513" y="6237288"/>
            <a:ext cx="3012043"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removeStudent ( [in] aStudentSchedule : Schedule)</a:t>
            </a:r>
            <a:endParaRPr/>
          </a:p>
        </p:txBody>
      </p:sp>
      <p:sp>
        <p:nvSpPr>
          <p:cNvPr id="1155" name="Google Shape;1155;p36"/>
          <p:cNvSpPr/>
          <p:nvPr/>
        </p:nvSpPr>
        <p:spPr>
          <a:xfrm>
            <a:off x="5624513" y="6396038"/>
            <a:ext cx="511358"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new ()</a:t>
            </a:r>
            <a:endParaRPr sz="1100">
              <a:solidFill>
                <a:srgbClr val="000000"/>
              </a:solidFill>
              <a:latin typeface="Arial"/>
              <a:ea typeface="Arial"/>
              <a:cs typeface="Arial"/>
              <a:sym typeface="Arial"/>
            </a:endParaRPr>
          </a:p>
        </p:txBody>
      </p:sp>
      <p:sp>
        <p:nvSpPr>
          <p:cNvPr id="1156" name="Google Shape;1156;p36"/>
          <p:cNvSpPr/>
          <p:nvPr/>
        </p:nvSpPr>
        <p:spPr>
          <a:xfrm>
            <a:off x="5624537" y="6553200"/>
            <a:ext cx="1450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setData ()</a:t>
            </a:r>
            <a:endParaRPr sz="1100">
              <a:solidFill>
                <a:srgbClr val="000000"/>
              </a:solidFill>
              <a:latin typeface="Arial"/>
              <a:ea typeface="Arial"/>
              <a:cs typeface="Arial"/>
              <a:sym typeface="Arial"/>
            </a:endParaRPr>
          </a:p>
        </p:txBody>
      </p:sp>
      <p:sp>
        <p:nvSpPr>
          <p:cNvPr id="1157" name="Google Shape;1157;p36"/>
          <p:cNvSpPr/>
          <p:nvPr/>
        </p:nvSpPr>
        <p:spPr>
          <a:xfrm>
            <a:off x="7154863" y="4064000"/>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sp>
        <p:nvSpPr>
          <p:cNvPr id="1158" name="Google Shape;1158;p36"/>
          <p:cNvSpPr/>
          <p:nvPr/>
        </p:nvSpPr>
        <p:spPr>
          <a:xfrm>
            <a:off x="7154892" y="4567250"/>
            <a:ext cx="5841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0..4</a:t>
            </a:r>
            <a:endParaRPr sz="1100">
              <a:solidFill>
                <a:srgbClr val="000000"/>
              </a:solidFill>
              <a:latin typeface="Arial"/>
              <a:ea typeface="Arial"/>
              <a:cs typeface="Arial"/>
              <a:sym typeface="Arial"/>
            </a:endParaRPr>
          </a:p>
        </p:txBody>
      </p:sp>
      <p:sp>
        <p:nvSpPr>
          <p:cNvPr id="1159" name="Google Shape;1159;p36"/>
          <p:cNvSpPr/>
          <p:nvPr/>
        </p:nvSpPr>
        <p:spPr>
          <a:xfrm>
            <a:off x="7031057" y="4398978"/>
            <a:ext cx="1747800" cy="244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primaryCourses</a:t>
            </a:r>
            <a:endParaRPr sz="1100">
              <a:solidFill>
                <a:srgbClr val="000000"/>
              </a:solidFill>
              <a:latin typeface="Arial"/>
              <a:ea typeface="Arial"/>
              <a:cs typeface="Arial"/>
              <a:sym typeface="Arial"/>
            </a:endParaRPr>
          </a:p>
        </p:txBody>
      </p:sp>
      <p:sp>
        <p:nvSpPr>
          <p:cNvPr id="1160" name="Google Shape;1160;p36"/>
          <p:cNvSpPr/>
          <p:nvPr/>
        </p:nvSpPr>
        <p:spPr>
          <a:xfrm>
            <a:off x="5975350" y="4064000"/>
            <a:ext cx="207963"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sp>
        <p:nvSpPr>
          <p:cNvPr id="1161" name="Google Shape;1161;p36"/>
          <p:cNvSpPr/>
          <p:nvPr/>
        </p:nvSpPr>
        <p:spPr>
          <a:xfrm>
            <a:off x="5700700" y="4567250"/>
            <a:ext cx="4809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0..2</a:t>
            </a:r>
            <a:endParaRPr sz="1100">
              <a:solidFill>
                <a:srgbClr val="000000"/>
              </a:solidFill>
              <a:latin typeface="Arial"/>
              <a:ea typeface="Arial"/>
              <a:cs typeface="Arial"/>
              <a:sym typeface="Arial"/>
            </a:endParaRPr>
          </a:p>
        </p:txBody>
      </p:sp>
      <p:sp>
        <p:nvSpPr>
          <p:cNvPr id="1162" name="Google Shape;1162;p36"/>
          <p:cNvSpPr/>
          <p:nvPr/>
        </p:nvSpPr>
        <p:spPr>
          <a:xfrm>
            <a:off x="5122863" y="4398963"/>
            <a:ext cx="106362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alternateCourses</a:t>
            </a:r>
            <a:endParaRPr sz="1100">
              <a:solidFill>
                <a:srgbClr val="000000"/>
              </a:solidFill>
              <a:latin typeface="Arial"/>
              <a:ea typeface="Arial"/>
              <a:cs typeface="Arial"/>
              <a:sym typeface="Arial"/>
            </a:endParaRPr>
          </a:p>
        </p:txBody>
      </p:sp>
      <p:cxnSp>
        <p:nvCxnSpPr>
          <p:cNvPr id="1163" name="Google Shape;1163;p36"/>
          <p:cNvCxnSpPr/>
          <p:nvPr/>
        </p:nvCxnSpPr>
        <p:spPr>
          <a:xfrm>
            <a:off x="6340475" y="4003675"/>
            <a:ext cx="0" cy="757238"/>
          </a:xfrm>
          <a:prstGeom prst="straightConnector1">
            <a:avLst/>
          </a:prstGeom>
          <a:noFill/>
          <a:ln cap="flat" cmpd="sng" w="12700">
            <a:solidFill>
              <a:schemeClr val="dk1"/>
            </a:solidFill>
            <a:prstDash val="solid"/>
            <a:round/>
            <a:headEnd len="med" w="med" type="none"/>
            <a:tailEnd len="lg" w="lg" type="stealth"/>
          </a:ln>
        </p:spPr>
      </p:cxnSp>
      <p:cxnSp>
        <p:nvCxnSpPr>
          <p:cNvPr id="1164" name="Google Shape;1164;p36"/>
          <p:cNvCxnSpPr/>
          <p:nvPr/>
        </p:nvCxnSpPr>
        <p:spPr>
          <a:xfrm>
            <a:off x="6946900" y="3994150"/>
            <a:ext cx="0" cy="787400"/>
          </a:xfrm>
          <a:prstGeom prst="straightConnector1">
            <a:avLst/>
          </a:prstGeom>
          <a:noFill/>
          <a:ln cap="flat" cmpd="sng" w="12700">
            <a:solidFill>
              <a:schemeClr val="dk1"/>
            </a:solidFill>
            <a:prstDash val="solid"/>
            <a:round/>
            <a:headEnd len="med" w="med" type="none"/>
            <a:tailEnd len="med" w="med" type="none"/>
          </a:ln>
        </p:spPr>
      </p:cxnSp>
      <p:sp>
        <p:nvSpPr>
          <p:cNvPr id="1165" name="Google Shape;1165;p36"/>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0" name="Shape 1170"/>
        <p:cNvGrpSpPr/>
        <p:nvPr/>
      </p:nvGrpSpPr>
      <p:grpSpPr>
        <a:xfrm>
          <a:off x="0" y="0"/>
          <a:ext cx="0" cy="0"/>
          <a:chOff x="0" y="0"/>
          <a:chExt cx="0" cy="0"/>
        </a:xfrm>
      </p:grpSpPr>
      <p:sp>
        <p:nvSpPr>
          <p:cNvPr id="1171" name="Google Shape;1171;p37"/>
          <p:cNvSpPr txBox="1"/>
          <p:nvPr>
            <p:ph type="title"/>
          </p:nvPr>
        </p:nvSpPr>
        <p:spPr>
          <a:xfrm>
            <a:off x="1447800" y="206375"/>
            <a:ext cx="7696200" cy="533400"/>
          </a:xfrm>
          <a:prstGeom prst="rect">
            <a:avLst/>
          </a:prstGeom>
          <a:noFill/>
          <a:ln>
            <a:noFill/>
          </a:ln>
        </p:spPr>
        <p:txBody>
          <a:bodyPr anchorCtr="0" anchor="ctr" bIns="46025" lIns="92075" spcFirstLastPara="1" rIns="92075" wrap="square" tIns="46025">
            <a:noAutofit/>
          </a:bodyPr>
          <a:lstStyle/>
          <a:p>
            <a:pPr indent="0" lvl="0" marL="0" rtl="0" algn="ctr">
              <a:spcBef>
                <a:spcPts val="0"/>
              </a:spcBef>
              <a:spcAft>
                <a:spcPts val="0"/>
              </a:spcAft>
              <a:buNone/>
            </a:pPr>
            <a:r>
              <a:rPr lang="en-US" sz="2800"/>
              <a:t>Example:  Define Dependencies (after)</a:t>
            </a:r>
            <a:endParaRPr/>
          </a:p>
        </p:txBody>
      </p:sp>
      <p:cxnSp>
        <p:nvCxnSpPr>
          <p:cNvPr id="1172" name="Google Shape;1172;p37"/>
          <p:cNvCxnSpPr/>
          <p:nvPr/>
        </p:nvCxnSpPr>
        <p:spPr>
          <a:xfrm>
            <a:off x="2814638" y="2481263"/>
            <a:ext cx="3028950" cy="635000"/>
          </a:xfrm>
          <a:prstGeom prst="straightConnector1">
            <a:avLst/>
          </a:prstGeom>
          <a:noFill/>
          <a:ln cap="flat" cmpd="sng" w="12700">
            <a:solidFill>
              <a:schemeClr val="dk1"/>
            </a:solidFill>
            <a:prstDash val="solid"/>
            <a:round/>
            <a:headEnd len="med" w="med" type="none"/>
            <a:tailEnd len="lg" w="lg" type="stealth"/>
          </a:ln>
        </p:spPr>
      </p:cxnSp>
      <p:cxnSp>
        <p:nvCxnSpPr>
          <p:cNvPr id="1173" name="Google Shape;1173;p37"/>
          <p:cNvCxnSpPr/>
          <p:nvPr/>
        </p:nvCxnSpPr>
        <p:spPr>
          <a:xfrm>
            <a:off x="4838700" y="5689600"/>
            <a:ext cx="723900" cy="0"/>
          </a:xfrm>
          <a:prstGeom prst="straightConnector1">
            <a:avLst/>
          </a:prstGeom>
          <a:noFill/>
          <a:ln cap="flat" cmpd="sng" w="12700">
            <a:solidFill>
              <a:schemeClr val="dk1"/>
            </a:solidFill>
            <a:prstDash val="lgDash"/>
            <a:round/>
            <a:headEnd len="med" w="med" type="none"/>
            <a:tailEnd len="lg" w="lg" type="stealth"/>
          </a:ln>
        </p:spPr>
      </p:cxnSp>
      <p:sp>
        <p:nvSpPr>
          <p:cNvPr id="1174" name="Google Shape;1174;p37"/>
          <p:cNvSpPr/>
          <p:nvPr/>
        </p:nvSpPr>
        <p:spPr>
          <a:xfrm>
            <a:off x="4165600" y="1320800"/>
            <a:ext cx="4613275" cy="9096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75" name="Google Shape;1175;p37"/>
          <p:cNvSpPr/>
          <p:nvPr/>
        </p:nvSpPr>
        <p:spPr>
          <a:xfrm>
            <a:off x="5778500" y="1417638"/>
            <a:ext cx="1436688" cy="3365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&lt;&lt;interface&gt;&gt;</a:t>
            </a:r>
            <a:endParaRPr/>
          </a:p>
          <a:p>
            <a:pPr indent="0" lvl="0" marL="0" marR="0" rtl="0" algn="ctr">
              <a:spcBef>
                <a:spcPts val="0"/>
              </a:spcBef>
              <a:spcAft>
                <a:spcPts val="0"/>
              </a:spcAft>
              <a:buNone/>
            </a:pPr>
            <a:r>
              <a:rPr lang="en-US" sz="1100">
                <a:solidFill>
                  <a:srgbClr val="000000"/>
                </a:solidFill>
                <a:latin typeface="Arial"/>
                <a:ea typeface="Arial"/>
                <a:cs typeface="Arial"/>
                <a:sym typeface="Arial"/>
              </a:rPr>
              <a:t>ICourseCatalogSystem</a:t>
            </a:r>
            <a:endParaRPr sz="1100">
              <a:solidFill>
                <a:srgbClr val="000000"/>
              </a:solidFill>
              <a:latin typeface="Arial"/>
              <a:ea typeface="Arial"/>
              <a:cs typeface="Arial"/>
              <a:sym typeface="Arial"/>
            </a:endParaRPr>
          </a:p>
        </p:txBody>
      </p:sp>
      <p:sp>
        <p:nvSpPr>
          <p:cNvPr id="1176" name="Google Shape;1176;p37"/>
          <p:cNvSpPr/>
          <p:nvPr/>
        </p:nvSpPr>
        <p:spPr>
          <a:xfrm>
            <a:off x="4165600" y="1806575"/>
            <a:ext cx="4613275" cy="4238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77" name="Google Shape;1177;p37"/>
          <p:cNvSpPr/>
          <p:nvPr/>
        </p:nvSpPr>
        <p:spPr>
          <a:xfrm>
            <a:off x="4165600" y="1903413"/>
            <a:ext cx="4613275" cy="3270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78" name="Google Shape;1178;p37"/>
          <p:cNvSpPr/>
          <p:nvPr/>
        </p:nvSpPr>
        <p:spPr>
          <a:xfrm>
            <a:off x="4206875" y="2001850"/>
            <a:ext cx="5098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getCourseOfferings ( [in] forSemester : Semester) : CourseOfferingList</a:t>
            </a:r>
            <a:endParaRPr sz="1100">
              <a:solidFill>
                <a:srgbClr val="000000"/>
              </a:solidFill>
              <a:latin typeface="Arial"/>
              <a:ea typeface="Arial"/>
              <a:cs typeface="Arial"/>
              <a:sym typeface="Arial"/>
            </a:endParaRPr>
          </a:p>
        </p:txBody>
      </p:sp>
      <p:grpSp>
        <p:nvGrpSpPr>
          <p:cNvPr id="1179" name="Google Shape;1179;p37"/>
          <p:cNvGrpSpPr/>
          <p:nvPr/>
        </p:nvGrpSpPr>
        <p:grpSpPr>
          <a:xfrm>
            <a:off x="374650" y="1333500"/>
            <a:ext cx="2438400" cy="1384300"/>
            <a:chOff x="452" y="1360"/>
            <a:chExt cx="2304" cy="872"/>
          </a:xfrm>
        </p:grpSpPr>
        <p:sp>
          <p:nvSpPr>
            <p:cNvPr id="1180" name="Google Shape;1180;p37"/>
            <p:cNvSpPr/>
            <p:nvPr/>
          </p:nvSpPr>
          <p:spPr>
            <a:xfrm>
              <a:off x="452" y="1360"/>
              <a:ext cx="2304" cy="872"/>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1" name="Google Shape;1181;p37"/>
            <p:cNvSpPr/>
            <p:nvPr/>
          </p:nvSpPr>
          <p:spPr>
            <a:xfrm>
              <a:off x="452" y="1654"/>
              <a:ext cx="2304" cy="57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82" name="Google Shape;1182;p37"/>
            <p:cNvSpPr/>
            <p:nvPr/>
          </p:nvSpPr>
          <p:spPr>
            <a:xfrm>
              <a:off x="452" y="1727"/>
              <a:ext cx="2304" cy="50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grpSp>
      <p:sp>
        <p:nvSpPr>
          <p:cNvPr id="1183" name="Google Shape;1183;p37"/>
          <p:cNvSpPr/>
          <p:nvPr/>
        </p:nvSpPr>
        <p:spPr>
          <a:xfrm>
            <a:off x="920750" y="1531938"/>
            <a:ext cx="13525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RegistrationController</a:t>
            </a:r>
            <a:endParaRPr sz="1100">
              <a:solidFill>
                <a:srgbClr val="000000"/>
              </a:solidFill>
              <a:latin typeface="Arial"/>
              <a:ea typeface="Arial"/>
              <a:cs typeface="Arial"/>
              <a:sym typeface="Arial"/>
            </a:endParaRPr>
          </a:p>
        </p:txBody>
      </p:sp>
      <p:sp>
        <p:nvSpPr>
          <p:cNvPr id="1184" name="Google Shape;1184;p37"/>
          <p:cNvSpPr/>
          <p:nvPr/>
        </p:nvSpPr>
        <p:spPr>
          <a:xfrm>
            <a:off x="431800" y="2016125"/>
            <a:ext cx="2133600" cy="11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submit schedule ()</a:t>
            </a:r>
            <a:endParaRPr sz="1100">
              <a:solidFill>
                <a:srgbClr val="000000"/>
              </a:solidFill>
              <a:latin typeface="Arial"/>
              <a:ea typeface="Arial"/>
              <a:cs typeface="Arial"/>
              <a:sym typeface="Arial"/>
            </a:endParaRPr>
          </a:p>
        </p:txBody>
      </p:sp>
      <p:sp>
        <p:nvSpPr>
          <p:cNvPr id="1185" name="Google Shape;1185;p37"/>
          <p:cNvSpPr/>
          <p:nvPr/>
        </p:nvSpPr>
        <p:spPr>
          <a:xfrm>
            <a:off x="431800" y="2173288"/>
            <a:ext cx="133350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save schedule ()</a:t>
            </a:r>
            <a:endParaRPr sz="1100">
              <a:solidFill>
                <a:srgbClr val="000000"/>
              </a:solidFill>
              <a:latin typeface="Arial"/>
              <a:ea typeface="Arial"/>
              <a:cs typeface="Arial"/>
              <a:sym typeface="Arial"/>
            </a:endParaRPr>
          </a:p>
        </p:txBody>
      </p:sp>
      <p:sp>
        <p:nvSpPr>
          <p:cNvPr id="1186" name="Google Shape;1186;p37"/>
          <p:cNvSpPr/>
          <p:nvPr/>
        </p:nvSpPr>
        <p:spPr>
          <a:xfrm>
            <a:off x="431800" y="2332050"/>
            <a:ext cx="27273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create schedule with offerings ()</a:t>
            </a:r>
            <a:endParaRPr sz="1100">
              <a:solidFill>
                <a:srgbClr val="000000"/>
              </a:solidFill>
              <a:latin typeface="Arial"/>
              <a:ea typeface="Arial"/>
              <a:cs typeface="Arial"/>
              <a:sym typeface="Arial"/>
            </a:endParaRPr>
          </a:p>
        </p:txBody>
      </p:sp>
      <p:sp>
        <p:nvSpPr>
          <p:cNvPr id="1187" name="Google Shape;1187;p37"/>
          <p:cNvSpPr/>
          <p:nvPr/>
        </p:nvSpPr>
        <p:spPr>
          <a:xfrm>
            <a:off x="431800" y="2489200"/>
            <a:ext cx="2197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 get course offerings ()</a:t>
            </a:r>
            <a:endParaRPr sz="1100">
              <a:solidFill>
                <a:srgbClr val="000000"/>
              </a:solidFill>
              <a:latin typeface="Arial"/>
              <a:ea typeface="Arial"/>
              <a:cs typeface="Arial"/>
              <a:sym typeface="Arial"/>
            </a:endParaRPr>
          </a:p>
        </p:txBody>
      </p:sp>
      <p:sp>
        <p:nvSpPr>
          <p:cNvPr id="1188" name="Google Shape;1188;p37"/>
          <p:cNvSpPr/>
          <p:nvPr/>
        </p:nvSpPr>
        <p:spPr>
          <a:xfrm>
            <a:off x="1400175" y="2800350"/>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189" name="Google Shape;1189;p37"/>
          <p:cNvSpPr/>
          <p:nvPr/>
        </p:nvSpPr>
        <p:spPr>
          <a:xfrm>
            <a:off x="1382713" y="4227513"/>
            <a:ext cx="745397"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registrant </a:t>
            </a:r>
            <a:endParaRPr sz="1100">
              <a:solidFill>
                <a:srgbClr val="000000"/>
              </a:solidFill>
              <a:latin typeface="Arial"/>
              <a:ea typeface="Arial"/>
              <a:cs typeface="Arial"/>
              <a:sym typeface="Arial"/>
            </a:endParaRPr>
          </a:p>
        </p:txBody>
      </p:sp>
      <p:cxnSp>
        <p:nvCxnSpPr>
          <p:cNvPr id="1190" name="Google Shape;1190;p37"/>
          <p:cNvCxnSpPr/>
          <p:nvPr/>
        </p:nvCxnSpPr>
        <p:spPr>
          <a:xfrm>
            <a:off x="2816225" y="1952625"/>
            <a:ext cx="1330325" cy="0"/>
          </a:xfrm>
          <a:prstGeom prst="straightConnector1">
            <a:avLst/>
          </a:prstGeom>
          <a:noFill/>
          <a:ln cap="flat" cmpd="sng" w="12700">
            <a:solidFill>
              <a:schemeClr val="dk1"/>
            </a:solidFill>
            <a:prstDash val="dash"/>
            <a:round/>
            <a:headEnd len="med" w="med" type="none"/>
            <a:tailEnd len="lg" w="lg" type="stealth"/>
          </a:ln>
        </p:spPr>
      </p:cxnSp>
      <p:sp>
        <p:nvSpPr>
          <p:cNvPr id="1191" name="Google Shape;1191;p37"/>
          <p:cNvSpPr/>
          <p:nvPr/>
        </p:nvSpPr>
        <p:spPr>
          <a:xfrm>
            <a:off x="5661025" y="2447925"/>
            <a:ext cx="1824038" cy="1541463"/>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2" name="Google Shape;1192;p37"/>
          <p:cNvSpPr/>
          <p:nvPr/>
        </p:nvSpPr>
        <p:spPr>
          <a:xfrm>
            <a:off x="6253163" y="2646363"/>
            <a:ext cx="58420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Schedule</a:t>
            </a:r>
            <a:endParaRPr sz="1100">
              <a:solidFill>
                <a:srgbClr val="000000"/>
              </a:solidFill>
              <a:latin typeface="Arial"/>
              <a:ea typeface="Arial"/>
              <a:cs typeface="Arial"/>
              <a:sym typeface="Arial"/>
            </a:endParaRPr>
          </a:p>
        </p:txBody>
      </p:sp>
      <p:sp>
        <p:nvSpPr>
          <p:cNvPr id="1193" name="Google Shape;1193;p37"/>
          <p:cNvSpPr/>
          <p:nvPr/>
        </p:nvSpPr>
        <p:spPr>
          <a:xfrm>
            <a:off x="5661025" y="2952750"/>
            <a:ext cx="1824038" cy="10366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4" name="Google Shape;1194;p37"/>
          <p:cNvSpPr/>
          <p:nvPr/>
        </p:nvSpPr>
        <p:spPr>
          <a:xfrm>
            <a:off x="5661025" y="3189288"/>
            <a:ext cx="1824038" cy="8001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195" name="Google Shape;1195;p37"/>
          <p:cNvSpPr/>
          <p:nvPr/>
        </p:nvSpPr>
        <p:spPr>
          <a:xfrm>
            <a:off x="5703908" y="2971800"/>
            <a:ext cx="2324700" cy="11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semester : Semester</a:t>
            </a:r>
            <a:endParaRPr sz="1100">
              <a:solidFill>
                <a:srgbClr val="000000"/>
              </a:solidFill>
              <a:latin typeface="Arial"/>
              <a:ea typeface="Arial"/>
              <a:cs typeface="Arial"/>
              <a:sym typeface="Arial"/>
            </a:endParaRPr>
          </a:p>
        </p:txBody>
      </p:sp>
      <p:sp>
        <p:nvSpPr>
          <p:cNvPr id="1196" name="Google Shape;1196;p37"/>
          <p:cNvSpPr/>
          <p:nvPr/>
        </p:nvSpPr>
        <p:spPr>
          <a:xfrm>
            <a:off x="5716588" y="3287713"/>
            <a:ext cx="836612"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submit ()</a:t>
            </a:r>
            <a:endParaRPr sz="1100">
              <a:solidFill>
                <a:srgbClr val="000000"/>
              </a:solidFill>
              <a:latin typeface="Arial"/>
              <a:ea typeface="Arial"/>
              <a:cs typeface="Arial"/>
              <a:sym typeface="Arial"/>
            </a:endParaRPr>
          </a:p>
        </p:txBody>
      </p:sp>
      <p:sp>
        <p:nvSpPr>
          <p:cNvPr id="1197" name="Google Shape;1197;p37"/>
          <p:cNvSpPr/>
          <p:nvPr/>
        </p:nvSpPr>
        <p:spPr>
          <a:xfrm>
            <a:off x="5716588" y="3446463"/>
            <a:ext cx="950912"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//save ()</a:t>
            </a:r>
            <a:endParaRPr sz="1100">
              <a:solidFill>
                <a:srgbClr val="000000"/>
              </a:solidFill>
              <a:latin typeface="Arial"/>
              <a:ea typeface="Arial"/>
              <a:cs typeface="Arial"/>
              <a:sym typeface="Arial"/>
            </a:endParaRPr>
          </a:p>
        </p:txBody>
      </p:sp>
      <p:sp>
        <p:nvSpPr>
          <p:cNvPr id="1198" name="Google Shape;1198;p37"/>
          <p:cNvSpPr/>
          <p:nvPr/>
        </p:nvSpPr>
        <p:spPr>
          <a:xfrm>
            <a:off x="5716606" y="3605225"/>
            <a:ext cx="1648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any conflicts? ()</a:t>
            </a:r>
            <a:endParaRPr sz="1100">
              <a:solidFill>
                <a:srgbClr val="000000"/>
              </a:solidFill>
              <a:latin typeface="Arial"/>
              <a:ea typeface="Arial"/>
              <a:cs typeface="Arial"/>
              <a:sym typeface="Arial"/>
            </a:endParaRPr>
          </a:p>
        </p:txBody>
      </p:sp>
      <p:sp>
        <p:nvSpPr>
          <p:cNvPr id="1199" name="Google Shape;1199;p37"/>
          <p:cNvSpPr/>
          <p:nvPr/>
        </p:nvSpPr>
        <p:spPr>
          <a:xfrm>
            <a:off x="5716588" y="3762375"/>
            <a:ext cx="155010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//create with offerings()</a:t>
            </a:r>
            <a:endParaRPr sz="1100">
              <a:solidFill>
                <a:srgbClr val="000000"/>
              </a:solidFill>
              <a:latin typeface="Arial"/>
              <a:ea typeface="Arial"/>
              <a:cs typeface="Arial"/>
              <a:sym typeface="Arial"/>
            </a:endParaRPr>
          </a:p>
        </p:txBody>
      </p:sp>
      <p:sp>
        <p:nvSpPr>
          <p:cNvPr id="1200" name="Google Shape;1200;p37"/>
          <p:cNvSpPr/>
          <p:nvPr/>
        </p:nvSpPr>
        <p:spPr>
          <a:xfrm>
            <a:off x="5367338" y="3925888"/>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sp>
        <p:nvSpPr>
          <p:cNvPr id="1201" name="Google Shape;1201;p37"/>
          <p:cNvSpPr/>
          <p:nvPr/>
        </p:nvSpPr>
        <p:spPr>
          <a:xfrm>
            <a:off x="2949575" y="2657475"/>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202" name="Google Shape;1202;p37"/>
          <p:cNvSpPr/>
          <p:nvPr/>
        </p:nvSpPr>
        <p:spPr>
          <a:xfrm>
            <a:off x="5130800" y="3194050"/>
            <a:ext cx="368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sp>
        <p:nvSpPr>
          <p:cNvPr id="1203" name="Google Shape;1203;p37"/>
          <p:cNvSpPr/>
          <p:nvPr/>
        </p:nvSpPr>
        <p:spPr>
          <a:xfrm>
            <a:off x="4492625" y="3387725"/>
            <a:ext cx="113665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currentSchedule</a:t>
            </a:r>
            <a:endParaRPr sz="1100">
              <a:solidFill>
                <a:srgbClr val="000000"/>
              </a:solidFill>
              <a:latin typeface="Arial"/>
              <a:ea typeface="Arial"/>
              <a:cs typeface="Arial"/>
              <a:sym typeface="Arial"/>
            </a:endParaRPr>
          </a:p>
        </p:txBody>
      </p:sp>
      <p:sp>
        <p:nvSpPr>
          <p:cNvPr id="1204" name="Google Shape;1204;p37"/>
          <p:cNvSpPr/>
          <p:nvPr/>
        </p:nvSpPr>
        <p:spPr>
          <a:xfrm>
            <a:off x="5568950" y="4759325"/>
            <a:ext cx="3200400" cy="201612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5" name="Google Shape;1205;p37"/>
          <p:cNvSpPr/>
          <p:nvPr/>
        </p:nvSpPr>
        <p:spPr>
          <a:xfrm>
            <a:off x="6597650" y="4956175"/>
            <a:ext cx="946150"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CourseOffering</a:t>
            </a:r>
            <a:endParaRPr sz="1100">
              <a:solidFill>
                <a:srgbClr val="000000"/>
              </a:solidFill>
              <a:latin typeface="Arial"/>
              <a:ea typeface="Arial"/>
              <a:cs typeface="Arial"/>
              <a:sym typeface="Arial"/>
            </a:endParaRPr>
          </a:p>
        </p:txBody>
      </p:sp>
      <p:sp>
        <p:nvSpPr>
          <p:cNvPr id="1206" name="Google Shape;1206;p37"/>
          <p:cNvSpPr/>
          <p:nvPr/>
        </p:nvSpPr>
        <p:spPr>
          <a:xfrm>
            <a:off x="5568950" y="5262563"/>
            <a:ext cx="3200400" cy="15128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7" name="Google Shape;1207;p37"/>
          <p:cNvSpPr/>
          <p:nvPr/>
        </p:nvSpPr>
        <p:spPr>
          <a:xfrm>
            <a:off x="5568950" y="5973763"/>
            <a:ext cx="3200400" cy="801687"/>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08" name="Google Shape;1208;p37"/>
          <p:cNvSpPr/>
          <p:nvPr/>
        </p:nvSpPr>
        <p:spPr>
          <a:xfrm>
            <a:off x="5624513" y="5295900"/>
            <a:ext cx="1540486"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number : String = "100"</a:t>
            </a:r>
            <a:endParaRPr sz="1100">
              <a:solidFill>
                <a:srgbClr val="000000"/>
              </a:solidFill>
              <a:latin typeface="Arial"/>
              <a:ea typeface="Arial"/>
              <a:cs typeface="Arial"/>
              <a:sym typeface="Arial"/>
            </a:endParaRPr>
          </a:p>
        </p:txBody>
      </p:sp>
      <p:sp>
        <p:nvSpPr>
          <p:cNvPr id="1209" name="Google Shape;1209;p37"/>
          <p:cNvSpPr/>
          <p:nvPr/>
        </p:nvSpPr>
        <p:spPr>
          <a:xfrm>
            <a:off x="5624513" y="5453063"/>
            <a:ext cx="110126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startTime : Time</a:t>
            </a:r>
            <a:endParaRPr sz="1100">
              <a:solidFill>
                <a:srgbClr val="000000"/>
              </a:solidFill>
              <a:latin typeface="Arial"/>
              <a:ea typeface="Arial"/>
              <a:cs typeface="Arial"/>
              <a:sym typeface="Arial"/>
            </a:endParaRPr>
          </a:p>
        </p:txBody>
      </p:sp>
      <p:sp>
        <p:nvSpPr>
          <p:cNvPr id="1210" name="Google Shape;1210;p37"/>
          <p:cNvSpPr/>
          <p:nvPr/>
        </p:nvSpPr>
        <p:spPr>
          <a:xfrm>
            <a:off x="5624513" y="5611813"/>
            <a:ext cx="1054100"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endTime : Time</a:t>
            </a:r>
            <a:endParaRPr sz="1100">
              <a:solidFill>
                <a:srgbClr val="000000"/>
              </a:solidFill>
              <a:latin typeface="Arial"/>
              <a:ea typeface="Arial"/>
              <a:cs typeface="Arial"/>
              <a:sym typeface="Arial"/>
            </a:endParaRPr>
          </a:p>
        </p:txBody>
      </p:sp>
      <p:sp>
        <p:nvSpPr>
          <p:cNvPr id="1211" name="Google Shape;1211;p37"/>
          <p:cNvSpPr/>
          <p:nvPr/>
        </p:nvSpPr>
        <p:spPr>
          <a:xfrm>
            <a:off x="5624513" y="5768975"/>
            <a:ext cx="796693"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day : String</a:t>
            </a:r>
            <a:endParaRPr sz="1100">
              <a:solidFill>
                <a:srgbClr val="000000"/>
              </a:solidFill>
              <a:latin typeface="Arial"/>
              <a:ea typeface="Arial"/>
              <a:cs typeface="Arial"/>
              <a:sym typeface="Arial"/>
            </a:endParaRPr>
          </a:p>
        </p:txBody>
      </p:sp>
      <p:sp>
        <p:nvSpPr>
          <p:cNvPr id="1212" name="Google Shape;1212;p37"/>
          <p:cNvSpPr/>
          <p:nvPr/>
        </p:nvSpPr>
        <p:spPr>
          <a:xfrm>
            <a:off x="5624513" y="6073775"/>
            <a:ext cx="3176587"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addStudent ( [in] aStudentSchedule : Schedule)</a:t>
            </a:r>
            <a:endParaRPr/>
          </a:p>
        </p:txBody>
      </p:sp>
      <p:sp>
        <p:nvSpPr>
          <p:cNvPr id="1213" name="Google Shape;1213;p37"/>
          <p:cNvSpPr/>
          <p:nvPr/>
        </p:nvSpPr>
        <p:spPr>
          <a:xfrm>
            <a:off x="5624513" y="6230938"/>
            <a:ext cx="3012043" cy="1538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000">
                <a:solidFill>
                  <a:srgbClr val="000000"/>
                </a:solidFill>
                <a:latin typeface="Arial"/>
                <a:ea typeface="Arial"/>
                <a:cs typeface="Arial"/>
                <a:sym typeface="Arial"/>
              </a:rPr>
              <a:t>+ removeStudent ( [in] aStudentSchedule : Schedule)</a:t>
            </a:r>
            <a:endParaRPr/>
          </a:p>
        </p:txBody>
      </p:sp>
      <p:sp>
        <p:nvSpPr>
          <p:cNvPr id="1214" name="Google Shape;1214;p37"/>
          <p:cNvSpPr/>
          <p:nvPr/>
        </p:nvSpPr>
        <p:spPr>
          <a:xfrm>
            <a:off x="5624513" y="6389688"/>
            <a:ext cx="511358"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new ()</a:t>
            </a:r>
            <a:endParaRPr sz="1100">
              <a:solidFill>
                <a:srgbClr val="000000"/>
              </a:solidFill>
              <a:latin typeface="Arial"/>
              <a:ea typeface="Arial"/>
              <a:cs typeface="Arial"/>
              <a:sym typeface="Arial"/>
            </a:endParaRPr>
          </a:p>
        </p:txBody>
      </p:sp>
      <p:sp>
        <p:nvSpPr>
          <p:cNvPr id="1215" name="Google Shape;1215;p37"/>
          <p:cNvSpPr/>
          <p:nvPr/>
        </p:nvSpPr>
        <p:spPr>
          <a:xfrm>
            <a:off x="5624545" y="6546850"/>
            <a:ext cx="1919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setData ()</a:t>
            </a:r>
            <a:endParaRPr sz="1100">
              <a:solidFill>
                <a:srgbClr val="000000"/>
              </a:solidFill>
              <a:latin typeface="Arial"/>
              <a:ea typeface="Arial"/>
              <a:cs typeface="Arial"/>
              <a:sym typeface="Arial"/>
            </a:endParaRPr>
          </a:p>
        </p:txBody>
      </p:sp>
      <p:sp>
        <p:nvSpPr>
          <p:cNvPr id="1216" name="Google Shape;1216;p37"/>
          <p:cNvSpPr/>
          <p:nvPr/>
        </p:nvSpPr>
        <p:spPr>
          <a:xfrm>
            <a:off x="7081855" y="4560900"/>
            <a:ext cx="304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0..4</a:t>
            </a:r>
            <a:endParaRPr sz="1100">
              <a:solidFill>
                <a:srgbClr val="000000"/>
              </a:solidFill>
              <a:latin typeface="Arial"/>
              <a:ea typeface="Arial"/>
              <a:cs typeface="Arial"/>
              <a:sym typeface="Arial"/>
            </a:endParaRPr>
          </a:p>
        </p:txBody>
      </p:sp>
      <p:sp>
        <p:nvSpPr>
          <p:cNvPr id="1217" name="Google Shape;1217;p37"/>
          <p:cNvSpPr/>
          <p:nvPr/>
        </p:nvSpPr>
        <p:spPr>
          <a:xfrm>
            <a:off x="5599146" y="4057650"/>
            <a:ext cx="5841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sp>
        <p:nvSpPr>
          <p:cNvPr id="1218" name="Google Shape;1218;p37"/>
          <p:cNvSpPr/>
          <p:nvPr/>
        </p:nvSpPr>
        <p:spPr>
          <a:xfrm>
            <a:off x="5576900" y="4560900"/>
            <a:ext cx="6048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0..2</a:t>
            </a:r>
            <a:endParaRPr sz="1100">
              <a:solidFill>
                <a:srgbClr val="000000"/>
              </a:solidFill>
              <a:latin typeface="Arial"/>
              <a:ea typeface="Arial"/>
              <a:cs typeface="Arial"/>
              <a:sym typeface="Arial"/>
            </a:endParaRPr>
          </a:p>
        </p:txBody>
      </p:sp>
      <p:sp>
        <p:nvSpPr>
          <p:cNvPr id="1219" name="Google Shape;1219;p37"/>
          <p:cNvSpPr/>
          <p:nvPr/>
        </p:nvSpPr>
        <p:spPr>
          <a:xfrm>
            <a:off x="5122863" y="4411663"/>
            <a:ext cx="106362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alternateCourses</a:t>
            </a:r>
            <a:endParaRPr sz="1100">
              <a:solidFill>
                <a:srgbClr val="000000"/>
              </a:solidFill>
              <a:latin typeface="Arial"/>
              <a:ea typeface="Arial"/>
              <a:cs typeface="Arial"/>
              <a:sym typeface="Arial"/>
            </a:endParaRPr>
          </a:p>
        </p:txBody>
      </p:sp>
      <p:cxnSp>
        <p:nvCxnSpPr>
          <p:cNvPr id="1220" name="Google Shape;1220;p37"/>
          <p:cNvCxnSpPr/>
          <p:nvPr/>
        </p:nvCxnSpPr>
        <p:spPr>
          <a:xfrm>
            <a:off x="6340475" y="3997325"/>
            <a:ext cx="0" cy="757238"/>
          </a:xfrm>
          <a:prstGeom prst="straightConnector1">
            <a:avLst/>
          </a:prstGeom>
          <a:noFill/>
          <a:ln cap="flat" cmpd="sng" w="12700">
            <a:solidFill>
              <a:schemeClr val="dk1"/>
            </a:solidFill>
            <a:prstDash val="solid"/>
            <a:round/>
            <a:headEnd len="med" w="med" type="none"/>
            <a:tailEnd len="lg" w="lg" type="stealth"/>
          </a:ln>
        </p:spPr>
      </p:cxnSp>
      <p:cxnSp>
        <p:nvCxnSpPr>
          <p:cNvPr id="1221" name="Google Shape;1221;p37"/>
          <p:cNvCxnSpPr/>
          <p:nvPr/>
        </p:nvCxnSpPr>
        <p:spPr>
          <a:xfrm>
            <a:off x="6946900" y="3987800"/>
            <a:ext cx="0" cy="787400"/>
          </a:xfrm>
          <a:prstGeom prst="straightConnector1">
            <a:avLst/>
          </a:prstGeom>
          <a:noFill/>
          <a:ln cap="flat" cmpd="sng" w="12700">
            <a:solidFill>
              <a:schemeClr val="dk1"/>
            </a:solidFill>
            <a:prstDash val="solid"/>
            <a:round/>
            <a:headEnd len="med" w="med" type="none"/>
            <a:tailEnd len="med" w="med" type="none"/>
          </a:ln>
        </p:spPr>
      </p:cxnSp>
      <p:cxnSp>
        <p:nvCxnSpPr>
          <p:cNvPr id="1222" name="Google Shape;1222;p37"/>
          <p:cNvCxnSpPr/>
          <p:nvPr/>
        </p:nvCxnSpPr>
        <p:spPr>
          <a:xfrm>
            <a:off x="4348163" y="3717925"/>
            <a:ext cx="495300" cy="501650"/>
          </a:xfrm>
          <a:prstGeom prst="straightConnector1">
            <a:avLst/>
          </a:prstGeom>
          <a:noFill/>
          <a:ln cap="flat" cmpd="sng" w="28575">
            <a:solidFill>
              <a:schemeClr val="hlink"/>
            </a:solidFill>
            <a:prstDash val="solid"/>
            <a:round/>
            <a:headEnd len="sm" w="sm" type="none"/>
            <a:tailEnd len="med" w="med" type="triangle"/>
          </a:ln>
        </p:spPr>
      </p:cxnSp>
      <p:sp>
        <p:nvSpPr>
          <p:cNvPr id="1223" name="Google Shape;1223;p37"/>
          <p:cNvSpPr txBox="1"/>
          <p:nvPr/>
        </p:nvSpPr>
        <p:spPr>
          <a:xfrm>
            <a:off x="3643313" y="2281238"/>
            <a:ext cx="18542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Global visibility</a:t>
            </a:r>
            <a:endParaRPr/>
          </a:p>
        </p:txBody>
      </p:sp>
      <p:sp>
        <p:nvSpPr>
          <p:cNvPr id="1224" name="Google Shape;1224;p37"/>
          <p:cNvSpPr txBox="1"/>
          <p:nvPr/>
        </p:nvSpPr>
        <p:spPr>
          <a:xfrm>
            <a:off x="2719388" y="6491288"/>
            <a:ext cx="219710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Parameter visibility</a:t>
            </a:r>
            <a:endParaRPr/>
          </a:p>
        </p:txBody>
      </p:sp>
      <p:cxnSp>
        <p:nvCxnSpPr>
          <p:cNvPr id="1225" name="Google Shape;1225;p37"/>
          <p:cNvCxnSpPr/>
          <p:nvPr/>
        </p:nvCxnSpPr>
        <p:spPr>
          <a:xfrm rot="10800000">
            <a:off x="3384550" y="1992313"/>
            <a:ext cx="368300" cy="371475"/>
          </a:xfrm>
          <a:prstGeom prst="straightConnector1">
            <a:avLst/>
          </a:prstGeom>
          <a:noFill/>
          <a:ln cap="flat" cmpd="sng" w="28575">
            <a:solidFill>
              <a:schemeClr val="hlink"/>
            </a:solidFill>
            <a:prstDash val="solid"/>
            <a:round/>
            <a:headEnd len="sm" w="sm" type="none"/>
            <a:tailEnd len="med" w="med" type="triangle"/>
          </a:ln>
        </p:spPr>
      </p:cxnSp>
      <p:sp>
        <p:nvSpPr>
          <p:cNvPr id="1226" name="Google Shape;1226;p37"/>
          <p:cNvSpPr txBox="1"/>
          <p:nvPr/>
        </p:nvSpPr>
        <p:spPr>
          <a:xfrm>
            <a:off x="2765425" y="3433763"/>
            <a:ext cx="1733550" cy="36671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800">
                <a:solidFill>
                  <a:srgbClr val="FF0000"/>
                </a:solidFill>
                <a:latin typeface="Arial"/>
                <a:ea typeface="Arial"/>
                <a:cs typeface="Arial"/>
                <a:sym typeface="Arial"/>
              </a:rPr>
              <a:t>Field visibility</a:t>
            </a:r>
            <a:endParaRPr/>
          </a:p>
        </p:txBody>
      </p:sp>
      <p:cxnSp>
        <p:nvCxnSpPr>
          <p:cNvPr id="1227" name="Google Shape;1227;p37"/>
          <p:cNvCxnSpPr/>
          <p:nvPr/>
        </p:nvCxnSpPr>
        <p:spPr>
          <a:xfrm flipH="1" rot="10800000">
            <a:off x="4348163" y="2981325"/>
            <a:ext cx="604837" cy="612775"/>
          </a:xfrm>
          <a:prstGeom prst="straightConnector1">
            <a:avLst/>
          </a:prstGeom>
          <a:noFill/>
          <a:ln cap="flat" cmpd="sng" w="28575">
            <a:solidFill>
              <a:schemeClr val="hlink"/>
            </a:solidFill>
            <a:prstDash val="solid"/>
            <a:round/>
            <a:headEnd len="sm" w="sm" type="none"/>
            <a:tailEnd len="med" w="med" type="triangle"/>
          </a:ln>
        </p:spPr>
      </p:cxnSp>
      <p:cxnSp>
        <p:nvCxnSpPr>
          <p:cNvPr id="1228" name="Google Shape;1228;p37"/>
          <p:cNvCxnSpPr/>
          <p:nvPr/>
        </p:nvCxnSpPr>
        <p:spPr>
          <a:xfrm rot="10800000">
            <a:off x="1390650" y="3617913"/>
            <a:ext cx="1493838" cy="0"/>
          </a:xfrm>
          <a:prstGeom prst="straightConnector1">
            <a:avLst/>
          </a:prstGeom>
          <a:noFill/>
          <a:ln cap="flat" cmpd="sng" w="28575">
            <a:solidFill>
              <a:schemeClr val="hlink"/>
            </a:solidFill>
            <a:prstDash val="solid"/>
            <a:round/>
            <a:headEnd len="sm" w="sm" type="none"/>
            <a:tailEnd len="med" w="med" type="triangle"/>
          </a:ln>
        </p:spPr>
      </p:cxnSp>
      <p:cxnSp>
        <p:nvCxnSpPr>
          <p:cNvPr id="1229" name="Google Shape;1229;p37"/>
          <p:cNvCxnSpPr/>
          <p:nvPr/>
        </p:nvCxnSpPr>
        <p:spPr>
          <a:xfrm flipH="1">
            <a:off x="6992938" y="3951288"/>
            <a:ext cx="849312" cy="635000"/>
          </a:xfrm>
          <a:prstGeom prst="straightConnector1">
            <a:avLst/>
          </a:prstGeom>
          <a:noFill/>
          <a:ln cap="flat" cmpd="sng" w="28575">
            <a:solidFill>
              <a:schemeClr val="hlink"/>
            </a:solidFill>
            <a:prstDash val="solid"/>
            <a:round/>
            <a:headEnd len="sm" w="sm" type="none"/>
            <a:tailEnd len="med" w="med" type="triangle"/>
          </a:ln>
        </p:spPr>
      </p:cxnSp>
      <p:cxnSp>
        <p:nvCxnSpPr>
          <p:cNvPr id="1230" name="Google Shape;1230;p37"/>
          <p:cNvCxnSpPr/>
          <p:nvPr/>
        </p:nvCxnSpPr>
        <p:spPr>
          <a:xfrm flipH="1">
            <a:off x="6383338" y="3960813"/>
            <a:ext cx="1455737" cy="487362"/>
          </a:xfrm>
          <a:prstGeom prst="straightConnector1">
            <a:avLst/>
          </a:prstGeom>
          <a:noFill/>
          <a:ln cap="flat" cmpd="sng" w="28575">
            <a:solidFill>
              <a:schemeClr val="hlink"/>
            </a:solidFill>
            <a:prstDash val="solid"/>
            <a:round/>
            <a:headEnd len="sm" w="sm" type="none"/>
            <a:tailEnd len="med" w="med" type="triangle"/>
          </a:ln>
        </p:spPr>
      </p:cxnSp>
      <p:sp>
        <p:nvSpPr>
          <p:cNvPr id="1231" name="Google Shape;1231;p37"/>
          <p:cNvSpPr txBox="1"/>
          <p:nvPr/>
        </p:nvSpPr>
        <p:spPr>
          <a:xfrm>
            <a:off x="7851775" y="3475038"/>
            <a:ext cx="1022350" cy="5730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1" lang="en-US" sz="1800">
                <a:solidFill>
                  <a:srgbClr val="FF0000"/>
                </a:solidFill>
                <a:latin typeface="Arial"/>
                <a:ea typeface="Arial"/>
                <a:cs typeface="Arial"/>
                <a:sym typeface="Arial"/>
              </a:rPr>
              <a:t>Field </a:t>
            </a:r>
            <a:endParaRPr/>
          </a:p>
          <a:p>
            <a:pPr indent="0" lvl="0" marL="0" marR="0" rtl="0" algn="l">
              <a:lnSpc>
                <a:spcPct val="25000"/>
              </a:lnSpc>
              <a:spcBef>
                <a:spcPts val="900"/>
              </a:spcBef>
              <a:spcAft>
                <a:spcPts val="0"/>
              </a:spcAft>
              <a:buNone/>
            </a:pPr>
            <a:r>
              <a:rPr i="1" lang="en-US" sz="1800">
                <a:solidFill>
                  <a:srgbClr val="FF0000"/>
                </a:solidFill>
                <a:latin typeface="Arial"/>
                <a:ea typeface="Arial"/>
                <a:cs typeface="Arial"/>
                <a:sym typeface="Arial"/>
              </a:rPr>
              <a:t>visibility</a:t>
            </a:r>
            <a:endParaRPr/>
          </a:p>
        </p:txBody>
      </p:sp>
      <p:sp>
        <p:nvSpPr>
          <p:cNvPr id="1232" name="Google Shape;1232;p37"/>
          <p:cNvSpPr/>
          <p:nvPr/>
        </p:nvSpPr>
        <p:spPr>
          <a:xfrm>
            <a:off x="377825" y="4481513"/>
            <a:ext cx="4467225" cy="1857375"/>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3" name="Google Shape;1233;p37"/>
          <p:cNvSpPr/>
          <p:nvPr/>
        </p:nvSpPr>
        <p:spPr>
          <a:xfrm>
            <a:off x="2387600" y="4687888"/>
            <a:ext cx="481013" cy="1682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US" sz="1100">
                <a:solidFill>
                  <a:srgbClr val="000000"/>
                </a:solidFill>
                <a:latin typeface="Arial"/>
                <a:ea typeface="Arial"/>
                <a:cs typeface="Arial"/>
                <a:sym typeface="Arial"/>
              </a:rPr>
              <a:t>Student</a:t>
            </a:r>
            <a:endParaRPr sz="1100">
              <a:solidFill>
                <a:srgbClr val="000000"/>
              </a:solidFill>
              <a:latin typeface="Arial"/>
              <a:ea typeface="Arial"/>
              <a:cs typeface="Arial"/>
              <a:sym typeface="Arial"/>
            </a:endParaRPr>
          </a:p>
        </p:txBody>
      </p:sp>
      <p:sp>
        <p:nvSpPr>
          <p:cNvPr id="1234" name="Google Shape;1234;p37"/>
          <p:cNvSpPr/>
          <p:nvPr/>
        </p:nvSpPr>
        <p:spPr>
          <a:xfrm>
            <a:off x="377825" y="4984750"/>
            <a:ext cx="4467225" cy="1354138"/>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5" name="Google Shape;1235;p37"/>
          <p:cNvSpPr/>
          <p:nvPr/>
        </p:nvSpPr>
        <p:spPr>
          <a:xfrm>
            <a:off x="377825" y="5538788"/>
            <a:ext cx="4467225" cy="800100"/>
          </a:xfrm>
          <a:prstGeom prst="rect">
            <a:avLst/>
          </a:prstGeom>
          <a:solidFill>
            <a:srgbClr val="FFFFCC"/>
          </a:solidFill>
          <a:ln cap="flat" cmpd="sng" w="9525">
            <a:solidFill>
              <a:srgbClr val="99003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36" name="Google Shape;1236;p37"/>
          <p:cNvSpPr/>
          <p:nvPr/>
        </p:nvSpPr>
        <p:spPr>
          <a:xfrm>
            <a:off x="434975" y="5030800"/>
            <a:ext cx="1648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name</a:t>
            </a:r>
            <a:endParaRPr sz="1100">
              <a:solidFill>
                <a:srgbClr val="000000"/>
              </a:solidFill>
              <a:latin typeface="Arial"/>
              <a:ea typeface="Arial"/>
              <a:cs typeface="Arial"/>
              <a:sym typeface="Arial"/>
            </a:endParaRPr>
          </a:p>
        </p:txBody>
      </p:sp>
      <p:sp>
        <p:nvSpPr>
          <p:cNvPr id="1237" name="Google Shape;1237;p37"/>
          <p:cNvSpPr/>
          <p:nvPr/>
        </p:nvSpPr>
        <p:spPr>
          <a:xfrm>
            <a:off x="434975" y="5187950"/>
            <a:ext cx="2438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address</a:t>
            </a:r>
            <a:endParaRPr sz="1100">
              <a:solidFill>
                <a:srgbClr val="000000"/>
              </a:solidFill>
              <a:latin typeface="Arial"/>
              <a:ea typeface="Arial"/>
              <a:cs typeface="Arial"/>
              <a:sym typeface="Arial"/>
            </a:endParaRPr>
          </a:p>
        </p:txBody>
      </p:sp>
      <p:sp>
        <p:nvSpPr>
          <p:cNvPr id="1238" name="Google Shape;1238;p37"/>
          <p:cNvSpPr/>
          <p:nvPr/>
        </p:nvSpPr>
        <p:spPr>
          <a:xfrm>
            <a:off x="434975" y="5346700"/>
            <a:ext cx="25824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StudentID : int</a:t>
            </a:r>
            <a:endParaRPr sz="1100">
              <a:solidFill>
                <a:srgbClr val="000000"/>
              </a:solidFill>
              <a:latin typeface="Arial"/>
              <a:ea typeface="Arial"/>
              <a:cs typeface="Arial"/>
              <a:sym typeface="Arial"/>
            </a:endParaRPr>
          </a:p>
        </p:txBody>
      </p:sp>
      <p:sp>
        <p:nvSpPr>
          <p:cNvPr id="1239" name="Google Shape;1239;p37"/>
          <p:cNvSpPr/>
          <p:nvPr/>
        </p:nvSpPr>
        <p:spPr>
          <a:xfrm>
            <a:off x="434975" y="5637225"/>
            <a:ext cx="40989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addSchedule ( [in] aSchedule : Schedule )</a:t>
            </a:r>
            <a:endParaRPr sz="1100">
              <a:solidFill>
                <a:srgbClr val="000000"/>
              </a:solidFill>
              <a:latin typeface="Arial"/>
              <a:ea typeface="Arial"/>
              <a:cs typeface="Arial"/>
              <a:sym typeface="Arial"/>
            </a:endParaRPr>
          </a:p>
        </p:txBody>
      </p:sp>
      <p:sp>
        <p:nvSpPr>
          <p:cNvPr id="1240" name="Google Shape;1240;p37"/>
          <p:cNvSpPr/>
          <p:nvPr/>
        </p:nvSpPr>
        <p:spPr>
          <a:xfrm>
            <a:off x="434975" y="5795975"/>
            <a:ext cx="43719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getSchedule ( [in] forSemester : Semester ) : Schedule</a:t>
            </a:r>
            <a:endParaRPr/>
          </a:p>
        </p:txBody>
      </p:sp>
      <p:sp>
        <p:nvSpPr>
          <p:cNvPr id="1241" name="Google Shape;1241;p37"/>
          <p:cNvSpPr/>
          <p:nvPr/>
        </p:nvSpPr>
        <p:spPr>
          <a:xfrm>
            <a:off x="434975" y="5953125"/>
            <a:ext cx="48096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hasPrerequisites ( [in] forCourseOffering : CourseOffering ) : boolean</a:t>
            </a:r>
            <a:endParaRPr/>
          </a:p>
        </p:txBody>
      </p:sp>
      <p:sp>
        <p:nvSpPr>
          <p:cNvPr id="1242" name="Google Shape;1242;p37"/>
          <p:cNvSpPr/>
          <p:nvPr/>
        </p:nvSpPr>
        <p:spPr>
          <a:xfrm>
            <a:off x="434975" y="6111875"/>
            <a:ext cx="4371900" cy="117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passed ( [in] aCourseOffering : CourseOffering ) : boolean</a:t>
            </a:r>
            <a:endParaRPr/>
          </a:p>
        </p:txBody>
      </p:sp>
      <p:cxnSp>
        <p:nvCxnSpPr>
          <p:cNvPr id="1243" name="Google Shape;1243;p37"/>
          <p:cNvCxnSpPr/>
          <p:nvPr/>
        </p:nvCxnSpPr>
        <p:spPr>
          <a:xfrm>
            <a:off x="1300163" y="2735263"/>
            <a:ext cx="0" cy="1744662"/>
          </a:xfrm>
          <a:prstGeom prst="straightConnector1">
            <a:avLst/>
          </a:prstGeom>
          <a:noFill/>
          <a:ln cap="flat" cmpd="sng" w="12700">
            <a:solidFill>
              <a:schemeClr val="dk1"/>
            </a:solidFill>
            <a:prstDash val="solid"/>
            <a:round/>
            <a:headEnd len="med" w="med" type="none"/>
            <a:tailEnd len="lg" w="lg" type="stealth"/>
          </a:ln>
        </p:spPr>
      </p:cxnSp>
      <p:sp>
        <p:nvSpPr>
          <p:cNvPr id="1244" name="Google Shape;1244;p37"/>
          <p:cNvSpPr/>
          <p:nvPr/>
        </p:nvSpPr>
        <p:spPr>
          <a:xfrm>
            <a:off x="950913" y="4211638"/>
            <a:ext cx="231775"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0..1</a:t>
            </a:r>
            <a:endParaRPr sz="1100">
              <a:solidFill>
                <a:srgbClr val="000000"/>
              </a:solidFill>
              <a:latin typeface="Arial"/>
              <a:ea typeface="Arial"/>
              <a:cs typeface="Arial"/>
              <a:sym typeface="Arial"/>
            </a:endParaRPr>
          </a:p>
        </p:txBody>
      </p:sp>
      <p:cxnSp>
        <p:nvCxnSpPr>
          <p:cNvPr id="1245" name="Google Shape;1245;p37"/>
          <p:cNvCxnSpPr/>
          <p:nvPr/>
        </p:nvCxnSpPr>
        <p:spPr>
          <a:xfrm flipH="1">
            <a:off x="4781550" y="3624263"/>
            <a:ext cx="877888" cy="736600"/>
          </a:xfrm>
          <a:prstGeom prst="straightConnector1">
            <a:avLst/>
          </a:prstGeom>
          <a:noFill/>
          <a:ln cap="flat" cmpd="sng" w="12700">
            <a:solidFill>
              <a:schemeClr val="dk1"/>
            </a:solidFill>
            <a:prstDash val="solid"/>
            <a:round/>
            <a:headEnd len="med" w="med" type="none"/>
            <a:tailEnd len="med" w="med" type="none"/>
          </a:ln>
        </p:spPr>
      </p:cxnSp>
      <p:sp>
        <p:nvSpPr>
          <p:cNvPr id="1246" name="Google Shape;1246;p37"/>
          <p:cNvSpPr/>
          <p:nvPr/>
        </p:nvSpPr>
        <p:spPr>
          <a:xfrm>
            <a:off x="4533900" y="4229100"/>
            <a:ext cx="77788" cy="1682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1</a:t>
            </a:r>
            <a:endParaRPr sz="1100">
              <a:solidFill>
                <a:srgbClr val="000000"/>
              </a:solidFill>
              <a:latin typeface="Arial"/>
              <a:ea typeface="Arial"/>
              <a:cs typeface="Arial"/>
              <a:sym typeface="Arial"/>
            </a:endParaRPr>
          </a:p>
        </p:txBody>
      </p:sp>
      <p:sp>
        <p:nvSpPr>
          <p:cNvPr id="1247" name="Google Shape;1247;p37"/>
          <p:cNvSpPr/>
          <p:nvPr/>
        </p:nvSpPr>
        <p:spPr>
          <a:xfrm rot="-289266">
            <a:off x="4630738" y="4362450"/>
            <a:ext cx="157162" cy="104775"/>
          </a:xfrm>
          <a:custGeom>
            <a:rect b="b" l="l" r="r" t="t"/>
            <a:pathLst>
              <a:path extrusionOk="0" h="56" w="99">
                <a:moveTo>
                  <a:pt x="0" y="56"/>
                </a:moveTo>
                <a:lnTo>
                  <a:pt x="66" y="50"/>
                </a:lnTo>
                <a:lnTo>
                  <a:pt x="99" y="0"/>
                </a:lnTo>
                <a:lnTo>
                  <a:pt x="33" y="6"/>
                </a:lnTo>
                <a:lnTo>
                  <a:pt x="0" y="56"/>
                </a:lnTo>
                <a:close/>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48" name="Google Shape;1248;p37"/>
          <p:cNvSpPr/>
          <p:nvPr/>
        </p:nvSpPr>
        <p:spPr>
          <a:xfrm>
            <a:off x="4813300" y="5746750"/>
            <a:ext cx="304800" cy="958850"/>
          </a:xfrm>
          <a:custGeom>
            <a:rect b="b" l="l" r="r" t="t"/>
            <a:pathLst>
              <a:path extrusionOk="0" h="604" w="192">
                <a:moveTo>
                  <a:pt x="0" y="604"/>
                </a:moveTo>
                <a:lnTo>
                  <a:pt x="192" y="604"/>
                </a:lnTo>
                <a:lnTo>
                  <a:pt x="192" y="0"/>
                </a:lnTo>
              </a:path>
            </a:pathLst>
          </a:custGeom>
          <a:noFill/>
          <a:ln cap="flat" cmpd="sng" w="28575">
            <a:solidFill>
              <a:schemeClr val="hlink"/>
            </a:solidFill>
            <a:prstDash val="solid"/>
            <a:round/>
            <a:headEnd len="med" w="med" type="none"/>
            <a:tailEnd len="med" w="med" type="triangl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249" name="Google Shape;1249;p37"/>
          <p:cNvSpPr/>
          <p:nvPr/>
        </p:nvSpPr>
        <p:spPr>
          <a:xfrm>
            <a:off x="7154863" y="4057650"/>
            <a:ext cx="209994" cy="1692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0..*</a:t>
            </a:r>
            <a:endParaRPr sz="1100">
              <a:solidFill>
                <a:srgbClr val="000000"/>
              </a:solidFill>
              <a:latin typeface="Arial"/>
              <a:ea typeface="Arial"/>
              <a:cs typeface="Arial"/>
              <a:sym typeface="Arial"/>
            </a:endParaRPr>
          </a:p>
        </p:txBody>
      </p:sp>
      <p:sp>
        <p:nvSpPr>
          <p:cNvPr id="1250" name="Google Shape;1250;p37"/>
          <p:cNvSpPr/>
          <p:nvPr/>
        </p:nvSpPr>
        <p:spPr>
          <a:xfrm>
            <a:off x="7529531" y="4525975"/>
            <a:ext cx="1648200" cy="168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100">
                <a:solidFill>
                  <a:srgbClr val="000000"/>
                </a:solidFill>
                <a:latin typeface="Arial"/>
                <a:ea typeface="Arial"/>
                <a:cs typeface="Arial"/>
                <a:sym typeface="Arial"/>
              </a:rPr>
              <a:t>+ primaryCourses</a:t>
            </a:r>
            <a:endParaRPr sz="1100">
              <a:solidFill>
                <a:srgbClr val="000000"/>
              </a:solidFill>
              <a:latin typeface="Arial"/>
              <a:ea typeface="Arial"/>
              <a:cs typeface="Arial"/>
              <a:sym typeface="Arial"/>
            </a:endParaRPr>
          </a:p>
        </p:txBody>
      </p:sp>
      <p:sp>
        <p:nvSpPr>
          <p:cNvPr id="1251" name="Google Shape;1251;p37"/>
          <p:cNvSpPr txBox="1"/>
          <p:nvPr>
            <p:ph idx="12" type="sldNum"/>
          </p:nvPr>
        </p:nvSpPr>
        <p:spPr>
          <a:xfrm>
            <a:off x="6553200" y="6521450"/>
            <a:ext cx="2133600" cy="24447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1_ms01_1">
  <a:themeElements>
    <a:clrScheme name="1_ms01_1 1">
      <a:dk1>
        <a:srgbClr val="1A1A70"/>
      </a:dk1>
      <a:lt1>
        <a:srgbClr val="FFFFFF"/>
      </a:lt1>
      <a:dk2>
        <a:srgbClr val="12449E"/>
      </a:dk2>
      <a:lt2>
        <a:srgbClr val="C0C0C0"/>
      </a:lt2>
      <a:accent1>
        <a:srgbClr val="3167D3"/>
      </a:accent1>
      <a:accent2>
        <a:srgbClr val="87A3E9"/>
      </a:accent2>
      <a:accent3>
        <a:srgbClr val="FFFFFF"/>
      </a:accent3>
      <a:accent4>
        <a:srgbClr val="14145F"/>
      </a:accent4>
      <a:accent5>
        <a:srgbClr val="ADB8E6"/>
      </a:accent5>
      <a:accent6>
        <a:srgbClr val="7A93D3"/>
      </a:accent6>
      <a:hlink>
        <a:srgbClr val="90B54D"/>
      </a:hlink>
      <a:folHlink>
        <a:srgbClr val="F6A23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2006-05-28T09:28:45Z</dcterms:created>
  <dc:creator>Tran Minh Triet</dc:creator>
</cp:coreProperties>
</file>