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32"/>
  </p:notesMasterIdLst>
  <p:sldIdLst>
    <p:sldId id="256" r:id="rId2"/>
    <p:sldId id="294" r:id="rId3"/>
    <p:sldId id="257" r:id="rId4"/>
    <p:sldId id="296" r:id="rId5"/>
    <p:sldId id="259" r:id="rId6"/>
    <p:sldId id="300" r:id="rId7"/>
    <p:sldId id="298" r:id="rId8"/>
    <p:sldId id="299" r:id="rId9"/>
    <p:sldId id="269" r:id="rId10"/>
    <p:sldId id="309" r:id="rId11"/>
    <p:sldId id="297" r:id="rId12"/>
    <p:sldId id="270" r:id="rId13"/>
    <p:sldId id="272" r:id="rId14"/>
    <p:sldId id="273" r:id="rId15"/>
    <p:sldId id="274" r:id="rId16"/>
    <p:sldId id="275" r:id="rId17"/>
    <p:sldId id="276" r:id="rId18"/>
    <p:sldId id="277" r:id="rId19"/>
    <p:sldId id="301" r:id="rId20"/>
    <p:sldId id="304" r:id="rId21"/>
    <p:sldId id="286" r:id="rId22"/>
    <p:sldId id="305" r:id="rId23"/>
    <p:sldId id="292" r:id="rId24"/>
    <p:sldId id="308" r:id="rId25"/>
    <p:sldId id="291" r:id="rId26"/>
    <p:sldId id="293" r:id="rId27"/>
    <p:sldId id="307" r:id="rId28"/>
    <p:sldId id="306" r:id="rId29"/>
    <p:sldId id="302" r:id="rId30"/>
    <p:sldId id="303" r:id="rId3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FF"/>
    <a:srgbClr val="FFCC00"/>
    <a:srgbClr val="0099FF"/>
    <a:srgbClr val="6666FF"/>
    <a:srgbClr val="FF0000"/>
    <a:srgbClr val="0080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00" autoAdjust="0"/>
    <p:restoredTop sz="59232" autoAdjust="0"/>
  </p:normalViewPr>
  <p:slideViewPr>
    <p:cSldViewPr>
      <p:cViewPr varScale="1">
        <p:scale>
          <a:sx n="72" d="100"/>
          <a:sy n="72" d="100"/>
        </p:scale>
        <p:origin x="15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68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8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1326EC75-96D7-4D64-9D1B-BCF3AE876982}" type="slidenum">
              <a:rPr lang="en-US"/>
              <a:pPr/>
              <a:t>‹#›</a:t>
            </a:fld>
            <a:endParaRPr lang="en-US"/>
          </a:p>
        </p:txBody>
      </p:sp>
    </p:spTree>
    <p:extLst>
      <p:ext uri="{BB962C8B-B14F-4D97-AF65-F5344CB8AC3E}">
        <p14:creationId xmlns:p14="http://schemas.microsoft.com/office/powerpoint/2010/main" val="98807497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457200" algn="l" rtl="0" fontAlgn="base">
      <a:spcBef>
        <a:spcPct val="30000"/>
      </a:spcBef>
      <a:spcAft>
        <a:spcPct val="0"/>
      </a:spcAft>
      <a:defRPr sz="1200" kern="1200">
        <a:solidFill>
          <a:schemeClr val="tx1"/>
        </a:solidFill>
        <a:latin typeface="Arial" pitchFamily="34" charset="0"/>
        <a:ea typeface="+mn-ea"/>
        <a:cs typeface="Arial" pitchFamily="34" charset="0"/>
      </a:defRPr>
    </a:lvl2pPr>
    <a:lvl3pPr marL="914400" algn="l" rtl="0" fontAlgn="base">
      <a:spcBef>
        <a:spcPct val="30000"/>
      </a:spcBef>
      <a:spcAft>
        <a:spcPct val="0"/>
      </a:spcAft>
      <a:defRPr sz="1200" kern="1200">
        <a:solidFill>
          <a:schemeClr val="tx1"/>
        </a:solidFill>
        <a:latin typeface="Arial" pitchFamily="34" charset="0"/>
        <a:ea typeface="+mn-ea"/>
        <a:cs typeface="Arial" pitchFamily="34" charset="0"/>
      </a:defRPr>
    </a:lvl3pPr>
    <a:lvl4pPr marL="1371600" algn="l" rtl="0" fontAlgn="base">
      <a:spcBef>
        <a:spcPct val="30000"/>
      </a:spcBef>
      <a:spcAft>
        <a:spcPct val="0"/>
      </a:spcAft>
      <a:defRPr sz="1200" kern="1200">
        <a:solidFill>
          <a:schemeClr val="tx1"/>
        </a:solidFill>
        <a:latin typeface="Arial" pitchFamily="34" charset="0"/>
        <a:ea typeface="+mn-ea"/>
        <a:cs typeface="Arial" pitchFamily="34" charset="0"/>
      </a:defRPr>
    </a:lvl4pPr>
    <a:lvl5pPr marL="1828800" algn="l" rtl="0" fontAlgn="base">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9D4200-A01D-458D-99B9-894E00A130DB}" type="slidenum">
              <a:rPr lang="en-US"/>
              <a:pPr/>
              <a:t>29</a:t>
            </a:fld>
            <a:endParaRPr lang="en-US"/>
          </a:p>
        </p:txBody>
      </p:sp>
      <p:sp>
        <p:nvSpPr>
          <p:cNvPr id="457730" name="Rectangle 2"/>
          <p:cNvSpPr>
            <a:spLocks noGrp="1" noRot="1" noChangeAspect="1" noChangeArrowheads="1" noTextEdit="1"/>
          </p:cNvSpPr>
          <p:nvPr>
            <p:ph type="sldImg"/>
          </p:nvPr>
        </p:nvSpPr>
        <p:spPr>
          <a:ln/>
        </p:spPr>
      </p:sp>
      <p:sp>
        <p:nvSpPr>
          <p:cNvPr id="4577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482602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3794" name="Rectangle 2"/>
          <p:cNvSpPr>
            <a:spLocks noChangeArrowheads="1"/>
          </p:cNvSpPr>
          <p:nvPr/>
        </p:nvSpPr>
        <p:spPr bwMode="gray">
          <a:xfrm>
            <a:off x="0" y="0"/>
            <a:ext cx="9144000" cy="5157788"/>
          </a:xfrm>
          <a:prstGeom prst="rect">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3795" name="Rectangle 3"/>
          <p:cNvSpPr>
            <a:spLocks noChangeArrowheads="1"/>
          </p:cNvSpPr>
          <p:nvPr/>
        </p:nvSpPr>
        <p:spPr bwMode="gray">
          <a:xfrm>
            <a:off x="1262063" y="0"/>
            <a:ext cx="2362200" cy="4953000"/>
          </a:xfrm>
          <a:prstGeom prst="rect">
            <a:avLst/>
          </a:prstGeom>
          <a:gradFill rotWithShape="1">
            <a:gsLst>
              <a:gs pos="0">
                <a:schemeClr val="accent1"/>
              </a:gs>
              <a:gs pos="100000">
                <a:schemeClr val="accent1">
                  <a:gamma/>
                  <a:shade val="72549"/>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6" name="Rectangle 4"/>
          <p:cNvSpPr>
            <a:spLocks noChangeArrowheads="1"/>
          </p:cNvSpPr>
          <p:nvPr/>
        </p:nvSpPr>
        <p:spPr bwMode="gray">
          <a:xfrm>
            <a:off x="304800" y="2400300"/>
            <a:ext cx="8458200" cy="1104900"/>
          </a:xfrm>
          <a:prstGeom prst="rect">
            <a:avLst/>
          </a:prstGeom>
          <a:gradFill rotWithShape="1">
            <a:gsLst>
              <a:gs pos="0">
                <a:schemeClr val="tx1"/>
              </a:gs>
              <a:gs pos="100000">
                <a:schemeClr val="accent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7" name="Rectangle 5"/>
          <p:cNvSpPr>
            <a:spLocks noGrp="1" noChangeArrowheads="1"/>
          </p:cNvSpPr>
          <p:nvPr>
            <p:ph type="ctrTitle"/>
          </p:nvPr>
        </p:nvSpPr>
        <p:spPr>
          <a:xfrm>
            <a:off x="457200" y="2590800"/>
            <a:ext cx="8229600" cy="685800"/>
          </a:xfrm>
          <a:extLst>
            <a:ext uri="{AF507438-7753-43E0-B8FC-AC1667EBCBE1}">
              <a14:hiddenEffects xmlns:a14="http://schemas.microsoft.com/office/drawing/2010/main">
                <a:effectLst>
                  <a:outerShdw dist="53882" dir="2700000" algn="ctr" rotWithShape="0">
                    <a:srgbClr val="000000"/>
                  </a:outerShdw>
                </a:effectLst>
              </a14:hiddenEffects>
            </a:ext>
          </a:extLst>
        </p:spPr>
        <p:txBody>
          <a:bodyPr/>
          <a:lstStyle>
            <a:lvl1pPr>
              <a:defRPr sz="4400"/>
            </a:lvl1pPr>
          </a:lstStyle>
          <a:p>
            <a:pPr lvl="0"/>
            <a:r>
              <a:rPr lang="en-US" noProof="0"/>
              <a:t>Click to edit Master title style</a:t>
            </a:r>
          </a:p>
        </p:txBody>
      </p:sp>
      <p:sp>
        <p:nvSpPr>
          <p:cNvPr id="33798" name="Rectangle 6"/>
          <p:cNvSpPr>
            <a:spLocks noGrp="1" noChangeArrowheads="1"/>
          </p:cNvSpPr>
          <p:nvPr>
            <p:ph type="subTitle" idx="1"/>
          </p:nvPr>
        </p:nvSpPr>
        <p:spPr>
          <a:xfrm>
            <a:off x="1828800" y="3733800"/>
            <a:ext cx="5867400" cy="457200"/>
          </a:xfrm>
        </p:spPr>
        <p:txBody>
          <a:bodyPr/>
          <a:lstStyle>
            <a:lvl1pPr marL="0" indent="0" algn="ctr">
              <a:buFont typeface="Wingdings" pitchFamily="2" charset="2"/>
              <a:buNone/>
              <a:defRPr b="1">
                <a:solidFill>
                  <a:schemeClr val="bg1"/>
                </a:solidFill>
              </a:defRPr>
            </a:lvl1pPr>
          </a:lstStyle>
          <a:p>
            <a:pPr lvl="0"/>
            <a:r>
              <a:rPr lang="en-US" noProof="0"/>
              <a:t>Click to edit Master subtitle style</a:t>
            </a:r>
          </a:p>
        </p:txBody>
      </p:sp>
      <p:sp>
        <p:nvSpPr>
          <p:cNvPr id="33799" name="Rectangle 7"/>
          <p:cNvSpPr>
            <a:spLocks noGrp="1" noChangeArrowheads="1"/>
          </p:cNvSpPr>
          <p:nvPr>
            <p:ph type="dt" sz="half" idx="2"/>
          </p:nvPr>
        </p:nvSpPr>
        <p:spPr bwMode="auto">
          <a:xfrm>
            <a:off x="457200" y="6400800"/>
            <a:ext cx="2133600" cy="320675"/>
          </a:xfrm>
        </p:spPr>
        <p:txBody>
          <a:bodyPr/>
          <a:lstStyle>
            <a:lvl1pPr>
              <a:defRPr>
                <a:solidFill>
                  <a:schemeClr val="tx1"/>
                </a:solidFill>
              </a:defRPr>
            </a:lvl1pPr>
          </a:lstStyle>
          <a:p>
            <a:endParaRPr lang="en-US"/>
          </a:p>
        </p:txBody>
      </p:sp>
      <p:sp>
        <p:nvSpPr>
          <p:cNvPr id="33800" name="Rectangle 8"/>
          <p:cNvSpPr>
            <a:spLocks noGrp="1" noChangeArrowheads="1"/>
          </p:cNvSpPr>
          <p:nvPr>
            <p:ph type="ftr" sz="quarter" idx="3"/>
          </p:nvPr>
        </p:nvSpPr>
        <p:spPr bwMode="auto">
          <a:xfrm>
            <a:off x="3124200" y="6400800"/>
            <a:ext cx="2895600" cy="320675"/>
          </a:xfrm>
        </p:spPr>
        <p:txBody>
          <a:bodyPr/>
          <a:lstStyle>
            <a:lvl1pPr>
              <a:defRPr>
                <a:solidFill>
                  <a:schemeClr val="tx1"/>
                </a:solidFill>
              </a:defRPr>
            </a:lvl1pPr>
          </a:lstStyle>
          <a:p>
            <a:endParaRPr lang="en-US"/>
          </a:p>
        </p:txBody>
      </p:sp>
      <p:sp>
        <p:nvSpPr>
          <p:cNvPr id="33801" name="Rectangle 9"/>
          <p:cNvSpPr>
            <a:spLocks noGrp="1" noChangeArrowheads="1"/>
          </p:cNvSpPr>
          <p:nvPr>
            <p:ph type="sldNum" sz="quarter" idx="4"/>
          </p:nvPr>
        </p:nvSpPr>
        <p:spPr bwMode="auto">
          <a:xfrm>
            <a:off x="6553200" y="6400800"/>
            <a:ext cx="2133600" cy="320675"/>
          </a:xfrm>
        </p:spPr>
        <p:txBody>
          <a:bodyPr/>
          <a:lstStyle>
            <a:lvl1pPr>
              <a:defRPr>
                <a:solidFill>
                  <a:schemeClr val="tx1"/>
                </a:solidFill>
              </a:defRPr>
            </a:lvl1pPr>
          </a:lstStyle>
          <a:p>
            <a:fld id="{333C615C-EBA2-46CC-BC7D-62072C64C651}" type="slidenum">
              <a:rPr lang="en-US"/>
              <a:pPr/>
              <a:t>‹#›</a:t>
            </a:fld>
            <a:endParaRPr lang="en-US"/>
          </a:p>
        </p:txBody>
      </p:sp>
      <p:pic>
        <p:nvPicPr>
          <p:cNvPr id="33803"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3490913"/>
            <a:ext cx="1258888" cy="1438275"/>
          </a:xfrm>
          <a:prstGeom prst="rect">
            <a:avLst/>
          </a:prstGeom>
          <a:noFill/>
          <a:extLst>
            <a:ext uri="{909E8E84-426E-40DD-AFC4-6F175D3DCCD1}">
              <a14:hiddenFill xmlns:a14="http://schemas.microsoft.com/office/drawing/2010/main">
                <a:solidFill>
                  <a:srgbClr val="FFFFFF"/>
                </a:solidFill>
              </a14:hiddenFill>
            </a:ext>
          </a:extLst>
        </p:spPr>
      </p:pic>
      <p:sp>
        <p:nvSpPr>
          <p:cNvPr id="33804" name="Rectangle 12"/>
          <p:cNvSpPr>
            <a:spLocks noChangeArrowheads="1"/>
          </p:cNvSpPr>
          <p:nvPr/>
        </p:nvSpPr>
        <p:spPr bwMode="gray">
          <a:xfrm>
            <a:off x="1276350" y="4941888"/>
            <a:ext cx="7867650" cy="21748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06" name="Rectangle 14"/>
          <p:cNvSpPr>
            <a:spLocks noChangeArrowheads="1"/>
          </p:cNvSpPr>
          <p:nvPr/>
        </p:nvSpPr>
        <p:spPr bwMode="gray">
          <a:xfrm>
            <a:off x="304800" y="304800"/>
            <a:ext cx="8534400" cy="43434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07" name="Rectangle 15"/>
          <p:cNvSpPr>
            <a:spLocks noChangeArrowheads="1"/>
          </p:cNvSpPr>
          <p:nvPr/>
        </p:nvSpPr>
        <p:spPr bwMode="gray">
          <a:xfrm>
            <a:off x="7391400" y="914400"/>
            <a:ext cx="1600200" cy="14478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08" name="Rectangle 16"/>
          <p:cNvSpPr>
            <a:spLocks noChangeArrowheads="1"/>
          </p:cNvSpPr>
          <p:nvPr/>
        </p:nvSpPr>
        <p:spPr bwMode="gray">
          <a:xfrm>
            <a:off x="8305800" y="0"/>
            <a:ext cx="76200" cy="17526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wipe(down)">
                                      <p:cBhvr>
                                        <p:cTn id="7" dur="500"/>
                                        <p:tgtEl>
                                          <p:spTgt spid="33795"/>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796"/>
                                        </p:tgtEl>
                                        <p:attrNameLst>
                                          <p:attrName>style.visibility</p:attrName>
                                        </p:attrNameLst>
                                      </p:cBhvr>
                                      <p:to>
                                        <p:strVal val="visible"/>
                                      </p:to>
                                    </p:set>
                                    <p:animEffect transition="in" filter="wipe(left)">
                                      <p:cBhvr>
                                        <p:cTn id="11" dur="500"/>
                                        <p:tgtEl>
                                          <p:spTgt spid="33796"/>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3808"/>
                                        </p:tgtEl>
                                        <p:attrNameLst>
                                          <p:attrName>style.visibility</p:attrName>
                                        </p:attrNameLst>
                                      </p:cBhvr>
                                      <p:to>
                                        <p:strVal val="visible"/>
                                      </p:to>
                                    </p:set>
                                    <p:animEffect transition="in" filter="wipe(up)">
                                      <p:cBhvr>
                                        <p:cTn id="15" dur="500"/>
                                        <p:tgtEl>
                                          <p:spTgt spid="33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nimBg="1"/>
      <p:bldP spid="33796" grpId="0" animBg="1"/>
      <p:bldP spid="3380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ED05017-923D-480E-B02E-B52739184DCA}" type="slidenum">
              <a:rPr lang="en-US"/>
              <a:pPr/>
              <a:t>‹#›</a:t>
            </a:fld>
            <a:endParaRPr lang="en-US"/>
          </a:p>
        </p:txBody>
      </p:sp>
    </p:spTree>
    <p:extLst>
      <p:ext uri="{BB962C8B-B14F-4D97-AF65-F5344CB8AC3E}">
        <p14:creationId xmlns:p14="http://schemas.microsoft.com/office/powerpoint/2010/main" val="2946967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A1EE7F9-147D-4E63-8B38-2BBD2CC7557E}" type="slidenum">
              <a:rPr lang="en-US"/>
              <a:pPr/>
              <a:t>‹#›</a:t>
            </a:fld>
            <a:endParaRPr lang="en-US"/>
          </a:p>
        </p:txBody>
      </p:sp>
    </p:spTree>
    <p:extLst>
      <p:ext uri="{BB962C8B-B14F-4D97-AF65-F5344CB8AC3E}">
        <p14:creationId xmlns:p14="http://schemas.microsoft.com/office/powerpoint/2010/main" val="2936098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5026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5026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1FB5BBA-1566-418C-A412-9831C24F915D}" type="slidenum">
              <a:rPr lang="en-US"/>
              <a:pPr/>
              <a:t>‹#›</a:t>
            </a:fld>
            <a:endParaRPr lang="en-US"/>
          </a:p>
        </p:txBody>
      </p:sp>
    </p:spTree>
    <p:extLst>
      <p:ext uri="{BB962C8B-B14F-4D97-AF65-F5344CB8AC3E}">
        <p14:creationId xmlns:p14="http://schemas.microsoft.com/office/powerpoint/2010/main" val="322445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31C962EE-4F72-47A2-8E33-F1A5BA904EC4}" type="slidenum">
              <a:rPr lang="en-US"/>
              <a:pPr/>
              <a:t>‹#›</a:t>
            </a:fld>
            <a:endParaRPr lang="en-US"/>
          </a:p>
        </p:txBody>
      </p:sp>
    </p:spTree>
    <p:extLst>
      <p:ext uri="{BB962C8B-B14F-4D97-AF65-F5344CB8AC3E}">
        <p14:creationId xmlns:p14="http://schemas.microsoft.com/office/powerpoint/2010/main" val="2666387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27392B6C-813E-42DE-A59C-034281A964AB}" type="slidenum">
              <a:rPr lang="en-US"/>
              <a:pPr/>
              <a:t>‹#›</a:t>
            </a:fld>
            <a:endParaRPr lang="en-US"/>
          </a:p>
        </p:txBody>
      </p:sp>
    </p:spTree>
    <p:extLst>
      <p:ext uri="{BB962C8B-B14F-4D97-AF65-F5344CB8AC3E}">
        <p14:creationId xmlns:p14="http://schemas.microsoft.com/office/powerpoint/2010/main" val="2868186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CAE9F565-9CED-44CF-A8BB-DE6FF94C1889}" type="slidenum">
              <a:rPr lang="en-US"/>
              <a:pPr/>
              <a:t>‹#›</a:t>
            </a:fld>
            <a:endParaRPr lang="en-US"/>
          </a:p>
        </p:txBody>
      </p:sp>
    </p:spTree>
    <p:extLst>
      <p:ext uri="{BB962C8B-B14F-4D97-AF65-F5344CB8AC3E}">
        <p14:creationId xmlns:p14="http://schemas.microsoft.com/office/powerpoint/2010/main" val="2119166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A39EE02-CCFC-4178-9551-AB0359A6C111}" type="slidenum">
              <a:rPr lang="en-US"/>
              <a:pPr/>
              <a:t>‹#›</a:t>
            </a:fld>
            <a:endParaRPr lang="en-US"/>
          </a:p>
        </p:txBody>
      </p:sp>
    </p:spTree>
    <p:extLst>
      <p:ext uri="{BB962C8B-B14F-4D97-AF65-F5344CB8AC3E}">
        <p14:creationId xmlns:p14="http://schemas.microsoft.com/office/powerpoint/2010/main" val="2864268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64010C0-49AE-4354-B692-F35F1557EA2A}" type="slidenum">
              <a:rPr lang="en-US"/>
              <a:pPr/>
              <a:t>‹#›</a:t>
            </a:fld>
            <a:endParaRPr lang="en-US"/>
          </a:p>
        </p:txBody>
      </p:sp>
    </p:spTree>
    <p:extLst>
      <p:ext uri="{BB962C8B-B14F-4D97-AF65-F5344CB8AC3E}">
        <p14:creationId xmlns:p14="http://schemas.microsoft.com/office/powerpoint/2010/main" val="3749980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F4E1D1A-11F1-45A2-B3FB-7B5B55B51778}" type="slidenum">
              <a:rPr lang="en-US"/>
              <a:pPr/>
              <a:t>‹#›</a:t>
            </a:fld>
            <a:endParaRPr lang="en-US"/>
          </a:p>
        </p:txBody>
      </p:sp>
    </p:spTree>
    <p:extLst>
      <p:ext uri="{BB962C8B-B14F-4D97-AF65-F5344CB8AC3E}">
        <p14:creationId xmlns:p14="http://schemas.microsoft.com/office/powerpoint/2010/main" val="2005945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6191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6191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9D229CF-2D15-42ED-9BDC-770ECDB1C8A8}" type="slidenum">
              <a:rPr lang="en-US"/>
              <a:pPr/>
              <a:t>‹#›</a:t>
            </a:fld>
            <a:endParaRPr lang="en-US"/>
          </a:p>
        </p:txBody>
      </p:sp>
    </p:spTree>
    <p:extLst>
      <p:ext uri="{BB962C8B-B14F-4D97-AF65-F5344CB8AC3E}">
        <p14:creationId xmlns:p14="http://schemas.microsoft.com/office/powerpoint/2010/main" val="1900172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tint val="39216"/>
                <a:invGamma/>
              </a:schemeClr>
            </a:gs>
          </a:gsLst>
          <a:lin ang="5400000" scaled="1"/>
        </a:gradFill>
        <a:effectLst/>
      </p:bgPr>
    </p:bg>
    <p:spTree>
      <p:nvGrpSpPr>
        <p:cNvPr id="1" name=""/>
        <p:cNvGrpSpPr/>
        <p:nvPr/>
      </p:nvGrpSpPr>
      <p:grpSpPr>
        <a:xfrm>
          <a:off x="0" y="0"/>
          <a:ext cx="0" cy="0"/>
          <a:chOff x="0" y="0"/>
          <a:chExt cx="0" cy="0"/>
        </a:xfrm>
      </p:grpSpPr>
      <p:sp>
        <p:nvSpPr>
          <p:cNvPr id="32770" name="Rectangle 2"/>
          <p:cNvSpPr>
            <a:spLocks noChangeArrowheads="1"/>
          </p:cNvSpPr>
          <p:nvPr/>
        </p:nvSpPr>
        <p:spPr bwMode="gray">
          <a:xfrm>
            <a:off x="0" y="9525"/>
            <a:ext cx="9144000" cy="10287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1" name="Rectangle 3"/>
          <p:cNvSpPr>
            <a:spLocks noChangeArrowheads="1"/>
          </p:cNvSpPr>
          <p:nvPr/>
        </p:nvSpPr>
        <p:spPr bwMode="gray">
          <a:xfrm>
            <a:off x="1447800" y="0"/>
            <a:ext cx="7696200" cy="87947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2" name="Rectangle 4"/>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3" name="Rectangle 5"/>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4" name="Rectangle 6"/>
          <p:cNvSpPr>
            <a:spLocks noChangeArrowheads="1"/>
          </p:cNvSpPr>
          <p:nvPr/>
        </p:nvSpPr>
        <p:spPr bwMode="gray">
          <a:xfrm>
            <a:off x="8686800" y="0"/>
            <a:ext cx="76200" cy="6096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5" name="Rectangle 7"/>
          <p:cNvSpPr>
            <a:spLocks noGrp="1" noChangeArrowheads="1"/>
          </p:cNvSpPr>
          <p:nvPr>
            <p:ph type="body" idx="1"/>
          </p:nvPr>
        </p:nvSpPr>
        <p:spPr bwMode="gray">
          <a:xfrm>
            <a:off x="457200" y="1371600"/>
            <a:ext cx="8229600" cy="502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776" name="Rectangle 8"/>
          <p:cNvSpPr>
            <a:spLocks noGrp="1" noChangeArrowheads="1"/>
          </p:cNvSpPr>
          <p:nvPr>
            <p:ph type="dt" sz="half" idx="2"/>
          </p:nvPr>
        </p:nvSpPr>
        <p:spPr bwMode="gray">
          <a:xfrm>
            <a:off x="457200" y="652145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accent1"/>
                </a:solidFill>
              </a:defRPr>
            </a:lvl1pPr>
          </a:lstStyle>
          <a:p>
            <a:endParaRPr lang="en-US"/>
          </a:p>
        </p:txBody>
      </p:sp>
      <p:sp>
        <p:nvSpPr>
          <p:cNvPr id="32777" name="Rectangle 9"/>
          <p:cNvSpPr>
            <a:spLocks noGrp="1" noChangeArrowheads="1"/>
          </p:cNvSpPr>
          <p:nvPr>
            <p:ph type="ftr" sz="quarter" idx="3"/>
          </p:nvPr>
        </p:nvSpPr>
        <p:spPr bwMode="gray">
          <a:xfrm>
            <a:off x="3124200" y="6521450"/>
            <a:ext cx="2895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accent1"/>
                </a:solidFill>
              </a:defRPr>
            </a:lvl1pPr>
          </a:lstStyle>
          <a:p>
            <a:endParaRPr lang="en-US"/>
          </a:p>
        </p:txBody>
      </p:sp>
      <p:sp>
        <p:nvSpPr>
          <p:cNvPr id="32778" name="Rectangle 10"/>
          <p:cNvSpPr>
            <a:spLocks noGrp="1" noChangeArrowheads="1"/>
          </p:cNvSpPr>
          <p:nvPr>
            <p:ph type="sldNum" sz="quarter" idx="4"/>
          </p:nvPr>
        </p:nvSpPr>
        <p:spPr bwMode="gray">
          <a:xfrm>
            <a:off x="6553200" y="652145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chemeClr val="accent1"/>
                </a:solidFill>
              </a:defRPr>
            </a:lvl1pPr>
          </a:lstStyle>
          <a:p>
            <a:fld id="{5BC5FE45-4BCF-4403-A33E-1F96EDA88A11}" type="slidenum">
              <a:rPr lang="en-US"/>
              <a:pPr/>
              <a:t>‹#›</a:t>
            </a:fld>
            <a:endParaRPr lang="en-US"/>
          </a:p>
        </p:txBody>
      </p:sp>
      <p:sp>
        <p:nvSpPr>
          <p:cNvPr id="32779" name="Rectangle 11"/>
          <p:cNvSpPr>
            <a:spLocks noChangeArrowheads="1"/>
          </p:cNvSpPr>
          <p:nvPr/>
        </p:nvSpPr>
        <p:spPr bwMode="gray">
          <a:xfrm>
            <a:off x="0" y="0"/>
            <a:ext cx="1447800" cy="10668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2780"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extLst>
            <a:ext uri="{909E8E84-426E-40DD-AFC4-6F175D3DCCD1}">
              <a14:hiddenFill xmlns:a14="http://schemas.microsoft.com/office/drawing/2010/main">
                <a:solidFill>
                  <a:srgbClr val="FFFFFF"/>
                </a:solidFill>
              </a14:hiddenFill>
            </a:ext>
          </a:extLst>
        </p:spPr>
      </p:pic>
      <p:sp>
        <p:nvSpPr>
          <p:cNvPr id="32781" name="Rectangle 13"/>
          <p:cNvSpPr>
            <a:spLocks noChangeArrowheads="1"/>
          </p:cNvSpPr>
          <p:nvPr/>
        </p:nvSpPr>
        <p:spPr bwMode="gray">
          <a:xfrm>
            <a:off x="0" y="1035050"/>
            <a:ext cx="1447800" cy="2286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2" name="Rectangle 14"/>
          <p:cNvSpPr>
            <a:spLocks noGrp="1" noChangeArrowheads="1"/>
          </p:cNvSpPr>
          <p:nvPr>
            <p:ph type="title"/>
          </p:nvPr>
        </p:nvSpPr>
        <p:spPr bwMode="gray">
          <a:xfrm>
            <a:off x="1447800" y="206375"/>
            <a:ext cx="6858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wipe(left)">
                                      <p:cBhvr>
                                        <p:cTn id="7" dur="500"/>
                                        <p:tgtEl>
                                          <p:spTgt spid="32772"/>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2774"/>
                                        </p:tgtEl>
                                        <p:attrNameLst>
                                          <p:attrName>style.visibility</p:attrName>
                                        </p:attrNameLst>
                                      </p:cBhvr>
                                      <p:to>
                                        <p:strVal val="visible"/>
                                      </p:to>
                                    </p:set>
                                    <p:animEffect transition="in" filter="wipe(up)">
                                      <p:cBhvr>
                                        <p:cTn id="11" dur="500"/>
                                        <p:tgtEl>
                                          <p:spTgt spid="32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nimBg="1"/>
      <p:bldP spid="32774" grpId="0" animBg="1"/>
    </p:bldLst>
  </p:timing>
  <p:hf hdr="0" ftr="0" dt="0"/>
  <p:txStyles>
    <p:titleStyle>
      <a:lvl1pPr algn="ctr" rtl="0" fontAlgn="base">
        <a:spcBef>
          <a:spcPct val="0"/>
        </a:spcBef>
        <a:spcAft>
          <a:spcPct val="0"/>
        </a:spcAft>
        <a:defRPr sz="3200">
          <a:solidFill>
            <a:schemeClr val="bg1"/>
          </a:solidFill>
          <a:latin typeface="+mj-lt"/>
          <a:ea typeface="+mj-ea"/>
          <a:cs typeface="+mj-cs"/>
        </a:defRPr>
      </a:lvl1pPr>
      <a:lvl2pPr algn="ctr" rtl="0" fontAlgn="base">
        <a:spcBef>
          <a:spcPct val="0"/>
        </a:spcBef>
        <a:spcAft>
          <a:spcPct val="0"/>
        </a:spcAft>
        <a:defRPr sz="3200">
          <a:solidFill>
            <a:schemeClr val="bg1"/>
          </a:solidFill>
          <a:latin typeface="Arial" pitchFamily="34" charset="0"/>
        </a:defRPr>
      </a:lvl2pPr>
      <a:lvl3pPr algn="ctr" rtl="0" fontAlgn="base">
        <a:spcBef>
          <a:spcPct val="0"/>
        </a:spcBef>
        <a:spcAft>
          <a:spcPct val="0"/>
        </a:spcAft>
        <a:defRPr sz="3200">
          <a:solidFill>
            <a:schemeClr val="bg1"/>
          </a:solidFill>
          <a:latin typeface="Arial" pitchFamily="34" charset="0"/>
        </a:defRPr>
      </a:lvl3pPr>
      <a:lvl4pPr algn="ctr" rtl="0" fontAlgn="base">
        <a:spcBef>
          <a:spcPct val="0"/>
        </a:spcBef>
        <a:spcAft>
          <a:spcPct val="0"/>
        </a:spcAft>
        <a:defRPr sz="3200">
          <a:solidFill>
            <a:schemeClr val="bg1"/>
          </a:solidFill>
          <a:latin typeface="Arial" pitchFamily="34" charset="0"/>
        </a:defRPr>
      </a:lvl4pPr>
      <a:lvl5pPr algn="ctr" rtl="0" fontAlgn="base">
        <a:spcBef>
          <a:spcPct val="0"/>
        </a:spcBef>
        <a:spcAft>
          <a:spcPct val="0"/>
        </a:spcAft>
        <a:defRPr sz="3200">
          <a:solidFill>
            <a:schemeClr val="bg1"/>
          </a:solidFill>
          <a:latin typeface="Arial" pitchFamily="34" charset="0"/>
        </a:defRPr>
      </a:lvl5pPr>
      <a:lvl6pPr marL="457200" algn="ctr" rtl="0" fontAlgn="base">
        <a:spcBef>
          <a:spcPct val="0"/>
        </a:spcBef>
        <a:spcAft>
          <a:spcPct val="0"/>
        </a:spcAft>
        <a:defRPr sz="3200">
          <a:solidFill>
            <a:schemeClr val="bg1"/>
          </a:solidFill>
          <a:latin typeface="Arial" pitchFamily="34" charset="0"/>
        </a:defRPr>
      </a:lvl6pPr>
      <a:lvl7pPr marL="914400" algn="ctr" rtl="0" fontAlgn="base">
        <a:spcBef>
          <a:spcPct val="0"/>
        </a:spcBef>
        <a:spcAft>
          <a:spcPct val="0"/>
        </a:spcAft>
        <a:defRPr sz="3200">
          <a:solidFill>
            <a:schemeClr val="bg1"/>
          </a:solidFill>
          <a:latin typeface="Arial" pitchFamily="34" charset="0"/>
        </a:defRPr>
      </a:lvl7pPr>
      <a:lvl8pPr marL="1371600" algn="ctr" rtl="0" fontAlgn="base">
        <a:spcBef>
          <a:spcPct val="0"/>
        </a:spcBef>
        <a:spcAft>
          <a:spcPct val="0"/>
        </a:spcAft>
        <a:defRPr sz="3200">
          <a:solidFill>
            <a:schemeClr val="bg1"/>
          </a:solidFill>
          <a:latin typeface="Arial" pitchFamily="34" charset="0"/>
        </a:defRPr>
      </a:lvl8pPr>
      <a:lvl9pPr marL="1828800" algn="ctr" rtl="0" fontAlgn="base">
        <a:spcBef>
          <a:spcPct val="0"/>
        </a:spcBef>
        <a:spcAft>
          <a:spcPct val="0"/>
        </a:spcAft>
        <a:defRPr sz="3200">
          <a:solidFill>
            <a:schemeClr val="bg1"/>
          </a:solidFill>
          <a:latin typeface="Arial" pitchFamily="34" charset="0"/>
        </a:defRPr>
      </a:lvl9pPr>
    </p:titleStyle>
    <p:bodyStyle>
      <a:lvl1pPr marL="342900" indent="-342900" algn="l" rtl="0" fontAlgn="base">
        <a:spcBef>
          <a:spcPct val="20000"/>
        </a:spcBef>
        <a:spcAft>
          <a:spcPct val="0"/>
        </a:spcAft>
        <a:buFont typeface="Wingdings" pitchFamily="2" charset="2"/>
        <a:buChar char="v"/>
        <a:defRPr sz="2400">
          <a:solidFill>
            <a:srgbClr val="000000"/>
          </a:solidFill>
          <a:latin typeface="+mn-lt"/>
          <a:ea typeface="+mn-ea"/>
          <a:cs typeface="+mn-cs"/>
        </a:defRPr>
      </a:lvl1pPr>
      <a:lvl2pPr marL="742950" indent="-285750" algn="l" rtl="0" fontAlgn="base">
        <a:spcBef>
          <a:spcPct val="20000"/>
        </a:spcBef>
        <a:spcAft>
          <a:spcPct val="0"/>
        </a:spcAft>
        <a:buClr>
          <a:schemeClr val="accent1"/>
        </a:buClr>
        <a:buSzPct val="50000"/>
        <a:buFont typeface="Wingdings 2" pitchFamily="18" charset="2"/>
        <a:buChar char=""/>
        <a:defRPr sz="2400">
          <a:solidFill>
            <a:srgbClr val="000000"/>
          </a:solidFill>
          <a:latin typeface="+mn-lt"/>
        </a:defRPr>
      </a:lvl2pPr>
      <a:lvl3pPr marL="1143000" indent="-228600" algn="l" rtl="0" fontAlgn="base">
        <a:spcBef>
          <a:spcPct val="20000"/>
        </a:spcBef>
        <a:spcAft>
          <a:spcPct val="0"/>
        </a:spcAft>
        <a:buClr>
          <a:schemeClr val="hlink"/>
        </a:buClr>
        <a:buFont typeface="Wingdings" pitchFamily="2" charset="2"/>
        <a:buChar char="§"/>
        <a:defRPr sz="2000">
          <a:solidFill>
            <a:srgbClr val="000000"/>
          </a:solidFill>
          <a:latin typeface="+mn-lt"/>
        </a:defRPr>
      </a:lvl3pPr>
      <a:lvl4pPr marL="1600200" indent="-228600" algn="l" rtl="0" fontAlgn="base">
        <a:spcBef>
          <a:spcPct val="20000"/>
        </a:spcBef>
        <a:spcAft>
          <a:spcPct val="0"/>
        </a:spcAft>
        <a:buClr>
          <a:schemeClr val="folHlink"/>
        </a:buClr>
        <a:buSzPct val="60000"/>
        <a:buFont typeface="Wingdings 2" pitchFamily="18" charset="2"/>
        <a:buChar char=""/>
        <a:defRPr>
          <a:solidFill>
            <a:srgbClr val="000000"/>
          </a:solidFill>
          <a:latin typeface="+mn-lt"/>
        </a:defRPr>
      </a:lvl4pPr>
      <a:lvl5pPr marL="2057400" indent="-228600" algn="l" rtl="0" fontAlgn="base">
        <a:spcBef>
          <a:spcPct val="20000"/>
        </a:spcBef>
        <a:spcAft>
          <a:spcPct val="0"/>
        </a:spcAft>
        <a:buFont typeface="Wingdings" pitchFamily="2" charset="2"/>
        <a:buChar char="§"/>
        <a:defRPr>
          <a:solidFill>
            <a:srgbClr val="000000"/>
          </a:solidFill>
          <a:latin typeface="+mn-lt"/>
        </a:defRPr>
      </a:lvl5pPr>
      <a:lvl6pPr marL="2514600" indent="-228600" algn="l" rtl="0" fontAlgn="base">
        <a:spcBef>
          <a:spcPct val="20000"/>
        </a:spcBef>
        <a:spcAft>
          <a:spcPct val="0"/>
        </a:spcAft>
        <a:buFont typeface="Wingdings" pitchFamily="2" charset="2"/>
        <a:buChar char="§"/>
        <a:defRPr>
          <a:solidFill>
            <a:srgbClr val="000000"/>
          </a:solidFill>
          <a:latin typeface="+mn-lt"/>
        </a:defRPr>
      </a:lvl6pPr>
      <a:lvl7pPr marL="2971800" indent="-228600" algn="l" rtl="0" fontAlgn="base">
        <a:spcBef>
          <a:spcPct val="20000"/>
        </a:spcBef>
        <a:spcAft>
          <a:spcPct val="0"/>
        </a:spcAft>
        <a:buFont typeface="Wingdings" pitchFamily="2" charset="2"/>
        <a:buChar char="§"/>
        <a:defRPr>
          <a:solidFill>
            <a:srgbClr val="000000"/>
          </a:solidFill>
          <a:latin typeface="+mn-lt"/>
        </a:defRPr>
      </a:lvl7pPr>
      <a:lvl8pPr marL="3429000" indent="-228600" algn="l" rtl="0" fontAlgn="base">
        <a:spcBef>
          <a:spcPct val="20000"/>
        </a:spcBef>
        <a:spcAft>
          <a:spcPct val="0"/>
        </a:spcAft>
        <a:buFont typeface="Wingdings" pitchFamily="2" charset="2"/>
        <a:buChar char="§"/>
        <a:defRPr>
          <a:solidFill>
            <a:srgbClr val="000000"/>
          </a:solidFill>
          <a:latin typeface="+mn-lt"/>
        </a:defRPr>
      </a:lvl8pPr>
      <a:lvl9pPr marL="3886200" indent="-228600" algn="l" rtl="0" fontAlgn="base">
        <a:spcBef>
          <a:spcPct val="20000"/>
        </a:spcBef>
        <a:spcAft>
          <a:spcPct val="0"/>
        </a:spcAft>
        <a:buFont typeface="Wingdings" pitchFamily="2" charset="2"/>
        <a:buChar char="§"/>
        <a:defRPr>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ctrTitle"/>
          </p:nvPr>
        </p:nvSpPr>
        <p:spPr/>
        <p:txBody>
          <a:bodyPr/>
          <a:lstStyle/>
          <a:p>
            <a:r>
              <a:rPr lang="en-US" sz="3600" b="1" dirty="0">
                <a:effectLst>
                  <a:outerShdw blurRad="38100" dist="38100" dir="2700000" algn="tl">
                    <a:srgbClr val="C0C0C0"/>
                  </a:outerShdw>
                </a:effectLst>
              </a:rPr>
              <a:t>Introduction</a:t>
            </a:r>
          </a:p>
        </p:txBody>
      </p:sp>
      <p:sp>
        <p:nvSpPr>
          <p:cNvPr id="413701" name="Rectangle 5"/>
          <p:cNvSpPr>
            <a:spLocks noChangeArrowheads="1"/>
          </p:cNvSpPr>
          <p:nvPr/>
        </p:nvSpPr>
        <p:spPr bwMode="gray">
          <a:xfrm>
            <a:off x="4147296" y="358140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Font typeface="Wingdings" pitchFamily="2" charset="2"/>
              <a:buNone/>
            </a:pPr>
            <a:r>
              <a:rPr lang="en-US" sz="2000" b="1" dirty="0">
                <a:solidFill>
                  <a:srgbClr val="FFFFFF"/>
                </a:solidFill>
              </a:rPr>
              <a:t>Assoc. Prof. TRAN Minh </a:t>
            </a:r>
            <a:r>
              <a:rPr lang="en-US" sz="2000" b="1" dirty="0" err="1">
                <a:solidFill>
                  <a:srgbClr val="FFFFFF"/>
                </a:solidFill>
              </a:rPr>
              <a:t>Triet</a:t>
            </a:r>
            <a:endParaRPr lang="en-US" sz="2000" b="1" dirty="0">
              <a:solidFill>
                <a:srgbClr val="FFFFFF"/>
              </a:solidFill>
            </a:endParaRPr>
          </a:p>
          <a:p>
            <a:pPr algn="ctr">
              <a:spcBef>
                <a:spcPct val="20000"/>
              </a:spcBef>
              <a:buFont typeface="Wingdings" pitchFamily="2" charset="2"/>
              <a:buNone/>
            </a:pPr>
            <a:r>
              <a:rPr lang="en-US" sz="2000" b="1" dirty="0">
                <a:solidFill>
                  <a:srgbClr val="FFFFFF"/>
                </a:solidFill>
              </a:rPr>
              <a:t>Department of Software Engineering</a:t>
            </a:r>
            <a:endParaRPr lang="en-US" sz="2000" dirty="0">
              <a:solidFill>
                <a:srgbClr val="FFFFFF"/>
              </a:solidFill>
            </a:endParaRPr>
          </a:p>
        </p:txBody>
      </p:sp>
      <p:sp>
        <p:nvSpPr>
          <p:cNvPr id="4" name="Rectangle 3"/>
          <p:cNvSpPr/>
          <p:nvPr/>
        </p:nvSpPr>
        <p:spPr>
          <a:xfrm>
            <a:off x="3838252" y="5791200"/>
            <a:ext cx="5305748" cy="523220"/>
          </a:xfrm>
          <a:prstGeom prst="rect">
            <a:avLst/>
          </a:prstGeom>
          <a:noFill/>
        </p:spPr>
        <p:txBody>
          <a:bodyPr wrap="none" lIns="91440" tIns="45720" rIns="91440" bIns="45720">
            <a:spAutoFit/>
          </a:bodyPr>
          <a:lstStyle/>
          <a:p>
            <a:r>
              <a:rPr lang="en-US" sz="2800" b="1" dirty="0">
                <a:ln w="10541" cmpd="sng">
                  <a:solidFill>
                    <a:srgbClr val="3167D3">
                      <a:shade val="88000"/>
                      <a:satMod val="110000"/>
                    </a:srgbClr>
                  </a:solidFill>
                  <a:prstDash val="solid"/>
                </a:ln>
                <a:gradFill>
                  <a:gsLst>
                    <a:gs pos="0">
                      <a:srgbClr val="3167D3">
                        <a:tint val="40000"/>
                        <a:satMod val="250000"/>
                      </a:srgbClr>
                    </a:gs>
                    <a:gs pos="9000">
                      <a:srgbClr val="3167D3">
                        <a:tint val="52000"/>
                        <a:satMod val="300000"/>
                      </a:srgbClr>
                    </a:gs>
                    <a:gs pos="50000">
                      <a:srgbClr val="3167D3">
                        <a:shade val="20000"/>
                        <a:satMod val="300000"/>
                      </a:srgbClr>
                    </a:gs>
                    <a:gs pos="79000">
                      <a:srgbClr val="3167D3">
                        <a:tint val="52000"/>
                        <a:satMod val="300000"/>
                      </a:srgbClr>
                    </a:gs>
                    <a:gs pos="100000">
                      <a:srgbClr val="3167D3">
                        <a:tint val="40000"/>
                        <a:satMod val="250000"/>
                      </a:srgbClr>
                    </a:gs>
                  </a:gsLst>
                  <a:lin ang="5400000"/>
                </a:gradFill>
                <a:effectLst>
                  <a:outerShdw blurRad="38100" dist="38100" dir="2700000" algn="tl">
                    <a:srgbClr val="000000">
                      <a:alpha val="43137"/>
                    </a:srgbClr>
                  </a:outerShdw>
                </a:effectLst>
              </a:rPr>
              <a:t>Software Analysis and Design</a:t>
            </a:r>
          </a:p>
        </p:txBody>
      </p:sp>
      <p:sp>
        <p:nvSpPr>
          <p:cNvPr id="5" name="TextBox 4"/>
          <p:cNvSpPr txBox="1"/>
          <p:nvPr/>
        </p:nvSpPr>
        <p:spPr>
          <a:xfrm>
            <a:off x="2388454" y="383130"/>
            <a:ext cx="4367093" cy="707886"/>
          </a:xfrm>
          <a:prstGeom prst="rect">
            <a:avLst/>
          </a:prstGeom>
          <a:noFill/>
        </p:spPr>
        <p:txBody>
          <a:bodyPr wrap="none" rtlCol="0">
            <a:spAutoFit/>
          </a:bodyPr>
          <a:lstStyle/>
          <a:p>
            <a:pPr algn="ctr"/>
            <a:r>
              <a:rPr lang="en-US" sz="2000" b="1" dirty="0">
                <a:solidFill>
                  <a:schemeClr val="bg1"/>
                </a:solidFill>
              </a:rPr>
              <a:t>University of Science, VNU-HCM</a:t>
            </a:r>
          </a:p>
          <a:p>
            <a:pPr algn="ctr"/>
            <a:r>
              <a:rPr lang="en-US" sz="2000" b="1" dirty="0">
                <a:solidFill>
                  <a:schemeClr val="bg1"/>
                </a:solidFill>
              </a:rPr>
              <a:t>Faculty of Information Technology</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5449956"/>
            <a:ext cx="1534813" cy="12057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References</a:t>
            </a:r>
          </a:p>
        </p:txBody>
      </p:sp>
      <p:sp>
        <p:nvSpPr>
          <p:cNvPr id="3" name="Content Placeholder 2"/>
          <p:cNvSpPr>
            <a:spLocks noGrp="1"/>
          </p:cNvSpPr>
          <p:nvPr>
            <p:ph idx="1"/>
          </p:nvPr>
        </p:nvSpPr>
        <p:spPr/>
        <p:txBody>
          <a:bodyPr/>
          <a:lstStyle/>
          <a:p>
            <a:pPr marL="0" lvl="1" indent="0" algn="just">
              <a:buClrTx/>
              <a:buSzTx/>
              <a:buNone/>
            </a:pPr>
            <a:r>
              <a:rPr lang="en-US" sz="2000" dirty="0">
                <a:solidFill>
                  <a:schemeClr val="accent1"/>
                </a:solidFill>
              </a:rPr>
              <a:t>Software Engineering: A Practitioner's Approach (7</a:t>
            </a:r>
            <a:r>
              <a:rPr lang="en-US" sz="2000" baseline="30000" dirty="0">
                <a:solidFill>
                  <a:schemeClr val="accent1"/>
                </a:solidFill>
              </a:rPr>
              <a:t>th</a:t>
            </a:r>
            <a:r>
              <a:rPr lang="en-US" sz="2000" dirty="0">
                <a:solidFill>
                  <a:schemeClr val="accent1"/>
                </a:solidFill>
              </a:rPr>
              <a:t> Edition)</a:t>
            </a:r>
          </a:p>
          <a:p>
            <a:pPr marL="0" lvl="1" indent="0" algn="just">
              <a:buClrTx/>
              <a:buSzTx/>
              <a:buNone/>
            </a:pPr>
            <a:r>
              <a:rPr lang="en-US" sz="2000" dirty="0"/>
              <a:t>by Roger S Pressman</a:t>
            </a:r>
          </a:p>
          <a:p>
            <a:pPr marL="0" lvl="1" indent="0" algn="just">
              <a:buClrTx/>
              <a:buSzTx/>
              <a:buNone/>
            </a:pPr>
            <a:r>
              <a:rPr lang="en-US" sz="2000" dirty="0"/>
              <a:t>McGraw-Hill, 2009</a:t>
            </a:r>
          </a:p>
          <a:p>
            <a:pPr marL="0" indent="0" algn="just">
              <a:buNone/>
            </a:pPr>
            <a:endParaRPr lang="en-US" sz="2000" dirty="0"/>
          </a:p>
          <a:p>
            <a:pPr marL="0" indent="0" algn="just">
              <a:buNone/>
            </a:pPr>
            <a:endParaRPr lang="en-US" sz="2000" dirty="0"/>
          </a:p>
          <a:p>
            <a:pPr marL="0" indent="0" algn="just">
              <a:buNone/>
            </a:pPr>
            <a:r>
              <a:rPr lang="en-US" sz="2000" dirty="0">
                <a:solidFill>
                  <a:schemeClr val="accent1"/>
                </a:solidFill>
              </a:rPr>
              <a:t>Software Engineering (9th Edition)</a:t>
            </a:r>
            <a:endParaRPr lang="en-US" sz="2000" dirty="0"/>
          </a:p>
          <a:p>
            <a:pPr marL="0" indent="0" algn="just">
              <a:buNone/>
            </a:pPr>
            <a:r>
              <a:rPr lang="en-US" sz="2000" dirty="0"/>
              <a:t>by Ian </a:t>
            </a:r>
            <a:r>
              <a:rPr lang="en-US" sz="2000" dirty="0" err="1"/>
              <a:t>Sommerville</a:t>
            </a:r>
            <a:endParaRPr lang="en-US" sz="2000" dirty="0"/>
          </a:p>
          <a:p>
            <a:pPr marL="0" indent="0" algn="just">
              <a:buNone/>
            </a:pPr>
            <a:r>
              <a:rPr lang="en-US" sz="2000" dirty="0"/>
              <a:t>Addison Wesley, 2010</a:t>
            </a:r>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r>
              <a:rPr lang="en-US" sz="2000" dirty="0">
                <a:solidFill>
                  <a:schemeClr val="accent1"/>
                </a:solidFill>
              </a:rPr>
              <a:t>Course “Mastering Object-Oriented Analysis and Design with UML 2.0”</a:t>
            </a:r>
          </a:p>
          <a:p>
            <a:pPr marL="0" indent="0" algn="just">
              <a:buNone/>
            </a:pPr>
            <a:r>
              <a:rPr lang="en-US" sz="2000" dirty="0"/>
              <a:t>by IBM Software Group</a:t>
            </a:r>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p:txBody>
      </p:sp>
      <p:sp>
        <p:nvSpPr>
          <p:cNvPr id="4" name="Slide Number Placeholder 3"/>
          <p:cNvSpPr>
            <a:spLocks noGrp="1"/>
          </p:cNvSpPr>
          <p:nvPr>
            <p:ph type="sldNum" sz="quarter" idx="12"/>
          </p:nvPr>
        </p:nvSpPr>
        <p:spPr/>
        <p:txBody>
          <a:bodyPr/>
          <a:lstStyle/>
          <a:p>
            <a:fld id="{DED05017-923D-480E-B02E-B52739184DCA}" type="slidenum">
              <a:rPr lang="en-US" smtClean="0"/>
              <a:pPr/>
              <a:t>2</a:t>
            </a:fld>
            <a:endParaRPr lang="en-US"/>
          </a:p>
        </p:txBody>
      </p:sp>
      <p:pic>
        <p:nvPicPr>
          <p:cNvPr id="4792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1371600"/>
            <a:ext cx="1362075" cy="168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92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4348" y="3395870"/>
            <a:ext cx="1352550"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6624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8920B4F-039D-452F-9074-41E80F71C21D}" type="slidenum">
              <a:rPr lang="en-US"/>
              <a:pPr/>
              <a:t>3</a:t>
            </a:fld>
            <a:endParaRPr lang="en-US"/>
          </a:p>
        </p:txBody>
      </p:sp>
      <p:sp>
        <p:nvSpPr>
          <p:cNvPr id="432130" name="Rectangle 2"/>
          <p:cNvSpPr>
            <a:spLocks noGrp="1" noChangeArrowheads="1"/>
          </p:cNvSpPr>
          <p:nvPr>
            <p:ph type="title"/>
          </p:nvPr>
        </p:nvSpPr>
        <p:spPr/>
        <p:txBody>
          <a:bodyPr/>
          <a:lstStyle/>
          <a:p>
            <a:r>
              <a:rPr lang="en-US" sz="2800" dirty="0"/>
              <a:t>What is software?</a:t>
            </a:r>
          </a:p>
        </p:txBody>
      </p:sp>
      <p:sp>
        <p:nvSpPr>
          <p:cNvPr id="432131" name="Rectangle 3"/>
          <p:cNvSpPr>
            <a:spLocks noGrp="1" noChangeArrowheads="1"/>
          </p:cNvSpPr>
          <p:nvPr>
            <p:ph type="body" idx="1"/>
          </p:nvPr>
        </p:nvSpPr>
        <p:spPr/>
        <p:txBody>
          <a:bodyPr/>
          <a:lstStyle/>
          <a:p>
            <a:pPr marL="0" indent="0" algn="just">
              <a:buNone/>
            </a:pPr>
            <a:r>
              <a:rPr lang="en-US" sz="2000" dirty="0">
                <a:latin typeface="+mj-lt"/>
              </a:rPr>
              <a:t>“Computer programs and associated documentation. Software products may be developed for a particular customer or may be developed for a general market.”</a:t>
            </a:r>
          </a:p>
          <a:p>
            <a:pPr marL="0" indent="0" algn="just">
              <a:buNone/>
            </a:pPr>
            <a:r>
              <a:rPr lang="en-US" sz="1800" i="1" dirty="0">
                <a:latin typeface="+mj-lt"/>
              </a:rPr>
              <a:t>(Ian </a:t>
            </a:r>
            <a:r>
              <a:rPr lang="en-US" sz="1800" i="1" dirty="0" err="1">
                <a:latin typeface="+mj-lt"/>
              </a:rPr>
              <a:t>Sommerville</a:t>
            </a:r>
            <a:r>
              <a:rPr lang="en-US" sz="1800" i="1" dirty="0">
                <a:latin typeface="+mj-lt"/>
              </a:rPr>
              <a:t>, </a:t>
            </a:r>
            <a:r>
              <a:rPr lang="en-US" sz="1800" i="1" dirty="0">
                <a:solidFill>
                  <a:schemeClr val="accent1"/>
                </a:solidFill>
                <a:latin typeface="+mj-lt"/>
              </a:rPr>
              <a:t>Software Engineering (9th Edition)</a:t>
            </a:r>
            <a:r>
              <a:rPr lang="en-US" sz="1800" i="1" dirty="0">
                <a:latin typeface="+mj-lt"/>
              </a:rPr>
              <a:t>, Addison Wesley, 2010</a:t>
            </a:r>
            <a:r>
              <a:rPr lang="en-US" sz="1800" dirty="0">
                <a:latin typeface="+mj-lt"/>
              </a:rPr>
              <a:t>)</a:t>
            </a:r>
          </a:p>
          <a:p>
            <a:pPr marL="0" lvl="1" indent="0" algn="just">
              <a:buClrTx/>
              <a:buSzTx/>
              <a:buNone/>
            </a:pPr>
            <a:r>
              <a:rPr lang="en-US" sz="2000" dirty="0">
                <a:latin typeface="+mj-lt"/>
              </a:rPr>
              <a:t>“Software is (1) instructions (computer programs) that when executed provide desired function and performance,  (2) data structures that enable the programs to adequately manipulate information, and (3) documents that describe the operation and use of the programs.” </a:t>
            </a:r>
          </a:p>
          <a:p>
            <a:pPr marL="0" lvl="1" indent="0" algn="just">
              <a:buClrTx/>
              <a:buSzTx/>
              <a:buNone/>
            </a:pPr>
            <a:r>
              <a:rPr lang="en-US" sz="1800" i="1" dirty="0"/>
              <a:t>(Roger S Pressman, </a:t>
            </a:r>
            <a:r>
              <a:rPr lang="en-US" sz="1800" i="1" dirty="0">
                <a:solidFill>
                  <a:schemeClr val="accent1"/>
                </a:solidFill>
              </a:rPr>
              <a:t>Software Engineering: A Practitioner's Approach (7</a:t>
            </a:r>
            <a:r>
              <a:rPr lang="en-US" sz="1800" i="1" baseline="30000" dirty="0">
                <a:solidFill>
                  <a:schemeClr val="accent1"/>
                </a:solidFill>
              </a:rPr>
              <a:t>th</a:t>
            </a:r>
            <a:r>
              <a:rPr lang="en-US" sz="1800" i="1" dirty="0">
                <a:solidFill>
                  <a:schemeClr val="accent1"/>
                </a:solidFill>
              </a:rPr>
              <a:t> Edition)</a:t>
            </a:r>
            <a:r>
              <a:rPr lang="en-US" sz="1800" i="1" dirty="0"/>
              <a:t>, McGraw-Hill, 2009)</a:t>
            </a:r>
          </a:p>
          <a:p>
            <a:pPr marL="0" lvl="1" indent="0" algn="just">
              <a:buClrTx/>
              <a:buSzTx/>
              <a:buNone/>
            </a:pPr>
            <a:r>
              <a:rPr lang="en-US" sz="2000" dirty="0">
                <a:latin typeface="+mj-lt"/>
              </a:rPr>
              <a:t>“Computer software is the product that software engineers design and build. It encompasses programs that execute within a computer of any size and architecture, documents that encompass hard-copy and virtual forms, and data that combine numbers and text but also includes representations of pictorial, video, and audio information.”</a:t>
            </a:r>
          </a:p>
          <a:p>
            <a:pPr marL="0" lvl="1" indent="0" algn="just">
              <a:buClrTx/>
              <a:buSzTx/>
              <a:buNone/>
            </a:pPr>
            <a:r>
              <a:rPr lang="en-US" sz="1800" i="1" dirty="0">
                <a:latin typeface="+mj-lt"/>
              </a:rPr>
              <a:t>(Roger S Pressman, </a:t>
            </a:r>
            <a:r>
              <a:rPr lang="en-US" sz="1800" i="1" dirty="0">
                <a:solidFill>
                  <a:schemeClr val="accent1"/>
                </a:solidFill>
                <a:latin typeface="+mj-lt"/>
              </a:rPr>
              <a:t>Software Engineering: A Practitioner's Approach (7</a:t>
            </a:r>
            <a:r>
              <a:rPr lang="en-US" sz="1800" i="1" baseline="30000" dirty="0">
                <a:solidFill>
                  <a:schemeClr val="accent1"/>
                </a:solidFill>
                <a:latin typeface="+mj-lt"/>
              </a:rPr>
              <a:t>th</a:t>
            </a:r>
            <a:r>
              <a:rPr lang="en-US" sz="1800" i="1" dirty="0">
                <a:solidFill>
                  <a:schemeClr val="accent1"/>
                </a:solidFill>
                <a:latin typeface="+mj-lt"/>
              </a:rPr>
              <a:t> Edition)</a:t>
            </a:r>
            <a:r>
              <a:rPr lang="en-US" sz="1800" i="1" dirty="0">
                <a:latin typeface="+mj-lt"/>
              </a:rPr>
              <a:t>, McGraw-Hill, 2009)</a:t>
            </a:r>
          </a:p>
          <a:p>
            <a:pPr marL="0" lvl="1" indent="0" algn="just">
              <a:buClrTx/>
              <a:buSzTx/>
              <a:buNone/>
            </a:pPr>
            <a:endParaRPr lang="en-US" sz="1800" i="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What is software?</a:t>
            </a:r>
          </a:p>
        </p:txBody>
      </p:sp>
      <p:sp>
        <p:nvSpPr>
          <p:cNvPr id="3" name="Content Placeholder 2"/>
          <p:cNvSpPr>
            <a:spLocks noGrp="1"/>
          </p:cNvSpPr>
          <p:nvPr>
            <p:ph idx="1"/>
          </p:nvPr>
        </p:nvSpPr>
        <p:spPr/>
        <p:txBody>
          <a:bodyPr/>
          <a:lstStyle/>
          <a:p>
            <a:pPr marL="0" indent="0" algn="just">
              <a:buNone/>
            </a:pPr>
            <a:r>
              <a:rPr lang="en-US" sz="2000" dirty="0"/>
              <a:t>What is the concept of software that I was taught when I was an undergraduate student?</a:t>
            </a:r>
          </a:p>
          <a:p>
            <a:pPr marL="400050" lvl="1" indent="0" algn="just">
              <a:buNone/>
            </a:pPr>
            <a:r>
              <a:rPr lang="en-US" sz="2000" b="1" dirty="0">
                <a:solidFill>
                  <a:srgbClr val="F48D10"/>
                </a:solidFill>
              </a:rPr>
              <a:t>“</a:t>
            </a:r>
            <a:r>
              <a:rPr lang="en-US" sz="2000" b="1" dirty="0" err="1">
                <a:solidFill>
                  <a:srgbClr val="F48D10"/>
                </a:solidFill>
              </a:rPr>
              <a:t>Chương</a:t>
            </a:r>
            <a:r>
              <a:rPr lang="en-US" sz="2000" b="1" dirty="0">
                <a:solidFill>
                  <a:srgbClr val="F48D10"/>
                </a:solidFill>
              </a:rPr>
              <a:t> </a:t>
            </a:r>
            <a:r>
              <a:rPr lang="en-US" sz="2000" b="1" dirty="0" err="1">
                <a:solidFill>
                  <a:srgbClr val="F48D10"/>
                </a:solidFill>
              </a:rPr>
              <a:t>trình</a:t>
            </a:r>
            <a:r>
              <a:rPr lang="en-US" sz="2000" dirty="0"/>
              <a:t> </a:t>
            </a:r>
            <a:r>
              <a:rPr lang="en-US" sz="2000" dirty="0" err="1"/>
              <a:t>thực</a:t>
            </a:r>
            <a:r>
              <a:rPr lang="en-US" sz="2000" dirty="0"/>
              <a:t> </a:t>
            </a:r>
            <a:r>
              <a:rPr lang="en-US" sz="2000" dirty="0" err="1"/>
              <a:t>thi</a:t>
            </a:r>
            <a:r>
              <a:rPr lang="en-US" sz="2000" dirty="0"/>
              <a:t> </a:t>
            </a:r>
            <a:r>
              <a:rPr lang="en-US" sz="2000" dirty="0" err="1"/>
              <a:t>được</a:t>
            </a:r>
            <a:r>
              <a:rPr lang="en-US" sz="2000" dirty="0"/>
              <a:t> </a:t>
            </a:r>
            <a:r>
              <a:rPr lang="en-US" sz="2000" dirty="0" err="1"/>
              <a:t>trên</a:t>
            </a:r>
            <a:r>
              <a:rPr lang="en-US" sz="2000" dirty="0"/>
              <a:t> </a:t>
            </a:r>
            <a:r>
              <a:rPr lang="en-US" sz="2000" b="1" dirty="0" err="1">
                <a:solidFill>
                  <a:srgbClr val="0000FF"/>
                </a:solidFill>
              </a:rPr>
              <a:t>máy</a:t>
            </a:r>
            <a:r>
              <a:rPr lang="en-US" sz="2000" b="1" dirty="0">
                <a:solidFill>
                  <a:srgbClr val="0000FF"/>
                </a:solidFill>
              </a:rPr>
              <a:t> </a:t>
            </a:r>
            <a:r>
              <a:rPr lang="en-US" sz="2000" b="1" dirty="0" err="1">
                <a:solidFill>
                  <a:srgbClr val="0000FF"/>
                </a:solidFill>
              </a:rPr>
              <a:t>tính</a:t>
            </a:r>
            <a:r>
              <a:rPr lang="en-US" sz="2000" dirty="0"/>
              <a:t> </a:t>
            </a:r>
            <a:r>
              <a:rPr lang="en-US" sz="2000" dirty="0" err="1"/>
              <a:t>nhằm</a:t>
            </a:r>
            <a:r>
              <a:rPr lang="en-US" sz="2000" dirty="0"/>
              <a:t> </a:t>
            </a:r>
            <a:r>
              <a:rPr lang="en-US" sz="2000" b="1" u="sng" dirty="0" err="1">
                <a:solidFill>
                  <a:srgbClr val="FF0303"/>
                </a:solidFill>
              </a:rPr>
              <a:t>hỗ</a:t>
            </a:r>
            <a:r>
              <a:rPr lang="en-US" sz="2000" b="1" u="sng" dirty="0">
                <a:solidFill>
                  <a:srgbClr val="FF0303"/>
                </a:solidFill>
              </a:rPr>
              <a:t> </a:t>
            </a:r>
            <a:r>
              <a:rPr lang="en-US" sz="2000" b="1" u="sng" dirty="0" err="1">
                <a:solidFill>
                  <a:srgbClr val="FF0303"/>
                </a:solidFill>
              </a:rPr>
              <a:t>trợ</a:t>
            </a:r>
            <a:r>
              <a:rPr lang="en-US" sz="2000" dirty="0"/>
              <a:t> </a:t>
            </a:r>
            <a:r>
              <a:rPr lang="en-US" sz="2000" dirty="0" err="1"/>
              <a:t>cho</a:t>
            </a:r>
            <a:r>
              <a:rPr lang="en-US" sz="2000" dirty="0"/>
              <a:t> </a:t>
            </a:r>
            <a:r>
              <a:rPr lang="en-US" sz="2000" dirty="0" err="1"/>
              <a:t>các</a:t>
            </a:r>
            <a:r>
              <a:rPr lang="en-US" sz="2000" dirty="0"/>
              <a:t> </a:t>
            </a:r>
            <a:r>
              <a:rPr lang="en-US" sz="2000" b="1" dirty="0" err="1">
                <a:solidFill>
                  <a:srgbClr val="008000"/>
                </a:solidFill>
              </a:rPr>
              <a:t>nhà</a:t>
            </a:r>
            <a:r>
              <a:rPr lang="en-US" sz="2000" b="1" dirty="0">
                <a:solidFill>
                  <a:srgbClr val="008000"/>
                </a:solidFill>
              </a:rPr>
              <a:t> </a:t>
            </a:r>
            <a:r>
              <a:rPr lang="en-US" sz="2000" b="1" dirty="0" err="1">
                <a:solidFill>
                  <a:srgbClr val="008000"/>
                </a:solidFill>
              </a:rPr>
              <a:t>chuyên</a:t>
            </a:r>
            <a:r>
              <a:rPr lang="en-US" sz="2000" b="1" dirty="0">
                <a:solidFill>
                  <a:srgbClr val="008000"/>
                </a:solidFill>
              </a:rPr>
              <a:t> </a:t>
            </a:r>
            <a:r>
              <a:rPr lang="en-US" sz="2000" b="1" dirty="0" err="1">
                <a:solidFill>
                  <a:srgbClr val="008000"/>
                </a:solidFill>
              </a:rPr>
              <a:t>môn</a:t>
            </a:r>
            <a:r>
              <a:rPr lang="en-US" sz="2000" dirty="0"/>
              <a:t> </a:t>
            </a:r>
            <a:r>
              <a:rPr lang="en-US" sz="2000" dirty="0" err="1"/>
              <a:t>trong</a:t>
            </a:r>
            <a:r>
              <a:rPr lang="en-US" sz="2000" dirty="0"/>
              <a:t> </a:t>
            </a:r>
            <a:r>
              <a:rPr lang="en-US" sz="2000" dirty="0" err="1"/>
              <a:t>từng</a:t>
            </a:r>
            <a:r>
              <a:rPr lang="en-US" sz="2000" dirty="0"/>
              <a:t> </a:t>
            </a:r>
            <a:r>
              <a:rPr lang="en-US" sz="2000" b="1" dirty="0" err="1">
                <a:solidFill>
                  <a:srgbClr val="008000"/>
                </a:solidFill>
              </a:rPr>
              <a:t>lĩnh</a:t>
            </a:r>
            <a:r>
              <a:rPr lang="en-US" sz="2000" b="1" dirty="0">
                <a:solidFill>
                  <a:srgbClr val="008000"/>
                </a:solidFill>
              </a:rPr>
              <a:t> </a:t>
            </a:r>
            <a:r>
              <a:rPr lang="en-US" sz="2000" b="1" dirty="0" err="1">
                <a:solidFill>
                  <a:srgbClr val="008000"/>
                </a:solidFill>
              </a:rPr>
              <a:t>vực</a:t>
            </a:r>
            <a:r>
              <a:rPr lang="en-US" sz="2000" b="1" dirty="0">
                <a:solidFill>
                  <a:srgbClr val="008000"/>
                </a:solidFill>
              </a:rPr>
              <a:t> </a:t>
            </a:r>
            <a:r>
              <a:rPr lang="en-US" sz="2000" b="1" dirty="0" err="1">
                <a:solidFill>
                  <a:srgbClr val="008000"/>
                </a:solidFill>
              </a:rPr>
              <a:t>chuyên</a:t>
            </a:r>
            <a:r>
              <a:rPr lang="en-US" sz="2000" b="1" dirty="0">
                <a:solidFill>
                  <a:srgbClr val="008000"/>
                </a:solidFill>
              </a:rPr>
              <a:t> </a:t>
            </a:r>
            <a:r>
              <a:rPr lang="en-US" sz="2000" b="1" dirty="0" err="1">
                <a:solidFill>
                  <a:srgbClr val="008000"/>
                </a:solidFill>
              </a:rPr>
              <a:t>ngành</a:t>
            </a:r>
            <a:r>
              <a:rPr lang="en-US" sz="2000" dirty="0"/>
              <a:t> </a:t>
            </a:r>
            <a:r>
              <a:rPr lang="en-US" sz="2000" dirty="0" err="1"/>
              <a:t>thực</a:t>
            </a:r>
            <a:r>
              <a:rPr lang="en-US" sz="2000" dirty="0"/>
              <a:t> </a:t>
            </a:r>
            <a:r>
              <a:rPr lang="en-US" sz="2000" dirty="0" err="1"/>
              <a:t>hiện</a:t>
            </a:r>
            <a:r>
              <a:rPr lang="en-US" sz="2000" dirty="0"/>
              <a:t> </a:t>
            </a:r>
            <a:r>
              <a:rPr lang="en-US" sz="2000" b="1" u="sng" dirty="0" err="1">
                <a:solidFill>
                  <a:srgbClr val="FF0303"/>
                </a:solidFill>
              </a:rPr>
              <a:t>tốt</a:t>
            </a:r>
            <a:r>
              <a:rPr lang="en-US" sz="2000" b="1" u="sng" dirty="0">
                <a:solidFill>
                  <a:srgbClr val="FF0303"/>
                </a:solidFill>
              </a:rPr>
              <a:t> </a:t>
            </a:r>
            <a:r>
              <a:rPr lang="en-US" sz="2000" b="1" u="sng" dirty="0" err="1">
                <a:solidFill>
                  <a:srgbClr val="FF0303"/>
                </a:solidFill>
              </a:rPr>
              <a:t>hơn</a:t>
            </a:r>
            <a:r>
              <a:rPr lang="en-US" sz="2000" dirty="0"/>
              <a:t> </a:t>
            </a:r>
            <a:r>
              <a:rPr lang="en-US" sz="2000" dirty="0" err="1"/>
              <a:t>các</a:t>
            </a:r>
            <a:r>
              <a:rPr lang="en-US" sz="2000" dirty="0"/>
              <a:t> </a:t>
            </a:r>
            <a:r>
              <a:rPr lang="en-US" sz="2000" dirty="0" err="1"/>
              <a:t>thao</a:t>
            </a:r>
            <a:r>
              <a:rPr lang="en-US" sz="2000" dirty="0"/>
              <a:t> </a:t>
            </a:r>
            <a:r>
              <a:rPr lang="en-US" sz="2000" dirty="0" err="1"/>
              <a:t>tác</a:t>
            </a:r>
            <a:r>
              <a:rPr lang="en-US" sz="2000" dirty="0"/>
              <a:t> </a:t>
            </a:r>
            <a:r>
              <a:rPr lang="en-US" sz="2000" b="1" dirty="0" err="1">
                <a:solidFill>
                  <a:srgbClr val="008000"/>
                </a:solidFill>
              </a:rPr>
              <a:t>nghiệp</a:t>
            </a:r>
            <a:r>
              <a:rPr lang="en-US" sz="2000" b="1" dirty="0">
                <a:solidFill>
                  <a:srgbClr val="008000"/>
                </a:solidFill>
              </a:rPr>
              <a:t> </a:t>
            </a:r>
            <a:r>
              <a:rPr lang="en-US" sz="2000" b="1" dirty="0" err="1">
                <a:solidFill>
                  <a:srgbClr val="008000"/>
                </a:solidFill>
              </a:rPr>
              <a:t>vụ</a:t>
            </a:r>
            <a:r>
              <a:rPr lang="en-US" sz="2000" dirty="0"/>
              <a:t> </a:t>
            </a:r>
            <a:r>
              <a:rPr lang="en-US" sz="2000" dirty="0" err="1"/>
              <a:t>của</a:t>
            </a:r>
            <a:r>
              <a:rPr lang="en-US" sz="2000" dirty="0"/>
              <a:t> </a:t>
            </a:r>
            <a:r>
              <a:rPr lang="en-US" sz="2000" dirty="0" err="1"/>
              <a:t>mình</a:t>
            </a:r>
            <a:endParaRPr lang="en-US" sz="2000" dirty="0"/>
          </a:p>
          <a:p>
            <a:pPr marL="457200" lvl="1" indent="0" algn="just">
              <a:buNone/>
            </a:pPr>
            <a:r>
              <a:rPr lang="en-US" sz="1800" i="1" dirty="0"/>
              <a:t>(From the lectures on Software Engineering of Prof. NGUYEN </a:t>
            </a:r>
            <a:r>
              <a:rPr lang="en-US" sz="1800" i="1" dirty="0" err="1"/>
              <a:t>Tien</a:t>
            </a:r>
            <a:r>
              <a:rPr lang="en-US" sz="1800" i="1" dirty="0"/>
              <a:t> </a:t>
            </a:r>
            <a:r>
              <a:rPr lang="en-US" sz="1800" i="1" dirty="0" err="1"/>
              <a:t>Huy</a:t>
            </a:r>
            <a:r>
              <a:rPr lang="en-US" sz="1800" i="1" dirty="0"/>
              <a:t>, HCMUS, VNU-HCM, 1999)</a:t>
            </a:r>
            <a:endParaRPr lang="en-US" sz="1800" dirty="0"/>
          </a:p>
          <a:p>
            <a:pPr marL="0" lvl="1" indent="0" algn="just">
              <a:buClrTx/>
              <a:buSzTx/>
              <a:buNone/>
            </a:pPr>
            <a:endParaRPr lang="en-US" sz="2000" i="1" dirty="0"/>
          </a:p>
          <a:p>
            <a:endParaRPr lang="en-US" sz="2000" dirty="0"/>
          </a:p>
        </p:txBody>
      </p:sp>
      <p:sp>
        <p:nvSpPr>
          <p:cNvPr id="4" name="Slide Number Placeholder 3"/>
          <p:cNvSpPr>
            <a:spLocks noGrp="1"/>
          </p:cNvSpPr>
          <p:nvPr>
            <p:ph type="sldNum" sz="quarter" idx="12"/>
          </p:nvPr>
        </p:nvSpPr>
        <p:spPr/>
        <p:txBody>
          <a:bodyPr/>
          <a:lstStyle/>
          <a:p>
            <a:fld id="{DED05017-923D-480E-B02E-B52739184DCA}" type="slidenum">
              <a:rPr lang="en-US" smtClean="0"/>
              <a:pPr/>
              <a:t>4</a:t>
            </a:fld>
            <a:endParaRPr lang="en-US"/>
          </a:p>
        </p:txBody>
      </p:sp>
    </p:spTree>
    <p:extLst>
      <p:ext uri="{BB962C8B-B14F-4D97-AF65-F5344CB8AC3E}">
        <p14:creationId xmlns:p14="http://schemas.microsoft.com/office/powerpoint/2010/main" val="2201348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1E0340B-C3E2-44B6-A6DF-294126CDA5BA}" type="slidenum">
              <a:rPr lang="en-US"/>
              <a:pPr/>
              <a:t>5</a:t>
            </a:fld>
            <a:endParaRPr lang="en-US"/>
          </a:p>
        </p:txBody>
      </p:sp>
      <p:sp>
        <p:nvSpPr>
          <p:cNvPr id="434178" name="Rectangle 2"/>
          <p:cNvSpPr>
            <a:spLocks noGrp="1" noChangeArrowheads="1"/>
          </p:cNvSpPr>
          <p:nvPr>
            <p:ph type="title"/>
          </p:nvPr>
        </p:nvSpPr>
        <p:spPr/>
        <p:txBody>
          <a:bodyPr/>
          <a:lstStyle/>
          <a:p>
            <a:r>
              <a:rPr lang="en-US" sz="2800" dirty="0"/>
              <a:t>What is software?</a:t>
            </a:r>
          </a:p>
        </p:txBody>
      </p:sp>
      <p:sp>
        <p:nvSpPr>
          <p:cNvPr id="434179" name="Rectangle 3"/>
          <p:cNvSpPr>
            <a:spLocks noGrp="1" noChangeArrowheads="1"/>
          </p:cNvSpPr>
          <p:nvPr>
            <p:ph type="body" idx="1"/>
          </p:nvPr>
        </p:nvSpPr>
        <p:spPr/>
        <p:txBody>
          <a:bodyPr/>
          <a:lstStyle/>
          <a:p>
            <a:pPr algn="just"/>
            <a:r>
              <a:rPr lang="en-US" sz="2000" dirty="0"/>
              <a:t>Executing environment for software:</a:t>
            </a:r>
          </a:p>
          <a:p>
            <a:pPr lvl="1" algn="just"/>
            <a:r>
              <a:rPr lang="en-US" sz="2000" dirty="0">
                <a:solidFill>
                  <a:srgbClr val="0000FF"/>
                </a:solidFill>
              </a:rPr>
              <a:t>Traditional computing environment: </a:t>
            </a:r>
            <a:r>
              <a:rPr lang="en-US" sz="2000" dirty="0"/>
              <a:t>mainframes, computers, laptops, …</a:t>
            </a:r>
          </a:p>
          <a:p>
            <a:pPr lvl="1" algn="just"/>
            <a:r>
              <a:rPr lang="en-US" sz="2000" dirty="0">
                <a:solidFill>
                  <a:srgbClr val="0000FF"/>
                </a:solidFill>
              </a:rPr>
              <a:t>Mobile devices: </a:t>
            </a:r>
            <a:r>
              <a:rPr lang="en-US" sz="2000" dirty="0"/>
              <a:t>smart phones, PDAs, tablet PCs…</a:t>
            </a:r>
          </a:p>
          <a:p>
            <a:pPr lvl="1" algn="just"/>
            <a:r>
              <a:rPr lang="en-US" sz="2000" dirty="0">
                <a:solidFill>
                  <a:srgbClr val="0000FF"/>
                </a:solidFill>
              </a:rPr>
              <a:t>Other devices: </a:t>
            </a:r>
            <a:r>
              <a:rPr lang="en-US" sz="2000" dirty="0"/>
              <a:t>set-top boxes, cameras, routers, firewalls…</a:t>
            </a:r>
            <a:endParaRPr lang="en-US" dirty="0"/>
          </a:p>
          <a:p>
            <a:r>
              <a:rPr lang="en-US" sz="2000" dirty="0"/>
              <a:t>How to provide better services to users?</a:t>
            </a:r>
          </a:p>
          <a:p>
            <a:pPr lvl="1"/>
            <a:r>
              <a:rPr lang="en-US" sz="2000" dirty="0">
                <a:solidFill>
                  <a:srgbClr val="0000FF"/>
                </a:solidFill>
              </a:rPr>
              <a:t>Computerize </a:t>
            </a:r>
            <a:r>
              <a:rPr lang="en-US" sz="2000" dirty="0"/>
              <a:t>business processes</a:t>
            </a:r>
            <a:r>
              <a:rPr lang="en-US" sz="2000" dirty="0">
                <a:solidFill>
                  <a:srgbClr val="0000FF"/>
                </a:solidFill>
              </a:rPr>
              <a:t> </a:t>
            </a:r>
            <a:r>
              <a:rPr lang="en-US" sz="2000" dirty="0"/>
              <a:t>that are being processed manually</a:t>
            </a:r>
          </a:p>
          <a:p>
            <a:pPr lvl="1"/>
            <a:r>
              <a:rPr lang="en-US" sz="2000" dirty="0">
                <a:solidFill>
                  <a:srgbClr val="0000FF"/>
                </a:solidFill>
              </a:rPr>
              <a:t>Improve </a:t>
            </a:r>
            <a:r>
              <a:rPr lang="en-US" sz="2000" dirty="0"/>
              <a:t>existing computerized functionalities of business processes</a:t>
            </a:r>
            <a:endParaRPr lang="en-US" sz="2000" dirty="0">
              <a:solidFill>
                <a:srgbClr val="F48D10"/>
              </a:solidFill>
            </a:endParaRPr>
          </a:p>
          <a:p>
            <a:pPr lvl="1"/>
            <a:r>
              <a:rPr lang="en-US" sz="2000" dirty="0">
                <a:solidFill>
                  <a:srgbClr val="0000FF"/>
                </a:solidFill>
              </a:rPr>
              <a:t>Propose and develop </a:t>
            </a:r>
            <a:r>
              <a:rPr lang="en-US" sz="2000" dirty="0"/>
              <a:t>new functionalities for new/existing business processes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Software applications</a:t>
            </a:r>
          </a:p>
        </p:txBody>
      </p:sp>
      <p:sp>
        <p:nvSpPr>
          <p:cNvPr id="3" name="Content Placeholder 2"/>
          <p:cNvSpPr>
            <a:spLocks noGrp="1"/>
          </p:cNvSpPr>
          <p:nvPr>
            <p:ph idx="1"/>
          </p:nvPr>
        </p:nvSpPr>
        <p:spPr/>
        <p:txBody>
          <a:bodyPr/>
          <a:lstStyle/>
          <a:p>
            <a:r>
              <a:rPr lang="en-US" sz="2000" dirty="0"/>
              <a:t>Some types of software applications:</a:t>
            </a:r>
          </a:p>
          <a:p>
            <a:pPr lvl="1"/>
            <a:r>
              <a:rPr lang="en-US" sz="2000" dirty="0"/>
              <a:t>System software</a:t>
            </a:r>
          </a:p>
          <a:p>
            <a:pPr lvl="1"/>
            <a:r>
              <a:rPr lang="en-US" sz="2000" dirty="0"/>
              <a:t>Real-time software</a:t>
            </a:r>
          </a:p>
          <a:p>
            <a:pPr lvl="1"/>
            <a:r>
              <a:rPr lang="en-US" sz="2000" dirty="0"/>
              <a:t>Business software</a:t>
            </a:r>
          </a:p>
          <a:p>
            <a:pPr lvl="1"/>
            <a:r>
              <a:rPr lang="en-US" sz="2000" dirty="0"/>
              <a:t>Engineering and scientific software</a:t>
            </a:r>
          </a:p>
          <a:p>
            <a:pPr lvl="1"/>
            <a:r>
              <a:rPr lang="en-US" sz="2000" dirty="0"/>
              <a:t>Embedded software</a:t>
            </a:r>
          </a:p>
          <a:p>
            <a:pPr lvl="1"/>
            <a:r>
              <a:rPr lang="en-US" sz="2000" dirty="0"/>
              <a:t>Personal computer software</a:t>
            </a:r>
          </a:p>
          <a:p>
            <a:pPr lvl="1"/>
            <a:r>
              <a:rPr lang="en-US" sz="2000" dirty="0"/>
              <a:t>Web-based software</a:t>
            </a:r>
          </a:p>
          <a:p>
            <a:pPr lvl="1"/>
            <a:r>
              <a:rPr lang="en-US" sz="2000" dirty="0"/>
              <a:t>Artificial intelligence software</a:t>
            </a:r>
          </a:p>
          <a:p>
            <a:pPr lvl="1"/>
            <a:r>
              <a:rPr lang="en-US" sz="2000" dirty="0"/>
              <a:t>…</a:t>
            </a:r>
          </a:p>
        </p:txBody>
      </p:sp>
      <p:sp>
        <p:nvSpPr>
          <p:cNvPr id="4" name="Slide Number Placeholder 3"/>
          <p:cNvSpPr>
            <a:spLocks noGrp="1"/>
          </p:cNvSpPr>
          <p:nvPr>
            <p:ph type="sldNum" sz="quarter" idx="12"/>
          </p:nvPr>
        </p:nvSpPr>
        <p:spPr/>
        <p:txBody>
          <a:bodyPr/>
          <a:lstStyle/>
          <a:p>
            <a:fld id="{DED05017-923D-480E-B02E-B52739184DCA}" type="slidenum">
              <a:rPr lang="en-US" smtClean="0"/>
              <a:pPr/>
              <a:t>6</a:t>
            </a:fld>
            <a:endParaRPr lang="en-US"/>
          </a:p>
        </p:txBody>
      </p:sp>
    </p:spTree>
    <p:extLst>
      <p:ext uri="{BB962C8B-B14F-4D97-AF65-F5344CB8AC3E}">
        <p14:creationId xmlns:p14="http://schemas.microsoft.com/office/powerpoint/2010/main" val="1201332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What is software engineering?</a:t>
            </a:r>
          </a:p>
        </p:txBody>
      </p:sp>
      <p:sp>
        <p:nvSpPr>
          <p:cNvPr id="3" name="Content Placeholder 2"/>
          <p:cNvSpPr>
            <a:spLocks noGrp="1"/>
          </p:cNvSpPr>
          <p:nvPr>
            <p:ph idx="1"/>
          </p:nvPr>
        </p:nvSpPr>
        <p:spPr/>
        <p:txBody>
          <a:bodyPr/>
          <a:lstStyle/>
          <a:p>
            <a:pPr marL="0" indent="0">
              <a:buNone/>
            </a:pPr>
            <a:r>
              <a:rPr lang="en-US" sz="2000" dirty="0"/>
              <a:t>“Software engineering is an engineering discipline which is concerned with all aspects of software production.”</a:t>
            </a:r>
          </a:p>
          <a:p>
            <a:pPr marL="0" indent="0">
              <a:buNone/>
            </a:pPr>
            <a:r>
              <a:rPr lang="en-US" sz="1800" i="1" dirty="0"/>
              <a:t>(Ian </a:t>
            </a:r>
            <a:r>
              <a:rPr lang="en-US" sz="1800" i="1" dirty="0" err="1"/>
              <a:t>Sommerville</a:t>
            </a:r>
            <a:r>
              <a:rPr lang="en-US" sz="1800" i="1" dirty="0"/>
              <a:t>, </a:t>
            </a:r>
            <a:r>
              <a:rPr lang="en-US" sz="1800" i="1" dirty="0">
                <a:solidFill>
                  <a:schemeClr val="accent1"/>
                </a:solidFill>
              </a:rPr>
              <a:t>Software Engineering (9th Edition)</a:t>
            </a:r>
            <a:r>
              <a:rPr lang="en-US" sz="1800" i="1" dirty="0"/>
              <a:t>, Addison Wesley, 2010</a:t>
            </a:r>
            <a:r>
              <a:rPr lang="en-US" sz="1800" dirty="0"/>
              <a:t>)</a:t>
            </a:r>
          </a:p>
          <a:p>
            <a:pPr marL="0" indent="0">
              <a:buNone/>
            </a:pPr>
            <a:endParaRPr lang="en-US" sz="1100" dirty="0"/>
          </a:p>
          <a:p>
            <a:pPr marL="0" indent="0" algn="just">
              <a:buNone/>
            </a:pPr>
            <a:r>
              <a:rPr lang="en-US" sz="2000" dirty="0"/>
              <a:t>“[Software engineering is] the establishment and use of sound engineering principles in order to obtain economically software that is reliable and works efﬁciently on real machines.”</a:t>
            </a:r>
          </a:p>
          <a:p>
            <a:pPr marL="0" indent="0">
              <a:buNone/>
            </a:pPr>
            <a:r>
              <a:rPr lang="en-US" sz="1800" i="1" dirty="0"/>
              <a:t>(Fritz Bauer, </a:t>
            </a:r>
            <a:r>
              <a:rPr lang="en-US" sz="1800" i="1" dirty="0">
                <a:solidFill>
                  <a:schemeClr val="accent1"/>
                </a:solidFill>
              </a:rPr>
              <a:t>Software Engineering: A Report on a Conference Sponsored by the NATO Science Committee</a:t>
            </a:r>
            <a:r>
              <a:rPr lang="en-US" sz="1800" i="1" dirty="0"/>
              <a:t>, NATO, 1969, Editors: P. </a:t>
            </a:r>
            <a:r>
              <a:rPr lang="en-US" sz="1800" i="1" dirty="0" err="1"/>
              <a:t>Naur</a:t>
            </a:r>
            <a:r>
              <a:rPr lang="en-US" sz="1800" i="1" dirty="0"/>
              <a:t> and B. Randall)</a:t>
            </a:r>
          </a:p>
          <a:p>
            <a:pPr marL="0" indent="0">
              <a:buNone/>
            </a:pPr>
            <a:endParaRPr lang="en-US" sz="1100" dirty="0"/>
          </a:p>
          <a:p>
            <a:pPr marL="0" indent="0">
              <a:buNone/>
            </a:pPr>
            <a:r>
              <a:rPr lang="en-US" sz="2000" dirty="0"/>
              <a:t>“Software Engineering: </a:t>
            </a:r>
          </a:p>
          <a:p>
            <a:pPr marL="457200" indent="-457200">
              <a:buAutoNum type="arabicParenBoth"/>
            </a:pPr>
            <a:r>
              <a:rPr lang="en-US" sz="2000" dirty="0"/>
              <a:t>The application of a systematic, disciplined, quantiﬁable approach to the development, operation, and maintenance of software; that is, the application of engineering to software. </a:t>
            </a:r>
          </a:p>
          <a:p>
            <a:pPr marL="457200" indent="-457200">
              <a:buAutoNum type="arabicParenBoth"/>
            </a:pPr>
            <a:r>
              <a:rPr lang="en-US" sz="2000" dirty="0"/>
              <a:t>The study of approaches as in (1).”</a:t>
            </a:r>
          </a:p>
          <a:p>
            <a:pPr marL="0" indent="0">
              <a:buNone/>
            </a:pPr>
            <a:r>
              <a:rPr lang="en-US" sz="1800" i="1" dirty="0">
                <a:solidFill>
                  <a:schemeClr val="accent1"/>
                </a:solidFill>
              </a:rPr>
              <a:t>(IEEE Standards Collection: Software Engineering</a:t>
            </a:r>
            <a:r>
              <a:rPr lang="en-US" sz="1800" i="1" dirty="0"/>
              <a:t>, IEEE Standard 610.12—1990, IEEE, 1993.)</a:t>
            </a:r>
            <a:endParaRPr lang="en-US" sz="2000" i="1" dirty="0"/>
          </a:p>
        </p:txBody>
      </p:sp>
      <p:sp>
        <p:nvSpPr>
          <p:cNvPr id="4" name="Slide Number Placeholder 3"/>
          <p:cNvSpPr>
            <a:spLocks noGrp="1"/>
          </p:cNvSpPr>
          <p:nvPr>
            <p:ph type="sldNum" sz="quarter" idx="12"/>
          </p:nvPr>
        </p:nvSpPr>
        <p:spPr/>
        <p:txBody>
          <a:bodyPr/>
          <a:lstStyle/>
          <a:p>
            <a:fld id="{DED05017-923D-480E-B02E-B52739184DCA}" type="slidenum">
              <a:rPr lang="en-US" smtClean="0"/>
              <a:pPr/>
              <a:t>7</a:t>
            </a:fld>
            <a:endParaRPr lang="en-US"/>
          </a:p>
        </p:txBody>
      </p:sp>
    </p:spTree>
    <p:extLst>
      <p:ext uri="{BB962C8B-B14F-4D97-AF65-F5344CB8AC3E}">
        <p14:creationId xmlns:p14="http://schemas.microsoft.com/office/powerpoint/2010/main" val="3554794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Software engineering layers</a:t>
            </a:r>
          </a:p>
        </p:txBody>
      </p:sp>
      <p:sp>
        <p:nvSpPr>
          <p:cNvPr id="9" name="Content Placeholder 8"/>
          <p:cNvSpPr>
            <a:spLocks noGrp="1"/>
          </p:cNvSpPr>
          <p:nvPr>
            <p:ph idx="1"/>
          </p:nvPr>
        </p:nvSpPr>
        <p:spPr/>
        <p:txBody>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Process deﬁnes a framework for a set of key process areas that must be established for effective delivery of software engineering technology. </a:t>
            </a:r>
          </a:p>
          <a:p>
            <a:r>
              <a:rPr lang="en-US" sz="2000" dirty="0"/>
              <a:t>Software engineering methods provide the technical how-</a:t>
            </a:r>
            <a:r>
              <a:rPr lang="en-US" sz="2000" dirty="0" err="1"/>
              <a:t>to's</a:t>
            </a:r>
            <a:r>
              <a:rPr lang="en-US" sz="2000" dirty="0"/>
              <a:t> for building software. </a:t>
            </a:r>
          </a:p>
          <a:p>
            <a:r>
              <a:rPr lang="en-US" sz="2000" dirty="0"/>
              <a:t>Software engineering tools provide automated or semi-automated support for the process and the methods. </a:t>
            </a:r>
          </a:p>
          <a:p>
            <a:endParaRPr lang="en-US" sz="2000" dirty="0"/>
          </a:p>
        </p:txBody>
      </p:sp>
      <p:sp>
        <p:nvSpPr>
          <p:cNvPr id="4" name="Slide Number Placeholder 3"/>
          <p:cNvSpPr>
            <a:spLocks noGrp="1"/>
          </p:cNvSpPr>
          <p:nvPr>
            <p:ph type="sldNum" sz="quarter" idx="12"/>
          </p:nvPr>
        </p:nvSpPr>
        <p:spPr/>
        <p:txBody>
          <a:bodyPr/>
          <a:lstStyle/>
          <a:p>
            <a:fld id="{DED05017-923D-480E-B02E-B52739184DCA}" type="slidenum">
              <a:rPr lang="en-US" smtClean="0"/>
              <a:pPr/>
              <a:t>8</a:t>
            </a:fld>
            <a:endParaRPr lang="en-US"/>
          </a:p>
        </p:txBody>
      </p:sp>
      <p:pic>
        <p:nvPicPr>
          <p:cNvPr id="4802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225" y="1247001"/>
            <a:ext cx="7005549" cy="22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790699" y="3352800"/>
            <a:ext cx="5753101" cy="861774"/>
          </a:xfrm>
          <a:prstGeom prst="rect">
            <a:avLst/>
          </a:prstGeom>
        </p:spPr>
        <p:txBody>
          <a:bodyPr wrap="square">
            <a:spAutoFit/>
          </a:bodyPr>
          <a:lstStyle/>
          <a:p>
            <a:pPr algn="ctr"/>
            <a:r>
              <a:rPr lang="en-US" dirty="0"/>
              <a:t>Software engineering layers </a:t>
            </a:r>
          </a:p>
          <a:p>
            <a:pPr marL="0" lvl="1"/>
            <a:r>
              <a:rPr lang="en-US" sz="1600" i="1" dirty="0"/>
              <a:t>(Source: Roger S Pressman, </a:t>
            </a:r>
            <a:r>
              <a:rPr lang="en-US" sz="1600" i="1" dirty="0">
                <a:solidFill>
                  <a:schemeClr val="accent1"/>
                </a:solidFill>
              </a:rPr>
              <a:t>Software Engineering: </a:t>
            </a:r>
          </a:p>
          <a:p>
            <a:pPr marL="0" lvl="1"/>
            <a:r>
              <a:rPr lang="en-US" sz="1600" i="1" dirty="0">
                <a:solidFill>
                  <a:schemeClr val="accent1"/>
                </a:solidFill>
              </a:rPr>
              <a:t>A Practitioner's Approach (7</a:t>
            </a:r>
            <a:r>
              <a:rPr lang="en-US" sz="1600" i="1" baseline="30000" dirty="0">
                <a:solidFill>
                  <a:schemeClr val="accent1"/>
                </a:solidFill>
              </a:rPr>
              <a:t>th</a:t>
            </a:r>
            <a:r>
              <a:rPr lang="en-US" sz="1600" i="1" dirty="0">
                <a:solidFill>
                  <a:schemeClr val="accent1"/>
                </a:solidFill>
              </a:rPr>
              <a:t> Edition)</a:t>
            </a:r>
            <a:r>
              <a:rPr lang="en-US" sz="1600" i="1" dirty="0"/>
              <a:t>, McGraw-Hill, 2009)</a:t>
            </a:r>
          </a:p>
        </p:txBody>
      </p:sp>
    </p:spTree>
    <p:extLst>
      <p:ext uri="{BB962C8B-B14F-4D97-AF65-F5344CB8AC3E}">
        <p14:creationId xmlns:p14="http://schemas.microsoft.com/office/powerpoint/2010/main" val="412357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393ABF0-A228-4344-B03F-242D2CF59077}" type="slidenum">
              <a:rPr lang="en-US"/>
              <a:pPr/>
              <a:t>9</a:t>
            </a:fld>
            <a:endParaRPr lang="en-US"/>
          </a:p>
        </p:txBody>
      </p:sp>
      <p:sp>
        <p:nvSpPr>
          <p:cNvPr id="445442" name="Rectangle 2"/>
          <p:cNvSpPr>
            <a:spLocks noGrp="1" noChangeArrowheads="1"/>
          </p:cNvSpPr>
          <p:nvPr>
            <p:ph type="title"/>
          </p:nvPr>
        </p:nvSpPr>
        <p:spPr/>
        <p:txBody>
          <a:bodyPr/>
          <a:lstStyle/>
          <a:p>
            <a:r>
              <a:rPr lang="en-US" sz="2800" dirty="0"/>
              <a:t>Software production lines</a:t>
            </a:r>
          </a:p>
        </p:txBody>
      </p:sp>
      <p:sp>
        <p:nvSpPr>
          <p:cNvPr id="445443" name="Rectangle 3"/>
          <p:cNvSpPr>
            <a:spLocks noGrp="1" noChangeArrowheads="1"/>
          </p:cNvSpPr>
          <p:nvPr>
            <p:ph type="body" idx="1"/>
          </p:nvPr>
        </p:nvSpPr>
        <p:spPr/>
        <p:txBody>
          <a:bodyPr/>
          <a:lstStyle/>
          <a:p>
            <a:pPr algn="just"/>
            <a:r>
              <a:rPr lang="en-US" sz="2000" dirty="0">
                <a:solidFill>
                  <a:srgbClr val="0000FF"/>
                </a:solidFill>
              </a:rPr>
              <a:t>Software product lines or application families:</a:t>
            </a:r>
          </a:p>
          <a:p>
            <a:pPr lvl="1" algn="just"/>
            <a:r>
              <a:rPr lang="en-US" sz="2000" dirty="0"/>
              <a:t>A product line is a set of applications with a common application-specific architecture. Each specific application is </a:t>
            </a:r>
            <a:r>
              <a:rPr lang="en-US" sz="2000" dirty="0" err="1"/>
              <a:t>specialised</a:t>
            </a:r>
            <a:r>
              <a:rPr lang="en-US" sz="2000" dirty="0"/>
              <a:t> in some way</a:t>
            </a:r>
          </a:p>
          <a:p>
            <a:pPr lvl="1" algn="just"/>
            <a:r>
              <a:rPr lang="en-US" sz="2000" dirty="0"/>
              <a:t>An application type is </a:t>
            </a:r>
            <a:r>
              <a:rPr lang="en-US" sz="2000" dirty="0" err="1"/>
              <a:t>generalised</a:t>
            </a:r>
            <a:r>
              <a:rPr lang="en-US" sz="2000" dirty="0"/>
              <a:t> around a common architecture so that it can be adapted for different customers.</a:t>
            </a:r>
          </a:p>
          <a:p>
            <a:pPr marL="57150" indent="0" algn="just">
              <a:buNone/>
            </a:pPr>
            <a:r>
              <a:rPr lang="en-US" sz="1800" i="1" dirty="0"/>
              <a:t>(Ian </a:t>
            </a:r>
            <a:r>
              <a:rPr lang="en-US" sz="1800" i="1" dirty="0" err="1"/>
              <a:t>Sommerville</a:t>
            </a:r>
            <a:r>
              <a:rPr lang="en-US" sz="1800" i="1" dirty="0"/>
              <a:t>, </a:t>
            </a:r>
            <a:r>
              <a:rPr lang="en-US" sz="1800" i="1" dirty="0">
                <a:solidFill>
                  <a:schemeClr val="accent1"/>
                </a:solidFill>
              </a:rPr>
              <a:t>Software Engineering (9th Edition)</a:t>
            </a:r>
            <a:r>
              <a:rPr lang="en-US" sz="1800" i="1" dirty="0"/>
              <a:t>, Addison Wesley, 2010</a:t>
            </a:r>
            <a:r>
              <a:rPr lang="en-US" sz="1800" dirty="0"/>
              <a:t>)</a:t>
            </a:r>
          </a:p>
          <a:p>
            <a:pPr lvl="1" algn="just"/>
            <a:endParaRPr lang="en-US" sz="2000" dirty="0"/>
          </a:p>
          <a:p>
            <a:pPr lvl="1" algn="just"/>
            <a:r>
              <a:rPr lang="en-US" sz="2000" dirty="0"/>
              <a:t>Some types of </a:t>
            </a:r>
            <a:r>
              <a:rPr lang="en-US" sz="2000" dirty="0" err="1"/>
              <a:t>specialisation</a:t>
            </a:r>
            <a:r>
              <a:rPr lang="en-US" sz="2000" dirty="0"/>
              <a:t> of a software product line: </a:t>
            </a:r>
          </a:p>
          <a:p>
            <a:pPr lvl="2" algn="just"/>
            <a:r>
              <a:rPr lang="en-US" dirty="0"/>
              <a:t>Platform </a:t>
            </a:r>
            <a:r>
              <a:rPr lang="en-US" dirty="0" err="1"/>
              <a:t>specialisation</a:t>
            </a:r>
            <a:endParaRPr lang="en-US" dirty="0"/>
          </a:p>
          <a:p>
            <a:pPr lvl="2" algn="just"/>
            <a:r>
              <a:rPr lang="en-US" dirty="0"/>
              <a:t>Environment </a:t>
            </a:r>
            <a:r>
              <a:rPr lang="en-US" dirty="0" err="1"/>
              <a:t>specialisation</a:t>
            </a:r>
            <a:endParaRPr lang="en-US" dirty="0"/>
          </a:p>
          <a:p>
            <a:pPr lvl="2" algn="just"/>
            <a:r>
              <a:rPr lang="en-US" dirty="0"/>
              <a:t>Functional </a:t>
            </a:r>
            <a:r>
              <a:rPr lang="en-US" dirty="0" err="1"/>
              <a:t>specialisation</a:t>
            </a:r>
            <a:endParaRPr lang="en-US" dirty="0"/>
          </a:p>
          <a:p>
            <a:pPr lvl="2" algn="just"/>
            <a:r>
              <a:rPr lang="en-US" dirty="0"/>
              <a:t>Process </a:t>
            </a:r>
            <a:r>
              <a:rPr lang="en-US" dirty="0" err="1"/>
              <a:t>specialisation</a:t>
            </a:r>
            <a:endParaRPr lang="en-US" dirty="0"/>
          </a:p>
          <a:p>
            <a:pPr lvl="1" algn="just"/>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Software production lines</a:t>
            </a:r>
          </a:p>
        </p:txBody>
      </p:sp>
      <p:sp>
        <p:nvSpPr>
          <p:cNvPr id="4" name="Slide Number Placeholder 3"/>
          <p:cNvSpPr>
            <a:spLocks noGrp="1"/>
          </p:cNvSpPr>
          <p:nvPr>
            <p:ph type="sldNum" sz="quarter" idx="12"/>
          </p:nvPr>
        </p:nvSpPr>
        <p:spPr/>
        <p:txBody>
          <a:bodyPr/>
          <a:lstStyle/>
          <a:p>
            <a:fld id="{DED05017-923D-480E-B02E-B52739184DCA}" type="slidenum">
              <a:rPr lang="en-US" smtClean="0"/>
              <a:pPr/>
              <a:t>10</a:t>
            </a:fld>
            <a:endParaRPr lang="en-US"/>
          </a:p>
        </p:txBody>
      </p:sp>
      <p:pic>
        <p:nvPicPr>
          <p:cNvPr id="487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83948"/>
            <a:ext cx="1371600" cy="1660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49353" y="1230868"/>
            <a:ext cx="1587293" cy="338554"/>
          </a:xfrm>
          <a:prstGeom prst="rect">
            <a:avLst/>
          </a:prstGeom>
          <a:noFill/>
        </p:spPr>
        <p:txBody>
          <a:bodyPr wrap="none" rtlCol="0">
            <a:spAutoFit/>
          </a:bodyPr>
          <a:lstStyle/>
          <a:p>
            <a:pPr algn="ctr"/>
            <a:r>
              <a:rPr lang="en-US" sz="1600" dirty="0"/>
              <a:t>Age of Empires</a:t>
            </a:r>
          </a:p>
        </p:txBody>
      </p:sp>
      <p:pic>
        <p:nvPicPr>
          <p:cNvPr id="4874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4454" y="1636931"/>
            <a:ext cx="1177828" cy="1660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2538587" y="1230868"/>
            <a:ext cx="1818126" cy="338554"/>
          </a:xfrm>
          <a:prstGeom prst="rect">
            <a:avLst/>
          </a:prstGeom>
          <a:noFill/>
        </p:spPr>
        <p:txBody>
          <a:bodyPr wrap="none" rtlCol="0">
            <a:spAutoFit/>
          </a:bodyPr>
          <a:lstStyle/>
          <a:p>
            <a:pPr algn="ctr"/>
            <a:r>
              <a:rPr lang="en-US" sz="1600" dirty="0"/>
              <a:t>Age of Empires II </a:t>
            </a:r>
          </a:p>
        </p:txBody>
      </p:sp>
      <p:pic>
        <p:nvPicPr>
          <p:cNvPr id="4874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001711"/>
            <a:ext cx="1368864" cy="1657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250183" y="5757446"/>
            <a:ext cx="1758815" cy="338554"/>
          </a:xfrm>
          <a:prstGeom prst="rect">
            <a:avLst/>
          </a:prstGeom>
          <a:noFill/>
        </p:spPr>
        <p:txBody>
          <a:bodyPr wrap="none" rtlCol="0">
            <a:spAutoFit/>
          </a:bodyPr>
          <a:lstStyle/>
          <a:p>
            <a:pPr algn="ctr"/>
            <a:r>
              <a:rPr lang="en-US" sz="1600" dirty="0"/>
              <a:t>The rise of Rome</a:t>
            </a:r>
          </a:p>
        </p:txBody>
      </p:sp>
      <p:pic>
        <p:nvPicPr>
          <p:cNvPr id="4874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1660122"/>
            <a:ext cx="121920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4675393" y="1219200"/>
            <a:ext cx="1875835" cy="338554"/>
          </a:xfrm>
          <a:prstGeom prst="rect">
            <a:avLst/>
          </a:prstGeom>
          <a:noFill/>
        </p:spPr>
        <p:txBody>
          <a:bodyPr wrap="none" rtlCol="0">
            <a:spAutoFit/>
          </a:bodyPr>
          <a:lstStyle/>
          <a:p>
            <a:pPr algn="ctr"/>
            <a:r>
              <a:rPr lang="en-US" sz="1600" dirty="0"/>
              <a:t>Age of Empires III </a:t>
            </a:r>
          </a:p>
        </p:txBody>
      </p:sp>
      <p:pic>
        <p:nvPicPr>
          <p:cNvPr id="4874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962400"/>
            <a:ext cx="1186070" cy="1774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733800" y="5739825"/>
            <a:ext cx="2052037" cy="338554"/>
          </a:xfrm>
          <a:prstGeom prst="rect">
            <a:avLst/>
          </a:prstGeom>
        </p:spPr>
        <p:txBody>
          <a:bodyPr wrap="none">
            <a:spAutoFit/>
          </a:bodyPr>
          <a:lstStyle/>
          <a:p>
            <a:r>
              <a:rPr lang="en-US" sz="1600" dirty="0"/>
              <a:t>The Asian Dynasties</a:t>
            </a:r>
          </a:p>
        </p:txBody>
      </p:sp>
      <p:pic>
        <p:nvPicPr>
          <p:cNvPr id="4874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91023" y="4038600"/>
            <a:ext cx="1195577" cy="1718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5694603" y="5757446"/>
            <a:ext cx="1544397" cy="338554"/>
          </a:xfrm>
          <a:prstGeom prst="rect">
            <a:avLst/>
          </a:prstGeom>
        </p:spPr>
        <p:txBody>
          <a:bodyPr wrap="none">
            <a:spAutoFit/>
          </a:bodyPr>
          <a:lstStyle/>
          <a:p>
            <a:r>
              <a:rPr lang="en-US" sz="1600" dirty="0"/>
              <a:t>The </a:t>
            </a:r>
            <a:r>
              <a:rPr lang="en-US" sz="1600" dirty="0" err="1"/>
              <a:t>WarChiefs</a:t>
            </a:r>
            <a:endParaRPr lang="en-US" sz="1600" dirty="0"/>
          </a:p>
        </p:txBody>
      </p:sp>
      <p:pic>
        <p:nvPicPr>
          <p:cNvPr id="487432"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8099" y="4037116"/>
            <a:ext cx="1450536" cy="1699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955979" y="5757446"/>
            <a:ext cx="1665841" cy="338554"/>
          </a:xfrm>
          <a:prstGeom prst="rect">
            <a:avLst/>
          </a:prstGeom>
        </p:spPr>
        <p:txBody>
          <a:bodyPr wrap="none">
            <a:spAutoFit/>
          </a:bodyPr>
          <a:lstStyle/>
          <a:p>
            <a:r>
              <a:rPr lang="en-US" sz="1600" dirty="0"/>
              <a:t>The Conquerors</a:t>
            </a:r>
          </a:p>
        </p:txBody>
      </p:sp>
      <p:pic>
        <p:nvPicPr>
          <p:cNvPr id="487433"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9450" y="1652174"/>
            <a:ext cx="1100150" cy="171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p:nvSpPr>
        <p:spPr>
          <a:xfrm>
            <a:off x="6858000" y="1219200"/>
            <a:ext cx="1770036" cy="338554"/>
          </a:xfrm>
          <a:prstGeom prst="rect">
            <a:avLst/>
          </a:prstGeom>
        </p:spPr>
        <p:txBody>
          <a:bodyPr wrap="none">
            <a:spAutoFit/>
          </a:bodyPr>
          <a:lstStyle/>
          <a:p>
            <a:r>
              <a:rPr lang="en-US" sz="1600" dirty="0"/>
              <a:t>Age of Mythology</a:t>
            </a:r>
          </a:p>
        </p:txBody>
      </p:sp>
      <p:pic>
        <p:nvPicPr>
          <p:cNvPr id="487434"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91400" y="4081532"/>
            <a:ext cx="1104101" cy="172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7383546" y="5776873"/>
            <a:ext cx="1141531" cy="338554"/>
          </a:xfrm>
          <a:prstGeom prst="rect">
            <a:avLst/>
          </a:prstGeom>
        </p:spPr>
        <p:txBody>
          <a:bodyPr wrap="none">
            <a:spAutoFit/>
          </a:bodyPr>
          <a:lstStyle/>
          <a:p>
            <a:pPr algn="ctr"/>
            <a:r>
              <a:rPr lang="en-US" sz="1600" dirty="0"/>
              <a:t>The Titans</a:t>
            </a:r>
          </a:p>
        </p:txBody>
      </p:sp>
    </p:spTree>
    <p:extLst>
      <p:ext uri="{BB962C8B-B14F-4D97-AF65-F5344CB8AC3E}">
        <p14:creationId xmlns:p14="http://schemas.microsoft.com/office/powerpoint/2010/main" val="3654969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06375"/>
            <a:ext cx="7696200" cy="533400"/>
          </a:xfrm>
        </p:spPr>
        <p:txBody>
          <a:bodyPr/>
          <a:lstStyle/>
          <a:p>
            <a:r>
              <a:rPr lang="en-US" sz="2800" dirty="0"/>
              <a:t>What are the attributes of good software?</a:t>
            </a:r>
          </a:p>
        </p:txBody>
      </p:sp>
      <p:sp>
        <p:nvSpPr>
          <p:cNvPr id="3" name="Content Placeholder 2"/>
          <p:cNvSpPr>
            <a:spLocks noGrp="1"/>
          </p:cNvSpPr>
          <p:nvPr>
            <p:ph idx="1"/>
          </p:nvPr>
        </p:nvSpPr>
        <p:spPr/>
        <p:txBody>
          <a:bodyPr/>
          <a:lstStyle/>
          <a:p>
            <a:pPr algn="just"/>
            <a:r>
              <a:rPr lang="en-US" sz="2000" dirty="0"/>
              <a:t>The software should deliver the required functionality and performance to the user and should be maintainable, dependable and usable.</a:t>
            </a:r>
          </a:p>
          <a:p>
            <a:pPr marL="400050" lvl="1" indent="0" algn="just">
              <a:buNone/>
            </a:pPr>
            <a:r>
              <a:rPr lang="en-US" sz="1800" i="1" dirty="0"/>
              <a:t>(Ian </a:t>
            </a:r>
            <a:r>
              <a:rPr lang="en-US" sz="1800" i="1" dirty="0" err="1"/>
              <a:t>Sommerville</a:t>
            </a:r>
            <a:r>
              <a:rPr lang="en-US" sz="1800" i="1" dirty="0"/>
              <a:t>, </a:t>
            </a:r>
            <a:r>
              <a:rPr lang="en-US" sz="1800" i="1" dirty="0">
                <a:solidFill>
                  <a:schemeClr val="accent1"/>
                </a:solidFill>
              </a:rPr>
              <a:t>Software Engineering (9th Edition)</a:t>
            </a:r>
            <a:r>
              <a:rPr lang="en-US" sz="1800" i="1" dirty="0"/>
              <a:t>, Addison Wesley, 2010</a:t>
            </a:r>
            <a:r>
              <a:rPr lang="en-US" sz="1800" dirty="0"/>
              <a:t>)</a:t>
            </a:r>
          </a:p>
          <a:p>
            <a:pPr marL="0" indent="0" algn="just">
              <a:buNone/>
            </a:pPr>
            <a:endParaRPr lang="en-US" dirty="0"/>
          </a:p>
        </p:txBody>
      </p:sp>
      <p:sp>
        <p:nvSpPr>
          <p:cNvPr id="4" name="Slide Number Placeholder 3"/>
          <p:cNvSpPr>
            <a:spLocks noGrp="1"/>
          </p:cNvSpPr>
          <p:nvPr>
            <p:ph type="sldNum" sz="quarter" idx="12"/>
          </p:nvPr>
        </p:nvSpPr>
        <p:spPr/>
        <p:txBody>
          <a:bodyPr/>
          <a:lstStyle/>
          <a:p>
            <a:fld id="{DED05017-923D-480E-B02E-B52739184DCA}" type="slidenum">
              <a:rPr lang="en-US" smtClean="0"/>
              <a:pPr/>
              <a:t>11</a:t>
            </a:fld>
            <a:endParaRPr lang="en-US"/>
          </a:p>
        </p:txBody>
      </p:sp>
    </p:spTree>
    <p:extLst>
      <p:ext uri="{BB962C8B-B14F-4D97-AF65-F5344CB8AC3E}">
        <p14:creationId xmlns:p14="http://schemas.microsoft.com/office/powerpoint/2010/main" val="647415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5"/>
          <p:cNvSpPr>
            <a:spLocks noGrp="1"/>
          </p:cNvSpPr>
          <p:nvPr>
            <p:ph type="sldNum" sz="quarter" idx="12"/>
          </p:nvPr>
        </p:nvSpPr>
        <p:spPr/>
        <p:txBody>
          <a:bodyPr/>
          <a:lstStyle/>
          <a:p>
            <a:fld id="{2D02A090-DDC6-4F94-A165-5BA96E70DF5C}" type="slidenum">
              <a:rPr lang="en-US"/>
              <a:pPr/>
              <a:t>12</a:t>
            </a:fld>
            <a:endParaRPr lang="en-US"/>
          </a:p>
        </p:txBody>
      </p:sp>
      <p:sp>
        <p:nvSpPr>
          <p:cNvPr id="446466" name="Rectangle 2"/>
          <p:cNvSpPr>
            <a:spLocks noGrp="1" noChangeArrowheads="1"/>
          </p:cNvSpPr>
          <p:nvPr>
            <p:ph type="title"/>
          </p:nvPr>
        </p:nvSpPr>
        <p:spPr/>
        <p:txBody>
          <a:bodyPr/>
          <a:lstStyle/>
          <a:p>
            <a:r>
              <a:rPr lang="en-US" sz="2800" dirty="0"/>
              <a:t>Characteristics of a good software?</a:t>
            </a:r>
          </a:p>
        </p:txBody>
      </p:sp>
      <p:sp>
        <p:nvSpPr>
          <p:cNvPr id="446469" name="Rectangle 5"/>
          <p:cNvSpPr>
            <a:spLocks noChangeArrowheads="1"/>
          </p:cNvSpPr>
          <p:nvPr/>
        </p:nvSpPr>
        <p:spPr bwMode="auto">
          <a:xfrm>
            <a:off x="3657600" y="3657600"/>
            <a:ext cx="1897063" cy="758825"/>
          </a:xfrm>
          <a:prstGeom prst="rect">
            <a:avLst/>
          </a:prstGeom>
          <a:gradFill rotWithShape="0">
            <a:gsLst>
              <a:gs pos="0">
                <a:srgbClr val="EC773C">
                  <a:gamma/>
                  <a:shade val="56078"/>
                  <a:invGamma/>
                </a:srgbClr>
              </a:gs>
              <a:gs pos="50000">
                <a:srgbClr val="EC773C"/>
              </a:gs>
              <a:gs pos="100000">
                <a:srgbClr val="EC773C">
                  <a:gamma/>
                  <a:shade val="56078"/>
                  <a:invGamma/>
                </a:srgbClr>
              </a:gs>
            </a:gsLst>
            <a:lin ang="2700000" scaled="1"/>
          </a:gradFill>
          <a:ln w="12700" algn="ctr">
            <a:solidFill>
              <a:srgbClr val="EC773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2000" b="1" dirty="0">
                <a:solidFill>
                  <a:srgbClr val="FFFFFF"/>
                </a:solidFill>
                <a:effectLst>
                  <a:outerShdw blurRad="38100" dist="38100" dir="2700000" algn="tl">
                    <a:srgbClr val="000000"/>
                  </a:outerShdw>
                </a:effectLst>
              </a:rPr>
              <a:t>Software</a:t>
            </a:r>
          </a:p>
        </p:txBody>
      </p:sp>
      <p:pic>
        <p:nvPicPr>
          <p:cNvPr id="446470" name="Picture 6" descr="CLE diagram for MS Case study (text as outlines) copy"/>
          <p:cNvPicPr>
            <a:picLocks noChangeAspect="1" noChangeArrowheads="1"/>
          </p:cNvPicPr>
          <p:nvPr/>
        </p:nvPicPr>
        <p:blipFill>
          <a:blip r:embed="rId2">
            <a:clrChange>
              <a:clrFrom>
                <a:srgbClr val="FCFFFF"/>
              </a:clrFrom>
              <a:clrTo>
                <a:srgbClr val="FCFFFF">
                  <a:alpha val="0"/>
                </a:srgbClr>
              </a:clrTo>
            </a:clrChange>
            <a:extLst>
              <a:ext uri="{28A0092B-C50C-407E-A947-70E740481C1C}">
                <a14:useLocalDpi xmlns:a14="http://schemas.microsoft.com/office/drawing/2010/main" val="0"/>
              </a:ext>
            </a:extLst>
          </a:blip>
          <a:srcRect l="36420" r="41473" b="85323"/>
          <a:stretch>
            <a:fillRect/>
          </a:stretch>
        </p:blipFill>
        <p:spPr bwMode="auto">
          <a:xfrm>
            <a:off x="4119563" y="1835150"/>
            <a:ext cx="90963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6471" name="Picture 7" descr="PC running service"/>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b="8725"/>
          <a:stretch>
            <a:fillRect/>
          </a:stretch>
        </p:blipFill>
        <p:spPr bwMode="auto">
          <a:xfrm>
            <a:off x="1600200" y="4800600"/>
            <a:ext cx="14478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446472" name="Picture 8"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3400" y="267017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46473" name="Picture 9"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488954">
            <a:off x="3124200" y="440372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46474" name="Picture 10" descr="xmlwebservice"/>
          <p:cNvPicPr>
            <a:picLocks noChangeAspect="1" noChangeArrowheads="1"/>
          </p:cNvPicPr>
          <p:nvPr/>
        </p:nvPicPr>
        <p:blipFill>
          <a:blip r:embed="rId5">
            <a:clrChange>
              <a:clrFrom>
                <a:srgbClr val="08369A"/>
              </a:clrFrom>
              <a:clrTo>
                <a:srgbClr val="08369A">
                  <a:alpha val="0"/>
                </a:srgbClr>
              </a:clrTo>
            </a:clrChange>
            <a:extLst>
              <a:ext uri="{28A0092B-C50C-407E-A947-70E740481C1C}">
                <a14:useLocalDpi xmlns:a14="http://schemas.microsoft.com/office/drawing/2010/main" val="0"/>
              </a:ext>
            </a:extLst>
          </a:blip>
          <a:srcRect/>
          <a:stretch>
            <a:fillRect/>
          </a:stretch>
        </p:blipFill>
        <p:spPr bwMode="auto">
          <a:xfrm>
            <a:off x="6067425" y="5105400"/>
            <a:ext cx="101917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6475" name="Picture 11"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777344">
            <a:off x="5582444" y="4402931"/>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46476" name="Picture 12" descr="Databases S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0" y="4191000"/>
            <a:ext cx="844550" cy="684213"/>
          </a:xfrm>
          <a:prstGeom prst="rect">
            <a:avLst/>
          </a:prstGeom>
          <a:noFill/>
          <a:extLst>
            <a:ext uri="{909E8E84-426E-40DD-AFC4-6F175D3DCCD1}">
              <a14:hiddenFill xmlns:a14="http://schemas.microsoft.com/office/drawing/2010/main">
                <a:solidFill>
                  <a:srgbClr val="FFFFFF"/>
                </a:solidFill>
              </a14:hiddenFill>
            </a:ext>
          </a:extLst>
        </p:spPr>
      </p:pic>
      <p:sp>
        <p:nvSpPr>
          <p:cNvPr id="446477" name="Text Box 13"/>
          <p:cNvSpPr txBox="1">
            <a:spLocks noChangeArrowheads="1"/>
          </p:cNvSpPr>
          <p:nvPr/>
        </p:nvSpPr>
        <p:spPr bwMode="auto">
          <a:xfrm>
            <a:off x="4876800" y="2057400"/>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User</a:t>
            </a:r>
          </a:p>
        </p:txBody>
      </p:sp>
      <p:sp>
        <p:nvSpPr>
          <p:cNvPr id="446478" name="Text Box 14"/>
          <p:cNvSpPr txBox="1">
            <a:spLocks noChangeArrowheads="1"/>
          </p:cNvSpPr>
          <p:nvPr/>
        </p:nvSpPr>
        <p:spPr bwMode="auto">
          <a:xfrm>
            <a:off x="3048000" y="5562600"/>
            <a:ext cx="12362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Hardware</a:t>
            </a:r>
          </a:p>
        </p:txBody>
      </p:sp>
      <p:sp>
        <p:nvSpPr>
          <p:cNvPr id="446479" name="Text Box 15"/>
          <p:cNvSpPr txBox="1">
            <a:spLocks noChangeArrowheads="1"/>
          </p:cNvSpPr>
          <p:nvPr/>
        </p:nvSpPr>
        <p:spPr bwMode="auto">
          <a:xfrm>
            <a:off x="6096000" y="4724400"/>
            <a:ext cx="18133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Other software</a:t>
            </a:r>
          </a:p>
        </p:txBody>
      </p:sp>
      <p:sp>
        <p:nvSpPr>
          <p:cNvPr id="446481" name="AutoShape 17"/>
          <p:cNvSpPr>
            <a:spLocks noChangeArrowheads="1"/>
          </p:cNvSpPr>
          <p:nvPr/>
        </p:nvSpPr>
        <p:spPr bwMode="auto">
          <a:xfrm>
            <a:off x="1676400" y="2895600"/>
            <a:ext cx="2362200" cy="1371600"/>
          </a:xfrm>
          <a:prstGeom prst="irregularSeal1">
            <a:avLst/>
          </a:prstGeom>
          <a:gradFill rotWithShape="1">
            <a:gsLst>
              <a:gs pos="0">
                <a:schemeClr val="accent1">
                  <a:gamma/>
                  <a:shade val="0"/>
                  <a:invGamma/>
                </a:schemeClr>
              </a:gs>
              <a:gs pos="50000">
                <a:schemeClr val="accent1"/>
              </a:gs>
              <a:gs pos="100000">
                <a:schemeClr val="accent1">
                  <a:gamma/>
                  <a:shade val="0"/>
                  <a:invGamma/>
                </a:schemeClr>
              </a:gs>
            </a:gsLst>
            <a:lin ang="5400000" scaled="1"/>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FF00"/>
                </a:solidFill>
                <a:effectLst>
                  <a:outerShdw blurRad="38100" dist="38100" dir="2700000" algn="tl">
                    <a:srgbClr val="000000"/>
                  </a:outerShdw>
                </a:effectLst>
              </a:rPr>
              <a:t>Correctness</a:t>
            </a:r>
          </a:p>
        </p:txBody>
      </p:sp>
      <p:sp>
        <p:nvSpPr>
          <p:cNvPr id="446482" name="Text Box 18"/>
          <p:cNvSpPr txBox="1">
            <a:spLocks noChangeArrowheads="1"/>
          </p:cNvSpPr>
          <p:nvPr/>
        </p:nvSpPr>
        <p:spPr bwMode="auto">
          <a:xfrm>
            <a:off x="838200" y="1905000"/>
            <a:ext cx="1828800" cy="1201738"/>
          </a:xfrm>
          <a:prstGeom prst="rect">
            <a:avLst/>
          </a:prstGeom>
          <a:solidFill>
            <a:schemeClr val="accent1">
              <a:alpha val="10001"/>
            </a:schemeClr>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000000"/>
                </a:solidFill>
              </a:rPr>
              <a:t>Correctness:</a:t>
            </a:r>
          </a:p>
          <a:p>
            <a:pPr>
              <a:spcBef>
                <a:spcPct val="50000"/>
              </a:spcBef>
              <a:buFontTx/>
              <a:buChar char="-"/>
            </a:pPr>
            <a:r>
              <a:rPr lang="en-US" dirty="0">
                <a:solidFill>
                  <a:srgbClr val="000000"/>
                </a:solidFill>
              </a:rPr>
              <a:t> Completeness</a:t>
            </a:r>
          </a:p>
          <a:p>
            <a:pPr>
              <a:spcBef>
                <a:spcPct val="50000"/>
              </a:spcBef>
              <a:buFontTx/>
              <a:buChar char="-"/>
            </a:pPr>
            <a:r>
              <a:rPr lang="en-US" dirty="0">
                <a:solidFill>
                  <a:srgbClr val="000000"/>
                </a:solidFill>
              </a:rPr>
              <a:t> Accuracy</a:t>
            </a:r>
          </a:p>
        </p:txBody>
      </p:sp>
      <p:sp>
        <p:nvSpPr>
          <p:cNvPr id="446483" name="Text Box 19"/>
          <p:cNvSpPr txBox="1">
            <a:spLocks noChangeArrowheads="1"/>
          </p:cNvSpPr>
          <p:nvPr/>
        </p:nvSpPr>
        <p:spPr bwMode="auto">
          <a:xfrm>
            <a:off x="4724400" y="6415088"/>
            <a:ext cx="2689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From a user’s view point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6481"/>
                                        </p:tgtEl>
                                        <p:attrNameLst>
                                          <p:attrName>style.visibility</p:attrName>
                                        </p:attrNameLst>
                                      </p:cBhvr>
                                      <p:to>
                                        <p:strVal val="visible"/>
                                      </p:to>
                                    </p:set>
                                    <p:animEffect transition="in" filter="fade">
                                      <p:cBhvr>
                                        <p:cTn id="7" dur="500"/>
                                        <p:tgtEl>
                                          <p:spTgt spid="44648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6482"/>
                                        </p:tgtEl>
                                        <p:attrNameLst>
                                          <p:attrName>style.visibility</p:attrName>
                                        </p:attrNameLst>
                                      </p:cBhvr>
                                      <p:to>
                                        <p:strVal val="visible"/>
                                      </p:to>
                                    </p:set>
                                    <p:animEffect transition="in" filter="fade">
                                      <p:cBhvr>
                                        <p:cTn id="10" dur="500"/>
                                        <p:tgtEl>
                                          <p:spTgt spid="446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81" grpId="0" animBg="1"/>
      <p:bldP spid="44648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5"/>
          <p:cNvSpPr>
            <a:spLocks noChangeArrowheads="1"/>
          </p:cNvSpPr>
          <p:nvPr/>
        </p:nvSpPr>
        <p:spPr bwMode="auto">
          <a:xfrm>
            <a:off x="3657600" y="3657600"/>
            <a:ext cx="1897063" cy="758825"/>
          </a:xfrm>
          <a:prstGeom prst="rect">
            <a:avLst/>
          </a:prstGeom>
          <a:gradFill rotWithShape="0">
            <a:gsLst>
              <a:gs pos="0">
                <a:srgbClr val="EC773C">
                  <a:gamma/>
                  <a:shade val="56078"/>
                  <a:invGamma/>
                </a:srgbClr>
              </a:gs>
              <a:gs pos="50000">
                <a:srgbClr val="EC773C"/>
              </a:gs>
              <a:gs pos="100000">
                <a:srgbClr val="EC773C">
                  <a:gamma/>
                  <a:shade val="56078"/>
                  <a:invGamma/>
                </a:srgbClr>
              </a:gs>
            </a:gsLst>
            <a:lin ang="2700000" scaled="1"/>
          </a:gradFill>
          <a:ln w="12700" algn="ctr">
            <a:solidFill>
              <a:srgbClr val="EC773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2000" b="1" dirty="0">
                <a:solidFill>
                  <a:srgbClr val="FFFFFF"/>
                </a:solidFill>
                <a:effectLst>
                  <a:outerShdw blurRad="38100" dist="38100" dir="2700000" algn="tl">
                    <a:srgbClr val="000000"/>
                  </a:outerShdw>
                </a:effectLst>
              </a:rPr>
              <a:t>Software</a:t>
            </a:r>
          </a:p>
        </p:txBody>
      </p:sp>
      <p:sp>
        <p:nvSpPr>
          <p:cNvPr id="22" name="Text Box 13"/>
          <p:cNvSpPr txBox="1">
            <a:spLocks noChangeArrowheads="1"/>
          </p:cNvSpPr>
          <p:nvPr/>
        </p:nvSpPr>
        <p:spPr bwMode="auto">
          <a:xfrm>
            <a:off x="4876800" y="2057400"/>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User</a:t>
            </a:r>
          </a:p>
        </p:txBody>
      </p:sp>
      <p:sp>
        <p:nvSpPr>
          <p:cNvPr id="23" name="Text Box 14"/>
          <p:cNvSpPr txBox="1">
            <a:spLocks noChangeArrowheads="1"/>
          </p:cNvSpPr>
          <p:nvPr/>
        </p:nvSpPr>
        <p:spPr bwMode="auto">
          <a:xfrm>
            <a:off x="3048000" y="5562600"/>
            <a:ext cx="12362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Hardware</a:t>
            </a:r>
          </a:p>
        </p:txBody>
      </p:sp>
      <p:sp>
        <p:nvSpPr>
          <p:cNvPr id="24" name="Text Box 15"/>
          <p:cNvSpPr txBox="1">
            <a:spLocks noChangeArrowheads="1"/>
          </p:cNvSpPr>
          <p:nvPr/>
        </p:nvSpPr>
        <p:spPr bwMode="auto">
          <a:xfrm>
            <a:off x="6096000" y="4724400"/>
            <a:ext cx="18133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Other software</a:t>
            </a:r>
          </a:p>
        </p:txBody>
      </p:sp>
      <p:sp>
        <p:nvSpPr>
          <p:cNvPr id="20" name="Slide Number Placeholder 5"/>
          <p:cNvSpPr>
            <a:spLocks noGrp="1"/>
          </p:cNvSpPr>
          <p:nvPr>
            <p:ph type="sldNum" sz="quarter" idx="12"/>
          </p:nvPr>
        </p:nvSpPr>
        <p:spPr/>
        <p:txBody>
          <a:bodyPr/>
          <a:lstStyle/>
          <a:p>
            <a:fld id="{9163DF59-83C7-4DF0-A9C2-83696A19859D}" type="slidenum">
              <a:rPr lang="en-US"/>
              <a:pPr/>
              <a:t>13</a:t>
            </a:fld>
            <a:endParaRPr lang="en-US"/>
          </a:p>
        </p:txBody>
      </p:sp>
      <p:sp>
        <p:nvSpPr>
          <p:cNvPr id="448514" name="Rectangle 2"/>
          <p:cNvSpPr>
            <a:spLocks noGrp="1" noChangeArrowheads="1"/>
          </p:cNvSpPr>
          <p:nvPr>
            <p:ph type="title"/>
          </p:nvPr>
        </p:nvSpPr>
        <p:spPr/>
        <p:txBody>
          <a:bodyPr/>
          <a:lstStyle/>
          <a:p>
            <a:r>
              <a:rPr lang="en-US" sz="2800" dirty="0"/>
              <a:t>Characteristics of a good software?</a:t>
            </a:r>
          </a:p>
        </p:txBody>
      </p:sp>
      <p:pic>
        <p:nvPicPr>
          <p:cNvPr id="448516" name="Picture 4" descr="CLE diagram for MS Case study (text as outlines) copy"/>
          <p:cNvPicPr>
            <a:picLocks noChangeAspect="1" noChangeArrowheads="1"/>
          </p:cNvPicPr>
          <p:nvPr/>
        </p:nvPicPr>
        <p:blipFill>
          <a:blip r:embed="rId2">
            <a:clrChange>
              <a:clrFrom>
                <a:srgbClr val="FCFFFF"/>
              </a:clrFrom>
              <a:clrTo>
                <a:srgbClr val="FCFFFF">
                  <a:alpha val="0"/>
                </a:srgbClr>
              </a:clrTo>
            </a:clrChange>
            <a:extLst>
              <a:ext uri="{28A0092B-C50C-407E-A947-70E740481C1C}">
                <a14:useLocalDpi xmlns:a14="http://schemas.microsoft.com/office/drawing/2010/main" val="0"/>
              </a:ext>
            </a:extLst>
          </a:blip>
          <a:srcRect l="36420" r="41473" b="85323"/>
          <a:stretch>
            <a:fillRect/>
          </a:stretch>
        </p:blipFill>
        <p:spPr bwMode="auto">
          <a:xfrm>
            <a:off x="4119563" y="1835150"/>
            <a:ext cx="90963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8517" name="Picture 5" descr="PC running service"/>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b="8725"/>
          <a:stretch>
            <a:fillRect/>
          </a:stretch>
        </p:blipFill>
        <p:spPr bwMode="auto">
          <a:xfrm>
            <a:off x="1600200" y="4800600"/>
            <a:ext cx="14478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448518" name="Picture 6"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3400" y="267017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48519" name="Picture 7"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488954">
            <a:off x="3124200" y="440372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48520" name="Picture 8" descr="xmlwebservice"/>
          <p:cNvPicPr>
            <a:picLocks noChangeAspect="1" noChangeArrowheads="1"/>
          </p:cNvPicPr>
          <p:nvPr/>
        </p:nvPicPr>
        <p:blipFill>
          <a:blip r:embed="rId5">
            <a:clrChange>
              <a:clrFrom>
                <a:srgbClr val="08369A"/>
              </a:clrFrom>
              <a:clrTo>
                <a:srgbClr val="08369A">
                  <a:alpha val="0"/>
                </a:srgbClr>
              </a:clrTo>
            </a:clrChange>
            <a:extLst>
              <a:ext uri="{28A0092B-C50C-407E-A947-70E740481C1C}">
                <a14:useLocalDpi xmlns:a14="http://schemas.microsoft.com/office/drawing/2010/main" val="0"/>
              </a:ext>
            </a:extLst>
          </a:blip>
          <a:srcRect/>
          <a:stretch>
            <a:fillRect/>
          </a:stretch>
        </p:blipFill>
        <p:spPr bwMode="auto">
          <a:xfrm>
            <a:off x="6067425" y="5105400"/>
            <a:ext cx="101917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8521" name="Picture 9"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777344">
            <a:off x="5582444" y="4402931"/>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48522" name="Picture 10" descr="Databases S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0" y="4191000"/>
            <a:ext cx="844550" cy="684213"/>
          </a:xfrm>
          <a:prstGeom prst="rect">
            <a:avLst/>
          </a:prstGeom>
          <a:noFill/>
          <a:extLst>
            <a:ext uri="{909E8E84-426E-40DD-AFC4-6F175D3DCCD1}">
              <a14:hiddenFill xmlns:a14="http://schemas.microsoft.com/office/drawing/2010/main">
                <a:solidFill>
                  <a:srgbClr val="FFFFFF"/>
                </a:solidFill>
              </a14:hiddenFill>
            </a:ext>
          </a:extLst>
        </p:spPr>
      </p:pic>
      <p:sp>
        <p:nvSpPr>
          <p:cNvPr id="448526" name="AutoShape 14"/>
          <p:cNvSpPr>
            <a:spLocks noChangeArrowheads="1"/>
          </p:cNvSpPr>
          <p:nvPr/>
        </p:nvSpPr>
        <p:spPr bwMode="auto">
          <a:xfrm>
            <a:off x="4495800" y="914400"/>
            <a:ext cx="2362200" cy="1371600"/>
          </a:xfrm>
          <a:prstGeom prst="irregularSeal1">
            <a:avLst/>
          </a:prstGeom>
          <a:gradFill rotWithShape="1">
            <a:gsLst>
              <a:gs pos="0">
                <a:srgbClr val="008000">
                  <a:gamma/>
                  <a:shade val="0"/>
                  <a:invGamma/>
                </a:srgbClr>
              </a:gs>
              <a:gs pos="50000">
                <a:srgbClr val="008000"/>
              </a:gs>
              <a:gs pos="100000">
                <a:srgbClr val="008000">
                  <a:gamma/>
                  <a:shade val="0"/>
                  <a:invGamma/>
                </a:srgbClr>
              </a:gs>
            </a:gsLst>
            <a:lin ang="5400000" scaled="1"/>
          </a:gra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FF00"/>
                </a:solidFill>
                <a:effectLst>
                  <a:outerShdw blurRad="38100" dist="38100" dir="2700000" algn="tl">
                    <a:srgbClr val="000000"/>
                  </a:outerShdw>
                </a:effectLst>
              </a:rPr>
              <a:t>Ease of use</a:t>
            </a:r>
          </a:p>
        </p:txBody>
      </p:sp>
      <p:sp>
        <p:nvSpPr>
          <p:cNvPr id="448527" name="Text Box 15"/>
          <p:cNvSpPr txBox="1">
            <a:spLocks noChangeArrowheads="1"/>
          </p:cNvSpPr>
          <p:nvPr/>
        </p:nvSpPr>
        <p:spPr bwMode="auto">
          <a:xfrm>
            <a:off x="838199" y="1905000"/>
            <a:ext cx="3281364" cy="1615827"/>
          </a:xfrm>
          <a:prstGeom prst="rect">
            <a:avLst/>
          </a:prstGeom>
          <a:solidFill>
            <a:srgbClr val="008000">
              <a:alpha val="10001"/>
            </a:srgbClr>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dirty="0">
                <a:solidFill>
                  <a:srgbClr val="000000"/>
                </a:solidFill>
              </a:rPr>
              <a:t>Ease of use:</a:t>
            </a:r>
          </a:p>
          <a:p>
            <a:pPr>
              <a:spcBef>
                <a:spcPct val="50000"/>
              </a:spcBef>
              <a:buFontTx/>
              <a:buChar char="-"/>
            </a:pPr>
            <a:r>
              <a:rPr lang="en-US" dirty="0">
                <a:solidFill>
                  <a:srgbClr val="000000"/>
                </a:solidFill>
              </a:rPr>
              <a:t> Easy to be familiar with</a:t>
            </a:r>
          </a:p>
          <a:p>
            <a:pPr>
              <a:spcBef>
                <a:spcPct val="50000"/>
              </a:spcBef>
              <a:buFontTx/>
              <a:buChar char="-"/>
            </a:pPr>
            <a:r>
              <a:rPr lang="en-US" dirty="0">
                <a:solidFill>
                  <a:srgbClr val="000000"/>
                </a:solidFill>
              </a:rPr>
              <a:t> Easy/convenient to be used</a:t>
            </a:r>
          </a:p>
          <a:p>
            <a:pPr>
              <a:spcBef>
                <a:spcPct val="50000"/>
              </a:spcBef>
              <a:buFontTx/>
              <a:buChar char="-"/>
            </a:pPr>
            <a:r>
              <a:rPr lang="en-US" dirty="0">
                <a:solidFill>
                  <a:srgbClr val="000000"/>
                </a:solidFill>
              </a:rPr>
              <a:t> Use in the most natural way</a:t>
            </a:r>
          </a:p>
        </p:txBody>
      </p:sp>
      <p:sp>
        <p:nvSpPr>
          <p:cNvPr id="448528" name="Text Box 16"/>
          <p:cNvSpPr txBox="1">
            <a:spLocks noChangeArrowheads="1"/>
          </p:cNvSpPr>
          <p:nvPr/>
        </p:nvSpPr>
        <p:spPr bwMode="auto">
          <a:xfrm>
            <a:off x="6477000" y="1358900"/>
            <a:ext cx="19832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2400" b="1" dirty="0">
              <a:solidFill>
                <a:srgbClr val="FF0303"/>
              </a:solidFill>
            </a:endParaRPr>
          </a:p>
          <a:p>
            <a:r>
              <a:rPr lang="en-US" sz="2400" b="1" dirty="0">
                <a:solidFill>
                  <a:srgbClr val="0000FF"/>
                </a:solidFill>
              </a:rPr>
              <a:t>Correctness</a:t>
            </a:r>
          </a:p>
        </p:txBody>
      </p:sp>
      <p:sp>
        <p:nvSpPr>
          <p:cNvPr id="448529" name="Text Box 17"/>
          <p:cNvSpPr txBox="1">
            <a:spLocks noChangeArrowheads="1"/>
          </p:cNvSpPr>
          <p:nvPr/>
        </p:nvSpPr>
        <p:spPr bwMode="auto">
          <a:xfrm>
            <a:off x="4724400" y="6415088"/>
            <a:ext cx="2689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From a user’s view point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8526"/>
                                        </p:tgtEl>
                                        <p:attrNameLst>
                                          <p:attrName>style.visibility</p:attrName>
                                        </p:attrNameLst>
                                      </p:cBhvr>
                                      <p:to>
                                        <p:strVal val="visible"/>
                                      </p:to>
                                    </p:set>
                                    <p:animEffect transition="in" filter="fade">
                                      <p:cBhvr>
                                        <p:cTn id="7" dur="500"/>
                                        <p:tgtEl>
                                          <p:spTgt spid="4485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8527"/>
                                        </p:tgtEl>
                                        <p:attrNameLst>
                                          <p:attrName>style.visibility</p:attrName>
                                        </p:attrNameLst>
                                      </p:cBhvr>
                                      <p:to>
                                        <p:strVal val="visible"/>
                                      </p:to>
                                    </p:set>
                                    <p:animEffect transition="in" filter="fade">
                                      <p:cBhvr>
                                        <p:cTn id="10" dur="500"/>
                                        <p:tgtEl>
                                          <p:spTgt spid="4485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26" grpId="0" animBg="1"/>
      <p:bldP spid="4485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5"/>
          <p:cNvSpPr>
            <a:spLocks noChangeArrowheads="1"/>
          </p:cNvSpPr>
          <p:nvPr/>
        </p:nvSpPr>
        <p:spPr bwMode="auto">
          <a:xfrm>
            <a:off x="3657600" y="3657600"/>
            <a:ext cx="1897063" cy="758825"/>
          </a:xfrm>
          <a:prstGeom prst="rect">
            <a:avLst/>
          </a:prstGeom>
          <a:gradFill rotWithShape="0">
            <a:gsLst>
              <a:gs pos="0">
                <a:srgbClr val="EC773C">
                  <a:gamma/>
                  <a:shade val="56078"/>
                  <a:invGamma/>
                </a:srgbClr>
              </a:gs>
              <a:gs pos="50000">
                <a:srgbClr val="EC773C"/>
              </a:gs>
              <a:gs pos="100000">
                <a:srgbClr val="EC773C">
                  <a:gamma/>
                  <a:shade val="56078"/>
                  <a:invGamma/>
                </a:srgbClr>
              </a:gs>
            </a:gsLst>
            <a:lin ang="2700000" scaled="1"/>
          </a:gradFill>
          <a:ln w="12700" algn="ctr">
            <a:solidFill>
              <a:srgbClr val="EC773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2000" b="1" dirty="0">
                <a:solidFill>
                  <a:srgbClr val="FFFFFF"/>
                </a:solidFill>
                <a:effectLst>
                  <a:outerShdw blurRad="38100" dist="38100" dir="2700000" algn="tl">
                    <a:srgbClr val="000000"/>
                  </a:outerShdw>
                </a:effectLst>
              </a:rPr>
              <a:t>Software</a:t>
            </a:r>
          </a:p>
        </p:txBody>
      </p:sp>
      <p:sp>
        <p:nvSpPr>
          <p:cNvPr id="26" name="Text Box 13"/>
          <p:cNvSpPr txBox="1">
            <a:spLocks noChangeArrowheads="1"/>
          </p:cNvSpPr>
          <p:nvPr/>
        </p:nvSpPr>
        <p:spPr bwMode="auto">
          <a:xfrm>
            <a:off x="4876800" y="2057400"/>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User</a:t>
            </a:r>
          </a:p>
        </p:txBody>
      </p:sp>
      <p:sp>
        <p:nvSpPr>
          <p:cNvPr id="27" name="Text Box 14"/>
          <p:cNvSpPr txBox="1">
            <a:spLocks noChangeArrowheads="1"/>
          </p:cNvSpPr>
          <p:nvPr/>
        </p:nvSpPr>
        <p:spPr bwMode="auto">
          <a:xfrm>
            <a:off x="3048000" y="5562600"/>
            <a:ext cx="12362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Hardware</a:t>
            </a:r>
          </a:p>
        </p:txBody>
      </p:sp>
      <p:sp>
        <p:nvSpPr>
          <p:cNvPr id="28" name="Text Box 15"/>
          <p:cNvSpPr txBox="1">
            <a:spLocks noChangeArrowheads="1"/>
          </p:cNvSpPr>
          <p:nvPr/>
        </p:nvSpPr>
        <p:spPr bwMode="auto">
          <a:xfrm>
            <a:off x="6096000" y="4724400"/>
            <a:ext cx="18133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Other software</a:t>
            </a:r>
          </a:p>
        </p:txBody>
      </p:sp>
      <p:sp>
        <p:nvSpPr>
          <p:cNvPr id="20" name="Slide Number Placeholder 5"/>
          <p:cNvSpPr>
            <a:spLocks noGrp="1"/>
          </p:cNvSpPr>
          <p:nvPr>
            <p:ph type="sldNum" sz="quarter" idx="12"/>
          </p:nvPr>
        </p:nvSpPr>
        <p:spPr/>
        <p:txBody>
          <a:bodyPr/>
          <a:lstStyle/>
          <a:p>
            <a:fld id="{63F8601E-BED1-4479-B784-EF3F338DB3EA}" type="slidenum">
              <a:rPr lang="en-US"/>
              <a:pPr/>
              <a:t>14</a:t>
            </a:fld>
            <a:endParaRPr lang="en-US"/>
          </a:p>
        </p:txBody>
      </p:sp>
      <p:sp>
        <p:nvSpPr>
          <p:cNvPr id="449538" name="Rectangle 2"/>
          <p:cNvSpPr>
            <a:spLocks noGrp="1" noChangeArrowheads="1"/>
          </p:cNvSpPr>
          <p:nvPr>
            <p:ph type="title"/>
          </p:nvPr>
        </p:nvSpPr>
        <p:spPr/>
        <p:txBody>
          <a:bodyPr/>
          <a:lstStyle/>
          <a:p>
            <a:r>
              <a:rPr lang="en-US" sz="2800" dirty="0"/>
              <a:t>Characteristics of a good software?</a:t>
            </a:r>
          </a:p>
        </p:txBody>
      </p:sp>
      <p:pic>
        <p:nvPicPr>
          <p:cNvPr id="449540" name="Picture 4" descr="CLE diagram for MS Case study (text as outlines) copy"/>
          <p:cNvPicPr>
            <a:picLocks noChangeAspect="1" noChangeArrowheads="1"/>
          </p:cNvPicPr>
          <p:nvPr/>
        </p:nvPicPr>
        <p:blipFill>
          <a:blip r:embed="rId2">
            <a:clrChange>
              <a:clrFrom>
                <a:srgbClr val="FCFFFF"/>
              </a:clrFrom>
              <a:clrTo>
                <a:srgbClr val="FCFFFF">
                  <a:alpha val="0"/>
                </a:srgbClr>
              </a:clrTo>
            </a:clrChange>
            <a:extLst>
              <a:ext uri="{28A0092B-C50C-407E-A947-70E740481C1C}">
                <a14:useLocalDpi xmlns:a14="http://schemas.microsoft.com/office/drawing/2010/main" val="0"/>
              </a:ext>
            </a:extLst>
          </a:blip>
          <a:srcRect l="36420" r="41473" b="85323"/>
          <a:stretch>
            <a:fillRect/>
          </a:stretch>
        </p:blipFill>
        <p:spPr bwMode="auto">
          <a:xfrm>
            <a:off x="4119563" y="1835150"/>
            <a:ext cx="90963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9541" name="Picture 5" descr="PC running service"/>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b="8725"/>
          <a:stretch>
            <a:fillRect/>
          </a:stretch>
        </p:blipFill>
        <p:spPr bwMode="auto">
          <a:xfrm>
            <a:off x="1600200" y="4800600"/>
            <a:ext cx="14478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449542" name="Picture 6"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3400" y="267017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49543" name="Picture 7"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488954">
            <a:off x="3124200" y="440372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49544" name="Picture 8" descr="xmlwebservice"/>
          <p:cNvPicPr>
            <a:picLocks noChangeAspect="1" noChangeArrowheads="1"/>
          </p:cNvPicPr>
          <p:nvPr/>
        </p:nvPicPr>
        <p:blipFill>
          <a:blip r:embed="rId5">
            <a:clrChange>
              <a:clrFrom>
                <a:srgbClr val="08369A"/>
              </a:clrFrom>
              <a:clrTo>
                <a:srgbClr val="08369A">
                  <a:alpha val="0"/>
                </a:srgbClr>
              </a:clrTo>
            </a:clrChange>
            <a:extLst>
              <a:ext uri="{28A0092B-C50C-407E-A947-70E740481C1C}">
                <a14:useLocalDpi xmlns:a14="http://schemas.microsoft.com/office/drawing/2010/main" val="0"/>
              </a:ext>
            </a:extLst>
          </a:blip>
          <a:srcRect/>
          <a:stretch>
            <a:fillRect/>
          </a:stretch>
        </p:blipFill>
        <p:spPr bwMode="auto">
          <a:xfrm>
            <a:off x="6067425" y="5105400"/>
            <a:ext cx="101917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9545" name="Picture 9"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777344">
            <a:off x="5582444" y="4402931"/>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49546" name="Picture 10" descr="Databases S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0" y="4191000"/>
            <a:ext cx="844550" cy="684213"/>
          </a:xfrm>
          <a:prstGeom prst="rect">
            <a:avLst/>
          </a:prstGeom>
          <a:noFill/>
          <a:extLst>
            <a:ext uri="{909E8E84-426E-40DD-AFC4-6F175D3DCCD1}">
              <a14:hiddenFill xmlns:a14="http://schemas.microsoft.com/office/drawing/2010/main">
                <a:solidFill>
                  <a:srgbClr val="FFFFFF"/>
                </a:solidFill>
              </a14:hiddenFill>
            </a:ext>
          </a:extLst>
        </p:spPr>
      </p:pic>
      <p:sp>
        <p:nvSpPr>
          <p:cNvPr id="449550" name="AutoShape 14"/>
          <p:cNvSpPr>
            <a:spLocks noChangeArrowheads="1"/>
          </p:cNvSpPr>
          <p:nvPr/>
        </p:nvSpPr>
        <p:spPr bwMode="auto">
          <a:xfrm>
            <a:off x="457200" y="4114800"/>
            <a:ext cx="2362200" cy="1371600"/>
          </a:xfrm>
          <a:prstGeom prst="irregularSeal1">
            <a:avLst/>
          </a:prstGeom>
          <a:gradFill rotWithShape="1">
            <a:gsLst>
              <a:gs pos="0">
                <a:srgbClr val="F48D10">
                  <a:gamma/>
                  <a:shade val="0"/>
                  <a:invGamma/>
                </a:srgbClr>
              </a:gs>
              <a:gs pos="50000">
                <a:srgbClr val="F48D10"/>
              </a:gs>
              <a:gs pos="100000">
                <a:srgbClr val="F48D10">
                  <a:gamma/>
                  <a:shade val="0"/>
                  <a:invGamma/>
                </a:srgbClr>
              </a:gs>
            </a:gsLst>
            <a:lin ang="5400000" scaled="1"/>
          </a:gradFill>
          <a:ln w="9525">
            <a:solidFill>
              <a:srgbClr val="F48D1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FF00"/>
                </a:solidFill>
                <a:effectLst>
                  <a:outerShdw blurRad="38100" dist="38100" dir="2700000" algn="tl">
                    <a:srgbClr val="000000"/>
                  </a:outerShdw>
                </a:effectLst>
              </a:rPr>
              <a:t>Efficiency</a:t>
            </a:r>
          </a:p>
        </p:txBody>
      </p:sp>
      <p:sp>
        <p:nvSpPr>
          <p:cNvPr id="449551" name="Text Box 15"/>
          <p:cNvSpPr txBox="1">
            <a:spLocks noChangeArrowheads="1"/>
          </p:cNvSpPr>
          <p:nvPr/>
        </p:nvSpPr>
        <p:spPr bwMode="auto">
          <a:xfrm>
            <a:off x="838200" y="1905000"/>
            <a:ext cx="2819400" cy="1615827"/>
          </a:xfrm>
          <a:prstGeom prst="rect">
            <a:avLst/>
          </a:prstGeom>
          <a:solidFill>
            <a:srgbClr val="F48D10">
              <a:alpha val="10001"/>
            </a:srgbClr>
          </a:solidFill>
          <a:ln w="9525">
            <a:solidFill>
              <a:srgbClr val="F48D1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000000"/>
                </a:solidFill>
              </a:rPr>
              <a:t>Efficiency:</a:t>
            </a:r>
          </a:p>
          <a:p>
            <a:pPr>
              <a:spcBef>
                <a:spcPct val="50000"/>
              </a:spcBef>
              <a:buFontTx/>
              <a:buChar char="-"/>
            </a:pPr>
            <a:r>
              <a:rPr lang="en-US" dirty="0">
                <a:solidFill>
                  <a:srgbClr val="000000"/>
                </a:solidFill>
              </a:rPr>
              <a:t> </a:t>
            </a:r>
            <a:r>
              <a:rPr lang="en-US" dirty="0">
                <a:solidFill>
                  <a:srgbClr val="FF0303"/>
                </a:solidFill>
              </a:rPr>
              <a:t>Optimize for processing*</a:t>
            </a:r>
          </a:p>
          <a:p>
            <a:pPr>
              <a:spcBef>
                <a:spcPct val="50000"/>
              </a:spcBef>
              <a:buFontTx/>
              <a:buChar char="-"/>
            </a:pPr>
            <a:r>
              <a:rPr lang="en-US" dirty="0">
                <a:solidFill>
                  <a:srgbClr val="0000FF"/>
                </a:solidFill>
              </a:rPr>
              <a:t> Optimize for storage*</a:t>
            </a:r>
          </a:p>
          <a:p>
            <a:pPr>
              <a:spcBef>
                <a:spcPct val="50000"/>
              </a:spcBef>
              <a:buFontTx/>
              <a:buChar char="-"/>
            </a:pPr>
            <a:r>
              <a:rPr lang="en-US" dirty="0">
                <a:solidFill>
                  <a:srgbClr val="000000"/>
                </a:solidFill>
              </a:rPr>
              <a:t> Other optimizations?</a:t>
            </a:r>
          </a:p>
        </p:txBody>
      </p:sp>
      <p:sp>
        <p:nvSpPr>
          <p:cNvPr id="449553" name="Text Box 17"/>
          <p:cNvSpPr txBox="1">
            <a:spLocks noChangeArrowheads="1"/>
          </p:cNvSpPr>
          <p:nvPr/>
        </p:nvSpPr>
        <p:spPr bwMode="auto">
          <a:xfrm>
            <a:off x="6477000" y="1358900"/>
            <a:ext cx="198323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2400" b="1" dirty="0">
              <a:solidFill>
                <a:srgbClr val="FF0303"/>
              </a:solidFill>
            </a:endParaRPr>
          </a:p>
          <a:p>
            <a:r>
              <a:rPr lang="en-US" sz="2400" b="1" dirty="0">
                <a:solidFill>
                  <a:srgbClr val="0000FF"/>
                </a:solidFill>
              </a:rPr>
              <a:t>Correctness</a:t>
            </a:r>
          </a:p>
          <a:p>
            <a:r>
              <a:rPr lang="en-US" sz="2400" b="1" dirty="0">
                <a:solidFill>
                  <a:srgbClr val="008000"/>
                </a:solidFill>
              </a:rPr>
              <a:t>Ease of use</a:t>
            </a:r>
          </a:p>
        </p:txBody>
      </p:sp>
      <p:sp>
        <p:nvSpPr>
          <p:cNvPr id="449554" name="Text Box 18"/>
          <p:cNvSpPr txBox="1">
            <a:spLocks noChangeArrowheads="1"/>
          </p:cNvSpPr>
          <p:nvPr/>
        </p:nvSpPr>
        <p:spPr bwMode="auto">
          <a:xfrm>
            <a:off x="4724400" y="6415088"/>
            <a:ext cx="2689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From a user’s view point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9550"/>
                                        </p:tgtEl>
                                        <p:attrNameLst>
                                          <p:attrName>style.visibility</p:attrName>
                                        </p:attrNameLst>
                                      </p:cBhvr>
                                      <p:to>
                                        <p:strVal val="visible"/>
                                      </p:to>
                                    </p:set>
                                    <p:animEffect transition="in" filter="fade">
                                      <p:cBhvr>
                                        <p:cTn id="7" dur="500"/>
                                        <p:tgtEl>
                                          <p:spTgt spid="4495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9551"/>
                                        </p:tgtEl>
                                        <p:attrNameLst>
                                          <p:attrName>style.visibility</p:attrName>
                                        </p:attrNameLst>
                                      </p:cBhvr>
                                      <p:to>
                                        <p:strVal val="visible"/>
                                      </p:to>
                                    </p:set>
                                    <p:animEffect transition="in" filter="fade">
                                      <p:cBhvr>
                                        <p:cTn id="10" dur="500"/>
                                        <p:tgtEl>
                                          <p:spTgt spid="449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50" grpId="0" animBg="1"/>
      <p:bldP spid="44955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5"/>
          <p:cNvSpPr>
            <a:spLocks noChangeArrowheads="1"/>
          </p:cNvSpPr>
          <p:nvPr/>
        </p:nvSpPr>
        <p:spPr bwMode="auto">
          <a:xfrm>
            <a:off x="3657600" y="3657600"/>
            <a:ext cx="1897063" cy="758825"/>
          </a:xfrm>
          <a:prstGeom prst="rect">
            <a:avLst/>
          </a:prstGeom>
          <a:gradFill rotWithShape="0">
            <a:gsLst>
              <a:gs pos="0">
                <a:srgbClr val="EC773C">
                  <a:gamma/>
                  <a:shade val="56078"/>
                  <a:invGamma/>
                </a:srgbClr>
              </a:gs>
              <a:gs pos="50000">
                <a:srgbClr val="EC773C"/>
              </a:gs>
              <a:gs pos="100000">
                <a:srgbClr val="EC773C">
                  <a:gamma/>
                  <a:shade val="56078"/>
                  <a:invGamma/>
                </a:srgbClr>
              </a:gs>
            </a:gsLst>
            <a:lin ang="2700000" scaled="1"/>
          </a:gradFill>
          <a:ln w="12700" algn="ctr">
            <a:solidFill>
              <a:srgbClr val="EC773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2000" b="1" dirty="0">
                <a:solidFill>
                  <a:srgbClr val="FFFFFF"/>
                </a:solidFill>
                <a:effectLst>
                  <a:outerShdw blurRad="38100" dist="38100" dir="2700000" algn="tl">
                    <a:srgbClr val="000000"/>
                  </a:outerShdw>
                </a:effectLst>
              </a:rPr>
              <a:t>Software</a:t>
            </a:r>
          </a:p>
        </p:txBody>
      </p:sp>
      <p:sp>
        <p:nvSpPr>
          <p:cNvPr id="26" name="Text Box 13"/>
          <p:cNvSpPr txBox="1">
            <a:spLocks noChangeArrowheads="1"/>
          </p:cNvSpPr>
          <p:nvPr/>
        </p:nvSpPr>
        <p:spPr bwMode="auto">
          <a:xfrm>
            <a:off x="4876800" y="2057400"/>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User</a:t>
            </a:r>
          </a:p>
        </p:txBody>
      </p:sp>
      <p:sp>
        <p:nvSpPr>
          <p:cNvPr id="27" name="Text Box 14"/>
          <p:cNvSpPr txBox="1">
            <a:spLocks noChangeArrowheads="1"/>
          </p:cNvSpPr>
          <p:nvPr/>
        </p:nvSpPr>
        <p:spPr bwMode="auto">
          <a:xfrm>
            <a:off x="3048000" y="5562600"/>
            <a:ext cx="12362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Hardware</a:t>
            </a:r>
          </a:p>
        </p:txBody>
      </p:sp>
      <p:sp>
        <p:nvSpPr>
          <p:cNvPr id="28" name="Text Box 15"/>
          <p:cNvSpPr txBox="1">
            <a:spLocks noChangeArrowheads="1"/>
          </p:cNvSpPr>
          <p:nvPr/>
        </p:nvSpPr>
        <p:spPr bwMode="auto">
          <a:xfrm>
            <a:off x="6096000" y="4724400"/>
            <a:ext cx="18133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Other software</a:t>
            </a:r>
          </a:p>
        </p:txBody>
      </p:sp>
      <p:sp>
        <p:nvSpPr>
          <p:cNvPr id="20" name="Slide Number Placeholder 5"/>
          <p:cNvSpPr>
            <a:spLocks noGrp="1"/>
          </p:cNvSpPr>
          <p:nvPr>
            <p:ph type="sldNum" sz="quarter" idx="12"/>
          </p:nvPr>
        </p:nvSpPr>
        <p:spPr/>
        <p:txBody>
          <a:bodyPr/>
          <a:lstStyle/>
          <a:p>
            <a:fld id="{3966F5DB-27EC-41BA-90B7-821B556DC608}" type="slidenum">
              <a:rPr lang="en-US"/>
              <a:pPr/>
              <a:t>15</a:t>
            </a:fld>
            <a:endParaRPr lang="en-US"/>
          </a:p>
        </p:txBody>
      </p:sp>
      <p:sp>
        <p:nvSpPr>
          <p:cNvPr id="450562" name="Rectangle 2"/>
          <p:cNvSpPr>
            <a:spLocks noGrp="1" noChangeArrowheads="1"/>
          </p:cNvSpPr>
          <p:nvPr>
            <p:ph type="title"/>
          </p:nvPr>
        </p:nvSpPr>
        <p:spPr/>
        <p:txBody>
          <a:bodyPr/>
          <a:lstStyle/>
          <a:p>
            <a:r>
              <a:rPr lang="en-US" sz="2800" dirty="0"/>
              <a:t>Characteristics of a good software?</a:t>
            </a:r>
          </a:p>
        </p:txBody>
      </p:sp>
      <p:pic>
        <p:nvPicPr>
          <p:cNvPr id="450564" name="Picture 4" descr="CLE diagram for MS Case study (text as outlines) copy"/>
          <p:cNvPicPr>
            <a:picLocks noChangeAspect="1" noChangeArrowheads="1"/>
          </p:cNvPicPr>
          <p:nvPr/>
        </p:nvPicPr>
        <p:blipFill>
          <a:blip r:embed="rId2">
            <a:clrChange>
              <a:clrFrom>
                <a:srgbClr val="FCFFFF"/>
              </a:clrFrom>
              <a:clrTo>
                <a:srgbClr val="FCFFFF">
                  <a:alpha val="0"/>
                </a:srgbClr>
              </a:clrTo>
            </a:clrChange>
            <a:extLst>
              <a:ext uri="{28A0092B-C50C-407E-A947-70E740481C1C}">
                <a14:useLocalDpi xmlns:a14="http://schemas.microsoft.com/office/drawing/2010/main" val="0"/>
              </a:ext>
            </a:extLst>
          </a:blip>
          <a:srcRect l="36420" r="41473" b="85323"/>
          <a:stretch>
            <a:fillRect/>
          </a:stretch>
        </p:blipFill>
        <p:spPr bwMode="auto">
          <a:xfrm>
            <a:off x="4119563" y="1835150"/>
            <a:ext cx="90963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565" name="Picture 5" descr="PC running service"/>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b="8725"/>
          <a:stretch>
            <a:fillRect/>
          </a:stretch>
        </p:blipFill>
        <p:spPr bwMode="auto">
          <a:xfrm>
            <a:off x="1600200" y="4800600"/>
            <a:ext cx="14478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450566" name="Picture 6"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3400" y="267017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50567" name="Picture 7"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488954">
            <a:off x="3124200" y="440372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50568" name="Picture 8" descr="xmlwebservice"/>
          <p:cNvPicPr>
            <a:picLocks noChangeAspect="1" noChangeArrowheads="1"/>
          </p:cNvPicPr>
          <p:nvPr/>
        </p:nvPicPr>
        <p:blipFill>
          <a:blip r:embed="rId5">
            <a:clrChange>
              <a:clrFrom>
                <a:srgbClr val="08369A"/>
              </a:clrFrom>
              <a:clrTo>
                <a:srgbClr val="08369A">
                  <a:alpha val="0"/>
                </a:srgbClr>
              </a:clrTo>
            </a:clrChange>
            <a:extLst>
              <a:ext uri="{28A0092B-C50C-407E-A947-70E740481C1C}">
                <a14:useLocalDpi xmlns:a14="http://schemas.microsoft.com/office/drawing/2010/main" val="0"/>
              </a:ext>
            </a:extLst>
          </a:blip>
          <a:srcRect/>
          <a:stretch>
            <a:fillRect/>
          </a:stretch>
        </p:blipFill>
        <p:spPr bwMode="auto">
          <a:xfrm>
            <a:off x="6067425" y="5105400"/>
            <a:ext cx="101917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569" name="Picture 9"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777344">
            <a:off x="5582444" y="4402931"/>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50570" name="Picture 10" descr="Databases S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0" y="4191000"/>
            <a:ext cx="844550" cy="684213"/>
          </a:xfrm>
          <a:prstGeom prst="rect">
            <a:avLst/>
          </a:prstGeom>
          <a:noFill/>
          <a:extLst>
            <a:ext uri="{909E8E84-426E-40DD-AFC4-6F175D3DCCD1}">
              <a14:hiddenFill xmlns:a14="http://schemas.microsoft.com/office/drawing/2010/main">
                <a:solidFill>
                  <a:srgbClr val="FFFFFF"/>
                </a:solidFill>
              </a14:hiddenFill>
            </a:ext>
          </a:extLst>
        </p:spPr>
      </p:pic>
      <p:sp>
        <p:nvSpPr>
          <p:cNvPr id="450574" name="AutoShape 14"/>
          <p:cNvSpPr>
            <a:spLocks noChangeArrowheads="1"/>
          </p:cNvSpPr>
          <p:nvPr/>
        </p:nvSpPr>
        <p:spPr bwMode="auto">
          <a:xfrm>
            <a:off x="6629400" y="5257800"/>
            <a:ext cx="2362200" cy="1371600"/>
          </a:xfrm>
          <a:prstGeom prst="irregularSeal1">
            <a:avLst/>
          </a:prstGeom>
          <a:gradFill rotWithShape="1">
            <a:gsLst>
              <a:gs pos="0">
                <a:srgbClr val="FF66CC">
                  <a:gamma/>
                  <a:shade val="0"/>
                  <a:invGamma/>
                </a:srgbClr>
              </a:gs>
              <a:gs pos="50000">
                <a:srgbClr val="FF66CC"/>
              </a:gs>
              <a:gs pos="100000">
                <a:srgbClr val="FF66CC">
                  <a:gamma/>
                  <a:shade val="0"/>
                  <a:invGamma/>
                </a:srgbClr>
              </a:gs>
            </a:gsLst>
            <a:lin ang="5400000" scaled="1"/>
          </a:gradFill>
          <a:ln w="9525">
            <a:solidFill>
              <a:srgbClr val="FF66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FF00"/>
                </a:solidFill>
                <a:effectLst>
                  <a:outerShdw blurRad="38100" dist="38100" dir="2700000" algn="tl">
                    <a:srgbClr val="000000"/>
                  </a:outerShdw>
                </a:effectLst>
              </a:rPr>
              <a:t>Compatibility</a:t>
            </a:r>
          </a:p>
        </p:txBody>
      </p:sp>
      <p:sp>
        <p:nvSpPr>
          <p:cNvPr id="450575" name="Text Box 15"/>
          <p:cNvSpPr txBox="1">
            <a:spLocks noChangeArrowheads="1"/>
          </p:cNvSpPr>
          <p:nvPr/>
        </p:nvSpPr>
        <p:spPr bwMode="auto">
          <a:xfrm>
            <a:off x="838200" y="1905000"/>
            <a:ext cx="2667000" cy="1477328"/>
          </a:xfrm>
          <a:prstGeom prst="rect">
            <a:avLst/>
          </a:prstGeom>
          <a:solidFill>
            <a:srgbClr val="FF66CC">
              <a:alpha val="10001"/>
            </a:srgbClr>
          </a:solidFill>
          <a:ln w="9525">
            <a:solidFill>
              <a:srgbClr val="FF66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dirty="0">
                <a:solidFill>
                  <a:srgbClr val="000000"/>
                </a:solidFill>
              </a:rPr>
              <a:t>Compatibility:</a:t>
            </a:r>
          </a:p>
          <a:p>
            <a:pPr>
              <a:spcBef>
                <a:spcPct val="50000"/>
              </a:spcBef>
              <a:buFontTx/>
              <a:buChar char="-"/>
            </a:pPr>
            <a:r>
              <a:rPr lang="en-US" dirty="0">
                <a:solidFill>
                  <a:srgbClr val="000000"/>
                </a:solidFill>
              </a:rPr>
              <a:t> Import/Export data from/to another software</a:t>
            </a:r>
          </a:p>
          <a:p>
            <a:pPr>
              <a:spcBef>
                <a:spcPct val="50000"/>
              </a:spcBef>
              <a:buFontTx/>
              <a:buChar char="-"/>
            </a:pPr>
            <a:r>
              <a:rPr lang="en-US" dirty="0">
                <a:solidFill>
                  <a:srgbClr val="000000"/>
                </a:solidFill>
              </a:rPr>
              <a:t> Interoperability</a:t>
            </a:r>
          </a:p>
        </p:txBody>
      </p:sp>
      <p:sp>
        <p:nvSpPr>
          <p:cNvPr id="450577" name="Text Box 17"/>
          <p:cNvSpPr txBox="1">
            <a:spLocks noChangeArrowheads="1"/>
          </p:cNvSpPr>
          <p:nvPr/>
        </p:nvSpPr>
        <p:spPr bwMode="auto">
          <a:xfrm>
            <a:off x="6477000" y="1358900"/>
            <a:ext cx="198323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2400" b="1" dirty="0">
              <a:solidFill>
                <a:srgbClr val="FF0303"/>
              </a:solidFill>
            </a:endParaRPr>
          </a:p>
          <a:p>
            <a:r>
              <a:rPr lang="en-US" sz="2400" b="1" dirty="0">
                <a:solidFill>
                  <a:srgbClr val="0000FF"/>
                </a:solidFill>
              </a:rPr>
              <a:t>Correctness</a:t>
            </a:r>
          </a:p>
          <a:p>
            <a:r>
              <a:rPr lang="en-US" sz="2400" b="1" dirty="0">
                <a:solidFill>
                  <a:srgbClr val="008000"/>
                </a:solidFill>
              </a:rPr>
              <a:t>Ease of use</a:t>
            </a:r>
          </a:p>
          <a:p>
            <a:r>
              <a:rPr lang="en-US" sz="2400" b="1" dirty="0">
                <a:solidFill>
                  <a:srgbClr val="F48D10"/>
                </a:solidFill>
              </a:rPr>
              <a:t>Efficiency</a:t>
            </a:r>
          </a:p>
          <a:p>
            <a:endParaRPr lang="en-US" sz="2400" b="1" dirty="0">
              <a:solidFill>
                <a:srgbClr val="FF66CC"/>
              </a:solidFill>
            </a:endParaRPr>
          </a:p>
        </p:txBody>
      </p:sp>
      <p:sp>
        <p:nvSpPr>
          <p:cNvPr id="450578" name="Text Box 18"/>
          <p:cNvSpPr txBox="1">
            <a:spLocks noChangeArrowheads="1"/>
          </p:cNvSpPr>
          <p:nvPr/>
        </p:nvSpPr>
        <p:spPr bwMode="auto">
          <a:xfrm>
            <a:off x="4724400" y="6415088"/>
            <a:ext cx="2689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From a user’s view point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0574"/>
                                        </p:tgtEl>
                                        <p:attrNameLst>
                                          <p:attrName>style.visibility</p:attrName>
                                        </p:attrNameLst>
                                      </p:cBhvr>
                                      <p:to>
                                        <p:strVal val="visible"/>
                                      </p:to>
                                    </p:set>
                                    <p:animEffect transition="in" filter="fade">
                                      <p:cBhvr>
                                        <p:cTn id="7" dur="500"/>
                                        <p:tgtEl>
                                          <p:spTgt spid="45057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0575"/>
                                        </p:tgtEl>
                                        <p:attrNameLst>
                                          <p:attrName>style.visibility</p:attrName>
                                        </p:attrNameLst>
                                      </p:cBhvr>
                                      <p:to>
                                        <p:strVal val="visible"/>
                                      </p:to>
                                    </p:set>
                                    <p:animEffect transition="in" filter="fade">
                                      <p:cBhvr>
                                        <p:cTn id="10" dur="500"/>
                                        <p:tgtEl>
                                          <p:spTgt spid="450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74" grpId="0" animBg="1"/>
      <p:bldP spid="45057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5"/>
          <p:cNvSpPr>
            <a:spLocks noChangeArrowheads="1"/>
          </p:cNvSpPr>
          <p:nvPr/>
        </p:nvSpPr>
        <p:spPr bwMode="auto">
          <a:xfrm>
            <a:off x="3657600" y="3657600"/>
            <a:ext cx="1897063" cy="758825"/>
          </a:xfrm>
          <a:prstGeom prst="rect">
            <a:avLst/>
          </a:prstGeom>
          <a:gradFill rotWithShape="0">
            <a:gsLst>
              <a:gs pos="0">
                <a:srgbClr val="EC773C">
                  <a:gamma/>
                  <a:shade val="56078"/>
                  <a:invGamma/>
                </a:srgbClr>
              </a:gs>
              <a:gs pos="50000">
                <a:srgbClr val="EC773C"/>
              </a:gs>
              <a:gs pos="100000">
                <a:srgbClr val="EC773C">
                  <a:gamma/>
                  <a:shade val="56078"/>
                  <a:invGamma/>
                </a:srgbClr>
              </a:gs>
            </a:gsLst>
            <a:lin ang="2700000" scaled="1"/>
          </a:gradFill>
          <a:ln w="12700" algn="ctr">
            <a:solidFill>
              <a:srgbClr val="EC773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2000" b="1" dirty="0">
                <a:solidFill>
                  <a:srgbClr val="FFFFFF"/>
                </a:solidFill>
                <a:effectLst>
                  <a:outerShdw blurRad="38100" dist="38100" dir="2700000" algn="tl">
                    <a:srgbClr val="000000"/>
                  </a:outerShdw>
                </a:effectLst>
              </a:rPr>
              <a:t>Software</a:t>
            </a:r>
          </a:p>
        </p:txBody>
      </p:sp>
      <p:sp>
        <p:nvSpPr>
          <p:cNvPr id="22" name="Text Box 13"/>
          <p:cNvSpPr txBox="1">
            <a:spLocks noChangeArrowheads="1"/>
          </p:cNvSpPr>
          <p:nvPr/>
        </p:nvSpPr>
        <p:spPr bwMode="auto">
          <a:xfrm>
            <a:off x="4876800" y="2057400"/>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User</a:t>
            </a:r>
          </a:p>
        </p:txBody>
      </p:sp>
      <p:sp>
        <p:nvSpPr>
          <p:cNvPr id="23" name="Text Box 14"/>
          <p:cNvSpPr txBox="1">
            <a:spLocks noChangeArrowheads="1"/>
          </p:cNvSpPr>
          <p:nvPr/>
        </p:nvSpPr>
        <p:spPr bwMode="auto">
          <a:xfrm>
            <a:off x="3048000" y="5562600"/>
            <a:ext cx="12362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Hardware</a:t>
            </a:r>
          </a:p>
        </p:txBody>
      </p:sp>
      <p:sp>
        <p:nvSpPr>
          <p:cNvPr id="24" name="Text Box 15"/>
          <p:cNvSpPr txBox="1">
            <a:spLocks noChangeArrowheads="1"/>
          </p:cNvSpPr>
          <p:nvPr/>
        </p:nvSpPr>
        <p:spPr bwMode="auto">
          <a:xfrm>
            <a:off x="6096000" y="4724400"/>
            <a:ext cx="18133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Other software</a:t>
            </a:r>
          </a:p>
        </p:txBody>
      </p:sp>
      <p:sp>
        <p:nvSpPr>
          <p:cNvPr id="20" name="Slide Number Placeholder 5"/>
          <p:cNvSpPr>
            <a:spLocks noGrp="1"/>
          </p:cNvSpPr>
          <p:nvPr>
            <p:ph type="sldNum" sz="quarter" idx="12"/>
          </p:nvPr>
        </p:nvSpPr>
        <p:spPr/>
        <p:txBody>
          <a:bodyPr/>
          <a:lstStyle/>
          <a:p>
            <a:fld id="{993A2951-4726-46F6-B58C-DAF67E8B488B}" type="slidenum">
              <a:rPr lang="en-US"/>
              <a:pPr/>
              <a:t>16</a:t>
            </a:fld>
            <a:endParaRPr lang="en-US"/>
          </a:p>
        </p:txBody>
      </p:sp>
      <p:sp>
        <p:nvSpPr>
          <p:cNvPr id="451586" name="Rectangle 2"/>
          <p:cNvSpPr>
            <a:spLocks noGrp="1" noChangeArrowheads="1"/>
          </p:cNvSpPr>
          <p:nvPr>
            <p:ph type="title"/>
          </p:nvPr>
        </p:nvSpPr>
        <p:spPr/>
        <p:txBody>
          <a:bodyPr/>
          <a:lstStyle/>
          <a:p>
            <a:r>
              <a:rPr lang="en-US" sz="2800" dirty="0"/>
              <a:t>Characteristics of a good software?</a:t>
            </a:r>
          </a:p>
        </p:txBody>
      </p:sp>
      <p:pic>
        <p:nvPicPr>
          <p:cNvPr id="451588" name="Picture 4" descr="CLE diagram for MS Case study (text as outlines) copy"/>
          <p:cNvPicPr>
            <a:picLocks noChangeAspect="1" noChangeArrowheads="1"/>
          </p:cNvPicPr>
          <p:nvPr/>
        </p:nvPicPr>
        <p:blipFill>
          <a:blip r:embed="rId2">
            <a:clrChange>
              <a:clrFrom>
                <a:srgbClr val="FCFFFF"/>
              </a:clrFrom>
              <a:clrTo>
                <a:srgbClr val="FCFFFF">
                  <a:alpha val="0"/>
                </a:srgbClr>
              </a:clrTo>
            </a:clrChange>
            <a:extLst>
              <a:ext uri="{28A0092B-C50C-407E-A947-70E740481C1C}">
                <a14:useLocalDpi xmlns:a14="http://schemas.microsoft.com/office/drawing/2010/main" val="0"/>
              </a:ext>
            </a:extLst>
          </a:blip>
          <a:srcRect l="36420" r="41473" b="85323"/>
          <a:stretch>
            <a:fillRect/>
          </a:stretch>
        </p:blipFill>
        <p:spPr bwMode="auto">
          <a:xfrm>
            <a:off x="4119563" y="1835150"/>
            <a:ext cx="90963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1589" name="Picture 5" descr="PC running service"/>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b="8725"/>
          <a:stretch>
            <a:fillRect/>
          </a:stretch>
        </p:blipFill>
        <p:spPr bwMode="auto">
          <a:xfrm>
            <a:off x="1600200" y="4800600"/>
            <a:ext cx="14478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451590" name="Picture 6"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3400" y="267017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51591" name="Picture 7"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488954">
            <a:off x="3124200" y="440372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51592" name="Picture 8" descr="xmlwebservice"/>
          <p:cNvPicPr>
            <a:picLocks noChangeAspect="1" noChangeArrowheads="1"/>
          </p:cNvPicPr>
          <p:nvPr/>
        </p:nvPicPr>
        <p:blipFill>
          <a:blip r:embed="rId5">
            <a:clrChange>
              <a:clrFrom>
                <a:srgbClr val="08369A"/>
              </a:clrFrom>
              <a:clrTo>
                <a:srgbClr val="08369A">
                  <a:alpha val="0"/>
                </a:srgbClr>
              </a:clrTo>
            </a:clrChange>
            <a:extLst>
              <a:ext uri="{28A0092B-C50C-407E-A947-70E740481C1C}">
                <a14:useLocalDpi xmlns:a14="http://schemas.microsoft.com/office/drawing/2010/main" val="0"/>
              </a:ext>
            </a:extLst>
          </a:blip>
          <a:srcRect/>
          <a:stretch>
            <a:fillRect/>
          </a:stretch>
        </p:blipFill>
        <p:spPr bwMode="auto">
          <a:xfrm>
            <a:off x="6067425" y="5105400"/>
            <a:ext cx="101917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1593" name="Picture 9"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777344">
            <a:off x="5582444" y="4402931"/>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51594" name="Picture 10" descr="Databases S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0" y="4191000"/>
            <a:ext cx="844550" cy="684213"/>
          </a:xfrm>
          <a:prstGeom prst="rect">
            <a:avLst/>
          </a:prstGeom>
          <a:noFill/>
          <a:extLst>
            <a:ext uri="{909E8E84-426E-40DD-AFC4-6F175D3DCCD1}">
              <a14:hiddenFill xmlns:a14="http://schemas.microsoft.com/office/drawing/2010/main">
                <a:solidFill>
                  <a:srgbClr val="FFFFFF"/>
                </a:solidFill>
              </a14:hiddenFill>
            </a:ext>
          </a:extLst>
        </p:spPr>
      </p:pic>
      <p:sp>
        <p:nvSpPr>
          <p:cNvPr id="451598" name="AutoShape 14"/>
          <p:cNvSpPr>
            <a:spLocks noChangeArrowheads="1"/>
          </p:cNvSpPr>
          <p:nvPr/>
        </p:nvSpPr>
        <p:spPr bwMode="auto">
          <a:xfrm>
            <a:off x="4876800" y="2895600"/>
            <a:ext cx="2362200" cy="1371600"/>
          </a:xfrm>
          <a:prstGeom prst="irregularSeal1">
            <a:avLst/>
          </a:prstGeom>
          <a:gradFill rotWithShape="1">
            <a:gsLst>
              <a:gs pos="0">
                <a:srgbClr val="FF0303">
                  <a:gamma/>
                  <a:shade val="0"/>
                  <a:invGamma/>
                </a:srgbClr>
              </a:gs>
              <a:gs pos="50000">
                <a:srgbClr val="FF0303"/>
              </a:gs>
              <a:gs pos="100000">
                <a:srgbClr val="FF0303">
                  <a:gamma/>
                  <a:shade val="0"/>
                  <a:invGamma/>
                </a:srgbClr>
              </a:gs>
            </a:gsLst>
            <a:lin ang="5400000" scaled="1"/>
          </a:gradFill>
          <a:ln w="9525">
            <a:solidFill>
              <a:srgbClr val="FF030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FF00"/>
                </a:solidFill>
                <a:effectLst>
                  <a:outerShdw blurRad="38100" dist="38100" dir="2700000" algn="tl">
                    <a:srgbClr val="000000"/>
                  </a:outerShdw>
                </a:effectLst>
              </a:rPr>
              <a:t>Evolution</a:t>
            </a:r>
          </a:p>
        </p:txBody>
      </p:sp>
      <p:sp>
        <p:nvSpPr>
          <p:cNvPr id="451599" name="Text Box 15"/>
          <p:cNvSpPr txBox="1">
            <a:spLocks noChangeArrowheads="1"/>
          </p:cNvSpPr>
          <p:nvPr/>
        </p:nvSpPr>
        <p:spPr bwMode="auto">
          <a:xfrm>
            <a:off x="838200" y="1905000"/>
            <a:ext cx="2819400" cy="923330"/>
          </a:xfrm>
          <a:prstGeom prst="rect">
            <a:avLst/>
          </a:prstGeom>
          <a:solidFill>
            <a:srgbClr val="FF0303">
              <a:alpha val="10001"/>
            </a:srgbClr>
          </a:solidFill>
          <a:ln w="9525">
            <a:solidFill>
              <a:srgbClr val="FF030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dirty="0">
                <a:solidFill>
                  <a:srgbClr val="000000"/>
                </a:solidFill>
              </a:rPr>
              <a:t>Evolution: one of the most essential properties of a software</a:t>
            </a:r>
          </a:p>
        </p:txBody>
      </p:sp>
      <p:sp>
        <p:nvSpPr>
          <p:cNvPr id="451601" name="Text Box 17"/>
          <p:cNvSpPr txBox="1">
            <a:spLocks noChangeArrowheads="1"/>
          </p:cNvSpPr>
          <p:nvPr/>
        </p:nvSpPr>
        <p:spPr bwMode="auto">
          <a:xfrm>
            <a:off x="6477000" y="1358900"/>
            <a:ext cx="213231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2400" b="1" dirty="0">
              <a:solidFill>
                <a:srgbClr val="FF0303"/>
              </a:solidFill>
            </a:endParaRPr>
          </a:p>
          <a:p>
            <a:r>
              <a:rPr lang="en-US" sz="2400" b="1" dirty="0">
                <a:solidFill>
                  <a:srgbClr val="0000FF"/>
                </a:solidFill>
              </a:rPr>
              <a:t>Correctness</a:t>
            </a:r>
          </a:p>
          <a:p>
            <a:r>
              <a:rPr lang="en-US" sz="2400" b="1" dirty="0">
                <a:solidFill>
                  <a:srgbClr val="008000"/>
                </a:solidFill>
              </a:rPr>
              <a:t>Ease of use</a:t>
            </a:r>
          </a:p>
          <a:p>
            <a:r>
              <a:rPr lang="en-US" sz="2400" b="1" dirty="0">
                <a:solidFill>
                  <a:srgbClr val="F48D10"/>
                </a:solidFill>
              </a:rPr>
              <a:t>Efficiency</a:t>
            </a:r>
          </a:p>
          <a:p>
            <a:r>
              <a:rPr lang="en-US" sz="2400" b="1" dirty="0">
                <a:solidFill>
                  <a:srgbClr val="FF66CC"/>
                </a:solidFill>
              </a:rPr>
              <a:t>Compatibility</a:t>
            </a:r>
          </a:p>
        </p:txBody>
      </p:sp>
      <p:sp>
        <p:nvSpPr>
          <p:cNvPr id="451602" name="Text Box 18"/>
          <p:cNvSpPr txBox="1">
            <a:spLocks noChangeArrowheads="1"/>
          </p:cNvSpPr>
          <p:nvPr/>
        </p:nvSpPr>
        <p:spPr bwMode="auto">
          <a:xfrm>
            <a:off x="4724400" y="6415088"/>
            <a:ext cx="2689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From a user’s view point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1598"/>
                                        </p:tgtEl>
                                        <p:attrNameLst>
                                          <p:attrName>style.visibility</p:attrName>
                                        </p:attrNameLst>
                                      </p:cBhvr>
                                      <p:to>
                                        <p:strVal val="visible"/>
                                      </p:to>
                                    </p:set>
                                    <p:animEffect transition="in" filter="fade">
                                      <p:cBhvr>
                                        <p:cTn id="7" dur="500"/>
                                        <p:tgtEl>
                                          <p:spTgt spid="45159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1599"/>
                                        </p:tgtEl>
                                        <p:attrNameLst>
                                          <p:attrName>style.visibility</p:attrName>
                                        </p:attrNameLst>
                                      </p:cBhvr>
                                      <p:to>
                                        <p:strVal val="visible"/>
                                      </p:to>
                                    </p:set>
                                    <p:animEffect transition="in" filter="fade">
                                      <p:cBhvr>
                                        <p:cTn id="10" dur="500"/>
                                        <p:tgtEl>
                                          <p:spTgt spid="451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98" grpId="0" animBg="1"/>
      <p:bldP spid="45159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5"/>
          <p:cNvSpPr>
            <a:spLocks noChangeArrowheads="1"/>
          </p:cNvSpPr>
          <p:nvPr/>
        </p:nvSpPr>
        <p:spPr bwMode="auto">
          <a:xfrm>
            <a:off x="3657600" y="3657600"/>
            <a:ext cx="1897063" cy="758825"/>
          </a:xfrm>
          <a:prstGeom prst="rect">
            <a:avLst/>
          </a:prstGeom>
          <a:gradFill rotWithShape="0">
            <a:gsLst>
              <a:gs pos="0">
                <a:srgbClr val="EC773C">
                  <a:gamma/>
                  <a:shade val="56078"/>
                  <a:invGamma/>
                </a:srgbClr>
              </a:gs>
              <a:gs pos="50000">
                <a:srgbClr val="EC773C"/>
              </a:gs>
              <a:gs pos="100000">
                <a:srgbClr val="EC773C">
                  <a:gamma/>
                  <a:shade val="56078"/>
                  <a:invGamma/>
                </a:srgbClr>
              </a:gs>
            </a:gsLst>
            <a:lin ang="2700000" scaled="1"/>
          </a:gradFill>
          <a:ln w="12700" algn="ctr">
            <a:solidFill>
              <a:srgbClr val="EC773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2000" b="1" dirty="0">
                <a:solidFill>
                  <a:srgbClr val="FFFFFF"/>
                </a:solidFill>
                <a:effectLst>
                  <a:outerShdw blurRad="38100" dist="38100" dir="2700000" algn="tl">
                    <a:srgbClr val="000000"/>
                  </a:outerShdw>
                </a:effectLst>
              </a:rPr>
              <a:t>Software</a:t>
            </a:r>
          </a:p>
        </p:txBody>
      </p:sp>
      <p:sp>
        <p:nvSpPr>
          <p:cNvPr id="20" name="Text Box 13"/>
          <p:cNvSpPr txBox="1">
            <a:spLocks noChangeArrowheads="1"/>
          </p:cNvSpPr>
          <p:nvPr/>
        </p:nvSpPr>
        <p:spPr bwMode="auto">
          <a:xfrm>
            <a:off x="4876800" y="2057400"/>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User</a:t>
            </a:r>
          </a:p>
        </p:txBody>
      </p:sp>
      <p:sp>
        <p:nvSpPr>
          <p:cNvPr id="21" name="Text Box 14"/>
          <p:cNvSpPr txBox="1">
            <a:spLocks noChangeArrowheads="1"/>
          </p:cNvSpPr>
          <p:nvPr/>
        </p:nvSpPr>
        <p:spPr bwMode="auto">
          <a:xfrm>
            <a:off x="3048000" y="5562600"/>
            <a:ext cx="12362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Hardware</a:t>
            </a:r>
          </a:p>
        </p:txBody>
      </p:sp>
      <p:sp>
        <p:nvSpPr>
          <p:cNvPr id="22" name="Text Box 15"/>
          <p:cNvSpPr txBox="1">
            <a:spLocks noChangeArrowheads="1"/>
          </p:cNvSpPr>
          <p:nvPr/>
        </p:nvSpPr>
        <p:spPr bwMode="auto">
          <a:xfrm>
            <a:off x="6096000" y="4724400"/>
            <a:ext cx="18133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1"/>
                </a:solidFill>
                <a:effectLst>
                  <a:outerShdw blurRad="38100" dist="38100" dir="2700000" algn="tl">
                    <a:srgbClr val="C0C0C0"/>
                  </a:outerShdw>
                </a:effectLst>
              </a:rPr>
              <a:t>Other software</a:t>
            </a:r>
          </a:p>
        </p:txBody>
      </p:sp>
      <p:sp>
        <p:nvSpPr>
          <p:cNvPr id="18" name="Slide Number Placeholder 5"/>
          <p:cNvSpPr>
            <a:spLocks noGrp="1"/>
          </p:cNvSpPr>
          <p:nvPr>
            <p:ph type="sldNum" sz="quarter" idx="12"/>
          </p:nvPr>
        </p:nvSpPr>
        <p:spPr/>
        <p:txBody>
          <a:bodyPr/>
          <a:lstStyle/>
          <a:p>
            <a:fld id="{BEF99EC7-2EE0-4F7C-90F5-C16EE1D5A168}" type="slidenum">
              <a:rPr lang="en-US"/>
              <a:pPr/>
              <a:t>17</a:t>
            </a:fld>
            <a:endParaRPr lang="en-US"/>
          </a:p>
        </p:txBody>
      </p:sp>
      <p:sp>
        <p:nvSpPr>
          <p:cNvPr id="452610" name="Rectangle 2"/>
          <p:cNvSpPr>
            <a:spLocks noGrp="1" noChangeArrowheads="1"/>
          </p:cNvSpPr>
          <p:nvPr>
            <p:ph type="title"/>
          </p:nvPr>
        </p:nvSpPr>
        <p:spPr/>
        <p:txBody>
          <a:bodyPr/>
          <a:lstStyle/>
          <a:p>
            <a:r>
              <a:rPr lang="en-US" sz="2800" dirty="0"/>
              <a:t>Characteristics of a good software?</a:t>
            </a:r>
          </a:p>
        </p:txBody>
      </p:sp>
      <p:pic>
        <p:nvPicPr>
          <p:cNvPr id="452612" name="Picture 4" descr="CLE diagram for MS Case study (text as outlines) copy"/>
          <p:cNvPicPr>
            <a:picLocks noChangeAspect="1" noChangeArrowheads="1"/>
          </p:cNvPicPr>
          <p:nvPr/>
        </p:nvPicPr>
        <p:blipFill>
          <a:blip r:embed="rId2">
            <a:clrChange>
              <a:clrFrom>
                <a:srgbClr val="FCFFFF"/>
              </a:clrFrom>
              <a:clrTo>
                <a:srgbClr val="FCFFFF">
                  <a:alpha val="0"/>
                </a:srgbClr>
              </a:clrTo>
            </a:clrChange>
            <a:extLst>
              <a:ext uri="{28A0092B-C50C-407E-A947-70E740481C1C}">
                <a14:useLocalDpi xmlns:a14="http://schemas.microsoft.com/office/drawing/2010/main" val="0"/>
              </a:ext>
            </a:extLst>
          </a:blip>
          <a:srcRect l="36420" r="41473" b="85323"/>
          <a:stretch>
            <a:fillRect/>
          </a:stretch>
        </p:blipFill>
        <p:spPr bwMode="auto">
          <a:xfrm>
            <a:off x="4119563" y="1835150"/>
            <a:ext cx="90963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2613" name="Picture 5" descr="PC running service"/>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b="8725"/>
          <a:stretch>
            <a:fillRect/>
          </a:stretch>
        </p:blipFill>
        <p:spPr bwMode="auto">
          <a:xfrm>
            <a:off x="1600200" y="4800600"/>
            <a:ext cx="14478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452614" name="Picture 6"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3400" y="267017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52615" name="Picture 7"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488954">
            <a:off x="3124200" y="4403725"/>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52616" name="Picture 8" descr="xmlwebservice"/>
          <p:cNvPicPr>
            <a:picLocks noChangeAspect="1" noChangeArrowheads="1"/>
          </p:cNvPicPr>
          <p:nvPr/>
        </p:nvPicPr>
        <p:blipFill>
          <a:blip r:embed="rId5">
            <a:clrChange>
              <a:clrFrom>
                <a:srgbClr val="08369A"/>
              </a:clrFrom>
              <a:clrTo>
                <a:srgbClr val="08369A">
                  <a:alpha val="0"/>
                </a:srgbClr>
              </a:clrTo>
            </a:clrChange>
            <a:extLst>
              <a:ext uri="{28A0092B-C50C-407E-A947-70E740481C1C}">
                <a14:useLocalDpi xmlns:a14="http://schemas.microsoft.com/office/drawing/2010/main" val="0"/>
              </a:ext>
            </a:extLst>
          </a:blip>
          <a:srcRect/>
          <a:stretch>
            <a:fillRect/>
          </a:stretch>
        </p:blipFill>
        <p:spPr bwMode="auto">
          <a:xfrm>
            <a:off x="6067425" y="5105400"/>
            <a:ext cx="101917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2617" name="Picture 9" descr="blue shadow arrow double head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777344">
            <a:off x="5582444" y="4402931"/>
            <a:ext cx="420688" cy="911225"/>
          </a:xfrm>
          <a:prstGeom prst="rect">
            <a:avLst/>
          </a:prstGeom>
          <a:noFill/>
          <a:extLst>
            <a:ext uri="{909E8E84-426E-40DD-AFC4-6F175D3DCCD1}">
              <a14:hiddenFill xmlns:a14="http://schemas.microsoft.com/office/drawing/2010/main">
                <a:solidFill>
                  <a:srgbClr val="FFFFFF"/>
                </a:solidFill>
              </a14:hiddenFill>
            </a:ext>
          </a:extLst>
        </p:spPr>
      </p:pic>
      <p:pic>
        <p:nvPicPr>
          <p:cNvPr id="452618" name="Picture 10" descr="Databases S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0" y="4191000"/>
            <a:ext cx="844550" cy="684213"/>
          </a:xfrm>
          <a:prstGeom prst="rect">
            <a:avLst/>
          </a:prstGeom>
          <a:noFill/>
          <a:extLst>
            <a:ext uri="{909E8E84-426E-40DD-AFC4-6F175D3DCCD1}">
              <a14:hiddenFill xmlns:a14="http://schemas.microsoft.com/office/drawing/2010/main">
                <a:solidFill>
                  <a:srgbClr val="FFFFFF"/>
                </a:solidFill>
              </a14:hiddenFill>
            </a:ext>
          </a:extLst>
        </p:spPr>
      </p:pic>
      <p:sp>
        <p:nvSpPr>
          <p:cNvPr id="452624" name="Text Box 16"/>
          <p:cNvSpPr txBox="1">
            <a:spLocks noChangeArrowheads="1"/>
          </p:cNvSpPr>
          <p:nvPr/>
        </p:nvSpPr>
        <p:spPr bwMode="auto">
          <a:xfrm>
            <a:off x="6477000" y="1358900"/>
            <a:ext cx="213231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srgbClr val="FF0303"/>
                </a:solidFill>
              </a:rPr>
              <a:t>Evolution</a:t>
            </a:r>
          </a:p>
          <a:p>
            <a:r>
              <a:rPr lang="en-US" sz="2400" b="1" dirty="0">
                <a:solidFill>
                  <a:srgbClr val="0000FF"/>
                </a:solidFill>
              </a:rPr>
              <a:t>Correctness</a:t>
            </a:r>
          </a:p>
          <a:p>
            <a:r>
              <a:rPr lang="en-US" sz="2400" b="1" dirty="0">
                <a:solidFill>
                  <a:srgbClr val="008000"/>
                </a:solidFill>
              </a:rPr>
              <a:t>Ease of use</a:t>
            </a:r>
          </a:p>
          <a:p>
            <a:r>
              <a:rPr lang="en-US" sz="2400" b="1" dirty="0">
                <a:solidFill>
                  <a:srgbClr val="F48D10"/>
                </a:solidFill>
              </a:rPr>
              <a:t>Efficiency</a:t>
            </a:r>
          </a:p>
          <a:p>
            <a:r>
              <a:rPr lang="en-US" sz="2400" b="1" dirty="0">
                <a:solidFill>
                  <a:srgbClr val="FF66CC"/>
                </a:solidFill>
              </a:rPr>
              <a:t>Compatibility</a:t>
            </a:r>
          </a:p>
          <a:p>
            <a:r>
              <a:rPr lang="en-US" sz="2400" b="1" dirty="0">
                <a:solidFill>
                  <a:srgbClr val="000000"/>
                </a:solidFill>
              </a:rPr>
              <a:t>………</a:t>
            </a:r>
          </a:p>
        </p:txBody>
      </p:sp>
      <p:sp>
        <p:nvSpPr>
          <p:cNvPr id="452625" name="Text Box 17"/>
          <p:cNvSpPr txBox="1">
            <a:spLocks noChangeArrowheads="1"/>
          </p:cNvSpPr>
          <p:nvPr/>
        </p:nvSpPr>
        <p:spPr bwMode="auto">
          <a:xfrm>
            <a:off x="4724400" y="6415088"/>
            <a:ext cx="2689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From a user’s view point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r>
              <a:rPr lang="en-US" sz="2800" dirty="0"/>
              <a:t>Characteristics of a good software?</a:t>
            </a:r>
          </a:p>
        </p:txBody>
      </p:sp>
      <p:sp>
        <p:nvSpPr>
          <p:cNvPr id="4" name="Content Placeholder 3"/>
          <p:cNvSpPr>
            <a:spLocks noGrp="1"/>
          </p:cNvSpPr>
          <p:nvPr>
            <p:ph idx="1"/>
          </p:nvPr>
        </p:nvSpPr>
        <p:spPr/>
        <p:txBody>
          <a:bodyPr/>
          <a:lstStyle/>
          <a:p>
            <a:r>
              <a:rPr lang="en-US" sz="2000" dirty="0"/>
              <a:t>A software should be:</a:t>
            </a:r>
          </a:p>
          <a:p>
            <a:pPr lvl="1"/>
            <a:r>
              <a:rPr lang="en-US" sz="2000" dirty="0"/>
              <a:t>Easy to be tested/verified</a:t>
            </a:r>
          </a:p>
          <a:p>
            <a:pPr lvl="1"/>
            <a:r>
              <a:rPr lang="en-US" sz="2000" dirty="0"/>
              <a:t>Easy to be debugged</a:t>
            </a:r>
          </a:p>
          <a:p>
            <a:pPr lvl="1"/>
            <a:r>
              <a:rPr lang="en-US" sz="2000" dirty="0"/>
              <a:t>Easy to find and fix bugs</a:t>
            </a:r>
          </a:p>
          <a:p>
            <a:pPr lvl="1"/>
            <a:r>
              <a:rPr lang="en-US" sz="2000" dirty="0"/>
              <a:t>Easy to add/modify functionalities</a:t>
            </a:r>
          </a:p>
          <a:p>
            <a:pPr lvl="1"/>
            <a:r>
              <a:rPr lang="en-US" sz="2000" dirty="0"/>
              <a:t>Ease to be (partially/entirely) reused</a:t>
            </a:r>
          </a:p>
        </p:txBody>
      </p:sp>
      <p:sp>
        <p:nvSpPr>
          <p:cNvPr id="11" name="Slide Number Placeholder 5"/>
          <p:cNvSpPr>
            <a:spLocks noGrp="1"/>
          </p:cNvSpPr>
          <p:nvPr>
            <p:ph type="sldNum" sz="quarter" idx="12"/>
          </p:nvPr>
        </p:nvSpPr>
        <p:spPr/>
        <p:txBody>
          <a:bodyPr/>
          <a:lstStyle/>
          <a:p>
            <a:fld id="{9C2E76A7-4EAF-4B19-9E4F-21924D13BAC1}" type="slidenum">
              <a:rPr lang="en-US" smtClean="0"/>
              <a:pPr/>
              <a:t>18</a:t>
            </a:fld>
            <a:endParaRPr lang="en-US"/>
          </a:p>
        </p:txBody>
      </p:sp>
      <p:sp>
        <p:nvSpPr>
          <p:cNvPr id="454664" name="Text Box 8"/>
          <p:cNvSpPr txBox="1">
            <a:spLocks noChangeArrowheads="1"/>
          </p:cNvSpPr>
          <p:nvPr/>
        </p:nvSpPr>
        <p:spPr bwMode="auto">
          <a:xfrm>
            <a:off x="4137025" y="6415088"/>
            <a:ext cx="40747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From a software engineer’s view point</a:t>
            </a:r>
          </a:p>
        </p:txBody>
      </p:sp>
      <p:sp>
        <p:nvSpPr>
          <p:cNvPr id="454665" name="Text Box 9"/>
          <p:cNvSpPr txBox="1">
            <a:spLocks noChangeArrowheads="1"/>
          </p:cNvSpPr>
          <p:nvPr/>
        </p:nvSpPr>
        <p:spPr bwMode="auto">
          <a:xfrm>
            <a:off x="1508125" y="5903913"/>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Software process</a:t>
            </a:r>
          </a:p>
        </p:txBody>
      </p:sp>
      <p:sp>
        <p:nvSpPr>
          <p:cNvPr id="4" name="Slide Number Placeholder 3"/>
          <p:cNvSpPr>
            <a:spLocks noGrp="1"/>
          </p:cNvSpPr>
          <p:nvPr>
            <p:ph type="sldNum" sz="quarter" idx="12"/>
          </p:nvPr>
        </p:nvSpPr>
        <p:spPr/>
        <p:txBody>
          <a:bodyPr/>
          <a:lstStyle/>
          <a:p>
            <a:fld id="{DED05017-923D-480E-B02E-B52739184DCA}" type="slidenum">
              <a:rPr lang="en-US" smtClean="0"/>
              <a:pPr/>
              <a:t>19</a:t>
            </a:fld>
            <a:endParaRPr lang="en-US"/>
          </a:p>
        </p:txBody>
      </p:sp>
      <p:pic>
        <p:nvPicPr>
          <p:cNvPr id="4812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7815" y="1368287"/>
            <a:ext cx="4381500"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905000" y="4490002"/>
            <a:ext cx="5753101" cy="861774"/>
          </a:xfrm>
          <a:prstGeom prst="rect">
            <a:avLst/>
          </a:prstGeom>
        </p:spPr>
        <p:txBody>
          <a:bodyPr wrap="square">
            <a:spAutoFit/>
          </a:bodyPr>
          <a:lstStyle/>
          <a:p>
            <a:pPr algn="ctr"/>
            <a:r>
              <a:rPr lang="en-US" dirty="0"/>
              <a:t>Software process</a:t>
            </a:r>
          </a:p>
          <a:p>
            <a:pPr marL="0" lvl="1" algn="ctr"/>
            <a:r>
              <a:rPr lang="en-US" sz="1600" i="1" dirty="0"/>
              <a:t>(Source: Roger S Pressman, </a:t>
            </a:r>
            <a:r>
              <a:rPr lang="en-US" sz="1600" i="1" dirty="0">
                <a:solidFill>
                  <a:schemeClr val="accent1"/>
                </a:solidFill>
              </a:rPr>
              <a:t>Software Engineering: </a:t>
            </a:r>
          </a:p>
          <a:p>
            <a:pPr marL="0" lvl="1" algn="ctr"/>
            <a:r>
              <a:rPr lang="en-US" sz="1600" i="1" dirty="0">
                <a:solidFill>
                  <a:schemeClr val="accent1"/>
                </a:solidFill>
              </a:rPr>
              <a:t>A Practitioner's Approach (7</a:t>
            </a:r>
            <a:r>
              <a:rPr lang="en-US" sz="1600" i="1" baseline="30000" dirty="0">
                <a:solidFill>
                  <a:schemeClr val="accent1"/>
                </a:solidFill>
              </a:rPr>
              <a:t>th</a:t>
            </a:r>
            <a:r>
              <a:rPr lang="en-US" sz="1600" i="1" dirty="0">
                <a:solidFill>
                  <a:schemeClr val="accent1"/>
                </a:solidFill>
              </a:rPr>
              <a:t> Edition)</a:t>
            </a:r>
            <a:r>
              <a:rPr lang="en-US" sz="1600" i="1" dirty="0"/>
              <a:t>, McGraw-Hill, 2009)</a:t>
            </a:r>
          </a:p>
        </p:txBody>
      </p:sp>
    </p:spTree>
    <p:extLst>
      <p:ext uri="{BB962C8B-B14F-4D97-AF65-F5344CB8AC3E}">
        <p14:creationId xmlns:p14="http://schemas.microsoft.com/office/powerpoint/2010/main" val="2763692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5"/>
          <p:cNvSpPr>
            <a:spLocks noGrp="1"/>
          </p:cNvSpPr>
          <p:nvPr>
            <p:ph type="sldNum" sz="quarter" idx="12"/>
          </p:nvPr>
        </p:nvSpPr>
        <p:spPr/>
        <p:txBody>
          <a:bodyPr/>
          <a:lstStyle/>
          <a:p>
            <a:fld id="{64456EC8-1CC3-4224-A271-766648B926CF}" type="slidenum">
              <a:rPr lang="en-US"/>
              <a:pPr/>
              <a:t>20</a:t>
            </a:fld>
            <a:endParaRPr lang="en-US"/>
          </a:p>
        </p:txBody>
      </p:sp>
      <p:sp>
        <p:nvSpPr>
          <p:cNvPr id="471042" name="Rectangle 2"/>
          <p:cNvSpPr>
            <a:spLocks noGrp="1" noChangeArrowheads="1"/>
          </p:cNvSpPr>
          <p:nvPr>
            <p:ph type="title"/>
          </p:nvPr>
        </p:nvSpPr>
        <p:spPr/>
        <p:txBody>
          <a:bodyPr/>
          <a:lstStyle/>
          <a:p>
            <a:r>
              <a:rPr lang="en-US" sz="2800" dirty="0"/>
              <a:t>Waterfall model (linear sequential model)</a:t>
            </a:r>
          </a:p>
        </p:txBody>
      </p:sp>
      <p:pic>
        <p:nvPicPr>
          <p:cNvPr id="4823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4000"/>
            <a:ext cx="7658100" cy="340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Rectangle 23"/>
          <p:cNvSpPr/>
          <p:nvPr/>
        </p:nvSpPr>
        <p:spPr>
          <a:xfrm>
            <a:off x="1905000" y="5081826"/>
            <a:ext cx="5753101" cy="861774"/>
          </a:xfrm>
          <a:prstGeom prst="rect">
            <a:avLst/>
          </a:prstGeom>
        </p:spPr>
        <p:txBody>
          <a:bodyPr wrap="square">
            <a:spAutoFit/>
          </a:bodyPr>
          <a:lstStyle/>
          <a:p>
            <a:pPr algn="ctr"/>
            <a:r>
              <a:rPr lang="en-US" dirty="0"/>
              <a:t>Linear sequential model</a:t>
            </a:r>
          </a:p>
          <a:p>
            <a:pPr marL="0" lvl="1" algn="ctr"/>
            <a:r>
              <a:rPr lang="en-US" sz="1600" i="1" dirty="0"/>
              <a:t>(Source: Roger S Pressman, </a:t>
            </a:r>
            <a:r>
              <a:rPr lang="en-US" sz="1600" i="1" dirty="0">
                <a:solidFill>
                  <a:schemeClr val="accent1"/>
                </a:solidFill>
              </a:rPr>
              <a:t>Software Engineering: </a:t>
            </a:r>
          </a:p>
          <a:p>
            <a:pPr marL="0" lvl="1" algn="ctr"/>
            <a:r>
              <a:rPr lang="en-US" sz="1600" i="1" dirty="0">
                <a:solidFill>
                  <a:schemeClr val="accent1"/>
                </a:solidFill>
              </a:rPr>
              <a:t>A Practitioner's Approach (7</a:t>
            </a:r>
            <a:r>
              <a:rPr lang="en-US" sz="1600" i="1" baseline="30000" dirty="0">
                <a:solidFill>
                  <a:schemeClr val="accent1"/>
                </a:solidFill>
              </a:rPr>
              <a:t>th</a:t>
            </a:r>
            <a:r>
              <a:rPr lang="en-US" sz="1600" i="1" dirty="0">
                <a:solidFill>
                  <a:schemeClr val="accent1"/>
                </a:solidFill>
              </a:rPr>
              <a:t> Edition)</a:t>
            </a:r>
            <a:r>
              <a:rPr lang="en-US" sz="1600" i="1" dirty="0"/>
              <a:t>, McGraw-Hill, 2009)</a:t>
            </a:r>
          </a:p>
        </p:txBody>
      </p:sp>
    </p:spTree>
    <p:extLst>
      <p:ext uri="{BB962C8B-B14F-4D97-AF65-F5344CB8AC3E}">
        <p14:creationId xmlns:p14="http://schemas.microsoft.com/office/powerpoint/2010/main" val="3315460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5"/>
          <p:cNvSpPr>
            <a:spLocks noGrp="1"/>
          </p:cNvSpPr>
          <p:nvPr>
            <p:ph type="sldNum" sz="quarter" idx="12"/>
          </p:nvPr>
        </p:nvSpPr>
        <p:spPr/>
        <p:txBody>
          <a:bodyPr/>
          <a:lstStyle/>
          <a:p>
            <a:fld id="{64456EC8-1CC3-4224-A271-766648B926CF}" type="slidenum">
              <a:rPr lang="en-US"/>
              <a:pPr/>
              <a:t>21</a:t>
            </a:fld>
            <a:endParaRPr lang="en-US"/>
          </a:p>
        </p:txBody>
      </p:sp>
      <p:sp>
        <p:nvSpPr>
          <p:cNvPr id="471042" name="Rectangle 2"/>
          <p:cNvSpPr>
            <a:spLocks noGrp="1" noChangeArrowheads="1"/>
          </p:cNvSpPr>
          <p:nvPr>
            <p:ph type="title"/>
          </p:nvPr>
        </p:nvSpPr>
        <p:spPr/>
        <p:txBody>
          <a:bodyPr/>
          <a:lstStyle/>
          <a:p>
            <a:r>
              <a:rPr lang="en-US" sz="2800" dirty="0"/>
              <a:t>Waterfall model (linear sequential model)</a:t>
            </a:r>
          </a:p>
        </p:txBody>
      </p:sp>
      <p:sp>
        <p:nvSpPr>
          <p:cNvPr id="471043" name="Rectangle 3"/>
          <p:cNvSpPr>
            <a:spLocks noChangeArrowheads="1"/>
          </p:cNvSpPr>
          <p:nvPr/>
        </p:nvSpPr>
        <p:spPr bwMode="auto">
          <a:xfrm>
            <a:off x="1371600" y="2111375"/>
            <a:ext cx="1524000" cy="533400"/>
          </a:xfrm>
          <a:prstGeom prst="rect">
            <a:avLst/>
          </a:prstGeom>
          <a:gradFill rotWithShape="1">
            <a:gsLst>
              <a:gs pos="0">
                <a:srgbClr val="F48D10">
                  <a:gamma/>
                  <a:tint val="57647"/>
                  <a:invGamma/>
                </a:srgbClr>
              </a:gs>
              <a:gs pos="50000">
                <a:srgbClr val="F48D10">
                  <a:alpha val="20000"/>
                </a:srgbClr>
              </a:gs>
              <a:gs pos="100000">
                <a:srgbClr val="F48D10">
                  <a:gamma/>
                  <a:tint val="57647"/>
                  <a:invGamma/>
                </a:srgbClr>
              </a:gs>
            </a:gsLst>
            <a:lin ang="5400000" scaled="1"/>
          </a:gradFill>
          <a:ln w="9525" algn="ctr">
            <a:solidFill>
              <a:srgbClr val="F48D1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Requirement</a:t>
            </a:r>
          </a:p>
        </p:txBody>
      </p:sp>
      <p:sp>
        <p:nvSpPr>
          <p:cNvPr id="471044" name="Rectangle 4"/>
          <p:cNvSpPr>
            <a:spLocks noChangeArrowheads="1"/>
          </p:cNvSpPr>
          <p:nvPr/>
        </p:nvSpPr>
        <p:spPr bwMode="auto">
          <a:xfrm>
            <a:off x="2667000" y="2797175"/>
            <a:ext cx="1524000" cy="533400"/>
          </a:xfrm>
          <a:prstGeom prst="rect">
            <a:avLst/>
          </a:prstGeom>
          <a:gradFill rotWithShape="1">
            <a:gsLst>
              <a:gs pos="0">
                <a:srgbClr val="FFFF00">
                  <a:gamma/>
                  <a:tint val="57647"/>
                  <a:invGamma/>
                </a:srgbClr>
              </a:gs>
              <a:gs pos="50000">
                <a:srgbClr val="FFFF00">
                  <a:alpha val="20000"/>
                </a:srgbClr>
              </a:gs>
              <a:gs pos="100000">
                <a:srgbClr val="FFFF00">
                  <a:gamma/>
                  <a:tint val="57647"/>
                  <a:invGamma/>
                </a:srgbClr>
              </a:gs>
            </a:gsLst>
            <a:lin ang="5400000" scaled="1"/>
          </a:gradFill>
          <a:ln w="9525"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Analysis</a:t>
            </a:r>
          </a:p>
        </p:txBody>
      </p:sp>
      <p:sp>
        <p:nvSpPr>
          <p:cNvPr id="471045" name="Rectangle 5"/>
          <p:cNvSpPr>
            <a:spLocks noChangeArrowheads="1"/>
          </p:cNvSpPr>
          <p:nvPr/>
        </p:nvSpPr>
        <p:spPr bwMode="auto">
          <a:xfrm>
            <a:off x="3886200" y="3482975"/>
            <a:ext cx="1524000" cy="533400"/>
          </a:xfrm>
          <a:prstGeom prst="rect">
            <a:avLst/>
          </a:prstGeom>
          <a:gradFill rotWithShape="1">
            <a:gsLst>
              <a:gs pos="0">
                <a:srgbClr val="008000">
                  <a:gamma/>
                  <a:tint val="57647"/>
                  <a:invGamma/>
                </a:srgbClr>
              </a:gs>
              <a:gs pos="50000">
                <a:srgbClr val="008000">
                  <a:alpha val="20000"/>
                </a:srgbClr>
              </a:gs>
              <a:gs pos="100000">
                <a:srgbClr val="008000">
                  <a:gamma/>
                  <a:tint val="57647"/>
                  <a:invGamma/>
                </a:srgbClr>
              </a:gs>
            </a:gsLst>
            <a:lin ang="5400000" scaled="1"/>
          </a:gradFill>
          <a:ln w="9525"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Design</a:t>
            </a:r>
          </a:p>
        </p:txBody>
      </p:sp>
      <p:sp>
        <p:nvSpPr>
          <p:cNvPr id="471046" name="Rectangle 6"/>
          <p:cNvSpPr>
            <a:spLocks noChangeArrowheads="1"/>
          </p:cNvSpPr>
          <p:nvPr/>
        </p:nvSpPr>
        <p:spPr bwMode="auto">
          <a:xfrm>
            <a:off x="5105400" y="4168775"/>
            <a:ext cx="1524000" cy="533400"/>
          </a:xfrm>
          <a:prstGeom prst="rect">
            <a:avLst/>
          </a:prstGeom>
          <a:gradFill rotWithShape="1">
            <a:gsLst>
              <a:gs pos="0">
                <a:srgbClr val="0099FF">
                  <a:gamma/>
                  <a:tint val="57647"/>
                  <a:invGamma/>
                </a:srgbClr>
              </a:gs>
              <a:gs pos="50000">
                <a:srgbClr val="0099FF">
                  <a:alpha val="20000"/>
                </a:srgbClr>
              </a:gs>
              <a:gs pos="100000">
                <a:srgbClr val="0099FF">
                  <a:gamma/>
                  <a:tint val="57647"/>
                  <a:invGamma/>
                </a:srgbClr>
              </a:gs>
            </a:gsLst>
            <a:lin ang="5400000" scaled="1"/>
          </a:gradFill>
          <a:ln w="9525" algn="ctr">
            <a:solidFill>
              <a:srgbClr val="0099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Implementation</a:t>
            </a:r>
          </a:p>
        </p:txBody>
      </p:sp>
      <p:sp>
        <p:nvSpPr>
          <p:cNvPr id="471047" name="Rectangle 7"/>
          <p:cNvSpPr>
            <a:spLocks noChangeArrowheads="1"/>
          </p:cNvSpPr>
          <p:nvPr/>
        </p:nvSpPr>
        <p:spPr bwMode="auto">
          <a:xfrm>
            <a:off x="5943600" y="4854575"/>
            <a:ext cx="1981200" cy="533400"/>
          </a:xfrm>
          <a:prstGeom prst="rect">
            <a:avLst/>
          </a:prstGeom>
          <a:gradFill rotWithShape="1">
            <a:gsLst>
              <a:gs pos="0">
                <a:srgbClr val="6666FF">
                  <a:gamma/>
                  <a:tint val="57647"/>
                  <a:invGamma/>
                </a:srgbClr>
              </a:gs>
              <a:gs pos="50000">
                <a:srgbClr val="6666FF">
                  <a:alpha val="20000"/>
                </a:srgbClr>
              </a:gs>
              <a:gs pos="100000">
                <a:srgbClr val="6666FF">
                  <a:gamma/>
                  <a:tint val="57647"/>
                  <a:invGamma/>
                </a:srgbClr>
              </a:gs>
            </a:gsLst>
            <a:lin ang="5400000" scaled="1"/>
          </a:gradFill>
          <a:ln w="9525" algn="ctr">
            <a:solidFill>
              <a:srgbClr val="6666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Testing/verification</a:t>
            </a:r>
          </a:p>
        </p:txBody>
      </p:sp>
      <p:sp>
        <p:nvSpPr>
          <p:cNvPr id="471048" name="Rectangle 8"/>
          <p:cNvSpPr>
            <a:spLocks noChangeArrowheads="1"/>
          </p:cNvSpPr>
          <p:nvPr/>
        </p:nvSpPr>
        <p:spPr bwMode="auto">
          <a:xfrm>
            <a:off x="7620000" y="5540375"/>
            <a:ext cx="1524000" cy="533400"/>
          </a:xfrm>
          <a:prstGeom prst="rect">
            <a:avLst/>
          </a:prstGeom>
          <a:gradFill rotWithShape="1">
            <a:gsLst>
              <a:gs pos="0">
                <a:srgbClr val="FF66CC">
                  <a:gamma/>
                  <a:tint val="57647"/>
                  <a:invGamma/>
                </a:srgbClr>
              </a:gs>
              <a:gs pos="50000">
                <a:srgbClr val="FF66CC">
                  <a:alpha val="20000"/>
                </a:srgbClr>
              </a:gs>
              <a:gs pos="100000">
                <a:srgbClr val="FF66CC">
                  <a:gamma/>
                  <a:tint val="57647"/>
                  <a:invGamma/>
                </a:srgbClr>
              </a:gs>
            </a:gsLst>
            <a:lin ang="5400000" scaled="1"/>
          </a:gradFill>
          <a:ln w="9525" algn="ctr">
            <a:solidFill>
              <a:srgbClr val="FF66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Deployment</a:t>
            </a:r>
          </a:p>
        </p:txBody>
      </p:sp>
      <p:sp>
        <p:nvSpPr>
          <p:cNvPr id="471049" name="AutoShape 9"/>
          <p:cNvSpPr>
            <a:spLocks noChangeArrowheads="1"/>
          </p:cNvSpPr>
          <p:nvPr/>
        </p:nvSpPr>
        <p:spPr bwMode="auto">
          <a:xfrm>
            <a:off x="1828800" y="17303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FF0000"/>
              </a:gs>
              <a:gs pos="100000">
                <a:schemeClr val="folHlink"/>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1050" name="AutoShape 10"/>
          <p:cNvSpPr>
            <a:spLocks noChangeArrowheads="1"/>
          </p:cNvSpPr>
          <p:nvPr/>
        </p:nvSpPr>
        <p:spPr bwMode="auto">
          <a:xfrm>
            <a:off x="4267200" y="31019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FFFF00"/>
              </a:gs>
              <a:gs pos="100000">
                <a:srgbClr val="008000"/>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1051" name="AutoShape 11"/>
          <p:cNvSpPr>
            <a:spLocks noChangeArrowheads="1"/>
          </p:cNvSpPr>
          <p:nvPr/>
        </p:nvSpPr>
        <p:spPr bwMode="auto">
          <a:xfrm>
            <a:off x="5486400" y="37877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008000"/>
              </a:gs>
              <a:gs pos="100000">
                <a:srgbClr val="0099FF"/>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1052" name="AutoShape 12"/>
          <p:cNvSpPr>
            <a:spLocks noChangeArrowheads="1"/>
          </p:cNvSpPr>
          <p:nvPr/>
        </p:nvSpPr>
        <p:spPr bwMode="auto">
          <a:xfrm>
            <a:off x="6705600" y="44735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33CCFF"/>
              </a:gs>
              <a:gs pos="100000">
                <a:srgbClr val="6666FF"/>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1053" name="AutoShape 13"/>
          <p:cNvSpPr>
            <a:spLocks noChangeArrowheads="1"/>
          </p:cNvSpPr>
          <p:nvPr/>
        </p:nvSpPr>
        <p:spPr bwMode="auto">
          <a:xfrm>
            <a:off x="8001000" y="51593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6666FF"/>
              </a:gs>
              <a:gs pos="100000">
                <a:srgbClr val="FF66CC"/>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1054" name="Rectangle 14"/>
          <p:cNvSpPr>
            <a:spLocks noChangeArrowheads="1"/>
          </p:cNvSpPr>
          <p:nvPr/>
        </p:nvSpPr>
        <p:spPr bwMode="auto">
          <a:xfrm>
            <a:off x="228600" y="1425575"/>
            <a:ext cx="1524000" cy="533400"/>
          </a:xfrm>
          <a:prstGeom prst="rect">
            <a:avLst/>
          </a:prstGeom>
          <a:gradFill rotWithShape="1">
            <a:gsLst>
              <a:gs pos="0">
                <a:srgbClr val="FF0000">
                  <a:gamma/>
                  <a:tint val="57647"/>
                  <a:invGamma/>
                </a:srgbClr>
              </a:gs>
              <a:gs pos="50000">
                <a:srgbClr val="FF0000">
                  <a:alpha val="20000"/>
                </a:srgbClr>
              </a:gs>
              <a:gs pos="100000">
                <a:srgbClr val="FF0000">
                  <a:gamma/>
                  <a:tint val="57647"/>
                  <a:invGamma/>
                </a:srgbClr>
              </a:gs>
            </a:gsLst>
            <a:lin ang="5400000" scaled="1"/>
          </a:gra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Feasibility </a:t>
            </a:r>
          </a:p>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study</a:t>
            </a:r>
          </a:p>
        </p:txBody>
      </p:sp>
      <p:sp>
        <p:nvSpPr>
          <p:cNvPr id="471055" name="AutoShape 15"/>
          <p:cNvSpPr>
            <a:spLocks noChangeArrowheads="1"/>
          </p:cNvSpPr>
          <p:nvPr/>
        </p:nvSpPr>
        <p:spPr bwMode="auto">
          <a:xfrm>
            <a:off x="2971800" y="24161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chemeClr val="folHlink"/>
              </a:gs>
              <a:gs pos="100000">
                <a:srgbClr val="FFFF00"/>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1059" name="Rectangle 19"/>
          <p:cNvSpPr>
            <a:spLocks noChangeArrowheads="1"/>
          </p:cNvSpPr>
          <p:nvPr/>
        </p:nvSpPr>
        <p:spPr bwMode="auto">
          <a:xfrm>
            <a:off x="1828800" y="1143000"/>
            <a:ext cx="2971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dirty="0">
                <a:solidFill>
                  <a:srgbClr val="000000"/>
                </a:solidFill>
              </a:rPr>
              <a:t>Activities in the real world</a:t>
            </a:r>
          </a:p>
        </p:txBody>
      </p:sp>
      <p:sp>
        <p:nvSpPr>
          <p:cNvPr id="471060" name="Rectangle 20"/>
          <p:cNvSpPr>
            <a:spLocks noChangeArrowheads="1"/>
          </p:cNvSpPr>
          <p:nvPr/>
        </p:nvSpPr>
        <p:spPr bwMode="auto">
          <a:xfrm>
            <a:off x="2971800" y="1981200"/>
            <a:ext cx="16209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Requirements</a:t>
            </a:r>
          </a:p>
        </p:txBody>
      </p:sp>
      <p:sp>
        <p:nvSpPr>
          <p:cNvPr id="471061" name="Rectangle 21"/>
          <p:cNvSpPr>
            <a:spLocks noChangeArrowheads="1"/>
          </p:cNvSpPr>
          <p:nvPr/>
        </p:nvSpPr>
        <p:spPr bwMode="auto">
          <a:xfrm>
            <a:off x="4267200" y="2667000"/>
            <a:ext cx="26212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Models in the real world</a:t>
            </a:r>
          </a:p>
        </p:txBody>
      </p:sp>
      <p:sp>
        <p:nvSpPr>
          <p:cNvPr id="471062" name="Rectangle 22"/>
          <p:cNvSpPr>
            <a:spLocks noChangeArrowheads="1"/>
          </p:cNvSpPr>
          <p:nvPr/>
        </p:nvSpPr>
        <p:spPr bwMode="auto">
          <a:xfrm>
            <a:off x="5410200" y="3290888"/>
            <a:ext cx="23006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Models in a software</a:t>
            </a:r>
          </a:p>
        </p:txBody>
      </p:sp>
      <p:sp>
        <p:nvSpPr>
          <p:cNvPr id="471063" name="Rectangle 23"/>
          <p:cNvSpPr>
            <a:spLocks noChangeArrowheads="1"/>
          </p:cNvSpPr>
          <p:nvPr/>
        </p:nvSpPr>
        <p:spPr bwMode="auto">
          <a:xfrm>
            <a:off x="6705600" y="4038600"/>
            <a:ext cx="10951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Software</a:t>
            </a:r>
          </a:p>
        </p:txBody>
      </p:sp>
      <p:sp>
        <p:nvSpPr>
          <p:cNvPr id="471064" name="Rectangle 24"/>
          <p:cNvSpPr>
            <a:spLocks noChangeArrowheads="1"/>
          </p:cNvSpPr>
          <p:nvPr/>
        </p:nvSpPr>
        <p:spPr bwMode="auto">
          <a:xfrm>
            <a:off x="7620000" y="4464050"/>
            <a:ext cx="14414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0000"/>
                </a:solidFill>
              </a:rPr>
              <a:t>High quality</a:t>
            </a:r>
          </a:p>
          <a:p>
            <a:r>
              <a:rPr lang="en-US" dirty="0">
                <a:solidFill>
                  <a:srgbClr val="000000"/>
                </a:solidFill>
              </a:rPr>
              <a:t>     software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49"/>
                                        </p:tgtEl>
                                        <p:attrNameLst>
                                          <p:attrName>style.visibility</p:attrName>
                                        </p:attrNameLst>
                                      </p:cBhvr>
                                      <p:to>
                                        <p:strVal val="visible"/>
                                      </p:to>
                                    </p:set>
                                    <p:animEffect transition="in" filter="wipe(left)">
                                      <p:cBhvr>
                                        <p:cTn id="7" dur="500"/>
                                        <p:tgtEl>
                                          <p:spTgt spid="471049"/>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71059"/>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471055"/>
                                        </p:tgtEl>
                                        <p:attrNameLst>
                                          <p:attrName>style.visibility</p:attrName>
                                        </p:attrNameLst>
                                      </p:cBhvr>
                                      <p:to>
                                        <p:strVal val="visible"/>
                                      </p:to>
                                    </p:set>
                                    <p:animEffect transition="in" filter="wipe(left)">
                                      <p:cBhvr>
                                        <p:cTn id="14" dur="500"/>
                                        <p:tgtEl>
                                          <p:spTgt spid="471055"/>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47106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71050"/>
                                        </p:tgtEl>
                                        <p:attrNameLst>
                                          <p:attrName>style.visibility</p:attrName>
                                        </p:attrNameLst>
                                      </p:cBhvr>
                                      <p:to>
                                        <p:strVal val="visible"/>
                                      </p:to>
                                    </p:set>
                                    <p:animEffect transition="in" filter="wipe(left)">
                                      <p:cBhvr>
                                        <p:cTn id="21" dur="500"/>
                                        <p:tgtEl>
                                          <p:spTgt spid="471050"/>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47106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71051"/>
                                        </p:tgtEl>
                                        <p:attrNameLst>
                                          <p:attrName>style.visibility</p:attrName>
                                        </p:attrNameLst>
                                      </p:cBhvr>
                                      <p:to>
                                        <p:strVal val="visible"/>
                                      </p:to>
                                    </p:set>
                                    <p:animEffect transition="in" filter="wipe(left)">
                                      <p:cBhvr>
                                        <p:cTn id="28" dur="500"/>
                                        <p:tgtEl>
                                          <p:spTgt spid="471051"/>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47106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71052"/>
                                        </p:tgtEl>
                                        <p:attrNameLst>
                                          <p:attrName>style.visibility</p:attrName>
                                        </p:attrNameLst>
                                      </p:cBhvr>
                                      <p:to>
                                        <p:strVal val="visible"/>
                                      </p:to>
                                    </p:set>
                                    <p:animEffect transition="in" filter="wipe(left)">
                                      <p:cBhvr>
                                        <p:cTn id="35" dur="500"/>
                                        <p:tgtEl>
                                          <p:spTgt spid="471052"/>
                                        </p:tgtEl>
                                      </p:cBhvr>
                                    </p:animEffect>
                                  </p:childTnLst>
                                </p:cTn>
                              </p:par>
                              <p:par>
                                <p:cTn id="36" presetID="1" presetClass="entr" presetSubtype="0" fill="hold" grpId="0" nodeType="withEffect">
                                  <p:stCondLst>
                                    <p:cond delay="0"/>
                                  </p:stCondLst>
                                  <p:childTnLst>
                                    <p:set>
                                      <p:cBhvr>
                                        <p:cTn id="37" dur="1" fill="hold">
                                          <p:stCondLst>
                                            <p:cond delay="0"/>
                                          </p:stCondLst>
                                        </p:cTn>
                                        <p:tgtEl>
                                          <p:spTgt spid="471063"/>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71053"/>
                                        </p:tgtEl>
                                        <p:attrNameLst>
                                          <p:attrName>style.visibility</p:attrName>
                                        </p:attrNameLst>
                                      </p:cBhvr>
                                      <p:to>
                                        <p:strVal val="visible"/>
                                      </p:to>
                                    </p:set>
                                    <p:animEffect transition="in" filter="wipe(left)">
                                      <p:cBhvr>
                                        <p:cTn id="42" dur="500"/>
                                        <p:tgtEl>
                                          <p:spTgt spid="471053"/>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4710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9" grpId="0" animBg="1"/>
      <p:bldP spid="471050" grpId="0" animBg="1"/>
      <p:bldP spid="471051" grpId="0" animBg="1"/>
      <p:bldP spid="471052" grpId="0" animBg="1"/>
      <p:bldP spid="471053" grpId="0" animBg="1"/>
      <p:bldP spid="471055" grpId="0" animBg="1"/>
      <p:bldP spid="471059" grpId="0"/>
      <p:bldP spid="471060" grpId="0"/>
      <p:bldP spid="471061" grpId="0"/>
      <p:bldP spid="471062" grpId="0"/>
      <p:bldP spid="471063" grpId="0"/>
      <p:bldP spid="47106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Waterfall model (linear sequential model)</a:t>
            </a:r>
          </a:p>
        </p:txBody>
      </p:sp>
      <p:sp>
        <p:nvSpPr>
          <p:cNvPr id="4" name="Slide Number Placeholder 3"/>
          <p:cNvSpPr>
            <a:spLocks noGrp="1"/>
          </p:cNvSpPr>
          <p:nvPr>
            <p:ph type="sldNum" sz="quarter" idx="12"/>
          </p:nvPr>
        </p:nvSpPr>
        <p:spPr/>
        <p:txBody>
          <a:bodyPr/>
          <a:lstStyle/>
          <a:p>
            <a:fld id="{DED05017-923D-480E-B02E-B52739184DCA}" type="slidenum">
              <a:rPr lang="en-US" smtClean="0"/>
              <a:pPr/>
              <a:t>22</a:t>
            </a:fld>
            <a:endParaRPr lang="en-US"/>
          </a:p>
        </p:txBody>
      </p:sp>
      <p:pic>
        <p:nvPicPr>
          <p:cNvPr id="4833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371600"/>
            <a:ext cx="8315325" cy="461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295400" y="5786160"/>
            <a:ext cx="6324600" cy="923330"/>
          </a:xfrm>
          <a:prstGeom prst="rect">
            <a:avLst/>
          </a:prstGeom>
        </p:spPr>
        <p:txBody>
          <a:bodyPr wrap="square">
            <a:spAutoFit/>
          </a:bodyPr>
          <a:lstStyle/>
          <a:p>
            <a:pPr marL="0" indent="0" algn="ctr">
              <a:buNone/>
            </a:pPr>
            <a:r>
              <a:rPr lang="en-US" dirty="0"/>
              <a:t>(Revised) waterfall software process model</a:t>
            </a:r>
          </a:p>
          <a:p>
            <a:pPr marL="0" indent="0" algn="ctr">
              <a:buNone/>
            </a:pPr>
            <a:r>
              <a:rPr lang="en-US" i="1" dirty="0"/>
              <a:t>(Ian </a:t>
            </a:r>
            <a:r>
              <a:rPr lang="en-US" i="1" dirty="0" err="1"/>
              <a:t>Sommerville</a:t>
            </a:r>
            <a:r>
              <a:rPr lang="en-US" i="1" dirty="0"/>
              <a:t>, </a:t>
            </a:r>
            <a:r>
              <a:rPr lang="en-US" i="1" dirty="0">
                <a:solidFill>
                  <a:schemeClr val="accent1"/>
                </a:solidFill>
              </a:rPr>
              <a:t>Software Engineering (9th Edition)</a:t>
            </a:r>
            <a:r>
              <a:rPr lang="en-US" i="1" dirty="0"/>
              <a:t>, Addison Wesley, 2010</a:t>
            </a:r>
            <a:r>
              <a:rPr lang="en-US" dirty="0"/>
              <a:t>)</a:t>
            </a:r>
          </a:p>
        </p:txBody>
      </p:sp>
    </p:spTree>
    <p:extLst>
      <p:ext uri="{BB962C8B-B14F-4D97-AF65-F5344CB8AC3E}">
        <p14:creationId xmlns:p14="http://schemas.microsoft.com/office/powerpoint/2010/main" val="1028250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5"/>
          <p:cNvSpPr>
            <a:spLocks noGrp="1"/>
          </p:cNvSpPr>
          <p:nvPr>
            <p:ph type="sldNum" sz="quarter" idx="12"/>
          </p:nvPr>
        </p:nvSpPr>
        <p:spPr/>
        <p:txBody>
          <a:bodyPr/>
          <a:lstStyle/>
          <a:p>
            <a:fld id="{C9ADEC2C-9D42-42F1-8F66-F1F010DE104C}" type="slidenum">
              <a:rPr lang="en-US"/>
              <a:pPr/>
              <a:t>23</a:t>
            </a:fld>
            <a:endParaRPr lang="en-US"/>
          </a:p>
        </p:txBody>
      </p:sp>
      <p:sp>
        <p:nvSpPr>
          <p:cNvPr id="477186" name="Rectangle 2"/>
          <p:cNvSpPr>
            <a:spLocks noGrp="1" noChangeArrowheads="1"/>
          </p:cNvSpPr>
          <p:nvPr>
            <p:ph type="title"/>
          </p:nvPr>
        </p:nvSpPr>
        <p:spPr/>
        <p:txBody>
          <a:bodyPr/>
          <a:lstStyle/>
          <a:p>
            <a:r>
              <a:rPr lang="en-US" sz="2800" dirty="0"/>
              <a:t>Waterfall model (linear sequential model)</a:t>
            </a:r>
          </a:p>
        </p:txBody>
      </p:sp>
      <p:sp>
        <p:nvSpPr>
          <p:cNvPr id="477193" name="AutoShape 9"/>
          <p:cNvSpPr>
            <a:spLocks noChangeArrowheads="1"/>
          </p:cNvSpPr>
          <p:nvPr/>
        </p:nvSpPr>
        <p:spPr bwMode="auto">
          <a:xfrm>
            <a:off x="1828800" y="17303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FF0000"/>
              </a:gs>
              <a:gs pos="100000">
                <a:schemeClr val="folHlink"/>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7194" name="AutoShape 10"/>
          <p:cNvSpPr>
            <a:spLocks noChangeArrowheads="1"/>
          </p:cNvSpPr>
          <p:nvPr/>
        </p:nvSpPr>
        <p:spPr bwMode="auto">
          <a:xfrm>
            <a:off x="4267200" y="31019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FFFF00"/>
              </a:gs>
              <a:gs pos="100000">
                <a:srgbClr val="008000"/>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7195" name="AutoShape 11"/>
          <p:cNvSpPr>
            <a:spLocks noChangeArrowheads="1"/>
          </p:cNvSpPr>
          <p:nvPr/>
        </p:nvSpPr>
        <p:spPr bwMode="auto">
          <a:xfrm>
            <a:off x="5486400" y="37877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008000"/>
              </a:gs>
              <a:gs pos="100000">
                <a:srgbClr val="0099FF"/>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7196" name="AutoShape 12"/>
          <p:cNvSpPr>
            <a:spLocks noChangeArrowheads="1"/>
          </p:cNvSpPr>
          <p:nvPr/>
        </p:nvSpPr>
        <p:spPr bwMode="auto">
          <a:xfrm>
            <a:off x="6705600" y="44735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33CCFF"/>
              </a:gs>
              <a:gs pos="100000">
                <a:srgbClr val="6666FF"/>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7197" name="AutoShape 13"/>
          <p:cNvSpPr>
            <a:spLocks noChangeArrowheads="1"/>
          </p:cNvSpPr>
          <p:nvPr/>
        </p:nvSpPr>
        <p:spPr bwMode="auto">
          <a:xfrm>
            <a:off x="8001000" y="51593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6666FF"/>
              </a:gs>
              <a:gs pos="100000">
                <a:srgbClr val="FF66CC"/>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7199" name="AutoShape 15"/>
          <p:cNvSpPr>
            <a:spLocks noChangeArrowheads="1"/>
          </p:cNvSpPr>
          <p:nvPr/>
        </p:nvSpPr>
        <p:spPr bwMode="auto">
          <a:xfrm>
            <a:off x="2971800" y="2416175"/>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chemeClr val="folHlink"/>
              </a:gs>
              <a:gs pos="100000">
                <a:srgbClr val="FFFF00"/>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a:solidFill>
                <a:srgbClr val="33CCFF"/>
              </a:solidFill>
            </a:endParaRPr>
          </a:p>
        </p:txBody>
      </p:sp>
      <p:sp>
        <p:nvSpPr>
          <p:cNvPr id="477207" name="AutoShape 23"/>
          <p:cNvSpPr>
            <a:spLocks noChangeArrowheads="1"/>
          </p:cNvSpPr>
          <p:nvPr/>
        </p:nvSpPr>
        <p:spPr bwMode="auto">
          <a:xfrm rot="10800000">
            <a:off x="6781800" y="5334000"/>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FF66CC"/>
              </a:gs>
              <a:gs pos="100000">
                <a:srgbClr val="6666FF"/>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en-US" sz="2800">
              <a:solidFill>
                <a:srgbClr val="33CCFF"/>
              </a:solidFill>
            </a:endParaRPr>
          </a:p>
        </p:txBody>
      </p:sp>
      <p:sp>
        <p:nvSpPr>
          <p:cNvPr id="477208" name="AutoShape 24"/>
          <p:cNvSpPr>
            <a:spLocks noChangeArrowheads="1"/>
          </p:cNvSpPr>
          <p:nvPr/>
        </p:nvSpPr>
        <p:spPr bwMode="auto">
          <a:xfrm rot="10800000">
            <a:off x="5105400" y="4648200"/>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6666FF"/>
              </a:gs>
              <a:gs pos="100000">
                <a:srgbClr val="0099FF"/>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en-US" sz="2800">
              <a:solidFill>
                <a:srgbClr val="33CCFF"/>
              </a:solidFill>
            </a:endParaRPr>
          </a:p>
        </p:txBody>
      </p:sp>
      <p:sp>
        <p:nvSpPr>
          <p:cNvPr id="477209" name="AutoShape 25"/>
          <p:cNvSpPr>
            <a:spLocks noChangeArrowheads="1"/>
          </p:cNvSpPr>
          <p:nvPr/>
        </p:nvSpPr>
        <p:spPr bwMode="auto">
          <a:xfrm rot="10800000">
            <a:off x="4267200" y="3962400"/>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6666FF"/>
              </a:gs>
              <a:gs pos="100000">
                <a:srgbClr val="008000"/>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en-US" sz="2800">
              <a:solidFill>
                <a:srgbClr val="33CCFF"/>
              </a:solidFill>
            </a:endParaRPr>
          </a:p>
        </p:txBody>
      </p:sp>
      <p:sp>
        <p:nvSpPr>
          <p:cNvPr id="477210" name="AutoShape 26"/>
          <p:cNvSpPr>
            <a:spLocks noChangeArrowheads="1"/>
          </p:cNvSpPr>
          <p:nvPr/>
        </p:nvSpPr>
        <p:spPr bwMode="auto">
          <a:xfrm rot="10800000">
            <a:off x="3048000" y="3276600"/>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008000"/>
              </a:gs>
              <a:gs pos="100000">
                <a:srgbClr val="FFFF00"/>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en-US" sz="2800">
              <a:solidFill>
                <a:srgbClr val="33CCFF"/>
              </a:solidFill>
            </a:endParaRPr>
          </a:p>
        </p:txBody>
      </p:sp>
      <p:sp>
        <p:nvSpPr>
          <p:cNvPr id="477211" name="AutoShape 27"/>
          <p:cNvSpPr>
            <a:spLocks noChangeArrowheads="1"/>
          </p:cNvSpPr>
          <p:nvPr/>
        </p:nvSpPr>
        <p:spPr bwMode="auto">
          <a:xfrm rot="10800000">
            <a:off x="1828800" y="2590800"/>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rgbClr val="FFFF00"/>
              </a:gs>
              <a:gs pos="100000">
                <a:schemeClr val="folHlink"/>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en-US" sz="2800">
              <a:solidFill>
                <a:srgbClr val="33CCFF"/>
              </a:solidFill>
            </a:endParaRPr>
          </a:p>
        </p:txBody>
      </p:sp>
      <p:sp>
        <p:nvSpPr>
          <p:cNvPr id="477212" name="AutoShape 28"/>
          <p:cNvSpPr>
            <a:spLocks noChangeArrowheads="1"/>
          </p:cNvSpPr>
          <p:nvPr/>
        </p:nvSpPr>
        <p:spPr bwMode="auto">
          <a:xfrm rot="10800000">
            <a:off x="533400" y="1905000"/>
            <a:ext cx="762000" cy="4572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1">
            <a:gsLst>
              <a:gs pos="0">
                <a:schemeClr val="folHlink"/>
              </a:gs>
              <a:gs pos="100000">
                <a:srgbClr val="FF0000"/>
              </a:gs>
            </a:gsLst>
            <a:lin ang="2700000" scaled="1"/>
          </a:gra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en-US" sz="2800">
              <a:solidFill>
                <a:srgbClr val="33CCFF"/>
              </a:solidFill>
            </a:endParaRPr>
          </a:p>
        </p:txBody>
      </p:sp>
      <p:sp>
        <p:nvSpPr>
          <p:cNvPr id="25" name="Rectangle 3"/>
          <p:cNvSpPr>
            <a:spLocks noChangeArrowheads="1"/>
          </p:cNvSpPr>
          <p:nvPr/>
        </p:nvSpPr>
        <p:spPr bwMode="auto">
          <a:xfrm>
            <a:off x="1371600" y="2111375"/>
            <a:ext cx="1524000" cy="533400"/>
          </a:xfrm>
          <a:prstGeom prst="rect">
            <a:avLst/>
          </a:prstGeom>
          <a:gradFill rotWithShape="1">
            <a:gsLst>
              <a:gs pos="0">
                <a:srgbClr val="F48D10">
                  <a:gamma/>
                  <a:tint val="57647"/>
                  <a:invGamma/>
                </a:srgbClr>
              </a:gs>
              <a:gs pos="50000">
                <a:srgbClr val="F48D10">
                  <a:alpha val="20000"/>
                </a:srgbClr>
              </a:gs>
              <a:gs pos="100000">
                <a:srgbClr val="F48D10">
                  <a:gamma/>
                  <a:tint val="57647"/>
                  <a:invGamma/>
                </a:srgbClr>
              </a:gs>
            </a:gsLst>
            <a:lin ang="5400000" scaled="1"/>
          </a:gradFill>
          <a:ln w="9525" algn="ctr">
            <a:solidFill>
              <a:srgbClr val="F48D1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Requirement</a:t>
            </a:r>
          </a:p>
        </p:txBody>
      </p:sp>
      <p:sp>
        <p:nvSpPr>
          <p:cNvPr id="26" name="Rectangle 4"/>
          <p:cNvSpPr>
            <a:spLocks noChangeArrowheads="1"/>
          </p:cNvSpPr>
          <p:nvPr/>
        </p:nvSpPr>
        <p:spPr bwMode="auto">
          <a:xfrm>
            <a:off x="2667000" y="2797175"/>
            <a:ext cx="1524000" cy="533400"/>
          </a:xfrm>
          <a:prstGeom prst="rect">
            <a:avLst/>
          </a:prstGeom>
          <a:gradFill rotWithShape="1">
            <a:gsLst>
              <a:gs pos="0">
                <a:srgbClr val="FFFF00">
                  <a:gamma/>
                  <a:tint val="57647"/>
                  <a:invGamma/>
                </a:srgbClr>
              </a:gs>
              <a:gs pos="50000">
                <a:srgbClr val="FFFF00">
                  <a:alpha val="20000"/>
                </a:srgbClr>
              </a:gs>
              <a:gs pos="100000">
                <a:srgbClr val="FFFF00">
                  <a:gamma/>
                  <a:tint val="57647"/>
                  <a:invGamma/>
                </a:srgbClr>
              </a:gs>
            </a:gsLst>
            <a:lin ang="5400000" scaled="1"/>
          </a:gradFill>
          <a:ln w="9525"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Analysis</a:t>
            </a:r>
          </a:p>
        </p:txBody>
      </p:sp>
      <p:sp>
        <p:nvSpPr>
          <p:cNvPr id="27" name="Rectangle 5"/>
          <p:cNvSpPr>
            <a:spLocks noChangeArrowheads="1"/>
          </p:cNvSpPr>
          <p:nvPr/>
        </p:nvSpPr>
        <p:spPr bwMode="auto">
          <a:xfrm>
            <a:off x="3886200" y="3482975"/>
            <a:ext cx="1524000" cy="533400"/>
          </a:xfrm>
          <a:prstGeom prst="rect">
            <a:avLst/>
          </a:prstGeom>
          <a:gradFill rotWithShape="1">
            <a:gsLst>
              <a:gs pos="0">
                <a:srgbClr val="008000">
                  <a:gamma/>
                  <a:tint val="57647"/>
                  <a:invGamma/>
                </a:srgbClr>
              </a:gs>
              <a:gs pos="50000">
                <a:srgbClr val="008000">
                  <a:alpha val="20000"/>
                </a:srgbClr>
              </a:gs>
              <a:gs pos="100000">
                <a:srgbClr val="008000">
                  <a:gamma/>
                  <a:tint val="57647"/>
                  <a:invGamma/>
                </a:srgbClr>
              </a:gs>
            </a:gsLst>
            <a:lin ang="5400000" scaled="1"/>
          </a:gradFill>
          <a:ln w="9525"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Design</a:t>
            </a:r>
          </a:p>
        </p:txBody>
      </p:sp>
      <p:sp>
        <p:nvSpPr>
          <p:cNvPr id="28" name="Rectangle 6"/>
          <p:cNvSpPr>
            <a:spLocks noChangeArrowheads="1"/>
          </p:cNvSpPr>
          <p:nvPr/>
        </p:nvSpPr>
        <p:spPr bwMode="auto">
          <a:xfrm>
            <a:off x="5105400" y="4168775"/>
            <a:ext cx="1524000" cy="533400"/>
          </a:xfrm>
          <a:prstGeom prst="rect">
            <a:avLst/>
          </a:prstGeom>
          <a:gradFill rotWithShape="1">
            <a:gsLst>
              <a:gs pos="0">
                <a:srgbClr val="0099FF">
                  <a:gamma/>
                  <a:tint val="57647"/>
                  <a:invGamma/>
                </a:srgbClr>
              </a:gs>
              <a:gs pos="50000">
                <a:srgbClr val="0099FF">
                  <a:alpha val="20000"/>
                </a:srgbClr>
              </a:gs>
              <a:gs pos="100000">
                <a:srgbClr val="0099FF">
                  <a:gamma/>
                  <a:tint val="57647"/>
                  <a:invGamma/>
                </a:srgbClr>
              </a:gs>
            </a:gsLst>
            <a:lin ang="5400000" scaled="1"/>
          </a:gradFill>
          <a:ln w="9525" algn="ctr">
            <a:solidFill>
              <a:srgbClr val="0099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Implementation</a:t>
            </a:r>
          </a:p>
        </p:txBody>
      </p:sp>
      <p:sp>
        <p:nvSpPr>
          <p:cNvPr id="29" name="Rectangle 7"/>
          <p:cNvSpPr>
            <a:spLocks noChangeArrowheads="1"/>
          </p:cNvSpPr>
          <p:nvPr/>
        </p:nvSpPr>
        <p:spPr bwMode="auto">
          <a:xfrm>
            <a:off x="5943600" y="4854575"/>
            <a:ext cx="1981200" cy="533400"/>
          </a:xfrm>
          <a:prstGeom prst="rect">
            <a:avLst/>
          </a:prstGeom>
          <a:gradFill rotWithShape="1">
            <a:gsLst>
              <a:gs pos="0">
                <a:srgbClr val="6666FF">
                  <a:gamma/>
                  <a:tint val="57647"/>
                  <a:invGamma/>
                </a:srgbClr>
              </a:gs>
              <a:gs pos="50000">
                <a:srgbClr val="6666FF">
                  <a:alpha val="20000"/>
                </a:srgbClr>
              </a:gs>
              <a:gs pos="100000">
                <a:srgbClr val="6666FF">
                  <a:gamma/>
                  <a:tint val="57647"/>
                  <a:invGamma/>
                </a:srgbClr>
              </a:gs>
            </a:gsLst>
            <a:lin ang="5400000" scaled="1"/>
          </a:gradFill>
          <a:ln w="9525" algn="ctr">
            <a:solidFill>
              <a:srgbClr val="6666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Testing/verification</a:t>
            </a:r>
          </a:p>
        </p:txBody>
      </p:sp>
      <p:sp>
        <p:nvSpPr>
          <p:cNvPr id="30" name="Rectangle 8"/>
          <p:cNvSpPr>
            <a:spLocks noChangeArrowheads="1"/>
          </p:cNvSpPr>
          <p:nvPr/>
        </p:nvSpPr>
        <p:spPr bwMode="auto">
          <a:xfrm>
            <a:off x="7620000" y="5540375"/>
            <a:ext cx="1524000" cy="533400"/>
          </a:xfrm>
          <a:prstGeom prst="rect">
            <a:avLst/>
          </a:prstGeom>
          <a:gradFill rotWithShape="1">
            <a:gsLst>
              <a:gs pos="0">
                <a:srgbClr val="FF66CC">
                  <a:gamma/>
                  <a:tint val="57647"/>
                  <a:invGamma/>
                </a:srgbClr>
              </a:gs>
              <a:gs pos="50000">
                <a:srgbClr val="FF66CC">
                  <a:alpha val="20000"/>
                </a:srgbClr>
              </a:gs>
              <a:gs pos="100000">
                <a:srgbClr val="FF66CC">
                  <a:gamma/>
                  <a:tint val="57647"/>
                  <a:invGamma/>
                </a:srgbClr>
              </a:gs>
            </a:gsLst>
            <a:lin ang="5400000" scaled="1"/>
          </a:gradFill>
          <a:ln w="9525" algn="ctr">
            <a:solidFill>
              <a:srgbClr val="FF66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Deployment</a:t>
            </a:r>
          </a:p>
        </p:txBody>
      </p:sp>
      <p:sp>
        <p:nvSpPr>
          <p:cNvPr id="31" name="Rectangle 14"/>
          <p:cNvSpPr>
            <a:spLocks noChangeArrowheads="1"/>
          </p:cNvSpPr>
          <p:nvPr/>
        </p:nvSpPr>
        <p:spPr bwMode="auto">
          <a:xfrm>
            <a:off x="228600" y="1425575"/>
            <a:ext cx="1524000" cy="533400"/>
          </a:xfrm>
          <a:prstGeom prst="rect">
            <a:avLst/>
          </a:prstGeom>
          <a:gradFill rotWithShape="1">
            <a:gsLst>
              <a:gs pos="0">
                <a:srgbClr val="FF0000">
                  <a:gamma/>
                  <a:tint val="57647"/>
                  <a:invGamma/>
                </a:srgbClr>
              </a:gs>
              <a:gs pos="50000">
                <a:srgbClr val="FF0000">
                  <a:alpha val="20000"/>
                </a:srgbClr>
              </a:gs>
              <a:gs pos="100000">
                <a:srgbClr val="FF0000">
                  <a:gamma/>
                  <a:tint val="57647"/>
                  <a:invGamma/>
                </a:srgbClr>
              </a:gs>
            </a:gsLst>
            <a:lin ang="5400000" scaled="1"/>
          </a:gra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Feasibility </a:t>
            </a:r>
          </a:p>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study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7193"/>
                                        </p:tgtEl>
                                        <p:attrNameLst>
                                          <p:attrName>style.visibility</p:attrName>
                                        </p:attrNameLst>
                                      </p:cBhvr>
                                      <p:to>
                                        <p:strVal val="visible"/>
                                      </p:to>
                                    </p:set>
                                    <p:animEffect transition="in" filter="wipe(left)">
                                      <p:cBhvr>
                                        <p:cTn id="7" dur="500"/>
                                        <p:tgtEl>
                                          <p:spTgt spid="47719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7199"/>
                                        </p:tgtEl>
                                        <p:attrNameLst>
                                          <p:attrName>style.visibility</p:attrName>
                                        </p:attrNameLst>
                                      </p:cBhvr>
                                      <p:to>
                                        <p:strVal val="visible"/>
                                      </p:to>
                                    </p:set>
                                    <p:animEffect transition="in" filter="wipe(left)">
                                      <p:cBhvr>
                                        <p:cTn id="11" dur="500"/>
                                        <p:tgtEl>
                                          <p:spTgt spid="477199"/>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77194"/>
                                        </p:tgtEl>
                                        <p:attrNameLst>
                                          <p:attrName>style.visibility</p:attrName>
                                        </p:attrNameLst>
                                      </p:cBhvr>
                                      <p:to>
                                        <p:strVal val="visible"/>
                                      </p:to>
                                    </p:set>
                                    <p:animEffect transition="in" filter="wipe(left)">
                                      <p:cBhvr>
                                        <p:cTn id="15" dur="500"/>
                                        <p:tgtEl>
                                          <p:spTgt spid="477194"/>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77195"/>
                                        </p:tgtEl>
                                        <p:attrNameLst>
                                          <p:attrName>style.visibility</p:attrName>
                                        </p:attrNameLst>
                                      </p:cBhvr>
                                      <p:to>
                                        <p:strVal val="visible"/>
                                      </p:to>
                                    </p:set>
                                    <p:animEffect transition="in" filter="wipe(left)">
                                      <p:cBhvr>
                                        <p:cTn id="19" dur="500"/>
                                        <p:tgtEl>
                                          <p:spTgt spid="477195"/>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77196"/>
                                        </p:tgtEl>
                                        <p:attrNameLst>
                                          <p:attrName>style.visibility</p:attrName>
                                        </p:attrNameLst>
                                      </p:cBhvr>
                                      <p:to>
                                        <p:strVal val="visible"/>
                                      </p:to>
                                    </p:set>
                                    <p:animEffect transition="in" filter="wipe(left)">
                                      <p:cBhvr>
                                        <p:cTn id="23" dur="500"/>
                                        <p:tgtEl>
                                          <p:spTgt spid="477196"/>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477197"/>
                                        </p:tgtEl>
                                        <p:attrNameLst>
                                          <p:attrName>style.visibility</p:attrName>
                                        </p:attrNameLst>
                                      </p:cBhvr>
                                      <p:to>
                                        <p:strVal val="visible"/>
                                      </p:to>
                                    </p:set>
                                    <p:animEffect transition="in" filter="wipe(left)">
                                      <p:cBhvr>
                                        <p:cTn id="27" dur="500"/>
                                        <p:tgtEl>
                                          <p:spTgt spid="477197"/>
                                        </p:tgtEl>
                                      </p:cBhvr>
                                    </p:animEffect>
                                  </p:childTnLst>
                                </p:cTn>
                              </p:par>
                            </p:childTnLst>
                          </p:cTn>
                        </p:par>
                        <p:par>
                          <p:cTn id="28" fill="hold" nodeType="afterGroup">
                            <p:stCondLst>
                              <p:cond delay="3000"/>
                            </p:stCondLst>
                            <p:childTnLst>
                              <p:par>
                                <p:cTn id="29" presetID="22" presetClass="entr" presetSubtype="2" fill="hold" grpId="0" nodeType="afterEffect">
                                  <p:stCondLst>
                                    <p:cond delay="0"/>
                                  </p:stCondLst>
                                  <p:childTnLst>
                                    <p:set>
                                      <p:cBhvr>
                                        <p:cTn id="30" dur="1" fill="hold">
                                          <p:stCondLst>
                                            <p:cond delay="0"/>
                                          </p:stCondLst>
                                        </p:cTn>
                                        <p:tgtEl>
                                          <p:spTgt spid="477207"/>
                                        </p:tgtEl>
                                        <p:attrNameLst>
                                          <p:attrName>style.visibility</p:attrName>
                                        </p:attrNameLst>
                                      </p:cBhvr>
                                      <p:to>
                                        <p:strVal val="visible"/>
                                      </p:to>
                                    </p:set>
                                    <p:animEffect transition="in" filter="wipe(right)">
                                      <p:cBhvr>
                                        <p:cTn id="31" dur="500"/>
                                        <p:tgtEl>
                                          <p:spTgt spid="477207"/>
                                        </p:tgtEl>
                                      </p:cBhvr>
                                    </p:animEffect>
                                  </p:childTnLst>
                                </p:cTn>
                              </p:par>
                            </p:childTnLst>
                          </p:cTn>
                        </p:par>
                        <p:par>
                          <p:cTn id="32" fill="hold" nodeType="afterGroup">
                            <p:stCondLst>
                              <p:cond delay="3500"/>
                            </p:stCondLst>
                            <p:childTnLst>
                              <p:par>
                                <p:cTn id="33" presetID="22" presetClass="entr" presetSubtype="2" fill="hold" grpId="0" nodeType="afterEffect">
                                  <p:stCondLst>
                                    <p:cond delay="0"/>
                                  </p:stCondLst>
                                  <p:childTnLst>
                                    <p:set>
                                      <p:cBhvr>
                                        <p:cTn id="34" dur="1" fill="hold">
                                          <p:stCondLst>
                                            <p:cond delay="0"/>
                                          </p:stCondLst>
                                        </p:cTn>
                                        <p:tgtEl>
                                          <p:spTgt spid="477208"/>
                                        </p:tgtEl>
                                        <p:attrNameLst>
                                          <p:attrName>style.visibility</p:attrName>
                                        </p:attrNameLst>
                                      </p:cBhvr>
                                      <p:to>
                                        <p:strVal val="visible"/>
                                      </p:to>
                                    </p:set>
                                    <p:animEffect transition="in" filter="wipe(right)">
                                      <p:cBhvr>
                                        <p:cTn id="35" dur="500"/>
                                        <p:tgtEl>
                                          <p:spTgt spid="477208"/>
                                        </p:tgtEl>
                                      </p:cBhvr>
                                    </p:animEffect>
                                  </p:childTnLst>
                                </p:cTn>
                              </p:par>
                            </p:childTnLst>
                          </p:cTn>
                        </p:par>
                        <p:par>
                          <p:cTn id="36" fill="hold" nodeType="afterGroup">
                            <p:stCondLst>
                              <p:cond delay="4000"/>
                            </p:stCondLst>
                            <p:childTnLst>
                              <p:par>
                                <p:cTn id="37" presetID="22" presetClass="entr" presetSubtype="2" fill="hold" grpId="0" nodeType="afterEffect">
                                  <p:stCondLst>
                                    <p:cond delay="0"/>
                                  </p:stCondLst>
                                  <p:childTnLst>
                                    <p:set>
                                      <p:cBhvr>
                                        <p:cTn id="38" dur="1" fill="hold">
                                          <p:stCondLst>
                                            <p:cond delay="0"/>
                                          </p:stCondLst>
                                        </p:cTn>
                                        <p:tgtEl>
                                          <p:spTgt spid="477209"/>
                                        </p:tgtEl>
                                        <p:attrNameLst>
                                          <p:attrName>style.visibility</p:attrName>
                                        </p:attrNameLst>
                                      </p:cBhvr>
                                      <p:to>
                                        <p:strVal val="visible"/>
                                      </p:to>
                                    </p:set>
                                    <p:animEffect transition="in" filter="wipe(right)">
                                      <p:cBhvr>
                                        <p:cTn id="39" dur="500"/>
                                        <p:tgtEl>
                                          <p:spTgt spid="477209"/>
                                        </p:tgtEl>
                                      </p:cBhvr>
                                    </p:animEffect>
                                  </p:childTnLst>
                                </p:cTn>
                              </p:par>
                            </p:childTnLst>
                          </p:cTn>
                        </p:par>
                        <p:par>
                          <p:cTn id="40" fill="hold" nodeType="afterGroup">
                            <p:stCondLst>
                              <p:cond delay="4500"/>
                            </p:stCondLst>
                            <p:childTnLst>
                              <p:par>
                                <p:cTn id="41" presetID="22" presetClass="entr" presetSubtype="2" fill="hold" grpId="0" nodeType="afterEffect">
                                  <p:stCondLst>
                                    <p:cond delay="0"/>
                                  </p:stCondLst>
                                  <p:childTnLst>
                                    <p:set>
                                      <p:cBhvr>
                                        <p:cTn id="42" dur="1" fill="hold">
                                          <p:stCondLst>
                                            <p:cond delay="0"/>
                                          </p:stCondLst>
                                        </p:cTn>
                                        <p:tgtEl>
                                          <p:spTgt spid="477210"/>
                                        </p:tgtEl>
                                        <p:attrNameLst>
                                          <p:attrName>style.visibility</p:attrName>
                                        </p:attrNameLst>
                                      </p:cBhvr>
                                      <p:to>
                                        <p:strVal val="visible"/>
                                      </p:to>
                                    </p:set>
                                    <p:animEffect transition="in" filter="wipe(right)">
                                      <p:cBhvr>
                                        <p:cTn id="43" dur="500"/>
                                        <p:tgtEl>
                                          <p:spTgt spid="477210"/>
                                        </p:tgtEl>
                                      </p:cBhvr>
                                    </p:animEffect>
                                  </p:childTnLst>
                                </p:cTn>
                              </p:par>
                            </p:childTnLst>
                          </p:cTn>
                        </p:par>
                        <p:par>
                          <p:cTn id="44" fill="hold" nodeType="afterGroup">
                            <p:stCondLst>
                              <p:cond delay="5000"/>
                            </p:stCondLst>
                            <p:childTnLst>
                              <p:par>
                                <p:cTn id="45" presetID="22" presetClass="entr" presetSubtype="2" fill="hold" grpId="0" nodeType="afterEffect">
                                  <p:stCondLst>
                                    <p:cond delay="0"/>
                                  </p:stCondLst>
                                  <p:childTnLst>
                                    <p:set>
                                      <p:cBhvr>
                                        <p:cTn id="46" dur="1" fill="hold">
                                          <p:stCondLst>
                                            <p:cond delay="0"/>
                                          </p:stCondLst>
                                        </p:cTn>
                                        <p:tgtEl>
                                          <p:spTgt spid="477211"/>
                                        </p:tgtEl>
                                        <p:attrNameLst>
                                          <p:attrName>style.visibility</p:attrName>
                                        </p:attrNameLst>
                                      </p:cBhvr>
                                      <p:to>
                                        <p:strVal val="visible"/>
                                      </p:to>
                                    </p:set>
                                    <p:animEffect transition="in" filter="wipe(right)">
                                      <p:cBhvr>
                                        <p:cTn id="47" dur="500"/>
                                        <p:tgtEl>
                                          <p:spTgt spid="477211"/>
                                        </p:tgtEl>
                                      </p:cBhvr>
                                    </p:animEffect>
                                  </p:childTnLst>
                                </p:cTn>
                              </p:par>
                            </p:childTnLst>
                          </p:cTn>
                        </p:par>
                        <p:par>
                          <p:cTn id="48" fill="hold" nodeType="afterGroup">
                            <p:stCondLst>
                              <p:cond delay="5500"/>
                            </p:stCondLst>
                            <p:childTnLst>
                              <p:par>
                                <p:cTn id="49" presetID="22" presetClass="entr" presetSubtype="2" fill="hold" grpId="0" nodeType="afterEffect">
                                  <p:stCondLst>
                                    <p:cond delay="0"/>
                                  </p:stCondLst>
                                  <p:childTnLst>
                                    <p:set>
                                      <p:cBhvr>
                                        <p:cTn id="50" dur="1" fill="hold">
                                          <p:stCondLst>
                                            <p:cond delay="0"/>
                                          </p:stCondLst>
                                        </p:cTn>
                                        <p:tgtEl>
                                          <p:spTgt spid="477212"/>
                                        </p:tgtEl>
                                        <p:attrNameLst>
                                          <p:attrName>style.visibility</p:attrName>
                                        </p:attrNameLst>
                                      </p:cBhvr>
                                      <p:to>
                                        <p:strVal val="visible"/>
                                      </p:to>
                                    </p:set>
                                    <p:animEffect transition="in" filter="wipe(right)">
                                      <p:cBhvr>
                                        <p:cTn id="51" dur="500"/>
                                        <p:tgtEl>
                                          <p:spTgt spid="477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93" grpId="0" animBg="1"/>
      <p:bldP spid="477194" grpId="0" animBg="1"/>
      <p:bldP spid="477195" grpId="0" animBg="1"/>
      <p:bldP spid="477196" grpId="0" animBg="1"/>
      <p:bldP spid="477197" grpId="0" animBg="1"/>
      <p:bldP spid="477199" grpId="0" animBg="1"/>
      <p:bldP spid="477207" grpId="0" animBg="1"/>
      <p:bldP spid="477208" grpId="0" animBg="1"/>
      <p:bldP spid="477209" grpId="0" animBg="1"/>
      <p:bldP spid="477210" grpId="0" animBg="1"/>
      <p:bldP spid="477211" grpId="0" animBg="1"/>
      <p:bldP spid="4772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Prototyping model</a:t>
            </a:r>
          </a:p>
        </p:txBody>
      </p:sp>
      <p:sp>
        <p:nvSpPr>
          <p:cNvPr id="4" name="Slide Number Placeholder 3"/>
          <p:cNvSpPr>
            <a:spLocks noGrp="1"/>
          </p:cNvSpPr>
          <p:nvPr>
            <p:ph type="sldNum" sz="quarter" idx="12"/>
          </p:nvPr>
        </p:nvSpPr>
        <p:spPr/>
        <p:txBody>
          <a:bodyPr/>
          <a:lstStyle/>
          <a:p>
            <a:fld id="{DED05017-923D-480E-B02E-B52739184DCA}" type="slidenum">
              <a:rPr lang="en-US" smtClean="0"/>
              <a:pPr/>
              <a:t>24</a:t>
            </a:fld>
            <a:endParaRPr lang="en-US"/>
          </a:p>
        </p:txBody>
      </p:sp>
      <p:pic>
        <p:nvPicPr>
          <p:cNvPr id="4864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438" y="1219200"/>
            <a:ext cx="5953125"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648200" y="5158026"/>
            <a:ext cx="4152901" cy="1354217"/>
          </a:xfrm>
          <a:prstGeom prst="rect">
            <a:avLst/>
          </a:prstGeom>
        </p:spPr>
        <p:txBody>
          <a:bodyPr wrap="square">
            <a:spAutoFit/>
          </a:bodyPr>
          <a:lstStyle/>
          <a:p>
            <a:pPr algn="r"/>
            <a:r>
              <a:rPr lang="en-US" dirty="0"/>
              <a:t>Prototyping model</a:t>
            </a:r>
          </a:p>
          <a:p>
            <a:pPr marL="0" lvl="1" algn="r"/>
            <a:r>
              <a:rPr lang="en-US" sz="1600" i="1" dirty="0"/>
              <a:t>(Source: Roger S Pressman, </a:t>
            </a:r>
          </a:p>
          <a:p>
            <a:pPr marL="0" lvl="1" algn="r"/>
            <a:r>
              <a:rPr lang="en-US" sz="1600" i="1" dirty="0">
                <a:solidFill>
                  <a:schemeClr val="accent1"/>
                </a:solidFill>
              </a:rPr>
              <a:t>Software Engineering: </a:t>
            </a:r>
          </a:p>
          <a:p>
            <a:pPr marL="0" lvl="1" algn="r"/>
            <a:r>
              <a:rPr lang="en-US" sz="1600" i="1" dirty="0">
                <a:solidFill>
                  <a:schemeClr val="accent1"/>
                </a:solidFill>
              </a:rPr>
              <a:t>A Practitioner's Approach (7</a:t>
            </a:r>
            <a:r>
              <a:rPr lang="en-US" sz="1600" i="1" baseline="30000" dirty="0">
                <a:solidFill>
                  <a:schemeClr val="accent1"/>
                </a:solidFill>
              </a:rPr>
              <a:t>th</a:t>
            </a:r>
            <a:r>
              <a:rPr lang="en-US" sz="1600" i="1" dirty="0">
                <a:solidFill>
                  <a:schemeClr val="accent1"/>
                </a:solidFill>
              </a:rPr>
              <a:t> Edition)</a:t>
            </a:r>
            <a:r>
              <a:rPr lang="en-US" sz="1600" i="1" dirty="0"/>
              <a:t>, McGraw-Hill, 2009)</a:t>
            </a:r>
          </a:p>
        </p:txBody>
      </p:sp>
    </p:spTree>
    <p:extLst>
      <p:ext uri="{BB962C8B-B14F-4D97-AF65-F5344CB8AC3E}">
        <p14:creationId xmlns:p14="http://schemas.microsoft.com/office/powerpoint/2010/main" val="4694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5"/>
          <p:cNvSpPr>
            <a:spLocks noGrp="1"/>
          </p:cNvSpPr>
          <p:nvPr>
            <p:ph type="sldNum" sz="quarter" idx="12"/>
          </p:nvPr>
        </p:nvSpPr>
        <p:spPr/>
        <p:txBody>
          <a:bodyPr/>
          <a:lstStyle/>
          <a:p>
            <a:fld id="{490C1EC1-F321-4D82-A1E7-C3222A2FCF58}" type="slidenum">
              <a:rPr lang="en-US"/>
              <a:pPr/>
              <a:t>25</a:t>
            </a:fld>
            <a:endParaRPr lang="en-US"/>
          </a:p>
        </p:txBody>
      </p:sp>
      <p:sp>
        <p:nvSpPr>
          <p:cNvPr id="476162" name="Rectangle 2"/>
          <p:cNvSpPr>
            <a:spLocks noGrp="1" noChangeArrowheads="1"/>
          </p:cNvSpPr>
          <p:nvPr>
            <p:ph type="title"/>
          </p:nvPr>
        </p:nvSpPr>
        <p:spPr/>
        <p:txBody>
          <a:bodyPr/>
          <a:lstStyle/>
          <a:p>
            <a:r>
              <a:rPr lang="en-US" sz="2800" dirty="0"/>
              <a:t>Prototyping model</a:t>
            </a:r>
          </a:p>
        </p:txBody>
      </p:sp>
      <p:sp>
        <p:nvSpPr>
          <p:cNvPr id="476164" name="Rectangle 4"/>
          <p:cNvSpPr>
            <a:spLocks noChangeArrowheads="1"/>
          </p:cNvSpPr>
          <p:nvPr/>
        </p:nvSpPr>
        <p:spPr bwMode="auto">
          <a:xfrm>
            <a:off x="381000" y="1295400"/>
            <a:ext cx="1524000" cy="533400"/>
          </a:xfrm>
          <a:prstGeom prst="rect">
            <a:avLst/>
          </a:prstGeom>
          <a:gradFill rotWithShape="1">
            <a:gsLst>
              <a:gs pos="0">
                <a:srgbClr val="FF0000">
                  <a:gamma/>
                  <a:tint val="57647"/>
                  <a:invGamma/>
                </a:srgbClr>
              </a:gs>
              <a:gs pos="50000">
                <a:srgbClr val="FF0000">
                  <a:alpha val="20000"/>
                </a:srgbClr>
              </a:gs>
              <a:gs pos="100000">
                <a:srgbClr val="FF0000">
                  <a:gamma/>
                  <a:tint val="57647"/>
                  <a:invGamma/>
                </a:srgbClr>
              </a:gs>
            </a:gsLst>
            <a:lin ang="5400000" scaled="1"/>
          </a:gra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Requirement</a:t>
            </a:r>
          </a:p>
        </p:txBody>
      </p:sp>
      <p:sp>
        <p:nvSpPr>
          <p:cNvPr id="476165" name="Rectangle 5"/>
          <p:cNvSpPr>
            <a:spLocks noChangeArrowheads="1"/>
          </p:cNvSpPr>
          <p:nvPr/>
        </p:nvSpPr>
        <p:spPr bwMode="auto">
          <a:xfrm>
            <a:off x="1524000" y="2286000"/>
            <a:ext cx="1524000" cy="533400"/>
          </a:xfrm>
          <a:prstGeom prst="rect">
            <a:avLst/>
          </a:prstGeom>
          <a:gradFill rotWithShape="1">
            <a:gsLst>
              <a:gs pos="0">
                <a:srgbClr val="F48D10">
                  <a:gamma/>
                  <a:tint val="57647"/>
                  <a:invGamma/>
                </a:srgbClr>
              </a:gs>
              <a:gs pos="50000">
                <a:srgbClr val="F48D10">
                  <a:alpha val="20000"/>
                </a:srgbClr>
              </a:gs>
              <a:gs pos="100000">
                <a:srgbClr val="F48D10">
                  <a:gamma/>
                  <a:tint val="57647"/>
                  <a:invGamma/>
                </a:srgbClr>
              </a:gs>
            </a:gsLst>
            <a:lin ang="5400000" scaled="1"/>
          </a:gradFill>
          <a:ln w="9525" algn="ctr">
            <a:solidFill>
              <a:srgbClr val="F48D1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Quick design</a:t>
            </a:r>
          </a:p>
        </p:txBody>
      </p:sp>
      <p:sp>
        <p:nvSpPr>
          <p:cNvPr id="476166" name="Rectangle 6"/>
          <p:cNvSpPr>
            <a:spLocks noChangeArrowheads="1"/>
          </p:cNvSpPr>
          <p:nvPr/>
        </p:nvSpPr>
        <p:spPr bwMode="auto">
          <a:xfrm>
            <a:off x="2743200" y="3124200"/>
            <a:ext cx="1524000" cy="533400"/>
          </a:xfrm>
          <a:prstGeom prst="rect">
            <a:avLst/>
          </a:prstGeom>
          <a:gradFill rotWithShape="1">
            <a:gsLst>
              <a:gs pos="0">
                <a:srgbClr val="FFFF00">
                  <a:gamma/>
                  <a:tint val="57647"/>
                  <a:invGamma/>
                </a:srgbClr>
              </a:gs>
              <a:gs pos="50000">
                <a:srgbClr val="FFFF00">
                  <a:alpha val="20000"/>
                </a:srgbClr>
              </a:gs>
              <a:gs pos="100000">
                <a:srgbClr val="FFFF00">
                  <a:gamma/>
                  <a:tint val="57647"/>
                  <a:invGamma/>
                </a:srgbClr>
              </a:gs>
            </a:gsLst>
            <a:lin ang="5400000" scaled="1"/>
          </a:gradFill>
          <a:ln w="9525"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Prototype</a:t>
            </a:r>
          </a:p>
        </p:txBody>
      </p:sp>
      <p:sp>
        <p:nvSpPr>
          <p:cNvPr id="476167" name="Rectangle 7"/>
          <p:cNvSpPr>
            <a:spLocks noChangeArrowheads="1"/>
          </p:cNvSpPr>
          <p:nvPr/>
        </p:nvSpPr>
        <p:spPr bwMode="auto">
          <a:xfrm>
            <a:off x="3810000" y="4114800"/>
            <a:ext cx="2209800" cy="533400"/>
          </a:xfrm>
          <a:prstGeom prst="rect">
            <a:avLst/>
          </a:prstGeom>
          <a:gradFill rotWithShape="1">
            <a:gsLst>
              <a:gs pos="0">
                <a:srgbClr val="008000">
                  <a:gamma/>
                  <a:tint val="57647"/>
                  <a:invGamma/>
                </a:srgbClr>
              </a:gs>
              <a:gs pos="50000">
                <a:srgbClr val="008000">
                  <a:alpha val="20000"/>
                </a:srgbClr>
              </a:gs>
              <a:gs pos="100000">
                <a:srgbClr val="008000">
                  <a:gamma/>
                  <a:tint val="57647"/>
                  <a:invGamma/>
                </a:srgbClr>
              </a:gs>
            </a:gsLst>
            <a:lin ang="5400000" scaled="1"/>
          </a:gradFill>
          <a:ln w="9525"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Evaluation</a:t>
            </a:r>
          </a:p>
        </p:txBody>
      </p:sp>
      <p:sp>
        <p:nvSpPr>
          <p:cNvPr id="476168" name="Rectangle 8"/>
          <p:cNvSpPr>
            <a:spLocks noChangeArrowheads="1"/>
          </p:cNvSpPr>
          <p:nvPr/>
        </p:nvSpPr>
        <p:spPr bwMode="auto">
          <a:xfrm>
            <a:off x="5486400" y="4876800"/>
            <a:ext cx="1981200" cy="533400"/>
          </a:xfrm>
          <a:prstGeom prst="rect">
            <a:avLst/>
          </a:prstGeom>
          <a:gradFill rotWithShape="1">
            <a:gsLst>
              <a:gs pos="0">
                <a:srgbClr val="0099FF">
                  <a:gamma/>
                  <a:tint val="57647"/>
                  <a:invGamma/>
                </a:srgbClr>
              </a:gs>
              <a:gs pos="50000">
                <a:srgbClr val="0099FF">
                  <a:alpha val="20000"/>
                </a:srgbClr>
              </a:gs>
              <a:gs pos="100000">
                <a:srgbClr val="0099FF">
                  <a:gamma/>
                  <a:tint val="57647"/>
                  <a:invGamma/>
                </a:srgbClr>
              </a:gs>
            </a:gsLst>
            <a:lin ang="5400000" scaled="1"/>
          </a:gradFill>
          <a:ln w="9525" algn="ctr">
            <a:solidFill>
              <a:srgbClr val="0099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hangingPunct="0"/>
            <a:r>
              <a:rPr lang="en-US" dirty="0">
                <a:solidFill>
                  <a:srgbClr val="000000"/>
                </a:solidFill>
                <a:effectLst>
                  <a:outerShdw blurRad="38100" dist="38100" dir="2700000" algn="tl">
                    <a:srgbClr val="FFFFFF"/>
                  </a:outerShdw>
                </a:effectLst>
                <a:ea typeface="Arial Unicode MS" pitchFamily="34" charset="-128"/>
                <a:cs typeface="Times New Roman" pitchFamily="18" charset="0"/>
              </a:rPr>
              <a:t>Development</a:t>
            </a:r>
          </a:p>
        </p:txBody>
      </p:sp>
      <p:cxnSp>
        <p:nvCxnSpPr>
          <p:cNvPr id="476169" name="AutoShape 9"/>
          <p:cNvCxnSpPr>
            <a:cxnSpLocks noChangeShapeType="1"/>
            <a:stCxn id="476165" idx="3"/>
            <a:endCxn id="476166" idx="0"/>
          </p:cNvCxnSpPr>
          <p:nvPr/>
        </p:nvCxnSpPr>
        <p:spPr bwMode="auto">
          <a:xfrm>
            <a:off x="3048000" y="2552700"/>
            <a:ext cx="457200" cy="571500"/>
          </a:xfrm>
          <a:prstGeom prst="bentConnector2">
            <a:avLst/>
          </a:prstGeom>
          <a:noFill/>
          <a:ln w="2857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6170" name="AutoShape 10"/>
          <p:cNvCxnSpPr>
            <a:cxnSpLocks noChangeShapeType="1"/>
            <a:stCxn id="476166" idx="3"/>
            <a:endCxn id="476167" idx="0"/>
          </p:cNvCxnSpPr>
          <p:nvPr/>
        </p:nvCxnSpPr>
        <p:spPr bwMode="auto">
          <a:xfrm>
            <a:off x="4267200" y="3390900"/>
            <a:ext cx="647700" cy="723900"/>
          </a:xfrm>
          <a:prstGeom prst="bentConnector2">
            <a:avLst/>
          </a:prstGeom>
          <a:noFill/>
          <a:ln w="2857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6171" name="AutoShape 11"/>
          <p:cNvCxnSpPr>
            <a:cxnSpLocks noChangeShapeType="1"/>
            <a:stCxn id="476167" idx="3"/>
            <a:endCxn id="476168" idx="0"/>
          </p:cNvCxnSpPr>
          <p:nvPr/>
        </p:nvCxnSpPr>
        <p:spPr bwMode="auto">
          <a:xfrm>
            <a:off x="6019800" y="4381500"/>
            <a:ext cx="457200" cy="495300"/>
          </a:xfrm>
          <a:prstGeom prst="bentConnector2">
            <a:avLst/>
          </a:prstGeom>
          <a:noFill/>
          <a:ln w="2857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6172" name="AutoShape 12"/>
          <p:cNvCxnSpPr>
            <a:cxnSpLocks noChangeShapeType="1"/>
            <a:stCxn id="476168" idx="1"/>
            <a:endCxn id="476167" idx="2"/>
          </p:cNvCxnSpPr>
          <p:nvPr/>
        </p:nvCxnSpPr>
        <p:spPr bwMode="auto">
          <a:xfrm rot="10800000">
            <a:off x="4914900" y="4648200"/>
            <a:ext cx="571500" cy="495300"/>
          </a:xfrm>
          <a:prstGeom prst="bentConnector2">
            <a:avLst/>
          </a:prstGeom>
          <a:noFill/>
          <a:ln w="2857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6173" name="AutoShape 13"/>
          <p:cNvCxnSpPr>
            <a:cxnSpLocks noChangeShapeType="1"/>
            <a:stCxn id="476167" idx="1"/>
            <a:endCxn id="476164" idx="2"/>
          </p:cNvCxnSpPr>
          <p:nvPr/>
        </p:nvCxnSpPr>
        <p:spPr bwMode="auto">
          <a:xfrm rot="10800000">
            <a:off x="1143000" y="1828800"/>
            <a:ext cx="2667000" cy="2552700"/>
          </a:xfrm>
          <a:prstGeom prst="bentConnector2">
            <a:avLst/>
          </a:prstGeom>
          <a:noFill/>
          <a:ln w="2857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6174" name="AutoShape 14"/>
          <p:cNvCxnSpPr>
            <a:cxnSpLocks noChangeShapeType="1"/>
            <a:stCxn id="476164" idx="3"/>
            <a:endCxn id="476165" idx="0"/>
          </p:cNvCxnSpPr>
          <p:nvPr/>
        </p:nvCxnSpPr>
        <p:spPr bwMode="auto">
          <a:xfrm>
            <a:off x="1905000" y="1562100"/>
            <a:ext cx="381000" cy="723900"/>
          </a:xfrm>
          <a:prstGeom prst="bentConnector2">
            <a:avLst/>
          </a:prstGeom>
          <a:noFill/>
          <a:ln w="2857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6175" name="AutoShape 15"/>
          <p:cNvCxnSpPr>
            <a:cxnSpLocks noChangeShapeType="1"/>
            <a:stCxn id="476166" idx="1"/>
            <a:endCxn id="476165" idx="2"/>
          </p:cNvCxnSpPr>
          <p:nvPr/>
        </p:nvCxnSpPr>
        <p:spPr bwMode="auto">
          <a:xfrm rot="10800000">
            <a:off x="2286000" y="2819400"/>
            <a:ext cx="457200" cy="571500"/>
          </a:xfrm>
          <a:prstGeom prst="bentConnector2">
            <a:avLst/>
          </a:prstGeom>
          <a:noFill/>
          <a:ln w="2857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6176" name="Line 16"/>
          <p:cNvSpPr>
            <a:spLocks noChangeShapeType="1"/>
          </p:cNvSpPr>
          <p:nvPr/>
        </p:nvSpPr>
        <p:spPr bwMode="auto">
          <a:xfrm flipH="1">
            <a:off x="1371600" y="3395663"/>
            <a:ext cx="91440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6177" name="Line 17"/>
          <p:cNvSpPr>
            <a:spLocks noChangeShapeType="1"/>
          </p:cNvSpPr>
          <p:nvPr/>
        </p:nvSpPr>
        <p:spPr bwMode="auto">
          <a:xfrm flipV="1">
            <a:off x="1371600" y="1828800"/>
            <a:ext cx="0" cy="1524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5"/>
          <p:cNvSpPr>
            <a:spLocks noGrp="1"/>
          </p:cNvSpPr>
          <p:nvPr>
            <p:ph type="sldNum" sz="quarter" idx="12"/>
          </p:nvPr>
        </p:nvSpPr>
        <p:spPr/>
        <p:txBody>
          <a:bodyPr/>
          <a:lstStyle/>
          <a:p>
            <a:fld id="{7407D24B-5B23-4D5C-A382-3F1BBB2C2EA4}" type="slidenum">
              <a:rPr lang="en-US"/>
              <a:pPr/>
              <a:t>26</a:t>
            </a:fld>
            <a:endParaRPr lang="en-US"/>
          </a:p>
        </p:txBody>
      </p:sp>
      <p:sp>
        <p:nvSpPr>
          <p:cNvPr id="478210" name="Rectangle 2"/>
          <p:cNvSpPr>
            <a:spLocks noGrp="1" noChangeArrowheads="1"/>
          </p:cNvSpPr>
          <p:nvPr>
            <p:ph type="title"/>
          </p:nvPr>
        </p:nvSpPr>
        <p:spPr/>
        <p:txBody>
          <a:bodyPr/>
          <a:lstStyle/>
          <a:p>
            <a:r>
              <a:rPr lang="en-US" sz="2800" dirty="0"/>
              <a:t>Spiral model</a:t>
            </a:r>
          </a:p>
        </p:txBody>
      </p:sp>
      <p:sp>
        <p:nvSpPr>
          <p:cNvPr id="478213" name="Line 5"/>
          <p:cNvSpPr>
            <a:spLocks noChangeShapeType="1"/>
          </p:cNvSpPr>
          <p:nvPr/>
        </p:nvSpPr>
        <p:spPr bwMode="auto">
          <a:xfrm flipV="1">
            <a:off x="1958975" y="2309813"/>
            <a:ext cx="4899025" cy="2940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8214" name="Line 6"/>
          <p:cNvSpPr>
            <a:spLocks noChangeShapeType="1"/>
          </p:cNvSpPr>
          <p:nvPr/>
        </p:nvSpPr>
        <p:spPr bwMode="auto">
          <a:xfrm flipH="1">
            <a:off x="3822700" y="1295400"/>
            <a:ext cx="1358900" cy="4943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8215" name="Line 7"/>
          <p:cNvSpPr>
            <a:spLocks noChangeShapeType="1"/>
          </p:cNvSpPr>
          <p:nvPr/>
        </p:nvSpPr>
        <p:spPr bwMode="auto">
          <a:xfrm>
            <a:off x="3009900" y="2570163"/>
            <a:ext cx="3009900" cy="23066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8217" name="AutoShape 9"/>
          <p:cNvSpPr>
            <a:spLocks noChangeArrowheads="1"/>
          </p:cNvSpPr>
          <p:nvPr/>
        </p:nvSpPr>
        <p:spPr bwMode="auto">
          <a:xfrm rot="-3098915">
            <a:off x="4211638" y="1912938"/>
            <a:ext cx="2286000" cy="2057400"/>
          </a:xfrm>
          <a:prstGeom prst="curvedLeftArrow">
            <a:avLst>
              <a:gd name="adj1" fmla="val 3421"/>
              <a:gd name="adj2" fmla="val 18681"/>
              <a:gd name="adj3" fmla="val 13570"/>
            </a:avLst>
          </a:prstGeom>
          <a:gradFill rotWithShape="1">
            <a:gsLst>
              <a:gs pos="0">
                <a:srgbClr val="FF0000"/>
              </a:gs>
              <a:gs pos="50000">
                <a:srgbClr val="FFFF00"/>
              </a:gs>
              <a:gs pos="100000">
                <a:srgbClr val="FF0000"/>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8218" name="AutoShape 10"/>
          <p:cNvSpPr>
            <a:spLocks noChangeArrowheads="1"/>
          </p:cNvSpPr>
          <p:nvPr/>
        </p:nvSpPr>
        <p:spPr bwMode="auto">
          <a:xfrm rot="-13894450">
            <a:off x="2513807" y="3258344"/>
            <a:ext cx="2209800" cy="2497137"/>
          </a:xfrm>
          <a:prstGeom prst="curvedLeftArrow">
            <a:avLst>
              <a:gd name="adj1" fmla="val 4353"/>
              <a:gd name="adj2" fmla="val 21596"/>
              <a:gd name="adj3" fmla="val 12213"/>
            </a:avLst>
          </a:prstGeom>
          <a:gradFill rotWithShape="1">
            <a:gsLst>
              <a:gs pos="0">
                <a:srgbClr val="00FF00"/>
              </a:gs>
              <a:gs pos="50000">
                <a:srgbClr val="0000FF"/>
              </a:gs>
              <a:gs pos="100000">
                <a:srgbClr val="00FF00"/>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8219" name="AutoShape 11"/>
          <p:cNvSpPr>
            <a:spLocks noChangeArrowheads="1"/>
          </p:cNvSpPr>
          <p:nvPr/>
        </p:nvSpPr>
        <p:spPr bwMode="auto">
          <a:xfrm rot="-3098915">
            <a:off x="4206875" y="2320925"/>
            <a:ext cx="1981200" cy="1352550"/>
          </a:xfrm>
          <a:prstGeom prst="curvedLeftArrow">
            <a:avLst>
              <a:gd name="adj1" fmla="val 6069"/>
              <a:gd name="adj2" fmla="val 21329"/>
              <a:gd name="adj3" fmla="val 17889"/>
            </a:avLst>
          </a:prstGeom>
          <a:gradFill rotWithShape="1">
            <a:gsLst>
              <a:gs pos="0">
                <a:srgbClr val="FF0000"/>
              </a:gs>
              <a:gs pos="50000">
                <a:srgbClr val="FFFF00"/>
              </a:gs>
              <a:gs pos="100000">
                <a:srgbClr val="FF0000"/>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8220" name="AutoShape 12"/>
          <p:cNvSpPr>
            <a:spLocks noChangeArrowheads="1"/>
          </p:cNvSpPr>
          <p:nvPr/>
        </p:nvSpPr>
        <p:spPr bwMode="auto">
          <a:xfrm rot="-13894450">
            <a:off x="2794794" y="3566319"/>
            <a:ext cx="1971675" cy="1674813"/>
          </a:xfrm>
          <a:prstGeom prst="curvedLeftArrow">
            <a:avLst>
              <a:gd name="adj1" fmla="val 6708"/>
              <a:gd name="adj2" fmla="val 21968"/>
              <a:gd name="adj3" fmla="val 14378"/>
            </a:avLst>
          </a:prstGeom>
          <a:gradFill rotWithShape="1">
            <a:gsLst>
              <a:gs pos="0">
                <a:srgbClr val="00FF00"/>
              </a:gs>
              <a:gs pos="50000">
                <a:srgbClr val="0000FF"/>
              </a:gs>
              <a:gs pos="100000">
                <a:srgbClr val="00FF00"/>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8221" name="AutoShape 13"/>
          <p:cNvSpPr>
            <a:spLocks noChangeArrowheads="1"/>
          </p:cNvSpPr>
          <p:nvPr/>
        </p:nvSpPr>
        <p:spPr bwMode="auto">
          <a:xfrm rot="-3098915">
            <a:off x="4260057" y="2874169"/>
            <a:ext cx="1528762" cy="628650"/>
          </a:xfrm>
          <a:prstGeom prst="curvedLeftArrow">
            <a:avLst>
              <a:gd name="adj1" fmla="val 10560"/>
              <a:gd name="adj2" fmla="val 25819"/>
              <a:gd name="adj3" fmla="val 29700"/>
            </a:avLst>
          </a:prstGeom>
          <a:gradFill rotWithShape="1">
            <a:gsLst>
              <a:gs pos="0">
                <a:srgbClr val="FF0000"/>
              </a:gs>
              <a:gs pos="50000">
                <a:srgbClr val="FFFF00"/>
              </a:gs>
              <a:gs pos="100000">
                <a:srgbClr val="FF0000"/>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8222" name="AutoShape 14"/>
          <p:cNvSpPr>
            <a:spLocks noChangeArrowheads="1"/>
          </p:cNvSpPr>
          <p:nvPr/>
        </p:nvSpPr>
        <p:spPr bwMode="auto">
          <a:xfrm rot="-13894450">
            <a:off x="3145631" y="3755232"/>
            <a:ext cx="1557337" cy="990600"/>
          </a:xfrm>
          <a:prstGeom prst="curvedLeftArrow">
            <a:avLst>
              <a:gd name="adj1" fmla="val 10560"/>
              <a:gd name="adj2" fmla="val 25819"/>
              <a:gd name="adj3" fmla="val 19200"/>
            </a:avLst>
          </a:prstGeom>
          <a:gradFill rotWithShape="1">
            <a:gsLst>
              <a:gs pos="0">
                <a:srgbClr val="00FF00"/>
              </a:gs>
              <a:gs pos="50000">
                <a:srgbClr val="0000FF"/>
              </a:gs>
              <a:gs pos="100000">
                <a:srgbClr val="00FF00"/>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8223" name="Text Box 15"/>
          <p:cNvSpPr txBox="1">
            <a:spLocks noChangeArrowheads="1"/>
          </p:cNvSpPr>
          <p:nvPr/>
        </p:nvSpPr>
        <p:spPr bwMode="auto">
          <a:xfrm>
            <a:off x="2895600" y="1828800"/>
            <a:ext cx="17363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FF0000"/>
                </a:solidFill>
                <a:effectLst>
                  <a:outerShdw blurRad="38100" dist="38100" dir="2700000" algn="tl">
                    <a:srgbClr val="C0C0C0"/>
                  </a:outerShdw>
                </a:effectLst>
              </a:rPr>
              <a:t>Customer</a:t>
            </a:r>
          </a:p>
          <a:p>
            <a:r>
              <a:rPr lang="en-US" dirty="0">
                <a:solidFill>
                  <a:srgbClr val="FF0000"/>
                </a:solidFill>
                <a:effectLst>
                  <a:outerShdw blurRad="38100" dist="38100" dir="2700000" algn="tl">
                    <a:srgbClr val="C0C0C0"/>
                  </a:outerShdw>
                </a:effectLst>
              </a:rPr>
              <a:t>communication</a:t>
            </a:r>
          </a:p>
        </p:txBody>
      </p:sp>
      <p:sp>
        <p:nvSpPr>
          <p:cNvPr id="478224" name="Text Box 16"/>
          <p:cNvSpPr txBox="1">
            <a:spLocks noChangeArrowheads="1"/>
          </p:cNvSpPr>
          <p:nvPr/>
        </p:nvSpPr>
        <p:spPr bwMode="auto">
          <a:xfrm>
            <a:off x="5410200" y="1385888"/>
            <a:ext cx="10823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chemeClr val="folHlink"/>
                </a:solidFill>
                <a:effectLst>
                  <a:outerShdw blurRad="38100" dist="38100" dir="2700000" algn="tl">
                    <a:srgbClr val="C0C0C0"/>
                  </a:outerShdw>
                </a:effectLst>
              </a:rPr>
              <a:t>Planning</a:t>
            </a:r>
          </a:p>
        </p:txBody>
      </p:sp>
      <p:sp>
        <p:nvSpPr>
          <p:cNvPr id="478225" name="Text Box 17"/>
          <p:cNvSpPr txBox="1">
            <a:spLocks noChangeArrowheads="1"/>
          </p:cNvSpPr>
          <p:nvPr/>
        </p:nvSpPr>
        <p:spPr bwMode="auto">
          <a:xfrm>
            <a:off x="6019800" y="3352800"/>
            <a:ext cx="15311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FFCC00"/>
                </a:solidFill>
                <a:effectLst>
                  <a:outerShdw blurRad="38100" dist="38100" dir="2700000" algn="tl">
                    <a:srgbClr val="C0C0C0"/>
                  </a:outerShdw>
                </a:effectLst>
              </a:rPr>
              <a:t>Risk analysis</a:t>
            </a:r>
          </a:p>
        </p:txBody>
      </p:sp>
      <p:sp>
        <p:nvSpPr>
          <p:cNvPr id="478226" name="Text Box 18"/>
          <p:cNvSpPr txBox="1">
            <a:spLocks noChangeArrowheads="1"/>
          </p:cNvSpPr>
          <p:nvPr/>
        </p:nvSpPr>
        <p:spPr bwMode="auto">
          <a:xfrm>
            <a:off x="4495800" y="5181600"/>
            <a:ext cx="213391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8000"/>
                </a:solidFill>
                <a:effectLst>
                  <a:outerShdw blurRad="38100" dist="38100" dir="2700000" algn="tl">
                    <a:srgbClr val="C0C0C0"/>
                  </a:outerShdw>
                </a:effectLst>
              </a:rPr>
              <a:t>Engineering</a:t>
            </a:r>
          </a:p>
          <a:p>
            <a:r>
              <a:rPr lang="en-US" dirty="0">
                <a:solidFill>
                  <a:srgbClr val="008000"/>
                </a:solidFill>
                <a:effectLst>
                  <a:outerShdw blurRad="38100" dist="38100" dir="2700000" algn="tl">
                    <a:srgbClr val="C0C0C0"/>
                  </a:outerShdw>
                </a:effectLst>
              </a:rPr>
              <a:t>(analysis &amp; design)</a:t>
            </a:r>
          </a:p>
        </p:txBody>
      </p:sp>
      <p:sp>
        <p:nvSpPr>
          <p:cNvPr id="478227" name="Text Box 19"/>
          <p:cNvSpPr txBox="1">
            <a:spLocks noChangeArrowheads="1"/>
          </p:cNvSpPr>
          <p:nvPr/>
        </p:nvSpPr>
        <p:spPr bwMode="auto">
          <a:xfrm>
            <a:off x="2057400" y="5638800"/>
            <a:ext cx="176202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0099FF"/>
                </a:solidFill>
                <a:effectLst>
                  <a:outerShdw blurRad="38100" dist="38100" dir="2700000" algn="tl">
                    <a:srgbClr val="C0C0C0"/>
                  </a:outerShdw>
                </a:effectLst>
              </a:rPr>
              <a:t>Construction &amp; </a:t>
            </a:r>
          </a:p>
          <a:p>
            <a:r>
              <a:rPr lang="en-US" dirty="0">
                <a:solidFill>
                  <a:srgbClr val="0099FF"/>
                </a:solidFill>
                <a:effectLst>
                  <a:outerShdw blurRad="38100" dist="38100" dir="2700000" algn="tl">
                    <a:srgbClr val="C0C0C0"/>
                  </a:outerShdw>
                </a:effectLst>
              </a:rPr>
              <a:t>release</a:t>
            </a:r>
          </a:p>
        </p:txBody>
      </p:sp>
      <p:sp>
        <p:nvSpPr>
          <p:cNvPr id="478228" name="Text Box 20"/>
          <p:cNvSpPr txBox="1">
            <a:spLocks noChangeArrowheads="1"/>
          </p:cNvSpPr>
          <p:nvPr/>
        </p:nvSpPr>
        <p:spPr bwMode="auto">
          <a:xfrm>
            <a:off x="1022350" y="3352800"/>
            <a:ext cx="12362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err="1">
                <a:solidFill>
                  <a:srgbClr val="6666FF"/>
                </a:solidFill>
                <a:effectLst>
                  <a:outerShdw blurRad="38100" dist="38100" dir="2700000" algn="tl">
                    <a:srgbClr val="C0C0C0"/>
                  </a:outerShdw>
                </a:effectLst>
              </a:rPr>
              <a:t>Custome</a:t>
            </a:r>
            <a:endParaRPr lang="en-US" dirty="0">
              <a:solidFill>
                <a:srgbClr val="6666FF"/>
              </a:solidFill>
              <a:effectLst>
                <a:outerShdw blurRad="38100" dist="38100" dir="2700000" algn="tl">
                  <a:srgbClr val="C0C0C0"/>
                </a:outerShdw>
              </a:effectLst>
            </a:endParaRPr>
          </a:p>
          <a:p>
            <a:r>
              <a:rPr lang="en-US" dirty="0">
                <a:solidFill>
                  <a:srgbClr val="6666FF"/>
                </a:solidFill>
                <a:effectLst>
                  <a:outerShdw blurRad="38100" dist="38100" dir="2700000" algn="tl">
                    <a:srgbClr val="C0C0C0"/>
                  </a:outerShdw>
                </a:effectLst>
              </a:rPr>
              <a:t>evaluation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478221"/>
                                        </p:tgtEl>
                                        <p:attrNameLst>
                                          <p:attrName>style.visibility</p:attrName>
                                        </p:attrNameLst>
                                      </p:cBhvr>
                                      <p:to>
                                        <p:strVal val="visible"/>
                                      </p:to>
                                    </p:set>
                                    <p:animEffect transition="in" filter="strips(downRight)">
                                      <p:cBhvr>
                                        <p:cTn id="7" dur="2000"/>
                                        <p:tgtEl>
                                          <p:spTgt spid="478221"/>
                                        </p:tgtEl>
                                      </p:cBhvr>
                                    </p:animEffect>
                                  </p:childTnLst>
                                </p:cTn>
                              </p:par>
                              <p:par>
                                <p:cTn id="8" presetID="18" presetClass="entr" presetSubtype="9" fill="hold" grpId="0" nodeType="withEffect">
                                  <p:stCondLst>
                                    <p:cond delay="1000"/>
                                  </p:stCondLst>
                                  <p:childTnLst>
                                    <p:set>
                                      <p:cBhvr>
                                        <p:cTn id="9" dur="1" fill="hold">
                                          <p:stCondLst>
                                            <p:cond delay="0"/>
                                          </p:stCondLst>
                                        </p:cTn>
                                        <p:tgtEl>
                                          <p:spTgt spid="478222"/>
                                        </p:tgtEl>
                                        <p:attrNameLst>
                                          <p:attrName>style.visibility</p:attrName>
                                        </p:attrNameLst>
                                      </p:cBhvr>
                                      <p:to>
                                        <p:strVal val="visible"/>
                                      </p:to>
                                    </p:set>
                                    <p:animEffect transition="in" filter="strips(upLeft)">
                                      <p:cBhvr>
                                        <p:cTn id="10" dur="2000"/>
                                        <p:tgtEl>
                                          <p:spTgt spid="478222"/>
                                        </p:tgtEl>
                                      </p:cBhvr>
                                    </p:animEffect>
                                  </p:childTnLst>
                                </p:cTn>
                              </p:par>
                              <p:par>
                                <p:cTn id="11" presetID="18" presetClass="entr" presetSubtype="6" fill="hold" grpId="0" nodeType="withEffect">
                                  <p:stCondLst>
                                    <p:cond delay="2000"/>
                                  </p:stCondLst>
                                  <p:childTnLst>
                                    <p:set>
                                      <p:cBhvr>
                                        <p:cTn id="12" dur="1" fill="hold">
                                          <p:stCondLst>
                                            <p:cond delay="0"/>
                                          </p:stCondLst>
                                        </p:cTn>
                                        <p:tgtEl>
                                          <p:spTgt spid="478219"/>
                                        </p:tgtEl>
                                        <p:attrNameLst>
                                          <p:attrName>style.visibility</p:attrName>
                                        </p:attrNameLst>
                                      </p:cBhvr>
                                      <p:to>
                                        <p:strVal val="visible"/>
                                      </p:to>
                                    </p:set>
                                    <p:animEffect transition="in" filter="strips(downRight)">
                                      <p:cBhvr>
                                        <p:cTn id="13" dur="2000"/>
                                        <p:tgtEl>
                                          <p:spTgt spid="478219"/>
                                        </p:tgtEl>
                                      </p:cBhvr>
                                    </p:animEffect>
                                  </p:childTnLst>
                                </p:cTn>
                              </p:par>
                              <p:par>
                                <p:cTn id="14" presetID="18" presetClass="entr" presetSubtype="9" fill="hold" grpId="0" nodeType="withEffect">
                                  <p:stCondLst>
                                    <p:cond delay="3000"/>
                                  </p:stCondLst>
                                  <p:childTnLst>
                                    <p:set>
                                      <p:cBhvr>
                                        <p:cTn id="15" dur="1" fill="hold">
                                          <p:stCondLst>
                                            <p:cond delay="0"/>
                                          </p:stCondLst>
                                        </p:cTn>
                                        <p:tgtEl>
                                          <p:spTgt spid="478220"/>
                                        </p:tgtEl>
                                        <p:attrNameLst>
                                          <p:attrName>style.visibility</p:attrName>
                                        </p:attrNameLst>
                                      </p:cBhvr>
                                      <p:to>
                                        <p:strVal val="visible"/>
                                      </p:to>
                                    </p:set>
                                    <p:animEffect transition="in" filter="strips(upLeft)">
                                      <p:cBhvr>
                                        <p:cTn id="16" dur="2000"/>
                                        <p:tgtEl>
                                          <p:spTgt spid="478220"/>
                                        </p:tgtEl>
                                      </p:cBhvr>
                                    </p:animEffect>
                                  </p:childTnLst>
                                </p:cTn>
                              </p:par>
                              <p:par>
                                <p:cTn id="17" presetID="18" presetClass="entr" presetSubtype="6" fill="hold" grpId="0" nodeType="withEffect">
                                  <p:stCondLst>
                                    <p:cond delay="4000"/>
                                  </p:stCondLst>
                                  <p:childTnLst>
                                    <p:set>
                                      <p:cBhvr>
                                        <p:cTn id="18" dur="1" fill="hold">
                                          <p:stCondLst>
                                            <p:cond delay="0"/>
                                          </p:stCondLst>
                                        </p:cTn>
                                        <p:tgtEl>
                                          <p:spTgt spid="478217"/>
                                        </p:tgtEl>
                                        <p:attrNameLst>
                                          <p:attrName>style.visibility</p:attrName>
                                        </p:attrNameLst>
                                      </p:cBhvr>
                                      <p:to>
                                        <p:strVal val="visible"/>
                                      </p:to>
                                    </p:set>
                                    <p:animEffect transition="in" filter="strips(downRight)">
                                      <p:cBhvr>
                                        <p:cTn id="19" dur="2000"/>
                                        <p:tgtEl>
                                          <p:spTgt spid="478217"/>
                                        </p:tgtEl>
                                      </p:cBhvr>
                                    </p:animEffect>
                                  </p:childTnLst>
                                </p:cTn>
                              </p:par>
                              <p:par>
                                <p:cTn id="20" presetID="18" presetClass="entr" presetSubtype="9" fill="hold" grpId="0" nodeType="withEffect">
                                  <p:stCondLst>
                                    <p:cond delay="5000"/>
                                  </p:stCondLst>
                                  <p:childTnLst>
                                    <p:set>
                                      <p:cBhvr>
                                        <p:cTn id="21" dur="1" fill="hold">
                                          <p:stCondLst>
                                            <p:cond delay="0"/>
                                          </p:stCondLst>
                                        </p:cTn>
                                        <p:tgtEl>
                                          <p:spTgt spid="478218"/>
                                        </p:tgtEl>
                                        <p:attrNameLst>
                                          <p:attrName>style.visibility</p:attrName>
                                        </p:attrNameLst>
                                      </p:cBhvr>
                                      <p:to>
                                        <p:strVal val="visible"/>
                                      </p:to>
                                    </p:set>
                                    <p:animEffect transition="in" filter="strips(upLeft)">
                                      <p:cBhvr>
                                        <p:cTn id="22" dur="2000"/>
                                        <p:tgtEl>
                                          <p:spTgt spid="478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7" grpId="0" animBg="1"/>
      <p:bldP spid="478218" grpId="0" animBg="1"/>
      <p:bldP spid="478219" grpId="0" animBg="1"/>
      <p:bldP spid="478220" grpId="0" animBg="1"/>
      <p:bldP spid="478221" grpId="0" animBg="1"/>
      <p:bldP spid="4782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Spiral model</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DED05017-923D-480E-B02E-B52739184DCA}" type="slidenum">
              <a:rPr lang="en-US" smtClean="0"/>
              <a:pPr/>
              <a:t>27</a:t>
            </a:fld>
            <a:endParaRPr lang="en-US"/>
          </a:p>
        </p:txBody>
      </p:sp>
      <p:pic>
        <p:nvPicPr>
          <p:cNvPr id="4853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371600"/>
            <a:ext cx="7372350" cy="524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648200" y="5158026"/>
            <a:ext cx="4152901" cy="1354217"/>
          </a:xfrm>
          <a:prstGeom prst="rect">
            <a:avLst/>
          </a:prstGeom>
        </p:spPr>
        <p:txBody>
          <a:bodyPr wrap="square">
            <a:spAutoFit/>
          </a:bodyPr>
          <a:lstStyle/>
          <a:p>
            <a:pPr algn="r"/>
            <a:r>
              <a:rPr lang="en-US" dirty="0"/>
              <a:t>Spiral model</a:t>
            </a:r>
          </a:p>
          <a:p>
            <a:pPr marL="0" lvl="1" algn="r"/>
            <a:r>
              <a:rPr lang="en-US" sz="1600" i="1" dirty="0"/>
              <a:t>(Source: Roger S Pressman, </a:t>
            </a:r>
          </a:p>
          <a:p>
            <a:pPr marL="0" lvl="1" algn="r"/>
            <a:r>
              <a:rPr lang="en-US" sz="1600" i="1" dirty="0">
                <a:solidFill>
                  <a:schemeClr val="accent1"/>
                </a:solidFill>
              </a:rPr>
              <a:t>Software Engineering: </a:t>
            </a:r>
          </a:p>
          <a:p>
            <a:pPr marL="0" lvl="1" algn="r"/>
            <a:r>
              <a:rPr lang="en-US" sz="1600" i="1" dirty="0">
                <a:solidFill>
                  <a:schemeClr val="accent1"/>
                </a:solidFill>
              </a:rPr>
              <a:t>A Practitioner's Approach (7</a:t>
            </a:r>
            <a:r>
              <a:rPr lang="en-US" sz="1600" i="1" baseline="30000" dirty="0">
                <a:solidFill>
                  <a:schemeClr val="accent1"/>
                </a:solidFill>
              </a:rPr>
              <a:t>th</a:t>
            </a:r>
            <a:r>
              <a:rPr lang="en-US" sz="1600" i="1" dirty="0">
                <a:solidFill>
                  <a:schemeClr val="accent1"/>
                </a:solidFill>
              </a:rPr>
              <a:t> Edition)</a:t>
            </a:r>
            <a:r>
              <a:rPr lang="en-US" sz="1600" i="1" dirty="0"/>
              <a:t>, McGraw-Hill, 2009)</a:t>
            </a:r>
          </a:p>
        </p:txBody>
      </p:sp>
    </p:spTree>
    <p:extLst>
      <p:ext uri="{BB962C8B-B14F-4D97-AF65-F5344CB8AC3E}">
        <p14:creationId xmlns:p14="http://schemas.microsoft.com/office/powerpoint/2010/main" val="3614725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Spiral model</a:t>
            </a:r>
          </a:p>
        </p:txBody>
      </p:sp>
      <p:sp>
        <p:nvSpPr>
          <p:cNvPr id="4" name="Slide Number Placeholder 3"/>
          <p:cNvSpPr>
            <a:spLocks noGrp="1"/>
          </p:cNvSpPr>
          <p:nvPr>
            <p:ph type="sldNum" sz="quarter" idx="12"/>
          </p:nvPr>
        </p:nvSpPr>
        <p:spPr/>
        <p:txBody>
          <a:bodyPr/>
          <a:lstStyle/>
          <a:p>
            <a:fld id="{DED05017-923D-480E-B02E-B52739184DCA}" type="slidenum">
              <a:rPr lang="en-US" smtClean="0"/>
              <a:pPr/>
              <a:t>28</a:t>
            </a:fld>
            <a:endParaRPr lang="en-US"/>
          </a:p>
        </p:txBody>
      </p:sp>
      <p:pic>
        <p:nvPicPr>
          <p:cNvPr id="4843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1314450"/>
            <a:ext cx="6667500" cy="462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676400" y="5886271"/>
            <a:ext cx="5715000" cy="923330"/>
          </a:xfrm>
          <a:prstGeom prst="rect">
            <a:avLst/>
          </a:prstGeom>
        </p:spPr>
        <p:txBody>
          <a:bodyPr wrap="square">
            <a:spAutoFit/>
          </a:bodyPr>
          <a:lstStyle/>
          <a:p>
            <a:pPr algn="ctr"/>
            <a:r>
              <a:rPr lang="en-US" dirty="0"/>
              <a:t>Boehm’s spiral model of the software process</a:t>
            </a:r>
          </a:p>
          <a:p>
            <a:pPr algn="ctr"/>
            <a:r>
              <a:rPr lang="en-US" i="1" dirty="0"/>
              <a:t>(Ian </a:t>
            </a:r>
            <a:r>
              <a:rPr lang="en-US" i="1" dirty="0" err="1"/>
              <a:t>Sommerville</a:t>
            </a:r>
            <a:r>
              <a:rPr lang="en-US" i="1" dirty="0"/>
              <a:t>, </a:t>
            </a:r>
            <a:r>
              <a:rPr lang="en-US" i="1" dirty="0">
                <a:solidFill>
                  <a:schemeClr val="accent1"/>
                </a:solidFill>
              </a:rPr>
              <a:t>Software Engineering (9th Edition)</a:t>
            </a:r>
            <a:r>
              <a:rPr lang="en-US" i="1" dirty="0"/>
              <a:t>, Addison Wesley, 2010</a:t>
            </a:r>
            <a:r>
              <a:rPr lang="en-US" dirty="0"/>
              <a:t>)</a:t>
            </a:r>
          </a:p>
        </p:txBody>
      </p:sp>
    </p:spTree>
    <p:extLst>
      <p:ext uri="{BB962C8B-B14F-4D97-AF65-F5344CB8AC3E}">
        <p14:creationId xmlns:p14="http://schemas.microsoft.com/office/powerpoint/2010/main" val="2613124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10" name="Rectangle 6"/>
          <p:cNvSpPr>
            <a:spLocks noGrp="1" noChangeArrowheads="1"/>
          </p:cNvSpPr>
          <p:nvPr>
            <p:ph type="title"/>
          </p:nvPr>
        </p:nvSpPr>
        <p:spPr/>
        <p:txBody>
          <a:bodyPr/>
          <a:lstStyle/>
          <a:p>
            <a:r>
              <a:rPr lang="en-US" sz="2800" dirty="0"/>
              <a:t>Development of software engineering</a:t>
            </a:r>
          </a:p>
        </p:txBody>
      </p:sp>
      <p:sp>
        <p:nvSpPr>
          <p:cNvPr id="456711" name="Rectangle 7"/>
          <p:cNvSpPr>
            <a:spLocks noGrp="1" noChangeArrowheads="1"/>
          </p:cNvSpPr>
          <p:nvPr>
            <p:ph type="body" idx="1"/>
          </p:nvPr>
        </p:nvSpPr>
        <p:spPr/>
        <p:txBody>
          <a:bodyPr/>
          <a:lstStyle/>
          <a:p>
            <a:r>
              <a:rPr lang="en-US" sz="2000" dirty="0"/>
              <a:t>Refer to textbooks…</a:t>
            </a:r>
          </a:p>
        </p:txBody>
      </p:sp>
      <p:sp>
        <p:nvSpPr>
          <p:cNvPr id="10" name="Slide Number Placeholder 5"/>
          <p:cNvSpPr>
            <a:spLocks noGrp="1"/>
          </p:cNvSpPr>
          <p:nvPr>
            <p:ph type="sldNum" sz="quarter" idx="12"/>
          </p:nvPr>
        </p:nvSpPr>
        <p:spPr/>
        <p:txBody>
          <a:bodyPr/>
          <a:lstStyle/>
          <a:p>
            <a:fld id="{0B112B50-2434-401A-8A9C-E6BF38BF7F25}" type="slidenum">
              <a:rPr lang="en-US" smtClean="0"/>
              <a:pPr/>
              <a:t>29</a:t>
            </a:fld>
            <a:endParaRPr lang="en-US"/>
          </a:p>
        </p:txBody>
      </p:sp>
    </p:spTree>
    <p:extLst>
      <p:ext uri="{BB962C8B-B14F-4D97-AF65-F5344CB8AC3E}">
        <p14:creationId xmlns:p14="http://schemas.microsoft.com/office/powerpoint/2010/main" val="41383668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DB200B1-6F8A-4F47-8EAF-83CFF361170B}" type="slidenum">
              <a:rPr lang="en-US"/>
              <a:pPr/>
              <a:t>30</a:t>
            </a:fld>
            <a:endParaRPr lang="en-US"/>
          </a:p>
        </p:txBody>
      </p:sp>
      <p:sp>
        <p:nvSpPr>
          <p:cNvPr id="464898" name="Rectangle 2"/>
          <p:cNvSpPr>
            <a:spLocks noGrp="1" noChangeArrowheads="1"/>
          </p:cNvSpPr>
          <p:nvPr>
            <p:ph type="title"/>
          </p:nvPr>
        </p:nvSpPr>
        <p:spPr/>
        <p:txBody>
          <a:bodyPr/>
          <a:lstStyle/>
          <a:p>
            <a:r>
              <a:rPr lang="en-US" sz="2800" dirty="0"/>
              <a:t>Problems in software development</a:t>
            </a:r>
          </a:p>
        </p:txBody>
      </p:sp>
      <p:sp>
        <p:nvSpPr>
          <p:cNvPr id="464899" name="Rectangle 3"/>
          <p:cNvSpPr>
            <a:spLocks noGrp="1" noChangeArrowheads="1"/>
          </p:cNvSpPr>
          <p:nvPr>
            <p:ph type="body" idx="1"/>
          </p:nvPr>
        </p:nvSpPr>
        <p:spPr/>
        <p:txBody>
          <a:bodyPr/>
          <a:lstStyle/>
          <a:p>
            <a:pPr algn="just"/>
            <a:r>
              <a:rPr lang="en-US" sz="2000" dirty="0"/>
              <a:t>Refer to textbooks and Module 1: Best Practices of Software Engineering in the course Mastering Object-Oriented Analysis and Design with UML 2.0 by IBM Software Group</a:t>
            </a:r>
          </a:p>
          <a:p>
            <a:endParaRPr lang="en-US" sz="2000" dirty="0"/>
          </a:p>
        </p:txBody>
      </p:sp>
    </p:spTree>
    <p:extLst>
      <p:ext uri="{BB962C8B-B14F-4D97-AF65-F5344CB8AC3E}">
        <p14:creationId xmlns:p14="http://schemas.microsoft.com/office/powerpoint/2010/main" val="4023308522"/>
      </p:ext>
    </p:extLst>
  </p:cSld>
  <p:clrMapOvr>
    <a:masterClrMapping/>
  </p:clrMapOvr>
</p:sld>
</file>

<file path=ppt/theme/theme1.xml><?xml version="1.0" encoding="utf-8"?>
<a:theme xmlns:a="http://schemas.openxmlformats.org/drawingml/2006/main" name="1_ms01_1">
  <a:themeElements>
    <a:clrScheme name="1_ms01_1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fontScheme name="1_ms01_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ms01_1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clrMap bg1="lt1" tx1="dk1" bg2="lt2" tx2="dk2" accent1="accent1" accent2="accent2" accent3="accent3" accent4="accent4" accent5="accent5" accent6="accent6" hlink="hlink" folHlink="folHlink"/>
    </a:extraClrScheme>
    <a:extraClrScheme>
      <a:clrScheme name="1_ms01_1 2">
        <a:dk1>
          <a:srgbClr val="0E5D92"/>
        </a:dk1>
        <a:lt1>
          <a:srgbClr val="FFFFFF"/>
        </a:lt1>
        <a:dk2>
          <a:srgbClr val="137C9D"/>
        </a:dk2>
        <a:lt2>
          <a:srgbClr val="C0C0C0"/>
        </a:lt2>
        <a:accent1>
          <a:srgbClr val="35AACF"/>
        </a:accent1>
        <a:accent2>
          <a:srgbClr val="75CDB2"/>
        </a:accent2>
        <a:accent3>
          <a:srgbClr val="FFFFFF"/>
        </a:accent3>
        <a:accent4>
          <a:srgbClr val="0A4E7C"/>
        </a:accent4>
        <a:accent5>
          <a:srgbClr val="AED2E4"/>
        </a:accent5>
        <a:accent6>
          <a:srgbClr val="69BAA1"/>
        </a:accent6>
        <a:hlink>
          <a:srgbClr val="E8C86E"/>
        </a:hlink>
        <a:folHlink>
          <a:srgbClr val="1E68D6"/>
        </a:folHlink>
      </a:clrScheme>
      <a:clrMap bg1="lt1" tx1="dk1" bg2="lt2" tx2="dk2" accent1="accent1" accent2="accent2" accent3="accent3" accent4="accent4" accent5="accent5" accent6="accent6" hlink="hlink" folHlink="folHlink"/>
    </a:extraClrScheme>
    <a:extraClrScheme>
      <a:clrScheme name="1_ms01_1 3">
        <a:dk1>
          <a:srgbClr val="164D60"/>
        </a:dk1>
        <a:lt1>
          <a:srgbClr val="FFFFFF"/>
        </a:lt1>
        <a:dk2>
          <a:srgbClr val="2A8486"/>
        </a:dk2>
        <a:lt2>
          <a:srgbClr val="C0C0C0"/>
        </a:lt2>
        <a:accent1>
          <a:srgbClr val="48BC77"/>
        </a:accent1>
        <a:accent2>
          <a:srgbClr val="ECCA4C"/>
        </a:accent2>
        <a:accent3>
          <a:srgbClr val="FFFFFF"/>
        </a:accent3>
        <a:accent4>
          <a:srgbClr val="114051"/>
        </a:accent4>
        <a:accent5>
          <a:srgbClr val="B1DABD"/>
        </a:accent5>
        <a:accent6>
          <a:srgbClr val="D6B744"/>
        </a:accent6>
        <a:hlink>
          <a:srgbClr val="3191E9"/>
        </a:hlink>
        <a:folHlink>
          <a:srgbClr val="E3694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Sample presentation slides with animation</Template>
  <TotalTime>2133</TotalTime>
  <Words>1368</Words>
  <Application>Microsoft Office PowerPoint</Application>
  <PresentationFormat>On-screen Show (4:3)</PresentationFormat>
  <Paragraphs>289</Paragraphs>
  <Slides>30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Unicode MS</vt:lpstr>
      <vt:lpstr>Times New Roman</vt:lpstr>
      <vt:lpstr>Wingdings</vt:lpstr>
      <vt:lpstr>Wingdings 2</vt:lpstr>
      <vt:lpstr>1_ms01_1</vt:lpstr>
      <vt:lpstr>Introduction</vt:lpstr>
      <vt:lpstr>References</vt:lpstr>
      <vt:lpstr>What is software?</vt:lpstr>
      <vt:lpstr>What is software?</vt:lpstr>
      <vt:lpstr>What is software?</vt:lpstr>
      <vt:lpstr>Software applications</vt:lpstr>
      <vt:lpstr>What is software engineering?</vt:lpstr>
      <vt:lpstr>Software engineering layers</vt:lpstr>
      <vt:lpstr>Software production lines</vt:lpstr>
      <vt:lpstr>Software production lines</vt:lpstr>
      <vt:lpstr>What are the attributes of good software?</vt:lpstr>
      <vt:lpstr>Characteristics of a good software?</vt:lpstr>
      <vt:lpstr>Characteristics of a good software?</vt:lpstr>
      <vt:lpstr>Characteristics of a good software?</vt:lpstr>
      <vt:lpstr>Characteristics of a good software?</vt:lpstr>
      <vt:lpstr>Characteristics of a good software?</vt:lpstr>
      <vt:lpstr>Characteristics of a good software?</vt:lpstr>
      <vt:lpstr>Characteristics of a good software?</vt:lpstr>
      <vt:lpstr>Software process</vt:lpstr>
      <vt:lpstr>Waterfall model (linear sequential model)</vt:lpstr>
      <vt:lpstr>Waterfall model (linear sequential model)</vt:lpstr>
      <vt:lpstr>Waterfall model (linear sequential model)</vt:lpstr>
      <vt:lpstr>Waterfall model (linear sequential model)</vt:lpstr>
      <vt:lpstr>Prototyping model</vt:lpstr>
      <vt:lpstr>Prototyping model</vt:lpstr>
      <vt:lpstr>Spiral model</vt:lpstr>
      <vt:lpstr>Spiral model</vt:lpstr>
      <vt:lpstr>Spiral model</vt:lpstr>
      <vt:lpstr>Development of software engineering</vt:lpstr>
      <vt:lpstr>Problems in software development</vt:lpstr>
    </vt:vector>
  </TitlesOfParts>
  <Company>University of Natural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Tran Minh Triet</dc:creator>
  <cp:lastModifiedBy>Minh-Triet TRAN</cp:lastModifiedBy>
  <cp:revision>228</cp:revision>
  <dcterms:created xsi:type="dcterms:W3CDTF">2006-05-28T09:28:45Z</dcterms:created>
  <dcterms:modified xsi:type="dcterms:W3CDTF">2016-09-17T16:15:01Z</dcterms:modified>
</cp:coreProperties>
</file>