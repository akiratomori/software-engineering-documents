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74" r:id="rId12"/>
    <p:sldId id="272" r:id="rId13"/>
    <p:sldId id="273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161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489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34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3605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134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756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472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295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730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842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598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272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5583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0DE9E5-BC88-6F6F-E01A-42FC698A5C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39026" y="2618608"/>
            <a:ext cx="6496739" cy="1357044"/>
          </a:xfrm>
        </p:spPr>
        <p:txBody>
          <a:bodyPr anchor="b">
            <a:normAutofit/>
          </a:bodyPr>
          <a:lstStyle/>
          <a:p>
            <a:r>
              <a:rPr lang="en-US" dirty="0"/>
              <a:t>Course Introduction</a:t>
            </a:r>
            <a:endParaRPr lang="en-US" sz="5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D82709-F9FD-13B4-9D7E-6EB5129A17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</p:spPr>
        <p:txBody>
          <a:bodyPr anchor="t">
            <a:normAutofit/>
          </a:bodyPr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5A67B4-C5BA-D562-417B-A2D9F3B7B7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200"/>
          <a:stretch>
            <a:fillRect/>
          </a:stretch>
        </p:blipFill>
        <p:spPr>
          <a:xfrm>
            <a:off x="-1653395" y="48602"/>
            <a:ext cx="6931132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F2F4F61-07A4-8347-9037-49C6AA4A3E4C}"/>
              </a:ext>
            </a:extLst>
          </p:cNvPr>
          <p:cNvSpPr txBox="1"/>
          <p:nvPr/>
        </p:nvSpPr>
        <p:spPr>
          <a:xfrm>
            <a:off x="9515061" y="172279"/>
            <a:ext cx="1911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Software Design</a:t>
            </a:r>
          </a:p>
        </p:txBody>
      </p:sp>
    </p:spTree>
    <p:extLst>
      <p:ext uri="{BB962C8B-B14F-4D97-AF65-F5344CB8AC3E}">
        <p14:creationId xmlns:p14="http://schemas.microsoft.com/office/powerpoint/2010/main" val="2763891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C1C8B-FABD-EAAE-A7F9-9646CBAD2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Course Objectives</a:t>
            </a:r>
            <a:br>
              <a:rPr lang="en-US" b="0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25E0E-E2F0-E0CA-7E27-87FACD3BA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course aims to equip students with basic skills to analyze and design software. </a:t>
            </a:r>
          </a:p>
          <a:p>
            <a:r>
              <a:rPr lang="en-US" dirty="0"/>
              <a:t>Upon completion this course, students can: </a:t>
            </a:r>
          </a:p>
          <a:p>
            <a:pPr lvl="1"/>
            <a:r>
              <a:rPr lang="en-US" dirty="0"/>
              <a:t>Describe the common principles to analyze and design software from software requirements</a:t>
            </a:r>
          </a:p>
          <a:p>
            <a:pPr lvl="1"/>
            <a:r>
              <a:rPr lang="en-US" dirty="0"/>
              <a:t>Apply object oriented methods and techniques to analyze and design software </a:t>
            </a:r>
          </a:p>
          <a:p>
            <a:pPr lvl="1"/>
            <a:r>
              <a:rPr lang="en-US" dirty="0"/>
              <a:t>Recognize, analyze and evaluate basic pros and cons of an existing analysis or design model, the architecture of a software system, the communication between components in a given system.</a:t>
            </a:r>
          </a:p>
          <a:p>
            <a:pPr lvl="1"/>
            <a:r>
              <a:rPr lang="en-US" dirty="0"/>
              <a:t>Apply basic object oriented techniques to optimize analysis/design models to enhance the evolution and flexibility of software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912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83FAA-DEDD-A80E-E2A7-1B9A9E702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 of Content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99D99-8EFF-DA62-9354-A0FDD0D4E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course introduces the common principles and practices of </a:t>
            </a:r>
            <a:r>
              <a:rPr lang="en-US" b="1" dirty="0"/>
              <a:t>software design</a:t>
            </a:r>
            <a:r>
              <a:rPr lang="en-US" dirty="0"/>
              <a:t>.  </a:t>
            </a:r>
          </a:p>
          <a:p>
            <a:r>
              <a:rPr lang="en-US" dirty="0"/>
              <a:t>The content of this course focuses on object oriented techniques (using UML) to analyze, to design architecture, interface, business logic, and data. </a:t>
            </a:r>
          </a:p>
          <a:p>
            <a:r>
              <a:rPr lang="en-US" dirty="0"/>
              <a:t>Several advanced topics can be optionally introduced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160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F4140-BD16-6A4A-6F3E-C6069C061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Assignments, Projects, and Examinations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9BB03-09D3-D34E-A34C-D32C73E49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Assignments			2.0 marks</a:t>
            </a:r>
          </a:p>
          <a:p>
            <a:r>
              <a:rPr lang="en-US" dirty="0"/>
              <a:t>Final Exam 			4.0 marks</a:t>
            </a:r>
          </a:p>
          <a:p>
            <a:r>
              <a:rPr lang="en-US" dirty="0"/>
              <a:t>Final Project			4.0 marks</a:t>
            </a:r>
          </a:p>
          <a:p>
            <a:pPr lvl="1"/>
            <a:r>
              <a:rPr lang="en-US" dirty="0"/>
              <a:t>2 student(s) per group</a:t>
            </a:r>
          </a:p>
          <a:p>
            <a:pPr lvl="1"/>
            <a:r>
              <a:rPr lang="en-US" dirty="0"/>
              <a:t>Documentation:		2.0 marks</a:t>
            </a:r>
          </a:p>
          <a:p>
            <a:pPr lvl="1"/>
            <a:r>
              <a:rPr lang="en-US" dirty="0"/>
              <a:t>Application:			2.0 marks</a:t>
            </a:r>
          </a:p>
          <a:p>
            <a:r>
              <a:rPr lang="en-US" dirty="0"/>
              <a:t>Advanced Topics (optional)	+1.0 mark </a:t>
            </a:r>
          </a:p>
        </p:txBody>
      </p:sp>
    </p:spTree>
    <p:extLst>
      <p:ext uri="{BB962C8B-B14F-4D97-AF65-F5344CB8AC3E}">
        <p14:creationId xmlns:p14="http://schemas.microsoft.com/office/powerpoint/2010/main" val="2641568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01C6B-63D5-2259-4FFA-0A258D5D7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Content Outline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F6073-A24E-F80B-F7F1-F40E0707C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Overview of Software Design</a:t>
            </a:r>
          </a:p>
          <a:p>
            <a:pPr lvl="1"/>
            <a:r>
              <a:rPr lang="en-US" dirty="0"/>
              <a:t>Introduction to Software Design</a:t>
            </a:r>
          </a:p>
          <a:p>
            <a:pPr lvl="1"/>
            <a:r>
              <a:rPr lang="en-US" dirty="0"/>
              <a:t>Software Design Process</a:t>
            </a:r>
          </a:p>
          <a:p>
            <a:pPr lvl="1"/>
            <a:r>
              <a:rPr lang="en-US" dirty="0"/>
              <a:t>Design Qualities</a:t>
            </a:r>
          </a:p>
        </p:txBody>
      </p:sp>
    </p:spTree>
    <p:extLst>
      <p:ext uri="{BB962C8B-B14F-4D97-AF65-F5344CB8AC3E}">
        <p14:creationId xmlns:p14="http://schemas.microsoft.com/office/powerpoint/2010/main" val="33755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10A40-64A2-651B-E330-E3D6EEDA1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61AD7-069B-C2F4-E620-1195ED1EE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Content Outline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B2BB5-066C-2129-AE92-2AB3EC621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2. Software Modeling</a:t>
            </a:r>
          </a:p>
          <a:p>
            <a:pPr lvl="1"/>
            <a:r>
              <a:rPr lang="en-US" dirty="0"/>
              <a:t>Overview of UML</a:t>
            </a:r>
          </a:p>
          <a:p>
            <a:pPr lvl="1"/>
            <a:r>
              <a:rPr lang="en-US" dirty="0"/>
              <a:t>Important Diagrams:</a:t>
            </a:r>
          </a:p>
          <a:p>
            <a:pPr lvl="2"/>
            <a:r>
              <a:rPr lang="en-US" dirty="0" err="1"/>
              <a:t>Usecase</a:t>
            </a:r>
            <a:r>
              <a:rPr lang="en-US" dirty="0"/>
              <a:t> Diagram</a:t>
            </a:r>
          </a:p>
          <a:p>
            <a:pPr lvl="2"/>
            <a:r>
              <a:rPr lang="en-US" dirty="0"/>
              <a:t>Sequence Diagram</a:t>
            </a:r>
          </a:p>
          <a:p>
            <a:pPr lvl="2"/>
            <a:r>
              <a:rPr lang="en-US" dirty="0"/>
              <a:t>Class Diagram</a:t>
            </a:r>
          </a:p>
          <a:p>
            <a:pPr lvl="2"/>
            <a:r>
              <a:rPr lang="en-US" dirty="0"/>
              <a:t>Component Diagram </a:t>
            </a:r>
          </a:p>
          <a:p>
            <a:pPr lvl="2"/>
            <a:r>
              <a:rPr lang="en-US" dirty="0"/>
              <a:t>Deployment Diagram</a:t>
            </a:r>
          </a:p>
          <a:p>
            <a:pPr lvl="1"/>
            <a:r>
              <a:rPr lang="en-US" dirty="0"/>
              <a:t>C4 Model</a:t>
            </a:r>
          </a:p>
        </p:txBody>
      </p:sp>
    </p:spTree>
    <p:extLst>
      <p:ext uri="{BB962C8B-B14F-4D97-AF65-F5344CB8AC3E}">
        <p14:creationId xmlns:p14="http://schemas.microsoft.com/office/powerpoint/2010/main" val="235486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BEC87-5F1A-A450-939A-644534F3B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5B5B8-DCC6-0D6B-D1B3-609855F2A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Content Outline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BB552-AF76-5C52-AB6D-897C9ACDD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3: Design Principles</a:t>
            </a:r>
          </a:p>
          <a:p>
            <a:pPr lvl="1"/>
            <a:r>
              <a:rPr lang="en-US" dirty="0"/>
              <a:t>SOLID Principles</a:t>
            </a:r>
          </a:p>
          <a:p>
            <a:pPr lvl="1"/>
            <a:r>
              <a:rPr lang="en-US" dirty="0"/>
              <a:t>Other Principles</a:t>
            </a:r>
          </a:p>
          <a:p>
            <a:pPr lvl="2"/>
            <a:r>
              <a:rPr lang="en-US" dirty="0"/>
              <a:t>DRY, KISS, and YAGNI.</a:t>
            </a:r>
          </a:p>
        </p:txBody>
      </p:sp>
    </p:spTree>
    <p:extLst>
      <p:ext uri="{BB962C8B-B14F-4D97-AF65-F5344CB8AC3E}">
        <p14:creationId xmlns:p14="http://schemas.microsoft.com/office/powerpoint/2010/main" val="1846367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099DD-A4C0-9FDB-B80E-B6953C1E3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74D24-077D-765A-32C7-5B6F2A8C7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Content Outline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7F291-428B-9CD1-63B1-5C72A2E05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4. Design Patterns</a:t>
            </a:r>
          </a:p>
          <a:p>
            <a:pPr lvl="1"/>
            <a:r>
              <a:rPr lang="en-US" dirty="0"/>
              <a:t>Creational Patterns: Singleton, Factory Method, Abstract Factory, and Builder.</a:t>
            </a:r>
          </a:p>
          <a:p>
            <a:pPr lvl="1"/>
            <a:r>
              <a:rPr lang="en-US" dirty="0"/>
              <a:t>Structural Patterns: Adapter, Composite, Decorator, Proxy, and Facade.</a:t>
            </a:r>
          </a:p>
          <a:p>
            <a:pPr lvl="1"/>
            <a:r>
              <a:rPr lang="en-US" dirty="0"/>
              <a:t>Behavioral Patterns: Observer, Strategy, Command, State, and Template Method.</a:t>
            </a:r>
          </a:p>
        </p:txBody>
      </p:sp>
    </p:spTree>
    <p:extLst>
      <p:ext uri="{BB962C8B-B14F-4D97-AF65-F5344CB8AC3E}">
        <p14:creationId xmlns:p14="http://schemas.microsoft.com/office/powerpoint/2010/main" val="134391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89ACF-E576-377D-A248-B4267955B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0E6B0-65D4-132A-F9D5-1F78759BA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Content Outline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3BDC0-BD11-377D-A793-27D009AD8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5. Software Architecture</a:t>
            </a:r>
          </a:p>
          <a:p>
            <a:pPr lvl="1"/>
            <a:r>
              <a:rPr lang="en-US" dirty="0"/>
              <a:t>Architecture vs. Detailed Design.</a:t>
            </a:r>
          </a:p>
          <a:p>
            <a:pPr lvl="1"/>
            <a:r>
              <a:rPr lang="en-US" dirty="0"/>
              <a:t>Architectural Styles:</a:t>
            </a:r>
          </a:p>
          <a:p>
            <a:pPr lvl="2"/>
            <a:r>
              <a:rPr lang="en-US" dirty="0"/>
              <a:t>Layered Architecture, Pipes and filters, Client-Server, Event-Driven Architecture, Service-Oriented Architecture (SOA), Microservices…</a:t>
            </a:r>
          </a:p>
          <a:p>
            <a:pPr lvl="1"/>
            <a:r>
              <a:rPr lang="en-US" dirty="0"/>
              <a:t>Architecture Patterns:</a:t>
            </a:r>
          </a:p>
          <a:p>
            <a:pPr lvl="2"/>
            <a:r>
              <a:rPr lang="en-US" dirty="0"/>
              <a:t>MVC, CQRS, Pub-Sub, Saga…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546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293AA-1787-BB8E-ADBB-9964C5A8A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953DE-2511-DAFC-16DE-5FAA34A90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Content Outline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33971-AD4E-F928-1351-335F1C568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6. System Design Fundamentals</a:t>
            </a:r>
          </a:p>
          <a:p>
            <a:pPr lvl="1"/>
            <a:r>
              <a:rPr lang="en-US" dirty="0"/>
              <a:t>Foundational Concepts: </a:t>
            </a:r>
          </a:p>
          <a:p>
            <a:pPr lvl="2"/>
            <a:r>
              <a:rPr lang="en-US" dirty="0"/>
              <a:t>Scalability, availability, reliability, performance, and maintainability</a:t>
            </a:r>
          </a:p>
          <a:p>
            <a:pPr lvl="2"/>
            <a:r>
              <a:rPr lang="en-US" dirty="0"/>
              <a:t>Latency vs. Throughput</a:t>
            </a:r>
          </a:p>
          <a:p>
            <a:pPr lvl="2"/>
            <a:r>
              <a:rPr lang="en-US" dirty="0"/>
              <a:t>Vertical vs. Horizontal Scaling</a:t>
            </a:r>
          </a:p>
          <a:p>
            <a:pPr lvl="2"/>
            <a:r>
              <a:rPr lang="en-US" dirty="0"/>
              <a:t>CAP Theorem.</a:t>
            </a:r>
          </a:p>
          <a:p>
            <a:pPr lvl="1"/>
            <a:r>
              <a:rPr lang="en-US" dirty="0"/>
              <a:t>Network Infrastructure: DNS, CDN, and Load Balancers.</a:t>
            </a:r>
          </a:p>
          <a:p>
            <a:pPr lvl="1"/>
            <a:r>
              <a:rPr lang="en-US" dirty="0"/>
              <a:t>Communication Protocols: RESTful API vs. </a:t>
            </a:r>
            <a:r>
              <a:rPr lang="en-US" dirty="0" err="1"/>
              <a:t>gRPC</a:t>
            </a:r>
            <a:r>
              <a:rPr lang="en-US" dirty="0"/>
              <a:t>; </a:t>
            </a:r>
            <a:r>
              <a:rPr lang="en-US" dirty="0" err="1"/>
              <a:t>WebSockets</a:t>
            </a:r>
            <a:r>
              <a:rPr lang="en-US" dirty="0"/>
              <a:t> vs. HTTP Long-polling.</a:t>
            </a:r>
          </a:p>
        </p:txBody>
      </p:sp>
    </p:spTree>
    <p:extLst>
      <p:ext uri="{BB962C8B-B14F-4D97-AF65-F5344CB8AC3E}">
        <p14:creationId xmlns:p14="http://schemas.microsoft.com/office/powerpoint/2010/main" val="722281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4A307-9382-C5DE-1CDB-C879EB407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D362A-A957-6F77-91FB-CE593309F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Content Outline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C57DC-85A8-9499-35F4-F9AF485CB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7. Database Design &amp; Caching</a:t>
            </a:r>
          </a:p>
          <a:p>
            <a:pPr lvl="1"/>
            <a:r>
              <a:rPr lang="en-US" dirty="0"/>
              <a:t>Database Design: </a:t>
            </a:r>
          </a:p>
          <a:p>
            <a:pPr lvl="2"/>
            <a:r>
              <a:rPr lang="en-US" dirty="0"/>
              <a:t>SQL vs. NoSQL; </a:t>
            </a:r>
          </a:p>
          <a:p>
            <a:pPr lvl="2"/>
            <a:r>
              <a:rPr lang="en-US" dirty="0"/>
              <a:t>Indexing and query optimization; </a:t>
            </a:r>
          </a:p>
          <a:p>
            <a:pPr lvl="2"/>
            <a:r>
              <a:rPr lang="en-US" dirty="0"/>
              <a:t>Searching large datasets (Inverted Index, Full-text Search with Elasticsearch).</a:t>
            </a:r>
          </a:p>
          <a:p>
            <a:pPr lvl="2"/>
            <a:r>
              <a:rPr lang="en-US" dirty="0"/>
              <a:t>Replication (Master-Slave/Master-Master) and Sharding; </a:t>
            </a:r>
          </a:p>
          <a:p>
            <a:pPr lvl="2"/>
            <a:r>
              <a:rPr lang="en-US" dirty="0"/>
              <a:t>ACID vs. BASE transactions; </a:t>
            </a:r>
          </a:p>
          <a:p>
            <a:pPr lvl="2"/>
            <a:r>
              <a:rPr lang="en-US" dirty="0"/>
              <a:t>Distributed Transactions (2PC, 3PC).</a:t>
            </a:r>
          </a:p>
          <a:p>
            <a:pPr lvl="1"/>
            <a:r>
              <a:rPr lang="en-US" dirty="0"/>
              <a:t>Caching: </a:t>
            </a:r>
          </a:p>
          <a:p>
            <a:pPr lvl="2"/>
            <a:r>
              <a:rPr lang="en-US" dirty="0"/>
              <a:t>Roles of caching (Client, CDN, Server, Database); </a:t>
            </a:r>
          </a:p>
          <a:p>
            <a:pPr lvl="2"/>
            <a:r>
              <a:rPr lang="en-US" dirty="0"/>
              <a:t>Strategies (Cache-aside, Write-through, Write-back); </a:t>
            </a:r>
          </a:p>
          <a:p>
            <a:pPr lvl="2"/>
            <a:r>
              <a:rPr lang="en-US" dirty="0"/>
              <a:t>Eviction Policies (LRU, LFU)</a:t>
            </a:r>
          </a:p>
        </p:txBody>
      </p:sp>
    </p:spTree>
    <p:extLst>
      <p:ext uri="{BB962C8B-B14F-4D97-AF65-F5344CB8AC3E}">
        <p14:creationId xmlns:p14="http://schemas.microsoft.com/office/powerpoint/2010/main" val="2392037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BBB6C-EC00-77CD-345B-4B3425C79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19ED7-B0F4-7466-08AB-FE4A9EF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Content Outline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C949B-A5E1-3183-945E-4CC224135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8. Asynchronous Processing &amp; Resilience</a:t>
            </a:r>
          </a:p>
          <a:p>
            <a:pPr lvl="1"/>
            <a:r>
              <a:rPr lang="en-US" dirty="0"/>
              <a:t>Message Queues: Producer-Consumer &amp; Publish-Subscribe models; Handling Backpressure. Practical systems like Kafka and RabbitMQ.</a:t>
            </a:r>
          </a:p>
          <a:p>
            <a:pPr lvl="1"/>
            <a:r>
              <a:rPr lang="en-US" dirty="0"/>
              <a:t>Resilience Patterns: Circuit Breaker, Retry with Exponential Backoff, and Bulkhead.</a:t>
            </a:r>
          </a:p>
          <a:p>
            <a:pPr lvl="1"/>
            <a:r>
              <a:rPr lang="en-US" dirty="0"/>
              <a:t>Reliability Metrics: SLA, SLO, SLI; MTTR (Mean Time To Recovery) and MTBF (Mean Time Between Failures).</a:t>
            </a:r>
          </a:p>
        </p:txBody>
      </p:sp>
    </p:spTree>
    <p:extLst>
      <p:ext uri="{BB962C8B-B14F-4D97-AF65-F5344CB8AC3E}">
        <p14:creationId xmlns:p14="http://schemas.microsoft.com/office/powerpoint/2010/main" val="1043156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26A2E-295C-2AF9-4493-E47F05EAA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965CA-BA1F-6AE9-3ED5-F0A89BDEB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Content Outline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FF9FB-666F-00D4-17B1-976F801A9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9. Advanced Topics</a:t>
            </a:r>
          </a:p>
          <a:p>
            <a:pPr lvl="1"/>
            <a:r>
              <a:rPr lang="en-US" dirty="0"/>
              <a:t>Authentication &amp; Authorization Design</a:t>
            </a:r>
          </a:p>
          <a:p>
            <a:pPr lvl="1"/>
            <a:r>
              <a:rPr lang="en-US" dirty="0"/>
              <a:t>Distributed Locking</a:t>
            </a:r>
          </a:p>
          <a:p>
            <a:pPr lvl="1"/>
            <a:r>
              <a:rPr lang="en-US" dirty="0"/>
              <a:t>Rate Limiting.</a:t>
            </a:r>
          </a:p>
        </p:txBody>
      </p:sp>
    </p:spTree>
    <p:extLst>
      <p:ext uri="{BB962C8B-B14F-4D97-AF65-F5344CB8AC3E}">
        <p14:creationId xmlns:p14="http://schemas.microsoft.com/office/powerpoint/2010/main" val="1220702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BE055-29AA-CD5B-4AD5-E7EE9AED1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E3BEF-2A49-340C-7EBA-FE36B43E7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Content Outline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91A4C-6D17-8BDD-A914-BF3714CF1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10. Case Studies</a:t>
            </a:r>
          </a:p>
          <a:p>
            <a:pPr lvl="1"/>
            <a:r>
              <a:rPr lang="en-US" dirty="0"/>
              <a:t>Objective: Apply all knowledge to solve real-world system design problems.</a:t>
            </a:r>
          </a:p>
          <a:p>
            <a:pPr lvl="1"/>
            <a:r>
              <a:rPr lang="en-US" dirty="0"/>
              <a:t>Case Studies: </a:t>
            </a:r>
          </a:p>
          <a:p>
            <a:pPr lvl="2"/>
            <a:r>
              <a:rPr lang="en-US" dirty="0"/>
              <a:t>Designing a URL Shortener</a:t>
            </a:r>
          </a:p>
          <a:p>
            <a:pPr lvl="2"/>
            <a:r>
              <a:rPr lang="en-US" dirty="0"/>
              <a:t>Chat System, </a:t>
            </a:r>
          </a:p>
          <a:p>
            <a:pPr lvl="2"/>
            <a:r>
              <a:rPr lang="en-US" dirty="0"/>
              <a:t>Hotel Reservation System</a:t>
            </a:r>
          </a:p>
        </p:txBody>
      </p:sp>
    </p:spTree>
    <p:extLst>
      <p:ext uri="{BB962C8B-B14F-4D97-AF65-F5344CB8AC3E}">
        <p14:creationId xmlns:p14="http://schemas.microsoft.com/office/powerpoint/2010/main" val="1552177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18FB2-E628-BBE8-8D2A-159E41D37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C67C5-7101-E938-8455-A63E59418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C8973-E90E-1766-C426-00D4F453C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Clean Architecture by Robert C. Martin</a:t>
            </a:r>
          </a:p>
          <a:p>
            <a:r>
              <a:rPr lang="en-US" dirty="0"/>
              <a:t>Designing Data-Intensive Applications by Martin </a:t>
            </a:r>
            <a:r>
              <a:rPr lang="en-US" dirty="0" err="1"/>
              <a:t>Kleppmann</a:t>
            </a:r>
            <a:endParaRPr lang="en-US" dirty="0"/>
          </a:p>
          <a:p>
            <a:r>
              <a:rPr lang="en-US" dirty="0"/>
              <a:t>Fundamentals of Software Architecture by Mark Richards &amp; Neal Ford</a:t>
            </a:r>
          </a:p>
          <a:p>
            <a:r>
              <a:rPr lang="en-US" dirty="0"/>
              <a:t>A Philosophy of Software Design by John Ousterhout</a:t>
            </a:r>
          </a:p>
          <a:p>
            <a:r>
              <a:rPr lang="en-US" dirty="0"/>
              <a:t>Grokking the System Design Interview by Design Gurus</a:t>
            </a:r>
          </a:p>
          <a:p>
            <a:r>
              <a:rPr lang="en-US" dirty="0"/>
              <a:t>System Design Interview by Alex Xu</a:t>
            </a:r>
          </a:p>
          <a:p>
            <a:r>
              <a:rPr lang="en-US" dirty="0"/>
              <a:t>Domain-Driven Design by Eric Evans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289855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681</Words>
  <Application>Microsoft Office PowerPoint</Application>
  <PresentationFormat>Widescreen</PresentationFormat>
  <Paragraphs>100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Grandview Display</vt:lpstr>
      <vt:lpstr>DashVTI</vt:lpstr>
      <vt:lpstr>Course Introduction</vt:lpstr>
      <vt:lpstr>Course Objectives  </vt:lpstr>
      <vt:lpstr>Summary of Content </vt:lpstr>
      <vt:lpstr>Assignments, Projects, and Examinations </vt:lpstr>
      <vt:lpstr>Content Outline </vt:lpstr>
      <vt:lpstr>Content Outline </vt:lpstr>
      <vt:lpstr>Content Outline </vt:lpstr>
      <vt:lpstr>Content Outline </vt:lpstr>
      <vt:lpstr>Content Outline </vt:lpstr>
      <vt:lpstr>Content Outline </vt:lpstr>
      <vt:lpstr>Content Outline </vt:lpstr>
      <vt:lpstr>Content Outline </vt:lpstr>
      <vt:lpstr>Content Outline </vt:lpstr>
      <vt:lpstr>Content Outline 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Phạm Minh Tuấn</dc:creator>
  <cp:lastModifiedBy>Phạm Minh Tuấn</cp:lastModifiedBy>
  <cp:revision>71</cp:revision>
  <dcterms:created xsi:type="dcterms:W3CDTF">2026-01-16T12:28:38Z</dcterms:created>
  <dcterms:modified xsi:type="dcterms:W3CDTF">2026-01-16T14:25:29Z</dcterms:modified>
</cp:coreProperties>
</file>