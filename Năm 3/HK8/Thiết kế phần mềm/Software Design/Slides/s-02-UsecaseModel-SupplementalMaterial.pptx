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CC00"/>
    <a:srgbClr val="0099FF"/>
    <a:srgbClr val="6666FF"/>
    <a:srgbClr val="FF0000"/>
    <a:srgbClr val="0080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0" autoAdjust="0"/>
    <p:restoredTop sz="59232" autoAdjust="0"/>
  </p:normalViewPr>
  <p:slideViewPr>
    <p:cSldViewPr>
      <p:cViewPr varScale="1">
        <p:scale>
          <a:sx n="72" d="100"/>
          <a:sy n="72" d="100"/>
        </p:scale>
        <p:origin x="15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26EC75-96D7-4D64-9D1B-BCF3AE8769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74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A4F5DD-5A27-41D0-99D4-C7A9BC499D6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gray">
          <a:xfrm>
            <a:off x="0" y="0"/>
            <a:ext cx="9144000" cy="51577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gray">
          <a:xfrm>
            <a:off x="1262063" y="0"/>
            <a:ext cx="2362200" cy="4953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549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gray">
          <a:xfrm>
            <a:off x="304800" y="2400300"/>
            <a:ext cx="8458200" cy="11049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" y="2590800"/>
            <a:ext cx="8229600" cy="685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33800"/>
            <a:ext cx="5867400" cy="457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E9EAC4-D78D-4FCA-852C-847BDC02AC0D}" type="datetime7">
              <a:rPr lang="fr-FR" smtClean="0"/>
              <a:t>sept.-16</a:t>
            </a:fld>
            <a:endParaRPr lang="en-US"/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380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3C615C-EBA2-46CC-BC7D-62072C64C651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3380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0" y="3490913"/>
            <a:ext cx="1258888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804" name="Rectangle 12"/>
          <p:cNvSpPr>
            <a:spLocks noChangeArrowheads="1"/>
          </p:cNvSpPr>
          <p:nvPr/>
        </p:nvSpPr>
        <p:spPr bwMode="gray">
          <a:xfrm>
            <a:off x="1276350" y="4941888"/>
            <a:ext cx="7867650" cy="217487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gray">
          <a:xfrm>
            <a:off x="304800" y="304800"/>
            <a:ext cx="8534400" cy="4343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gray">
          <a:xfrm>
            <a:off x="7391400" y="914400"/>
            <a:ext cx="1600200" cy="1447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Rectangle 16"/>
          <p:cNvSpPr>
            <a:spLocks noChangeArrowheads="1"/>
          </p:cNvSpPr>
          <p:nvPr/>
        </p:nvSpPr>
        <p:spPr bwMode="gray">
          <a:xfrm>
            <a:off x="8305800" y="0"/>
            <a:ext cx="76200" cy="17526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/>
      <p:bldP spid="33796" grpId="0" animBg="1"/>
      <p:bldP spid="3380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F2DE09-CB55-4627-8DD9-E53E529AB1B3}" type="datetime7">
              <a:rPr lang="fr-FR" smtClean="0"/>
              <a:t>sept.-16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05017-923D-480E-B02E-B52739184D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6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4F8ECE-CF5A-4E5D-86AD-4E47367784C6}" type="datetime7">
              <a:rPr lang="fr-FR" smtClean="0"/>
              <a:t>sept.-16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EE7F9-147D-4E63-8B38-2BBD2CC7557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9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FD279C-7D76-4561-BDA2-51D126EA5BD7}" type="datetime7">
              <a:rPr lang="fr-FR" smtClean="0"/>
              <a:t>sept.-16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FB5BBA-1566-418C-A412-9831C24F91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5D56D3-423B-4C94-8662-B60248E12EB1}" type="datetime7">
              <a:rPr lang="fr-FR" smtClean="0"/>
              <a:t>sept.-16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962EE-4F72-47A2-8E33-F1A5BA904EC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87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FA9B0F-F7E9-4835-BCAB-CDB48B2AD420}" type="datetime7">
              <a:rPr lang="fr-FR" smtClean="0"/>
              <a:t>sept.-16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392B6C-813E-42DE-A59C-034281A964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8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28ABF-27BA-44FC-82BA-E1F0C6EA842E}" type="datetime7">
              <a:rPr lang="fr-FR" smtClean="0"/>
              <a:t>sept.-16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9F565-9CED-44CF-A8BB-DE6FF94C18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6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8365DD-8066-4FED-87D2-8D9E4BD0DD02}" type="datetime7">
              <a:rPr lang="fr-FR" smtClean="0"/>
              <a:t>sept.-16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9EE02-CCFC-4178-9551-AB0359A6C1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6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DADBDF-8D5B-49FA-83E9-EC05BD912732}" type="datetime7">
              <a:rPr lang="fr-FR" smtClean="0"/>
              <a:t>sept.-16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010C0-49AE-4354-B692-F35F1557EA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80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CC84CF-3B7B-42AA-8DBE-30244DAB0F22}" type="datetime7">
              <a:rPr lang="fr-FR" smtClean="0"/>
              <a:t>sept.-16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E1D1A-11F1-45A2-B3FB-7B5B55B517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4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6191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6191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358E41-5029-486E-B607-2995482C34BC}" type="datetime7">
              <a:rPr lang="fr-FR" smtClean="0"/>
              <a:t>sept.-16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229CF-2D15-42ED-9BDC-770ECDB1C8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7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gray">
          <a:xfrm>
            <a:off x="0" y="9525"/>
            <a:ext cx="9144000" cy="10287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gray">
          <a:xfrm>
            <a:off x="1447800" y="0"/>
            <a:ext cx="7696200" cy="8794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gray">
          <a:xfrm>
            <a:off x="0" y="158750"/>
            <a:ext cx="9144000" cy="60325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gray">
          <a:xfrm>
            <a:off x="0" y="1143000"/>
            <a:ext cx="228600" cy="57150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gray">
          <a:xfrm>
            <a:off x="8686800" y="0"/>
            <a:ext cx="76200" cy="6096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371600"/>
            <a:ext cx="8229600" cy="502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776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2145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fld id="{06DC815E-FE2F-47EA-A273-17AF6CE311EA}" type="datetime7">
              <a:rPr lang="fr-FR" smtClean="0"/>
              <a:t>sept.-16</a:t>
            </a:fld>
            <a:endParaRPr lang="en-US"/>
          </a:p>
        </p:txBody>
      </p:sp>
      <p:sp>
        <p:nvSpPr>
          <p:cNvPr id="32777" name="Rectangle 9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21450"/>
            <a:ext cx="2895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2778" name="Rectangle 10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2145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accent1"/>
                </a:solidFill>
              </a:defRPr>
            </a:lvl1pPr>
          </a:lstStyle>
          <a:p>
            <a:fld id="{5BC5FE45-4BCF-4403-A33E-1F96EDA88A1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gray">
          <a:xfrm>
            <a:off x="0" y="0"/>
            <a:ext cx="1447800" cy="1066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0" y="0"/>
            <a:ext cx="1243013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81" name="Rectangle 13"/>
          <p:cNvSpPr>
            <a:spLocks noChangeArrowheads="1"/>
          </p:cNvSpPr>
          <p:nvPr/>
        </p:nvSpPr>
        <p:spPr bwMode="gray">
          <a:xfrm>
            <a:off x="0" y="1035050"/>
            <a:ext cx="1447800" cy="22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Rectangle 14"/>
          <p:cNvSpPr>
            <a:spLocks noGrp="1" noChangeArrowheads="1"/>
          </p:cNvSpPr>
          <p:nvPr>
            <p:ph type="title"/>
          </p:nvPr>
        </p:nvSpPr>
        <p:spPr bwMode="gray">
          <a:xfrm>
            <a:off x="1447800" y="206375"/>
            <a:ext cx="685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nimBg="1"/>
      <p:bldP spid="32774" grpId="0" animBg="1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itchFamily="18" charset="2"/>
        <a:buChar char=""/>
        <a:defRPr sz="2400">
          <a:solidFill>
            <a:srgbClr val="00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rgbClr val="0000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 2" pitchFamily="18" charset="2"/>
        <a:buChar char=""/>
        <a:defRPr>
          <a:solidFill>
            <a:srgbClr val="0000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err="1">
                <a:effectLst>
                  <a:outerShdw blurRad="38100" dist="38100" dir="2700000" algn="tl">
                    <a:srgbClr val="C0C0C0"/>
                  </a:outerShdw>
                </a:effectLst>
              </a:rPr>
              <a:t>Usecase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Model</a:t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</a:rPr>
              <a:t>Supplemental Material</a:t>
            </a:r>
            <a:endParaRPr lang="en-US" dirty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gray">
          <a:xfrm>
            <a:off x="4147296" y="3581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FFFFFF"/>
                </a:solidFill>
              </a:rPr>
              <a:t>Assoc. Prof. TRAN Minh </a:t>
            </a:r>
            <a:r>
              <a:rPr lang="en-US" sz="2000" b="1" dirty="0" err="1">
                <a:solidFill>
                  <a:srgbClr val="FFFFFF"/>
                </a:solidFill>
              </a:rPr>
              <a:t>Triet</a:t>
            </a:r>
            <a:endParaRPr lang="en-US" sz="2000" b="1" dirty="0">
              <a:solidFill>
                <a:srgbClr val="FFFFFF"/>
              </a:solidFill>
            </a:endParaRPr>
          </a:p>
          <a:p>
            <a:pPr algn="ctr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FFFFFF"/>
                </a:solidFill>
              </a:rPr>
              <a:t>Department of Software Engineering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38252" y="5791200"/>
            <a:ext cx="53057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1" dirty="0">
                <a:ln w="10541" cmpd="sng">
                  <a:solidFill>
                    <a:srgbClr val="3167D3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3167D3">
                        <a:tint val="40000"/>
                        <a:satMod val="250000"/>
                      </a:srgbClr>
                    </a:gs>
                    <a:gs pos="9000">
                      <a:srgbClr val="3167D3">
                        <a:tint val="52000"/>
                        <a:satMod val="300000"/>
                      </a:srgbClr>
                    </a:gs>
                    <a:gs pos="50000">
                      <a:srgbClr val="3167D3">
                        <a:shade val="20000"/>
                        <a:satMod val="300000"/>
                      </a:srgbClr>
                    </a:gs>
                    <a:gs pos="79000">
                      <a:srgbClr val="3167D3">
                        <a:tint val="52000"/>
                        <a:satMod val="300000"/>
                      </a:srgbClr>
                    </a:gs>
                    <a:gs pos="100000">
                      <a:srgbClr val="3167D3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Analysis and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8454" y="383130"/>
            <a:ext cx="43670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University of Science, VNU-HCM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Faculty of Information Technology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449956"/>
            <a:ext cx="1534813" cy="120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089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&lt;&lt;include&gt;&gt; and &lt;&lt;extend&gt;&gt;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05017-923D-480E-B02E-B52739184DC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52600"/>
            <a:ext cx="6338744" cy="34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4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Actor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05017-923D-480E-B02E-B52739184DC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27667"/>
            <a:ext cx="5729005" cy="49160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0" y="1600200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Without actor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2244341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Actor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05017-923D-480E-B02E-B52739184DC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47800"/>
            <a:ext cx="6796048" cy="49160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30988" y="1321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With actor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00625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Actor </a:t>
            </a:r>
            <a:r>
              <a:rPr lang="en-US" sz="2800" dirty="0" err="1"/>
              <a:t>Genelization</a:t>
            </a:r>
            <a:endParaRPr lang="en-US" sz="2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4966832" cy="3239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05017-923D-480E-B02E-B52739184DC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01584" y="1644134"/>
            <a:ext cx="305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Invalid Actor Generalization!</a:t>
            </a:r>
          </a:p>
        </p:txBody>
      </p:sp>
    </p:spTree>
    <p:extLst>
      <p:ext uri="{BB962C8B-B14F-4D97-AF65-F5344CB8AC3E}">
        <p14:creationId xmlns:p14="http://schemas.microsoft.com/office/powerpoint/2010/main" val="172797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Actor </a:t>
            </a:r>
            <a:r>
              <a:rPr lang="en-US" sz="2800" dirty="0" err="1"/>
              <a:t>Genelization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05017-923D-480E-B02E-B52739184DC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06124"/>
            <a:ext cx="5424136" cy="3848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01584" y="1644134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Revised solution</a:t>
            </a:r>
          </a:p>
        </p:txBody>
      </p:sp>
    </p:spTree>
    <p:extLst>
      <p:ext uri="{BB962C8B-B14F-4D97-AF65-F5344CB8AC3E}">
        <p14:creationId xmlns:p14="http://schemas.microsoft.com/office/powerpoint/2010/main" val="1172200666"/>
      </p:ext>
    </p:extLst>
  </p:cSld>
  <p:clrMapOvr>
    <a:masterClrMapping/>
  </p:clrMapOvr>
</p:sld>
</file>

<file path=ppt/theme/theme1.xml><?xml version="1.0" encoding="utf-8"?>
<a:theme xmlns:a="http://schemas.openxmlformats.org/drawingml/2006/main" name="1_ms01_1">
  <a:themeElements>
    <a:clrScheme name="1_ms01_1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1_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ms01_1 1">
        <a:dk1>
          <a:srgbClr val="1A1A70"/>
        </a:dk1>
        <a:lt1>
          <a:srgbClr val="FFFFFF"/>
        </a:lt1>
        <a:dk2>
          <a:srgbClr val="12449E"/>
        </a:dk2>
        <a:lt2>
          <a:srgbClr val="C0C0C0"/>
        </a:lt2>
        <a:accent1>
          <a:srgbClr val="3167D3"/>
        </a:accent1>
        <a:accent2>
          <a:srgbClr val="87A3E9"/>
        </a:accent2>
        <a:accent3>
          <a:srgbClr val="FFFFFF"/>
        </a:accent3>
        <a:accent4>
          <a:srgbClr val="14145F"/>
        </a:accent4>
        <a:accent5>
          <a:srgbClr val="ADB8E6"/>
        </a:accent5>
        <a:accent6>
          <a:srgbClr val="7A93D3"/>
        </a:accent6>
        <a:hlink>
          <a:srgbClr val="90B54D"/>
        </a:hlink>
        <a:folHlink>
          <a:srgbClr val="F6A2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s01_1 2">
        <a:dk1>
          <a:srgbClr val="0E5D92"/>
        </a:dk1>
        <a:lt1>
          <a:srgbClr val="FFFFFF"/>
        </a:lt1>
        <a:dk2>
          <a:srgbClr val="137C9D"/>
        </a:dk2>
        <a:lt2>
          <a:srgbClr val="C0C0C0"/>
        </a:lt2>
        <a:accent1>
          <a:srgbClr val="35AACF"/>
        </a:accent1>
        <a:accent2>
          <a:srgbClr val="75CDB2"/>
        </a:accent2>
        <a:accent3>
          <a:srgbClr val="FFFFFF"/>
        </a:accent3>
        <a:accent4>
          <a:srgbClr val="0A4E7C"/>
        </a:accent4>
        <a:accent5>
          <a:srgbClr val="AED2E4"/>
        </a:accent5>
        <a:accent6>
          <a:srgbClr val="69BAA1"/>
        </a:accent6>
        <a:hlink>
          <a:srgbClr val="E8C86E"/>
        </a:hlink>
        <a:folHlink>
          <a:srgbClr val="1E68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s01_1 3">
        <a:dk1>
          <a:srgbClr val="164D60"/>
        </a:dk1>
        <a:lt1>
          <a:srgbClr val="FFFFFF"/>
        </a:lt1>
        <a:dk2>
          <a:srgbClr val="2A8486"/>
        </a:dk2>
        <a:lt2>
          <a:srgbClr val="C0C0C0"/>
        </a:lt2>
        <a:accent1>
          <a:srgbClr val="48BC77"/>
        </a:accent1>
        <a:accent2>
          <a:srgbClr val="ECCA4C"/>
        </a:accent2>
        <a:accent3>
          <a:srgbClr val="FFFFFF"/>
        </a:accent3>
        <a:accent4>
          <a:srgbClr val="114051"/>
        </a:accent4>
        <a:accent5>
          <a:srgbClr val="B1DABD"/>
        </a:accent5>
        <a:accent6>
          <a:srgbClr val="D6B744"/>
        </a:accent6>
        <a:hlink>
          <a:srgbClr val="3191E9"/>
        </a:hlink>
        <a:folHlink>
          <a:srgbClr val="E3694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presentation slides with animation</Template>
  <TotalTime>2836</TotalTime>
  <Words>59</Words>
  <Application>Microsoft Office PowerPoint</Application>
  <PresentationFormat>On-screen Show (4:3)</PresentationFormat>
  <Paragraphs>21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Wingdings</vt:lpstr>
      <vt:lpstr>Wingdings 2</vt:lpstr>
      <vt:lpstr>1_ms01_1</vt:lpstr>
      <vt:lpstr>Usecase Model Supplemental Material</vt:lpstr>
      <vt:lpstr>&lt;&lt;include&gt;&gt; and &lt;&lt;extend&gt;&gt;</vt:lpstr>
      <vt:lpstr>Actor Generalization</vt:lpstr>
      <vt:lpstr>Actor Generalization</vt:lpstr>
      <vt:lpstr>Actor Genelization</vt:lpstr>
      <vt:lpstr>Actor Genelization</vt:lpstr>
    </vt:vector>
  </TitlesOfParts>
  <Company>University of Natural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Tran Minh Triet</dc:creator>
  <cp:lastModifiedBy>Minh-Triet TRAN</cp:lastModifiedBy>
  <cp:revision>248</cp:revision>
  <dcterms:created xsi:type="dcterms:W3CDTF">2006-05-28T09:28:45Z</dcterms:created>
  <dcterms:modified xsi:type="dcterms:W3CDTF">2016-09-17T16:16:23Z</dcterms:modified>
</cp:coreProperties>
</file>